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2.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7" r:id="rId2"/>
    <p:sldId id="429" r:id="rId3"/>
    <p:sldId id="431" r:id="rId4"/>
    <p:sldId id="434" r:id="rId5"/>
    <p:sldId id="436" r:id="rId6"/>
    <p:sldId id="435" r:id="rId7"/>
    <p:sldId id="437" r:id="rId8"/>
    <p:sldId id="445" r:id="rId9"/>
    <p:sldId id="447" r:id="rId10"/>
    <p:sldId id="439" r:id="rId11"/>
    <p:sldId id="444" r:id="rId12"/>
    <p:sldId id="442" r:id="rId13"/>
    <p:sldId id="446" r:id="rId14"/>
    <p:sldId id="473" r:id="rId15"/>
    <p:sldId id="488" r:id="rId16"/>
    <p:sldId id="454" r:id="rId17"/>
    <p:sldId id="477" r:id="rId18"/>
    <p:sldId id="455" r:id="rId19"/>
    <p:sldId id="479" r:id="rId20"/>
    <p:sldId id="480" r:id="rId21"/>
    <p:sldId id="482" r:id="rId22"/>
    <p:sldId id="483" r:id="rId23"/>
    <p:sldId id="481" r:id="rId24"/>
    <p:sldId id="485" r:id="rId25"/>
    <p:sldId id="486" r:id="rId26"/>
    <p:sldId id="487" r:id="rId27"/>
    <p:sldId id="489" r:id="rId28"/>
    <p:sldId id="490" r:id="rId29"/>
    <p:sldId id="512" r:id="rId30"/>
    <p:sldId id="493" r:id="rId31"/>
    <p:sldId id="505" r:id="rId32"/>
    <p:sldId id="506" r:id="rId33"/>
    <p:sldId id="507" r:id="rId34"/>
    <p:sldId id="508" r:id="rId35"/>
    <p:sldId id="509" r:id="rId36"/>
    <p:sldId id="510" r:id="rId37"/>
    <p:sldId id="449" r:id="rId38"/>
    <p:sldId id="459" r:id="rId39"/>
    <p:sldId id="516" r:id="rId40"/>
    <p:sldId id="517" r:id="rId41"/>
    <p:sldId id="518" r:id="rId42"/>
    <p:sldId id="519" r:id="rId43"/>
    <p:sldId id="520" r:id="rId44"/>
    <p:sldId id="521" r:id="rId45"/>
    <p:sldId id="522" r:id="rId46"/>
    <p:sldId id="524" r:id="rId47"/>
    <p:sldId id="523" r:id="rId48"/>
    <p:sldId id="526" r:id="rId49"/>
    <p:sldId id="527" r:id="rId50"/>
    <p:sldId id="529" r:id="rId51"/>
    <p:sldId id="530" r:id="rId52"/>
    <p:sldId id="531" r:id="rId53"/>
    <p:sldId id="532" r:id="rId54"/>
    <p:sldId id="533" r:id="rId55"/>
    <p:sldId id="534" r:id="rId56"/>
    <p:sldId id="535" r:id="rId57"/>
    <p:sldId id="536" r:id="rId58"/>
    <p:sldId id="537" r:id="rId59"/>
    <p:sldId id="538" r:id="rId60"/>
    <p:sldId id="539" r:id="rId61"/>
    <p:sldId id="542" r:id="rId62"/>
    <p:sldId id="541" r:id="rId63"/>
    <p:sldId id="543" r:id="rId64"/>
  </p:sldIdLst>
  <p:sldSz cx="12192000" cy="6858000"/>
  <p:notesSz cx="6858000" cy="9144000"/>
  <p:custDataLst>
    <p:tags r:id="rId6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6409"/>
    <a:srgbClr val="7C0216"/>
    <a:srgbClr val="008000"/>
    <a:srgbClr val="620212"/>
    <a:srgbClr val="163980"/>
    <a:srgbClr val="3928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22" autoAdjust="0"/>
    <p:restoredTop sz="94660"/>
  </p:normalViewPr>
  <p:slideViewPr>
    <p:cSldViewPr snapToGrid="0">
      <p:cViewPr varScale="1">
        <p:scale>
          <a:sx n="99" d="100"/>
          <a:sy n="99" d="100"/>
        </p:scale>
        <p:origin x="448"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2026/8/3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Master" Target="../slideMasters/slideMaster1.xml"/><Relationship Id="rId2" Type="http://schemas.openxmlformats.org/officeDocument/2006/relationships/tags" Target="../tags/tag11.xml"/><Relationship Id="rId16" Type="http://schemas.openxmlformats.org/officeDocument/2006/relationships/tags" Target="../tags/tag25.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tags" Target="../tags/tag24.xml"/><Relationship Id="rId10" Type="http://schemas.openxmlformats.org/officeDocument/2006/relationships/tags" Target="../tags/tag19.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slideMaster" Target="../slideMasters/slideMaster1.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slideMaster" Target="../slideMasters/slideMaster1.xml"/><Relationship Id="rId4" Type="http://schemas.openxmlformats.org/officeDocument/2006/relationships/tags" Target="../tags/tag58.xml"/><Relationship Id="rId9" Type="http://schemas.openxmlformats.org/officeDocument/2006/relationships/tags" Target="../tags/tag63.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Master" Target="../slideMasters/slideMaster1.xml"/><Relationship Id="rId5" Type="http://schemas.openxmlformats.org/officeDocument/2006/relationships/tags" Target="../tags/tag77.xml"/><Relationship Id="rId4" Type="http://schemas.openxmlformats.org/officeDocument/2006/relationships/tags" Target="../tags/tag76.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slideMaster" Target="../slideMasters/slideMaster1.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slideMaster" Target="../slideMasters/slideMaster1.xml"/><Relationship Id="rId2" Type="http://schemas.openxmlformats.org/officeDocument/2006/relationships/tags" Target="../tags/tag85.xml"/><Relationship Id="rId16" Type="http://schemas.openxmlformats.org/officeDocument/2006/relationships/tags" Target="../tags/tag99.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tags" Target="../tags/tag98.xml"/><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5" name="任意多边形 14"/>
          <p:cNvSpPr/>
          <p:nvPr>
            <p:custDataLst>
              <p:tags r:id="rId1"/>
            </p:custDataLst>
          </p:nvPr>
        </p:nvSpPr>
        <p:spPr>
          <a:xfrm>
            <a:off x="-14605" y="0"/>
            <a:ext cx="6006465" cy="6858000"/>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2" name="任意多边形 11"/>
          <p:cNvSpPr/>
          <p:nvPr>
            <p:custDataLst>
              <p:tags r:id="rId2"/>
            </p:custDataLst>
          </p:nvPr>
        </p:nvSpPr>
        <p:spPr>
          <a:xfrm rot="16200000">
            <a:off x="-1383662" y="1369058"/>
            <a:ext cx="6857999"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11" name="任意多边形 10"/>
          <p:cNvSpPr/>
          <p:nvPr>
            <p:custDataLst>
              <p:tags r:id="rId3"/>
            </p:custDataLst>
          </p:nvPr>
        </p:nvSpPr>
        <p:spPr>
          <a:xfrm rot="16200000">
            <a:off x="-1331245" y="2313346"/>
            <a:ext cx="4864351" cy="22310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25" name="圆角矩形 24"/>
          <p:cNvSpPr/>
          <p:nvPr>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cxnSp>
        <p:nvCxnSpPr>
          <p:cNvPr id="10" name="直接连接符 9"/>
          <p:cNvCxnSpPr/>
          <p:nvPr>
            <p:custDataLst>
              <p:tags r:id="rId5"/>
            </p:custDataLst>
          </p:nvPr>
        </p:nvCxnSpPr>
        <p:spPr>
          <a:xfrm>
            <a:off x="11197590" y="300291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6"/>
            </p:custDataLst>
          </p:nvPr>
        </p:nvCxnSpPr>
        <p:spPr>
          <a:xfrm>
            <a:off x="11305540" y="193421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1305540" y="347662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8"/>
            </p:custDataLst>
          </p:nvPr>
        </p:nvSpPr>
        <p:spPr>
          <a:xfrm>
            <a:off x="10027285" y="4343400"/>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21" name="椭圆 20"/>
          <p:cNvSpPr/>
          <p:nvPr>
            <p:custDataLst>
              <p:tags r:id="rId9"/>
            </p:custDataLst>
          </p:nvPr>
        </p:nvSpPr>
        <p:spPr>
          <a:xfrm>
            <a:off x="10133965" y="4450080"/>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90" name="向下箭头"/>
          <p:cNvSpPr/>
          <p:nvPr>
            <p:custDataLst>
              <p:tags r:id="rId10"/>
            </p:custDataLst>
          </p:nvPr>
        </p:nvSpPr>
        <p:spPr>
          <a:xfrm>
            <a:off x="10238105" y="4542790"/>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4" name="任意多边形 13"/>
          <p:cNvSpPr/>
          <p:nvPr>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273300" y="1901190"/>
            <a:ext cx="8413750" cy="170942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zh-CN" altLang="en-US" sz="7200" b="0" i="0" u="none" strike="noStrike" kern="1200" cap="none" spc="0" normalizeH="0" baseline="0" noProof="1" dirty="0">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Black" panose="020B0200000000000000" pitchFamily="34" charset="-122"/>
                <a:sym typeface="+mn-ea"/>
              </a:defRPr>
            </a:lvl1pPr>
          </a:lstStyle>
          <a:p>
            <a:pPr lvl="0" algn="r">
              <a:buClrTx/>
              <a:buSzTx/>
              <a:buFontTx/>
            </a:pPr>
            <a:r>
              <a:rPr dirty="0">
                <a:sym typeface="+mn-ea"/>
              </a:rPr>
              <a:t>单击此处编辑标题</a:t>
            </a: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2026/8/3</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273299" y="4275976"/>
            <a:ext cx="7589519" cy="656600"/>
          </a:xfrm>
        </p:spPr>
        <p:txBody>
          <a:bodyPr wrap="square" anchor="ctr">
            <a:normAutofit/>
          </a:bodyPr>
          <a:lstStyle>
            <a:lvl1pPr marL="0" indent="0" algn="r">
              <a:lnSpc>
                <a:spcPct val="100000"/>
              </a:lnSpc>
              <a:buNone/>
              <a:defRPr sz="2000" b="0">
                <a:solidFill>
                  <a:schemeClr val="tx1"/>
                </a:solidFill>
                <a:latin typeface="Noto Sans SC Black" panose="020B0200000000000000" pitchFamily="34" charset="-122"/>
                <a:ea typeface="Noto Sans SC Black" panose="020B0200000000000000" pitchFamily="34" charset="-122"/>
              </a:defRPr>
            </a:lvl1pPr>
          </a:lstStyle>
          <a:p>
            <a:pPr lvl="0"/>
            <a:r>
              <a:rPr lang="zh-CN" altLang="en-US" dirty="0"/>
              <a:t>署名</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8" name="正文"/>
          <p:cNvSpPr txBox="1">
            <a:spLocks noGrp="1"/>
          </p:cNvSpPr>
          <p:nvPr>
            <p:ph idx="3"/>
            <p:custDataLst>
              <p:tags r:id="rId1"/>
            </p:custDataLst>
          </p:nvPr>
        </p:nvSpPr>
        <p:spPr>
          <a:xfrm>
            <a:off x="695960" y="1245235"/>
            <a:ext cx="10800080" cy="493141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sym typeface="+mn-ea"/>
              </a:rPr>
              <a:t>单击此处编辑母版文本样式</a:t>
            </a:r>
          </a:p>
          <a:p>
            <a:pPr lvl="1">
              <a:spcBef>
                <a:spcPts val="1200"/>
              </a:spcBef>
              <a:spcAft>
                <a:spcPts val="0"/>
              </a:spcAft>
            </a:pPr>
            <a:r>
              <a:rPr dirty="0" err="1">
                <a:sym typeface="+mn-ea"/>
              </a:rPr>
              <a:t>第二级</a:t>
            </a:r>
            <a:endParaRPr dirty="0">
              <a:sym typeface="+mn-ea"/>
            </a:endParaRPr>
          </a:p>
          <a:p>
            <a:pPr lvl="2">
              <a:spcBef>
                <a:spcPts val="1200"/>
              </a:spcBef>
              <a:spcAft>
                <a:spcPts val="0"/>
              </a:spcAft>
            </a:pPr>
            <a:r>
              <a:rPr dirty="0" err="1">
                <a:sym typeface="+mn-ea"/>
              </a:rPr>
              <a:t>第三级</a:t>
            </a:r>
            <a:endParaRPr dirty="0">
              <a:sym typeface="+mn-ea"/>
            </a:endParaRPr>
          </a:p>
          <a:p>
            <a:pPr lvl="3">
              <a:spcBef>
                <a:spcPts val="1200"/>
              </a:spcBef>
              <a:spcAft>
                <a:spcPts val="0"/>
              </a:spcAft>
            </a:pPr>
            <a:r>
              <a:rPr dirty="0" err="1">
                <a:sym typeface="+mn-ea"/>
              </a:rPr>
              <a:t>第四级</a:t>
            </a:r>
            <a:endParaRPr dirty="0">
              <a:sym typeface="+mn-ea"/>
            </a:endParaRPr>
          </a:p>
          <a:p>
            <a:pPr lvl="4">
              <a:spcBef>
                <a:spcPts val="1200"/>
              </a:spcBef>
              <a:spcAft>
                <a:spcPts val="0"/>
              </a:spcAft>
            </a:pPr>
            <a:r>
              <a:rPr dirty="0" err="1">
                <a:sym typeface="+mn-ea"/>
              </a:rPr>
              <a:t>第五级</a:t>
            </a:r>
            <a:endParaRPr dirty="0">
              <a:sym typeface="+mn-ea"/>
            </a:endParaRPr>
          </a:p>
        </p:txBody>
      </p:sp>
      <p:sp>
        <p:nvSpPr>
          <p:cNvPr id="14" name="任意多边形 13"/>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标题"/>
          <p:cNvSpPr>
            <a:spLocks noGrp="1"/>
          </p:cNvSpPr>
          <p:nvPr>
            <p:ph type="title" idx="1"/>
            <p:custDataLst>
              <p:tags r:id="rId3"/>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r>
              <a:rPr dirty="0">
                <a:sym typeface="+mn-ea"/>
              </a:rPr>
              <a:t>单击此处编辑母版标题样式</a:t>
            </a:r>
          </a:p>
        </p:txBody>
      </p:sp>
      <p:sp>
        <p:nvSpPr>
          <p:cNvPr id="4" name="日期占位符 3"/>
          <p:cNvSpPr>
            <a:spLocks noGrp="1"/>
          </p:cNvSpPr>
          <p:nvPr>
            <p:ph type="dt" sz="half" idx="10"/>
            <p:custDataLst>
              <p:tags r:id="rId4"/>
            </p:custDataLst>
          </p:nvPr>
        </p:nvSpPr>
        <p:spPr>
          <a:xfrm>
            <a:off x="694055" y="6314440"/>
            <a:ext cx="2618105" cy="316865"/>
          </a:xfrm>
        </p:spPr>
        <p:txBody>
          <a:bodyPr/>
          <a:lstStyle/>
          <a:p>
            <a:fld id="{760FBDFE-C587-4B4C-A407-44438C67B59E}" type="datetimeFigureOut">
              <a:rPr lang="zh-CN" altLang="en-US" smtClean="0"/>
              <a:t>2026/8/3</a:t>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cxnSp>
        <p:nvCxnSpPr>
          <p:cNvPr id="60" name="直接连接符 59"/>
          <p:cNvCxnSpPr/>
          <p:nvPr>
            <p:custDataLst>
              <p:tags r:id="rId1"/>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2"/>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6" name="标题"/>
          <p:cNvSpPr txBox="1">
            <a:spLocks noGrp="1"/>
          </p:cNvSpPr>
          <p:nvPr>
            <p:ph type="title" idx="1" hasCustomPrompt="1"/>
            <p:custDataLst>
              <p:tags r:id="rId3"/>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标题</a:t>
            </a: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t>2026/8/3</a:t>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2" name="椭圆 11"/>
          <p:cNvSpPr/>
          <p:nvPr>
            <p:custDataLst>
              <p:tags r:id="rId1"/>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11" name="椭圆 10"/>
          <p:cNvSpPr/>
          <p:nvPr>
            <p:custDataLst>
              <p:tags r:id="rId2"/>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9" name="弧形 8"/>
          <p:cNvSpPr/>
          <p:nvPr>
            <p:custDataLst>
              <p:tags r:id="rId3"/>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0" name="圆角矩形 9"/>
          <p:cNvSpPr/>
          <p:nvPr>
            <p:custDataLst>
              <p:tags r:id="rId4"/>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4" name="任意多边形 13"/>
          <p:cNvSpPr/>
          <p:nvPr>
            <p:custDataLst>
              <p:tags r:id="rId5"/>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8" name="节编号"/>
          <p:cNvSpPr txBox="1">
            <a:spLocks noGrp="1"/>
          </p:cNvSpPr>
          <p:nvPr>
            <p:ph type="body" idx="2" hasCustomPrompt="1"/>
            <p:custDataLst>
              <p:tags r:id="rId6"/>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ctr">
              <a:buClrTx/>
              <a:buSzTx/>
              <a:buFontTx/>
            </a:pPr>
            <a:r>
              <a:rPr dirty="0" err="1">
                <a:sym typeface="+mn-ea"/>
              </a:rPr>
              <a:t>节编号</a:t>
            </a:r>
            <a:endParaRPr dirty="0">
              <a:sym typeface="+mn-ea"/>
            </a:endParaRPr>
          </a:p>
        </p:txBody>
      </p:sp>
      <p:sp>
        <p:nvSpPr>
          <p:cNvPr id="7" name="标题"/>
          <p:cNvSpPr txBox="1">
            <a:spLocks noGrp="1"/>
          </p:cNvSpPr>
          <p:nvPr>
            <p:ph type="title" idx="1" hasCustomPrompt="1"/>
            <p:custDataLst>
              <p:tags r:id="rId7"/>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单击编辑标题</a:t>
            </a:r>
          </a:p>
        </p:txBody>
      </p:sp>
      <p:sp>
        <p:nvSpPr>
          <p:cNvPr id="4" name="日期占位符 3"/>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t>2026/8/3</a:t>
            </a:fld>
            <a:endParaRPr lang="zh-CN" altLang="en-US"/>
          </a:p>
        </p:txBody>
      </p:sp>
      <p:sp>
        <p:nvSpPr>
          <p:cNvPr id="5" name="页脚占位符 4"/>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1"/>
            </p:custDataLst>
          </p:nvPr>
        </p:nvSpPr>
        <p:spPr>
          <a:xfrm>
            <a:off x="6400800" y="1245235"/>
            <a:ext cx="5095240" cy="4930775"/>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9" name="正文"/>
          <p:cNvSpPr txBox="1">
            <a:spLocks noGrp="1"/>
          </p:cNvSpPr>
          <p:nvPr>
            <p:ph idx="3"/>
            <p:custDataLst>
              <p:tags r:id="rId2"/>
            </p:custDataLst>
          </p:nvPr>
        </p:nvSpPr>
        <p:spPr>
          <a:xfrm>
            <a:off x="695960" y="1245235"/>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800"/>
              </a:spcBef>
              <a:spcAft>
                <a:spcPts val="0"/>
              </a:spcAft>
            </a:pPr>
            <a:r>
              <a:rPr dirty="0">
                <a:sym typeface="+mn-ea"/>
              </a:rPr>
              <a:t>单击此处编辑母版文本样式</a:t>
            </a:r>
          </a:p>
          <a:p>
            <a:pPr lvl="1">
              <a:spcBef>
                <a:spcPts val="1800"/>
              </a:spcBef>
              <a:spcAft>
                <a:spcPts val="0"/>
              </a:spcAft>
            </a:pPr>
            <a:r>
              <a:rPr dirty="0" err="1">
                <a:sym typeface="+mn-ea"/>
              </a:rPr>
              <a:t>第二级</a:t>
            </a:r>
            <a:endParaRPr dirty="0">
              <a:sym typeface="+mn-ea"/>
            </a:endParaRPr>
          </a:p>
          <a:p>
            <a:pPr lvl="2">
              <a:spcBef>
                <a:spcPts val="1800"/>
              </a:spcBef>
              <a:spcAft>
                <a:spcPts val="0"/>
              </a:spcAft>
            </a:pPr>
            <a:r>
              <a:rPr dirty="0" err="1">
                <a:sym typeface="+mn-ea"/>
              </a:rPr>
              <a:t>第三级</a:t>
            </a:r>
            <a:endParaRPr dirty="0">
              <a:sym typeface="+mn-ea"/>
            </a:endParaRPr>
          </a:p>
          <a:p>
            <a:pPr lvl="3">
              <a:spcBef>
                <a:spcPts val="1800"/>
              </a:spcBef>
              <a:spcAft>
                <a:spcPts val="0"/>
              </a:spcAft>
            </a:pPr>
            <a:r>
              <a:rPr dirty="0" err="1">
                <a:sym typeface="+mn-ea"/>
              </a:rPr>
              <a:t>第四级</a:t>
            </a:r>
            <a:endParaRPr dirty="0">
              <a:sym typeface="+mn-ea"/>
            </a:endParaRPr>
          </a:p>
          <a:p>
            <a:pPr lvl="4">
              <a:spcBef>
                <a:spcPts val="1800"/>
              </a:spcBef>
              <a:spcAft>
                <a:spcPts val="0"/>
              </a:spcAft>
            </a:pPr>
            <a:r>
              <a:rPr dirty="0" err="1">
                <a:sym typeface="+mn-ea"/>
              </a:rPr>
              <a:t>第五级</a:t>
            </a:r>
            <a:endParaRPr dirty="0">
              <a:sym typeface="+mn-ea"/>
            </a:endParaRP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8" name="标题"/>
          <p:cNvSpPr>
            <a:spLocks noGrp="1"/>
          </p:cNvSpPr>
          <p:nvPr>
            <p:ph type="title" idx="1"/>
            <p:custDataLst>
              <p:tags r:id="rId4"/>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defRPr>
            </a:lvl1pPr>
          </a:lstStyle>
          <a:p>
            <a:pPr lvl="0"/>
            <a:r>
              <a:rPr dirty="0">
                <a:sym typeface="+mn-ea"/>
              </a:rPr>
              <a:t>单击此处编辑母版标题样式</a:t>
            </a:r>
          </a:p>
        </p:txBody>
      </p:sp>
      <p:sp>
        <p:nvSpPr>
          <p:cNvPr id="5" name="日期占位符 4"/>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t>2026/8/3</a:t>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1"/>
            </p:custDataLst>
          </p:nvPr>
        </p:nvSpPr>
        <p:spPr>
          <a:xfrm>
            <a:off x="6235065" y="1671955"/>
            <a:ext cx="5260975"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4" name="标题"/>
          <p:cNvSpPr txBox="1">
            <a:spLocks noGrp="1"/>
          </p:cNvSpPr>
          <p:nvPr>
            <p:ph type="title" idx="5"/>
            <p:custDataLst>
              <p:tags r:id="rId2"/>
            </p:custDataLst>
          </p:nvPr>
        </p:nvSpPr>
        <p:spPr>
          <a:xfrm>
            <a:off x="6235065" y="1247140"/>
            <a:ext cx="5260975"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defRPr>
            </a:lvl1pPr>
          </a:lstStyle>
          <a:p>
            <a:pPr lvl="0"/>
            <a:r>
              <a:rPr dirty="0">
                <a:sym typeface="+mn-ea"/>
              </a:rPr>
              <a:t>单击此处编辑母版标题样式</a:t>
            </a:r>
          </a:p>
        </p:txBody>
      </p:sp>
      <p:sp>
        <p:nvSpPr>
          <p:cNvPr id="13" name="正文"/>
          <p:cNvSpPr txBox="1">
            <a:spLocks noGrp="1"/>
          </p:cNvSpPr>
          <p:nvPr>
            <p:ph idx="4"/>
            <p:custDataLst>
              <p:tags r:id="rId3"/>
            </p:custDataLst>
          </p:nvPr>
        </p:nvSpPr>
        <p:spPr>
          <a:xfrm>
            <a:off x="695325" y="1671955"/>
            <a:ext cx="5255260"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2" name="标题"/>
          <p:cNvSpPr txBox="1">
            <a:spLocks noGrp="1"/>
          </p:cNvSpPr>
          <p:nvPr>
            <p:ph type="title" idx="3"/>
            <p:custDataLst>
              <p:tags r:id="rId4"/>
            </p:custDataLst>
          </p:nvPr>
        </p:nvSpPr>
        <p:spPr>
          <a:xfrm>
            <a:off x="695325" y="1247140"/>
            <a:ext cx="5255260"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defRPr>
            </a:lvl1pPr>
          </a:lstStyle>
          <a:p>
            <a:pPr lvl="0"/>
            <a:r>
              <a:rPr dirty="0">
                <a:sym typeface="+mn-ea"/>
              </a:rPr>
              <a:t>单击此处编辑母版标题样式</a:t>
            </a:r>
          </a:p>
        </p:txBody>
      </p:sp>
      <p:sp>
        <p:nvSpPr>
          <p:cNvPr id="11" name="任意多边形 10"/>
          <p:cNvSpPr/>
          <p:nvPr userDrawn="1">
            <p:custDataLst>
              <p:tags r:id="rId5"/>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10" name="标题"/>
          <p:cNvSpPr txBox="1">
            <a:spLocks noGrp="1"/>
          </p:cNvSpPr>
          <p:nvPr>
            <p:ph type="title" idx="1"/>
            <p:custDataLst>
              <p:tags r:id="rId6"/>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单击此处编辑母版标题样式</a:t>
            </a:r>
          </a:p>
        </p:txBody>
      </p:sp>
      <p:sp>
        <p:nvSpPr>
          <p:cNvPr id="7" name="日期占位符 6"/>
          <p:cNvSpPr>
            <a:spLocks noGrp="1"/>
          </p:cNvSpPr>
          <p:nvPr>
            <p:ph type="dt" sz="half" idx="10"/>
            <p:custDataLst>
              <p:tags r:id="rId7"/>
            </p:custDataLst>
          </p:nvPr>
        </p:nvSpPr>
        <p:spPr>
          <a:xfrm>
            <a:off x="699135" y="6314440"/>
            <a:ext cx="2613025" cy="316865"/>
          </a:xfrm>
        </p:spPr>
        <p:txBody>
          <a:bodyPr/>
          <a:lstStyle/>
          <a:p>
            <a:fld id="{760FBDFE-C587-4B4C-A407-44438C67B59E}" type="datetimeFigureOut">
              <a:rPr lang="zh-CN" altLang="en-US" smtClean="0"/>
              <a:t>2026/8/3</a:t>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9"/>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7" name="任意多边形 6"/>
          <p:cNvSpPr/>
          <p:nvPr userDrawn="1">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6" name="标题"/>
          <p:cNvSpPr txBox="1">
            <a:spLocks noGrp="1"/>
          </p:cNvSpPr>
          <p:nvPr>
            <p:ph type="title" idx="1"/>
            <p:custDataLst>
              <p:tags r:id="rId2"/>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单击此处编辑母版标题样式</a:t>
            </a:r>
          </a:p>
        </p:txBody>
      </p:sp>
      <p:sp>
        <p:nvSpPr>
          <p:cNvPr id="3" name="日期占位符 2"/>
          <p:cNvSpPr>
            <a:spLocks noGrp="1"/>
          </p:cNvSpPr>
          <p:nvPr>
            <p:ph type="dt" sz="half" idx="10"/>
            <p:custDataLst>
              <p:tags r:id="rId3"/>
            </p:custDataLst>
          </p:nvPr>
        </p:nvSpPr>
        <p:spPr>
          <a:xfrm>
            <a:off x="699135" y="6314440"/>
            <a:ext cx="2613025" cy="316865"/>
          </a:xfrm>
        </p:spPr>
        <p:txBody>
          <a:bodyPr/>
          <a:lstStyle/>
          <a:p>
            <a:fld id="{760FBDFE-C587-4B4C-A407-44438C67B59E}" type="datetimeFigureOut">
              <a:rPr lang="zh-CN" altLang="en-US" smtClean="0"/>
              <a:t>2026/8/3</a:t>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4" name="任意多边形 13"/>
          <p:cNvSpPr/>
          <p:nvPr>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t>2026/8/3</a:t>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仅内容">
    <p:spTree>
      <p:nvGrpSpPr>
        <p:cNvPr id="1" name=""/>
        <p:cNvGrpSpPr/>
        <p:nvPr/>
      </p:nvGrpSpPr>
      <p:grpSpPr>
        <a:xfrm>
          <a:off x="0" y="0"/>
          <a:ext cx="0" cy="0"/>
          <a:chOff x="0" y="0"/>
          <a:chExt cx="0" cy="0"/>
        </a:xfrm>
      </p:grpSpPr>
      <p:sp>
        <p:nvSpPr>
          <p:cNvPr id="7" name="正文"/>
          <p:cNvSpPr txBox="1">
            <a:spLocks noGrp="1"/>
          </p:cNvSpPr>
          <p:nvPr>
            <p:ph idx="2"/>
            <p:custDataLst>
              <p:tags r:id="rId1"/>
            </p:custDataLst>
          </p:nvPr>
        </p:nvSpPr>
        <p:spPr>
          <a:xfrm>
            <a:off x="695960" y="360045"/>
            <a:ext cx="10801985" cy="581787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Noto Sans SC" panose="020B0200000000000000" pitchFamily="34" charset="-122"/>
                <a:ea typeface="Noto Sans SC" panose="020B0200000000000000" pitchFamily="34" charset="-122"/>
                <a:cs typeface="Noto Sans SC" panose="020B0200000000000000" pitchFamily="34"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Noto Sans SC" panose="020B0200000000000000" pitchFamily="34" charset="-122"/>
                <a:ea typeface="Noto Sans SC" panose="020B0200000000000000" pitchFamily="34" charset="-122"/>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sym typeface="+mn-ea"/>
              </a:rPr>
              <a:t>单击此处编辑母版文本样式</a:t>
            </a:r>
          </a:p>
          <a:p>
            <a:pPr lvl="1"/>
            <a:r>
              <a:rPr dirty="0" err="1">
                <a:sym typeface="+mn-ea"/>
              </a:rPr>
              <a:t>第二级</a:t>
            </a:r>
            <a:endParaRPr dirty="0">
              <a:sym typeface="+mn-ea"/>
            </a:endParaRPr>
          </a:p>
          <a:p>
            <a:pPr lvl="2"/>
            <a:r>
              <a:rPr dirty="0" err="1">
                <a:sym typeface="+mn-ea"/>
              </a:rPr>
              <a:t>第三级</a:t>
            </a:r>
            <a:endParaRPr dirty="0">
              <a:sym typeface="+mn-ea"/>
            </a:endParaRPr>
          </a:p>
          <a:p>
            <a:pPr lvl="3"/>
            <a:r>
              <a:rPr dirty="0" err="1">
                <a:sym typeface="+mn-ea"/>
              </a:rPr>
              <a:t>第四级</a:t>
            </a:r>
            <a:endParaRPr dirty="0">
              <a:sym typeface="+mn-ea"/>
            </a:endParaRPr>
          </a:p>
          <a:p>
            <a:pPr lvl="4"/>
            <a:r>
              <a:rPr dirty="0" err="1">
                <a:sym typeface="+mn-ea"/>
              </a:rPr>
              <a:t>第五级</a:t>
            </a:r>
            <a:endParaRPr dirty="0">
              <a:sym typeface="+mn-ea"/>
            </a:endParaRPr>
          </a:p>
        </p:txBody>
      </p:sp>
      <p:sp>
        <p:nvSpPr>
          <p:cNvPr id="14" name="任意多边形 13"/>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4" name="日期占位符 3"/>
          <p:cNvSpPr>
            <a:spLocks noGrp="1"/>
          </p:cNvSpPr>
          <p:nvPr>
            <p:ph type="dt" sz="half" idx="10"/>
            <p:custDataLst>
              <p:tags r:id="rId3"/>
            </p:custDataLst>
          </p:nvPr>
        </p:nvSpPr>
        <p:spPr>
          <a:xfrm>
            <a:off x="699135" y="6314440"/>
            <a:ext cx="2613025" cy="316865"/>
          </a:xfrm>
        </p:spPr>
        <p:txBody>
          <a:bodyPr/>
          <a:lstStyle/>
          <a:p>
            <a:fld id="{760FBDFE-C587-4B4C-A407-44438C67B59E}" type="datetimeFigureOut">
              <a:rPr lang="zh-CN" altLang="en-US" smtClean="0"/>
              <a:t>2026/8/3</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标题和副标题">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Noto Sans SC" panose="020B0200000000000000" pitchFamily="34" charset="-122"/>
                <a:ea typeface="Noto Sans SC" panose="020B0200000000000000" pitchFamily="34" charset="-122"/>
                <a:cs typeface="Noto Sans SC" panose="020B0200000000000000" pitchFamily="34" charset="-122"/>
              </a:defRPr>
            </a:lvl1pPr>
          </a:lstStyle>
          <a:p>
            <a:pPr lvl="0" algn="l"/>
            <a:r>
              <a:rPr dirty="0">
                <a:sym typeface="+mn-ea"/>
              </a:rPr>
              <a:t>单击此处编辑母版副标题样式</a:t>
            </a:r>
          </a:p>
        </p:txBody>
      </p:sp>
      <p:sp>
        <p:nvSpPr>
          <p:cNvPr id="6" name="标题"/>
          <p:cNvSpPr txBox="1">
            <a:spLocks noGrp="1"/>
          </p:cNvSpPr>
          <p:nvPr>
            <p:ph type="title" idx="1"/>
            <p:custDataLst>
              <p:tags r:id="rId3"/>
            </p:custDataLst>
          </p:nvPr>
        </p:nvSpPr>
        <p:spPr>
          <a:xfrm>
            <a:off x="695960" y="360000"/>
            <a:ext cx="10800080" cy="720000"/>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panose="020B0200000000000000" pitchFamily="34" charset="-122"/>
                <a:sym typeface="+mn-ea"/>
              </a:defRPr>
            </a:lvl1pPr>
          </a:lstStyle>
          <a:p>
            <a:pPr lvl="0" algn="l">
              <a:buClrTx/>
              <a:buSzTx/>
              <a:buFontTx/>
            </a:pPr>
            <a:r>
              <a:rPr dirty="0">
                <a:sym typeface="+mn-ea"/>
              </a:rPr>
              <a:t>单击此处编辑母版标题样式</a:t>
            </a:r>
          </a:p>
        </p:txBody>
      </p:sp>
      <p:sp>
        <p:nvSpPr>
          <p:cNvPr id="3" name="日期占位符 2"/>
          <p:cNvSpPr>
            <a:spLocks noGrp="1"/>
          </p:cNvSpPr>
          <p:nvPr>
            <p:ph type="dt" sz="half" idx="10"/>
            <p:custDataLst>
              <p:tags r:id="rId4"/>
            </p:custDataLst>
          </p:nvPr>
        </p:nvSpPr>
        <p:spPr>
          <a:xfrm>
            <a:off x="694055" y="6314440"/>
            <a:ext cx="2618105" cy="316865"/>
          </a:xfrm>
        </p:spPr>
        <p:txBody>
          <a:bodyPr/>
          <a:lstStyle/>
          <a:p>
            <a:fld id="{760FBDFE-C587-4B4C-A407-44438C67B59E}" type="datetimeFigureOut">
              <a:rPr lang="zh-CN" altLang="en-US" smtClean="0"/>
              <a:t>2026/8/3</a:t>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1"/>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24" name="任意多边形 23"/>
          <p:cNvSpPr/>
          <p:nvPr userDrawn="1">
            <p:custDataLst>
              <p:tags r:id="rId2"/>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26" name="任意多边形 25"/>
          <p:cNvSpPr/>
          <p:nvPr userDrawn="1">
            <p:custDataLst>
              <p:tags r:id="rId3"/>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latin typeface="Noto Sans SC" panose="020B0200000000000000" pitchFamily="34" charset="-122"/>
              <a:ea typeface="Noto Sans SC" panose="020B0200000000000000" pitchFamily="34" charset="-122"/>
              <a:cs typeface="MiSans Normal" panose="00000500000000000000" charset="-122"/>
            </a:endParaRPr>
          </a:p>
        </p:txBody>
      </p:sp>
      <p:sp>
        <p:nvSpPr>
          <p:cNvPr id="30" name="圆角矩形 29"/>
          <p:cNvSpPr/>
          <p:nvPr userDrawn="1">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cxnSp>
        <p:nvCxnSpPr>
          <p:cNvPr id="32" name="直接连接符 31"/>
          <p:cNvCxnSpPr/>
          <p:nvPr userDrawn="1">
            <p:custDataLst>
              <p:tags r:id="rId5"/>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6"/>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7"/>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8"/>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38" name="椭圆 37"/>
          <p:cNvSpPr/>
          <p:nvPr userDrawn="1">
            <p:custDataLst>
              <p:tags r:id="rId9"/>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39" name="向下箭头"/>
          <p:cNvSpPr/>
          <p:nvPr userDrawn="1">
            <p:custDataLst>
              <p:tags r:id="rId10"/>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44" name="任意多边形 43"/>
          <p:cNvSpPr/>
          <p:nvPr userDrawn="1">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Noto Sans SC Black" panose="020B0200000000000000" pitchFamily="34" charset="-122"/>
                <a:ea typeface="Noto Sans SC Black" panose="020B0200000000000000" pitchFamily="34" charset="-122"/>
                <a:cs typeface="Noto Sans SC Black" panose="020B0200000000000000" pitchFamily="34" charset="-122"/>
                <a:sym typeface="+mn-ea"/>
              </a:defRPr>
            </a:lvl1pPr>
          </a:lstStyle>
          <a:p>
            <a:pPr lvl="0" algn="r">
              <a:buClrTx/>
              <a:buSzTx/>
              <a:buFontTx/>
            </a:pPr>
            <a:r>
              <a:rPr dirty="0" err="1">
                <a:sym typeface="+mn-ea"/>
              </a:rPr>
              <a:t>单击此处编辑标题</a:t>
            </a:r>
            <a:endParaRPr dirty="0">
              <a:sym typeface="+mn-ea"/>
            </a:endParaRP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2026/8/3</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Noto Sans SC Black" panose="020B0200000000000000" pitchFamily="34" charset="-122"/>
                <a:ea typeface="Noto Sans SC Black" panose="020B0200000000000000" pitchFamily="34" charset="-122"/>
              </a:defRPr>
            </a:lvl1pPr>
          </a:lstStyle>
          <a:p>
            <a:pPr lvl="0"/>
            <a:r>
              <a:rPr lang="zh-CN" altLang="en-US" dirty="0"/>
              <a:t>署名</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14"/>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Noto Sans SC" panose="020B0200000000000000" pitchFamily="34" charset="-122"/>
              <a:ea typeface="Noto Sans SC" panose="020B0200000000000000" pitchFamily="34" charset="-122"/>
              <a:cs typeface="MiSans Normal" panose="00000500000000000000" charset="-122"/>
            </a:endParaRPr>
          </a:p>
        </p:txBody>
      </p:sp>
      <p:sp>
        <p:nvSpPr>
          <p:cNvPr id="9" name="日期占位符 8"/>
          <p:cNvSpPr>
            <a:spLocks noGrp="1"/>
          </p:cNvSpPr>
          <p:nvPr>
            <p:ph type="dt" sz="half" idx="10"/>
            <p:custDataLst>
              <p:tags r:id="rId15"/>
            </p:custDataLst>
          </p:nvPr>
        </p:nvSpPr>
        <p:spPr>
          <a:xfrm>
            <a:off x="695960" y="6356350"/>
            <a:ext cx="2743200" cy="365125"/>
          </a:xfrm>
        </p:spPr>
        <p:txBody>
          <a:bodyPr/>
          <a:lstStyle>
            <a:lvl1pPr>
              <a:defRPr>
                <a:latin typeface="Noto Sans SC" panose="020B0200000000000000" pitchFamily="34" charset="-122"/>
                <a:ea typeface="Noto Sans SC" panose="020B0200000000000000" pitchFamily="34" charset="-122"/>
              </a:defRPr>
            </a:lvl1pPr>
          </a:lstStyle>
          <a:p>
            <a:fld id="{760FBDFE-C587-4B4C-A407-44438C67B59E}" type="datetimeFigureOut">
              <a:rPr lang="zh-CN" altLang="en-US" smtClean="0"/>
              <a:pPr/>
              <a:t>2026/8/3</a:t>
            </a:fld>
            <a:endParaRPr lang="zh-CN" altLang="en-US" dirty="0"/>
          </a:p>
        </p:txBody>
      </p:sp>
      <p:sp>
        <p:nvSpPr>
          <p:cNvPr id="10" name="页脚占位符 9"/>
          <p:cNvSpPr>
            <a:spLocks noGrp="1"/>
          </p:cNvSpPr>
          <p:nvPr>
            <p:ph type="ftr" sz="quarter" idx="11"/>
            <p:custDataLst>
              <p:tags r:id="rId16"/>
            </p:custDataLst>
          </p:nvPr>
        </p:nvSpPr>
        <p:spPr>
          <a:xfrm>
            <a:off x="4038600" y="6356350"/>
            <a:ext cx="4114800" cy="365125"/>
          </a:xfrm>
        </p:spPr>
        <p:txBody>
          <a:bodyPr/>
          <a:lstStyle>
            <a:lvl1pPr>
              <a:defRPr>
                <a:latin typeface="Noto Sans SC" panose="020B0200000000000000" pitchFamily="34" charset="-122"/>
                <a:ea typeface="Noto Sans SC" panose="020B0200000000000000" pitchFamily="34" charset="-122"/>
              </a:defRPr>
            </a:lvl1pPr>
          </a:lstStyle>
          <a:p>
            <a:endParaRPr lang="zh-CN" altLang="en-US" dirty="0"/>
          </a:p>
        </p:txBody>
      </p:sp>
      <p:sp>
        <p:nvSpPr>
          <p:cNvPr id="11" name="灯片编号占位符 10"/>
          <p:cNvSpPr>
            <a:spLocks noGrp="1"/>
          </p:cNvSpPr>
          <p:nvPr>
            <p:ph type="sldNum" sz="quarter" idx="12"/>
            <p:custDataLst>
              <p:tags r:id="rId17"/>
            </p:custDataLst>
          </p:nvPr>
        </p:nvSpPr>
        <p:spPr>
          <a:xfrm>
            <a:off x="8753983" y="6356350"/>
            <a:ext cx="2743200" cy="365125"/>
          </a:xfrm>
        </p:spPr>
        <p:txBody>
          <a:bodyPr/>
          <a:lstStyle>
            <a:lvl1pPr>
              <a:defRPr>
                <a:latin typeface="Noto Sans SC" panose="020B0200000000000000" pitchFamily="34" charset="-122"/>
                <a:ea typeface="Noto Sans SC" panose="020B0200000000000000" pitchFamily="34" charset="-122"/>
              </a:defRPr>
            </a:lvl1pPr>
          </a:lstStyle>
          <a:p>
            <a:fld id="{49AE70B2-8BF9-45C0-BB95-33D1B9D3A854}" type="slidenum">
              <a:rPr lang="zh-CN" altLang="en-US" smtClean="0"/>
              <a:pPr/>
              <a:t>‹#›</a:t>
            </a:fld>
            <a:endParaRPr lang="zh-CN" altLang="en-US" dirty="0"/>
          </a:p>
        </p:txBody>
      </p:sp>
      <p:sp>
        <p:nvSpPr>
          <p:cNvPr id="2" name="标题占位符 1"/>
          <p:cNvSpPr>
            <a:spLocks noGrp="1"/>
          </p:cNvSpPr>
          <p:nvPr>
            <p:ph type="title"/>
            <p:custDataLst>
              <p:tags r:id="rId18"/>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p>
        </p:txBody>
      </p:sp>
      <p:sp>
        <p:nvSpPr>
          <p:cNvPr id="3" name="文本占位符 2"/>
          <p:cNvSpPr>
            <a:spLocks noGrp="1"/>
          </p:cNvSpPr>
          <p:nvPr>
            <p:ph type="body" idx="1"/>
            <p:custDataLst>
              <p:tags r:id="rId19"/>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Noto Sans SC" panose="020B0200000000000000" pitchFamily="34" charset="-122"/>
              <a:ea typeface="Noto Sans SC" panose="020B0200000000000000" pitchFamily="34" charset="-122"/>
            </a:endParaRPr>
          </a:p>
        </p:txBody>
      </p:sp>
    </p:spTree>
    <p:custDataLst>
      <p:tags r:id="rId13"/>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Noto Sans SC Black" panose="020B0200000000000000" pitchFamily="34" charset="-122"/>
          <a:ea typeface="Noto Sans SC Black" panose="020B0200000000000000" pitchFamily="34" charset="-122"/>
          <a:cs typeface="Noto Sans SC" panose="020B0200000000000000" pitchFamily="3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Noto Sans SC" panose="020B0200000000000000" pitchFamily="34" charset="-122"/>
          <a:ea typeface="Noto Sans SC" panose="020B0200000000000000" pitchFamily="34" charset="-122"/>
          <a:cs typeface="Noto Sans SC" panose="020B02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3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7"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144.png"/></Relationships>
</file>

<file path=ppt/slides/_rels/slide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1.png"/><Relationship Id="rId1" Type="http://schemas.openxmlformats.org/officeDocument/2006/relationships/slideLayout" Target="../slideLayouts/slideLayout2.xml"/><Relationship Id="rId4" Type="http://schemas.openxmlformats.org/officeDocument/2006/relationships/image" Target="../media/image146.png"/></Relationships>
</file>

<file path=ppt/slides/_rels/slide7.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8.png"/><Relationship Id="rId3" Type="http://schemas.openxmlformats.org/officeDocument/2006/relationships/image" Target="../media/image148.png"/><Relationship Id="rId7" Type="http://schemas.openxmlformats.org/officeDocument/2006/relationships/image" Target="../media/image152.png"/><Relationship Id="rId12" Type="http://schemas.openxmlformats.org/officeDocument/2006/relationships/image" Target="../media/image157.png"/><Relationship Id="rId17" Type="http://schemas.openxmlformats.org/officeDocument/2006/relationships/image" Target="../media/image162.png"/><Relationship Id="rId2" Type="http://schemas.openxmlformats.org/officeDocument/2006/relationships/image" Target="../media/image147.png"/><Relationship Id="rId16"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151.png"/><Relationship Id="rId11" Type="http://schemas.openxmlformats.org/officeDocument/2006/relationships/image" Target="../media/image156.png"/><Relationship Id="rId5" Type="http://schemas.openxmlformats.org/officeDocument/2006/relationships/image" Target="../media/image150.png"/><Relationship Id="rId15" Type="http://schemas.openxmlformats.org/officeDocument/2006/relationships/image" Target="../media/image160.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91.png"/><Relationship Id="rId4" Type="http://schemas.openxmlformats.org/officeDocument/2006/relationships/image" Target="../media/image85.png"/><Relationship Id="rId9" Type="http://schemas.openxmlformats.org/officeDocument/2006/relationships/image" Target="../media/image90.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40.png"/><Relationship Id="rId18" Type="http://schemas.openxmlformats.org/officeDocument/2006/relationships/image" Target="../media/image47.png"/><Relationship Id="rId26" Type="http://schemas.openxmlformats.org/officeDocument/2006/relationships/image" Target="../media/image52.png"/><Relationship Id="rId3" Type="http://schemas.openxmlformats.org/officeDocument/2006/relationships/image" Target="../media/image40.png"/><Relationship Id="rId21" Type="http://schemas.openxmlformats.org/officeDocument/2006/relationships/image" Target="../media/image50.png"/><Relationship Id="rId7" Type="http://schemas.openxmlformats.org/officeDocument/2006/relationships/image" Target="../media/image280.png"/><Relationship Id="rId12" Type="http://schemas.openxmlformats.org/officeDocument/2006/relationships/image" Target="../media/image44.png"/><Relationship Id="rId17" Type="http://schemas.openxmlformats.org/officeDocument/2006/relationships/image" Target="../media/image46.png"/><Relationship Id="rId25" Type="http://schemas.openxmlformats.org/officeDocument/2006/relationships/image" Target="../media/image471.png"/><Relationship Id="rId2" Type="http://schemas.openxmlformats.org/officeDocument/2006/relationships/image" Target="../media/image39.png"/><Relationship Id="rId16" Type="http://schemas.openxmlformats.org/officeDocument/2006/relationships/image" Target="../media/image380.png"/><Relationship Id="rId20" Type="http://schemas.openxmlformats.org/officeDocument/2006/relationships/image" Target="../media/image49.png"/><Relationship Id="rId29"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0.png"/><Relationship Id="rId24" Type="http://schemas.openxmlformats.org/officeDocument/2006/relationships/image" Target="../media/image461.png"/><Relationship Id="rId15" Type="http://schemas.openxmlformats.org/officeDocument/2006/relationships/image" Target="../media/image360.png"/><Relationship Id="rId23" Type="http://schemas.openxmlformats.org/officeDocument/2006/relationships/image" Target="../media/image451.png"/><Relationship Id="rId28" Type="http://schemas.openxmlformats.org/officeDocument/2006/relationships/image" Target="../media/image54.png"/><Relationship Id="rId10" Type="http://schemas.openxmlformats.org/officeDocument/2006/relationships/image" Target="../media/image43.png"/><Relationship Id="rId19" Type="http://schemas.openxmlformats.org/officeDocument/2006/relationships/image" Target="../media/image48.png"/><Relationship Id="rId4" Type="http://schemas.openxmlformats.org/officeDocument/2006/relationships/image" Target="../media/image41.png"/><Relationship Id="rId9" Type="http://schemas.openxmlformats.org/officeDocument/2006/relationships/image" Target="../media/image301.png"/><Relationship Id="rId14" Type="http://schemas.openxmlformats.org/officeDocument/2006/relationships/image" Target="../media/image45.png"/><Relationship Id="rId22" Type="http://schemas.openxmlformats.org/officeDocument/2006/relationships/image" Target="../media/image51.png"/><Relationship Id="rId27"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340.png"/><Relationship Id="rId18" Type="http://schemas.openxmlformats.org/officeDocument/2006/relationships/image" Target="../media/image73.png"/><Relationship Id="rId26" Type="http://schemas.openxmlformats.org/officeDocument/2006/relationships/image" Target="../media/image78.png"/><Relationship Id="rId21" Type="http://schemas.openxmlformats.org/officeDocument/2006/relationships/image" Target="../media/image76.png"/><Relationship Id="rId7" Type="http://schemas.openxmlformats.org/officeDocument/2006/relationships/image" Target="../media/image280.png"/><Relationship Id="rId12" Type="http://schemas.openxmlformats.org/officeDocument/2006/relationships/image" Target="../media/image70.png"/><Relationship Id="rId17" Type="http://schemas.openxmlformats.org/officeDocument/2006/relationships/image" Target="../media/image72.png"/><Relationship Id="rId25" Type="http://schemas.openxmlformats.org/officeDocument/2006/relationships/image" Target="../media/image471.png"/><Relationship Id="rId2" Type="http://schemas.openxmlformats.org/officeDocument/2006/relationships/image" Target="../media/image67.png"/><Relationship Id="rId16" Type="http://schemas.openxmlformats.org/officeDocument/2006/relationships/image" Target="../media/image380.png"/><Relationship Id="rId20" Type="http://schemas.openxmlformats.org/officeDocument/2006/relationships/image" Target="../media/image75.png"/><Relationship Id="rId29"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0.png"/><Relationship Id="rId24" Type="http://schemas.openxmlformats.org/officeDocument/2006/relationships/image" Target="../media/image461.png"/><Relationship Id="rId15" Type="http://schemas.openxmlformats.org/officeDocument/2006/relationships/image" Target="../media/image360.png"/><Relationship Id="rId23" Type="http://schemas.openxmlformats.org/officeDocument/2006/relationships/image" Target="../media/image451.png"/><Relationship Id="rId28" Type="http://schemas.openxmlformats.org/officeDocument/2006/relationships/image" Target="../media/image80.png"/><Relationship Id="rId10" Type="http://schemas.openxmlformats.org/officeDocument/2006/relationships/image" Target="../media/image69.png"/><Relationship Id="rId19" Type="http://schemas.openxmlformats.org/officeDocument/2006/relationships/image" Target="../media/image74.png"/><Relationship Id="rId31" Type="http://schemas.openxmlformats.org/officeDocument/2006/relationships/image" Target="../media/image82.png"/><Relationship Id="rId9" Type="http://schemas.openxmlformats.org/officeDocument/2006/relationships/image" Target="../media/image301.png"/><Relationship Id="rId14" Type="http://schemas.openxmlformats.org/officeDocument/2006/relationships/image" Target="../media/image71.png"/><Relationship Id="rId22" Type="http://schemas.openxmlformats.org/officeDocument/2006/relationships/image" Target="../media/image77.png"/><Relationship Id="rId27" Type="http://schemas.openxmlformats.org/officeDocument/2006/relationships/image" Target="../media/image79.png"/><Relationship Id="rId30" Type="http://schemas.openxmlformats.org/officeDocument/2006/relationships/image" Target="../media/image81.png"/></Relationships>
</file>

<file path=ppt/slides/_rels/slide31.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340.png"/><Relationship Id="rId18" Type="http://schemas.openxmlformats.org/officeDocument/2006/relationships/image" Target="../media/image73.png"/><Relationship Id="rId26" Type="http://schemas.openxmlformats.org/officeDocument/2006/relationships/image" Target="../media/image78.png"/><Relationship Id="rId21" Type="http://schemas.openxmlformats.org/officeDocument/2006/relationships/image" Target="../media/image76.png"/><Relationship Id="rId7" Type="http://schemas.openxmlformats.org/officeDocument/2006/relationships/image" Target="../media/image280.png"/><Relationship Id="rId12" Type="http://schemas.openxmlformats.org/officeDocument/2006/relationships/image" Target="../media/image70.png"/><Relationship Id="rId17" Type="http://schemas.openxmlformats.org/officeDocument/2006/relationships/image" Target="../media/image72.png"/><Relationship Id="rId25" Type="http://schemas.openxmlformats.org/officeDocument/2006/relationships/image" Target="../media/image471.png"/><Relationship Id="rId16" Type="http://schemas.openxmlformats.org/officeDocument/2006/relationships/image" Target="../media/image380.png"/><Relationship Id="rId20" Type="http://schemas.openxmlformats.org/officeDocument/2006/relationships/image" Target="../media/image75.png"/><Relationship Id="rId29"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0.png"/><Relationship Id="rId24" Type="http://schemas.openxmlformats.org/officeDocument/2006/relationships/image" Target="../media/image461.png"/><Relationship Id="rId32" Type="http://schemas.openxmlformats.org/officeDocument/2006/relationships/image" Target="../media/image82.png"/><Relationship Id="rId15" Type="http://schemas.openxmlformats.org/officeDocument/2006/relationships/image" Target="../media/image360.png"/><Relationship Id="rId23" Type="http://schemas.openxmlformats.org/officeDocument/2006/relationships/image" Target="../media/image451.png"/><Relationship Id="rId28" Type="http://schemas.openxmlformats.org/officeDocument/2006/relationships/image" Target="../media/image80.png"/><Relationship Id="rId10" Type="http://schemas.openxmlformats.org/officeDocument/2006/relationships/image" Target="../media/image69.png"/><Relationship Id="rId19" Type="http://schemas.openxmlformats.org/officeDocument/2006/relationships/image" Target="../media/image74.png"/><Relationship Id="rId31" Type="http://schemas.openxmlformats.org/officeDocument/2006/relationships/image" Target="../media/image81.png"/><Relationship Id="rId9" Type="http://schemas.openxmlformats.org/officeDocument/2006/relationships/image" Target="../media/image301.png"/><Relationship Id="rId14" Type="http://schemas.openxmlformats.org/officeDocument/2006/relationships/image" Target="../media/image71.png"/><Relationship Id="rId22" Type="http://schemas.openxmlformats.org/officeDocument/2006/relationships/image" Target="../media/image77.png"/><Relationship Id="rId27" Type="http://schemas.openxmlformats.org/officeDocument/2006/relationships/image" Target="../media/image79.png"/><Relationship Id="rId30" Type="http://schemas.openxmlformats.org/officeDocument/2006/relationships/image" Target="../media/image92.png"/></Relationships>
</file>

<file path=ppt/slides/_rels/slide3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33.xml.rels><?xml version="1.0" encoding="UTF-8" standalone="yes"?>
<Relationships xmlns="http://schemas.openxmlformats.org/package/2006/relationships"><Relationship Id="rId3" Type="http://schemas.openxmlformats.org/officeDocument/2006/relationships/image" Target="../media/image96.png"/><Relationship Id="rId7" Type="http://schemas.openxmlformats.org/officeDocument/2006/relationships/image" Target="../media/image100.pn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34.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4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_rels/slide4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7" Type="http://schemas.openxmlformats.org/officeDocument/2006/relationships/image" Target="../media/image119.png"/><Relationship Id="rId2" Type="http://schemas.openxmlformats.org/officeDocument/2006/relationships/image" Target="../media/image12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4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 Id="rId4" Type="http://schemas.openxmlformats.org/officeDocument/2006/relationships/image" Target="../media/image138.png"/></Relationships>
</file>

<file path=ppt/slides/_rels/slide5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4" Type="http://schemas.openxmlformats.org/officeDocument/2006/relationships/image" Target="../media/image163.png"/></Relationships>
</file>

<file path=ppt/slides/_rels/slide54.xml.rels><?xml version="1.0" encoding="UTF-8" standalone="yes"?>
<Relationships xmlns="http://schemas.openxmlformats.org/package/2006/relationships"><Relationship Id="rId3" Type="http://schemas.openxmlformats.org/officeDocument/2006/relationships/image" Target="../media/image165.png"/><Relationship Id="rId7" Type="http://schemas.openxmlformats.org/officeDocument/2006/relationships/image" Target="../media/image170.png"/><Relationship Id="rId2"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image" Target="../media/image168.png"/><Relationship Id="rId4" Type="http://schemas.openxmlformats.org/officeDocument/2006/relationships/image" Target="../media/image167.png"/></Relationships>
</file>

<file path=ppt/slides/_rels/slide55.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 Id="rId4" Type="http://schemas.openxmlformats.org/officeDocument/2006/relationships/image" Target="../media/image173.png"/></Relationships>
</file>

<file path=ppt/slides/_rels/slide5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9.png"/></Relationships>
</file>

<file path=ppt/slides/_rels/slide60.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6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7.png"/><Relationship Id="rId1" Type="http://schemas.openxmlformats.org/officeDocument/2006/relationships/slideLayout" Target="../slideLayouts/slideLayout2.xml"/><Relationship Id="rId4" Type="http://schemas.openxmlformats.org/officeDocument/2006/relationships/image" Target="../media/image19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p:cNvSpPr>
            <a:spLocks noGrp="1"/>
          </p:cNvSpPr>
          <p:nvPr>
            <p:ph type="title" idx="1"/>
            <p:custDataLst>
              <p:tags r:id="rId2"/>
            </p:custDataLst>
          </p:nvPr>
        </p:nvSpPr>
        <p:spPr>
          <a:xfrm>
            <a:off x="2273300" y="1108075"/>
            <a:ext cx="8413750" cy="2502535"/>
          </a:xfrm>
        </p:spPr>
        <p:txBody>
          <a:bodyPr>
            <a:normAutofit/>
          </a:bodyPr>
          <a:lstStyle/>
          <a:p>
            <a:r>
              <a:rPr lang="en-US" altLang="zh-CN" dirty="0"/>
              <a:t>CPU</a:t>
            </a:r>
            <a:r>
              <a:rPr dirty="0"/>
              <a:t>软渲染</a:t>
            </a:r>
            <a:br>
              <a:rPr dirty="0"/>
            </a:br>
            <a:r>
              <a:rPr dirty="0"/>
              <a:t>路径追踪渲染器</a:t>
            </a:r>
          </a:p>
        </p:txBody>
      </p:sp>
      <p:sp>
        <p:nvSpPr>
          <p:cNvPr id="5" name="文本占位符 4"/>
          <p:cNvSpPr>
            <a:spLocks noGrp="1"/>
          </p:cNvSpPr>
          <p:nvPr>
            <p:ph type="body" sz="quarter" idx="17"/>
            <p:custDataLst>
              <p:tags r:id="rId3"/>
            </p:custDataLst>
          </p:nvPr>
        </p:nvSpPr>
        <p:spPr>
          <a:xfrm>
            <a:off x="1326525" y="4275976"/>
            <a:ext cx="8536294" cy="656600"/>
          </a:xfrm>
        </p:spPr>
        <p:txBody>
          <a:bodyPr>
            <a:normAutofit/>
          </a:bodyPr>
          <a:lstStyle/>
          <a:p>
            <a:r>
              <a:rPr lang="zh-CN" altLang="en-US" dirty="0"/>
              <a:t>光谱渲染（</a:t>
            </a:r>
            <a:r>
              <a:rPr lang="zh-CN" altLang="en-US"/>
              <a:t>中）光</a:t>
            </a:r>
            <a:r>
              <a:rPr lang="zh-CN" altLang="en-US" dirty="0"/>
              <a:t>谱路径追踪</a:t>
            </a:r>
            <a:r>
              <a:rPr lang="en-US" altLang="zh-CN" dirty="0"/>
              <a:t> </a:t>
            </a:r>
            <a:r>
              <a:rPr lang="zh-CN" altLang="en-US" dirty="0"/>
              <a:t>               </a:t>
            </a:r>
            <a:r>
              <a:rPr lang="en-US" altLang="zh-CN" dirty="0"/>
              <a:t>B</a:t>
            </a:r>
            <a:r>
              <a:rPr lang="zh-CN" altLang="en-US" dirty="0"/>
              <a:t>站：</a:t>
            </a:r>
            <a:r>
              <a:rPr lang="en-US" altLang="zh-CN" dirty="0"/>
              <a:t>HeaoYe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29935-B5F6-BDCE-0291-9B694158D9A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327861E-52DF-01E1-9F99-83BB50F4D081}"/>
              </a:ext>
            </a:extLst>
          </p:cNvPr>
          <p:cNvSpPr>
            <a:spLocks noGrp="1"/>
          </p:cNvSpPr>
          <p:nvPr>
            <p:ph type="title" idx="1"/>
          </p:nvPr>
        </p:nvSpPr>
        <p:spPr/>
        <p:txBody>
          <a:bodyPr/>
          <a:lstStyle/>
          <a:p>
            <a:r>
              <a:rPr lang="zh-CN" altLang="en-US" dirty="0"/>
              <a:t>色彩科学</a:t>
            </a:r>
          </a:p>
        </p:txBody>
      </p:sp>
      <p:sp>
        <p:nvSpPr>
          <p:cNvPr id="7" name="文本框 6">
            <a:extLst>
              <a:ext uri="{FF2B5EF4-FFF2-40B4-BE49-F238E27FC236}">
                <a16:creationId xmlns:a16="http://schemas.microsoft.com/office/drawing/2014/main" id="{7809EAA5-65CD-6D01-DF78-C83F9B198886}"/>
              </a:ext>
            </a:extLst>
          </p:cNvPr>
          <p:cNvSpPr txBox="1"/>
          <p:nvPr/>
        </p:nvSpPr>
        <p:spPr>
          <a:xfrm>
            <a:off x="487751" y="1913391"/>
            <a:ext cx="5608249" cy="4278094"/>
          </a:xfrm>
          <a:prstGeom prst="rect">
            <a:avLst/>
          </a:prstGeom>
          <a:noFill/>
        </p:spPr>
        <p:txBody>
          <a:bodyPr wrap="square" rtlCol="0">
            <a:spAutoFit/>
          </a:bodyPr>
          <a:lstStyle/>
          <a:p>
            <a:pPr algn="just"/>
            <a:r>
              <a:rPr lang="en-US" altLang="zh-CN" sz="1700" dirty="0">
                <a:latin typeface="Noto Sans SC" panose="020B0200000000000000" pitchFamily="34" charset="-122"/>
                <a:ea typeface="Noto Sans SC" panose="020B0200000000000000" pitchFamily="34" charset="-122"/>
              </a:rPr>
              <a:t>         1931</a:t>
            </a:r>
            <a:r>
              <a:rPr lang="zh-CN" altLang="en-US" sz="1700" dirty="0">
                <a:latin typeface="Noto Sans SC" panose="020B0200000000000000" pitchFamily="34" charset="-122"/>
                <a:ea typeface="Noto Sans SC" panose="020B0200000000000000" pitchFamily="34" charset="-122"/>
              </a:rPr>
              <a:t>年，</a:t>
            </a:r>
            <a:r>
              <a:rPr lang="en-US" altLang="zh-CN" sz="1700" dirty="0">
                <a:latin typeface="Noto Sans SC" panose="020B0200000000000000" pitchFamily="34" charset="-122"/>
                <a:ea typeface="Noto Sans SC" panose="020B0200000000000000" pitchFamily="34" charset="-122"/>
              </a:rPr>
              <a:t>CIE</a:t>
            </a:r>
            <a:r>
              <a:rPr lang="zh-CN" altLang="en-US" sz="1700" dirty="0">
                <a:latin typeface="Noto Sans SC" panose="020B0200000000000000" pitchFamily="34" charset="-122"/>
                <a:ea typeface="Noto Sans SC" panose="020B0200000000000000" pitchFamily="34" charset="-122"/>
              </a:rPr>
              <a:t>从</a:t>
            </a:r>
            <a:r>
              <a:rPr lang="en-US" altLang="zh-CN" sz="1700" dirty="0">
                <a:latin typeface="Noto Sans SC" panose="020B0200000000000000" pitchFamily="34" charset="-122"/>
                <a:ea typeface="Noto Sans SC" panose="020B0200000000000000" pitchFamily="34" charset="-122"/>
              </a:rPr>
              <a:t>Wright-Guild</a:t>
            </a:r>
            <a:r>
              <a:rPr lang="zh-CN" altLang="en-US" sz="1700" dirty="0">
                <a:latin typeface="Noto Sans SC" panose="020B0200000000000000" pitchFamily="34" charset="-122"/>
                <a:ea typeface="Noto Sans SC" panose="020B0200000000000000" pitchFamily="34" charset="-122"/>
              </a:rPr>
              <a:t>的合并实验数据，得到了</a:t>
            </a:r>
            <a:r>
              <a:rPr lang="en-US" altLang="zh-CN" sz="1700" dirty="0">
                <a:latin typeface="Noto Sans SC" panose="020B0200000000000000" pitchFamily="34" charset="-122"/>
                <a:ea typeface="Noto Sans SC" panose="020B0200000000000000" pitchFamily="34" charset="-122"/>
              </a:rPr>
              <a:t>CIE 1931 RGB color space</a:t>
            </a:r>
            <a:r>
              <a:rPr lang="zh-CN" altLang="en-US" sz="1700" dirty="0">
                <a:latin typeface="Noto Sans SC" panose="020B0200000000000000" pitchFamily="34" charset="-122"/>
                <a:ea typeface="Noto Sans SC" panose="020B0200000000000000" pitchFamily="34" charset="-122"/>
              </a:rPr>
              <a:t>。</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1931</a:t>
            </a:r>
            <a:r>
              <a:rPr lang="zh-CN" altLang="en-US" sz="1700" dirty="0">
                <a:latin typeface="Noto Sans SC" panose="020B0200000000000000" pitchFamily="34" charset="-122"/>
                <a:ea typeface="Noto Sans SC" panose="020B0200000000000000" pitchFamily="34" charset="-122"/>
              </a:rPr>
              <a:t>年，</a:t>
            </a:r>
            <a:r>
              <a:rPr lang="en-US" altLang="zh-CN" sz="1700" dirty="0">
                <a:latin typeface="Noto Sans SC" panose="020B0200000000000000" pitchFamily="34" charset="-122"/>
                <a:ea typeface="Noto Sans SC" panose="020B0200000000000000" pitchFamily="34" charset="-122"/>
              </a:rPr>
              <a:t>CIE</a:t>
            </a:r>
            <a:r>
              <a:rPr lang="zh-CN" altLang="en-US" sz="1700" dirty="0">
                <a:latin typeface="Noto Sans SC" panose="020B0200000000000000" pitchFamily="34" charset="-122"/>
                <a:ea typeface="Noto Sans SC" panose="020B0200000000000000" pitchFamily="34" charset="-122"/>
              </a:rPr>
              <a:t>基于此得到了</a:t>
            </a:r>
            <a:r>
              <a:rPr lang="en-US" altLang="zh-CN" sz="1700" dirty="0">
                <a:latin typeface="Noto Sans SC" panose="020B0200000000000000" pitchFamily="34" charset="-122"/>
                <a:ea typeface="Noto Sans SC" panose="020B0200000000000000" pitchFamily="34" charset="-122"/>
              </a:rPr>
              <a:t>CIE 1931 XYZ</a:t>
            </a:r>
            <a:r>
              <a:rPr lang="zh-CN" altLang="en-US" sz="1700" dirty="0">
                <a:latin typeface="Noto Sans SC" panose="020B0200000000000000" pitchFamily="34" charset="-122"/>
                <a:ea typeface="Noto Sans SC" panose="020B0200000000000000" pitchFamily="34" charset="-122"/>
              </a:rPr>
              <a:t> </a:t>
            </a:r>
            <a:r>
              <a:rPr lang="en-US" altLang="zh-CN" sz="1700" dirty="0">
                <a:latin typeface="Noto Sans SC" panose="020B0200000000000000" pitchFamily="34" charset="-122"/>
                <a:ea typeface="Noto Sans SC" panose="020B0200000000000000" pitchFamily="34" charset="-122"/>
              </a:rPr>
              <a:t>color space</a:t>
            </a:r>
            <a:r>
              <a:rPr lang="zh-CN" altLang="en-US" sz="1700" dirty="0">
                <a:latin typeface="Noto Sans SC" panose="020B0200000000000000" pitchFamily="34" charset="-122"/>
                <a:ea typeface="Noto Sans SC" panose="020B0200000000000000" pitchFamily="34" charset="-122"/>
              </a:rPr>
              <a:t>，成为后来色彩科学的统一标准。</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后来，人们根据显示设备和应用需求，制定了</a:t>
            </a:r>
            <a:r>
              <a:rPr lang="en-US" altLang="zh-CN" sz="1700" dirty="0">
                <a:latin typeface="Noto Sans SC" panose="020B0200000000000000" pitchFamily="34" charset="-122"/>
                <a:ea typeface="Noto Sans SC" panose="020B0200000000000000" pitchFamily="34" charset="-122"/>
              </a:rPr>
              <a:t>sRGB</a:t>
            </a:r>
            <a:r>
              <a:rPr lang="zh-CN" altLang="en-US" sz="1700" dirty="0">
                <a:latin typeface="Noto Sans SC" panose="020B0200000000000000" pitchFamily="34" charset="-122"/>
                <a:ea typeface="Noto Sans SC" panose="020B0200000000000000" pitchFamily="34" charset="-122"/>
              </a:rPr>
              <a:t>、</a:t>
            </a:r>
            <a:r>
              <a:rPr lang="en-US" altLang="zh-CN" sz="1700" dirty="0">
                <a:latin typeface="Noto Sans SC" panose="020B0200000000000000" pitchFamily="34" charset="-122"/>
                <a:ea typeface="Noto Sans SC" panose="020B0200000000000000" pitchFamily="34" charset="-122"/>
              </a:rPr>
              <a:t>DCI-P3</a:t>
            </a:r>
            <a:r>
              <a:rPr lang="zh-CN" altLang="en-US" sz="1700" dirty="0">
                <a:latin typeface="Noto Sans SC" panose="020B0200000000000000" pitchFamily="34" charset="-122"/>
                <a:ea typeface="Noto Sans SC" panose="020B0200000000000000" pitchFamily="34" charset="-122"/>
              </a:rPr>
              <a:t>、</a:t>
            </a:r>
            <a:r>
              <a:rPr lang="en-US" altLang="zh-CN" sz="1700" dirty="0">
                <a:latin typeface="Noto Sans SC" panose="020B0200000000000000" pitchFamily="34" charset="-122"/>
                <a:ea typeface="Noto Sans SC" panose="020B0200000000000000" pitchFamily="34" charset="-122"/>
              </a:rPr>
              <a:t>Rec.2020</a:t>
            </a:r>
            <a:r>
              <a:rPr lang="zh-CN" altLang="en-US" sz="1700" dirty="0">
                <a:latin typeface="Noto Sans SC" panose="020B0200000000000000" pitchFamily="34" charset="-122"/>
                <a:ea typeface="Noto Sans SC" panose="020B0200000000000000" pitchFamily="34" charset="-122"/>
              </a:rPr>
              <a:t>等色域。</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en-US" altLang="zh-CN" sz="1700" dirty="0">
                <a:latin typeface="Noto Sans SC" panose="020B0200000000000000" pitchFamily="34" charset="-122"/>
                <a:ea typeface="Noto Sans SC" panose="020B0200000000000000" pitchFamily="34" charset="-122"/>
              </a:rPr>
              <a:t>         </a:t>
            </a:r>
            <a:r>
              <a:rPr lang="zh-CN" altLang="en-US" sz="1700" dirty="0">
                <a:latin typeface="Noto Sans SC" panose="020B0200000000000000" pitchFamily="34" charset="-122"/>
                <a:ea typeface="Noto Sans SC" panose="020B0200000000000000" pitchFamily="34" charset="-122"/>
              </a:rPr>
              <a:t>色域划定了色度的范围，由三原色在</a:t>
            </a:r>
            <a:r>
              <a:rPr lang="en-US" altLang="zh-CN" sz="1700" dirty="0" err="1">
                <a:latin typeface="Noto Sans SC" panose="020B0200000000000000" pitchFamily="34" charset="-122"/>
                <a:ea typeface="Noto Sans SC" panose="020B0200000000000000" pitchFamily="34" charset="-122"/>
              </a:rPr>
              <a:t>xy</a:t>
            </a:r>
            <a:r>
              <a:rPr lang="zh-CN" altLang="en-US" sz="1700" dirty="0">
                <a:latin typeface="Noto Sans SC" panose="020B0200000000000000" pitchFamily="34" charset="-122"/>
                <a:ea typeface="Noto Sans SC" panose="020B0200000000000000" pitchFamily="34" charset="-122"/>
              </a:rPr>
              <a:t>色度平面的坐标决定。</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色域、参考白、传递函数三者共同组成了色彩空间。</a:t>
            </a:r>
            <a:endParaRPr lang="en-US" altLang="zh-CN" sz="1700" dirty="0">
              <a:latin typeface="Noto Sans SC" panose="020B0200000000000000" pitchFamily="34" charset="-122"/>
              <a:ea typeface="Noto Sans SC" panose="020B0200000000000000" pitchFamily="34" charset="-122"/>
            </a:endParaRPr>
          </a:p>
          <a:p>
            <a:pPr algn="just"/>
            <a:endParaRPr lang="en-US" altLang="zh-CN" sz="1700" dirty="0">
              <a:latin typeface="Noto Sans SC" panose="020B0200000000000000" pitchFamily="34" charset="-122"/>
              <a:ea typeface="Noto Sans SC" panose="020B0200000000000000" pitchFamily="34" charset="-122"/>
            </a:endParaRPr>
          </a:p>
          <a:p>
            <a:pPr algn="just"/>
            <a:r>
              <a:rPr lang="zh-CN" altLang="en-US" sz="1700" dirty="0">
                <a:latin typeface="Noto Sans SC" panose="020B0200000000000000" pitchFamily="34" charset="-122"/>
                <a:ea typeface="Noto Sans SC" panose="020B0200000000000000" pitchFamily="34" charset="-122"/>
              </a:rPr>
              <a:t>         对于一个</a:t>
            </a:r>
            <a:r>
              <a:rPr lang="en-US" altLang="zh-CN" sz="1700" dirty="0">
                <a:latin typeface="Noto Sans SC" panose="020B0200000000000000" pitchFamily="34" charset="-122"/>
                <a:ea typeface="Noto Sans SC" panose="020B0200000000000000" pitchFamily="34" charset="-122"/>
              </a:rPr>
              <a:t>RGB</a:t>
            </a:r>
            <a:r>
              <a:rPr lang="zh-CN" altLang="en-US" sz="1700" dirty="0">
                <a:latin typeface="Noto Sans SC" panose="020B0200000000000000" pitchFamily="34" charset="-122"/>
                <a:ea typeface="Noto Sans SC" panose="020B0200000000000000" pitchFamily="34" charset="-122"/>
              </a:rPr>
              <a:t>三元组，必须指定对应的色彩空间以及是否是线性的，才有具体的实际意义。</a:t>
            </a:r>
            <a:endParaRPr lang="en-US" altLang="zh-CN" sz="170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1C6D451-72A5-5CA9-C2C8-63F3941043B7}"/>
                  </a:ext>
                </a:extLst>
              </p:cNvPr>
              <p:cNvSpPr txBox="1"/>
              <p:nvPr/>
            </p:nvSpPr>
            <p:spPr>
              <a:xfrm>
                <a:off x="6556378" y="4998496"/>
                <a:ext cx="4599403" cy="923330"/>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一个色彩空间中的线性</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一般表示的是相对亮度，例如：</a:t>
                </a:r>
                <a14:m>
                  <m:oMath xmlns:m="http://schemas.openxmlformats.org/officeDocument/2006/math">
                    <m:sSub>
                      <m:sSubPr>
                        <m:ctrlPr>
                          <a:rPr lang="en-US" altLang="zh-CN" i="1">
                            <a:latin typeface="Cambria Math" panose="02040503050406030204" pitchFamily="18" charset="0"/>
                          </a:rPr>
                        </m:ctrlPr>
                      </m:sSubPr>
                      <m:e>
                        <m:d>
                          <m:dPr>
                            <m:ctrlPr>
                              <a:rPr lang="en-US" altLang="zh-CN" i="1">
                                <a:latin typeface="Cambria Math" panose="02040503050406030204" pitchFamily="18" charset="0"/>
                              </a:rPr>
                            </m:ctrlPr>
                          </m:dPr>
                          <m:e>
                            <m:r>
                              <a:rPr lang="en-US" altLang="zh-CN" i="1">
                                <a:latin typeface="Cambria Math" panose="02040503050406030204" pitchFamily="18" charset="0"/>
                              </a:rPr>
                              <m:t>1, 1, 1</m:t>
                            </m:r>
                          </m:e>
                        </m:d>
                      </m:e>
                      <m:sub>
                        <m:r>
                          <a:rPr lang="en-US" altLang="zh-CN" i="1" smtClean="0">
                            <a:latin typeface="Cambria Math" panose="02040503050406030204" pitchFamily="18" charset="0"/>
                          </a:rPr>
                          <m:t>𝑠𝑅𝐺𝐵</m:t>
                        </m:r>
                      </m:sub>
                    </m:sSub>
                  </m:oMath>
                </a14:m>
                <a:r>
                  <a:rPr lang="zh-CN" altLang="en-US" dirty="0">
                    <a:latin typeface="Noto Sans SC" panose="020B0200000000000000" pitchFamily="34" charset="-122"/>
                    <a:ea typeface="Noto Sans SC" panose="020B0200000000000000" pitchFamily="34" charset="-122"/>
                  </a:rPr>
                  <a:t>的亮度为</a:t>
                </a:r>
                <a14:m>
                  <m:oMath xmlns:m="http://schemas.openxmlformats.org/officeDocument/2006/math">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0.5</m:t>
                            </m:r>
                            <m:r>
                              <a:rPr lang="en-US" altLang="zh-CN" i="1">
                                <a:latin typeface="Cambria Math" panose="02040503050406030204" pitchFamily="18" charset="0"/>
                              </a:rPr>
                              <m:t>, </m:t>
                            </m:r>
                            <m:r>
                              <a:rPr lang="en-US" altLang="zh-CN" b="0" i="1" smtClean="0">
                                <a:latin typeface="Cambria Math" panose="02040503050406030204" pitchFamily="18" charset="0"/>
                              </a:rPr>
                              <m:t>0.5</m:t>
                            </m:r>
                            <m:r>
                              <a:rPr lang="en-US" altLang="zh-CN" i="1">
                                <a:latin typeface="Cambria Math" panose="02040503050406030204" pitchFamily="18" charset="0"/>
                              </a:rPr>
                              <m:t>, </m:t>
                            </m:r>
                            <m:r>
                              <a:rPr lang="en-US" altLang="zh-CN" b="0" i="1" smtClean="0">
                                <a:latin typeface="Cambria Math" panose="02040503050406030204" pitchFamily="18" charset="0"/>
                              </a:rPr>
                              <m:t>0.5</m:t>
                            </m:r>
                          </m:e>
                        </m:d>
                      </m:e>
                      <m:sub>
                        <m:r>
                          <a:rPr lang="en-US" altLang="zh-CN" i="1">
                            <a:latin typeface="Cambria Math" panose="02040503050406030204" pitchFamily="18" charset="0"/>
                          </a:rPr>
                          <m:t>𝑠𝑅𝐺𝐵</m:t>
                        </m:r>
                      </m:sub>
                    </m:sSub>
                  </m:oMath>
                </a14:m>
                <a:r>
                  <a:rPr lang="zh-CN" altLang="en-US" dirty="0">
                    <a:latin typeface="Noto Sans SC" panose="020B0200000000000000" pitchFamily="34" charset="-122"/>
                    <a:ea typeface="Noto Sans SC" panose="020B0200000000000000" pitchFamily="34" charset="-122"/>
                  </a:rPr>
                  <a:t>的</a:t>
                </a:r>
                <a:r>
                  <a:rPr lang="en-US" altLang="zh-CN" dirty="0">
                    <a:latin typeface="Noto Sans SC" panose="020B0200000000000000" pitchFamily="34" charset="-122"/>
                    <a:ea typeface="Noto Sans SC" panose="020B0200000000000000" pitchFamily="34" charset="-122"/>
                  </a:rPr>
                  <a:t>2</a:t>
                </a:r>
                <a:r>
                  <a:rPr lang="zh-CN" altLang="en-US" dirty="0">
                    <a:latin typeface="Noto Sans SC" panose="020B0200000000000000" pitchFamily="34" charset="-122"/>
                    <a:ea typeface="Noto Sans SC" panose="020B0200000000000000" pitchFamily="34" charset="-122"/>
                  </a:rPr>
                  <a:t>倍。</a:t>
                </a:r>
              </a:p>
            </p:txBody>
          </p:sp>
        </mc:Choice>
        <mc:Fallback xmlns="">
          <p:sp>
            <p:nvSpPr>
              <p:cNvPr id="9" name="文本框 8">
                <a:extLst>
                  <a:ext uri="{FF2B5EF4-FFF2-40B4-BE49-F238E27FC236}">
                    <a16:creationId xmlns:a16="http://schemas.microsoft.com/office/drawing/2014/main" id="{81C6D451-72A5-5CA9-C2C8-63F3941043B7}"/>
                  </a:ext>
                </a:extLst>
              </p:cNvPr>
              <p:cNvSpPr txBox="1">
                <a:spLocks noRot="1" noChangeAspect="1" noMove="1" noResize="1" noEditPoints="1" noAdjustHandles="1" noChangeArrowheads="1" noChangeShapeType="1" noTextEdit="1"/>
              </p:cNvSpPr>
              <p:nvPr/>
            </p:nvSpPr>
            <p:spPr>
              <a:xfrm>
                <a:off x="6556378" y="4998496"/>
                <a:ext cx="4599403" cy="923330"/>
              </a:xfrm>
              <a:prstGeom prst="rect">
                <a:avLst/>
              </a:prstGeom>
              <a:blipFill>
                <a:blip r:embed="rId2"/>
                <a:stretch>
                  <a:fillRect l="-1194" t="-3974" r="-1061" b="-9934"/>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999E889D-C222-63E1-5B54-F214BF5DC1A4}"/>
              </a:ext>
            </a:extLst>
          </p:cNvPr>
          <p:cNvGrpSpPr/>
          <p:nvPr/>
        </p:nvGrpSpPr>
        <p:grpSpPr>
          <a:xfrm>
            <a:off x="6362161" y="1638869"/>
            <a:ext cx="5440819" cy="2933129"/>
            <a:chOff x="5392701" y="1405676"/>
            <a:chExt cx="6259317" cy="3374379"/>
          </a:xfrm>
        </p:grpSpPr>
        <p:pic>
          <p:nvPicPr>
            <p:cNvPr id="4" name="图片 3">
              <a:extLst>
                <a:ext uri="{FF2B5EF4-FFF2-40B4-BE49-F238E27FC236}">
                  <a16:creationId xmlns:a16="http://schemas.microsoft.com/office/drawing/2014/main" id="{C73212C4-6AF5-247E-CD75-D38E1D4399F3}"/>
                </a:ext>
              </a:extLst>
            </p:cNvPr>
            <p:cNvPicPr>
              <a:picLocks noChangeAspect="1"/>
            </p:cNvPicPr>
            <p:nvPr/>
          </p:nvPicPr>
          <p:blipFill>
            <a:blip r:embed="rId3"/>
            <a:stretch>
              <a:fillRect/>
            </a:stretch>
          </p:blipFill>
          <p:spPr>
            <a:xfrm>
              <a:off x="5392701" y="1405676"/>
              <a:ext cx="6259317" cy="33743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矩形 1">
              <a:extLst>
                <a:ext uri="{FF2B5EF4-FFF2-40B4-BE49-F238E27FC236}">
                  <a16:creationId xmlns:a16="http://schemas.microsoft.com/office/drawing/2014/main" id="{430776D3-BA3F-F27F-8C70-6D22CC2A7887}"/>
                </a:ext>
              </a:extLst>
            </p:cNvPr>
            <p:cNvSpPr/>
            <p:nvPr/>
          </p:nvSpPr>
          <p:spPr>
            <a:xfrm>
              <a:off x="5653825" y="3786389"/>
              <a:ext cx="2607972" cy="643943"/>
            </a:xfrm>
            <a:prstGeom prst="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p:sp>
        <p:nvSpPr>
          <p:cNvPr id="15" name="文本框 14">
            <a:extLst>
              <a:ext uri="{FF2B5EF4-FFF2-40B4-BE49-F238E27FC236}">
                <a16:creationId xmlns:a16="http://schemas.microsoft.com/office/drawing/2014/main" id="{006D01BD-CE01-8A6B-A303-3BE3ACB53154}"/>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什么是</a:t>
            </a:r>
            <a:r>
              <a:rPr lang="en-US" altLang="zh-CN" sz="2000" b="1" dirty="0">
                <a:latin typeface="Noto Sans SC" panose="020B0200000000000000" pitchFamily="34" charset="-122"/>
                <a:ea typeface="Noto Sans SC" panose="020B0200000000000000" pitchFamily="34" charset="-122"/>
              </a:rPr>
              <a:t>RGB</a:t>
            </a:r>
            <a:r>
              <a:rPr lang="zh-CN" altLang="en-US" sz="2000" b="1" dirty="0">
                <a:latin typeface="Noto Sans SC" panose="020B0200000000000000" pitchFamily="34" charset="-122"/>
                <a:ea typeface="Noto Sans SC" panose="020B0200000000000000" pitchFamily="34" charset="-122"/>
              </a:rPr>
              <a:t>？</a:t>
            </a:r>
            <a:endParaRPr lang="en-US" altLang="zh-CN" sz="20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7605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6183B-E6D2-AF73-FDC2-EF13F13834F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8A4DBA5-A316-AA7B-44EE-616CBBCED1C6}"/>
              </a:ext>
            </a:extLst>
          </p:cNvPr>
          <p:cNvSpPr>
            <a:spLocks noGrp="1"/>
          </p:cNvSpPr>
          <p:nvPr>
            <p:ph type="title" idx="1"/>
          </p:nvPr>
        </p:nvSpPr>
        <p:spPr/>
        <p:txBody>
          <a:bodyPr/>
          <a:lstStyle/>
          <a:p>
            <a:r>
              <a:rPr lang="zh-CN" altLang="en-US" dirty="0"/>
              <a:t>色彩科学</a:t>
            </a:r>
          </a:p>
        </p:txBody>
      </p:sp>
      <p:sp>
        <p:nvSpPr>
          <p:cNvPr id="6" name="文本框 5">
            <a:extLst>
              <a:ext uri="{FF2B5EF4-FFF2-40B4-BE49-F238E27FC236}">
                <a16:creationId xmlns:a16="http://schemas.microsoft.com/office/drawing/2014/main" id="{F8E65407-AB47-6657-3028-E197E54E2DB8}"/>
              </a:ext>
            </a:extLst>
          </p:cNvPr>
          <p:cNvSpPr txBox="1"/>
          <p:nvPr/>
        </p:nvSpPr>
        <p:spPr>
          <a:xfrm>
            <a:off x="457201" y="1405676"/>
            <a:ext cx="7446722" cy="400110"/>
          </a:xfrm>
          <a:prstGeom prst="rect">
            <a:avLst/>
          </a:prstGeom>
          <a:noFill/>
        </p:spPr>
        <p:txBody>
          <a:bodyPr wrap="square">
            <a:spAutoFit/>
          </a:bodyPr>
          <a:lstStyle/>
          <a:p>
            <a:r>
              <a:rPr lang="zh-CN" altLang="en-US" sz="2000" b="1" dirty="0">
                <a:latin typeface="Noto Sans SC" panose="020B0200000000000000" pitchFamily="34" charset="-122"/>
                <a:ea typeface="Noto Sans SC" panose="020B0200000000000000" pitchFamily="34" charset="-122"/>
              </a:rPr>
              <a:t>光谱怎么转换成颜色？</a:t>
            </a:r>
            <a:endParaRPr lang="en-US" altLang="zh-CN" sz="2000" b="1" dirty="0">
              <a:latin typeface="Noto Sans SC" panose="020B0200000000000000" pitchFamily="34" charset="-122"/>
              <a:ea typeface="Noto Sans SC" panose="020B0200000000000000" pitchFamily="34" charset="-122"/>
            </a:endParaRPr>
          </a:p>
        </p:txBody>
      </p:sp>
      <p:grpSp>
        <p:nvGrpSpPr>
          <p:cNvPr id="11" name="组合 10">
            <a:extLst>
              <a:ext uri="{FF2B5EF4-FFF2-40B4-BE49-F238E27FC236}">
                <a16:creationId xmlns:a16="http://schemas.microsoft.com/office/drawing/2014/main" id="{1FDD0371-7B14-D2FD-E0A1-726C5DCE18FF}"/>
              </a:ext>
            </a:extLst>
          </p:cNvPr>
          <p:cNvGrpSpPr/>
          <p:nvPr/>
        </p:nvGrpSpPr>
        <p:grpSpPr>
          <a:xfrm>
            <a:off x="6543319" y="459078"/>
            <a:ext cx="4785296" cy="2693416"/>
            <a:chOff x="6895578" y="962344"/>
            <a:chExt cx="4785296" cy="2693416"/>
          </a:xfrm>
        </p:grpSpPr>
        <p:pic>
          <p:nvPicPr>
            <p:cNvPr id="10" name="图片 9">
              <a:extLst>
                <a:ext uri="{FF2B5EF4-FFF2-40B4-BE49-F238E27FC236}">
                  <a16:creationId xmlns:a16="http://schemas.microsoft.com/office/drawing/2014/main" id="{B3757440-9D6D-5DA6-8BB7-EC053CCF5514}"/>
                </a:ext>
              </a:extLst>
            </p:cNvPr>
            <p:cNvPicPr>
              <a:picLocks noChangeAspect="1"/>
            </p:cNvPicPr>
            <p:nvPr/>
          </p:nvPicPr>
          <p:blipFill>
            <a:blip r:embed="rId2"/>
            <a:stretch>
              <a:fillRect/>
            </a:stretch>
          </p:blipFill>
          <p:spPr>
            <a:xfrm>
              <a:off x="6895578" y="962344"/>
              <a:ext cx="4785296" cy="269341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矩形 1">
              <a:extLst>
                <a:ext uri="{FF2B5EF4-FFF2-40B4-BE49-F238E27FC236}">
                  <a16:creationId xmlns:a16="http://schemas.microsoft.com/office/drawing/2014/main" id="{80DD1F9D-7D78-2280-128D-FA9E2A1EF561}"/>
                </a:ext>
              </a:extLst>
            </p:cNvPr>
            <p:cNvSpPr/>
            <p:nvPr/>
          </p:nvSpPr>
          <p:spPr>
            <a:xfrm>
              <a:off x="8024836" y="3277673"/>
              <a:ext cx="2484326" cy="302654"/>
            </a:xfrm>
            <a:prstGeom prst="rect">
              <a:avLst/>
            </a:prstGeom>
            <a:noFill/>
            <a:ln w="381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p:gr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1A4962C-10ED-64C1-0BB7-DCBA24846C04}"/>
                  </a:ext>
                </a:extLst>
              </p:cNvPr>
              <p:cNvSpPr txBox="1"/>
              <p:nvPr/>
            </p:nvSpPr>
            <p:spPr>
              <a:xfrm>
                <a:off x="381548" y="1964028"/>
                <a:ext cx="5768115" cy="4222310"/>
              </a:xfrm>
              <a:prstGeom prst="rect">
                <a:avLst/>
              </a:prstGeom>
              <a:noFill/>
            </p:spPr>
            <p:txBody>
              <a:bodyPr wrap="square" rtlCol="0">
                <a:spAutoFit/>
              </a:bodyPr>
              <a:lstStyle/>
              <a:p>
                <a:pPr algn="just"/>
                <a:r>
                  <a:rPr lang="zh-CN" altLang="en-US" dirty="0">
                    <a:latin typeface="Noto Sans SC" panose="020B0200000000000000" pitchFamily="34" charset="-122"/>
                    <a:ea typeface="Noto Sans SC" panose="020B0200000000000000" pitchFamily="34" charset="-122"/>
                  </a:rPr>
                  <a:t>         根据前面的讲解，这个问题应该已经有了答案。</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对于一束光，辐射率为</a:t>
                </a:r>
                <a14:m>
                  <m:oMath xmlns:m="http://schemas.openxmlformats.org/officeDocument/2006/math">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dirty="0">
                    <a:latin typeface="Noto Sans SC" panose="020B0200000000000000" pitchFamily="34" charset="-122"/>
                    <a:ea typeface="Noto Sans SC" panose="020B0200000000000000" pitchFamily="34" charset="-122"/>
                  </a:rPr>
                  <a:t>，单位是</a:t>
                </a:r>
                <a14:m>
                  <m:oMath xmlns:m="http://schemas.openxmlformats.org/officeDocument/2006/math">
                    <m:r>
                      <a:rPr lang="en-US" altLang="zh-CN" i="1">
                        <a:latin typeface="Cambria Math" panose="02040503050406030204" pitchFamily="18" charset="0"/>
                      </a:rPr>
                      <m:t>𝑊</m:t>
                    </m:r>
                    <m:r>
                      <a:rPr lang="en-US" altLang="zh-CN" i="1">
                        <a:latin typeface="Cambria Math" panose="02040503050406030204" pitchFamily="18" charset="0"/>
                      </a:rPr>
                      <m:t>/</m:t>
                    </m:r>
                    <m:d>
                      <m:dPr>
                        <m:ctrlPr>
                          <a:rPr lang="en-US" altLang="zh-CN" i="1">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𝑚</m:t>
                            </m:r>
                          </m:e>
                          <m:sup>
                            <m:r>
                              <a:rPr lang="en-US" altLang="zh-CN" i="1">
                                <a:latin typeface="Cambria Math" panose="02040503050406030204" pitchFamily="18" charset="0"/>
                              </a:rPr>
                              <m:t>2</m:t>
                            </m:r>
                          </m:sup>
                        </m:sSup>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𝑠𝑟</m:t>
                        </m:r>
                      </m:e>
                    </m:d>
                  </m:oMath>
                </a14:m>
                <a:r>
                  <a:rPr lang="zh-CN" altLang="en-US" dirty="0">
                    <a:latin typeface="Noto Sans SC" panose="020B0200000000000000" pitchFamily="34" charset="-122"/>
                    <a:ea typeface="Noto Sans SC" panose="020B0200000000000000" pitchFamily="34" charset="-122"/>
                  </a:rPr>
                  <a:t>，其</a:t>
                </a:r>
                <a:r>
                  <a:rPr lang="en-US" altLang="zh-CN" dirty="0">
                    <a:latin typeface="Noto Sans SC" panose="020B0200000000000000" pitchFamily="34" charset="-122"/>
                    <a:ea typeface="Noto Sans SC" panose="020B0200000000000000" pitchFamily="34" charset="-122"/>
                  </a:rPr>
                  <a:t>XYZ</a:t>
                </a:r>
                <a:r>
                  <a:rPr lang="zh-CN" altLang="en-US" dirty="0">
                    <a:latin typeface="Noto Sans SC" panose="020B0200000000000000" pitchFamily="34" charset="-122"/>
                    <a:ea typeface="Noto Sans SC" panose="020B0200000000000000" pitchFamily="34" charset="-122"/>
                  </a:rPr>
                  <a:t>三刺激值为：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b="0" i="1" smtClean="0">
                          <a:latin typeface="Cambria Math" panose="02040503050406030204" pitchFamily="18" charset="0"/>
                        </a:rPr>
                        <m:t>𝑋</m:t>
                      </m:r>
                      <m:r>
                        <a:rPr lang="en-US" altLang="zh-CN" i="1">
                          <a:latin typeface="Cambria Math" panose="02040503050406030204" pitchFamily="18" charset="0"/>
                        </a:rPr>
                        <m:t>=</m:t>
                      </m:r>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i="1">
                          <a:latin typeface="Cambria Math" panose="02040503050406030204" pitchFamily="18" charset="0"/>
                        </a:rPr>
                        <m:t>𝑌</m:t>
                      </m:r>
                      <m:r>
                        <a:rPr lang="en-US" altLang="zh-CN" i="1">
                          <a:latin typeface="Cambria Math" panose="02040503050406030204" pitchFamily="18" charset="0"/>
                        </a:rPr>
                        <m:t>=</m:t>
                      </m:r>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b="0" i="1" smtClean="0">
                          <a:latin typeface="Cambria Math" panose="02040503050406030204" pitchFamily="18" charset="0"/>
                        </a:rPr>
                        <m:t>𝑍</m:t>
                      </m:r>
                      <m:r>
                        <a:rPr lang="en-US" altLang="zh-CN" i="1">
                          <a:latin typeface="Cambria Math" panose="02040503050406030204" pitchFamily="18" charset="0"/>
                        </a:rPr>
                        <m:t>=</m:t>
                      </m:r>
                      <m:nary>
                        <m:naryPr>
                          <m:subHide m:val="on"/>
                          <m:supHide m:val="on"/>
                          <m:ctrlPr>
                            <a:rPr lang="en-US" altLang="zh-CN" i="1">
                              <a:latin typeface="Cambria Math" panose="02040503050406030204" pitchFamily="18" charset="0"/>
                            </a:rPr>
                          </m:ctrlPr>
                        </m:naryPr>
                        <m:sub/>
                        <m:sup/>
                        <m:e>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𝜆</m:t>
                              </m:r>
                            </m:e>
                          </m:d>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再转换到对应的色彩空间（以</a:t>
                </a:r>
                <a:r>
                  <a:rPr lang="en-US" altLang="zh-CN" dirty="0">
                    <a:latin typeface="Noto Sans SC" panose="020B0200000000000000" pitchFamily="34" charset="-122"/>
                    <a:ea typeface="Noto Sans SC" panose="020B0200000000000000" pitchFamily="34" charset="-122"/>
                  </a:rPr>
                  <a:t>sRGB</a:t>
                </a:r>
                <a:r>
                  <a:rPr lang="zh-CN" altLang="en-US" dirty="0">
                    <a:latin typeface="Noto Sans SC" panose="020B0200000000000000" pitchFamily="34" charset="-122"/>
                    <a:ea typeface="Noto Sans SC" panose="020B0200000000000000" pitchFamily="34" charset="-122"/>
                  </a:rPr>
                  <a:t>为例），得到该色彩空间下的线性颜色：</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𝑅</m:t>
                                  </m:r>
                                </m:e>
                                <m:e>
                                  <m:r>
                                    <a:rPr lang="en-US" altLang="zh-CN" b="0" i="1" smtClean="0">
                                      <a:latin typeface="Cambria Math" panose="02040503050406030204" pitchFamily="18" charset="0"/>
                                    </a:rPr>
                                    <m:t>𝐺</m:t>
                                  </m:r>
                                </m:e>
                                <m:e>
                                  <m:r>
                                    <a:rPr lang="en-US" altLang="zh-CN" b="0" i="1" smtClean="0">
                                      <a:latin typeface="Cambria Math" panose="02040503050406030204" pitchFamily="18" charset="0"/>
                                    </a:rPr>
                                    <m:t>𝐵</m:t>
                                  </m:r>
                                </m:e>
                              </m:eqArr>
                            </m:e>
                          </m:d>
                        </m:e>
                        <m:sub>
                          <m:r>
                            <a:rPr lang="en-US" altLang="zh-CN" i="1">
                              <a:latin typeface="Cambria Math" panose="02040503050406030204" pitchFamily="18" charset="0"/>
                            </a:rPr>
                            <m:t>𝐿𝑖𝑛𝑒𝑎𝑟</m:t>
                          </m:r>
                          <m:r>
                            <a:rPr lang="en-US" altLang="zh-CN" b="0" i="1" smtClean="0">
                              <a:latin typeface="Cambria Math" panose="02040503050406030204" pitchFamily="18" charset="0"/>
                            </a:rPr>
                            <m:t>_</m:t>
                          </m:r>
                          <m:r>
                            <a:rPr lang="en-US" altLang="zh-CN" b="0" i="1" smtClean="0">
                              <a:latin typeface="Cambria Math" panose="02040503050406030204" pitchFamily="18" charset="0"/>
                            </a:rPr>
                            <m:t>𝑠𝑅𝐺𝐵</m:t>
                          </m:r>
                        </m:sub>
                      </m:sSub>
                      <m:r>
                        <a:rPr lang="en-US" altLang="zh-CN"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𝑇</m:t>
                          </m:r>
                        </m:e>
                        <m:sub>
                          <m:r>
                            <a:rPr lang="en-US" altLang="zh-CN" b="0" i="1" smtClean="0">
                              <a:latin typeface="Cambria Math" panose="02040503050406030204" pitchFamily="18" charset="0"/>
                            </a:rPr>
                            <m:t>𝑋𝑌𝑍</m:t>
                          </m:r>
                          <m:r>
                            <a:rPr lang="en-US" altLang="zh-CN" b="0" i="1" smtClean="0">
                              <a:latin typeface="Cambria Math" panose="02040503050406030204" pitchFamily="18" charset="0"/>
                            </a:rPr>
                            <m:t>→</m:t>
                          </m:r>
                          <m:r>
                            <a:rPr lang="en-US" altLang="zh-CN" b="0" i="1" smtClean="0">
                              <a:latin typeface="Cambria Math" panose="02040503050406030204" pitchFamily="18" charset="0"/>
                            </a:rPr>
                            <m:t>𝑠𝑅𝐺𝐵</m:t>
                          </m:r>
                        </m:sub>
                      </m:sSub>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b="0" i="1" smtClean="0">
                                  <a:latin typeface="Cambria Math" panose="02040503050406030204" pitchFamily="18" charset="0"/>
                                </a:rPr>
                                <m:t>𝑋</m:t>
                              </m:r>
                            </m:e>
                            <m:e>
                              <m:r>
                                <a:rPr lang="en-US" altLang="zh-CN" b="0" i="1" smtClean="0">
                                  <a:latin typeface="Cambria Math" panose="02040503050406030204" pitchFamily="18" charset="0"/>
                                </a:rPr>
                                <m:t>𝑌</m:t>
                              </m:r>
                            </m:e>
                            <m:e>
                              <m:r>
                                <a:rPr lang="en-US" altLang="zh-CN" b="0" i="1" smtClean="0">
                                  <a:latin typeface="Cambria Math" panose="02040503050406030204" pitchFamily="18" charset="0"/>
                                </a:rPr>
                                <m:t>𝑍</m:t>
                              </m:r>
                            </m:e>
                          </m:eqArr>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12" name="文本框 11">
                <a:extLst>
                  <a:ext uri="{FF2B5EF4-FFF2-40B4-BE49-F238E27FC236}">
                    <a16:creationId xmlns:a16="http://schemas.microsoft.com/office/drawing/2014/main" id="{01A4962C-10ED-64C1-0BB7-DCBA24846C04}"/>
                  </a:ext>
                </a:extLst>
              </p:cNvPr>
              <p:cNvSpPr txBox="1">
                <a:spLocks noRot="1" noChangeAspect="1" noMove="1" noResize="1" noEditPoints="1" noAdjustHandles="1" noChangeArrowheads="1" noChangeShapeType="1" noTextEdit="1"/>
              </p:cNvSpPr>
              <p:nvPr/>
            </p:nvSpPr>
            <p:spPr>
              <a:xfrm>
                <a:off x="381548" y="1964028"/>
                <a:ext cx="5768115" cy="4222310"/>
              </a:xfrm>
              <a:prstGeom prst="rect">
                <a:avLst/>
              </a:prstGeom>
              <a:blipFill>
                <a:blip r:embed="rId3"/>
                <a:stretch>
                  <a:fillRect l="-951" t="-722" r="-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8451855-CE38-640E-59C0-3F8ED947D434}"/>
                  </a:ext>
                </a:extLst>
              </p:cNvPr>
              <p:cNvSpPr txBox="1"/>
              <p:nvPr/>
            </p:nvSpPr>
            <p:spPr>
              <a:xfrm>
                <a:off x="6543319" y="3619732"/>
                <a:ext cx="4897925" cy="1538050"/>
              </a:xfrm>
              <a:prstGeom prst="rect">
                <a:avLst/>
              </a:prstGeom>
              <a:noFill/>
            </p:spPr>
            <p:txBody>
              <a:bodyPr wrap="square" rtlCol="0">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最后，如果要存储</a:t>
                </a:r>
                <a:r>
                  <a:rPr lang="en-US" altLang="zh-CN" dirty="0">
                    <a:latin typeface="Noto Sans SC" panose="020B0200000000000000" pitchFamily="34" charset="-122"/>
                    <a:ea typeface="Noto Sans SC" panose="020B0200000000000000" pitchFamily="34" charset="-122"/>
                  </a:rPr>
                  <a:t>/</a:t>
                </a:r>
                <a:r>
                  <a:rPr lang="zh-CN" altLang="en-US" dirty="0">
                    <a:latin typeface="Noto Sans SC" panose="020B0200000000000000" pitchFamily="34" charset="-122"/>
                    <a:ea typeface="Noto Sans SC" panose="020B0200000000000000" pitchFamily="34" charset="-122"/>
                  </a:rPr>
                  <a:t>传输这个色彩空间下的线性颜色，那么就需要应用传递函数：</a:t>
                </a:r>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E</m:t>
                          </m:r>
                          <m:r>
                            <a:rPr lang="en-US" altLang="zh-CN" b="0" i="1" smtClean="0">
                              <a:latin typeface="Cambria Math" panose="02040503050406030204" pitchFamily="18" charset="0"/>
                            </a:rPr>
                            <m:t>𝑛𝑐𝑜𝑑𝑒</m:t>
                          </m:r>
                        </m:e>
                        <m:sub>
                          <m:r>
                            <a:rPr lang="en-US" altLang="zh-CN" b="0" i="1" smtClean="0">
                              <a:latin typeface="Cambria Math" panose="02040503050406030204" pitchFamily="18" charset="0"/>
                            </a:rPr>
                            <m:t>𝑠𝑅𝐺𝐵</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𝑅</m:t>
                                      </m:r>
                                    </m:e>
                                    <m:e>
                                      <m:r>
                                        <a:rPr lang="en-US" altLang="zh-CN" i="1">
                                          <a:latin typeface="Cambria Math" panose="02040503050406030204" pitchFamily="18" charset="0"/>
                                        </a:rPr>
                                        <m:t>𝐺</m:t>
                                      </m:r>
                                    </m:e>
                                    <m:e>
                                      <m:r>
                                        <a:rPr lang="en-US" altLang="zh-CN" i="1">
                                          <a:latin typeface="Cambria Math" panose="02040503050406030204" pitchFamily="18" charset="0"/>
                                        </a:rPr>
                                        <m:t>𝐵</m:t>
                                      </m:r>
                                    </m:e>
                                  </m:eqArr>
                                </m:e>
                              </m:d>
                            </m:e>
                            <m:sub>
                              <m:r>
                                <a:rPr lang="en-US" altLang="zh-CN" b="0" i="1" smtClean="0">
                                  <a:latin typeface="Cambria Math" panose="02040503050406030204" pitchFamily="18" charset="0"/>
                                </a:rPr>
                                <m:t>𝐿𝑖𝑛𝑒𝑎𝑟</m:t>
                              </m:r>
                              <m:r>
                                <a:rPr lang="en-US" altLang="zh-CN" b="0" i="1" smtClean="0">
                                  <a:latin typeface="Cambria Math" panose="02040503050406030204" pitchFamily="18" charset="0"/>
                                </a:rPr>
                                <m:t>_</m:t>
                              </m:r>
                              <m:r>
                                <a:rPr lang="en-US" altLang="zh-CN" i="1">
                                  <a:latin typeface="Cambria Math" panose="02040503050406030204" pitchFamily="18" charset="0"/>
                                </a:rPr>
                                <m:t>𝑠𝑅𝐺𝐵</m:t>
                              </m:r>
                            </m:sub>
                          </m:sSub>
                        </m:e>
                      </m:d>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98451855-CE38-640E-59C0-3F8ED947D434}"/>
                  </a:ext>
                </a:extLst>
              </p:cNvPr>
              <p:cNvSpPr txBox="1">
                <a:spLocks noRot="1" noChangeAspect="1" noMove="1" noResize="1" noEditPoints="1" noAdjustHandles="1" noChangeArrowheads="1" noChangeShapeType="1" noTextEdit="1"/>
              </p:cNvSpPr>
              <p:nvPr/>
            </p:nvSpPr>
            <p:spPr>
              <a:xfrm>
                <a:off x="6543319" y="3619732"/>
                <a:ext cx="4897925" cy="1538050"/>
              </a:xfrm>
              <a:prstGeom prst="rect">
                <a:avLst/>
              </a:prstGeom>
              <a:blipFill>
                <a:blip r:embed="rId4"/>
                <a:stretch>
                  <a:fillRect l="-995" t="-2381" r="-37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01D4B7BD-6FEC-09DE-F8AA-678D6F75196E}"/>
              </a:ext>
            </a:extLst>
          </p:cNvPr>
          <p:cNvPicPr>
            <a:picLocks noChangeAspect="1"/>
          </p:cNvPicPr>
          <p:nvPr/>
        </p:nvPicPr>
        <p:blipFill>
          <a:blip r:embed="rId5"/>
          <a:stretch>
            <a:fillRect/>
          </a:stretch>
        </p:blipFill>
        <p:spPr>
          <a:xfrm>
            <a:off x="5840570" y="5393201"/>
            <a:ext cx="5813100" cy="872980"/>
          </a:xfrm>
          <a:prstGeom prst="rect">
            <a:avLst/>
          </a:prstGeom>
        </p:spPr>
      </p:pic>
    </p:spTree>
    <p:extLst>
      <p:ext uri="{BB962C8B-B14F-4D97-AF65-F5344CB8AC3E}">
        <p14:creationId xmlns:p14="http://schemas.microsoft.com/office/powerpoint/2010/main" val="1133604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DDA2-71A8-B45C-B013-F096CD093ED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13322F9-450E-F79C-FCA5-D814B677D19A}"/>
              </a:ext>
            </a:extLst>
          </p:cNvPr>
          <p:cNvSpPr>
            <a:spLocks noGrp="1"/>
          </p:cNvSpPr>
          <p:nvPr>
            <p:ph type="title" idx="1"/>
          </p:nvPr>
        </p:nvSpPr>
        <p:spPr/>
        <p:txBody>
          <a:bodyPr/>
          <a:lstStyle/>
          <a:p>
            <a:r>
              <a:rPr lang="zh-CN" altLang="en-US" dirty="0"/>
              <a:t>光谱如何参与渲染</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33B9A5A-AF56-6942-6DBD-1A552B042393}"/>
                  </a:ext>
                </a:extLst>
              </p:cNvPr>
              <p:cNvSpPr txBox="1"/>
              <p:nvPr/>
            </p:nvSpPr>
            <p:spPr>
              <a:xfrm>
                <a:off x="4789586" y="2043962"/>
                <a:ext cx="7583805" cy="1591398"/>
              </a:xfrm>
              <a:prstGeom prst="rect">
                <a:avLst/>
              </a:prstGeom>
              <a:noFill/>
            </p:spPr>
            <p:txBody>
              <a:bodyPr wrap="square">
                <a:spAutoFit/>
              </a:bodyPr>
              <a:lstStyle/>
              <a:p>
                <a:pPr/>
                <a14:m>
                  <m:oMathPara xmlns:m="http://schemas.openxmlformats.org/officeDocument/2006/math">
                    <m:oMathParaPr>
                      <m:jc m:val="center"/>
                    </m:oMathParaPr>
                    <m:oMath>
                      <m:r>
                        <a:rPr lang="en-US" altLang="zh-CN" sz="1900" b="0" i="1" smtClean="0">
                          <a:latin typeface="Cambria Math" panose="02040503050406030204" pitchFamily="18" charset="0"/>
                          <a:ea typeface="Cambria Math" panose="02040503050406030204" pitchFamily="18" charset="0"/>
                        </a:rPr>
                        <m:t>𝑓</m:t>
                      </m:r>
                      <m:d>
                        <m:dPr>
                          <m:ctrlPr>
                            <a:rPr lang="zh-CN" altLang="en-US" sz="1900" b="0" i="1" smtClean="0">
                              <a:latin typeface="Cambria Math" panose="02040503050406030204" pitchFamily="18" charset="0"/>
                            </a:rPr>
                          </m:ctrlPr>
                        </m:dPr>
                        <m:e>
                          <m:sSub>
                            <m:sSubPr>
                              <m:ctrlPr>
                                <a:rPr lang="zh-CN" altLang="en-US" sz="1900" b="0" i="1" smtClean="0">
                                  <a:latin typeface="Cambria Math" panose="02040503050406030204" pitchFamily="18" charset="0"/>
                                </a:rPr>
                              </m:ctrlPr>
                            </m:sSubPr>
                            <m:e>
                              <m:r>
                                <a:rPr lang="zh-CN" altLang="en-US" sz="1900" b="0" i="1" smtClean="0">
                                  <a:latin typeface="Cambria Math" panose="02040503050406030204" pitchFamily="18" charset="0"/>
                                </a:rPr>
                                <m:t>𝜔</m:t>
                              </m:r>
                            </m:e>
                            <m:sub>
                              <m:r>
                                <a:rPr lang="en-US" altLang="zh-CN" sz="1900" b="0" i="1" smtClean="0">
                                  <a:latin typeface="Cambria Math" panose="02040503050406030204" pitchFamily="18" charset="0"/>
                                  <a:ea typeface="Cambria Math" panose="02040503050406030204" pitchFamily="18" charset="0"/>
                                </a:rPr>
                                <m:t>𝑖</m:t>
                              </m:r>
                            </m:sub>
                          </m:sSub>
                          <m:r>
                            <a:rPr lang="en-US" altLang="zh-CN" sz="1900" b="0" i="1" smtClean="0">
                              <a:latin typeface="Cambria Math" panose="02040503050406030204" pitchFamily="18" charset="0"/>
                              <a:ea typeface="Cambria Math" panose="02040503050406030204" pitchFamily="18" charset="0"/>
                            </a:rPr>
                            <m:t>→</m:t>
                          </m:r>
                          <m:sSub>
                            <m:sSubPr>
                              <m:ctrlPr>
                                <a:rPr lang="zh-CN" altLang="en-US" sz="1900" b="0" i="1" smtClean="0">
                                  <a:latin typeface="Cambria Math" panose="02040503050406030204" pitchFamily="18" charset="0"/>
                                </a:rPr>
                              </m:ctrlPr>
                            </m:sSubPr>
                            <m:e>
                              <m:r>
                                <a:rPr lang="zh-CN" altLang="en-US" sz="1900" b="0" i="1" smtClean="0">
                                  <a:latin typeface="Cambria Math" panose="02040503050406030204" pitchFamily="18" charset="0"/>
                                </a:rPr>
                                <m:t>𝜔</m:t>
                              </m:r>
                            </m:e>
                            <m:sub>
                              <m:r>
                                <a:rPr lang="en-US" altLang="zh-CN" sz="1900" b="0" i="1" smtClean="0">
                                  <a:latin typeface="Cambria Math" panose="02040503050406030204" pitchFamily="18" charset="0"/>
                                  <a:ea typeface="Cambria Math" panose="02040503050406030204" pitchFamily="18" charset="0"/>
                                </a:rPr>
                                <m:t>𝑜</m:t>
                              </m:r>
                            </m:sub>
                          </m:sSub>
                          <m:r>
                            <a:rPr lang="en-US" altLang="zh-CN" sz="1900" b="0" i="1" smtClean="0">
                              <a:latin typeface="Cambria Math" panose="02040503050406030204" pitchFamily="18" charset="0"/>
                              <a:ea typeface="Cambria Math" panose="02040503050406030204" pitchFamily="18" charset="0"/>
                            </a:rPr>
                            <m:t>,</m:t>
                          </m:r>
                          <m:r>
                            <a:rPr lang="en-US" altLang="zh-CN" sz="1900" b="0" i="1" smtClean="0">
                              <a:solidFill>
                                <a:srgbClr val="FF0000"/>
                              </a:solidFill>
                              <a:latin typeface="Cambria Math" panose="02040503050406030204" pitchFamily="18" charset="0"/>
                              <a:ea typeface="Cambria Math" panose="02040503050406030204" pitchFamily="18" charset="0"/>
                            </a:rPr>
                            <m:t>𝜆</m:t>
                          </m:r>
                        </m:e>
                      </m:d>
                      <m:r>
                        <a:rPr lang="en-US" altLang="zh-CN" sz="1900" b="0" i="1" smtClean="0">
                          <a:latin typeface="Cambria Math" panose="02040503050406030204" pitchFamily="18" charset="0"/>
                          <a:ea typeface="Cambria Math" panose="02040503050406030204" pitchFamily="18" charset="0"/>
                        </a:rPr>
                        <m:t>=</m:t>
                      </m:r>
                      <m:f>
                        <m:fPr>
                          <m:ctrlPr>
                            <a:rPr lang="en-US" altLang="zh-CN" sz="1900" b="0" i="1" smtClean="0">
                              <a:latin typeface="Cambria Math" panose="02040503050406030204" pitchFamily="18" charset="0"/>
                              <a:ea typeface="Cambria Math" panose="02040503050406030204" pitchFamily="18" charset="0"/>
                            </a:rPr>
                          </m:ctrlPr>
                        </m:fPr>
                        <m:num>
                          <m:r>
                            <a:rPr lang="en-US" altLang="zh-CN" sz="1900" b="0" i="1" smtClean="0">
                              <a:latin typeface="Cambria Math" panose="02040503050406030204" pitchFamily="18" charset="0"/>
                              <a:ea typeface="Cambria Math" panose="02040503050406030204" pitchFamily="18" charset="0"/>
                            </a:rPr>
                            <m:t>𝑑</m:t>
                          </m:r>
                          <m:sSub>
                            <m:sSubPr>
                              <m:ctrlPr>
                                <a:rPr lang="en-US" altLang="zh-CN" sz="1900" b="0" i="1" smtClean="0">
                                  <a:latin typeface="Cambria Math" panose="02040503050406030204" pitchFamily="18" charset="0"/>
                                  <a:ea typeface="Cambria Math" panose="02040503050406030204" pitchFamily="18" charset="0"/>
                                </a:rPr>
                              </m:ctrlPr>
                            </m:sSubPr>
                            <m:e>
                              <m:r>
                                <a:rPr lang="en-US" altLang="zh-CN" sz="1900" b="0" i="1" smtClean="0">
                                  <a:latin typeface="Cambria Math" panose="02040503050406030204" pitchFamily="18" charset="0"/>
                                  <a:ea typeface="Cambria Math" panose="02040503050406030204" pitchFamily="18" charset="0"/>
                                </a:rPr>
                                <m:t>𝐿</m:t>
                              </m:r>
                            </m:e>
                            <m:sub>
                              <m:r>
                                <a:rPr lang="en-US" altLang="zh-CN" sz="1900" b="0" i="1" smtClean="0">
                                  <a:latin typeface="Cambria Math" panose="02040503050406030204" pitchFamily="18" charset="0"/>
                                  <a:ea typeface="Cambria Math" panose="02040503050406030204" pitchFamily="18" charset="0"/>
                                </a:rPr>
                                <m:t>𝑜</m:t>
                              </m:r>
                            </m:sub>
                          </m:sSub>
                          <m:r>
                            <a:rPr lang="en-US" altLang="zh-CN" sz="1900" b="0" i="1" smtClean="0">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b="0" i="1" smtClean="0">
                              <a:latin typeface="Cambria Math" panose="02040503050406030204" pitchFamily="18" charset="0"/>
                              <a:ea typeface="Cambria Math" panose="02040503050406030204" pitchFamily="18" charset="0"/>
                            </a:rPr>
                            <m:t>,</m:t>
                          </m:r>
                          <m:r>
                            <a:rPr lang="en-US" altLang="zh-CN" sz="1900" b="0" i="1" smtClean="0">
                              <a:solidFill>
                                <a:srgbClr val="FF0000"/>
                              </a:solidFill>
                              <a:latin typeface="Cambria Math" panose="02040503050406030204" pitchFamily="18" charset="0"/>
                              <a:ea typeface="Cambria Math" panose="02040503050406030204" pitchFamily="18" charset="0"/>
                            </a:rPr>
                            <m:t>𝜆</m:t>
                          </m:r>
                          <m:r>
                            <a:rPr lang="en-US" altLang="zh-CN" sz="1900" b="0" i="1" smtClean="0">
                              <a:latin typeface="Cambria Math" panose="02040503050406030204" pitchFamily="18" charset="0"/>
                              <a:ea typeface="Cambria Math" panose="02040503050406030204" pitchFamily="18" charset="0"/>
                            </a:rPr>
                            <m:t>)</m:t>
                          </m:r>
                        </m:num>
                        <m:den>
                          <m:r>
                            <a:rPr lang="en-US" altLang="zh-CN" sz="1900" b="0" i="1" smtClean="0">
                              <a:latin typeface="Cambria Math" panose="02040503050406030204" pitchFamily="18" charset="0"/>
                              <a:ea typeface="Cambria Math" panose="02040503050406030204" pitchFamily="18" charset="0"/>
                            </a:rPr>
                            <m:t>𝑑</m:t>
                          </m:r>
                          <m:sSub>
                            <m:sSubPr>
                              <m:ctrlPr>
                                <a:rPr lang="en-US" altLang="zh-CN" sz="1900" b="0" i="1" smtClean="0">
                                  <a:latin typeface="Cambria Math" panose="02040503050406030204" pitchFamily="18" charset="0"/>
                                  <a:ea typeface="Cambria Math" panose="02040503050406030204" pitchFamily="18" charset="0"/>
                                </a:rPr>
                              </m:ctrlPr>
                            </m:sSubPr>
                            <m:e>
                              <m:r>
                                <a:rPr lang="en-US" altLang="zh-CN" sz="1900" b="0" i="1" smtClean="0">
                                  <a:latin typeface="Cambria Math" panose="02040503050406030204" pitchFamily="18" charset="0"/>
                                  <a:ea typeface="Cambria Math" panose="02040503050406030204" pitchFamily="18" charset="0"/>
                                </a:rPr>
                                <m:t>𝐸</m:t>
                              </m:r>
                            </m:e>
                            <m:sub>
                              <m:r>
                                <a:rPr lang="en-US" altLang="zh-CN" sz="1900" b="0" i="1" smtClean="0">
                                  <a:latin typeface="Cambria Math" panose="02040503050406030204" pitchFamily="18" charset="0"/>
                                  <a:ea typeface="Cambria Math" panose="02040503050406030204" pitchFamily="18" charset="0"/>
                                </a:rPr>
                                <m:t>𝑖</m:t>
                              </m:r>
                            </m:sub>
                          </m:sSub>
                          <m:r>
                            <a:rPr lang="en-US" altLang="zh-CN" sz="1900" b="0" i="1" smtClean="0">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r>
                            <a:rPr lang="en-US" altLang="zh-CN" sz="1900" b="0" i="1" smtClean="0">
                              <a:latin typeface="Cambria Math" panose="02040503050406030204" pitchFamily="18" charset="0"/>
                              <a:ea typeface="Cambria Math" panose="02040503050406030204" pitchFamily="18" charset="0"/>
                            </a:rPr>
                            <m:t>)</m:t>
                          </m:r>
                        </m:den>
                      </m:f>
                      <m:r>
                        <a:rPr lang="en-US" altLang="zh-CN" sz="1900" b="0" i="1" smtClean="0">
                          <a:latin typeface="Cambria Math" panose="02040503050406030204" pitchFamily="18" charset="0"/>
                          <a:ea typeface="Cambria Math" panose="02040503050406030204" pitchFamily="18" charset="0"/>
                        </a:rPr>
                        <m:t>=</m:t>
                      </m:r>
                      <m:f>
                        <m:fPr>
                          <m:ctrlPr>
                            <a:rPr lang="en-US" altLang="zh-CN" sz="1900" i="1">
                              <a:latin typeface="Cambria Math" panose="02040503050406030204" pitchFamily="18" charset="0"/>
                              <a:ea typeface="Cambria Math" panose="02040503050406030204" pitchFamily="18" charset="0"/>
                            </a:rPr>
                          </m:ctrlPr>
                        </m:fPr>
                        <m:num>
                          <m:r>
                            <a:rPr lang="en-US" altLang="zh-CN" sz="1900" i="1">
                              <a:latin typeface="Cambria Math" panose="02040503050406030204" pitchFamily="18" charset="0"/>
                              <a:ea typeface="Cambria Math" panose="02040503050406030204" pitchFamily="18" charset="0"/>
                            </a:rPr>
                            <m:t>𝑑</m:t>
                          </m:r>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𝐿</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r>
                            <a:rPr lang="en-US" altLang="zh-CN" sz="1900" i="1">
                              <a:latin typeface="Cambria Math" panose="02040503050406030204" pitchFamily="18" charset="0"/>
                              <a:ea typeface="Cambria Math" panose="02040503050406030204" pitchFamily="18" charset="0"/>
                            </a:rPr>
                            <m:t>)</m:t>
                          </m:r>
                        </m:num>
                        <m:den>
                          <m:r>
                            <a:rPr lang="en-US" altLang="zh-CN" sz="1900" i="1">
                              <a:latin typeface="Cambria Math" panose="02040503050406030204" pitchFamily="18" charset="0"/>
                              <a:ea typeface="Cambria Math" panose="02040503050406030204" pitchFamily="18" charset="0"/>
                            </a:rPr>
                            <m:t>𝑑</m:t>
                          </m:r>
                          <m:sSub>
                            <m:sSubPr>
                              <m:ctrlPr>
                                <a:rPr lang="en-US" altLang="zh-CN" sz="1900" b="0" i="1" smtClean="0">
                                  <a:latin typeface="Cambria Math" panose="02040503050406030204" pitchFamily="18" charset="0"/>
                                  <a:ea typeface="Cambria Math" panose="02040503050406030204" pitchFamily="18" charset="0"/>
                                </a:rPr>
                              </m:ctrlPr>
                            </m:sSubPr>
                            <m:e>
                              <m:r>
                                <a:rPr lang="en-US" altLang="zh-CN" sz="1900" b="0" i="1" smtClean="0">
                                  <a:latin typeface="Cambria Math" panose="02040503050406030204" pitchFamily="18" charset="0"/>
                                  <a:ea typeface="Cambria Math" panose="02040503050406030204" pitchFamily="18" charset="0"/>
                                </a:rPr>
                                <m:t>𝐿</m:t>
                              </m:r>
                            </m:e>
                            <m:sub>
                              <m:r>
                                <a:rPr lang="en-US" altLang="zh-CN" sz="1900" i="1" smtClean="0">
                                  <a:latin typeface="Cambria Math" panose="02040503050406030204" pitchFamily="18" charset="0"/>
                                  <a:ea typeface="Cambria Math" panose="02040503050406030204" pitchFamily="18" charset="0"/>
                                </a:rPr>
                                <m:t>𝑖</m:t>
                              </m:r>
                            </m:sub>
                          </m:sSub>
                          <m:d>
                            <m:dPr>
                              <m:ctrlPr>
                                <a:rPr lang="zh-CN" altLang="en-US" sz="1900" i="1">
                                  <a:latin typeface="Cambria Math" panose="02040503050406030204" pitchFamily="18" charset="0"/>
                                </a:rPr>
                              </m:ctrlPr>
                            </m:dPr>
                            <m:e>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b="0" i="1" smtClean="0">
                              <a:latin typeface="Cambria Math" panose="02040503050406030204" pitchFamily="18" charset="0"/>
                              <a:ea typeface="Cambria Math" panose="02040503050406030204" pitchFamily="18" charset="0"/>
                            </a:rPr>
                            <m:t>𝑐𝑜𝑠</m:t>
                          </m:r>
                          <m:sSub>
                            <m:sSubPr>
                              <m:ctrlPr>
                                <a:rPr lang="zh-CN" altLang="en-US" sz="1900" i="1" smtClean="0">
                                  <a:latin typeface="Cambria Math" panose="02040503050406030204" pitchFamily="18" charset="0"/>
                                </a:rPr>
                              </m:ctrlPr>
                            </m:sSubPr>
                            <m:e>
                              <m:r>
                                <a:rPr lang="zh-CN" altLang="en-US" sz="1900" i="1" smtClean="0">
                                  <a:latin typeface="Cambria Math" panose="02040503050406030204" pitchFamily="18" charset="0"/>
                                </a:rPr>
                                <m:t>𝜃</m:t>
                              </m:r>
                            </m:e>
                            <m:sub>
                              <m:r>
                                <a:rPr lang="en-US" altLang="zh-CN" sz="1900" i="1">
                                  <a:latin typeface="Cambria Math" panose="02040503050406030204" pitchFamily="18" charset="0"/>
                                  <a:ea typeface="Cambria Math" panose="02040503050406030204" pitchFamily="18" charset="0"/>
                                </a:rPr>
                                <m:t>𝑖</m:t>
                              </m:r>
                            </m:sub>
                          </m:sSub>
                          <m:r>
                            <a:rPr lang="en-US" altLang="zh-CN" sz="1900" b="0" i="1" smtClean="0">
                              <a:latin typeface="Cambria Math" panose="02040503050406030204" pitchFamily="18" charset="0"/>
                              <a:ea typeface="Cambria Math" panose="02040503050406030204" pitchFamily="18" charset="0"/>
                            </a:rPr>
                            <m:t>𝑑</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den>
                      </m:f>
                    </m:oMath>
                  </m:oMathPara>
                </a14:m>
                <a:endParaRPr lang="en-US" altLang="zh-CN" sz="1900" i="1" dirty="0">
                  <a:latin typeface="Cambria Math" panose="02040503050406030204" pitchFamily="18" charset="0"/>
                  <a:ea typeface="Cambria Math" panose="02040503050406030204" pitchFamily="18" charset="0"/>
                </a:endParaRPr>
              </a:p>
              <a:p>
                <a:endParaRPr lang="en-US" altLang="zh-CN" sz="19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𝐿</m:t>
                          </m:r>
                        </m:e>
                        <m:sub>
                          <m:r>
                            <a:rPr lang="en-US" altLang="zh-CN" sz="1900" i="1">
                              <a:latin typeface="Cambria Math" panose="02040503050406030204" pitchFamily="18" charset="0"/>
                              <a:ea typeface="Cambria Math" panose="02040503050406030204" pitchFamily="18" charset="0"/>
                            </a:rPr>
                            <m:t>𝑜</m:t>
                          </m:r>
                        </m:sub>
                      </m:sSub>
                      <m:d>
                        <m:dPr>
                          <m:ctrlPr>
                            <a:rPr lang="en-US" altLang="zh-CN" sz="1900" i="1">
                              <a:latin typeface="Cambria Math" panose="02040503050406030204" pitchFamily="18" charset="0"/>
                              <a:ea typeface="Cambria Math" panose="02040503050406030204" pitchFamily="18" charset="0"/>
                            </a:rPr>
                          </m:ctrlPr>
                        </m:dPr>
                        <m:e>
                          <m:r>
                            <a:rPr lang="en-US" altLang="zh-CN" sz="1900" i="1">
                              <a:latin typeface="Cambria Math" panose="02040503050406030204" pitchFamily="18" charset="0"/>
                              <a:ea typeface="Cambria Math" panose="02040503050406030204" pitchFamily="18" charset="0"/>
                            </a:rPr>
                            <m:t>𝑝</m:t>
                          </m:r>
                          <m:r>
                            <a:rPr lang="en-US" altLang="zh-CN" sz="1900" b="0" i="1" smtClean="0">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i="1">
                          <a:latin typeface="Cambria Math" panose="02040503050406030204" pitchFamily="18" charset="0"/>
                          <a:ea typeface="Cambria Math" panose="02040503050406030204" pitchFamily="18" charset="0"/>
                        </a:rPr>
                        <m:t>=</m:t>
                      </m:r>
                      <m:sSub>
                        <m:sSubPr>
                          <m:ctrlPr>
                            <a:rPr lang="en-US" altLang="zh-CN" sz="1900" i="1">
                              <a:solidFill>
                                <a:schemeClr val="accent3"/>
                              </a:solidFill>
                              <a:latin typeface="Cambria Math" panose="02040503050406030204" pitchFamily="18" charset="0"/>
                              <a:ea typeface="Cambria Math" panose="02040503050406030204" pitchFamily="18" charset="0"/>
                            </a:rPr>
                          </m:ctrlPr>
                        </m:sSubPr>
                        <m:e>
                          <m:r>
                            <a:rPr lang="en-US" altLang="zh-CN" sz="1900" i="1">
                              <a:solidFill>
                                <a:schemeClr val="accent3"/>
                              </a:solidFill>
                              <a:latin typeface="Cambria Math" panose="02040503050406030204" pitchFamily="18" charset="0"/>
                              <a:ea typeface="Cambria Math" panose="02040503050406030204" pitchFamily="18" charset="0"/>
                            </a:rPr>
                            <m:t>𝐿</m:t>
                          </m:r>
                        </m:e>
                        <m:sub>
                          <m:r>
                            <a:rPr lang="en-US" altLang="zh-CN" sz="1900" i="1">
                              <a:solidFill>
                                <a:schemeClr val="accent3"/>
                              </a:solidFill>
                              <a:latin typeface="Cambria Math" panose="02040503050406030204" pitchFamily="18" charset="0"/>
                              <a:ea typeface="Cambria Math" panose="02040503050406030204" pitchFamily="18" charset="0"/>
                            </a:rPr>
                            <m:t>𝑒</m:t>
                          </m:r>
                        </m:sub>
                      </m:sSub>
                      <m:d>
                        <m:dPr>
                          <m:ctrlPr>
                            <a:rPr lang="en-US" altLang="zh-CN" sz="1900" i="1">
                              <a:solidFill>
                                <a:schemeClr val="accent3"/>
                              </a:solidFill>
                              <a:latin typeface="Cambria Math" panose="02040503050406030204" pitchFamily="18" charset="0"/>
                              <a:ea typeface="Cambria Math" panose="02040503050406030204" pitchFamily="18" charset="0"/>
                            </a:rPr>
                          </m:ctrlPr>
                        </m:dPr>
                        <m:e>
                          <m:r>
                            <a:rPr lang="en-US" altLang="zh-CN" sz="1900" i="1">
                              <a:solidFill>
                                <a:schemeClr val="accent3"/>
                              </a:solidFill>
                              <a:latin typeface="Cambria Math" panose="02040503050406030204" pitchFamily="18" charset="0"/>
                              <a:ea typeface="Cambria Math" panose="02040503050406030204" pitchFamily="18" charset="0"/>
                            </a:rPr>
                            <m:t>𝑝</m:t>
                          </m:r>
                          <m:r>
                            <a:rPr lang="en-US" altLang="zh-CN" sz="1900" i="1">
                              <a:solidFill>
                                <a:schemeClr val="accent3"/>
                              </a:solidFill>
                              <a:latin typeface="Cambria Math" panose="02040503050406030204" pitchFamily="18" charset="0"/>
                              <a:ea typeface="Cambria Math" panose="02040503050406030204" pitchFamily="18" charset="0"/>
                            </a:rPr>
                            <m:t>,</m:t>
                          </m:r>
                          <m:sSub>
                            <m:sSubPr>
                              <m:ctrlPr>
                                <a:rPr lang="zh-CN" altLang="en-US" sz="1900" i="1">
                                  <a:solidFill>
                                    <a:schemeClr val="accent3"/>
                                  </a:solidFill>
                                  <a:latin typeface="Cambria Math" panose="02040503050406030204" pitchFamily="18" charset="0"/>
                                </a:rPr>
                              </m:ctrlPr>
                            </m:sSubPr>
                            <m:e>
                              <m:r>
                                <a:rPr lang="zh-CN" altLang="en-US" sz="1900" i="1">
                                  <a:solidFill>
                                    <a:schemeClr val="accent3"/>
                                  </a:solidFill>
                                  <a:latin typeface="Cambria Math" panose="02040503050406030204" pitchFamily="18" charset="0"/>
                                </a:rPr>
                                <m:t>𝜔</m:t>
                              </m:r>
                            </m:e>
                            <m:sub>
                              <m:r>
                                <a:rPr lang="en-US" altLang="zh-CN" sz="1900" i="1">
                                  <a:solidFill>
                                    <a:schemeClr val="accent3"/>
                                  </a:solidFill>
                                  <a:latin typeface="Cambria Math" panose="02040503050406030204" pitchFamily="18" charset="0"/>
                                  <a:ea typeface="Cambria Math" panose="02040503050406030204" pitchFamily="18" charset="0"/>
                                </a:rPr>
                                <m:t>𝑜</m:t>
                              </m:r>
                            </m:sub>
                          </m:sSub>
                          <m:r>
                            <a:rPr lang="en-US" altLang="zh-CN" sz="1900" i="1">
                              <a:solidFill>
                                <a:schemeClr val="accent3"/>
                              </a:solidFill>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i="1">
                          <a:latin typeface="Cambria Math" panose="02040503050406030204" pitchFamily="18" charset="0"/>
                          <a:ea typeface="Cambria Math" panose="02040503050406030204" pitchFamily="18" charset="0"/>
                        </a:rPr>
                        <m:t>+</m:t>
                      </m:r>
                      <m:nary>
                        <m:naryPr>
                          <m:ctrlPr>
                            <a:rPr lang="en-US" altLang="zh-CN" sz="1900" i="1">
                              <a:latin typeface="Cambria Math" panose="02040503050406030204" pitchFamily="18" charset="0"/>
                              <a:ea typeface="Cambria Math" panose="02040503050406030204" pitchFamily="18" charset="0"/>
                            </a:rPr>
                          </m:ctrlPr>
                        </m:naryPr>
                        <m:sub>
                          <m:sSup>
                            <m:sSupPr>
                              <m:ctrlPr>
                                <a:rPr lang="en-US" altLang="zh-CN" sz="1900" i="1">
                                  <a:latin typeface="Cambria Math" panose="02040503050406030204" pitchFamily="18" charset="0"/>
                                  <a:ea typeface="Cambria Math" panose="02040503050406030204" pitchFamily="18" charset="0"/>
                                </a:rPr>
                              </m:ctrlPr>
                            </m:sSupPr>
                            <m:e>
                              <m:r>
                                <a:rPr lang="en-US" altLang="zh-CN" sz="1900" i="1">
                                  <a:latin typeface="Cambria Math" panose="02040503050406030204" pitchFamily="18" charset="0"/>
                                  <a:ea typeface="Cambria Math" panose="02040503050406030204" pitchFamily="18" charset="0"/>
                                </a:rPr>
                                <m:t>𝐻</m:t>
                              </m:r>
                            </m:e>
                            <m:sup>
                              <m:r>
                                <a:rPr lang="en-US" altLang="zh-CN" sz="1900" i="1">
                                  <a:latin typeface="Cambria Math" panose="02040503050406030204" pitchFamily="18" charset="0"/>
                                  <a:ea typeface="Cambria Math" panose="02040503050406030204" pitchFamily="18" charset="0"/>
                                </a:rPr>
                                <m:t>2</m:t>
                              </m:r>
                            </m:sup>
                          </m:sSup>
                        </m:sub>
                        <m:sup>
                          <m:r>
                            <a:rPr lang="en-US" altLang="zh-CN" sz="1900" i="1">
                              <a:latin typeface="Cambria Math" panose="02040503050406030204" pitchFamily="18" charset="0"/>
                              <a:ea typeface="Cambria Math" panose="02040503050406030204" pitchFamily="18" charset="0"/>
                            </a:rPr>
                            <m:t> </m:t>
                          </m:r>
                        </m:sup>
                        <m:e>
                          <m:r>
                            <a:rPr lang="en-US" altLang="zh-CN" sz="1900" i="1">
                              <a:latin typeface="Cambria Math" panose="02040503050406030204" pitchFamily="18" charset="0"/>
                              <a:ea typeface="Cambria Math" panose="02040503050406030204" pitchFamily="18" charset="0"/>
                            </a:rPr>
                            <m:t>𝑓</m:t>
                          </m:r>
                          <m:d>
                            <m:dPr>
                              <m:ctrlPr>
                                <a:rPr lang="zh-CN" altLang="en-US" sz="1900" i="1">
                                  <a:latin typeface="Cambria Math" panose="02040503050406030204" pitchFamily="18" charset="0"/>
                                </a:rPr>
                              </m:ctrlPr>
                            </m:dPr>
                            <m:e>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𝑜</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sSub>
                            <m:sSubPr>
                              <m:ctrlPr>
                                <a:rPr lang="en-US" altLang="zh-CN" sz="1900" i="1">
                                  <a:latin typeface="Cambria Math" panose="02040503050406030204" pitchFamily="18" charset="0"/>
                                  <a:ea typeface="Cambria Math" panose="02040503050406030204" pitchFamily="18" charset="0"/>
                                </a:rPr>
                              </m:ctrlPr>
                            </m:sSubPr>
                            <m:e>
                              <m:r>
                                <a:rPr lang="en-US" altLang="zh-CN" sz="1900" i="1">
                                  <a:latin typeface="Cambria Math" panose="02040503050406030204" pitchFamily="18" charset="0"/>
                                  <a:ea typeface="Cambria Math" panose="02040503050406030204" pitchFamily="18" charset="0"/>
                                </a:rPr>
                                <m:t>𝐿</m:t>
                              </m:r>
                            </m:e>
                            <m:sub>
                              <m:r>
                                <a:rPr lang="en-US" altLang="zh-CN" sz="1900" i="1">
                                  <a:latin typeface="Cambria Math" panose="02040503050406030204" pitchFamily="18" charset="0"/>
                                  <a:ea typeface="Cambria Math" panose="02040503050406030204" pitchFamily="18" charset="0"/>
                                </a:rPr>
                                <m:t>𝑖</m:t>
                              </m:r>
                            </m:sub>
                          </m:sSub>
                          <m:d>
                            <m:dPr>
                              <m:ctrlPr>
                                <a:rPr lang="en-US" altLang="zh-CN" sz="1900" i="1">
                                  <a:latin typeface="Cambria Math" panose="02040503050406030204" pitchFamily="18" charset="0"/>
                                  <a:ea typeface="Cambria Math" panose="02040503050406030204" pitchFamily="18" charset="0"/>
                                </a:rPr>
                              </m:ctrlPr>
                            </m:dPr>
                            <m:e>
                              <m:r>
                                <a:rPr lang="en-US" altLang="zh-CN" sz="1900" i="1">
                                  <a:latin typeface="Cambria Math" panose="02040503050406030204" pitchFamily="18" charset="0"/>
                                  <a:ea typeface="Cambria Math" panose="02040503050406030204" pitchFamily="18" charset="0"/>
                                </a:rPr>
                                <m:t>𝑝</m:t>
                              </m:r>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smtClean="0">
                                  <a:solidFill>
                                    <a:srgbClr val="FF0000"/>
                                  </a:solidFill>
                                  <a:latin typeface="Cambria Math" panose="02040503050406030204" pitchFamily="18" charset="0"/>
                                  <a:ea typeface="Cambria Math" panose="02040503050406030204" pitchFamily="18" charset="0"/>
                                </a:rPr>
                                <m:t>𝜆</m:t>
                              </m:r>
                            </m:e>
                          </m:d>
                          <m:r>
                            <a:rPr lang="en-US" altLang="zh-CN" sz="1900" i="1">
                              <a:latin typeface="Cambria Math" panose="02040503050406030204" pitchFamily="18" charset="0"/>
                              <a:ea typeface="Cambria Math" panose="02040503050406030204" pitchFamily="18" charset="0"/>
                            </a:rPr>
                            <m:t>|</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r>
                            <a:rPr lang="en-US" altLang="zh-CN" sz="1900" i="1">
                              <a:latin typeface="Cambria Math" panose="02040503050406030204" pitchFamily="18" charset="0"/>
                              <a:ea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𝑛</m:t>
                          </m:r>
                          <m:r>
                            <a:rPr lang="en-US" altLang="zh-CN" sz="1900" i="1">
                              <a:latin typeface="Cambria Math" panose="02040503050406030204" pitchFamily="18" charset="0"/>
                              <a:ea typeface="Cambria Math" panose="02040503050406030204" pitchFamily="18" charset="0"/>
                            </a:rPr>
                            <m:t>|</m:t>
                          </m:r>
                          <m:r>
                            <a:rPr lang="en-US" altLang="zh-CN" sz="1900" i="1">
                              <a:latin typeface="Cambria Math" panose="02040503050406030204" pitchFamily="18" charset="0"/>
                              <a:ea typeface="Cambria Math" panose="02040503050406030204" pitchFamily="18" charset="0"/>
                            </a:rPr>
                            <m:t>𝑑</m:t>
                          </m:r>
                          <m:sSub>
                            <m:sSubPr>
                              <m:ctrlPr>
                                <a:rPr lang="zh-CN" altLang="en-US" sz="1900" i="1">
                                  <a:latin typeface="Cambria Math" panose="02040503050406030204" pitchFamily="18" charset="0"/>
                                </a:rPr>
                              </m:ctrlPr>
                            </m:sSubPr>
                            <m:e>
                              <m:r>
                                <a:rPr lang="zh-CN" altLang="en-US" sz="1900" i="1">
                                  <a:latin typeface="Cambria Math" panose="02040503050406030204" pitchFamily="18" charset="0"/>
                                </a:rPr>
                                <m:t>𝜔</m:t>
                              </m:r>
                            </m:e>
                            <m:sub>
                              <m:r>
                                <a:rPr lang="en-US" altLang="zh-CN" sz="1900" i="1">
                                  <a:latin typeface="Cambria Math" panose="02040503050406030204" pitchFamily="18" charset="0"/>
                                  <a:ea typeface="Cambria Math" panose="02040503050406030204" pitchFamily="18" charset="0"/>
                                </a:rPr>
                                <m:t>𝑖</m:t>
                              </m:r>
                            </m:sub>
                          </m:sSub>
                        </m:e>
                      </m:nary>
                    </m:oMath>
                  </m:oMathPara>
                </a14:m>
                <a:endParaRPr lang="en-US" altLang="zh-CN" sz="1900" i="1" dirty="0">
                  <a:latin typeface="Cambria Math" panose="02040503050406030204" pitchFamily="18" charset="0"/>
                  <a:ea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D33B9A5A-AF56-6942-6DBD-1A552B042393}"/>
                  </a:ext>
                </a:extLst>
              </p:cNvPr>
              <p:cNvSpPr txBox="1">
                <a:spLocks noRot="1" noChangeAspect="1" noMove="1" noResize="1" noEditPoints="1" noAdjustHandles="1" noChangeArrowheads="1" noChangeShapeType="1" noTextEdit="1"/>
              </p:cNvSpPr>
              <p:nvPr/>
            </p:nvSpPr>
            <p:spPr>
              <a:xfrm>
                <a:off x="4789586" y="2043962"/>
                <a:ext cx="7583805" cy="1591398"/>
              </a:xfrm>
              <a:prstGeom prst="rect">
                <a:avLst/>
              </a:prstGeom>
              <a:blipFill>
                <a:blip r:embed="rId2"/>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B3824DB1-D5FB-BAB6-416C-2CC918A23B88}"/>
              </a:ext>
            </a:extLst>
          </p:cNvPr>
          <p:cNvPicPr>
            <a:picLocks noChangeAspect="1"/>
          </p:cNvPicPr>
          <p:nvPr/>
        </p:nvPicPr>
        <p:blipFill>
          <a:blip r:embed="rId3"/>
          <a:stretch>
            <a:fillRect/>
          </a:stretch>
        </p:blipFill>
        <p:spPr>
          <a:xfrm>
            <a:off x="440335" y="1555750"/>
            <a:ext cx="4461439" cy="2555085"/>
          </a:xfrm>
          <a:prstGeom prst="rect">
            <a:avLst/>
          </a:prstGeom>
        </p:spPr>
      </p:pic>
      <p:sp>
        <p:nvSpPr>
          <p:cNvPr id="6" name="文本框 5">
            <a:extLst>
              <a:ext uri="{FF2B5EF4-FFF2-40B4-BE49-F238E27FC236}">
                <a16:creationId xmlns:a16="http://schemas.microsoft.com/office/drawing/2014/main" id="{2960D728-D842-A56F-47DF-1E8E420794DE}"/>
              </a:ext>
            </a:extLst>
          </p:cNvPr>
          <p:cNvSpPr txBox="1"/>
          <p:nvPr/>
        </p:nvSpPr>
        <p:spPr>
          <a:xfrm>
            <a:off x="1384300" y="4110835"/>
            <a:ext cx="3264163" cy="461665"/>
          </a:xfrm>
          <a:prstGeom prst="rect">
            <a:avLst/>
          </a:prstGeom>
          <a:noFill/>
        </p:spPr>
        <p:txBody>
          <a:bodyPr wrap="square" rtlCol="0">
            <a:spAutoFit/>
          </a:bodyPr>
          <a:lstStyle/>
          <a:p>
            <a:pPr algn="ctr"/>
            <a:r>
              <a:rPr lang="en-US" altLang="zh-CN" sz="2400" dirty="0">
                <a:latin typeface="Noto Sans SC" panose="020B0200000000000000" pitchFamily="34" charset="-122"/>
                <a:ea typeface="Noto Sans SC" panose="020B0200000000000000" pitchFamily="34" charset="-122"/>
              </a:rPr>
              <a:t>RGB</a:t>
            </a:r>
            <a:r>
              <a:rPr lang="zh-CN" altLang="en-US" sz="2400" dirty="0">
                <a:latin typeface="Noto Sans SC" panose="020B0200000000000000" pitchFamily="34" charset="-122"/>
                <a:ea typeface="Noto Sans SC" panose="020B0200000000000000" pitchFamily="34" charset="-122"/>
              </a:rPr>
              <a:t>光线</a:t>
            </a:r>
          </a:p>
        </p:txBody>
      </p:sp>
      <p:sp>
        <p:nvSpPr>
          <p:cNvPr id="11" name="文本框 10">
            <a:extLst>
              <a:ext uri="{FF2B5EF4-FFF2-40B4-BE49-F238E27FC236}">
                <a16:creationId xmlns:a16="http://schemas.microsoft.com/office/drawing/2014/main" id="{8B8D7876-D75D-89B4-9216-4E8600516036}"/>
              </a:ext>
            </a:extLst>
          </p:cNvPr>
          <p:cNvSpPr txBox="1"/>
          <p:nvPr/>
        </p:nvSpPr>
        <p:spPr>
          <a:xfrm>
            <a:off x="7543534" y="4110835"/>
            <a:ext cx="2646878" cy="461665"/>
          </a:xfrm>
          <a:prstGeom prst="rect">
            <a:avLst/>
          </a:prstGeom>
          <a:noFill/>
        </p:spPr>
        <p:txBody>
          <a:bodyPr wrap="square" rtlCol="0">
            <a:spAutoFit/>
          </a:bodyPr>
          <a:lstStyle/>
          <a:p>
            <a:pPr algn="ctr"/>
            <a:r>
              <a:rPr lang="zh-CN" altLang="en-US" sz="2400" dirty="0">
                <a:latin typeface="Noto Sans SC" panose="020B0200000000000000" pitchFamily="34" charset="-122"/>
                <a:ea typeface="Noto Sans SC" panose="020B0200000000000000" pitchFamily="34" charset="-122"/>
              </a:rPr>
              <a:t>完整光谱</a:t>
            </a:r>
          </a:p>
        </p:txBody>
      </p:sp>
      <p:sp>
        <p:nvSpPr>
          <p:cNvPr id="13" name="箭头: 右 12">
            <a:extLst>
              <a:ext uri="{FF2B5EF4-FFF2-40B4-BE49-F238E27FC236}">
                <a16:creationId xmlns:a16="http://schemas.microsoft.com/office/drawing/2014/main" id="{0EADC41A-6A9B-C3F4-39F7-8DF12D020A44}"/>
              </a:ext>
            </a:extLst>
          </p:cNvPr>
          <p:cNvSpPr/>
          <p:nvPr/>
        </p:nvSpPr>
        <p:spPr>
          <a:xfrm>
            <a:off x="5328442" y="4303275"/>
            <a:ext cx="1535113"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EDAA688-C031-C364-E87C-D9B0864C6239}"/>
                  </a:ext>
                </a:extLst>
              </p:cNvPr>
              <p:cNvSpPr txBox="1"/>
              <p:nvPr/>
            </p:nvSpPr>
            <p:spPr>
              <a:xfrm>
                <a:off x="6850722" y="4624195"/>
                <a:ext cx="4032502" cy="400110"/>
              </a:xfrm>
              <a:prstGeom prst="rect">
                <a:avLst/>
              </a:prstGeom>
              <a:noFill/>
            </p:spPr>
            <p:txBody>
              <a:bodyPr wrap="square">
                <a:spAutoFit/>
              </a:bodyPr>
              <a:lstStyle/>
              <a:p>
                <a:pPr/>
                <a14:m>
                  <m:oMathPara xmlns:m="http://schemas.openxmlformats.org/officeDocument/2006/math">
                    <m:oMath>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𝐿</m:t>
                          </m:r>
                        </m:e>
                        <m:sub>
                          <m:r>
                            <a:rPr lang="en-US" altLang="zh-CN" sz="2000" i="1">
                              <a:latin typeface="Cambria Math" panose="02040503050406030204" pitchFamily="18" charset="0"/>
                              <a:ea typeface="Cambria Math" panose="02040503050406030204" pitchFamily="18" charset="0"/>
                            </a:rPr>
                            <m:t>𝑜</m:t>
                          </m:r>
                        </m:sub>
                      </m:sSub>
                      <m:d>
                        <m:dPr>
                          <m:ctrlPr>
                            <a:rPr lang="en-US" altLang="zh-CN" sz="2000" i="1">
                              <a:latin typeface="Cambria Math" panose="02040503050406030204" pitchFamily="18" charset="0"/>
                              <a:ea typeface="Cambria Math" panose="02040503050406030204" pitchFamily="18" charset="0"/>
                            </a:rPr>
                          </m:ctrlPr>
                        </m:dPr>
                        <m:e>
                          <m:r>
                            <a:rPr lang="en-US" altLang="zh-CN" sz="2000" i="1">
                              <a:latin typeface="Cambria Math" panose="02040503050406030204" pitchFamily="18" charset="0"/>
                              <a:ea typeface="Cambria Math" panose="02040503050406030204" pitchFamily="18" charset="0"/>
                            </a:rPr>
                            <m:t>𝑝</m:t>
                          </m:r>
                          <m:r>
                            <a:rPr lang="en-US" altLang="zh-CN" sz="2000" b="0" i="1" smtClean="0">
                              <a:latin typeface="Cambria Math" panose="02040503050406030204" pitchFamily="18" charset="0"/>
                              <a:ea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𝜔</m:t>
                              </m:r>
                            </m:e>
                            <m:sub>
                              <m:r>
                                <a:rPr lang="en-US" altLang="zh-CN" sz="2000" i="1">
                                  <a:latin typeface="Cambria Math" panose="02040503050406030204" pitchFamily="18" charset="0"/>
                                  <a:ea typeface="Cambria Math" panose="02040503050406030204" pitchFamily="18" charset="0"/>
                                </a:rPr>
                                <m:t>𝑜</m:t>
                              </m:r>
                            </m:sub>
                          </m:sSub>
                          <m:r>
                            <a:rPr lang="en-US" altLang="zh-CN" sz="2000" i="1">
                              <a:latin typeface="Cambria Math" panose="02040503050406030204" pitchFamily="18" charset="0"/>
                              <a:ea typeface="Cambria Math" panose="02040503050406030204" pitchFamily="18" charset="0"/>
                            </a:rPr>
                            <m:t>,</m:t>
                          </m:r>
                          <m:r>
                            <a:rPr lang="en-US" altLang="zh-CN" sz="2000" i="1" smtClean="0">
                              <a:solidFill>
                                <a:srgbClr val="FF0000"/>
                              </a:solidFill>
                              <a:latin typeface="Cambria Math" panose="02040503050406030204" pitchFamily="18" charset="0"/>
                              <a:ea typeface="Cambria Math" panose="02040503050406030204" pitchFamily="18" charset="0"/>
                            </a:rPr>
                            <m:t>𝜆</m:t>
                          </m:r>
                        </m:e>
                      </m:d>
                      <m:r>
                        <a:rPr lang="en-US" altLang="zh-CN" sz="2000" b="0" i="1" smtClean="0">
                          <a:solidFill>
                            <a:schemeClr val="tx1"/>
                          </a:solidFill>
                          <a:latin typeface="Cambria Math" panose="02040503050406030204" pitchFamily="18" charset="0"/>
                          <a:ea typeface="Cambria Math" panose="02040503050406030204" pitchFamily="18" charset="0"/>
                        </a:rPr>
                        <m:t>,  </m:t>
                      </m:r>
                      <m:r>
                        <a:rPr lang="en-US" altLang="zh-CN" sz="2000" b="0" i="1" smtClean="0">
                          <a:solidFill>
                            <a:schemeClr val="tx1"/>
                          </a:solidFill>
                          <a:latin typeface="Cambria Math" panose="02040503050406030204" pitchFamily="18" charset="0"/>
                          <a:ea typeface="Cambria Math" panose="02040503050406030204" pitchFamily="18" charset="0"/>
                        </a:rPr>
                        <m:t>𝜆</m:t>
                      </m:r>
                      <m:r>
                        <a:rPr lang="en-US" altLang="zh-CN" sz="2000" b="0" i="1" smtClean="0">
                          <a:solidFill>
                            <a:schemeClr val="tx1"/>
                          </a:solidFill>
                          <a:latin typeface="Cambria Math" panose="02040503050406030204" pitchFamily="18" charset="0"/>
                          <a:ea typeface="Cambria Math" panose="02040503050406030204" pitchFamily="18" charset="0"/>
                        </a:rPr>
                        <m:t>∈[360, 830]</m:t>
                      </m:r>
                    </m:oMath>
                  </m:oMathPara>
                </a14:m>
                <a:endParaRPr lang="zh-CN" altLang="en-US" i="1" dirty="0">
                  <a:latin typeface="Cambria Math" panose="02040503050406030204" pitchFamily="18" charset="0"/>
                  <a:ea typeface="Noto Sans SC" panose="020B0200000000000000" pitchFamily="34" charset="-122"/>
                </a:endParaRPr>
              </a:p>
            </p:txBody>
          </p:sp>
        </mc:Choice>
        <mc:Fallback xmlns="">
          <p:sp>
            <p:nvSpPr>
              <p:cNvPr id="15" name="文本框 14">
                <a:extLst>
                  <a:ext uri="{FF2B5EF4-FFF2-40B4-BE49-F238E27FC236}">
                    <a16:creationId xmlns:a16="http://schemas.microsoft.com/office/drawing/2014/main" id="{CEDAA688-C031-C364-E87C-D9B0864C6239}"/>
                  </a:ext>
                </a:extLst>
              </p:cNvPr>
              <p:cNvSpPr txBox="1">
                <a:spLocks noRot="1" noChangeAspect="1" noMove="1" noResize="1" noEditPoints="1" noAdjustHandles="1" noChangeArrowheads="1" noChangeShapeType="1" noTextEdit="1"/>
              </p:cNvSpPr>
              <p:nvPr/>
            </p:nvSpPr>
            <p:spPr>
              <a:xfrm>
                <a:off x="6850722" y="4624195"/>
                <a:ext cx="4032502" cy="400110"/>
              </a:xfrm>
              <a:prstGeom prst="rect">
                <a:avLst/>
              </a:prstGeom>
              <a:blipFill>
                <a:blip r:embed="rId4"/>
                <a:stretch>
                  <a:fillRect t="-9231"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77D17AE-749A-B584-CFE4-0A564F746EBB}"/>
                  </a:ext>
                </a:extLst>
              </p:cNvPr>
              <p:cNvSpPr txBox="1"/>
              <p:nvPr/>
            </p:nvSpPr>
            <p:spPr>
              <a:xfrm>
                <a:off x="527312" y="4624195"/>
                <a:ext cx="4978138" cy="400110"/>
              </a:xfrm>
              <a:prstGeom prst="rect">
                <a:avLst/>
              </a:prstGeom>
              <a:noFill/>
            </p:spPr>
            <p:txBody>
              <a:bodyPr wrap="square">
                <a:spAutoFit/>
              </a:bodyPr>
              <a:lstStyle/>
              <a:p>
                <a:pPr/>
                <a14:m>
                  <m:oMathPara xmlns:m="http://schemas.openxmlformats.org/officeDocument/2006/math">
                    <m:oMath>
                      <m:sSub>
                        <m:sSubPr>
                          <m:ctrlPr>
                            <a:rPr lang="en-US" altLang="zh-CN" sz="2000" i="1">
                              <a:solidFill>
                                <a:schemeClr val="tx1"/>
                              </a:solidFill>
                              <a:latin typeface="Cambria Math" panose="02040503050406030204" pitchFamily="18" charset="0"/>
                              <a:ea typeface="Cambria Math" panose="02040503050406030204" pitchFamily="18" charset="0"/>
                            </a:rPr>
                          </m:ctrlPr>
                        </m:sSubPr>
                        <m:e>
                          <m:r>
                            <a:rPr lang="en-US" altLang="zh-CN" sz="2000" i="1">
                              <a:solidFill>
                                <a:schemeClr val="tx1"/>
                              </a:solidFill>
                              <a:latin typeface="Cambria Math" panose="02040503050406030204" pitchFamily="18" charset="0"/>
                              <a:ea typeface="Cambria Math" panose="02040503050406030204" pitchFamily="18" charset="0"/>
                            </a:rPr>
                            <m:t>𝐿</m:t>
                          </m:r>
                        </m:e>
                        <m:sub>
                          <m:r>
                            <a:rPr lang="en-US" altLang="zh-CN" sz="2000" i="1">
                              <a:solidFill>
                                <a:schemeClr val="tx1"/>
                              </a:solidFill>
                              <a:latin typeface="Cambria Math" panose="02040503050406030204" pitchFamily="18" charset="0"/>
                              <a:ea typeface="Cambria Math" panose="02040503050406030204" pitchFamily="18" charset="0"/>
                            </a:rPr>
                            <m:t>𝑜</m:t>
                          </m:r>
                        </m:sub>
                      </m:sSub>
                      <m:sSub>
                        <m:sSubPr>
                          <m:ctrlPr>
                            <a:rPr lang="en-US" altLang="zh-CN" sz="2000" i="1">
                              <a:solidFill>
                                <a:schemeClr val="tx1"/>
                              </a:solidFill>
                              <a:latin typeface="Cambria Math" panose="02040503050406030204" pitchFamily="18" charset="0"/>
                              <a:ea typeface="Cambria Math" panose="02040503050406030204" pitchFamily="18" charset="0"/>
                            </a:rPr>
                          </m:ctrlPr>
                        </m:sSubPr>
                        <m:e>
                          <m:d>
                            <m:dPr>
                              <m:ctrlPr>
                                <a:rPr lang="en-US" altLang="zh-CN" sz="2000" i="1">
                                  <a:solidFill>
                                    <a:schemeClr val="tx1"/>
                                  </a:solidFill>
                                  <a:latin typeface="Cambria Math" panose="02040503050406030204" pitchFamily="18" charset="0"/>
                                  <a:ea typeface="Cambria Math" panose="02040503050406030204" pitchFamily="18" charset="0"/>
                                </a:rPr>
                              </m:ctrlPr>
                            </m:dPr>
                            <m:e>
                              <m:r>
                                <a:rPr lang="en-US" altLang="zh-CN" sz="2000" i="1">
                                  <a:solidFill>
                                    <a:schemeClr val="tx1"/>
                                  </a:solidFill>
                                  <a:latin typeface="Cambria Math" panose="02040503050406030204" pitchFamily="18" charset="0"/>
                                  <a:ea typeface="Cambria Math" panose="02040503050406030204" pitchFamily="18" charset="0"/>
                                </a:rPr>
                                <m:t>𝑝</m:t>
                              </m:r>
                              <m:r>
                                <a:rPr lang="en-US" altLang="zh-CN" sz="2000" i="1">
                                  <a:solidFill>
                                    <a:schemeClr val="tx1"/>
                                  </a:solidFill>
                                  <a:latin typeface="Cambria Math" panose="02040503050406030204" pitchFamily="18" charset="0"/>
                                  <a:ea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ea typeface="Cambria Math" panose="02040503050406030204" pitchFamily="18" charset="0"/>
                                    </a:rPr>
                                    <m:t>𝑜</m:t>
                                  </m:r>
                                </m:sub>
                              </m:sSub>
                            </m:e>
                          </m:d>
                        </m:e>
                        <m:sub>
                          <m:r>
                            <a:rPr lang="en-US" altLang="zh-CN" sz="2000" b="1" i="1" smtClean="0">
                              <a:solidFill>
                                <a:srgbClr val="FF0000"/>
                              </a:solidFill>
                              <a:latin typeface="Cambria Math" panose="02040503050406030204" pitchFamily="18" charset="0"/>
                              <a:ea typeface="Cambria Math" panose="02040503050406030204" pitchFamily="18" charset="0"/>
                            </a:rPr>
                            <m:t>𝑹</m:t>
                          </m:r>
                        </m:sub>
                      </m:sSub>
                      <m:r>
                        <a:rPr lang="en-US" altLang="zh-CN" sz="2000" b="0" i="1" smtClean="0">
                          <a:solidFill>
                            <a:schemeClr val="tx1"/>
                          </a:solidFill>
                          <a:latin typeface="Cambria Math" panose="02040503050406030204" pitchFamily="18" charset="0"/>
                          <a:ea typeface="Cambria Math" panose="02040503050406030204" pitchFamily="18" charset="0"/>
                        </a:rPr>
                        <m:t>,  </m:t>
                      </m:r>
                      <m:sSub>
                        <m:sSubPr>
                          <m:ctrlPr>
                            <a:rPr lang="en-US" altLang="zh-CN" sz="2000" i="1">
                              <a:solidFill>
                                <a:schemeClr val="tx1"/>
                              </a:solidFill>
                              <a:latin typeface="Cambria Math" panose="02040503050406030204" pitchFamily="18" charset="0"/>
                              <a:ea typeface="Cambria Math" panose="02040503050406030204" pitchFamily="18" charset="0"/>
                            </a:rPr>
                          </m:ctrlPr>
                        </m:sSubPr>
                        <m:e>
                          <m:r>
                            <a:rPr lang="en-US" altLang="zh-CN" sz="2000" i="1">
                              <a:solidFill>
                                <a:schemeClr val="tx1"/>
                              </a:solidFill>
                              <a:latin typeface="Cambria Math" panose="02040503050406030204" pitchFamily="18" charset="0"/>
                              <a:ea typeface="Cambria Math" panose="02040503050406030204" pitchFamily="18" charset="0"/>
                            </a:rPr>
                            <m:t>𝐿</m:t>
                          </m:r>
                        </m:e>
                        <m:sub>
                          <m:r>
                            <a:rPr lang="en-US" altLang="zh-CN" sz="2000" i="1">
                              <a:solidFill>
                                <a:schemeClr val="tx1"/>
                              </a:solidFill>
                              <a:latin typeface="Cambria Math" panose="02040503050406030204" pitchFamily="18" charset="0"/>
                              <a:ea typeface="Cambria Math" panose="02040503050406030204" pitchFamily="18" charset="0"/>
                            </a:rPr>
                            <m:t>𝑜</m:t>
                          </m:r>
                        </m:sub>
                      </m:sSub>
                      <m:sSub>
                        <m:sSubPr>
                          <m:ctrlPr>
                            <a:rPr lang="en-US" altLang="zh-CN" sz="2000" i="1">
                              <a:solidFill>
                                <a:schemeClr val="tx1"/>
                              </a:solidFill>
                              <a:latin typeface="Cambria Math" panose="02040503050406030204" pitchFamily="18" charset="0"/>
                              <a:ea typeface="Cambria Math" panose="02040503050406030204" pitchFamily="18" charset="0"/>
                            </a:rPr>
                          </m:ctrlPr>
                        </m:sSubPr>
                        <m:e>
                          <m:d>
                            <m:dPr>
                              <m:ctrlPr>
                                <a:rPr lang="en-US" altLang="zh-CN" sz="2000" i="1">
                                  <a:solidFill>
                                    <a:schemeClr val="tx1"/>
                                  </a:solidFill>
                                  <a:latin typeface="Cambria Math" panose="02040503050406030204" pitchFamily="18" charset="0"/>
                                  <a:ea typeface="Cambria Math" panose="02040503050406030204" pitchFamily="18" charset="0"/>
                                </a:rPr>
                              </m:ctrlPr>
                            </m:dPr>
                            <m:e>
                              <m:r>
                                <a:rPr lang="en-US" altLang="zh-CN" sz="2000" i="1">
                                  <a:solidFill>
                                    <a:schemeClr val="tx1"/>
                                  </a:solidFill>
                                  <a:latin typeface="Cambria Math" panose="02040503050406030204" pitchFamily="18" charset="0"/>
                                  <a:ea typeface="Cambria Math" panose="02040503050406030204" pitchFamily="18" charset="0"/>
                                </a:rPr>
                                <m:t>𝑝</m:t>
                              </m:r>
                              <m:r>
                                <a:rPr lang="en-US" altLang="zh-CN" sz="2000" i="1">
                                  <a:solidFill>
                                    <a:schemeClr val="tx1"/>
                                  </a:solidFill>
                                  <a:latin typeface="Cambria Math" panose="02040503050406030204" pitchFamily="18" charset="0"/>
                                  <a:ea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ea typeface="Cambria Math" panose="02040503050406030204" pitchFamily="18" charset="0"/>
                                    </a:rPr>
                                    <m:t>𝑜</m:t>
                                  </m:r>
                                </m:sub>
                              </m:sSub>
                            </m:e>
                          </m:d>
                        </m:e>
                        <m:sub>
                          <m:r>
                            <a:rPr lang="en-US" altLang="zh-CN" sz="2000" b="1" i="1" smtClean="0">
                              <a:solidFill>
                                <a:srgbClr val="00B050"/>
                              </a:solidFill>
                              <a:latin typeface="Cambria Math" panose="02040503050406030204" pitchFamily="18" charset="0"/>
                              <a:ea typeface="Cambria Math" panose="02040503050406030204" pitchFamily="18" charset="0"/>
                            </a:rPr>
                            <m:t>𝑮</m:t>
                          </m:r>
                        </m:sub>
                      </m:sSub>
                      <m:r>
                        <a:rPr lang="en-US" altLang="zh-CN" sz="2000" b="0" i="1" smtClean="0">
                          <a:solidFill>
                            <a:schemeClr val="tx1"/>
                          </a:solidFill>
                          <a:latin typeface="Cambria Math" panose="02040503050406030204" pitchFamily="18" charset="0"/>
                          <a:ea typeface="Cambria Math" panose="02040503050406030204" pitchFamily="18" charset="0"/>
                        </a:rPr>
                        <m:t>,  </m:t>
                      </m:r>
                      <m:sSub>
                        <m:sSubPr>
                          <m:ctrlPr>
                            <a:rPr lang="en-US" altLang="zh-CN" sz="2000" i="1">
                              <a:solidFill>
                                <a:schemeClr val="tx1"/>
                              </a:solidFill>
                              <a:latin typeface="Cambria Math" panose="02040503050406030204" pitchFamily="18" charset="0"/>
                              <a:ea typeface="Cambria Math" panose="02040503050406030204" pitchFamily="18" charset="0"/>
                            </a:rPr>
                          </m:ctrlPr>
                        </m:sSubPr>
                        <m:e>
                          <m:r>
                            <a:rPr lang="en-US" altLang="zh-CN" sz="2000" i="1">
                              <a:solidFill>
                                <a:schemeClr val="tx1"/>
                              </a:solidFill>
                              <a:latin typeface="Cambria Math" panose="02040503050406030204" pitchFamily="18" charset="0"/>
                              <a:ea typeface="Cambria Math" panose="02040503050406030204" pitchFamily="18" charset="0"/>
                            </a:rPr>
                            <m:t>𝐿</m:t>
                          </m:r>
                        </m:e>
                        <m:sub>
                          <m:r>
                            <a:rPr lang="en-US" altLang="zh-CN" sz="2000" i="1">
                              <a:solidFill>
                                <a:schemeClr val="tx1"/>
                              </a:solidFill>
                              <a:latin typeface="Cambria Math" panose="02040503050406030204" pitchFamily="18" charset="0"/>
                              <a:ea typeface="Cambria Math" panose="02040503050406030204" pitchFamily="18" charset="0"/>
                            </a:rPr>
                            <m:t>𝑜</m:t>
                          </m:r>
                        </m:sub>
                      </m:sSub>
                      <m:sSub>
                        <m:sSubPr>
                          <m:ctrlPr>
                            <a:rPr lang="en-US" altLang="zh-CN" sz="2000" i="1">
                              <a:solidFill>
                                <a:schemeClr val="tx1"/>
                              </a:solidFill>
                              <a:latin typeface="Cambria Math" panose="02040503050406030204" pitchFamily="18" charset="0"/>
                              <a:ea typeface="Cambria Math" panose="02040503050406030204" pitchFamily="18" charset="0"/>
                            </a:rPr>
                          </m:ctrlPr>
                        </m:sSubPr>
                        <m:e>
                          <m:d>
                            <m:dPr>
                              <m:ctrlPr>
                                <a:rPr lang="en-US" altLang="zh-CN" sz="2000" i="1">
                                  <a:solidFill>
                                    <a:schemeClr val="tx1"/>
                                  </a:solidFill>
                                  <a:latin typeface="Cambria Math" panose="02040503050406030204" pitchFamily="18" charset="0"/>
                                  <a:ea typeface="Cambria Math" panose="02040503050406030204" pitchFamily="18" charset="0"/>
                                </a:rPr>
                              </m:ctrlPr>
                            </m:dPr>
                            <m:e>
                              <m:r>
                                <a:rPr lang="en-US" altLang="zh-CN" sz="2000" i="1">
                                  <a:solidFill>
                                    <a:schemeClr val="tx1"/>
                                  </a:solidFill>
                                  <a:latin typeface="Cambria Math" panose="02040503050406030204" pitchFamily="18" charset="0"/>
                                  <a:ea typeface="Cambria Math" panose="02040503050406030204" pitchFamily="18" charset="0"/>
                                </a:rPr>
                                <m:t>𝑝</m:t>
                              </m:r>
                              <m:r>
                                <a:rPr lang="en-US" altLang="zh-CN" sz="2000" i="1">
                                  <a:solidFill>
                                    <a:schemeClr val="tx1"/>
                                  </a:solidFill>
                                  <a:latin typeface="Cambria Math" panose="02040503050406030204" pitchFamily="18" charset="0"/>
                                  <a:ea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ea typeface="Cambria Math" panose="02040503050406030204" pitchFamily="18" charset="0"/>
                                    </a:rPr>
                                    <m:t>𝑜</m:t>
                                  </m:r>
                                </m:sub>
                              </m:sSub>
                            </m:e>
                          </m:d>
                        </m:e>
                        <m:sub>
                          <m:r>
                            <a:rPr lang="en-US" altLang="zh-CN" sz="2000" b="1" i="1" smtClean="0">
                              <a:solidFill>
                                <a:schemeClr val="accent1">
                                  <a:lumMod val="75000"/>
                                </a:schemeClr>
                              </a:solidFill>
                              <a:latin typeface="Cambria Math" panose="02040503050406030204" pitchFamily="18" charset="0"/>
                              <a:ea typeface="Cambria Math" panose="02040503050406030204" pitchFamily="18" charset="0"/>
                            </a:rPr>
                            <m:t>𝑩</m:t>
                          </m:r>
                        </m:sub>
                      </m:sSub>
                    </m:oMath>
                  </m:oMathPara>
                </a14:m>
                <a:endParaRPr lang="zh-CN" altLang="en-US" sz="1800" i="1" dirty="0">
                  <a:solidFill>
                    <a:schemeClr val="tx1"/>
                  </a:solidFill>
                  <a:latin typeface="Cambria Math" panose="02040503050406030204" pitchFamily="18" charset="0"/>
                  <a:ea typeface="Noto Sans SC" panose="020B0200000000000000" pitchFamily="34" charset="-122"/>
                </a:endParaRPr>
              </a:p>
            </p:txBody>
          </p:sp>
        </mc:Choice>
        <mc:Fallback xmlns="">
          <p:sp>
            <p:nvSpPr>
              <p:cNvPr id="17" name="文本框 16">
                <a:extLst>
                  <a:ext uri="{FF2B5EF4-FFF2-40B4-BE49-F238E27FC236}">
                    <a16:creationId xmlns:a16="http://schemas.microsoft.com/office/drawing/2014/main" id="{A77D17AE-749A-B584-CFE4-0A564F746EBB}"/>
                  </a:ext>
                </a:extLst>
              </p:cNvPr>
              <p:cNvSpPr txBox="1">
                <a:spLocks noRot="1" noChangeAspect="1" noMove="1" noResize="1" noEditPoints="1" noAdjustHandles="1" noChangeArrowheads="1" noChangeShapeType="1" noTextEdit="1"/>
              </p:cNvSpPr>
              <p:nvPr/>
            </p:nvSpPr>
            <p:spPr>
              <a:xfrm>
                <a:off x="527312" y="4624195"/>
                <a:ext cx="4978138" cy="400110"/>
              </a:xfrm>
              <a:prstGeom prst="rect">
                <a:avLst/>
              </a:prstGeom>
              <a:blipFill>
                <a:blip r:embed="rId5"/>
                <a:stretch>
                  <a:fillRect t="-9231"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8A9A3CD-4BA9-4609-A52B-302BA8CE7AB2}"/>
                  </a:ext>
                </a:extLst>
              </p:cNvPr>
              <p:cNvSpPr txBox="1"/>
              <p:nvPr/>
            </p:nvSpPr>
            <p:spPr>
              <a:xfrm>
                <a:off x="2134134" y="5095005"/>
                <a:ext cx="7923727" cy="658770"/>
              </a:xfrm>
              <a:prstGeom prst="rect">
                <a:avLst/>
              </a:prstGeom>
              <a:noFill/>
            </p:spPr>
            <p:txBody>
              <a:bodyPr wrap="square">
                <a:spAutoFit/>
              </a:bodyPr>
              <a:lstStyle/>
              <a:p>
                <a:pPr/>
                <a14:m>
                  <m:oMathPara xmlns:m="http://schemas.openxmlformats.org/officeDocument/2006/math">
                    <m:oMath>
                      <m:r>
                        <a:rPr lang="en-US" altLang="zh-CN" sz="1800" b="0" i="1" smtClean="0">
                          <a:latin typeface="Cambria Math" panose="02040503050406030204" pitchFamily="18" charset="0"/>
                        </a:rPr>
                        <m:t>𝑋</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b="0" i="1" smtClean="0">
                                  <a:latin typeface="Cambria Math" panose="02040503050406030204" pitchFamily="18" charset="0"/>
                                </a:rPr>
                              </m:ctrlPr>
                            </m:accPr>
                            <m:e>
                              <m:r>
                                <a:rPr lang="en-US" altLang="zh-CN" sz="1800" b="0" i="1" smtClean="0">
                                  <a:latin typeface="Cambria Math" panose="02040503050406030204" pitchFamily="18" charset="0"/>
                                </a:rPr>
                                <m:t>𝑥</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sz="1800" i="1">
                          <a:latin typeface="Cambria Math" panose="02040503050406030204" pitchFamily="18" charset="0"/>
                        </a:rPr>
                        <m:t>𝑌</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i="1">
                                  <a:latin typeface="Cambria Math" panose="02040503050406030204" pitchFamily="18" charset="0"/>
                                </a:rPr>
                              </m:ctrlPr>
                            </m:accPr>
                            <m:e>
                              <m:r>
                                <a:rPr lang="en-US" altLang="zh-CN" sz="1800" i="1">
                                  <a:latin typeface="Cambria Math" panose="02040503050406030204" pitchFamily="18" charset="0"/>
                                </a:rPr>
                                <m:t>𝑦</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sz="1800" b="0" i="1" smtClean="0">
                          <a:latin typeface="Cambria Math" panose="02040503050406030204" pitchFamily="18" charset="0"/>
                        </a:rPr>
                        <m:t>𝑍</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b="0" i="1" smtClean="0">
                                  <a:latin typeface="Cambria Math" panose="02040503050406030204" pitchFamily="18" charset="0"/>
                                </a:rPr>
                              </m:ctrlPr>
                            </m:accPr>
                            <m:e>
                              <m:r>
                                <a:rPr lang="en-US" altLang="zh-CN" sz="1800" b="0" i="1" smtClean="0">
                                  <a:latin typeface="Cambria Math" panose="02040503050406030204" pitchFamily="18" charset="0"/>
                                </a:rPr>
                                <m:t>𝑧</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oMath>
                  </m:oMathPara>
                </a14:m>
                <a:endParaRPr lang="zh-CN" altLang="en-US" dirty="0"/>
              </a:p>
            </p:txBody>
          </p:sp>
        </mc:Choice>
        <mc:Fallback xmlns="">
          <p:sp>
            <p:nvSpPr>
              <p:cNvPr id="8" name="文本框 7">
                <a:extLst>
                  <a:ext uri="{FF2B5EF4-FFF2-40B4-BE49-F238E27FC236}">
                    <a16:creationId xmlns:a16="http://schemas.microsoft.com/office/drawing/2014/main" id="{08A9A3CD-4BA9-4609-A52B-302BA8CE7AB2}"/>
                  </a:ext>
                </a:extLst>
              </p:cNvPr>
              <p:cNvSpPr txBox="1">
                <a:spLocks noRot="1" noChangeAspect="1" noMove="1" noResize="1" noEditPoints="1" noAdjustHandles="1" noChangeArrowheads="1" noChangeShapeType="1" noTextEdit="1"/>
              </p:cNvSpPr>
              <p:nvPr/>
            </p:nvSpPr>
            <p:spPr>
              <a:xfrm>
                <a:off x="2134134" y="5095005"/>
                <a:ext cx="7923727" cy="658770"/>
              </a:xfrm>
              <a:prstGeom prst="rect">
                <a:avLst/>
              </a:prstGeom>
              <a:blipFill>
                <a:blip r:embed="rId6"/>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07728885-2B73-655C-B948-7C1F1E3D0ED2}"/>
              </a:ext>
            </a:extLst>
          </p:cNvPr>
          <p:cNvSpPr txBox="1"/>
          <p:nvPr/>
        </p:nvSpPr>
        <p:spPr>
          <a:xfrm>
            <a:off x="828537" y="5853007"/>
            <a:ext cx="10534920" cy="830997"/>
          </a:xfrm>
          <a:prstGeom prst="rect">
            <a:avLst/>
          </a:prstGeom>
          <a:noFill/>
        </p:spPr>
        <p:txBody>
          <a:bodyPr wrap="square">
            <a:spAutoFit/>
          </a:bodyPr>
          <a:lstStyle/>
          <a:p>
            <a:pPr algn="ctr"/>
            <a:r>
              <a:rPr lang="zh-CN" altLang="en-US" sz="2400" b="1" dirty="0">
                <a:latin typeface="Noto Sans SC" panose="020B0200000000000000" pitchFamily="34" charset="-122"/>
                <a:ea typeface="Noto Sans SC" panose="020B0200000000000000" pitchFamily="34" charset="-122"/>
              </a:rPr>
              <a:t>为了计算</a:t>
            </a:r>
            <a:r>
              <a:rPr lang="en-US" altLang="zh-CN" sz="2400" b="1" dirty="0">
                <a:latin typeface="Noto Sans SC" panose="020B0200000000000000" pitchFamily="34" charset="-122"/>
                <a:ea typeface="Noto Sans SC" panose="020B0200000000000000" pitchFamily="34" charset="-122"/>
              </a:rPr>
              <a:t>XYZ</a:t>
            </a:r>
            <a:r>
              <a:rPr lang="zh-CN" altLang="en-US" sz="2400" b="1" dirty="0">
                <a:latin typeface="Noto Sans SC" panose="020B0200000000000000" pitchFamily="34" charset="-122"/>
                <a:ea typeface="Noto Sans SC" panose="020B0200000000000000" pitchFamily="34" charset="-122"/>
              </a:rPr>
              <a:t>颜色，我们要模拟完整的光谱在空间中传输吗？</a:t>
            </a:r>
            <a:endParaRPr lang="en-US" altLang="zh-CN" sz="2400" b="1" dirty="0">
              <a:latin typeface="Noto Sans SC" panose="020B0200000000000000" pitchFamily="34" charset="-122"/>
              <a:ea typeface="Noto Sans SC" panose="020B0200000000000000" pitchFamily="34" charset="-122"/>
            </a:endParaRPr>
          </a:p>
          <a:p>
            <a:pPr algn="ctr"/>
            <a:r>
              <a:rPr lang="en-US" altLang="zh-CN" sz="2400" b="1" dirty="0">
                <a:latin typeface="Noto Sans SC" panose="020B0200000000000000" pitchFamily="34" charset="-122"/>
                <a:ea typeface="Noto Sans SC" panose="020B0200000000000000" pitchFamily="34" charset="-122"/>
              </a:rPr>
              <a:t>Monte Carlo</a:t>
            </a:r>
            <a:r>
              <a:rPr lang="zh-CN" altLang="en-US" sz="2400" b="1" dirty="0">
                <a:latin typeface="Noto Sans SC" panose="020B0200000000000000" pitchFamily="34" charset="-122"/>
                <a:ea typeface="Noto Sans SC" panose="020B0200000000000000" pitchFamily="34" charset="-122"/>
              </a:rPr>
              <a:t>？</a:t>
            </a:r>
            <a:endParaRPr lang="en-US" altLang="zh-CN" sz="24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66858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D8AEE-D2A7-C8AD-7E63-BC1FC03E7A6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719698E-F58A-A0AC-5031-3E2EDEFF188F}"/>
              </a:ext>
            </a:extLst>
          </p:cNvPr>
          <p:cNvSpPr>
            <a:spLocks noGrp="1"/>
          </p:cNvSpPr>
          <p:nvPr>
            <p:ph type="title" idx="1"/>
          </p:nvPr>
        </p:nvSpPr>
        <p:spPr/>
        <p:txBody>
          <a:bodyPr/>
          <a:lstStyle/>
          <a:p>
            <a:r>
              <a:rPr lang="zh-CN" altLang="en-US" dirty="0"/>
              <a:t>光谱如何参与渲染</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2C05E1A-A6D2-8101-941B-B69098DBC90B}"/>
                  </a:ext>
                </a:extLst>
              </p:cNvPr>
              <p:cNvSpPr txBox="1"/>
              <p:nvPr/>
            </p:nvSpPr>
            <p:spPr>
              <a:xfrm>
                <a:off x="2134134" y="5095005"/>
                <a:ext cx="7923727" cy="658770"/>
              </a:xfrm>
              <a:prstGeom prst="rect">
                <a:avLst/>
              </a:prstGeom>
              <a:noFill/>
            </p:spPr>
            <p:txBody>
              <a:bodyPr wrap="square">
                <a:spAutoFit/>
              </a:bodyPr>
              <a:lstStyle/>
              <a:p>
                <a:pPr/>
                <a14:m>
                  <m:oMathPara xmlns:m="http://schemas.openxmlformats.org/officeDocument/2006/math">
                    <m:oMath>
                      <m:r>
                        <a:rPr lang="en-US" altLang="zh-CN" sz="1800" b="0" i="1" smtClean="0">
                          <a:latin typeface="Cambria Math" panose="02040503050406030204" pitchFamily="18" charset="0"/>
                        </a:rPr>
                        <m:t>𝑋</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b="0" i="1" smtClean="0">
                                  <a:latin typeface="Cambria Math" panose="02040503050406030204" pitchFamily="18" charset="0"/>
                                </a:rPr>
                              </m:ctrlPr>
                            </m:accPr>
                            <m:e>
                              <m:r>
                                <a:rPr lang="en-US" altLang="zh-CN" sz="1800" b="0" i="1" smtClean="0">
                                  <a:latin typeface="Cambria Math" panose="02040503050406030204" pitchFamily="18" charset="0"/>
                                </a:rPr>
                                <m:t>𝑥</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sz="1800" i="1">
                          <a:latin typeface="Cambria Math" panose="02040503050406030204" pitchFamily="18" charset="0"/>
                        </a:rPr>
                        <m:t>𝑌</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i="1">
                                  <a:latin typeface="Cambria Math" panose="02040503050406030204" pitchFamily="18" charset="0"/>
                                </a:rPr>
                              </m:ctrlPr>
                            </m:accPr>
                            <m:e>
                              <m:r>
                                <a:rPr lang="en-US" altLang="zh-CN" sz="1800" i="1">
                                  <a:latin typeface="Cambria Math" panose="02040503050406030204" pitchFamily="18" charset="0"/>
                                </a:rPr>
                                <m:t>𝑦</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sz="1800" b="0" i="1" smtClean="0">
                          <a:latin typeface="Cambria Math" panose="02040503050406030204" pitchFamily="18" charset="0"/>
                        </a:rPr>
                        <m:t>𝑍</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b="0" i="1" smtClean="0">
                                  <a:latin typeface="Cambria Math" panose="02040503050406030204" pitchFamily="18" charset="0"/>
                                </a:rPr>
                              </m:ctrlPr>
                            </m:accPr>
                            <m:e>
                              <m:r>
                                <a:rPr lang="en-US" altLang="zh-CN" sz="1800" b="0" i="1" smtClean="0">
                                  <a:latin typeface="Cambria Math" panose="02040503050406030204" pitchFamily="18" charset="0"/>
                                </a:rPr>
                                <m:t>𝑧</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oMath>
                  </m:oMathPara>
                </a14:m>
                <a:endParaRPr lang="zh-CN" altLang="en-US" dirty="0"/>
              </a:p>
            </p:txBody>
          </p:sp>
        </mc:Choice>
        <mc:Fallback xmlns="">
          <p:sp>
            <p:nvSpPr>
              <p:cNvPr id="8" name="文本框 7">
                <a:extLst>
                  <a:ext uri="{FF2B5EF4-FFF2-40B4-BE49-F238E27FC236}">
                    <a16:creationId xmlns:a16="http://schemas.microsoft.com/office/drawing/2014/main" id="{08A9A3CD-4BA9-4609-A52B-302BA8CE7AB2}"/>
                  </a:ext>
                </a:extLst>
              </p:cNvPr>
              <p:cNvSpPr txBox="1">
                <a:spLocks noRot="1" noChangeAspect="1" noMove="1" noResize="1" noEditPoints="1" noAdjustHandles="1" noChangeArrowheads="1" noChangeShapeType="1" noTextEdit="1"/>
              </p:cNvSpPr>
              <p:nvPr/>
            </p:nvSpPr>
            <p:spPr>
              <a:xfrm>
                <a:off x="2134134" y="5095005"/>
                <a:ext cx="7923727" cy="658770"/>
              </a:xfrm>
              <a:prstGeom prst="rect">
                <a:avLst/>
              </a:prstGeom>
              <a:blipFill>
                <a:blip r:embed="rId6"/>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A88FF036-43A7-9099-EAC0-B22C920B33F0}"/>
              </a:ext>
            </a:extLst>
          </p:cNvPr>
          <p:cNvSpPr txBox="1"/>
          <p:nvPr/>
        </p:nvSpPr>
        <p:spPr>
          <a:xfrm>
            <a:off x="828537" y="5853007"/>
            <a:ext cx="10534920" cy="830997"/>
          </a:xfrm>
          <a:prstGeom prst="rect">
            <a:avLst/>
          </a:prstGeom>
          <a:noFill/>
        </p:spPr>
        <p:txBody>
          <a:bodyPr wrap="square">
            <a:spAutoFit/>
          </a:bodyPr>
          <a:lstStyle/>
          <a:p>
            <a:pPr algn="ctr"/>
            <a:r>
              <a:rPr lang="zh-CN" altLang="en-US" sz="2400" b="1" dirty="0">
                <a:latin typeface="Noto Sans SC" panose="020B0200000000000000" pitchFamily="34" charset="-122"/>
                <a:ea typeface="Noto Sans SC" panose="020B0200000000000000" pitchFamily="34" charset="-122"/>
              </a:rPr>
              <a:t>为了计算</a:t>
            </a:r>
            <a:r>
              <a:rPr lang="en-US" altLang="zh-CN" sz="2400" b="1" dirty="0">
                <a:latin typeface="Noto Sans SC" panose="020B0200000000000000" pitchFamily="34" charset="-122"/>
                <a:ea typeface="Noto Sans SC" panose="020B0200000000000000" pitchFamily="34" charset="-122"/>
              </a:rPr>
              <a:t>XYZ</a:t>
            </a:r>
            <a:r>
              <a:rPr lang="zh-CN" altLang="en-US" sz="2400" b="1" dirty="0">
                <a:latin typeface="Noto Sans SC" panose="020B0200000000000000" pitchFamily="34" charset="-122"/>
                <a:ea typeface="Noto Sans SC" panose="020B0200000000000000" pitchFamily="34" charset="-122"/>
              </a:rPr>
              <a:t>颜色，我们要模拟完整的光谱在空间中传输吗？</a:t>
            </a:r>
            <a:endParaRPr lang="en-US" altLang="zh-CN" sz="2400" b="1" dirty="0">
              <a:latin typeface="Noto Sans SC" panose="020B0200000000000000" pitchFamily="34" charset="-122"/>
              <a:ea typeface="Noto Sans SC" panose="020B0200000000000000" pitchFamily="34" charset="-122"/>
            </a:endParaRPr>
          </a:p>
          <a:p>
            <a:pPr algn="ctr"/>
            <a:r>
              <a:rPr lang="en-US" altLang="zh-CN" sz="2400" b="1" dirty="0">
                <a:latin typeface="Noto Sans SC" panose="020B0200000000000000" pitchFamily="34" charset="-122"/>
                <a:ea typeface="Noto Sans SC" panose="020B0200000000000000" pitchFamily="34" charset="-122"/>
              </a:rPr>
              <a:t>Monte Carlo</a:t>
            </a:r>
            <a:r>
              <a:rPr lang="zh-CN" altLang="en-US" sz="2400" b="1" dirty="0">
                <a:latin typeface="Noto Sans SC" panose="020B0200000000000000" pitchFamily="34" charset="-122"/>
                <a:ea typeface="Noto Sans SC" panose="020B0200000000000000" pitchFamily="34" charset="-122"/>
              </a:rPr>
              <a:t>？</a:t>
            </a:r>
            <a:endParaRPr lang="en-US" altLang="zh-CN" sz="2400" b="1" dirty="0">
              <a:latin typeface="Noto Sans SC" panose="020B0200000000000000" pitchFamily="34" charset="-122"/>
              <a:ea typeface="Noto Sans SC" panose="020B0200000000000000" pitchFamily="34" charset="-122"/>
            </a:endParaRPr>
          </a:p>
        </p:txBody>
      </p:sp>
      <p:sp>
        <p:nvSpPr>
          <p:cNvPr id="7" name="文本框 6">
            <a:extLst>
              <a:ext uri="{FF2B5EF4-FFF2-40B4-BE49-F238E27FC236}">
                <a16:creationId xmlns:a16="http://schemas.microsoft.com/office/drawing/2014/main" id="{F2FCADB8-9C7A-6CD6-CC9B-AB5CA830BFCA}"/>
              </a:ext>
            </a:extLst>
          </p:cNvPr>
          <p:cNvSpPr txBox="1"/>
          <p:nvPr/>
        </p:nvSpPr>
        <p:spPr>
          <a:xfrm>
            <a:off x="403535" y="1582903"/>
            <a:ext cx="5692462" cy="3416320"/>
          </a:xfrm>
          <a:prstGeom prst="rect">
            <a:avLst/>
          </a:prstGeom>
          <a:noFill/>
        </p:spPr>
        <p:txBody>
          <a:bodyPr wrap="square" rtlCol="0">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如果要模拟完整的光谱，为了满足后续计算的要求，需要表示出每个波长对应的值，也就是选择</a:t>
            </a:r>
            <a:r>
              <a:rPr lang="en-US" altLang="zh-CN" dirty="0">
                <a:latin typeface="Noto Sans SC" panose="020B0200000000000000" pitchFamily="34" charset="-122"/>
                <a:ea typeface="Noto Sans SC" panose="020B0200000000000000" pitchFamily="34" charset="-122"/>
              </a:rPr>
              <a:t>Densely Sampled Spectrum</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首先光源会从</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3</a:t>
            </a:r>
            <a:r>
              <a:rPr lang="zh-CN" altLang="en-US" dirty="0">
                <a:latin typeface="Noto Sans SC" panose="020B0200000000000000" pitchFamily="34" charset="-122"/>
                <a:ea typeface="Noto Sans SC" panose="020B0200000000000000" pitchFamily="34" charset="-122"/>
              </a:rPr>
              <a:t>个分量变为</a:t>
            </a:r>
            <a:r>
              <a:rPr lang="en-US" altLang="zh-CN" dirty="0">
                <a:latin typeface="Noto Sans SC" panose="020B0200000000000000" pitchFamily="34" charset="-122"/>
                <a:ea typeface="Noto Sans SC" panose="020B0200000000000000" pitchFamily="34" charset="-122"/>
              </a:rPr>
              <a:t>830-360=470</a:t>
            </a:r>
            <a:r>
              <a:rPr lang="zh-CN" altLang="en-US" dirty="0">
                <a:latin typeface="Noto Sans SC" panose="020B0200000000000000" pitchFamily="34" charset="-122"/>
                <a:ea typeface="Noto Sans SC" panose="020B0200000000000000" pitchFamily="34" charset="-122"/>
              </a:rPr>
              <a:t>个分量。同时，在计算物体表面的</a:t>
            </a:r>
            <a:r>
              <a:rPr lang="en-US" altLang="zh-CN" dirty="0">
                <a:latin typeface="Noto Sans SC" panose="020B0200000000000000" pitchFamily="34" charset="-122"/>
                <a:ea typeface="Noto Sans SC" panose="020B0200000000000000" pitchFamily="34" charset="-122"/>
              </a:rPr>
              <a:t>BSDF</a:t>
            </a:r>
            <a:r>
              <a:rPr lang="zh-CN" altLang="en-US" dirty="0">
                <a:latin typeface="Noto Sans SC" panose="020B0200000000000000" pitchFamily="34" charset="-122"/>
                <a:ea typeface="Noto Sans SC" panose="020B0200000000000000" pitchFamily="34" charset="-122"/>
              </a:rPr>
              <a:t>时，也会从</a:t>
            </a:r>
            <a:r>
              <a:rPr lang="en-US" altLang="zh-CN" dirty="0">
                <a:latin typeface="Noto Sans SC" panose="020B0200000000000000" pitchFamily="34" charset="-122"/>
                <a:ea typeface="Noto Sans SC" panose="020B0200000000000000" pitchFamily="34" charset="-122"/>
              </a:rPr>
              <a:t>3</a:t>
            </a:r>
            <a:r>
              <a:rPr lang="zh-CN" altLang="en-US" dirty="0">
                <a:latin typeface="Noto Sans SC" panose="020B0200000000000000" pitchFamily="34" charset="-122"/>
                <a:ea typeface="Noto Sans SC" panose="020B0200000000000000" pitchFamily="34" charset="-122"/>
              </a:rPr>
              <a:t>个分量变为</a:t>
            </a:r>
            <a:r>
              <a:rPr lang="en-US" altLang="zh-CN" dirty="0">
                <a:latin typeface="Noto Sans SC" panose="020B0200000000000000" pitchFamily="34" charset="-122"/>
                <a:ea typeface="Noto Sans SC" panose="020B0200000000000000" pitchFamily="34" charset="-122"/>
              </a:rPr>
              <a:t>470</a:t>
            </a:r>
            <a:r>
              <a:rPr lang="zh-CN" altLang="en-US" dirty="0">
                <a:latin typeface="Noto Sans SC" panose="020B0200000000000000" pitchFamily="34" charset="-122"/>
                <a:ea typeface="Noto Sans SC" panose="020B0200000000000000" pitchFamily="34" charset="-122"/>
              </a:rPr>
              <a:t>个分量。后续，在路径追踪渲染其中，路径的吞吐量</a:t>
            </a:r>
            <a:r>
              <a:rPr lang="en-US" altLang="zh-CN" dirty="0">
                <a:latin typeface="Noto Sans SC" panose="020B0200000000000000" pitchFamily="34" charset="-122"/>
                <a:ea typeface="Noto Sans SC" panose="020B0200000000000000" pitchFamily="34" charset="-122"/>
              </a:rPr>
              <a:t>beta</a:t>
            </a:r>
            <a:r>
              <a:rPr lang="zh-CN" altLang="en-US" dirty="0">
                <a:latin typeface="Noto Sans SC" panose="020B0200000000000000" pitchFamily="34" charset="-122"/>
                <a:ea typeface="Noto Sans SC" panose="020B0200000000000000" pitchFamily="34" charset="-122"/>
              </a:rPr>
              <a:t>以及最终光照</a:t>
            </a:r>
            <a:r>
              <a:rPr lang="en-US" altLang="zh-CN" dirty="0">
                <a:latin typeface="Noto Sans SC" panose="020B0200000000000000" pitchFamily="34" charset="-122"/>
                <a:ea typeface="Noto Sans SC" panose="020B0200000000000000" pitchFamily="34" charset="-122"/>
              </a:rPr>
              <a:t>L</a:t>
            </a:r>
            <a:r>
              <a:rPr lang="zh-CN" altLang="en-US" dirty="0">
                <a:latin typeface="Noto Sans SC" panose="020B0200000000000000" pitchFamily="34" charset="-122"/>
                <a:ea typeface="Noto Sans SC" panose="020B0200000000000000" pitchFamily="34" charset="-122"/>
              </a:rPr>
              <a:t>都会增加到</a:t>
            </a:r>
            <a:r>
              <a:rPr lang="en-US" altLang="zh-CN" dirty="0">
                <a:latin typeface="Noto Sans SC" panose="020B0200000000000000" pitchFamily="34" charset="-122"/>
                <a:ea typeface="Noto Sans SC" panose="020B0200000000000000" pitchFamily="34" charset="-122"/>
              </a:rPr>
              <a:t>470</a:t>
            </a:r>
            <a:r>
              <a:rPr lang="zh-CN" altLang="en-US" dirty="0">
                <a:latin typeface="Noto Sans SC" panose="020B0200000000000000" pitchFamily="34" charset="-122"/>
                <a:ea typeface="Noto Sans SC" panose="020B0200000000000000" pitchFamily="34" charset="-122"/>
              </a:rPr>
              <a:t>个分量。</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a:t>
            </a:r>
            <a:r>
              <a:rPr lang="zh-CN" altLang="en-US" b="1" dirty="0">
                <a:latin typeface="Noto Sans SC" panose="020B0200000000000000" pitchFamily="34" charset="-122"/>
                <a:ea typeface="Noto Sans SC" panose="020B0200000000000000" pitchFamily="34" charset="-122"/>
              </a:rPr>
              <a:t>增加的计算量似乎并不是不能接受</a:t>
            </a:r>
            <a:r>
              <a:rPr lang="en-US" altLang="zh-CN" b="1" dirty="0">
                <a:latin typeface="Noto Sans SC" panose="020B0200000000000000" pitchFamily="34" charset="-122"/>
                <a:ea typeface="Noto Sans SC" panose="020B0200000000000000" pitchFamily="34" charset="-122"/>
              </a:rPr>
              <a:t>? </a:t>
            </a: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b="1" dirty="0">
                <a:latin typeface="Noto Sans SC" panose="020B0200000000000000" pitchFamily="34" charset="-122"/>
                <a:ea typeface="Noto Sans SC" panose="020B0200000000000000" pitchFamily="34" charset="-122"/>
              </a:rPr>
              <a:t>那还有必要引入</a:t>
            </a:r>
            <a:r>
              <a:rPr lang="en-US" altLang="zh-CN" b="1" dirty="0">
                <a:latin typeface="Noto Sans SC" panose="020B0200000000000000" pitchFamily="34" charset="-122"/>
                <a:ea typeface="Noto Sans SC" panose="020B0200000000000000" pitchFamily="34" charset="-122"/>
              </a:rPr>
              <a:t>Monte Carlo</a:t>
            </a:r>
            <a:r>
              <a:rPr lang="zh-CN" altLang="en-US" b="1" dirty="0">
                <a:latin typeface="Noto Sans SC" panose="020B0200000000000000" pitchFamily="34" charset="-122"/>
                <a:ea typeface="Noto Sans SC" panose="020B0200000000000000" pitchFamily="34" charset="-122"/>
              </a:rPr>
              <a:t>吗？</a:t>
            </a:r>
            <a:endParaRPr lang="en-US" altLang="zh-CN" b="1" dirty="0">
              <a:latin typeface="Noto Sans SC" panose="020B0200000000000000" pitchFamily="34" charset="-122"/>
              <a:ea typeface="Noto Sans SC" panose="020B0200000000000000" pitchFamily="34" charset="-122"/>
            </a:endParaRPr>
          </a:p>
        </p:txBody>
      </p:sp>
      <p:pic>
        <p:nvPicPr>
          <p:cNvPr id="12" name="图片 11">
            <a:extLst>
              <a:ext uri="{FF2B5EF4-FFF2-40B4-BE49-F238E27FC236}">
                <a16:creationId xmlns:a16="http://schemas.microsoft.com/office/drawing/2014/main" id="{F52EFA97-D061-E9CF-501D-9E7C976D4920}"/>
              </a:ext>
            </a:extLst>
          </p:cNvPr>
          <p:cNvPicPr>
            <a:picLocks noChangeAspect="1"/>
          </p:cNvPicPr>
          <p:nvPr/>
        </p:nvPicPr>
        <p:blipFill>
          <a:blip r:embed="rId7"/>
          <a:stretch>
            <a:fillRect/>
          </a:stretch>
        </p:blipFill>
        <p:spPr>
          <a:xfrm>
            <a:off x="6600460" y="854047"/>
            <a:ext cx="4895580" cy="22334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图片 15">
            <a:extLst>
              <a:ext uri="{FF2B5EF4-FFF2-40B4-BE49-F238E27FC236}">
                <a16:creationId xmlns:a16="http://schemas.microsoft.com/office/drawing/2014/main" id="{87F2AAD2-9F1E-A3DF-27DF-F21529A15676}"/>
              </a:ext>
            </a:extLst>
          </p:cNvPr>
          <p:cNvPicPr>
            <a:picLocks noChangeAspect="1"/>
          </p:cNvPicPr>
          <p:nvPr/>
        </p:nvPicPr>
        <p:blipFill>
          <a:blip r:embed="rId8"/>
          <a:stretch>
            <a:fillRect/>
          </a:stretch>
        </p:blipFill>
        <p:spPr>
          <a:xfrm>
            <a:off x="6372164" y="3429000"/>
            <a:ext cx="5352171" cy="1464273"/>
          </a:xfrm>
          <a:prstGeom prst="rect">
            <a:avLst/>
          </a:prstGeom>
        </p:spPr>
      </p:pic>
    </p:spTree>
    <p:extLst>
      <p:ext uri="{BB962C8B-B14F-4D97-AF65-F5344CB8AC3E}">
        <p14:creationId xmlns:p14="http://schemas.microsoft.com/office/powerpoint/2010/main" val="59647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CEF8C-01F2-0C82-B086-AC9F55D2BC5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CCDB56A-7649-0BA1-C39C-BBDFA18B1140}"/>
              </a:ext>
            </a:extLst>
          </p:cNvPr>
          <p:cNvSpPr>
            <a:spLocks noGrp="1"/>
          </p:cNvSpPr>
          <p:nvPr>
            <p:ph type="title" idx="1"/>
          </p:nvPr>
        </p:nvSpPr>
        <p:spPr/>
        <p:txBody>
          <a:bodyPr/>
          <a:lstStyle/>
          <a:p>
            <a:r>
              <a:rPr lang="zh-CN" altLang="en-US" dirty="0"/>
              <a:t>光谱如何参与渲染</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CF4313A-5117-7DF3-CE16-35071F01F907}"/>
                  </a:ext>
                </a:extLst>
              </p:cNvPr>
              <p:cNvSpPr txBox="1"/>
              <p:nvPr/>
            </p:nvSpPr>
            <p:spPr>
              <a:xfrm>
                <a:off x="-540923" y="1632951"/>
                <a:ext cx="8150716" cy="1243097"/>
              </a:xfrm>
              <a:prstGeom prst="rect">
                <a:avLst/>
              </a:prstGeom>
              <a:noFill/>
            </p:spPr>
            <p:txBody>
              <a:bodyPr wrap="square">
                <a:spAutoFit/>
              </a:bodyPr>
              <a:lstStyle/>
              <a:p>
                <a:pPr/>
                <a14:m>
                  <m:oMathPara xmlns:m="http://schemas.openxmlformats.org/officeDocument/2006/math">
                    <m:oMath>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𝑜</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𝑝</m:t>
                          </m:r>
                          <m:r>
                            <a:rPr lang="en-US" altLang="zh-CN" b="0" i="1" smtClean="0">
                              <a:latin typeface="Cambria Math" panose="02040503050406030204" pitchFamily="18" charset="0"/>
                              <a:ea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𝑜</m:t>
                              </m:r>
                            </m:sub>
                          </m:sSub>
                          <m:r>
                            <a:rPr lang="en-US" altLang="zh-CN" i="1">
                              <a:latin typeface="Cambria Math" panose="02040503050406030204" pitchFamily="18" charset="0"/>
                              <a:ea typeface="Cambria Math" panose="02040503050406030204" pitchFamily="18" charset="0"/>
                            </a:rPr>
                            <m:t>,</m:t>
                          </m:r>
                          <m:r>
                            <a:rPr lang="en-US" altLang="zh-CN" i="1" smtClean="0">
                              <a:solidFill>
                                <a:srgbClr val="FF0000"/>
                              </a:solidFill>
                              <a:latin typeface="Cambria Math" panose="02040503050406030204" pitchFamily="18" charset="0"/>
                              <a:ea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sSub>
                        <m:sSubPr>
                          <m:ctrlPr>
                            <a:rPr lang="en-US" altLang="zh-CN" i="1">
                              <a:solidFill>
                                <a:schemeClr val="accent3"/>
                              </a:solidFill>
                              <a:latin typeface="Cambria Math" panose="02040503050406030204" pitchFamily="18" charset="0"/>
                              <a:ea typeface="Cambria Math" panose="02040503050406030204" pitchFamily="18" charset="0"/>
                            </a:rPr>
                          </m:ctrlPr>
                        </m:sSubPr>
                        <m:e>
                          <m:r>
                            <a:rPr lang="en-US" altLang="zh-CN" i="1">
                              <a:solidFill>
                                <a:schemeClr val="accent3"/>
                              </a:solidFill>
                              <a:latin typeface="Cambria Math" panose="02040503050406030204" pitchFamily="18" charset="0"/>
                              <a:ea typeface="Cambria Math" panose="02040503050406030204" pitchFamily="18" charset="0"/>
                            </a:rPr>
                            <m:t>𝐿</m:t>
                          </m:r>
                        </m:e>
                        <m:sub>
                          <m:r>
                            <a:rPr lang="en-US" altLang="zh-CN" i="1">
                              <a:solidFill>
                                <a:schemeClr val="accent3"/>
                              </a:solidFill>
                              <a:latin typeface="Cambria Math" panose="02040503050406030204" pitchFamily="18" charset="0"/>
                              <a:ea typeface="Cambria Math" panose="02040503050406030204" pitchFamily="18" charset="0"/>
                            </a:rPr>
                            <m:t>𝑒</m:t>
                          </m:r>
                        </m:sub>
                      </m:sSub>
                      <m:d>
                        <m:dPr>
                          <m:ctrlPr>
                            <a:rPr lang="en-US" altLang="zh-CN" i="1">
                              <a:solidFill>
                                <a:schemeClr val="accent3"/>
                              </a:solidFill>
                              <a:latin typeface="Cambria Math" panose="02040503050406030204" pitchFamily="18" charset="0"/>
                              <a:ea typeface="Cambria Math" panose="02040503050406030204" pitchFamily="18" charset="0"/>
                            </a:rPr>
                          </m:ctrlPr>
                        </m:dPr>
                        <m:e>
                          <m:r>
                            <a:rPr lang="en-US" altLang="zh-CN" i="1">
                              <a:solidFill>
                                <a:schemeClr val="accent3"/>
                              </a:solidFill>
                              <a:latin typeface="Cambria Math" panose="02040503050406030204" pitchFamily="18" charset="0"/>
                              <a:ea typeface="Cambria Math" panose="02040503050406030204" pitchFamily="18" charset="0"/>
                            </a:rPr>
                            <m:t>𝑝</m:t>
                          </m:r>
                          <m:r>
                            <a:rPr lang="en-US" altLang="zh-CN" i="1">
                              <a:solidFill>
                                <a:schemeClr val="accent3"/>
                              </a:solidFill>
                              <a:latin typeface="Cambria Math" panose="02040503050406030204" pitchFamily="18" charset="0"/>
                              <a:ea typeface="Cambria Math" panose="02040503050406030204" pitchFamily="18" charset="0"/>
                            </a:rPr>
                            <m:t>,</m:t>
                          </m:r>
                          <m:sSub>
                            <m:sSubPr>
                              <m:ctrlPr>
                                <a:rPr lang="zh-CN" altLang="en-US" i="1">
                                  <a:solidFill>
                                    <a:schemeClr val="accent3"/>
                                  </a:solidFill>
                                  <a:latin typeface="Cambria Math" panose="02040503050406030204" pitchFamily="18" charset="0"/>
                                </a:rPr>
                              </m:ctrlPr>
                            </m:sSubPr>
                            <m:e>
                              <m:r>
                                <a:rPr lang="zh-CN" altLang="en-US" i="1">
                                  <a:solidFill>
                                    <a:schemeClr val="accent3"/>
                                  </a:solidFill>
                                  <a:latin typeface="Cambria Math" panose="02040503050406030204" pitchFamily="18" charset="0"/>
                                </a:rPr>
                                <m:t>𝜔</m:t>
                              </m:r>
                            </m:e>
                            <m:sub>
                              <m:r>
                                <a:rPr lang="en-US" altLang="zh-CN" i="1">
                                  <a:solidFill>
                                    <a:schemeClr val="accent3"/>
                                  </a:solidFill>
                                  <a:latin typeface="Cambria Math" panose="02040503050406030204" pitchFamily="18" charset="0"/>
                                  <a:ea typeface="Cambria Math" panose="02040503050406030204" pitchFamily="18" charset="0"/>
                                </a:rPr>
                                <m:t>𝑜</m:t>
                              </m:r>
                            </m:sub>
                          </m:sSub>
                          <m:r>
                            <a:rPr lang="en-US" altLang="zh-CN" i="1">
                              <a:solidFill>
                                <a:schemeClr val="accent3"/>
                              </a:solidFill>
                              <a:latin typeface="Cambria Math" panose="02040503050406030204" pitchFamily="18" charset="0"/>
                              <a:ea typeface="Cambria Math" panose="02040503050406030204" pitchFamily="18" charset="0"/>
                            </a:rPr>
                            <m:t>,</m:t>
                          </m:r>
                          <m:r>
                            <a:rPr lang="en-US" altLang="zh-CN" i="1" smtClean="0">
                              <a:solidFill>
                                <a:srgbClr val="FF0000"/>
                              </a:solidFill>
                              <a:latin typeface="Cambria Math" panose="02040503050406030204" pitchFamily="18" charset="0"/>
                              <a:ea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nary>
                        <m:naryPr>
                          <m:ctrlPr>
                            <a:rPr lang="en-US" altLang="zh-CN" i="1">
                              <a:latin typeface="Cambria Math" panose="02040503050406030204" pitchFamily="18" charset="0"/>
                              <a:ea typeface="Cambria Math" panose="02040503050406030204" pitchFamily="18" charset="0"/>
                            </a:rPr>
                          </m:ctrlPr>
                        </m:naryPr>
                        <m:sub>
                          <m:sSup>
                            <m:sSupPr>
                              <m:ctrlPr>
                                <a:rPr lang="en-US" altLang="zh-CN" i="1">
                                  <a:latin typeface="Cambria Math" panose="02040503050406030204" pitchFamily="18" charset="0"/>
                                  <a:ea typeface="Cambria Math" panose="02040503050406030204" pitchFamily="18" charset="0"/>
                                </a:rPr>
                              </m:ctrlPr>
                            </m:sSupPr>
                            <m:e>
                              <m:r>
                                <a:rPr lang="en-US" altLang="zh-CN" i="1">
                                  <a:latin typeface="Cambria Math" panose="02040503050406030204" pitchFamily="18" charset="0"/>
                                  <a:ea typeface="Cambria Math" panose="02040503050406030204" pitchFamily="18" charset="0"/>
                                </a:rPr>
                                <m:t>𝐻</m:t>
                              </m:r>
                            </m:e>
                            <m:sup>
                              <m:r>
                                <a:rPr lang="en-US" altLang="zh-CN" i="1">
                                  <a:latin typeface="Cambria Math" panose="02040503050406030204" pitchFamily="18" charset="0"/>
                                  <a:ea typeface="Cambria Math" panose="02040503050406030204" pitchFamily="18" charset="0"/>
                                </a:rPr>
                                <m:t>2</m:t>
                              </m:r>
                            </m:sup>
                          </m:sSup>
                        </m:sub>
                        <m:sup>
                          <m:r>
                            <a:rPr lang="en-US" altLang="zh-CN" i="1">
                              <a:latin typeface="Cambria Math" panose="02040503050406030204" pitchFamily="18" charset="0"/>
                              <a:ea typeface="Cambria Math" panose="02040503050406030204" pitchFamily="18" charset="0"/>
                            </a:rPr>
                            <m:t> </m:t>
                          </m:r>
                        </m:sup>
                        <m:e>
                          <m:r>
                            <a:rPr lang="en-US" altLang="zh-CN" i="1">
                              <a:latin typeface="Cambria Math" panose="02040503050406030204" pitchFamily="18" charset="0"/>
                              <a:ea typeface="Cambria Math" panose="02040503050406030204" pitchFamily="18" charset="0"/>
                            </a:rPr>
                            <m:t>𝑓</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𝑜</m:t>
                                  </m:r>
                                </m:sub>
                              </m:sSub>
                              <m:r>
                                <a:rPr lang="en-US" altLang="zh-CN" i="1">
                                  <a:latin typeface="Cambria Math" panose="02040503050406030204" pitchFamily="18" charset="0"/>
                                  <a:ea typeface="Cambria Math" panose="02040503050406030204" pitchFamily="18" charset="0"/>
                                </a:rPr>
                                <m:t>,</m:t>
                              </m:r>
                              <m:r>
                                <a:rPr lang="en-US" altLang="zh-CN" i="1" smtClean="0">
                                  <a:solidFill>
                                    <a:srgbClr val="FF0000"/>
                                  </a:solidFill>
                                  <a:latin typeface="Cambria Math" panose="02040503050406030204" pitchFamily="18" charset="0"/>
                                  <a:ea typeface="Cambria Math" panose="02040503050406030204" pitchFamily="18" charset="0"/>
                                </a:rPr>
                                <m:t>𝜆</m:t>
                              </m:r>
                            </m:e>
                          </m:d>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𝑖</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𝑝</m:t>
                              </m:r>
                              <m:r>
                                <a:rPr lang="en-US" altLang="zh-CN" i="1">
                                  <a:latin typeface="Cambria Math" panose="02040503050406030204" pitchFamily="18" charset="0"/>
                                  <a:ea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r>
                                <a:rPr lang="en-US" altLang="zh-CN" i="1" smtClean="0">
                                  <a:solidFill>
                                    <a:srgbClr val="FF0000"/>
                                  </a:solidFill>
                                  <a:latin typeface="Cambria Math" panose="02040503050406030204" pitchFamily="18" charset="0"/>
                                  <a:ea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𝑛</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𝑑</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𝑖</m:t>
                              </m:r>
                            </m:sub>
                          </m:sSub>
                        </m:e>
                      </m:nary>
                    </m:oMath>
                  </m:oMathPara>
                </a14:m>
                <a:endParaRPr lang="en-US" altLang="zh-CN" i="1" dirty="0">
                  <a:latin typeface="Cambria Math" panose="02040503050406030204" pitchFamily="18" charset="0"/>
                  <a:ea typeface="Cambria Math" panose="02040503050406030204" pitchFamily="18" charset="0"/>
                </a:endParaRPr>
              </a:p>
              <a:p>
                <a:pPr/>
                <a14:m>
                  <m:oMathPara xmlns:m="http://schemas.openxmlformats.org/officeDocument/2006/math">
                    <m:oMath>
                      <m:r>
                        <a:rPr lang="en-US" altLang="zh-CN" b="0" i="1"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sSub>
                        <m:sSubPr>
                          <m:ctrlPr>
                            <a:rPr lang="en-US" altLang="zh-CN" i="1">
                              <a:solidFill>
                                <a:schemeClr val="accent3"/>
                              </a:solidFill>
                              <a:latin typeface="Cambria Math" panose="02040503050406030204" pitchFamily="18" charset="0"/>
                              <a:ea typeface="Cambria Math" panose="02040503050406030204" pitchFamily="18" charset="0"/>
                            </a:rPr>
                          </m:ctrlPr>
                        </m:sSubPr>
                        <m:e>
                          <m:r>
                            <a:rPr lang="en-US" altLang="zh-CN" i="1">
                              <a:solidFill>
                                <a:schemeClr val="accent3"/>
                              </a:solidFill>
                              <a:latin typeface="Cambria Math" panose="02040503050406030204" pitchFamily="18" charset="0"/>
                              <a:ea typeface="Cambria Math" panose="02040503050406030204" pitchFamily="18" charset="0"/>
                            </a:rPr>
                            <m:t>𝐿</m:t>
                          </m:r>
                        </m:e>
                        <m:sub>
                          <m:r>
                            <a:rPr lang="en-US" altLang="zh-CN" i="1">
                              <a:solidFill>
                                <a:schemeClr val="accent3"/>
                              </a:solidFill>
                              <a:latin typeface="Cambria Math" panose="02040503050406030204" pitchFamily="18" charset="0"/>
                              <a:ea typeface="Cambria Math" panose="02040503050406030204" pitchFamily="18" charset="0"/>
                            </a:rPr>
                            <m:t>𝑒</m:t>
                          </m:r>
                        </m:sub>
                      </m:sSub>
                      <m:d>
                        <m:dPr>
                          <m:ctrlPr>
                            <a:rPr lang="en-US" altLang="zh-CN" i="1">
                              <a:solidFill>
                                <a:schemeClr val="accent3"/>
                              </a:solidFill>
                              <a:latin typeface="Cambria Math" panose="02040503050406030204" pitchFamily="18" charset="0"/>
                              <a:ea typeface="Cambria Math" panose="02040503050406030204" pitchFamily="18" charset="0"/>
                            </a:rPr>
                          </m:ctrlPr>
                        </m:dPr>
                        <m:e>
                          <m:r>
                            <a:rPr lang="en-US" altLang="zh-CN" i="1">
                              <a:solidFill>
                                <a:schemeClr val="accent3"/>
                              </a:solidFill>
                              <a:latin typeface="Cambria Math" panose="02040503050406030204" pitchFamily="18" charset="0"/>
                              <a:ea typeface="Cambria Math" panose="02040503050406030204" pitchFamily="18" charset="0"/>
                            </a:rPr>
                            <m:t>𝑝</m:t>
                          </m:r>
                          <m:r>
                            <a:rPr lang="en-US" altLang="zh-CN" i="1">
                              <a:solidFill>
                                <a:schemeClr val="accent3"/>
                              </a:solidFill>
                              <a:latin typeface="Cambria Math" panose="02040503050406030204" pitchFamily="18" charset="0"/>
                              <a:ea typeface="Cambria Math" panose="02040503050406030204" pitchFamily="18" charset="0"/>
                            </a:rPr>
                            <m:t>,</m:t>
                          </m:r>
                          <m:sSub>
                            <m:sSubPr>
                              <m:ctrlPr>
                                <a:rPr lang="zh-CN" altLang="en-US" i="1">
                                  <a:solidFill>
                                    <a:schemeClr val="accent3"/>
                                  </a:solidFill>
                                  <a:latin typeface="Cambria Math" panose="02040503050406030204" pitchFamily="18" charset="0"/>
                                </a:rPr>
                              </m:ctrlPr>
                            </m:sSubPr>
                            <m:e>
                              <m:r>
                                <a:rPr lang="zh-CN" altLang="en-US" i="1">
                                  <a:solidFill>
                                    <a:schemeClr val="accent3"/>
                                  </a:solidFill>
                                  <a:latin typeface="Cambria Math" panose="02040503050406030204" pitchFamily="18" charset="0"/>
                                </a:rPr>
                                <m:t>𝜔</m:t>
                              </m:r>
                            </m:e>
                            <m:sub>
                              <m:r>
                                <a:rPr lang="en-US" altLang="zh-CN" i="1">
                                  <a:solidFill>
                                    <a:schemeClr val="accent3"/>
                                  </a:solidFill>
                                  <a:latin typeface="Cambria Math" panose="02040503050406030204" pitchFamily="18" charset="0"/>
                                  <a:ea typeface="Cambria Math" panose="02040503050406030204" pitchFamily="18" charset="0"/>
                                </a:rPr>
                                <m:t>𝑜</m:t>
                              </m:r>
                            </m:sub>
                          </m:sSub>
                          <m:r>
                            <a:rPr lang="en-US" altLang="zh-CN" i="1">
                              <a:solidFill>
                                <a:schemeClr val="accent3"/>
                              </a:solidFill>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𝜆</m:t>
                          </m:r>
                        </m:e>
                      </m:d>
                      <m:r>
                        <a:rPr lang="en-US" altLang="zh-CN" i="1">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𝑓</m:t>
                          </m:r>
                          <m:d>
                            <m:dPr>
                              <m:ctrlPr>
                                <a:rPr lang="zh-CN" altLang="en-US" i="1">
                                  <a:latin typeface="Cambria Math" panose="02040503050406030204" pitchFamily="18" charset="0"/>
                                </a:rPr>
                              </m:ctrlPr>
                            </m:dPr>
                            <m:e>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𝑜</m:t>
                                  </m:r>
                                </m:sub>
                              </m:sSub>
                              <m:r>
                                <a:rPr lang="en-US" altLang="zh-CN" i="1">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𝜆</m:t>
                              </m:r>
                            </m:e>
                          </m:d>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𝐿</m:t>
                              </m:r>
                            </m:e>
                            <m:sub>
                              <m:r>
                                <a:rPr lang="en-US" altLang="zh-CN" i="1">
                                  <a:latin typeface="Cambria Math" panose="02040503050406030204" pitchFamily="18" charset="0"/>
                                  <a:ea typeface="Cambria Math" panose="02040503050406030204" pitchFamily="18" charset="0"/>
                                </a:rPr>
                                <m:t>𝑖</m:t>
                              </m:r>
                            </m:sub>
                          </m:sSub>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𝑝</m:t>
                              </m:r>
                              <m:r>
                                <a:rPr lang="en-US" altLang="zh-CN" i="1">
                                  <a:latin typeface="Cambria Math" panose="02040503050406030204" pitchFamily="18" charset="0"/>
                                  <a:ea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𝜔</m:t>
                                  </m:r>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ea typeface="Cambria Math" panose="02040503050406030204" pitchFamily="18" charset="0"/>
                                </a:rPr>
                                <m:t>,</m:t>
                              </m:r>
                              <m:r>
                                <a:rPr lang="en-US" altLang="zh-CN" i="1">
                                  <a:solidFill>
                                    <a:srgbClr val="FF0000"/>
                                  </a:solidFill>
                                  <a:latin typeface="Cambria Math" panose="02040503050406030204" pitchFamily="18" charset="0"/>
                                  <a:ea typeface="Cambria Math" panose="02040503050406030204" pitchFamily="18" charset="0"/>
                                </a:rPr>
                                <m:t>𝜆</m:t>
                              </m:r>
                            </m:e>
                          </m:d>
                          <m:d>
                            <m:dPr>
                              <m:begChr m:val="|"/>
                              <m:endChr m:val="|"/>
                              <m:ctrlPr>
                                <a:rPr lang="zh-CN" altLang="en-US" i="1">
                                  <a:solidFill>
                                    <a:schemeClr val="tx1"/>
                                  </a:solidFill>
                                  <a:latin typeface="Cambria Math" panose="02040503050406030204" pitchFamily="18" charset="0"/>
                                </a:rPr>
                              </m:ctrlPr>
                            </m:dPr>
                            <m:e>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ea typeface="Cambria Math" panose="02040503050406030204" pitchFamily="18" charset="0"/>
                                    </a:rPr>
                                    <m:t>𝑖</m:t>
                                  </m:r>
                                </m:sub>
                              </m:sSub>
                              <m:r>
                                <a:rPr lang="en-US" altLang="zh-CN" i="1">
                                  <a:solidFill>
                                    <a:schemeClr val="tx1"/>
                                  </a:solidFill>
                                  <a:latin typeface="Cambria Math" panose="02040503050406030204" pitchFamily="18" charset="0"/>
                                  <a:ea typeface="Cambria Math" panose="02040503050406030204" pitchFamily="18" charset="0"/>
                                </a:rPr>
                                <m:t>∙</m:t>
                              </m:r>
                              <m:r>
                                <a:rPr lang="en-US" altLang="zh-CN" i="1">
                                  <a:solidFill>
                                    <a:schemeClr val="tx1"/>
                                  </a:solidFill>
                                  <a:latin typeface="Cambria Math" panose="02040503050406030204" pitchFamily="18" charset="0"/>
                                  <a:ea typeface="Cambria Math" panose="02040503050406030204" pitchFamily="18" charset="0"/>
                                </a:rPr>
                                <m:t>𝑛</m:t>
                              </m:r>
                            </m:e>
                          </m:d>
                        </m:num>
                        <m:den>
                          <m:r>
                            <a:rPr lang="en-US" altLang="zh-CN" b="0" i="1" smtClean="0">
                              <a:solidFill>
                                <a:schemeClr val="tx1"/>
                              </a:solidFill>
                              <a:latin typeface="Cambria Math" panose="02040503050406030204" pitchFamily="18" charset="0"/>
                              <a:ea typeface="Cambria Math" panose="02040503050406030204" pitchFamily="18" charset="0"/>
                            </a:rPr>
                            <m:t>𝑝</m:t>
                          </m:r>
                          <m:d>
                            <m:dPr>
                              <m:ctrlPr>
                                <a:rPr lang="en-US" altLang="zh-CN" b="0" i="1" smtClean="0">
                                  <a:solidFill>
                                    <a:schemeClr val="tx1"/>
                                  </a:solidFill>
                                  <a:latin typeface="Cambria Math" panose="02040503050406030204" pitchFamily="18" charset="0"/>
                                  <a:ea typeface="Cambria Math" panose="02040503050406030204" pitchFamily="18" charset="0"/>
                                </a:rPr>
                              </m:ctrlPr>
                            </m:dPr>
                            <m:e>
                              <m:sSub>
                                <m:sSubPr>
                                  <m:ctrlPr>
                                    <a:rPr lang="en-US" altLang="zh-CN" b="0" i="1" smtClean="0">
                                      <a:solidFill>
                                        <a:schemeClr val="tx1"/>
                                      </a:solidFill>
                                      <a:latin typeface="Cambria Math" panose="02040503050406030204" pitchFamily="18" charset="0"/>
                                      <a:ea typeface="Cambria Math" panose="02040503050406030204" pitchFamily="18" charset="0"/>
                                    </a:rPr>
                                  </m:ctrlPr>
                                </m:sSubPr>
                                <m:e>
                                  <m:r>
                                    <a:rPr lang="en-US" altLang="zh-CN" b="0" i="1" smtClean="0">
                                      <a:solidFill>
                                        <a:schemeClr val="tx1"/>
                                      </a:solidFill>
                                      <a:latin typeface="Cambria Math" panose="02040503050406030204" pitchFamily="18" charset="0"/>
                                      <a:ea typeface="Cambria Math" panose="02040503050406030204" pitchFamily="18" charset="0"/>
                                    </a:rPr>
                                    <m:t>𝜔</m:t>
                                  </m:r>
                                </m:e>
                                <m:sub>
                                  <m:r>
                                    <a:rPr lang="en-US" altLang="zh-CN" b="0" i="1" smtClean="0">
                                      <a:solidFill>
                                        <a:schemeClr val="tx1"/>
                                      </a:solidFill>
                                      <a:latin typeface="Cambria Math" panose="02040503050406030204" pitchFamily="18" charset="0"/>
                                      <a:ea typeface="Cambria Math" panose="02040503050406030204" pitchFamily="18" charset="0"/>
                                    </a:rPr>
                                    <m:t>𝑖</m:t>
                                  </m:r>
                                </m:sub>
                              </m:sSub>
                            </m:e>
                          </m:d>
                        </m:den>
                      </m:f>
                    </m:oMath>
                  </m:oMathPara>
                </a14:m>
                <a:endParaRPr lang="zh-CN" altLang="en-US" dirty="0"/>
              </a:p>
            </p:txBody>
          </p:sp>
        </mc:Choice>
        <mc:Fallback xmlns="">
          <p:sp>
            <p:nvSpPr>
              <p:cNvPr id="3" name="文本框 2">
                <a:extLst>
                  <a:ext uri="{FF2B5EF4-FFF2-40B4-BE49-F238E27FC236}">
                    <a16:creationId xmlns:a16="http://schemas.microsoft.com/office/drawing/2014/main" id="{4CF4313A-5117-7DF3-CE16-35071F01F907}"/>
                  </a:ext>
                </a:extLst>
              </p:cNvPr>
              <p:cNvSpPr txBox="1">
                <a:spLocks noRot="1" noChangeAspect="1" noMove="1" noResize="1" noEditPoints="1" noAdjustHandles="1" noChangeArrowheads="1" noChangeShapeType="1" noTextEdit="1"/>
              </p:cNvSpPr>
              <p:nvPr/>
            </p:nvSpPr>
            <p:spPr>
              <a:xfrm>
                <a:off x="-540923" y="1632951"/>
                <a:ext cx="8150716" cy="1243097"/>
              </a:xfrm>
              <a:prstGeom prst="rect">
                <a:avLst/>
              </a:prstGeom>
              <a:blipFill>
                <a:blip r:embed="rId2"/>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A0C8D1FE-CBC5-3156-1F25-A5F76D94D4CF}"/>
              </a:ext>
            </a:extLst>
          </p:cNvPr>
          <p:cNvSpPr txBox="1"/>
          <p:nvPr/>
        </p:nvSpPr>
        <p:spPr>
          <a:xfrm>
            <a:off x="316314" y="3429000"/>
            <a:ext cx="4985736" cy="1477328"/>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在求解渲染方程的时候，使用蒙特卡洛估计是迫不得已的选择，因为暴力求解积分需要指数增长的计算量。</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但是如果暴力模拟完整的光谱，似乎计算量并不是不能接受。</a:t>
            </a:r>
            <a:endParaRPr lang="en-US" altLang="zh-CN"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616A4DD-E67C-7A8B-8FB7-56819B65971B}"/>
                  </a:ext>
                </a:extLst>
              </p:cNvPr>
              <p:cNvSpPr txBox="1"/>
              <p:nvPr/>
            </p:nvSpPr>
            <p:spPr>
              <a:xfrm>
                <a:off x="6724742" y="1194882"/>
                <a:ext cx="5368076" cy="2119234"/>
              </a:xfrm>
              <a:prstGeom prst="rect">
                <a:avLst/>
              </a:prstGeom>
              <a:noFill/>
            </p:spPr>
            <p:txBody>
              <a:bodyPr wrap="square">
                <a:spAutoFit/>
              </a:bodyPr>
              <a:lstStyle/>
              <a:p>
                <a:pPr/>
                <a14:m>
                  <m:oMathPara xmlns:m="http://schemas.openxmlformats.org/officeDocument/2006/math">
                    <m:oMath>
                      <m:r>
                        <a:rPr lang="en-US" altLang="zh-CN" sz="1800" b="0" i="1" smtClean="0">
                          <a:latin typeface="Cambria Math" panose="02040503050406030204" pitchFamily="18" charset="0"/>
                        </a:rPr>
                        <m:t>𝑋</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b="0" i="1" smtClean="0">
                                  <a:latin typeface="Cambria Math" panose="02040503050406030204" pitchFamily="18" charset="0"/>
                                </a:rPr>
                              </m:ctrlPr>
                            </m:accPr>
                            <m:e>
                              <m:r>
                                <a:rPr lang="en-US" altLang="zh-CN" sz="1800" b="0" i="1" smtClean="0">
                                  <a:latin typeface="Cambria Math" panose="02040503050406030204" pitchFamily="18" charset="0"/>
                                </a:rPr>
                                <m:t>𝑥</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i="1">
                          <a:latin typeface="Cambria Math" panose="02040503050406030204" pitchFamily="18" charset="0"/>
                        </a:rPr>
                        <m:t>𝑋</m:t>
                      </m:r>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1</m:t>
                          </m:r>
                        </m:num>
                        <m:den>
                          <m:r>
                            <a:rPr lang="en-US" altLang="zh-CN" i="1" dirty="0">
                              <a:latin typeface="Cambria Math" panose="02040503050406030204" pitchFamily="18" charset="0"/>
                              <a:ea typeface="Cambria Math" panose="02040503050406030204" pitchFamily="18" charset="0"/>
                            </a:rPr>
                            <m:t>𝑁</m:t>
                          </m:r>
                        </m:den>
                      </m:f>
                      <m:nary>
                        <m:naryPr>
                          <m:chr m:val="∑"/>
                          <m:subHide m:val="on"/>
                          <m:supHide m:val="on"/>
                          <m:ctrlPr>
                            <a:rPr lang="en-US" altLang="zh-CN" i="1" dirty="0">
                              <a:latin typeface="Cambria Math" panose="02040503050406030204" pitchFamily="18" charset="0"/>
                              <a:ea typeface="Cambria Math" panose="02040503050406030204" pitchFamily="18" charset="0"/>
                            </a:rPr>
                          </m:ctrlPr>
                        </m:naryPr>
                        <m:sub/>
                        <m:sup/>
                        <m:e>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𝐿</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𝑥</m:t>
                                  </m:r>
                                </m:e>
                              </m:acc>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num>
                            <m:den>
                              <m:r>
                                <a:rPr lang="en-US" altLang="zh-CN" i="1" dirty="0">
                                  <a:latin typeface="Cambria Math" panose="02040503050406030204" pitchFamily="18" charset="0"/>
                                  <a:ea typeface="Cambria Math" panose="02040503050406030204" pitchFamily="18" charset="0"/>
                                </a:rPr>
                                <m:t>𝑝</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den>
                          </m:f>
                        </m:e>
                      </m:nary>
                    </m:oMath>
                  </m:oMathPara>
                </a14:m>
                <a:endParaRPr lang="en-US" altLang="zh-CN" sz="1800" b="0" i="1" dirty="0">
                  <a:latin typeface="Cambria Math" panose="02040503050406030204" pitchFamily="18" charset="0"/>
                </a:endParaRPr>
              </a:p>
              <a:p>
                <a:pPr/>
                <a14:m>
                  <m:oMathPara xmlns:m="http://schemas.openxmlformats.org/officeDocument/2006/math">
                    <m:oMath>
                      <m:r>
                        <a:rPr lang="en-US" altLang="zh-CN" sz="1800" b="0" i="1" dirty="0" smtClean="0">
                          <a:latin typeface="Cambria Math" panose="02040503050406030204" pitchFamily="18" charset="0"/>
                        </a:rPr>
                        <m:t> </m:t>
                      </m:r>
                      <m:r>
                        <a:rPr lang="en-US" altLang="zh-CN" sz="1800" i="1">
                          <a:latin typeface="Cambria Math" panose="02040503050406030204" pitchFamily="18" charset="0"/>
                        </a:rPr>
                        <m:t>𝑌</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i="1">
                                  <a:latin typeface="Cambria Math" panose="02040503050406030204" pitchFamily="18" charset="0"/>
                                </a:rPr>
                              </m:ctrlPr>
                            </m:accPr>
                            <m:e>
                              <m:r>
                                <a:rPr lang="en-US" altLang="zh-CN" sz="1800" i="1">
                                  <a:latin typeface="Cambria Math" panose="02040503050406030204" pitchFamily="18" charset="0"/>
                                </a:rPr>
                                <m:t>𝑦</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i="1">
                          <a:latin typeface="Cambria Math" panose="02040503050406030204" pitchFamily="18" charset="0"/>
                        </a:rPr>
                        <m:t>𝑌</m:t>
                      </m:r>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1</m:t>
                          </m:r>
                        </m:num>
                        <m:den>
                          <m:r>
                            <a:rPr lang="en-US" altLang="zh-CN" i="1" dirty="0">
                              <a:latin typeface="Cambria Math" panose="02040503050406030204" pitchFamily="18" charset="0"/>
                              <a:ea typeface="Cambria Math" panose="02040503050406030204" pitchFamily="18" charset="0"/>
                            </a:rPr>
                            <m:t>𝑁</m:t>
                          </m:r>
                        </m:den>
                      </m:f>
                      <m:nary>
                        <m:naryPr>
                          <m:chr m:val="∑"/>
                          <m:subHide m:val="on"/>
                          <m:supHide m:val="on"/>
                          <m:ctrlPr>
                            <a:rPr lang="en-US" altLang="zh-CN" i="1" dirty="0">
                              <a:latin typeface="Cambria Math" panose="02040503050406030204" pitchFamily="18" charset="0"/>
                              <a:ea typeface="Cambria Math" panose="02040503050406030204" pitchFamily="18" charset="0"/>
                            </a:rPr>
                          </m:ctrlPr>
                        </m:naryPr>
                        <m:sub/>
                        <m:sup/>
                        <m:e>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𝐿</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𝑦</m:t>
                                  </m:r>
                                </m:e>
                              </m:acc>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num>
                            <m:den>
                              <m:r>
                                <a:rPr lang="en-US" altLang="zh-CN" i="1" dirty="0">
                                  <a:latin typeface="Cambria Math" panose="02040503050406030204" pitchFamily="18" charset="0"/>
                                  <a:ea typeface="Cambria Math" panose="02040503050406030204" pitchFamily="18" charset="0"/>
                                </a:rPr>
                                <m:t>𝑝</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den>
                          </m:f>
                        </m:e>
                      </m:nary>
                    </m:oMath>
                  </m:oMathPara>
                </a14:m>
                <a:endParaRPr lang="en-US" altLang="zh-CN" sz="1800" b="0" i="1" dirty="0">
                  <a:latin typeface="Cambria Math" panose="02040503050406030204" pitchFamily="18" charset="0"/>
                </a:endParaRPr>
              </a:p>
              <a:p>
                <a:pPr/>
                <a14:m>
                  <m:oMathPara xmlns:m="http://schemas.openxmlformats.org/officeDocument/2006/math">
                    <m:oMath>
                      <m:r>
                        <a:rPr lang="en-US" altLang="zh-CN" sz="1800" b="0" i="1" smtClean="0">
                          <a:latin typeface="Cambria Math" panose="02040503050406030204" pitchFamily="18" charset="0"/>
                        </a:rPr>
                        <m:t>𝑍</m:t>
                      </m:r>
                      <m:r>
                        <a:rPr lang="en-US" altLang="zh-CN" sz="1800" i="1">
                          <a:latin typeface="Cambria Math" panose="02040503050406030204" pitchFamily="18" charset="0"/>
                        </a:rPr>
                        <m:t>=</m:t>
                      </m:r>
                      <m:nary>
                        <m:naryPr>
                          <m:subHide m:val="on"/>
                          <m:supHide m:val="on"/>
                          <m:ctrlPr>
                            <a:rPr lang="en-US" altLang="zh-CN" sz="1800" i="1">
                              <a:latin typeface="Cambria Math" panose="02040503050406030204" pitchFamily="18" charset="0"/>
                            </a:rPr>
                          </m:ctrlPr>
                        </m:naryPr>
                        <m:sub/>
                        <m:sup/>
                        <m:e>
                          <m:r>
                            <a:rPr lang="en-US" altLang="zh-CN" sz="1800" i="1">
                              <a:latin typeface="Cambria Math" panose="02040503050406030204" pitchFamily="18" charset="0"/>
                            </a:rPr>
                            <m:t>𝐿</m:t>
                          </m:r>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acc>
                            <m:accPr>
                              <m:chr m:val="̅"/>
                              <m:ctrlPr>
                                <a:rPr lang="en-US" altLang="zh-CN" sz="1800" b="0" i="1" smtClean="0">
                                  <a:latin typeface="Cambria Math" panose="02040503050406030204" pitchFamily="18" charset="0"/>
                                </a:rPr>
                              </m:ctrlPr>
                            </m:accPr>
                            <m:e>
                              <m:r>
                                <a:rPr lang="en-US" altLang="zh-CN" sz="1800" b="0" i="1" smtClean="0">
                                  <a:latin typeface="Cambria Math" panose="02040503050406030204" pitchFamily="18" charset="0"/>
                                </a:rPr>
                                <m:t>𝑧</m:t>
                              </m:r>
                            </m:e>
                          </m:acc>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𝜆</m:t>
                              </m:r>
                            </m:e>
                          </m:d>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r>
                        <a:rPr lang="en-US" altLang="zh-CN" sz="1800" b="0" i="1" dirty="0" smtClean="0">
                          <a:latin typeface="Cambria Math" panose="02040503050406030204" pitchFamily="18" charset="0"/>
                        </a:rPr>
                        <m:t>,  </m:t>
                      </m:r>
                      <m:r>
                        <a:rPr lang="en-US" altLang="zh-CN" i="1">
                          <a:latin typeface="Cambria Math" panose="02040503050406030204" pitchFamily="18" charset="0"/>
                        </a:rPr>
                        <m:t>𝑍</m:t>
                      </m:r>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1</m:t>
                          </m:r>
                        </m:num>
                        <m:den>
                          <m:r>
                            <a:rPr lang="en-US" altLang="zh-CN" i="1" dirty="0">
                              <a:latin typeface="Cambria Math" panose="02040503050406030204" pitchFamily="18" charset="0"/>
                              <a:ea typeface="Cambria Math" panose="02040503050406030204" pitchFamily="18" charset="0"/>
                            </a:rPr>
                            <m:t>𝑁</m:t>
                          </m:r>
                        </m:den>
                      </m:f>
                      <m:nary>
                        <m:naryPr>
                          <m:chr m:val="∑"/>
                          <m:subHide m:val="on"/>
                          <m:supHide m:val="on"/>
                          <m:ctrlPr>
                            <a:rPr lang="en-US" altLang="zh-CN" i="1" dirty="0">
                              <a:latin typeface="Cambria Math" panose="02040503050406030204" pitchFamily="18" charset="0"/>
                              <a:ea typeface="Cambria Math" panose="02040503050406030204" pitchFamily="18" charset="0"/>
                            </a:rPr>
                          </m:ctrlPr>
                        </m:naryPr>
                        <m:sub/>
                        <m:sup/>
                        <m:e>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𝐿</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𝑧</m:t>
                                  </m:r>
                                </m:e>
                              </m:acc>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num>
                            <m:den>
                              <m:r>
                                <a:rPr lang="en-US" altLang="zh-CN" i="1" dirty="0">
                                  <a:latin typeface="Cambria Math" panose="02040503050406030204" pitchFamily="18" charset="0"/>
                                  <a:ea typeface="Cambria Math" panose="02040503050406030204" pitchFamily="18" charset="0"/>
                                </a:rPr>
                                <m:t>𝑝</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den>
                          </m:f>
                        </m:e>
                      </m:nary>
                    </m:oMath>
                  </m:oMathPara>
                </a14:m>
                <a:endParaRPr lang="zh-CN" altLang="en-US" dirty="0"/>
              </a:p>
            </p:txBody>
          </p:sp>
        </mc:Choice>
        <mc:Fallback xmlns="">
          <p:sp>
            <p:nvSpPr>
              <p:cNvPr id="10" name="文本框 9">
                <a:extLst>
                  <a:ext uri="{FF2B5EF4-FFF2-40B4-BE49-F238E27FC236}">
                    <a16:creationId xmlns:a16="http://schemas.microsoft.com/office/drawing/2014/main" id="{D616A4DD-E67C-7A8B-8FB7-56819B65971B}"/>
                  </a:ext>
                </a:extLst>
              </p:cNvPr>
              <p:cNvSpPr txBox="1">
                <a:spLocks noRot="1" noChangeAspect="1" noMove="1" noResize="1" noEditPoints="1" noAdjustHandles="1" noChangeArrowheads="1" noChangeShapeType="1" noTextEdit="1"/>
              </p:cNvSpPr>
              <p:nvPr/>
            </p:nvSpPr>
            <p:spPr>
              <a:xfrm>
                <a:off x="6724742" y="1194882"/>
                <a:ext cx="5368076" cy="2119234"/>
              </a:xfrm>
              <a:prstGeom prst="rect">
                <a:avLst/>
              </a:prstGeom>
              <a:blipFill>
                <a:blip r:embed="rId3"/>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0D1D8060-1BDB-FA06-9856-99145E624BC1}"/>
              </a:ext>
            </a:extLst>
          </p:cNvPr>
          <p:cNvSpPr txBox="1"/>
          <p:nvPr/>
        </p:nvSpPr>
        <p:spPr>
          <a:xfrm>
            <a:off x="6096000" y="3379422"/>
            <a:ext cx="5922768" cy="1477328"/>
          </a:xfrm>
          <a:prstGeom prst="rect">
            <a:avLst/>
          </a:prstGeom>
          <a:noFill/>
        </p:spPr>
        <p:txBody>
          <a:bodyPr wrap="square">
            <a:spAutoFit/>
          </a:bodyPr>
          <a:lstStyle/>
          <a:p>
            <a:pPr algn="just"/>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如果暴力模拟完整的光谱，那么后续积分得到的</a:t>
            </a:r>
            <a:r>
              <a:rPr lang="en-US" altLang="zh-CN" sz="1800" dirty="0">
                <a:latin typeface="Noto Sans SC" panose="020B0200000000000000" pitchFamily="34" charset="-122"/>
                <a:ea typeface="Noto Sans SC" panose="020B0200000000000000" pitchFamily="34" charset="-122"/>
              </a:rPr>
              <a:t>XYZ</a:t>
            </a:r>
            <a:r>
              <a:rPr lang="zh-CN" altLang="en-US" sz="1800" dirty="0">
                <a:latin typeface="Noto Sans SC" panose="020B0200000000000000" pitchFamily="34" charset="-122"/>
                <a:ea typeface="Noto Sans SC" panose="020B0200000000000000" pitchFamily="34" charset="-122"/>
              </a:rPr>
              <a:t>三刺激值会十分准确。</a:t>
            </a:r>
            <a:endParaRPr lang="en-US" altLang="zh-CN" sz="1800"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如果使用蒙特卡洛估计，虽然计算量变小了，但是后续得到的</a:t>
            </a:r>
            <a:r>
              <a:rPr lang="en-US" altLang="zh-CN" sz="1800" dirty="0">
                <a:latin typeface="Noto Sans SC" panose="020B0200000000000000" pitchFamily="34" charset="-122"/>
                <a:ea typeface="Noto Sans SC" panose="020B0200000000000000" pitchFamily="34" charset="-122"/>
              </a:rPr>
              <a:t>XYZ</a:t>
            </a:r>
            <a:r>
              <a:rPr lang="zh-CN" altLang="en-US" sz="1800" dirty="0">
                <a:latin typeface="Noto Sans SC" panose="020B0200000000000000" pitchFamily="34" charset="-122"/>
                <a:ea typeface="Noto Sans SC" panose="020B0200000000000000" pitchFamily="34" charset="-122"/>
              </a:rPr>
              <a:t>三刺激值就会引入方差。不过多余的算力可以计算更多的光路，减少渲染方程中积分的方差。</a:t>
            </a:r>
            <a:endParaRPr lang="en-US" altLang="zh-CN" sz="180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EF9DA10-48FD-625E-8AB2-739D74800CD4}"/>
                  </a:ext>
                </a:extLst>
              </p:cNvPr>
              <p:cNvSpPr txBox="1"/>
              <p:nvPr/>
            </p:nvSpPr>
            <p:spPr>
              <a:xfrm>
                <a:off x="1480418" y="5157316"/>
                <a:ext cx="9231163" cy="1477328"/>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因此，问题就变成了：在算力相同的情况，相同的渲染时间内，哪种方法能够得到方差更小的结果？或者说，哪种方法的渲染效率更高？</a:t>
                </a:r>
                <a:endParaRPr lang="en-US" altLang="zh-CN" dirty="0">
                  <a:latin typeface="Noto Sans SC" panose="020B0200000000000000" pitchFamily="34" charset="-122"/>
                  <a:ea typeface="Noto Sans SC" panose="020B0200000000000000" pitchFamily="34" charset="-122"/>
                </a:endParaRPr>
              </a:p>
              <a:p>
                <a:pPr algn="just"/>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因为</a:t>
                </a:r>
                <a:r>
                  <a:rPr lang="zh-CN" altLang="en-US" dirty="0">
                    <a:latin typeface="Noto Sans SC" panose="020B0200000000000000" pitchFamily="34" charset="-122"/>
                    <a:ea typeface="Noto Sans SC" panose="020B0200000000000000" pitchFamily="34" charset="-122"/>
                  </a:rPr>
                  <a:t>场景的复杂度、</a:t>
                </a:r>
                <a:r>
                  <a:rPr lang="en-US" altLang="zh-CN" dirty="0">
                    <a:latin typeface="Noto Sans SC" panose="020B0200000000000000" pitchFamily="34" charset="-122"/>
                    <a:ea typeface="Noto Sans SC" panose="020B0200000000000000" pitchFamily="34" charset="-122"/>
                  </a:rPr>
                  <a:t>BSDF</a:t>
                </a:r>
                <a:r>
                  <a:rPr lang="zh-CN" altLang="en-US" dirty="0">
                    <a:latin typeface="Noto Sans SC" panose="020B0200000000000000" pitchFamily="34" charset="-122"/>
                    <a:ea typeface="Noto Sans SC" panose="020B0200000000000000" pitchFamily="34" charset="-122"/>
                  </a:rPr>
                  <a:t>的算法复杂度、路径追踪器的算法复杂度等等很多因素都会影响这个问题的答案，不过按照经验，使用蒙特卡洛估计并且样本数</a:t>
                </a:r>
                <a14:m>
                  <m:oMath xmlns:m="http://schemas.openxmlformats.org/officeDocument/2006/math">
                    <m:r>
                      <a:rPr lang="en-US" altLang="zh-CN" i="1" dirty="0">
                        <a:latin typeface="Cambria Math" panose="02040503050406030204" pitchFamily="18" charset="0"/>
                        <a:ea typeface="Cambria Math" panose="02040503050406030204" pitchFamily="18" charset="0"/>
                      </a:rPr>
                      <m:t>𝑁</m:t>
                    </m:r>
                    <m:r>
                      <a:rPr lang="en-US" altLang="zh-CN" b="0" i="1" dirty="0" smtClean="0">
                        <a:latin typeface="Cambria Math" panose="02040503050406030204" pitchFamily="18" charset="0"/>
                        <a:ea typeface="Cambria Math" panose="02040503050406030204" pitchFamily="18" charset="0"/>
                      </a:rPr>
                      <m:t>=4</m:t>
                    </m:r>
                  </m:oMath>
                </a14:m>
                <a:r>
                  <a:rPr lang="zh-CN" altLang="en-US" sz="1800" dirty="0">
                    <a:latin typeface="Noto Sans SC" panose="020B0200000000000000" pitchFamily="34" charset="-122"/>
                    <a:ea typeface="Noto Sans SC" panose="020B0200000000000000" pitchFamily="34" charset="-122"/>
                  </a:rPr>
                  <a:t>时是一个折中的选择，既不会有太大的</a:t>
                </a:r>
                <a:r>
                  <a:rPr lang="en-US" altLang="zh-CN" sz="1800" dirty="0">
                    <a:latin typeface="Noto Sans SC" panose="020B0200000000000000" pitchFamily="34" charset="-122"/>
                    <a:ea typeface="Noto Sans SC" panose="020B0200000000000000" pitchFamily="34" charset="-122"/>
                  </a:rPr>
                  <a:t>XYZ</a:t>
                </a:r>
                <a:r>
                  <a:rPr lang="zh-CN" altLang="en-US" sz="1800" dirty="0">
                    <a:latin typeface="Noto Sans SC" panose="020B0200000000000000" pitchFamily="34" charset="-122"/>
                    <a:ea typeface="Noto Sans SC" panose="020B0200000000000000" pitchFamily="34" charset="-122"/>
                  </a:rPr>
                  <a:t>估计方差，又兼顾了渲染的效率。</a:t>
                </a:r>
              </a:p>
            </p:txBody>
          </p:sp>
        </mc:Choice>
        <mc:Fallback xmlns="">
          <p:sp>
            <p:nvSpPr>
              <p:cNvPr id="20" name="文本框 19">
                <a:extLst>
                  <a:ext uri="{FF2B5EF4-FFF2-40B4-BE49-F238E27FC236}">
                    <a16:creationId xmlns:a16="http://schemas.microsoft.com/office/drawing/2014/main" id="{AEF9DA10-48FD-625E-8AB2-739D74800CD4}"/>
                  </a:ext>
                </a:extLst>
              </p:cNvPr>
              <p:cNvSpPr txBox="1">
                <a:spLocks noRot="1" noChangeAspect="1" noMove="1" noResize="1" noEditPoints="1" noAdjustHandles="1" noChangeArrowheads="1" noChangeShapeType="1" noTextEdit="1"/>
              </p:cNvSpPr>
              <p:nvPr/>
            </p:nvSpPr>
            <p:spPr>
              <a:xfrm>
                <a:off x="1480418" y="5157316"/>
                <a:ext cx="9231163" cy="1477328"/>
              </a:xfrm>
              <a:prstGeom prst="rect">
                <a:avLst/>
              </a:prstGeom>
              <a:blipFill>
                <a:blip r:embed="rId4"/>
                <a:stretch>
                  <a:fillRect l="-594" t="-2066" r="-528" b="-5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05463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8A7E7-8141-39E7-3CCB-07B2FCC88BA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8455497-6C95-5494-D64F-6ECAC61F0282}"/>
              </a:ext>
            </a:extLst>
          </p:cNvPr>
          <p:cNvSpPr>
            <a:spLocks noGrp="1"/>
          </p:cNvSpPr>
          <p:nvPr>
            <p:ph type="title" idx="1"/>
          </p:nvPr>
        </p:nvSpPr>
        <p:spPr/>
        <p:txBody>
          <a:bodyPr/>
          <a:lstStyle/>
          <a:p>
            <a:r>
              <a:rPr lang="zh-CN" altLang="en-US" dirty="0"/>
              <a:t>波长采样</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E4A6113-E033-3ACF-48CA-1E984524C20D}"/>
                  </a:ext>
                </a:extLst>
              </p:cNvPr>
              <p:cNvSpPr txBox="1"/>
              <p:nvPr/>
            </p:nvSpPr>
            <p:spPr>
              <a:xfrm>
                <a:off x="6720120" y="360000"/>
                <a:ext cx="5368076" cy="1894173"/>
              </a:xfrm>
              <a:prstGeom prst="rect">
                <a:avLst/>
              </a:prstGeom>
              <a:noFill/>
            </p:spPr>
            <p:txBody>
              <a:bodyPr wrap="square">
                <a:spAutoFit/>
              </a:bodyPr>
              <a:lstStyle/>
              <a:p>
                <a:pPr/>
                <a14:m>
                  <m:oMathPara xmlns:m="http://schemas.openxmlformats.org/officeDocument/2006/math">
                    <m:oMath>
                      <m:r>
                        <a:rPr lang="en-US" altLang="zh-CN" sz="1600" b="0" i="1" smtClean="0">
                          <a:latin typeface="Cambria Math" panose="02040503050406030204" pitchFamily="18" charset="0"/>
                        </a:rPr>
                        <m:t>𝑋</m:t>
                      </m:r>
                      <m:r>
                        <a:rPr lang="en-US" altLang="zh-CN" sz="1600" i="1">
                          <a:latin typeface="Cambria Math" panose="02040503050406030204" pitchFamily="18" charset="0"/>
                        </a:rPr>
                        <m:t>=</m:t>
                      </m:r>
                      <m:nary>
                        <m:naryPr>
                          <m:subHide m:val="on"/>
                          <m:supHide m:val="on"/>
                          <m:ctrlPr>
                            <a:rPr lang="en-US" altLang="zh-CN" sz="1600" i="1">
                              <a:latin typeface="Cambria Math" panose="02040503050406030204" pitchFamily="18" charset="0"/>
                            </a:rPr>
                          </m:ctrlPr>
                        </m:naryPr>
                        <m:sub/>
                        <m:sup/>
                        <m:e>
                          <m:r>
                            <a:rPr lang="en-US" altLang="zh-CN" sz="1600" i="1">
                              <a:latin typeface="Cambria Math" panose="02040503050406030204" pitchFamily="18" charset="0"/>
                            </a:rPr>
                            <m:t>𝐿</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𝑥</m:t>
                              </m:r>
                            </m:e>
                          </m:acc>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0" i="1" dirty="0" smtClean="0">
                          <a:latin typeface="Cambria Math" panose="02040503050406030204" pitchFamily="18" charset="0"/>
                        </a:rPr>
                        <m:t>,  </m:t>
                      </m:r>
                      <m:r>
                        <a:rPr lang="en-US" altLang="zh-CN" sz="1600" i="1">
                          <a:latin typeface="Cambria Math" panose="02040503050406030204" pitchFamily="18" charset="0"/>
                        </a:rPr>
                        <m:t>𝑋</m:t>
                      </m:r>
                      <m:r>
                        <a:rPr lang="en-US" altLang="zh-CN" sz="1600" i="1" dirty="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1</m:t>
                          </m:r>
                        </m:num>
                        <m:den>
                          <m:r>
                            <a:rPr lang="en-US" altLang="zh-CN" sz="1600" i="1" dirty="0">
                              <a:latin typeface="Cambria Math" panose="02040503050406030204" pitchFamily="18" charset="0"/>
                              <a:ea typeface="Cambria Math" panose="02040503050406030204" pitchFamily="18" charset="0"/>
                            </a:rPr>
                            <m:t>𝑁</m:t>
                          </m:r>
                        </m:den>
                      </m:f>
                      <m:nary>
                        <m:naryPr>
                          <m:chr m:val="∑"/>
                          <m:subHide m:val="on"/>
                          <m:supHide m:val="on"/>
                          <m:ctrlPr>
                            <a:rPr lang="en-US" altLang="zh-CN" sz="1600" i="1" dirty="0">
                              <a:latin typeface="Cambria Math" panose="02040503050406030204" pitchFamily="18" charset="0"/>
                              <a:ea typeface="Cambria Math" panose="02040503050406030204" pitchFamily="18" charset="0"/>
                            </a:rPr>
                          </m:ctrlPr>
                        </m:naryPr>
                        <m:sub/>
                        <m:sup/>
                        <m:e>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𝐿</m:t>
                              </m:r>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acc>
                                <m:accPr>
                                  <m:chr m:val="̅"/>
                                  <m:ctrlPr>
                                    <a:rPr lang="en-US" altLang="zh-CN" sz="1600" i="1" dirty="0">
                                      <a:latin typeface="Cambria Math" panose="02040503050406030204" pitchFamily="18" charset="0"/>
                                      <a:ea typeface="Cambria Math" panose="02040503050406030204" pitchFamily="18" charset="0"/>
                                    </a:rPr>
                                  </m:ctrlPr>
                                </m:accPr>
                                <m:e>
                                  <m:r>
                                    <a:rPr lang="en-US" altLang="zh-CN" sz="1600" i="1" dirty="0">
                                      <a:latin typeface="Cambria Math" panose="02040503050406030204" pitchFamily="18" charset="0"/>
                                      <a:ea typeface="Cambria Math" panose="02040503050406030204" pitchFamily="18" charset="0"/>
                                    </a:rPr>
                                    <m:t>𝑥</m:t>
                                  </m:r>
                                </m:e>
                              </m:acc>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num>
                            <m:den>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den>
                          </m:f>
                        </m:e>
                      </m:nary>
                    </m:oMath>
                  </m:oMathPara>
                </a14:m>
                <a:endParaRPr lang="en-US" altLang="zh-CN" sz="1600" b="0" i="1" dirty="0">
                  <a:latin typeface="Cambria Math" panose="02040503050406030204" pitchFamily="18" charset="0"/>
                </a:endParaRPr>
              </a:p>
              <a:p>
                <a:pPr/>
                <a14:m>
                  <m:oMathPara xmlns:m="http://schemas.openxmlformats.org/officeDocument/2006/math">
                    <m:oMath>
                      <m:r>
                        <a:rPr lang="en-US" altLang="zh-CN" sz="1600" b="0" i="1" dirty="0" smtClean="0">
                          <a:latin typeface="Cambria Math" panose="02040503050406030204" pitchFamily="18" charset="0"/>
                        </a:rPr>
                        <m:t> </m:t>
                      </m:r>
                      <m:r>
                        <a:rPr lang="en-US" altLang="zh-CN" sz="1600" i="1">
                          <a:latin typeface="Cambria Math" panose="02040503050406030204" pitchFamily="18" charset="0"/>
                        </a:rPr>
                        <m:t>𝑌</m:t>
                      </m:r>
                      <m:r>
                        <a:rPr lang="en-US" altLang="zh-CN" sz="1600" i="1">
                          <a:latin typeface="Cambria Math" panose="02040503050406030204" pitchFamily="18" charset="0"/>
                        </a:rPr>
                        <m:t>=</m:t>
                      </m:r>
                      <m:nary>
                        <m:naryPr>
                          <m:subHide m:val="on"/>
                          <m:supHide m:val="on"/>
                          <m:ctrlPr>
                            <a:rPr lang="en-US" altLang="zh-CN" sz="1600" i="1">
                              <a:latin typeface="Cambria Math" panose="02040503050406030204" pitchFamily="18" charset="0"/>
                            </a:rPr>
                          </m:ctrlPr>
                        </m:naryPr>
                        <m:sub/>
                        <m:sup/>
                        <m:e>
                          <m:r>
                            <a:rPr lang="en-US" altLang="zh-CN" sz="1600" i="1">
                              <a:latin typeface="Cambria Math" panose="02040503050406030204" pitchFamily="18" charset="0"/>
                            </a:rPr>
                            <m:t>𝐿</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𝑦</m:t>
                              </m:r>
                            </m:e>
                          </m:acc>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0" i="1" dirty="0" smtClean="0">
                          <a:latin typeface="Cambria Math" panose="02040503050406030204" pitchFamily="18" charset="0"/>
                        </a:rPr>
                        <m:t>,  </m:t>
                      </m:r>
                      <m:r>
                        <a:rPr lang="en-US" altLang="zh-CN" sz="1600" i="1">
                          <a:latin typeface="Cambria Math" panose="02040503050406030204" pitchFamily="18" charset="0"/>
                        </a:rPr>
                        <m:t>𝑌</m:t>
                      </m:r>
                      <m:r>
                        <a:rPr lang="en-US" altLang="zh-CN" sz="1600" i="1" dirty="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1</m:t>
                          </m:r>
                        </m:num>
                        <m:den>
                          <m:r>
                            <a:rPr lang="en-US" altLang="zh-CN" sz="1600" i="1" dirty="0">
                              <a:latin typeface="Cambria Math" panose="02040503050406030204" pitchFamily="18" charset="0"/>
                              <a:ea typeface="Cambria Math" panose="02040503050406030204" pitchFamily="18" charset="0"/>
                            </a:rPr>
                            <m:t>𝑁</m:t>
                          </m:r>
                        </m:den>
                      </m:f>
                      <m:nary>
                        <m:naryPr>
                          <m:chr m:val="∑"/>
                          <m:subHide m:val="on"/>
                          <m:supHide m:val="on"/>
                          <m:ctrlPr>
                            <a:rPr lang="en-US" altLang="zh-CN" sz="1600" i="1" dirty="0">
                              <a:latin typeface="Cambria Math" panose="02040503050406030204" pitchFamily="18" charset="0"/>
                              <a:ea typeface="Cambria Math" panose="02040503050406030204" pitchFamily="18" charset="0"/>
                            </a:rPr>
                          </m:ctrlPr>
                        </m:naryPr>
                        <m:sub/>
                        <m:sup/>
                        <m:e>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𝐿</m:t>
                              </m:r>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acc>
                                <m:accPr>
                                  <m:chr m:val="̅"/>
                                  <m:ctrlPr>
                                    <a:rPr lang="en-US" altLang="zh-CN" sz="1600" i="1" dirty="0">
                                      <a:latin typeface="Cambria Math" panose="02040503050406030204" pitchFamily="18" charset="0"/>
                                      <a:ea typeface="Cambria Math" panose="02040503050406030204" pitchFamily="18" charset="0"/>
                                    </a:rPr>
                                  </m:ctrlPr>
                                </m:accPr>
                                <m:e>
                                  <m:r>
                                    <a:rPr lang="en-US" altLang="zh-CN" sz="1600" i="1" dirty="0">
                                      <a:latin typeface="Cambria Math" panose="02040503050406030204" pitchFamily="18" charset="0"/>
                                      <a:ea typeface="Cambria Math" panose="02040503050406030204" pitchFamily="18" charset="0"/>
                                    </a:rPr>
                                    <m:t>𝑦</m:t>
                                  </m:r>
                                </m:e>
                              </m:acc>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num>
                            <m:den>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den>
                          </m:f>
                        </m:e>
                      </m:nary>
                    </m:oMath>
                  </m:oMathPara>
                </a14:m>
                <a:endParaRPr lang="en-US" altLang="zh-CN" sz="1600" b="0" i="1" dirty="0">
                  <a:latin typeface="Cambria Math" panose="02040503050406030204" pitchFamily="18" charset="0"/>
                </a:endParaRPr>
              </a:p>
              <a:p>
                <a:pPr/>
                <a14:m>
                  <m:oMathPara xmlns:m="http://schemas.openxmlformats.org/officeDocument/2006/math">
                    <m:oMath>
                      <m:r>
                        <a:rPr lang="en-US" altLang="zh-CN" sz="1600" b="0" i="1" smtClean="0">
                          <a:latin typeface="Cambria Math" panose="02040503050406030204" pitchFamily="18" charset="0"/>
                        </a:rPr>
                        <m:t>𝑍</m:t>
                      </m:r>
                      <m:r>
                        <a:rPr lang="en-US" altLang="zh-CN" sz="1600" i="1">
                          <a:latin typeface="Cambria Math" panose="02040503050406030204" pitchFamily="18" charset="0"/>
                        </a:rPr>
                        <m:t>=</m:t>
                      </m:r>
                      <m:nary>
                        <m:naryPr>
                          <m:subHide m:val="on"/>
                          <m:supHide m:val="on"/>
                          <m:ctrlPr>
                            <a:rPr lang="en-US" altLang="zh-CN" sz="1600" i="1">
                              <a:latin typeface="Cambria Math" panose="02040503050406030204" pitchFamily="18" charset="0"/>
                            </a:rPr>
                          </m:ctrlPr>
                        </m:naryPr>
                        <m:sub/>
                        <m:sup/>
                        <m:e>
                          <m:r>
                            <a:rPr lang="en-US" altLang="zh-CN" sz="1600" i="1">
                              <a:latin typeface="Cambria Math" panose="02040503050406030204" pitchFamily="18" charset="0"/>
                            </a:rPr>
                            <m:t>𝐿</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𝑧</m:t>
                              </m:r>
                            </m:e>
                          </m:acc>
                          <m:d>
                            <m:dPr>
                              <m:ctrlPr>
                                <a:rPr lang="en-US" altLang="zh-CN" sz="1600" i="1" dirty="0">
                                  <a:latin typeface="Cambria Math" panose="02040503050406030204" pitchFamily="18" charset="0"/>
                                </a:rPr>
                              </m:ctrlPr>
                            </m:dPr>
                            <m:e>
                              <m:r>
                                <a:rPr lang="en-US" altLang="zh-CN" sz="1600" i="1" dirty="0">
                                  <a:latin typeface="Cambria Math" panose="02040503050406030204" pitchFamily="18" charset="0"/>
                                </a:rPr>
                                <m:t>𝜆</m:t>
                              </m:r>
                            </m:e>
                          </m:d>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r>
                        <a:rPr lang="en-US" altLang="zh-CN" sz="1600" b="0" i="1" dirty="0" smtClean="0">
                          <a:latin typeface="Cambria Math" panose="02040503050406030204" pitchFamily="18" charset="0"/>
                        </a:rPr>
                        <m:t>,  </m:t>
                      </m:r>
                      <m:r>
                        <a:rPr lang="en-US" altLang="zh-CN" sz="1600" i="1">
                          <a:latin typeface="Cambria Math" panose="02040503050406030204" pitchFamily="18" charset="0"/>
                        </a:rPr>
                        <m:t>𝑍</m:t>
                      </m:r>
                      <m:r>
                        <a:rPr lang="en-US" altLang="zh-CN" sz="1600" i="1" dirty="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1</m:t>
                          </m:r>
                        </m:num>
                        <m:den>
                          <m:r>
                            <a:rPr lang="en-US" altLang="zh-CN" sz="1600" i="1" dirty="0">
                              <a:latin typeface="Cambria Math" panose="02040503050406030204" pitchFamily="18" charset="0"/>
                              <a:ea typeface="Cambria Math" panose="02040503050406030204" pitchFamily="18" charset="0"/>
                            </a:rPr>
                            <m:t>𝑁</m:t>
                          </m:r>
                        </m:den>
                      </m:f>
                      <m:nary>
                        <m:naryPr>
                          <m:chr m:val="∑"/>
                          <m:subHide m:val="on"/>
                          <m:supHide m:val="on"/>
                          <m:ctrlPr>
                            <a:rPr lang="en-US" altLang="zh-CN" sz="1600" i="1" dirty="0">
                              <a:latin typeface="Cambria Math" panose="02040503050406030204" pitchFamily="18" charset="0"/>
                              <a:ea typeface="Cambria Math" panose="02040503050406030204" pitchFamily="18" charset="0"/>
                            </a:rPr>
                          </m:ctrlPr>
                        </m:naryPr>
                        <m:sub/>
                        <m:sup/>
                        <m:e>
                          <m:f>
                            <m:fPr>
                              <m:ctrlPr>
                                <a:rPr lang="en-US" altLang="zh-CN" sz="1600" i="1" dirty="0">
                                  <a:latin typeface="Cambria Math" panose="02040503050406030204" pitchFamily="18" charset="0"/>
                                  <a:ea typeface="Cambria Math" panose="02040503050406030204" pitchFamily="18" charset="0"/>
                                </a:rPr>
                              </m:ctrlPr>
                            </m:fPr>
                            <m:num>
                              <m:r>
                                <a:rPr lang="en-US" altLang="zh-CN" sz="1600" i="1" dirty="0">
                                  <a:latin typeface="Cambria Math" panose="02040503050406030204" pitchFamily="18" charset="0"/>
                                  <a:ea typeface="Cambria Math" panose="02040503050406030204" pitchFamily="18" charset="0"/>
                                </a:rPr>
                                <m:t>𝐿</m:t>
                              </m:r>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acc>
                                <m:accPr>
                                  <m:chr m:val="̅"/>
                                  <m:ctrlPr>
                                    <a:rPr lang="en-US" altLang="zh-CN" sz="1600" i="1" dirty="0">
                                      <a:latin typeface="Cambria Math" panose="02040503050406030204" pitchFamily="18" charset="0"/>
                                      <a:ea typeface="Cambria Math" panose="02040503050406030204" pitchFamily="18" charset="0"/>
                                    </a:rPr>
                                  </m:ctrlPr>
                                </m:accPr>
                                <m:e>
                                  <m:r>
                                    <a:rPr lang="en-US" altLang="zh-CN" sz="1600" i="1" dirty="0">
                                      <a:latin typeface="Cambria Math" panose="02040503050406030204" pitchFamily="18" charset="0"/>
                                      <a:ea typeface="Cambria Math" panose="02040503050406030204" pitchFamily="18" charset="0"/>
                                    </a:rPr>
                                    <m:t>𝑧</m:t>
                                  </m:r>
                                </m:e>
                              </m:acc>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num>
                            <m:den>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sSub>
                                    <m:sSubPr>
                                      <m:ctrlPr>
                                        <a:rPr lang="en-US" altLang="zh-CN" sz="1600" i="1" dirty="0">
                                          <a:latin typeface="Cambria Math" panose="02040503050406030204" pitchFamily="18" charset="0"/>
                                          <a:ea typeface="Cambria Math" panose="02040503050406030204" pitchFamily="18" charset="0"/>
                                        </a:rPr>
                                      </m:ctrlPr>
                                    </m:sSubPr>
                                    <m:e>
                                      <m:r>
                                        <a:rPr lang="en-US" altLang="zh-CN" sz="1600" i="1" dirty="0">
                                          <a:latin typeface="Cambria Math" panose="02040503050406030204" pitchFamily="18" charset="0"/>
                                          <a:ea typeface="Cambria Math" panose="02040503050406030204" pitchFamily="18" charset="0"/>
                                        </a:rPr>
                                        <m:t>𝜆</m:t>
                                      </m:r>
                                    </m:e>
                                    <m:sub>
                                      <m:r>
                                        <a:rPr lang="en-US" altLang="zh-CN" sz="1600" i="1" dirty="0">
                                          <a:latin typeface="Cambria Math" panose="02040503050406030204" pitchFamily="18" charset="0"/>
                                          <a:ea typeface="Cambria Math" panose="02040503050406030204" pitchFamily="18" charset="0"/>
                                        </a:rPr>
                                        <m:t>𝑖</m:t>
                                      </m:r>
                                    </m:sub>
                                  </m:sSub>
                                </m:e>
                              </m:d>
                            </m:den>
                          </m:f>
                        </m:e>
                      </m:nary>
                    </m:oMath>
                  </m:oMathPara>
                </a14:m>
                <a:endParaRPr lang="zh-CN" altLang="en-US" sz="1600" dirty="0"/>
              </a:p>
            </p:txBody>
          </p:sp>
        </mc:Choice>
        <mc:Fallback xmlns="">
          <p:sp>
            <p:nvSpPr>
              <p:cNvPr id="10" name="文本框 9">
                <a:extLst>
                  <a:ext uri="{FF2B5EF4-FFF2-40B4-BE49-F238E27FC236}">
                    <a16:creationId xmlns:a16="http://schemas.microsoft.com/office/drawing/2014/main" id="{4E4A6113-E033-3ACF-48CA-1E984524C20D}"/>
                  </a:ext>
                </a:extLst>
              </p:cNvPr>
              <p:cNvSpPr txBox="1">
                <a:spLocks noRot="1" noChangeAspect="1" noMove="1" noResize="1" noEditPoints="1" noAdjustHandles="1" noChangeArrowheads="1" noChangeShapeType="1" noTextEdit="1"/>
              </p:cNvSpPr>
              <p:nvPr/>
            </p:nvSpPr>
            <p:spPr>
              <a:xfrm>
                <a:off x="6720120" y="360000"/>
                <a:ext cx="5368076" cy="1894173"/>
              </a:xfrm>
              <a:prstGeom prst="rect">
                <a:avLst/>
              </a:prstGeom>
              <a:blipFill>
                <a:blip r:embed="rId2"/>
                <a:stretch>
                  <a:fillRect/>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22D907F5-8B19-D3A5-90D0-AE577582790D}"/>
              </a:ext>
            </a:extLst>
          </p:cNvPr>
          <p:cNvSpPr txBox="1"/>
          <p:nvPr/>
        </p:nvSpPr>
        <p:spPr>
          <a:xfrm>
            <a:off x="746974" y="1509524"/>
            <a:ext cx="3877985" cy="369332"/>
          </a:xfrm>
          <a:prstGeom prst="rect">
            <a:avLst/>
          </a:prstGeom>
          <a:noFill/>
        </p:spPr>
        <p:txBody>
          <a:bodyPr wrap="none" rtlCol="0">
            <a:spAutoFit/>
          </a:bodyPr>
          <a:lstStyle/>
          <a:p>
            <a:r>
              <a:rPr lang="zh-CN" altLang="en-US" b="1" dirty="0">
                <a:latin typeface="Noto Sans SC" panose="020B0200000000000000" pitchFamily="34" charset="-122"/>
                <a:ea typeface="Noto Sans SC" panose="020B0200000000000000" pitchFamily="34" charset="-122"/>
              </a:rPr>
              <a:t>采样波长的概率密度应该怎么选择？</a:t>
            </a:r>
          </a:p>
        </p:txBody>
      </p:sp>
      <p:sp>
        <p:nvSpPr>
          <p:cNvPr id="6" name="文本框 5">
            <a:extLst>
              <a:ext uri="{FF2B5EF4-FFF2-40B4-BE49-F238E27FC236}">
                <a16:creationId xmlns:a16="http://schemas.microsoft.com/office/drawing/2014/main" id="{3E00D6FA-4CEF-F51E-4B15-8B361EA3B506}"/>
              </a:ext>
            </a:extLst>
          </p:cNvPr>
          <p:cNvSpPr txBox="1"/>
          <p:nvPr/>
        </p:nvSpPr>
        <p:spPr>
          <a:xfrm>
            <a:off x="504941" y="2059813"/>
            <a:ext cx="4440546" cy="1323439"/>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最简单的方式就是独立均匀采样</a:t>
            </a:r>
            <a:r>
              <a:rPr lang="en-US" altLang="zh-CN" sz="1600" dirty="0">
                <a:latin typeface="Noto Sans SC" panose="020B0200000000000000" pitchFamily="34" charset="-122"/>
                <a:ea typeface="Noto Sans SC" panose="020B0200000000000000" pitchFamily="34" charset="-122"/>
              </a:rPr>
              <a:t>4</a:t>
            </a:r>
            <a:r>
              <a:rPr lang="zh-CN" altLang="en-US" sz="1600" dirty="0">
                <a:latin typeface="Noto Sans SC" panose="020B0200000000000000" pitchFamily="34" charset="-122"/>
                <a:ea typeface="Noto Sans SC" panose="020B0200000000000000" pitchFamily="34" charset="-122"/>
              </a:rPr>
              <a:t>个波长。</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但是独立采样的方式并不是很好，我们可以先均匀采样得到一个波长，然后对该波长进行偏移，得到其他的波长。这种采样方式叫做分层采样，通常可以获得更小的估计器方差。</a:t>
            </a:r>
            <a:endParaRPr lang="en-US" altLang="zh-CN" sz="1600" dirty="0">
              <a:latin typeface="Noto Sans SC" panose="020B0200000000000000" pitchFamily="34" charset="-122"/>
              <a:ea typeface="Noto Sans SC" panose="020B0200000000000000" pitchFamily="34" charset="-122"/>
            </a:endParaRPr>
          </a:p>
        </p:txBody>
      </p: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B9701E75-0EF1-0DE5-96DB-F789855C035E}"/>
                  </a:ext>
                </a:extLst>
              </p:cNvPr>
              <p:cNvSpPr txBox="1"/>
              <p:nvPr/>
            </p:nvSpPr>
            <p:spPr>
              <a:xfrm>
                <a:off x="69691" y="3385433"/>
                <a:ext cx="2113720" cy="799450"/>
              </a:xfrm>
              <a:prstGeom prst="rect">
                <a:avLst/>
              </a:prstGeom>
              <a:noFill/>
            </p:spPr>
            <p:txBody>
              <a:bodyPr wrap="none" lIns="0" tIns="0" rIns="0" bIns="0" rtlCol="0">
                <a:spAutoFit/>
              </a:bodyPr>
              <a:lstStyle/>
              <a:p>
                <a:pPr/>
                <a14:m>
                  <m:oMathPara xmlns:m="http://schemas.openxmlformats.org/officeDocument/2006/math">
                    <m:o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𝑖</m:t>
                          </m:r>
                        </m:sub>
                      </m:sSub>
                      <m:r>
                        <a:rPr lang="en-US" altLang="zh-CN" sz="1600" b="0" i="1" smtClean="0">
                          <a:latin typeface="Cambria Math" panose="02040503050406030204" pitchFamily="18" charset="0"/>
                        </a:rPr>
                        <m:t>=</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𝑢</m:t>
                          </m:r>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𝑖</m:t>
                              </m:r>
                            </m:num>
                            <m:den>
                              <m:r>
                                <a:rPr lang="en-US" altLang="zh-CN" sz="1600" b="0" i="1" smtClean="0">
                                  <a:latin typeface="Cambria Math" panose="02040503050406030204" pitchFamily="18" charset="0"/>
                                </a:rPr>
                                <m:t>4</m:t>
                              </m:r>
                            </m:den>
                          </m:f>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𝑚𝑜𝑑</m:t>
                      </m:r>
                      <m:r>
                        <a:rPr lang="en-US" altLang="zh-CN" sz="1600" b="0" i="1" smtClean="0">
                          <a:latin typeface="Cambria Math" panose="02040503050406030204" pitchFamily="18" charset="0"/>
                        </a:rPr>
                        <m:t> 1</m:t>
                      </m:r>
                    </m:oMath>
                  </m:oMathPara>
                </a14:m>
                <a:endParaRPr lang="en-US" altLang="zh-CN" sz="1600" b="0" i="1" dirty="0">
                  <a:latin typeface="Cambria Math" panose="02040503050406030204" pitchFamily="18" charset="0"/>
                </a:endParaRPr>
              </a:p>
              <a:p>
                <a:pPr/>
                <a14:m>
                  <m:oMathPara xmlns:m="http://schemas.openxmlformats.org/officeDocument/2006/math">
                    <m:o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𝜆</m:t>
                          </m:r>
                        </m:e>
                        <m:sub>
                          <m:r>
                            <a:rPr lang="en-US" altLang="zh-CN" sz="1600" b="0" i="1" smtClean="0">
                              <a:latin typeface="Cambria Math" panose="02040503050406030204" pitchFamily="18" charset="0"/>
                            </a:rPr>
                            <m:t>𝑖</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𝐿𝑒𝑟𝑝</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360, 780, 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𝑖</m:t>
                              </m:r>
                            </m:sub>
                          </m:sSub>
                        </m:e>
                      </m:d>
                    </m:oMath>
                  </m:oMathPara>
                </a14:m>
                <a:endParaRPr lang="en-US" altLang="zh-CN" sz="1600" b="0" dirty="0"/>
              </a:p>
            </p:txBody>
          </p:sp>
        </mc:Choice>
        <mc:Fallback xmlns="">
          <p:sp>
            <p:nvSpPr>
              <p:cNvPr id="62" name="文本框 61">
                <a:extLst>
                  <a:ext uri="{FF2B5EF4-FFF2-40B4-BE49-F238E27FC236}">
                    <a16:creationId xmlns:a16="http://schemas.microsoft.com/office/drawing/2014/main" id="{B9701E75-0EF1-0DE5-96DB-F789855C035E}"/>
                  </a:ext>
                </a:extLst>
              </p:cNvPr>
              <p:cNvSpPr txBox="1">
                <a:spLocks noRot="1" noChangeAspect="1" noMove="1" noResize="1" noEditPoints="1" noAdjustHandles="1" noChangeArrowheads="1" noChangeShapeType="1" noTextEdit="1"/>
              </p:cNvSpPr>
              <p:nvPr/>
            </p:nvSpPr>
            <p:spPr>
              <a:xfrm>
                <a:off x="69691" y="3385433"/>
                <a:ext cx="2113720" cy="799450"/>
              </a:xfrm>
              <a:prstGeom prst="rect">
                <a:avLst/>
              </a:prstGeom>
              <a:blipFill>
                <a:blip r:embed="rId3"/>
                <a:stretch>
                  <a:fillRect l="-1729" b="-9160"/>
                </a:stretch>
              </a:blipFill>
            </p:spPr>
            <p:txBody>
              <a:bodyPr/>
              <a:lstStyle/>
              <a:p>
                <a:r>
                  <a:rPr lang="zh-CN" altLang="en-US">
                    <a:noFill/>
                  </a:rPr>
                  <a:t> </a:t>
                </a:r>
              </a:p>
            </p:txBody>
          </p:sp>
        </mc:Fallback>
      </mc:AlternateContent>
      <p:grpSp>
        <p:nvGrpSpPr>
          <p:cNvPr id="102" name="组合 101">
            <a:extLst>
              <a:ext uri="{FF2B5EF4-FFF2-40B4-BE49-F238E27FC236}">
                <a16:creationId xmlns:a16="http://schemas.microsoft.com/office/drawing/2014/main" id="{AB91409E-5CBA-0B5A-848C-25C55A9BFD70}"/>
              </a:ext>
            </a:extLst>
          </p:cNvPr>
          <p:cNvGrpSpPr/>
          <p:nvPr/>
        </p:nvGrpSpPr>
        <p:grpSpPr>
          <a:xfrm>
            <a:off x="1023639" y="3596384"/>
            <a:ext cx="3558965" cy="2998819"/>
            <a:chOff x="210599" y="3674636"/>
            <a:chExt cx="3558965" cy="2998819"/>
          </a:xfrm>
        </p:grpSpPr>
        <p:grpSp>
          <p:nvGrpSpPr>
            <p:cNvPr id="61" name="组合 60">
              <a:extLst>
                <a:ext uri="{FF2B5EF4-FFF2-40B4-BE49-F238E27FC236}">
                  <a16:creationId xmlns:a16="http://schemas.microsoft.com/office/drawing/2014/main" id="{A2EAD309-2393-46ED-0C04-B64E82DC9FA0}"/>
                </a:ext>
              </a:extLst>
            </p:cNvPr>
            <p:cNvGrpSpPr/>
            <p:nvPr/>
          </p:nvGrpSpPr>
          <p:grpSpPr>
            <a:xfrm>
              <a:off x="210599" y="3674636"/>
              <a:ext cx="3374276" cy="2985290"/>
              <a:chOff x="1178157" y="3674636"/>
              <a:chExt cx="3374276" cy="2985290"/>
            </a:xfrm>
          </p:grpSpPr>
          <p:sp>
            <p:nvSpPr>
              <p:cNvPr id="9" name="椭圆 8">
                <a:extLst>
                  <a:ext uri="{FF2B5EF4-FFF2-40B4-BE49-F238E27FC236}">
                    <a16:creationId xmlns:a16="http://schemas.microsoft.com/office/drawing/2014/main" id="{8904A561-3600-A6D5-6A36-41B2899FD39D}"/>
                  </a:ext>
                </a:extLst>
              </p:cNvPr>
              <p:cNvSpPr/>
              <p:nvPr/>
            </p:nvSpPr>
            <p:spPr>
              <a:xfrm>
                <a:off x="1880315" y="3981738"/>
                <a:ext cx="2434107" cy="2434107"/>
              </a:xfrm>
              <a:prstGeom prst="ellipse">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E25FFEDB-C65E-6371-F761-9F3DCD4D9F45}"/>
                  </a:ext>
                </a:extLst>
              </p:cNvPr>
              <p:cNvSpPr/>
              <p:nvPr/>
            </p:nvSpPr>
            <p:spPr>
              <a:xfrm>
                <a:off x="2097108" y="4198531"/>
                <a:ext cx="2000519" cy="20005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7" name="直接连接符 16">
                <a:extLst>
                  <a:ext uri="{FF2B5EF4-FFF2-40B4-BE49-F238E27FC236}">
                    <a16:creationId xmlns:a16="http://schemas.microsoft.com/office/drawing/2014/main" id="{2092E9D4-F446-43A3-E2E2-329F234CAEF7}"/>
                  </a:ext>
                </a:extLst>
              </p:cNvPr>
              <p:cNvCxnSpPr>
                <a:stCxn id="9" idx="2"/>
                <a:endCxn id="12" idx="2"/>
              </p:cNvCxnSpPr>
              <p:nvPr/>
            </p:nvCxnSpPr>
            <p:spPr>
              <a:xfrm flipV="1">
                <a:off x="1880315" y="5198791"/>
                <a:ext cx="21679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E5596DD-1B5B-8815-959D-37262EB8978E}"/>
                  </a:ext>
                </a:extLst>
              </p:cNvPr>
              <p:cNvCxnSpPr>
                <a:stCxn id="9" idx="1"/>
                <a:endCxn id="12" idx="1"/>
              </p:cNvCxnSpPr>
              <p:nvPr/>
            </p:nvCxnSpPr>
            <p:spPr>
              <a:xfrm>
                <a:off x="2236782" y="4338205"/>
                <a:ext cx="153295" cy="153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C3F805F-70DB-DB58-4E31-9985DE89805C}"/>
                  </a:ext>
                </a:extLst>
              </p:cNvPr>
              <p:cNvCxnSpPr>
                <a:stCxn id="9" idx="3"/>
                <a:endCxn id="12" idx="3"/>
              </p:cNvCxnSpPr>
              <p:nvPr/>
            </p:nvCxnSpPr>
            <p:spPr>
              <a:xfrm flipV="1">
                <a:off x="2236782" y="5906081"/>
                <a:ext cx="153295" cy="1532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A55DAA42-D437-A418-88E5-8562CEB7FA5D}"/>
                  </a:ext>
                </a:extLst>
              </p:cNvPr>
              <p:cNvCxnSpPr>
                <a:stCxn id="9" idx="5"/>
                <a:endCxn id="12" idx="5"/>
              </p:cNvCxnSpPr>
              <p:nvPr/>
            </p:nvCxnSpPr>
            <p:spPr>
              <a:xfrm flipH="1" flipV="1">
                <a:off x="3804658" y="5906081"/>
                <a:ext cx="153297" cy="15329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0D742285-D002-1F24-0AF7-FFFA91696028}"/>
                  </a:ext>
                </a:extLst>
              </p:cNvPr>
              <p:cNvCxnSpPr>
                <a:stCxn id="9" idx="6"/>
                <a:endCxn id="12" idx="6"/>
              </p:cNvCxnSpPr>
              <p:nvPr/>
            </p:nvCxnSpPr>
            <p:spPr>
              <a:xfrm flipH="1" flipV="1">
                <a:off x="4097627" y="5198791"/>
                <a:ext cx="216795"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671D294-79DB-EF5B-C473-F8C0E50DB31E}"/>
                  </a:ext>
                </a:extLst>
              </p:cNvPr>
              <p:cNvCxnSpPr>
                <a:stCxn id="9" idx="7"/>
                <a:endCxn id="12" idx="7"/>
              </p:cNvCxnSpPr>
              <p:nvPr/>
            </p:nvCxnSpPr>
            <p:spPr>
              <a:xfrm flipH="1">
                <a:off x="3804658" y="4338205"/>
                <a:ext cx="153297" cy="153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FC02256A-E5BB-359D-387B-D2D8670D4292}"/>
                  </a:ext>
                </a:extLst>
              </p:cNvPr>
              <p:cNvCxnSpPr>
                <a:cxnSpLocks/>
                <a:stCxn id="9" idx="0"/>
                <a:endCxn id="12" idx="0"/>
              </p:cNvCxnSpPr>
              <p:nvPr/>
            </p:nvCxnSpPr>
            <p:spPr>
              <a:xfrm flipH="1">
                <a:off x="3097368" y="3981738"/>
                <a:ext cx="1" cy="21679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6A28E775-CC26-FF0B-87F4-E78C597A0303}"/>
                  </a:ext>
                </a:extLst>
              </p:cNvPr>
              <p:cNvCxnSpPr>
                <a:stCxn id="9" idx="4"/>
                <a:endCxn id="12" idx="4"/>
              </p:cNvCxnSpPr>
              <p:nvPr/>
            </p:nvCxnSpPr>
            <p:spPr>
              <a:xfrm flipH="1" flipV="1">
                <a:off x="3097368" y="6199050"/>
                <a:ext cx="1" cy="2167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D4C7B74C-433A-B92C-8C48-763CA2256EA1}"/>
                      </a:ext>
                    </a:extLst>
                  </p:cNvPr>
                  <p:cNvSpPr txBox="1"/>
                  <p:nvPr/>
                </p:nvSpPr>
                <p:spPr>
                  <a:xfrm>
                    <a:off x="1187495" y="4941159"/>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b="0" i="1" smtClean="0">
                              <a:latin typeface="Cambria Math" panose="02040503050406030204" pitchFamily="18" charset="0"/>
                            </a:rPr>
                            <m:t>360</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36" name="文本框 35">
                    <a:extLst>
                      <a:ext uri="{FF2B5EF4-FFF2-40B4-BE49-F238E27FC236}">
                        <a16:creationId xmlns:a16="http://schemas.microsoft.com/office/drawing/2014/main" id="{D4C7B74C-433A-B92C-8C48-763CA2256EA1}"/>
                      </a:ext>
                    </a:extLst>
                  </p:cNvPr>
                  <p:cNvSpPr txBox="1">
                    <a:spLocks noRot="1" noChangeAspect="1" noMove="1" noResize="1" noEditPoints="1" noAdjustHandles="1" noChangeArrowheads="1" noChangeShapeType="1" noTextEdit="1"/>
                  </p:cNvSpPr>
                  <p:nvPr/>
                </p:nvSpPr>
                <p:spPr>
                  <a:xfrm>
                    <a:off x="1187495" y="4941159"/>
                    <a:ext cx="692818" cy="246221"/>
                  </a:xfrm>
                  <a:prstGeom prst="rect">
                    <a:avLst/>
                  </a:prstGeom>
                  <a:blipFill>
                    <a:blip r:embed="rId4"/>
                    <a:stretch>
                      <a:fillRect l="-5263" r="-4386"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741D4324-E3D3-6114-0B3C-AA68A2767D72}"/>
                      </a:ext>
                    </a:extLst>
                  </p:cNvPr>
                  <p:cNvSpPr txBox="1"/>
                  <p:nvPr/>
                </p:nvSpPr>
                <p:spPr>
                  <a:xfrm>
                    <a:off x="1178157" y="5198240"/>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i="1" smtClean="0">
                              <a:latin typeface="Cambria Math" panose="02040503050406030204" pitchFamily="18" charset="0"/>
                            </a:rPr>
                            <m:t>8</m:t>
                          </m:r>
                          <m:r>
                            <a:rPr lang="en-US" altLang="zh-CN" sz="1600" b="0" i="1" smtClean="0">
                              <a:latin typeface="Cambria Math" panose="02040503050406030204" pitchFamily="18" charset="0"/>
                            </a:rPr>
                            <m:t>30</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38" name="文本框 37">
                    <a:extLst>
                      <a:ext uri="{FF2B5EF4-FFF2-40B4-BE49-F238E27FC236}">
                        <a16:creationId xmlns:a16="http://schemas.microsoft.com/office/drawing/2014/main" id="{741D4324-E3D3-6114-0B3C-AA68A2767D72}"/>
                      </a:ext>
                    </a:extLst>
                  </p:cNvPr>
                  <p:cNvSpPr txBox="1">
                    <a:spLocks noRot="1" noChangeAspect="1" noMove="1" noResize="1" noEditPoints="1" noAdjustHandles="1" noChangeArrowheads="1" noChangeShapeType="1" noTextEdit="1"/>
                  </p:cNvSpPr>
                  <p:nvPr/>
                </p:nvSpPr>
                <p:spPr>
                  <a:xfrm>
                    <a:off x="1178157" y="5198240"/>
                    <a:ext cx="692818" cy="246221"/>
                  </a:xfrm>
                  <a:prstGeom prst="rect">
                    <a:avLst/>
                  </a:prstGeom>
                  <a:blipFill>
                    <a:blip r:embed="rId5"/>
                    <a:stretch>
                      <a:fillRect l="-6140" r="-3509"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0603575D-0614-47DF-A256-0D7269D43C11}"/>
                      </a:ext>
                    </a:extLst>
                  </p:cNvPr>
                  <p:cNvSpPr txBox="1"/>
                  <p:nvPr/>
                </p:nvSpPr>
                <p:spPr>
                  <a:xfrm>
                    <a:off x="2422434" y="4441226"/>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b="0" i="1" smtClean="0">
                              <a:latin typeface="Cambria Math" panose="02040503050406030204" pitchFamily="18" charset="0"/>
                            </a:rPr>
                            <m:t>418</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40" name="文本框 39">
                    <a:extLst>
                      <a:ext uri="{FF2B5EF4-FFF2-40B4-BE49-F238E27FC236}">
                        <a16:creationId xmlns:a16="http://schemas.microsoft.com/office/drawing/2014/main" id="{0603575D-0614-47DF-A256-0D7269D43C11}"/>
                      </a:ext>
                    </a:extLst>
                  </p:cNvPr>
                  <p:cNvSpPr txBox="1">
                    <a:spLocks noRot="1" noChangeAspect="1" noMove="1" noResize="1" noEditPoints="1" noAdjustHandles="1" noChangeArrowheads="1" noChangeShapeType="1" noTextEdit="1"/>
                  </p:cNvSpPr>
                  <p:nvPr/>
                </p:nvSpPr>
                <p:spPr>
                  <a:xfrm>
                    <a:off x="2422434" y="4441226"/>
                    <a:ext cx="692818" cy="246221"/>
                  </a:xfrm>
                  <a:prstGeom prst="rect">
                    <a:avLst/>
                  </a:prstGeom>
                  <a:blipFill>
                    <a:blip r:embed="rId6"/>
                    <a:stretch>
                      <a:fillRect l="-5263" r="-1754"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2C2CB5D6-21BE-DE9E-DF67-AD6012A96AA8}"/>
                      </a:ext>
                    </a:extLst>
                  </p:cNvPr>
                  <p:cNvSpPr txBox="1"/>
                  <p:nvPr/>
                </p:nvSpPr>
                <p:spPr>
                  <a:xfrm>
                    <a:off x="2750958" y="3674636"/>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i="1" smtClean="0">
                              <a:latin typeface="Cambria Math" panose="02040503050406030204" pitchFamily="18" charset="0"/>
                            </a:rPr>
                            <m:t>4</m:t>
                          </m:r>
                          <m:r>
                            <a:rPr lang="en-US" altLang="zh-CN" sz="1600" b="0" i="1" smtClean="0">
                              <a:latin typeface="Cambria Math" panose="02040503050406030204" pitchFamily="18" charset="0"/>
                            </a:rPr>
                            <m:t>77</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50" name="文本框 49">
                    <a:extLst>
                      <a:ext uri="{FF2B5EF4-FFF2-40B4-BE49-F238E27FC236}">
                        <a16:creationId xmlns:a16="http://schemas.microsoft.com/office/drawing/2014/main" id="{2C2CB5D6-21BE-DE9E-DF67-AD6012A96AA8}"/>
                      </a:ext>
                    </a:extLst>
                  </p:cNvPr>
                  <p:cNvSpPr txBox="1">
                    <a:spLocks noRot="1" noChangeAspect="1" noMove="1" noResize="1" noEditPoints="1" noAdjustHandles="1" noChangeArrowheads="1" noChangeShapeType="1" noTextEdit="1"/>
                  </p:cNvSpPr>
                  <p:nvPr/>
                </p:nvSpPr>
                <p:spPr>
                  <a:xfrm>
                    <a:off x="2750958" y="3674636"/>
                    <a:ext cx="692818" cy="246221"/>
                  </a:xfrm>
                  <a:prstGeom prst="rect">
                    <a:avLst/>
                  </a:prstGeom>
                  <a:blipFill>
                    <a:blip r:embed="rId7"/>
                    <a:stretch>
                      <a:fillRect l="-6140" r="-877" b="-75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2D8E3DB3-DDBB-E0B5-814C-AD19454F2CCD}"/>
                      </a:ext>
                    </a:extLst>
                  </p:cNvPr>
                  <p:cNvSpPr txBox="1"/>
                  <p:nvPr/>
                </p:nvSpPr>
                <p:spPr>
                  <a:xfrm>
                    <a:off x="3859615" y="4014505"/>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b="0" i="1" smtClean="0">
                              <a:latin typeface="Cambria Math" panose="02040503050406030204" pitchFamily="18" charset="0"/>
                            </a:rPr>
                            <m:t>536</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52" name="文本框 51">
                    <a:extLst>
                      <a:ext uri="{FF2B5EF4-FFF2-40B4-BE49-F238E27FC236}">
                        <a16:creationId xmlns:a16="http://schemas.microsoft.com/office/drawing/2014/main" id="{2D8E3DB3-DDBB-E0B5-814C-AD19454F2CCD}"/>
                      </a:ext>
                    </a:extLst>
                  </p:cNvPr>
                  <p:cNvSpPr txBox="1">
                    <a:spLocks noRot="1" noChangeAspect="1" noMove="1" noResize="1" noEditPoints="1" noAdjustHandles="1" noChangeArrowheads="1" noChangeShapeType="1" noTextEdit="1"/>
                  </p:cNvSpPr>
                  <p:nvPr/>
                </p:nvSpPr>
                <p:spPr>
                  <a:xfrm>
                    <a:off x="3859615" y="4014505"/>
                    <a:ext cx="692818" cy="246221"/>
                  </a:xfrm>
                  <a:prstGeom prst="rect">
                    <a:avLst/>
                  </a:prstGeom>
                  <a:blipFill>
                    <a:blip r:embed="rId8"/>
                    <a:stretch>
                      <a:fillRect l="-6195" r="-4425"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D83D65FB-5004-07C6-D9B8-32B8F1D557A3}"/>
                      </a:ext>
                    </a:extLst>
                  </p:cNvPr>
                  <p:cNvSpPr txBox="1"/>
                  <p:nvPr/>
                </p:nvSpPr>
                <p:spPr>
                  <a:xfrm>
                    <a:off x="3480571" y="4941159"/>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i="1" smtClean="0">
                              <a:latin typeface="Cambria Math" panose="02040503050406030204" pitchFamily="18" charset="0"/>
                            </a:rPr>
                            <m:t>5</m:t>
                          </m:r>
                          <m:r>
                            <a:rPr lang="en-US" altLang="zh-CN" sz="1600" b="0" i="1" smtClean="0">
                              <a:latin typeface="Cambria Math" panose="02040503050406030204" pitchFamily="18" charset="0"/>
                            </a:rPr>
                            <m:t>95</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54" name="文本框 53">
                    <a:extLst>
                      <a:ext uri="{FF2B5EF4-FFF2-40B4-BE49-F238E27FC236}">
                        <a16:creationId xmlns:a16="http://schemas.microsoft.com/office/drawing/2014/main" id="{D83D65FB-5004-07C6-D9B8-32B8F1D557A3}"/>
                      </a:ext>
                    </a:extLst>
                  </p:cNvPr>
                  <p:cNvSpPr txBox="1">
                    <a:spLocks noRot="1" noChangeAspect="1" noMove="1" noResize="1" noEditPoints="1" noAdjustHandles="1" noChangeArrowheads="1" noChangeShapeType="1" noTextEdit="1"/>
                  </p:cNvSpPr>
                  <p:nvPr/>
                </p:nvSpPr>
                <p:spPr>
                  <a:xfrm>
                    <a:off x="3480571" y="4941159"/>
                    <a:ext cx="692818" cy="246221"/>
                  </a:xfrm>
                  <a:prstGeom prst="rect">
                    <a:avLst/>
                  </a:prstGeom>
                  <a:blipFill>
                    <a:blip r:embed="rId9"/>
                    <a:stretch>
                      <a:fillRect l="-6195" r="-1770"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2E3C3055-0CA6-A3FF-50E0-22F825EE1E77}"/>
                      </a:ext>
                    </a:extLst>
                  </p:cNvPr>
                  <p:cNvSpPr txBox="1"/>
                  <p:nvPr/>
                </p:nvSpPr>
                <p:spPr>
                  <a:xfrm>
                    <a:off x="3859615" y="6061226"/>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b="0" i="1" smtClean="0">
                              <a:latin typeface="Cambria Math" panose="02040503050406030204" pitchFamily="18" charset="0"/>
                            </a:rPr>
                            <m:t>653</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56" name="文本框 55">
                    <a:extLst>
                      <a:ext uri="{FF2B5EF4-FFF2-40B4-BE49-F238E27FC236}">
                        <a16:creationId xmlns:a16="http://schemas.microsoft.com/office/drawing/2014/main" id="{2E3C3055-0CA6-A3FF-50E0-22F825EE1E77}"/>
                      </a:ext>
                    </a:extLst>
                  </p:cNvPr>
                  <p:cNvSpPr txBox="1">
                    <a:spLocks noRot="1" noChangeAspect="1" noMove="1" noResize="1" noEditPoints="1" noAdjustHandles="1" noChangeArrowheads="1" noChangeShapeType="1" noTextEdit="1"/>
                  </p:cNvSpPr>
                  <p:nvPr/>
                </p:nvSpPr>
                <p:spPr>
                  <a:xfrm>
                    <a:off x="3859615" y="6061226"/>
                    <a:ext cx="692818" cy="246221"/>
                  </a:xfrm>
                  <a:prstGeom prst="rect">
                    <a:avLst/>
                  </a:prstGeom>
                  <a:blipFill>
                    <a:blip r:embed="rId10"/>
                    <a:stretch>
                      <a:fillRect l="-6195" r="-1770" b="-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51C92944-DC5F-4A4E-36F4-4BC90DF595E2}"/>
                      </a:ext>
                    </a:extLst>
                  </p:cNvPr>
                  <p:cNvSpPr txBox="1"/>
                  <p:nvPr/>
                </p:nvSpPr>
                <p:spPr>
                  <a:xfrm>
                    <a:off x="2750959" y="6413705"/>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i="1" smtClean="0">
                              <a:latin typeface="Cambria Math" panose="02040503050406030204" pitchFamily="18" charset="0"/>
                            </a:rPr>
                            <m:t>7</m:t>
                          </m:r>
                          <m:r>
                            <a:rPr lang="en-US" altLang="zh-CN" sz="1600" b="0" i="1" smtClean="0">
                              <a:latin typeface="Cambria Math" panose="02040503050406030204" pitchFamily="18" charset="0"/>
                            </a:rPr>
                            <m:t>12</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58" name="文本框 57">
                    <a:extLst>
                      <a:ext uri="{FF2B5EF4-FFF2-40B4-BE49-F238E27FC236}">
                        <a16:creationId xmlns:a16="http://schemas.microsoft.com/office/drawing/2014/main" id="{51C92944-DC5F-4A4E-36F4-4BC90DF595E2}"/>
                      </a:ext>
                    </a:extLst>
                  </p:cNvPr>
                  <p:cNvSpPr txBox="1">
                    <a:spLocks noRot="1" noChangeAspect="1" noMove="1" noResize="1" noEditPoints="1" noAdjustHandles="1" noChangeArrowheads="1" noChangeShapeType="1" noTextEdit="1"/>
                  </p:cNvSpPr>
                  <p:nvPr/>
                </p:nvSpPr>
                <p:spPr>
                  <a:xfrm>
                    <a:off x="2750959" y="6413705"/>
                    <a:ext cx="692818" cy="246221"/>
                  </a:xfrm>
                  <a:prstGeom prst="rect">
                    <a:avLst/>
                  </a:prstGeom>
                  <a:blipFill>
                    <a:blip r:embed="rId11"/>
                    <a:stretch>
                      <a:fillRect l="-6140" r="-877" b="-73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E6499947-4455-B221-5490-93F162FCB445}"/>
                      </a:ext>
                    </a:extLst>
                  </p:cNvPr>
                  <p:cNvSpPr txBox="1"/>
                  <p:nvPr/>
                </p:nvSpPr>
                <p:spPr>
                  <a:xfrm>
                    <a:off x="1629660" y="6056222"/>
                    <a:ext cx="692818" cy="246221"/>
                  </a:xfrm>
                  <a:prstGeom prst="rect">
                    <a:avLst/>
                  </a:prstGeom>
                  <a:noFill/>
                </p:spPr>
                <p:txBody>
                  <a:bodyPr wrap="none" lIns="0" tIns="0" rIns="0" bIns="0" rtlCol="0">
                    <a:spAutoFit/>
                  </a:bodyPr>
                  <a:lstStyle/>
                  <a:p>
                    <a:pPr/>
                    <a14:m>
                      <m:oMathPara xmlns:m="http://schemas.openxmlformats.org/officeDocument/2006/math">
                        <m:oMath>
                          <m:r>
                            <a:rPr lang="en-US" altLang="zh-CN" sz="1600" i="1" smtClean="0">
                              <a:latin typeface="Cambria Math" panose="02040503050406030204" pitchFamily="18" charset="0"/>
                            </a:rPr>
                            <m:t>7</m:t>
                          </m:r>
                          <m:r>
                            <a:rPr lang="en-US" altLang="zh-CN" sz="1600" b="0" i="1" smtClean="0">
                              <a:latin typeface="Cambria Math" panose="02040503050406030204" pitchFamily="18" charset="0"/>
                            </a:rPr>
                            <m:t>71</m:t>
                          </m:r>
                          <m:r>
                            <a:rPr lang="en-US" altLang="zh-CN" sz="1600" b="0" i="1" smtClean="0">
                              <a:latin typeface="Cambria Math" panose="02040503050406030204" pitchFamily="18" charset="0"/>
                            </a:rPr>
                            <m:t>𝑛𝑚</m:t>
                          </m:r>
                        </m:oMath>
                      </m:oMathPara>
                    </a14:m>
                    <a:endParaRPr lang="zh-CN" altLang="en-US" sz="1600" dirty="0"/>
                  </a:p>
                </p:txBody>
              </p:sp>
            </mc:Choice>
            <mc:Fallback xmlns="">
              <p:sp>
                <p:nvSpPr>
                  <p:cNvPr id="60" name="文本框 59">
                    <a:extLst>
                      <a:ext uri="{FF2B5EF4-FFF2-40B4-BE49-F238E27FC236}">
                        <a16:creationId xmlns:a16="http://schemas.microsoft.com/office/drawing/2014/main" id="{E6499947-4455-B221-5490-93F162FCB445}"/>
                      </a:ext>
                    </a:extLst>
                  </p:cNvPr>
                  <p:cNvSpPr txBox="1">
                    <a:spLocks noRot="1" noChangeAspect="1" noMove="1" noResize="1" noEditPoints="1" noAdjustHandles="1" noChangeArrowheads="1" noChangeShapeType="1" noTextEdit="1"/>
                  </p:cNvSpPr>
                  <p:nvPr/>
                </p:nvSpPr>
                <p:spPr>
                  <a:xfrm>
                    <a:off x="1629660" y="6056222"/>
                    <a:ext cx="692818" cy="246221"/>
                  </a:xfrm>
                  <a:prstGeom prst="rect">
                    <a:avLst/>
                  </a:prstGeom>
                  <a:blipFill>
                    <a:blip r:embed="rId12"/>
                    <a:stretch>
                      <a:fillRect l="-6140" r="-877" b="-7500"/>
                    </a:stretch>
                  </a:blipFill>
                </p:spPr>
                <p:txBody>
                  <a:bodyPr/>
                  <a:lstStyle/>
                  <a:p>
                    <a:r>
                      <a:rPr lang="zh-CN" altLang="en-US">
                        <a:noFill/>
                      </a:rPr>
                      <a:t> </a:t>
                    </a:r>
                  </a:p>
                </p:txBody>
              </p:sp>
            </mc:Fallback>
          </mc:AlternateContent>
        </p:grpSp>
        <p:cxnSp>
          <p:nvCxnSpPr>
            <p:cNvPr id="64" name="直接连接符 63">
              <a:extLst>
                <a:ext uri="{FF2B5EF4-FFF2-40B4-BE49-F238E27FC236}">
                  <a16:creationId xmlns:a16="http://schemas.microsoft.com/office/drawing/2014/main" id="{38F5C217-CEF9-7B81-F6C6-E924EACB4125}"/>
                </a:ext>
              </a:extLst>
            </p:cNvPr>
            <p:cNvCxnSpPr>
              <a:cxnSpLocks/>
            </p:cNvCxnSpPr>
            <p:nvPr/>
          </p:nvCxnSpPr>
          <p:spPr>
            <a:xfrm flipV="1">
              <a:off x="2513013" y="4076700"/>
              <a:ext cx="91746" cy="1970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14CD4244-CD85-1B31-30D0-3086C589C4FA}"/>
                </a:ext>
              </a:extLst>
            </p:cNvPr>
            <p:cNvCxnSpPr>
              <a:cxnSpLocks/>
            </p:cNvCxnSpPr>
            <p:nvPr/>
          </p:nvCxnSpPr>
          <p:spPr>
            <a:xfrm rot="16200000" flipV="1">
              <a:off x="3088842" y="5565249"/>
              <a:ext cx="91746" cy="1970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527A23A-B5FD-F010-4174-1078E982C10E}"/>
                </a:ext>
              </a:extLst>
            </p:cNvPr>
            <p:cNvCxnSpPr>
              <a:cxnSpLocks/>
            </p:cNvCxnSpPr>
            <p:nvPr/>
          </p:nvCxnSpPr>
          <p:spPr>
            <a:xfrm flipV="1">
              <a:off x="1637442" y="6114619"/>
              <a:ext cx="91746" cy="1970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1AC1976B-9BDB-2A2C-9A40-6A67BBB9A4EC}"/>
                </a:ext>
              </a:extLst>
            </p:cNvPr>
            <p:cNvCxnSpPr>
              <a:cxnSpLocks/>
            </p:cNvCxnSpPr>
            <p:nvPr/>
          </p:nvCxnSpPr>
          <p:spPr>
            <a:xfrm rot="16200000" flipV="1">
              <a:off x="1061180" y="4672920"/>
              <a:ext cx="91746" cy="19708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文本框 74">
                  <a:extLst>
                    <a:ext uri="{FF2B5EF4-FFF2-40B4-BE49-F238E27FC236}">
                      <a16:creationId xmlns:a16="http://schemas.microsoft.com/office/drawing/2014/main" id="{E5EF0AA6-68E3-F7F8-5E13-D031E2878D34}"/>
                    </a:ext>
                  </a:extLst>
                </p:cNvPr>
                <p:cNvSpPr txBox="1"/>
                <p:nvPr/>
              </p:nvSpPr>
              <p:spPr>
                <a:xfrm>
                  <a:off x="2379471" y="3688730"/>
                  <a:ext cx="1390093" cy="338554"/>
                </a:xfrm>
                <a:prstGeom prst="rect">
                  <a:avLst/>
                </a:prstGeom>
                <a:noFill/>
              </p:spPr>
              <p:txBody>
                <a:bodyPr wrap="square">
                  <a:spAutoFit/>
                </a:bodyPr>
                <a:lstStyle/>
                <a:p>
                  <a:pPr/>
                  <a14:m>
                    <m:oMathPara xmlns:m="http://schemas.openxmlformats.org/officeDocument/2006/math">
                      <m:oMath>
                        <m:sSub>
                          <m:sSubPr>
                            <m:ctrlPr>
                              <a:rPr lang="en-US" altLang="zh-CN" sz="1600" b="0" i="1" smtClean="0">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𝜆</m:t>
                            </m:r>
                          </m:e>
                          <m:sub>
                            <m:r>
                              <a:rPr lang="en-US" altLang="zh-CN" sz="1600" b="0" i="1" smtClean="0">
                                <a:solidFill>
                                  <a:srgbClr val="FF0000"/>
                                </a:solidFill>
                                <a:latin typeface="Cambria Math" panose="02040503050406030204" pitchFamily="18" charset="0"/>
                              </a:rPr>
                              <m:t>1</m:t>
                            </m:r>
                          </m:sub>
                        </m:sSub>
                        <m:r>
                          <a:rPr lang="en-US" altLang="zh-CN" sz="1600" b="0" i="1" smtClean="0">
                            <a:solidFill>
                              <a:srgbClr val="FF0000"/>
                            </a:solidFill>
                            <a:latin typeface="Cambria Math" panose="02040503050406030204" pitchFamily="18" charset="0"/>
                          </a:rPr>
                          <m:t>=506</m:t>
                        </m:r>
                        <m:r>
                          <a:rPr lang="en-US" altLang="zh-CN" sz="1600" b="0" i="1" smtClean="0">
                            <a:solidFill>
                              <a:srgbClr val="FF0000"/>
                            </a:solidFill>
                            <a:latin typeface="Cambria Math" panose="02040503050406030204" pitchFamily="18" charset="0"/>
                          </a:rPr>
                          <m:t>𝑛𝑚</m:t>
                        </m:r>
                      </m:oMath>
                    </m:oMathPara>
                  </a14:m>
                  <a:endParaRPr lang="zh-CN" altLang="en-US" sz="1600" dirty="0">
                    <a:solidFill>
                      <a:srgbClr val="FF0000"/>
                    </a:solidFill>
                  </a:endParaRPr>
                </a:p>
              </p:txBody>
            </p:sp>
          </mc:Choice>
          <mc:Fallback xmlns="">
            <p:sp>
              <p:nvSpPr>
                <p:cNvPr id="75" name="文本框 74">
                  <a:extLst>
                    <a:ext uri="{FF2B5EF4-FFF2-40B4-BE49-F238E27FC236}">
                      <a16:creationId xmlns:a16="http://schemas.microsoft.com/office/drawing/2014/main" id="{E5EF0AA6-68E3-F7F8-5E13-D031E2878D34}"/>
                    </a:ext>
                  </a:extLst>
                </p:cNvPr>
                <p:cNvSpPr txBox="1">
                  <a:spLocks noRot="1" noChangeAspect="1" noMove="1" noResize="1" noEditPoints="1" noAdjustHandles="1" noChangeArrowheads="1" noChangeShapeType="1" noTextEdit="1"/>
                </p:cNvSpPr>
                <p:nvPr/>
              </p:nvSpPr>
              <p:spPr>
                <a:xfrm>
                  <a:off x="2379471" y="3688730"/>
                  <a:ext cx="1390093" cy="338554"/>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 name="文本框 76">
                  <a:extLst>
                    <a:ext uri="{FF2B5EF4-FFF2-40B4-BE49-F238E27FC236}">
                      <a16:creationId xmlns:a16="http://schemas.microsoft.com/office/drawing/2014/main" id="{BD2988C0-05E2-E815-0BAE-0EC1BF3CAF30}"/>
                    </a:ext>
                  </a:extLst>
                </p:cNvPr>
                <p:cNvSpPr txBox="1"/>
                <p:nvPr/>
              </p:nvSpPr>
              <p:spPr>
                <a:xfrm>
                  <a:off x="1791570" y="5213175"/>
                  <a:ext cx="1390093" cy="338554"/>
                </a:xfrm>
                <a:prstGeom prst="rect">
                  <a:avLst/>
                </a:prstGeom>
                <a:noFill/>
              </p:spPr>
              <p:txBody>
                <a:bodyPr wrap="square">
                  <a:spAutoFit/>
                </a:bodyPr>
                <a:lstStyle/>
                <a:p>
                  <a:pPr/>
                  <a14:m>
                    <m:oMathPara xmlns:m="http://schemas.openxmlformats.org/officeDocument/2006/math">
                      <m:oMath>
                        <m:sSub>
                          <m:sSubPr>
                            <m:ctrlPr>
                              <a:rPr lang="en-US" altLang="zh-CN" sz="1600" b="0" i="1" smtClean="0">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𝜆</m:t>
                            </m:r>
                          </m:e>
                          <m:sub>
                            <m:r>
                              <a:rPr lang="en-US" altLang="zh-CN" sz="1600" b="0" i="1" smtClean="0">
                                <a:solidFill>
                                  <a:srgbClr val="FF0000"/>
                                </a:solidFill>
                                <a:latin typeface="Cambria Math" panose="02040503050406030204" pitchFamily="18" charset="0"/>
                              </a:rPr>
                              <m:t>2</m:t>
                            </m:r>
                          </m:sub>
                        </m:sSub>
                        <m:r>
                          <a:rPr lang="en-US" altLang="zh-CN" sz="1600" b="0" i="1" smtClean="0">
                            <a:solidFill>
                              <a:srgbClr val="FF0000"/>
                            </a:solidFill>
                            <a:latin typeface="Cambria Math" panose="02040503050406030204" pitchFamily="18" charset="0"/>
                          </a:rPr>
                          <m:t>=624</m:t>
                        </m:r>
                        <m:r>
                          <a:rPr lang="en-US" altLang="zh-CN" sz="1600" b="0" i="1" smtClean="0">
                            <a:solidFill>
                              <a:srgbClr val="FF0000"/>
                            </a:solidFill>
                            <a:latin typeface="Cambria Math" panose="02040503050406030204" pitchFamily="18" charset="0"/>
                          </a:rPr>
                          <m:t>𝑛𝑚</m:t>
                        </m:r>
                      </m:oMath>
                    </m:oMathPara>
                  </a14:m>
                  <a:endParaRPr lang="zh-CN" altLang="en-US" sz="1600" dirty="0">
                    <a:solidFill>
                      <a:srgbClr val="FF0000"/>
                    </a:solidFill>
                  </a:endParaRPr>
                </a:p>
              </p:txBody>
            </p:sp>
          </mc:Choice>
          <mc:Fallback xmlns="">
            <p:sp>
              <p:nvSpPr>
                <p:cNvPr id="77" name="文本框 76">
                  <a:extLst>
                    <a:ext uri="{FF2B5EF4-FFF2-40B4-BE49-F238E27FC236}">
                      <a16:creationId xmlns:a16="http://schemas.microsoft.com/office/drawing/2014/main" id="{BD2988C0-05E2-E815-0BAE-0EC1BF3CAF30}"/>
                    </a:ext>
                  </a:extLst>
                </p:cNvPr>
                <p:cNvSpPr txBox="1">
                  <a:spLocks noRot="1" noChangeAspect="1" noMove="1" noResize="1" noEditPoints="1" noAdjustHandles="1" noChangeArrowheads="1" noChangeShapeType="1" noTextEdit="1"/>
                </p:cNvSpPr>
                <p:nvPr/>
              </p:nvSpPr>
              <p:spPr>
                <a:xfrm>
                  <a:off x="1791570" y="5213175"/>
                  <a:ext cx="1390093" cy="338554"/>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9" name="文本框 78">
                  <a:extLst>
                    <a:ext uri="{FF2B5EF4-FFF2-40B4-BE49-F238E27FC236}">
                      <a16:creationId xmlns:a16="http://schemas.microsoft.com/office/drawing/2014/main" id="{44F57CD5-8B52-A013-2C34-84ECC4A9EAA1}"/>
                    </a:ext>
                  </a:extLst>
                </p:cNvPr>
                <p:cNvSpPr txBox="1"/>
                <p:nvPr/>
              </p:nvSpPr>
              <p:spPr>
                <a:xfrm>
                  <a:off x="413633" y="6334901"/>
                  <a:ext cx="1390093" cy="338554"/>
                </a:xfrm>
                <a:prstGeom prst="rect">
                  <a:avLst/>
                </a:prstGeom>
                <a:noFill/>
              </p:spPr>
              <p:txBody>
                <a:bodyPr wrap="square">
                  <a:spAutoFit/>
                </a:bodyPr>
                <a:lstStyle/>
                <a:p>
                  <a:pPr/>
                  <a14:m>
                    <m:oMathPara xmlns:m="http://schemas.openxmlformats.org/officeDocument/2006/math">
                      <m:oMath>
                        <m:sSub>
                          <m:sSubPr>
                            <m:ctrlPr>
                              <a:rPr lang="en-US" altLang="zh-CN" sz="1600" b="0" i="1" smtClean="0">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𝜆</m:t>
                            </m:r>
                          </m:e>
                          <m:sub>
                            <m:r>
                              <a:rPr lang="en-US" altLang="zh-CN" sz="1600" b="0" i="1" smtClean="0">
                                <a:solidFill>
                                  <a:srgbClr val="FF0000"/>
                                </a:solidFill>
                                <a:latin typeface="Cambria Math" panose="02040503050406030204" pitchFamily="18" charset="0"/>
                              </a:rPr>
                              <m:t>3</m:t>
                            </m:r>
                          </m:sub>
                        </m:sSub>
                        <m:r>
                          <a:rPr lang="en-US" altLang="zh-CN" sz="1600" b="0" i="1" smtClean="0">
                            <a:solidFill>
                              <a:srgbClr val="FF0000"/>
                            </a:solidFill>
                            <a:latin typeface="Cambria Math" panose="02040503050406030204" pitchFamily="18" charset="0"/>
                          </a:rPr>
                          <m:t>=741</m:t>
                        </m:r>
                        <m:r>
                          <a:rPr lang="en-US" altLang="zh-CN" sz="1600" b="0" i="1" smtClean="0">
                            <a:solidFill>
                              <a:srgbClr val="FF0000"/>
                            </a:solidFill>
                            <a:latin typeface="Cambria Math" panose="02040503050406030204" pitchFamily="18" charset="0"/>
                          </a:rPr>
                          <m:t>𝑛𝑚</m:t>
                        </m:r>
                      </m:oMath>
                    </m:oMathPara>
                  </a14:m>
                  <a:endParaRPr lang="zh-CN" altLang="en-US" sz="1600" dirty="0">
                    <a:solidFill>
                      <a:srgbClr val="FF0000"/>
                    </a:solidFill>
                  </a:endParaRPr>
                </a:p>
              </p:txBody>
            </p:sp>
          </mc:Choice>
          <mc:Fallback xmlns="">
            <p:sp>
              <p:nvSpPr>
                <p:cNvPr id="79" name="文本框 78">
                  <a:extLst>
                    <a:ext uri="{FF2B5EF4-FFF2-40B4-BE49-F238E27FC236}">
                      <a16:creationId xmlns:a16="http://schemas.microsoft.com/office/drawing/2014/main" id="{44F57CD5-8B52-A013-2C34-84ECC4A9EAA1}"/>
                    </a:ext>
                  </a:extLst>
                </p:cNvPr>
                <p:cNvSpPr txBox="1">
                  <a:spLocks noRot="1" noChangeAspect="1" noMove="1" noResize="1" noEditPoints="1" noAdjustHandles="1" noChangeArrowheads="1" noChangeShapeType="1" noTextEdit="1"/>
                </p:cNvSpPr>
                <p:nvPr/>
              </p:nvSpPr>
              <p:spPr>
                <a:xfrm>
                  <a:off x="413633" y="6334901"/>
                  <a:ext cx="1390093" cy="338554"/>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42FE2A99-55E2-B942-B1C1-BA81ACB6DFA3}"/>
                    </a:ext>
                  </a:extLst>
                </p:cNvPr>
                <p:cNvSpPr txBox="1"/>
                <p:nvPr/>
              </p:nvSpPr>
              <p:spPr>
                <a:xfrm>
                  <a:off x="1162415" y="4726849"/>
                  <a:ext cx="1390093" cy="338554"/>
                </a:xfrm>
                <a:prstGeom prst="rect">
                  <a:avLst/>
                </a:prstGeom>
                <a:noFill/>
              </p:spPr>
              <p:txBody>
                <a:bodyPr wrap="square">
                  <a:spAutoFit/>
                </a:bodyPr>
                <a:lstStyle/>
                <a:p>
                  <a:pPr/>
                  <a14:m>
                    <m:oMathPara xmlns:m="http://schemas.openxmlformats.org/officeDocument/2006/math">
                      <m:oMath>
                        <m:sSub>
                          <m:sSubPr>
                            <m:ctrlPr>
                              <a:rPr lang="en-US" altLang="zh-CN" sz="1600" b="0" i="1" smtClean="0">
                                <a:solidFill>
                                  <a:srgbClr val="FF0000"/>
                                </a:solidFill>
                                <a:latin typeface="Cambria Math" panose="02040503050406030204" pitchFamily="18" charset="0"/>
                              </a:rPr>
                            </m:ctrlPr>
                          </m:sSubPr>
                          <m:e>
                            <m:r>
                              <a:rPr lang="en-US" altLang="zh-CN" sz="1600" b="0" i="1" smtClean="0">
                                <a:solidFill>
                                  <a:srgbClr val="FF0000"/>
                                </a:solidFill>
                                <a:latin typeface="Cambria Math" panose="02040503050406030204" pitchFamily="18" charset="0"/>
                              </a:rPr>
                              <m:t>𝜆</m:t>
                            </m:r>
                          </m:e>
                          <m:sub>
                            <m:r>
                              <a:rPr lang="en-US" altLang="zh-CN" sz="1600" b="0" i="1" smtClean="0">
                                <a:solidFill>
                                  <a:srgbClr val="FF0000"/>
                                </a:solidFill>
                                <a:latin typeface="Cambria Math" panose="02040503050406030204" pitchFamily="18" charset="0"/>
                              </a:rPr>
                              <m:t>4</m:t>
                            </m:r>
                          </m:sub>
                        </m:sSub>
                        <m:r>
                          <a:rPr lang="en-US" altLang="zh-CN" sz="1600" b="0" i="1" smtClean="0">
                            <a:solidFill>
                              <a:srgbClr val="FF0000"/>
                            </a:solidFill>
                            <a:latin typeface="Cambria Math" panose="02040503050406030204" pitchFamily="18" charset="0"/>
                          </a:rPr>
                          <m:t>=389</m:t>
                        </m:r>
                        <m:r>
                          <a:rPr lang="en-US" altLang="zh-CN" sz="1600" b="0" i="1" smtClean="0">
                            <a:solidFill>
                              <a:srgbClr val="FF0000"/>
                            </a:solidFill>
                            <a:latin typeface="Cambria Math" panose="02040503050406030204" pitchFamily="18" charset="0"/>
                          </a:rPr>
                          <m:t>𝑛𝑚</m:t>
                        </m:r>
                      </m:oMath>
                    </m:oMathPara>
                  </a14:m>
                  <a:endParaRPr lang="zh-CN" altLang="en-US" sz="1600" dirty="0">
                    <a:solidFill>
                      <a:srgbClr val="FF0000"/>
                    </a:solidFill>
                  </a:endParaRPr>
                </a:p>
              </p:txBody>
            </p:sp>
          </mc:Choice>
          <mc:Fallback xmlns="">
            <p:sp>
              <p:nvSpPr>
                <p:cNvPr id="101" name="文本框 100">
                  <a:extLst>
                    <a:ext uri="{FF2B5EF4-FFF2-40B4-BE49-F238E27FC236}">
                      <a16:creationId xmlns:a16="http://schemas.microsoft.com/office/drawing/2014/main" id="{42FE2A99-55E2-B942-B1C1-BA81ACB6DFA3}"/>
                    </a:ext>
                  </a:extLst>
                </p:cNvPr>
                <p:cNvSpPr txBox="1">
                  <a:spLocks noRot="1" noChangeAspect="1" noMove="1" noResize="1" noEditPoints="1" noAdjustHandles="1" noChangeArrowheads="1" noChangeShapeType="1" noTextEdit="1"/>
                </p:cNvSpPr>
                <p:nvPr/>
              </p:nvSpPr>
              <p:spPr>
                <a:xfrm>
                  <a:off x="1162415" y="4726849"/>
                  <a:ext cx="1390093" cy="338554"/>
                </a:xfrm>
                <a:prstGeom prst="rect">
                  <a:avLst/>
                </a:prstGeom>
                <a:blipFill>
                  <a:blip r:embed="rId1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9277F5A4-FC55-9FE1-D134-CF37B8CBA960}"/>
                  </a:ext>
                </a:extLst>
              </p:cNvPr>
              <p:cNvSpPr txBox="1"/>
              <p:nvPr/>
            </p:nvSpPr>
            <p:spPr>
              <a:xfrm>
                <a:off x="5085161" y="2373596"/>
                <a:ext cx="7024268" cy="4161652"/>
              </a:xfrm>
              <a:prstGeom prst="rect">
                <a:avLst/>
              </a:prstGeom>
              <a:noFill/>
            </p:spPr>
            <p:txBody>
              <a:bodyPr wrap="square">
                <a:spAutoFit/>
              </a:bodyPr>
              <a:lstStyle/>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当然，也可以用重要性采样得到波长，也就是让概率密度</a:t>
                </a:r>
                <a14:m>
                  <m:oMath xmlns:m="http://schemas.openxmlformats.org/officeDocument/2006/math">
                    <m:r>
                      <a:rPr lang="en-US" altLang="zh-CN" sz="1600" b="0" i="1" dirty="0" smtClean="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oMath>
                </a14:m>
                <a:r>
                  <a:rPr lang="zh-CN" altLang="en-US" sz="1600" dirty="0">
                    <a:latin typeface="Noto Sans SC" panose="020B0200000000000000" pitchFamily="34" charset="-122"/>
                    <a:ea typeface="Noto Sans SC" panose="020B0200000000000000" pitchFamily="34" charset="-122"/>
                  </a:rPr>
                  <a:t>的形状尽可能贴近被积函数。</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我们将采用如下的概率密度函数经验公式：</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ea typeface="Cambria Math" panose="02040503050406030204" pitchFamily="18" charset="0"/>
                            </a:rPr>
                          </m:ctrlPr>
                        </m:fPr>
                        <m:num>
                          <m:r>
                            <a:rPr lang="en-US" altLang="zh-CN" sz="1600" b="0" i="1" dirty="0" smtClean="0">
                              <a:latin typeface="Cambria Math" panose="02040503050406030204" pitchFamily="18" charset="0"/>
                              <a:ea typeface="Cambria Math" panose="02040503050406030204" pitchFamily="18" charset="0"/>
                            </a:rPr>
                            <m:t>𝑓</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num>
                        <m:den>
                          <m:nary>
                            <m:naryPr>
                              <m:ctrlPr>
                                <a:rPr lang="en-US" altLang="zh-CN" sz="1600" b="0" i="1" dirty="0" smtClean="0">
                                  <a:latin typeface="Cambria Math" panose="02040503050406030204" pitchFamily="18" charset="0"/>
                                  <a:ea typeface="Cambria Math" panose="02040503050406030204" pitchFamily="18" charset="0"/>
                                </a:rPr>
                              </m:ctrlPr>
                            </m:naryPr>
                            <m:sub>
                              <m:r>
                                <a:rPr lang="en-US" altLang="zh-CN" sz="1600" b="0" i="1" dirty="0" smtClean="0">
                                  <a:latin typeface="Cambria Math" panose="02040503050406030204" pitchFamily="18" charset="0"/>
                                  <a:ea typeface="Cambria Math" panose="02040503050406030204" pitchFamily="18" charset="0"/>
                                </a:rPr>
                                <m:t>360</m:t>
                              </m:r>
                            </m:sub>
                            <m:sup>
                              <m:r>
                                <a:rPr lang="en-US" altLang="zh-CN" sz="1600" b="0" i="1" dirty="0" smtClean="0">
                                  <a:latin typeface="Cambria Math" panose="02040503050406030204" pitchFamily="18" charset="0"/>
                                  <a:ea typeface="Cambria Math" panose="02040503050406030204" pitchFamily="18" charset="0"/>
                                </a:rPr>
                                <m:t>830</m:t>
                              </m:r>
                            </m:sup>
                            <m:e>
                              <m:r>
                                <a:rPr lang="en-US" altLang="zh-CN" sz="1600" b="0" i="1" dirty="0" smtClean="0">
                                  <a:latin typeface="Cambria Math" panose="02040503050406030204" pitchFamily="18" charset="0"/>
                                  <a:ea typeface="Cambria Math" panose="02040503050406030204" pitchFamily="18" charset="0"/>
                                </a:rPr>
                                <m:t>𝑓</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𝑑</m:t>
                              </m:r>
                              <m:r>
                                <a:rPr lang="en-US" altLang="zh-CN" sz="1600" b="0" i="1" dirty="0" smtClean="0">
                                  <a:latin typeface="Cambria Math" panose="02040503050406030204" pitchFamily="18" charset="0"/>
                                  <a:ea typeface="Cambria Math" panose="02040503050406030204" pitchFamily="18" charset="0"/>
                                </a:rPr>
                                <m:t>𝜆</m:t>
                              </m:r>
                            </m:e>
                          </m:nary>
                        </m:den>
                      </m:f>
                      <m:r>
                        <a:rPr lang="en-US" altLang="zh-CN" sz="1600" b="0" i="1" dirty="0" smtClean="0">
                          <a:latin typeface="Cambria Math" panose="02040503050406030204" pitchFamily="18" charset="0"/>
                          <a:ea typeface="Cambria Math" panose="02040503050406030204" pitchFamily="18" charset="0"/>
                        </a:rPr>
                        <m:t>,  </m:t>
                      </m:r>
                      <m:r>
                        <a:rPr lang="en-US" altLang="zh-CN" sz="1600" b="0" i="1" dirty="0" smtClean="0">
                          <a:latin typeface="Cambria Math" panose="02040503050406030204" pitchFamily="18" charset="0"/>
                          <a:ea typeface="Cambria Math" panose="02040503050406030204" pitchFamily="18" charset="0"/>
                        </a:rPr>
                        <m:t>𝑓</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ea typeface="Cambria Math" panose="02040503050406030204" pitchFamily="18" charset="0"/>
                            </a:rPr>
                          </m:ctrlPr>
                        </m:fPr>
                        <m:num>
                          <m:r>
                            <a:rPr lang="en-US" altLang="zh-CN" sz="1600" b="0" i="1" dirty="0" smtClean="0">
                              <a:latin typeface="Cambria Math" panose="02040503050406030204" pitchFamily="18" charset="0"/>
                              <a:ea typeface="Cambria Math" panose="02040503050406030204" pitchFamily="18" charset="0"/>
                            </a:rPr>
                            <m:t>1</m:t>
                          </m:r>
                        </m:num>
                        <m:den>
                          <m:func>
                            <m:funcPr>
                              <m:ctrlPr>
                                <a:rPr lang="en-US" altLang="zh-CN" sz="1600" b="0" i="1" dirty="0" smtClean="0">
                                  <a:latin typeface="Cambria Math" panose="02040503050406030204" pitchFamily="18" charset="0"/>
                                  <a:ea typeface="Cambria Math" panose="02040503050406030204" pitchFamily="18" charset="0"/>
                                </a:rPr>
                              </m:ctrlPr>
                            </m:funcPr>
                            <m:fName>
                              <m:sSup>
                                <m:sSupPr>
                                  <m:ctrlPr>
                                    <a:rPr lang="en-US" altLang="zh-CN" sz="1600" b="0" i="0" dirty="0" smtClean="0">
                                      <a:latin typeface="Cambria Math" panose="02040503050406030204" pitchFamily="18" charset="0"/>
                                      <a:ea typeface="Cambria Math" panose="02040503050406030204" pitchFamily="18" charset="0"/>
                                    </a:rPr>
                                  </m:ctrlPr>
                                </m:sSupPr>
                                <m:e>
                                  <m:r>
                                    <m:rPr>
                                      <m:sty m:val="p"/>
                                    </m:rPr>
                                    <a:rPr lang="en-US" altLang="zh-CN" sz="1600" b="0" i="0" dirty="0" smtClean="0">
                                      <a:latin typeface="Cambria Math" panose="02040503050406030204" pitchFamily="18" charset="0"/>
                                      <a:ea typeface="Cambria Math" panose="02040503050406030204" pitchFamily="18" charset="0"/>
                                    </a:rPr>
                                    <m:t>cosh</m:t>
                                  </m:r>
                                </m:e>
                                <m:sup>
                                  <m:r>
                                    <a:rPr lang="en-US" altLang="zh-CN" sz="1600" b="0" i="1" dirty="0" smtClean="0">
                                      <a:latin typeface="Cambria Math" panose="02040503050406030204" pitchFamily="18" charset="0"/>
                                      <a:ea typeface="Cambria Math" panose="02040503050406030204" pitchFamily="18" charset="0"/>
                                    </a:rPr>
                                    <m:t>2</m:t>
                                  </m:r>
                                </m:sup>
                              </m:sSup>
                            </m:fName>
                            <m:e>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𝐴</m:t>
                                  </m:r>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𝜆</m:t>
                                      </m:r>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𝐵</m:t>
                                      </m:r>
                                    </m:e>
                                  </m:d>
                                </m:e>
                              </m:d>
                            </m:e>
                          </m:func>
                        </m:den>
                      </m:f>
                      <m:r>
                        <a:rPr lang="en-US" altLang="zh-CN" sz="1600" b="0" i="1" dirty="0" smtClean="0">
                          <a:latin typeface="Cambria Math" panose="02040503050406030204" pitchFamily="18" charset="0"/>
                          <a:ea typeface="Cambria Math" panose="02040503050406030204" pitchFamily="18" charset="0"/>
                        </a:rPr>
                        <m:t>,  </m:t>
                      </m:r>
                      <m:r>
                        <a:rPr lang="en-US" altLang="zh-CN" sz="1600" b="0" i="1" dirty="0" smtClean="0">
                          <a:latin typeface="Cambria Math" panose="02040503050406030204" pitchFamily="18" charset="0"/>
                          <a:ea typeface="Cambria Math" panose="02040503050406030204" pitchFamily="18" charset="0"/>
                        </a:rPr>
                        <m:t>𝜆</m:t>
                      </m:r>
                      <m:r>
                        <a:rPr lang="en-US" altLang="zh-CN" sz="1600" b="0" i="1" dirty="0" smtClean="0">
                          <a:latin typeface="Cambria Math" panose="02040503050406030204" pitchFamily="18" charset="0"/>
                          <a:ea typeface="Cambria Math" panose="02040503050406030204" pitchFamily="18" charset="0"/>
                        </a:rPr>
                        <m:t>∈</m:t>
                      </m:r>
                      <m:d>
                        <m:dPr>
                          <m:begChr m:val="["/>
                          <m:endChr m:val="]"/>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360,830</m:t>
                          </m:r>
                        </m:e>
                      </m:d>
                    </m:oMath>
                  </m:oMathPara>
                </a14:m>
                <a:endParaRPr lang="en-US" altLang="zh-CN" sz="1600" dirty="0"/>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其中，</a:t>
                </a:r>
                <a:r>
                  <a:rPr lang="en-US" altLang="zh-CN" sz="1600" dirty="0">
                    <a:ea typeface="Cambria Math" panose="02040503050406030204" pitchFamily="18" charset="0"/>
                  </a:rPr>
                  <a:t> </a:t>
                </a:r>
                <a14:m>
                  <m:oMath xmlns:m="http://schemas.openxmlformats.org/officeDocument/2006/math">
                    <m:r>
                      <a:rPr lang="en-US" altLang="zh-CN" sz="1600" i="1" dirty="0">
                        <a:latin typeface="Cambria Math" panose="02040503050406030204" pitchFamily="18" charset="0"/>
                        <a:ea typeface="Cambria Math" panose="02040503050406030204" pitchFamily="18" charset="0"/>
                      </a:rPr>
                      <m:t>𝐴</m:t>
                    </m:r>
                    <m:r>
                      <a:rPr lang="en-US" altLang="zh-CN" sz="1600" b="0" i="1" dirty="0" smtClean="0">
                        <a:latin typeface="Cambria Math" panose="02040503050406030204" pitchFamily="18" charset="0"/>
                        <a:ea typeface="Cambria Math" panose="02040503050406030204" pitchFamily="18" charset="0"/>
                      </a:rPr>
                      <m:t>=0.0072</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i="1" dirty="0">
                        <a:latin typeface="Cambria Math" panose="02040503050406030204" pitchFamily="18" charset="0"/>
                        <a:ea typeface="Cambria Math" panose="02040503050406030204" pitchFamily="18" charset="0"/>
                      </a:rPr>
                      <m:t>𝐵</m:t>
                    </m:r>
                    <m:r>
                      <a:rPr lang="en-US" altLang="zh-CN" sz="1600" b="0" i="1" dirty="0" smtClean="0">
                        <a:latin typeface="Cambria Math" panose="02040503050406030204" pitchFamily="18" charset="0"/>
                        <a:ea typeface="Cambria Math" panose="02040503050406030204" pitchFamily="18" charset="0"/>
                      </a:rPr>
                      <m:t>=538</m:t>
                    </m:r>
                  </m:oMath>
                </a14:m>
                <a:r>
                  <a:rPr lang="zh-CN" altLang="en-US" sz="1600" dirty="0">
                    <a:latin typeface="Noto Sans SC" panose="020B0200000000000000" pitchFamily="34" charset="-122"/>
                    <a:ea typeface="Noto Sans SC" panose="020B0200000000000000" pitchFamily="34" charset="-122"/>
                  </a:rPr>
                  <a:t>。通过累积分布函数的反函数进行采样：</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𝑢</m:t>
                          </m:r>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𝑖</m:t>
                              </m:r>
                            </m:num>
                            <m:den>
                              <m:r>
                                <a:rPr lang="en-US" altLang="zh-CN" sz="1600" i="1">
                                  <a:latin typeface="Cambria Math" panose="02040503050406030204" pitchFamily="18" charset="0"/>
                                </a:rPr>
                                <m:t>4</m:t>
                              </m:r>
                            </m:den>
                          </m:f>
                        </m:e>
                      </m:d>
                      <m:r>
                        <a:rPr lang="en-US" altLang="zh-CN" sz="1600" i="1">
                          <a:latin typeface="Cambria Math" panose="02040503050406030204" pitchFamily="18" charset="0"/>
                        </a:rPr>
                        <m:t> </m:t>
                      </m:r>
                      <m:r>
                        <a:rPr lang="en-US" altLang="zh-CN" sz="1600" i="1">
                          <a:latin typeface="Cambria Math" panose="02040503050406030204" pitchFamily="18" charset="0"/>
                        </a:rPr>
                        <m:t>𝑚𝑜𝑑</m:t>
                      </m:r>
                      <m:r>
                        <a:rPr lang="en-US" altLang="zh-CN" sz="1600" i="1">
                          <a:latin typeface="Cambria Math" panose="02040503050406030204" pitchFamily="18" charset="0"/>
                        </a:rPr>
                        <m:t> 1</m:t>
                      </m:r>
                    </m:oMath>
                  </m:oMathPara>
                </a14:m>
                <a:endParaRPr lang="en-US" altLang="zh-CN" sz="1600" i="1" dirty="0">
                  <a:latin typeface="Cambria Math" panose="02040503050406030204" pitchFamily="18" charset="0"/>
                </a:endParaRPr>
              </a:p>
              <a:p>
                <a:pPr algn="just"/>
                <a14:m>
                  <m:oMathPara xmlns:m="http://schemas.openxmlformats.org/officeDocument/2006/math">
                    <m:o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𝑖</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b="0" i="1" smtClean="0">
                              <a:latin typeface="Cambria Math" panose="02040503050406030204" pitchFamily="18" charset="0"/>
                            </a:rPr>
                            <m:t>−1</m:t>
                          </m:r>
                        </m:sup>
                      </m:sSup>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𝑖</m:t>
                              </m:r>
                            </m:sub>
                          </m:sSub>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𝐹</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r>
                        <a:rPr lang="en-US" altLang="zh-CN" sz="1600" b="0" i="1" smtClean="0">
                          <a:latin typeface="Cambria Math" panose="02040503050406030204" pitchFamily="18" charset="0"/>
                        </a:rPr>
                        <m:t>=</m:t>
                      </m:r>
                      <m:nary>
                        <m:naryPr>
                          <m:ctrlPr>
                            <a:rPr lang="en-US" altLang="zh-CN" sz="1600" b="0" i="1" smtClean="0">
                              <a:latin typeface="Cambria Math" panose="02040503050406030204" pitchFamily="18" charset="0"/>
                            </a:rPr>
                          </m:ctrlPr>
                        </m:naryPr>
                        <m:sub>
                          <m:r>
                            <a:rPr lang="en-US" altLang="zh-CN" sz="1600" b="0" i="1" smtClean="0">
                              <a:latin typeface="Cambria Math" panose="02040503050406030204" pitchFamily="18" charset="0"/>
                            </a:rPr>
                            <m:t>360</m:t>
                          </m:r>
                        </m:sub>
                        <m:sup>
                          <m:r>
                            <a:rPr lang="en-US" altLang="zh-CN" sz="1600" b="0" i="1" smtClean="0">
                              <a:latin typeface="Cambria Math" panose="02040503050406030204" pitchFamily="18" charset="0"/>
                            </a:rPr>
                            <m:t>𝜆</m:t>
                          </m:r>
                        </m:sup>
                        <m:e>
                          <m:r>
                            <a:rPr lang="en-US" altLang="zh-CN" sz="1600" b="0" i="1" smtClean="0">
                              <a:latin typeface="Cambria Math" panose="02040503050406030204" pitchFamily="18" charset="0"/>
                            </a:rPr>
                            <m:t>𝑝</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r>
                            <a:rPr lang="en-US" altLang="zh-CN" sz="1600" b="0" i="1" smtClean="0">
                              <a:latin typeface="Cambria Math" panose="02040503050406030204" pitchFamily="18" charset="0"/>
                            </a:rPr>
                            <m:t>𝑑</m:t>
                          </m:r>
                          <m:r>
                            <a:rPr lang="en-US" altLang="zh-CN" sz="1600" i="1">
                              <a:latin typeface="Cambria Math" panose="02040503050406030204" pitchFamily="18" charset="0"/>
                            </a:rPr>
                            <m:t>𝜆</m:t>
                          </m:r>
                        </m:e>
                      </m:nary>
                    </m:oMath>
                  </m:oMathPara>
                </a14:m>
                <a:endParaRPr lang="en-US" altLang="zh-CN" sz="1600" b="0" dirty="0">
                  <a:latin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经计算：</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ea typeface="Cambria Math" panose="02040503050406030204" pitchFamily="18" charset="0"/>
                            </a:rPr>
                          </m:ctrlPr>
                        </m:fPr>
                        <m:num>
                          <m:r>
                            <a:rPr lang="en-US" altLang="zh-CN" sz="1600" b="0" i="1" dirty="0" smtClean="0">
                              <a:latin typeface="Cambria Math" panose="02040503050406030204" pitchFamily="18" charset="0"/>
                              <a:ea typeface="Cambria Math" panose="02040503050406030204" pitchFamily="18" charset="0"/>
                            </a:rPr>
                            <m:t>0.0039398042</m:t>
                          </m:r>
                        </m:num>
                        <m:den>
                          <m:func>
                            <m:funcPr>
                              <m:ctrlPr>
                                <a:rPr lang="en-US" altLang="zh-CN" sz="1600" i="1" dirty="0">
                                  <a:latin typeface="Cambria Math" panose="02040503050406030204" pitchFamily="18" charset="0"/>
                                  <a:ea typeface="Cambria Math" panose="02040503050406030204" pitchFamily="18" charset="0"/>
                                </a:rPr>
                              </m:ctrlPr>
                            </m:funcPr>
                            <m:fName>
                              <m:sSup>
                                <m:sSupPr>
                                  <m:ctrlPr>
                                    <a:rPr lang="en-US" altLang="zh-CN" sz="1600" dirty="0">
                                      <a:latin typeface="Cambria Math" panose="02040503050406030204" pitchFamily="18" charset="0"/>
                                      <a:ea typeface="Cambria Math" panose="02040503050406030204" pitchFamily="18" charset="0"/>
                                    </a:rPr>
                                  </m:ctrlPr>
                                </m:sSupPr>
                                <m:e>
                                  <m:r>
                                    <m:rPr>
                                      <m:sty m:val="p"/>
                                    </m:rPr>
                                    <a:rPr lang="en-US" altLang="zh-CN" sz="1600" dirty="0">
                                      <a:latin typeface="Cambria Math" panose="02040503050406030204" pitchFamily="18" charset="0"/>
                                      <a:ea typeface="Cambria Math" panose="02040503050406030204" pitchFamily="18" charset="0"/>
                                    </a:rPr>
                                    <m:t>cosh</m:t>
                                  </m:r>
                                </m:e>
                                <m:sup>
                                  <m:r>
                                    <a:rPr lang="en-US" altLang="zh-CN" sz="1600" i="1" dirty="0">
                                      <a:latin typeface="Cambria Math" panose="02040503050406030204" pitchFamily="18" charset="0"/>
                                      <a:ea typeface="Cambria Math" panose="02040503050406030204" pitchFamily="18" charset="0"/>
                                    </a:rPr>
                                    <m:t>2</m:t>
                                  </m:r>
                                </m:sup>
                              </m:sSup>
                            </m:fName>
                            <m:e>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0.0072</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r>
                                        <a:rPr lang="en-US" altLang="zh-CN" sz="1600" i="1" dirty="0">
                                          <a:latin typeface="Cambria Math" panose="02040503050406030204" pitchFamily="18" charset="0"/>
                                          <a:ea typeface="Cambria Math" panose="02040503050406030204" pitchFamily="18" charset="0"/>
                                        </a:rPr>
                                        <m:t>−538</m:t>
                                      </m:r>
                                    </m:e>
                                  </m:d>
                                </m:e>
                              </m:d>
                            </m:e>
                          </m:func>
                        </m:den>
                      </m:f>
                    </m:oMath>
                  </m:oMathPara>
                </a14:m>
                <a:endParaRPr lang="en-US" altLang="zh-CN" sz="1600" i="1" dirty="0">
                  <a:latin typeface="Cambria Math" panose="02040503050406030204" pitchFamily="18" charset="0"/>
                  <a:ea typeface="Cambria Math" panose="02040503050406030204" pitchFamily="18" charset="0"/>
                </a:endParaRPr>
              </a:p>
              <a:p>
                <a:pPr algn="just"/>
                <a14:m>
                  <m:oMathPara xmlns:m="http://schemas.openxmlformats.org/officeDocument/2006/math">
                    <m:oMath>
                      <m:r>
                        <a:rPr lang="en-US" altLang="zh-CN" sz="1600" i="1">
                          <a:latin typeface="Cambria Math" panose="02040503050406030204" pitchFamily="18" charset="0"/>
                        </a:rPr>
                        <m:t>𝐹</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0" i="1" smtClean="0">
                          <a:latin typeface="Cambria Math" panose="02040503050406030204" pitchFamily="18" charset="0"/>
                        </a:rPr>
                        <m:t>=0.547195</m:t>
                      </m:r>
                      <m:d>
                        <m:dPr>
                          <m:ctrlPr>
                            <a:rPr lang="en-US" altLang="zh-CN" sz="1600" b="0" i="1" smtClean="0">
                              <a:latin typeface="Cambria Math" panose="02040503050406030204" pitchFamily="18" charset="0"/>
                            </a:rPr>
                          </m:ctrlPr>
                        </m:dPr>
                        <m:e>
                          <m:func>
                            <m:funcPr>
                              <m:ctrlPr>
                                <a:rPr lang="en-US" altLang="zh-CN" sz="1600" b="0" i="0" smtClean="0">
                                  <a:latin typeface="Cambria Math" panose="02040503050406030204" pitchFamily="18" charset="0"/>
                                </a:rPr>
                              </m:ctrlPr>
                            </m:funcPr>
                            <m:fName>
                              <m:r>
                                <m:rPr>
                                  <m:sty m:val="p"/>
                                </m:rPr>
                                <a:rPr lang="en-US" altLang="zh-CN" sz="1600" b="0" i="0" smtClean="0">
                                  <a:latin typeface="Cambria Math" panose="02040503050406030204" pitchFamily="18" charset="0"/>
                                </a:rPr>
                                <m:t>tanh</m:t>
                              </m:r>
                            </m:fName>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0.0072</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r>
                                        <a:rPr lang="en-US" altLang="zh-CN" sz="1600" b="0" i="1" smtClean="0">
                                          <a:latin typeface="Cambria Math" panose="02040503050406030204" pitchFamily="18" charset="0"/>
                                        </a:rPr>
                                        <m:t>−538</m:t>
                                      </m:r>
                                    </m:e>
                                  </m:d>
                                </m:e>
                              </m:d>
                            </m:e>
                          </m:func>
                          <m:r>
                            <a:rPr lang="en-US" altLang="zh-CN" sz="1600" b="0" i="1" smtClean="0">
                              <a:latin typeface="Cambria Math" panose="02040503050406030204" pitchFamily="18" charset="0"/>
                            </a:rPr>
                            <m:t>+0.856911</m:t>
                          </m:r>
                        </m:e>
                      </m:d>
                    </m:oMath>
                  </m:oMathPara>
                </a14:m>
                <a:endParaRPr lang="en-US" altLang="zh-CN" sz="1600" i="1" dirty="0">
                  <a:latin typeface="Cambria Math" panose="02040503050406030204" pitchFamily="18" charset="0"/>
                  <a:ea typeface="Cambria Math" panose="02040503050406030204" pitchFamily="18" charset="0"/>
                </a:endParaRPr>
              </a:p>
              <a:p>
                <a:pPr algn="just"/>
                <a14:m>
                  <m:oMathPara xmlns:m="http://schemas.openxmlformats.org/officeDocument/2006/math">
                    <m:o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b="0" i="1" smtClean="0">
                              <a:latin typeface="Cambria Math" panose="02040503050406030204" pitchFamily="18" charset="0"/>
                            </a:rPr>
                            <m:t>−1</m:t>
                          </m:r>
                        </m:sup>
                      </m:s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𝑢</m:t>
                          </m:r>
                        </m:e>
                      </m:d>
                      <m:r>
                        <a:rPr lang="en-US" altLang="zh-CN" sz="1600" i="1">
                          <a:latin typeface="Cambria Math" panose="02040503050406030204" pitchFamily="18" charset="0"/>
                        </a:rPr>
                        <m:t>=</m:t>
                      </m:r>
                      <m:r>
                        <a:rPr lang="en-US" altLang="zh-CN" sz="1600" b="0" i="1" smtClean="0">
                          <a:latin typeface="Cambria Math" panose="02040503050406030204" pitchFamily="18" charset="0"/>
                        </a:rPr>
                        <m:t>538+138.888889</m:t>
                      </m:r>
                      <m:func>
                        <m:funcPr>
                          <m:ctrlPr>
                            <a:rPr lang="en-US" altLang="zh-CN" sz="1600">
                              <a:latin typeface="Cambria Math" panose="02040503050406030204" pitchFamily="18" charset="0"/>
                            </a:rPr>
                          </m:ctrlPr>
                        </m:funcPr>
                        <m:fName>
                          <m:r>
                            <m:rPr>
                              <m:sty m:val="p"/>
                            </m:rPr>
                            <a:rPr lang="en-US" altLang="zh-CN" sz="1600">
                              <a:latin typeface="Cambria Math" panose="02040503050406030204" pitchFamily="18" charset="0"/>
                            </a:rPr>
                            <m:t>tanh</m:t>
                          </m:r>
                        </m:fName>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1.82750197</m:t>
                              </m:r>
                              <m:r>
                                <a:rPr lang="en-US" altLang="zh-CN" sz="1600" b="0" i="1" smtClean="0">
                                  <a:latin typeface="Cambria Math" panose="02040503050406030204" pitchFamily="18" charset="0"/>
                                </a:rPr>
                                <m:t>𝑢</m:t>
                              </m:r>
                              <m:r>
                                <a:rPr lang="en-US" altLang="zh-CN" sz="1600" b="0" i="1" smtClean="0">
                                  <a:latin typeface="Cambria Math" panose="02040503050406030204" pitchFamily="18" charset="0"/>
                                </a:rPr>
                                <m:t>−0.85691062</m:t>
                              </m:r>
                            </m:e>
                          </m:d>
                        </m:e>
                      </m:func>
                    </m:oMath>
                  </m:oMathPara>
                </a14:m>
                <a:endParaRPr lang="en-US" altLang="zh-CN" sz="1600" dirty="0">
                  <a:latin typeface="Noto Sans SC" panose="020B0200000000000000" pitchFamily="34" charset="-122"/>
                  <a:ea typeface="Noto Sans SC" panose="020B0200000000000000" pitchFamily="34" charset="-122"/>
                </a:endParaRPr>
              </a:p>
            </p:txBody>
          </p:sp>
        </mc:Choice>
        <mc:Fallback xmlns="">
          <p:sp>
            <p:nvSpPr>
              <p:cNvPr id="104" name="文本框 103">
                <a:extLst>
                  <a:ext uri="{FF2B5EF4-FFF2-40B4-BE49-F238E27FC236}">
                    <a16:creationId xmlns:a16="http://schemas.microsoft.com/office/drawing/2014/main" id="{9277F5A4-FC55-9FE1-D134-CF37B8CBA960}"/>
                  </a:ext>
                </a:extLst>
              </p:cNvPr>
              <p:cNvSpPr txBox="1">
                <a:spLocks noRot="1" noChangeAspect="1" noMove="1" noResize="1" noEditPoints="1" noAdjustHandles="1" noChangeArrowheads="1" noChangeShapeType="1" noTextEdit="1"/>
              </p:cNvSpPr>
              <p:nvPr/>
            </p:nvSpPr>
            <p:spPr>
              <a:xfrm>
                <a:off x="5085161" y="2373596"/>
                <a:ext cx="7024268" cy="4161652"/>
              </a:xfrm>
              <a:prstGeom prst="rect">
                <a:avLst/>
              </a:prstGeom>
              <a:blipFill>
                <a:blip r:embed="rId17"/>
                <a:stretch>
                  <a:fillRect l="-434" t="-439" r="-521" b="-1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42186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450D-5665-826A-3C35-806AE5934F0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C8560F5-CB99-8061-ECF9-FE8F8CF17C23}"/>
              </a:ext>
            </a:extLst>
          </p:cNvPr>
          <p:cNvSpPr>
            <a:spLocks noGrp="1"/>
          </p:cNvSpPr>
          <p:nvPr>
            <p:ph type="title" idx="1"/>
          </p:nvPr>
        </p:nvSpPr>
        <p:spPr/>
        <p:txBody>
          <a:bodyPr/>
          <a:lstStyle/>
          <a:p>
            <a:r>
              <a:rPr lang="zh-CN" altLang="en-US" dirty="0"/>
              <a:t>波长采样</a:t>
            </a:r>
          </a:p>
        </p:txBody>
      </p:sp>
      <p:sp>
        <p:nvSpPr>
          <p:cNvPr id="2" name="文本框 1">
            <a:extLst>
              <a:ext uri="{FF2B5EF4-FFF2-40B4-BE49-F238E27FC236}">
                <a16:creationId xmlns:a16="http://schemas.microsoft.com/office/drawing/2014/main" id="{A5298F15-C663-920A-7C45-3D51D49ADD45}"/>
              </a:ext>
            </a:extLst>
          </p:cNvPr>
          <p:cNvSpPr txBox="1"/>
          <p:nvPr/>
        </p:nvSpPr>
        <p:spPr>
          <a:xfrm>
            <a:off x="746974" y="1509524"/>
            <a:ext cx="3185487" cy="369332"/>
          </a:xfrm>
          <a:prstGeom prst="rect">
            <a:avLst/>
          </a:prstGeom>
          <a:noFill/>
        </p:spPr>
        <p:txBody>
          <a:bodyPr wrap="none" rtlCol="0">
            <a:spAutoFit/>
          </a:bodyPr>
          <a:lstStyle/>
          <a:p>
            <a:r>
              <a:rPr lang="zh-CN" altLang="en-US" b="1" dirty="0">
                <a:latin typeface="Noto Sans SC" panose="020B0200000000000000" pitchFamily="34" charset="-122"/>
                <a:ea typeface="Noto Sans SC" panose="020B0200000000000000" pitchFamily="34" charset="-122"/>
              </a:rPr>
              <a:t>采样波长的概率密度是多少？</a:t>
            </a:r>
          </a:p>
        </p:txBody>
      </p:sp>
      <mc:AlternateContent xmlns:mc="http://schemas.openxmlformats.org/markup-compatibility/2006" xmlns:a14="http://schemas.microsoft.com/office/drawing/2010/main">
        <mc:Choice Requires="a14">
          <p:sp>
            <p:nvSpPr>
              <p:cNvPr id="104" name="文本框 103">
                <a:extLst>
                  <a:ext uri="{FF2B5EF4-FFF2-40B4-BE49-F238E27FC236}">
                    <a16:creationId xmlns:a16="http://schemas.microsoft.com/office/drawing/2014/main" id="{459DCC46-E27A-9078-D08C-4AE71F646D4E}"/>
                  </a:ext>
                </a:extLst>
              </p:cNvPr>
              <p:cNvSpPr txBox="1"/>
              <p:nvPr/>
            </p:nvSpPr>
            <p:spPr>
              <a:xfrm>
                <a:off x="206062" y="2171242"/>
                <a:ext cx="6465194" cy="3637471"/>
              </a:xfrm>
              <a:prstGeom prst="rect">
                <a:avLst/>
              </a:prstGeom>
              <a:noFill/>
            </p:spPr>
            <p:txBody>
              <a:bodyPr wrap="square">
                <a:spAutoFit/>
              </a:bodyPr>
              <a:lstStyle/>
              <a:p>
                <a:pPr algn="just"/>
                <a:r>
                  <a:rPr lang="zh-CN" altLang="en-US" sz="1600" dirty="0">
                    <a:latin typeface="Noto Sans SC" panose="020B0200000000000000" pitchFamily="34" charset="-122"/>
                    <a:ea typeface="Noto Sans SC" panose="020B0200000000000000" pitchFamily="34" charset="-122"/>
                  </a:rPr>
                  <a:t>我们将采用如下的概率密度函数经验公式：</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ea typeface="Cambria Math" panose="02040503050406030204" pitchFamily="18" charset="0"/>
                            </a:rPr>
                          </m:ctrlPr>
                        </m:fPr>
                        <m:num>
                          <m:r>
                            <a:rPr lang="en-US" altLang="zh-CN" sz="1600" b="0" i="1" dirty="0" smtClean="0">
                              <a:latin typeface="Cambria Math" panose="02040503050406030204" pitchFamily="18" charset="0"/>
                              <a:ea typeface="Cambria Math" panose="02040503050406030204" pitchFamily="18" charset="0"/>
                            </a:rPr>
                            <m:t>𝑓</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num>
                        <m:den>
                          <m:nary>
                            <m:naryPr>
                              <m:ctrlPr>
                                <a:rPr lang="en-US" altLang="zh-CN" sz="1600" b="0" i="1" dirty="0" smtClean="0">
                                  <a:latin typeface="Cambria Math" panose="02040503050406030204" pitchFamily="18" charset="0"/>
                                  <a:ea typeface="Cambria Math" panose="02040503050406030204" pitchFamily="18" charset="0"/>
                                </a:rPr>
                              </m:ctrlPr>
                            </m:naryPr>
                            <m:sub>
                              <m:r>
                                <a:rPr lang="en-US" altLang="zh-CN" sz="1600" b="0" i="1" dirty="0" smtClean="0">
                                  <a:latin typeface="Cambria Math" panose="02040503050406030204" pitchFamily="18" charset="0"/>
                                  <a:ea typeface="Cambria Math" panose="02040503050406030204" pitchFamily="18" charset="0"/>
                                </a:rPr>
                                <m:t>360</m:t>
                              </m:r>
                            </m:sub>
                            <m:sup>
                              <m:r>
                                <a:rPr lang="en-US" altLang="zh-CN" sz="1600" b="0" i="1" dirty="0" smtClean="0">
                                  <a:latin typeface="Cambria Math" panose="02040503050406030204" pitchFamily="18" charset="0"/>
                                  <a:ea typeface="Cambria Math" panose="02040503050406030204" pitchFamily="18" charset="0"/>
                                </a:rPr>
                                <m:t>830</m:t>
                              </m:r>
                            </m:sup>
                            <m:e>
                              <m:r>
                                <a:rPr lang="en-US" altLang="zh-CN" sz="1600" b="0" i="1" dirty="0" smtClean="0">
                                  <a:latin typeface="Cambria Math" panose="02040503050406030204" pitchFamily="18" charset="0"/>
                                  <a:ea typeface="Cambria Math" panose="02040503050406030204" pitchFamily="18" charset="0"/>
                                </a:rPr>
                                <m:t>𝑓</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𝑑</m:t>
                              </m:r>
                              <m:r>
                                <a:rPr lang="en-US" altLang="zh-CN" sz="1600" b="0" i="1" dirty="0" smtClean="0">
                                  <a:latin typeface="Cambria Math" panose="02040503050406030204" pitchFamily="18" charset="0"/>
                                  <a:ea typeface="Cambria Math" panose="02040503050406030204" pitchFamily="18" charset="0"/>
                                </a:rPr>
                                <m:t>𝜆</m:t>
                              </m:r>
                            </m:e>
                          </m:nary>
                        </m:den>
                      </m:f>
                      <m:r>
                        <a:rPr lang="en-US" altLang="zh-CN" sz="1600" b="0" i="1" dirty="0" smtClean="0">
                          <a:latin typeface="Cambria Math" panose="02040503050406030204" pitchFamily="18" charset="0"/>
                          <a:ea typeface="Cambria Math" panose="02040503050406030204" pitchFamily="18" charset="0"/>
                        </a:rPr>
                        <m:t>,  </m:t>
                      </m:r>
                      <m:r>
                        <a:rPr lang="en-US" altLang="zh-CN" sz="1600" b="0" i="1" dirty="0" smtClean="0">
                          <a:latin typeface="Cambria Math" panose="02040503050406030204" pitchFamily="18" charset="0"/>
                          <a:ea typeface="Cambria Math" panose="02040503050406030204" pitchFamily="18" charset="0"/>
                        </a:rPr>
                        <m:t>𝑓</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ea typeface="Cambria Math" panose="02040503050406030204" pitchFamily="18" charset="0"/>
                            </a:rPr>
                          </m:ctrlPr>
                        </m:fPr>
                        <m:num>
                          <m:r>
                            <a:rPr lang="en-US" altLang="zh-CN" sz="1600" b="0" i="1" dirty="0" smtClean="0">
                              <a:latin typeface="Cambria Math" panose="02040503050406030204" pitchFamily="18" charset="0"/>
                              <a:ea typeface="Cambria Math" panose="02040503050406030204" pitchFamily="18" charset="0"/>
                            </a:rPr>
                            <m:t>1</m:t>
                          </m:r>
                        </m:num>
                        <m:den>
                          <m:func>
                            <m:funcPr>
                              <m:ctrlPr>
                                <a:rPr lang="en-US" altLang="zh-CN" sz="1600" b="0" i="1" dirty="0" smtClean="0">
                                  <a:latin typeface="Cambria Math" panose="02040503050406030204" pitchFamily="18" charset="0"/>
                                  <a:ea typeface="Cambria Math" panose="02040503050406030204" pitchFamily="18" charset="0"/>
                                </a:rPr>
                              </m:ctrlPr>
                            </m:funcPr>
                            <m:fName>
                              <m:sSup>
                                <m:sSupPr>
                                  <m:ctrlPr>
                                    <a:rPr lang="en-US" altLang="zh-CN" sz="1600" b="0" i="0" dirty="0" smtClean="0">
                                      <a:latin typeface="Cambria Math" panose="02040503050406030204" pitchFamily="18" charset="0"/>
                                      <a:ea typeface="Cambria Math" panose="02040503050406030204" pitchFamily="18" charset="0"/>
                                    </a:rPr>
                                  </m:ctrlPr>
                                </m:sSupPr>
                                <m:e>
                                  <m:r>
                                    <m:rPr>
                                      <m:sty m:val="p"/>
                                    </m:rPr>
                                    <a:rPr lang="en-US" altLang="zh-CN" sz="1600" b="0" i="0" dirty="0" smtClean="0">
                                      <a:latin typeface="Cambria Math" panose="02040503050406030204" pitchFamily="18" charset="0"/>
                                      <a:ea typeface="Cambria Math" panose="02040503050406030204" pitchFamily="18" charset="0"/>
                                    </a:rPr>
                                    <m:t>cosh</m:t>
                                  </m:r>
                                </m:e>
                                <m:sup>
                                  <m:r>
                                    <a:rPr lang="en-US" altLang="zh-CN" sz="1600" b="0" i="1" dirty="0" smtClean="0">
                                      <a:latin typeface="Cambria Math" panose="02040503050406030204" pitchFamily="18" charset="0"/>
                                      <a:ea typeface="Cambria Math" panose="02040503050406030204" pitchFamily="18" charset="0"/>
                                    </a:rPr>
                                    <m:t>2</m:t>
                                  </m:r>
                                </m:sup>
                              </m:sSup>
                            </m:fName>
                            <m:e>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𝐴</m:t>
                                  </m:r>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𝜆</m:t>
                                      </m:r>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𝐵</m:t>
                                      </m:r>
                                    </m:e>
                                  </m:d>
                                </m:e>
                              </m:d>
                            </m:e>
                          </m:func>
                        </m:den>
                      </m:f>
                      <m:r>
                        <a:rPr lang="en-US" altLang="zh-CN" sz="1600" b="0" i="1" dirty="0" smtClean="0">
                          <a:latin typeface="Cambria Math" panose="02040503050406030204" pitchFamily="18" charset="0"/>
                          <a:ea typeface="Cambria Math" panose="02040503050406030204" pitchFamily="18" charset="0"/>
                        </a:rPr>
                        <m:t>,  </m:t>
                      </m:r>
                      <m:r>
                        <a:rPr lang="en-US" altLang="zh-CN" sz="1600" b="0" i="1" dirty="0" smtClean="0">
                          <a:latin typeface="Cambria Math" panose="02040503050406030204" pitchFamily="18" charset="0"/>
                          <a:ea typeface="Cambria Math" panose="02040503050406030204" pitchFamily="18" charset="0"/>
                        </a:rPr>
                        <m:t>𝜆</m:t>
                      </m:r>
                      <m:r>
                        <a:rPr lang="en-US" altLang="zh-CN" sz="1600" b="0" i="1" dirty="0" smtClean="0">
                          <a:latin typeface="Cambria Math" panose="02040503050406030204" pitchFamily="18" charset="0"/>
                          <a:ea typeface="Cambria Math" panose="02040503050406030204" pitchFamily="18" charset="0"/>
                        </a:rPr>
                        <m:t>∈</m:t>
                      </m:r>
                      <m:d>
                        <m:dPr>
                          <m:begChr m:val="["/>
                          <m:endChr m:val="]"/>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360,830</m:t>
                          </m:r>
                        </m:e>
                      </m:d>
                    </m:oMath>
                  </m:oMathPara>
                </a14:m>
                <a:endParaRPr lang="en-US" altLang="zh-CN" sz="1600" dirty="0"/>
              </a:p>
              <a:p>
                <a:pPr algn="just"/>
                <a:r>
                  <a:rPr lang="zh-CN" altLang="en-US" sz="1600" dirty="0">
                    <a:latin typeface="Noto Sans SC" panose="020B0200000000000000" pitchFamily="34" charset="-122"/>
                    <a:ea typeface="Noto Sans SC" panose="020B0200000000000000" pitchFamily="34" charset="-122"/>
                  </a:rPr>
                  <a:t>其中，</a:t>
                </a:r>
                <a:r>
                  <a:rPr lang="en-US" altLang="zh-CN" sz="1600" dirty="0">
                    <a:ea typeface="Cambria Math" panose="02040503050406030204" pitchFamily="18" charset="0"/>
                  </a:rPr>
                  <a:t> </a:t>
                </a:r>
                <a14:m>
                  <m:oMath xmlns:m="http://schemas.openxmlformats.org/officeDocument/2006/math">
                    <m:r>
                      <a:rPr lang="en-US" altLang="zh-CN" sz="1600" i="1" dirty="0">
                        <a:latin typeface="Cambria Math" panose="02040503050406030204" pitchFamily="18" charset="0"/>
                        <a:ea typeface="Cambria Math" panose="02040503050406030204" pitchFamily="18" charset="0"/>
                      </a:rPr>
                      <m:t>𝐴</m:t>
                    </m:r>
                    <m:r>
                      <a:rPr lang="en-US" altLang="zh-CN" sz="1600" b="0" i="1" dirty="0" smtClean="0">
                        <a:latin typeface="Cambria Math" panose="02040503050406030204" pitchFamily="18" charset="0"/>
                        <a:ea typeface="Cambria Math" panose="02040503050406030204" pitchFamily="18" charset="0"/>
                      </a:rPr>
                      <m:t>=0.0072</m:t>
                    </m:r>
                  </m:oMath>
                </a14:m>
                <a:r>
                  <a:rPr lang="zh-CN" altLang="en-US" sz="1600" dirty="0">
                    <a:latin typeface="Noto Sans SC" panose="020B0200000000000000" pitchFamily="34" charset="-122"/>
                    <a:ea typeface="Noto Sans SC" panose="020B0200000000000000" pitchFamily="34" charset="-122"/>
                  </a:rPr>
                  <a:t>，</a:t>
                </a:r>
                <a14:m>
                  <m:oMath xmlns:m="http://schemas.openxmlformats.org/officeDocument/2006/math">
                    <m:r>
                      <a:rPr lang="en-US" altLang="zh-CN" sz="1600" i="1" dirty="0">
                        <a:latin typeface="Cambria Math" panose="02040503050406030204" pitchFamily="18" charset="0"/>
                        <a:ea typeface="Cambria Math" panose="02040503050406030204" pitchFamily="18" charset="0"/>
                      </a:rPr>
                      <m:t>𝐵</m:t>
                    </m:r>
                    <m:r>
                      <a:rPr lang="en-US" altLang="zh-CN" sz="1600" b="0" i="1" dirty="0" smtClean="0">
                        <a:latin typeface="Cambria Math" panose="02040503050406030204" pitchFamily="18" charset="0"/>
                        <a:ea typeface="Cambria Math" panose="02040503050406030204" pitchFamily="18" charset="0"/>
                      </a:rPr>
                      <m:t>=538</m:t>
                    </m:r>
                  </m:oMath>
                </a14:m>
                <a:r>
                  <a:rPr lang="zh-CN" altLang="en-US" sz="1600" dirty="0">
                    <a:latin typeface="Noto Sans SC" panose="020B0200000000000000" pitchFamily="34" charset="-122"/>
                    <a:ea typeface="Noto Sans SC" panose="020B0200000000000000" pitchFamily="34" charset="-122"/>
                  </a:rPr>
                  <a:t>。通过累积分布函数的反函数进行采样：</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𝑢</m:t>
                          </m:r>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𝑖</m:t>
                              </m:r>
                            </m:num>
                            <m:den>
                              <m:r>
                                <a:rPr lang="en-US" altLang="zh-CN" sz="1600" i="1">
                                  <a:latin typeface="Cambria Math" panose="02040503050406030204" pitchFamily="18" charset="0"/>
                                </a:rPr>
                                <m:t>4</m:t>
                              </m:r>
                            </m:den>
                          </m:f>
                        </m:e>
                      </m:d>
                      <m:r>
                        <a:rPr lang="en-US" altLang="zh-CN" sz="1600" i="1">
                          <a:latin typeface="Cambria Math" panose="02040503050406030204" pitchFamily="18" charset="0"/>
                        </a:rPr>
                        <m:t> </m:t>
                      </m:r>
                      <m:r>
                        <a:rPr lang="en-US" altLang="zh-CN" sz="1600" i="1">
                          <a:latin typeface="Cambria Math" panose="02040503050406030204" pitchFamily="18" charset="0"/>
                        </a:rPr>
                        <m:t>𝑚𝑜𝑑</m:t>
                      </m:r>
                      <m:r>
                        <a:rPr lang="en-US" altLang="zh-CN" sz="1600" i="1">
                          <a:latin typeface="Cambria Math" panose="02040503050406030204" pitchFamily="18" charset="0"/>
                        </a:rPr>
                        <m:t> 1</m:t>
                      </m:r>
                    </m:oMath>
                  </m:oMathPara>
                </a14:m>
                <a:endParaRPr lang="en-US" altLang="zh-CN" sz="1600" i="1" dirty="0">
                  <a:latin typeface="Cambria Math" panose="02040503050406030204" pitchFamily="18" charset="0"/>
                </a:endParaRPr>
              </a:p>
              <a:p>
                <a:pPr algn="just"/>
                <a14:m>
                  <m:oMathPara xmlns:m="http://schemas.openxmlformats.org/officeDocument/2006/math">
                    <m:o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𝑖</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b="0" i="1" smtClean="0">
                              <a:latin typeface="Cambria Math" panose="02040503050406030204" pitchFamily="18" charset="0"/>
                            </a:rPr>
                            <m:t>−1</m:t>
                          </m:r>
                        </m:sup>
                      </m:sSup>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𝑖</m:t>
                              </m:r>
                            </m:sub>
                          </m:sSub>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𝐹</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r>
                        <a:rPr lang="en-US" altLang="zh-CN" sz="1600" b="0" i="1" smtClean="0">
                          <a:latin typeface="Cambria Math" panose="02040503050406030204" pitchFamily="18" charset="0"/>
                        </a:rPr>
                        <m:t>=</m:t>
                      </m:r>
                      <m:nary>
                        <m:naryPr>
                          <m:ctrlPr>
                            <a:rPr lang="en-US" altLang="zh-CN" sz="1600" b="0" i="1" smtClean="0">
                              <a:latin typeface="Cambria Math" panose="02040503050406030204" pitchFamily="18" charset="0"/>
                            </a:rPr>
                          </m:ctrlPr>
                        </m:naryPr>
                        <m:sub>
                          <m:r>
                            <a:rPr lang="en-US" altLang="zh-CN" sz="1600" b="0" i="1" smtClean="0">
                              <a:latin typeface="Cambria Math" panose="02040503050406030204" pitchFamily="18" charset="0"/>
                            </a:rPr>
                            <m:t>360</m:t>
                          </m:r>
                        </m:sub>
                        <m:sup>
                          <m:r>
                            <a:rPr lang="en-US" altLang="zh-CN" sz="1600" b="0" i="1" smtClean="0">
                              <a:latin typeface="Cambria Math" panose="02040503050406030204" pitchFamily="18" charset="0"/>
                            </a:rPr>
                            <m:t>𝜆</m:t>
                          </m:r>
                        </m:sup>
                        <m:e>
                          <m:r>
                            <a:rPr lang="en-US" altLang="zh-CN" sz="1600" b="0" i="1" smtClean="0">
                              <a:latin typeface="Cambria Math" panose="02040503050406030204" pitchFamily="18" charset="0"/>
                            </a:rPr>
                            <m:t>𝑝</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e>
                          </m:d>
                          <m:r>
                            <a:rPr lang="en-US" altLang="zh-CN" sz="1600" b="0" i="1" smtClean="0">
                              <a:latin typeface="Cambria Math" panose="02040503050406030204" pitchFamily="18" charset="0"/>
                            </a:rPr>
                            <m:t>𝑑</m:t>
                          </m:r>
                          <m:r>
                            <a:rPr lang="en-US" altLang="zh-CN" sz="1600" i="1">
                              <a:latin typeface="Cambria Math" panose="02040503050406030204" pitchFamily="18" charset="0"/>
                            </a:rPr>
                            <m:t>𝜆</m:t>
                          </m:r>
                        </m:e>
                      </m:nary>
                    </m:oMath>
                  </m:oMathPara>
                </a14:m>
                <a:endParaRPr lang="en-US" altLang="zh-CN" sz="1600" b="0" dirty="0">
                  <a:latin typeface="Noto Sans SC" panose="020B0200000000000000" pitchFamily="34" charset="-122"/>
                </a:endParaRPr>
              </a:p>
              <a:p>
                <a:pPr algn="just"/>
                <a:r>
                  <a:rPr lang="zh-CN" altLang="en-US" sz="1600" dirty="0">
                    <a:latin typeface="Noto Sans SC" panose="020B0200000000000000" pitchFamily="34" charset="-122"/>
                    <a:ea typeface="Noto Sans SC" panose="020B0200000000000000" pitchFamily="34" charset="-122"/>
                  </a:rPr>
                  <a:t>经计算：</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sz="1600" i="1" dirty="0">
                          <a:latin typeface="Cambria Math" panose="02040503050406030204" pitchFamily="18" charset="0"/>
                          <a:ea typeface="Cambria Math" panose="02040503050406030204" pitchFamily="18" charset="0"/>
                        </a:rPr>
                        <m:t>𝑝</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e>
                      </m:d>
                      <m:r>
                        <a:rPr lang="en-US" altLang="zh-CN" sz="1600" b="0" i="1" dirty="0" smtClean="0">
                          <a:latin typeface="Cambria Math" panose="02040503050406030204" pitchFamily="18" charset="0"/>
                          <a:ea typeface="Cambria Math" panose="02040503050406030204" pitchFamily="18" charset="0"/>
                        </a:rPr>
                        <m:t>=</m:t>
                      </m:r>
                      <m:f>
                        <m:fPr>
                          <m:ctrlPr>
                            <a:rPr lang="en-US" altLang="zh-CN" sz="1600" b="0" i="1" dirty="0" smtClean="0">
                              <a:latin typeface="Cambria Math" panose="02040503050406030204" pitchFamily="18" charset="0"/>
                              <a:ea typeface="Cambria Math" panose="02040503050406030204" pitchFamily="18" charset="0"/>
                            </a:rPr>
                          </m:ctrlPr>
                        </m:fPr>
                        <m:num>
                          <m:r>
                            <a:rPr lang="en-US" altLang="zh-CN" sz="1600" b="0" i="1" dirty="0" smtClean="0">
                              <a:latin typeface="Cambria Math" panose="02040503050406030204" pitchFamily="18" charset="0"/>
                              <a:ea typeface="Cambria Math" panose="02040503050406030204" pitchFamily="18" charset="0"/>
                            </a:rPr>
                            <m:t>0.0039398042</m:t>
                          </m:r>
                        </m:num>
                        <m:den>
                          <m:func>
                            <m:funcPr>
                              <m:ctrlPr>
                                <a:rPr lang="en-US" altLang="zh-CN" sz="1600" i="1" dirty="0">
                                  <a:latin typeface="Cambria Math" panose="02040503050406030204" pitchFamily="18" charset="0"/>
                                  <a:ea typeface="Cambria Math" panose="02040503050406030204" pitchFamily="18" charset="0"/>
                                </a:rPr>
                              </m:ctrlPr>
                            </m:funcPr>
                            <m:fName>
                              <m:sSup>
                                <m:sSupPr>
                                  <m:ctrlPr>
                                    <a:rPr lang="en-US" altLang="zh-CN" sz="1600" dirty="0">
                                      <a:latin typeface="Cambria Math" panose="02040503050406030204" pitchFamily="18" charset="0"/>
                                      <a:ea typeface="Cambria Math" panose="02040503050406030204" pitchFamily="18" charset="0"/>
                                    </a:rPr>
                                  </m:ctrlPr>
                                </m:sSupPr>
                                <m:e>
                                  <m:r>
                                    <m:rPr>
                                      <m:sty m:val="p"/>
                                    </m:rPr>
                                    <a:rPr lang="en-US" altLang="zh-CN" sz="1600" dirty="0">
                                      <a:latin typeface="Cambria Math" panose="02040503050406030204" pitchFamily="18" charset="0"/>
                                      <a:ea typeface="Cambria Math" panose="02040503050406030204" pitchFamily="18" charset="0"/>
                                    </a:rPr>
                                    <m:t>cosh</m:t>
                                  </m:r>
                                </m:e>
                                <m:sup>
                                  <m:r>
                                    <a:rPr lang="en-US" altLang="zh-CN" sz="1600" i="1" dirty="0">
                                      <a:latin typeface="Cambria Math" panose="02040503050406030204" pitchFamily="18" charset="0"/>
                                      <a:ea typeface="Cambria Math" panose="02040503050406030204" pitchFamily="18" charset="0"/>
                                    </a:rPr>
                                    <m:t>2</m:t>
                                  </m:r>
                                </m:sup>
                              </m:sSup>
                            </m:fName>
                            <m:e>
                              <m:d>
                                <m:dPr>
                                  <m:ctrlPr>
                                    <a:rPr lang="en-US" altLang="zh-CN" sz="1600" b="0" i="1" dirty="0" smtClean="0">
                                      <a:latin typeface="Cambria Math" panose="02040503050406030204" pitchFamily="18" charset="0"/>
                                      <a:ea typeface="Cambria Math" panose="02040503050406030204" pitchFamily="18" charset="0"/>
                                    </a:rPr>
                                  </m:ctrlPr>
                                </m:dPr>
                                <m:e>
                                  <m:r>
                                    <a:rPr lang="en-US" altLang="zh-CN" sz="1600" b="0" i="1" dirty="0" smtClean="0">
                                      <a:latin typeface="Cambria Math" panose="02040503050406030204" pitchFamily="18" charset="0"/>
                                      <a:ea typeface="Cambria Math" panose="02040503050406030204" pitchFamily="18" charset="0"/>
                                    </a:rPr>
                                    <m:t>0.0072</m:t>
                                  </m:r>
                                  <m:d>
                                    <m:dPr>
                                      <m:ctrlPr>
                                        <a:rPr lang="en-US" altLang="zh-CN" sz="1600" i="1" dirty="0">
                                          <a:latin typeface="Cambria Math" panose="02040503050406030204" pitchFamily="18" charset="0"/>
                                          <a:ea typeface="Cambria Math" panose="02040503050406030204" pitchFamily="18" charset="0"/>
                                        </a:rPr>
                                      </m:ctrlPr>
                                    </m:dPr>
                                    <m:e>
                                      <m:r>
                                        <a:rPr lang="en-US" altLang="zh-CN" sz="1600" i="1" dirty="0">
                                          <a:latin typeface="Cambria Math" panose="02040503050406030204" pitchFamily="18" charset="0"/>
                                          <a:ea typeface="Cambria Math" panose="02040503050406030204" pitchFamily="18" charset="0"/>
                                        </a:rPr>
                                        <m:t>𝜆</m:t>
                                      </m:r>
                                      <m:r>
                                        <a:rPr lang="en-US" altLang="zh-CN" sz="1600" i="1" dirty="0">
                                          <a:latin typeface="Cambria Math" panose="02040503050406030204" pitchFamily="18" charset="0"/>
                                          <a:ea typeface="Cambria Math" panose="02040503050406030204" pitchFamily="18" charset="0"/>
                                        </a:rPr>
                                        <m:t>−538</m:t>
                                      </m:r>
                                    </m:e>
                                  </m:d>
                                </m:e>
                              </m:d>
                            </m:e>
                          </m:func>
                        </m:den>
                      </m:f>
                    </m:oMath>
                  </m:oMathPara>
                </a14:m>
                <a:endParaRPr lang="en-US" altLang="zh-CN" sz="1600" i="1" dirty="0">
                  <a:latin typeface="Cambria Math" panose="02040503050406030204" pitchFamily="18" charset="0"/>
                  <a:ea typeface="Cambria Math" panose="02040503050406030204" pitchFamily="18" charset="0"/>
                </a:endParaRPr>
              </a:p>
              <a:p>
                <a:pPr algn="just"/>
                <a14:m>
                  <m:oMathPara xmlns:m="http://schemas.openxmlformats.org/officeDocument/2006/math">
                    <m:oMath>
                      <m:r>
                        <a:rPr lang="en-US" altLang="zh-CN" sz="1600" i="1">
                          <a:latin typeface="Cambria Math" panose="02040503050406030204" pitchFamily="18" charset="0"/>
                        </a:rPr>
                        <m:t>𝐹</m:t>
                      </m:r>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0" i="1" smtClean="0">
                          <a:latin typeface="Cambria Math" panose="02040503050406030204" pitchFamily="18" charset="0"/>
                        </a:rPr>
                        <m:t>=0.547195</m:t>
                      </m:r>
                      <m:d>
                        <m:dPr>
                          <m:ctrlPr>
                            <a:rPr lang="en-US" altLang="zh-CN" sz="1600" b="0" i="1" smtClean="0">
                              <a:latin typeface="Cambria Math" panose="02040503050406030204" pitchFamily="18" charset="0"/>
                            </a:rPr>
                          </m:ctrlPr>
                        </m:dPr>
                        <m:e>
                          <m:func>
                            <m:funcPr>
                              <m:ctrlPr>
                                <a:rPr lang="en-US" altLang="zh-CN" sz="1600" b="0" i="0" smtClean="0">
                                  <a:latin typeface="Cambria Math" panose="02040503050406030204" pitchFamily="18" charset="0"/>
                                </a:rPr>
                              </m:ctrlPr>
                            </m:funcPr>
                            <m:fName>
                              <m:r>
                                <m:rPr>
                                  <m:sty m:val="p"/>
                                </m:rPr>
                                <a:rPr lang="en-US" altLang="zh-CN" sz="1600" b="0" i="0" smtClean="0">
                                  <a:latin typeface="Cambria Math" panose="02040503050406030204" pitchFamily="18" charset="0"/>
                                </a:rPr>
                                <m:t>tanh</m:t>
                              </m:r>
                            </m:fName>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0.0072</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𝜆</m:t>
                                      </m:r>
                                      <m:r>
                                        <a:rPr lang="en-US" altLang="zh-CN" sz="1600" b="0" i="1" smtClean="0">
                                          <a:latin typeface="Cambria Math" panose="02040503050406030204" pitchFamily="18" charset="0"/>
                                        </a:rPr>
                                        <m:t>−538</m:t>
                                      </m:r>
                                    </m:e>
                                  </m:d>
                                </m:e>
                              </m:d>
                            </m:e>
                          </m:func>
                          <m:r>
                            <a:rPr lang="en-US" altLang="zh-CN" sz="1600" b="0" i="1" smtClean="0">
                              <a:latin typeface="Cambria Math" panose="02040503050406030204" pitchFamily="18" charset="0"/>
                            </a:rPr>
                            <m:t>+0.856911</m:t>
                          </m:r>
                        </m:e>
                      </m:d>
                    </m:oMath>
                  </m:oMathPara>
                </a14:m>
                <a:endParaRPr lang="en-US" altLang="zh-CN" sz="1600" i="1" dirty="0">
                  <a:latin typeface="Cambria Math" panose="02040503050406030204" pitchFamily="18" charset="0"/>
                  <a:ea typeface="Cambria Math" panose="02040503050406030204" pitchFamily="18" charset="0"/>
                </a:endParaRPr>
              </a:p>
              <a:p>
                <a:pPr algn="just"/>
                <a14:m>
                  <m:oMathPara xmlns:m="http://schemas.openxmlformats.org/officeDocument/2006/math">
                    <m:o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b="0" i="1" smtClean="0">
                              <a:latin typeface="Cambria Math" panose="02040503050406030204" pitchFamily="18" charset="0"/>
                            </a:rPr>
                            <m:t>−1</m:t>
                          </m:r>
                        </m:sup>
                      </m:s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𝑢</m:t>
                          </m:r>
                        </m:e>
                      </m:d>
                      <m:r>
                        <a:rPr lang="en-US" altLang="zh-CN" sz="1600" i="1">
                          <a:latin typeface="Cambria Math" panose="02040503050406030204" pitchFamily="18" charset="0"/>
                        </a:rPr>
                        <m:t>=</m:t>
                      </m:r>
                      <m:r>
                        <a:rPr lang="en-US" altLang="zh-CN" sz="1600" b="0" i="1" smtClean="0">
                          <a:latin typeface="Cambria Math" panose="02040503050406030204" pitchFamily="18" charset="0"/>
                        </a:rPr>
                        <m:t>538+138.888889</m:t>
                      </m:r>
                      <m:func>
                        <m:funcPr>
                          <m:ctrlPr>
                            <a:rPr lang="en-US" altLang="zh-CN" sz="1600">
                              <a:latin typeface="Cambria Math" panose="02040503050406030204" pitchFamily="18" charset="0"/>
                            </a:rPr>
                          </m:ctrlPr>
                        </m:funcPr>
                        <m:fName>
                          <m:r>
                            <m:rPr>
                              <m:sty m:val="p"/>
                            </m:rPr>
                            <a:rPr lang="en-US" altLang="zh-CN" sz="1600">
                              <a:latin typeface="Cambria Math" panose="02040503050406030204" pitchFamily="18" charset="0"/>
                            </a:rPr>
                            <m:t>tanh</m:t>
                          </m:r>
                        </m:fName>
                        <m:e>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1.82750197</m:t>
                              </m:r>
                              <m:r>
                                <a:rPr lang="en-US" altLang="zh-CN" sz="1600" b="0" i="1" smtClean="0">
                                  <a:latin typeface="Cambria Math" panose="02040503050406030204" pitchFamily="18" charset="0"/>
                                </a:rPr>
                                <m:t>𝑢</m:t>
                              </m:r>
                              <m:r>
                                <a:rPr lang="en-US" altLang="zh-CN" sz="1600" b="0" i="1" smtClean="0">
                                  <a:latin typeface="Cambria Math" panose="02040503050406030204" pitchFamily="18" charset="0"/>
                                </a:rPr>
                                <m:t>−0.85691062</m:t>
                              </m:r>
                            </m:e>
                          </m:d>
                        </m:e>
                      </m:func>
                    </m:oMath>
                  </m:oMathPara>
                </a14:m>
                <a:endParaRPr lang="en-US" altLang="zh-CN" sz="1600" dirty="0">
                  <a:latin typeface="Noto Sans SC" panose="020B0200000000000000" pitchFamily="34" charset="-122"/>
                  <a:ea typeface="Noto Sans SC" panose="020B0200000000000000" pitchFamily="34" charset="-122"/>
                </a:endParaRPr>
              </a:p>
            </p:txBody>
          </p:sp>
        </mc:Choice>
        <mc:Fallback xmlns="">
          <p:sp>
            <p:nvSpPr>
              <p:cNvPr id="104" name="文本框 103">
                <a:extLst>
                  <a:ext uri="{FF2B5EF4-FFF2-40B4-BE49-F238E27FC236}">
                    <a16:creationId xmlns:a16="http://schemas.microsoft.com/office/drawing/2014/main" id="{459DCC46-E27A-9078-D08C-4AE71F646D4E}"/>
                  </a:ext>
                </a:extLst>
              </p:cNvPr>
              <p:cNvSpPr txBox="1">
                <a:spLocks noRot="1" noChangeAspect="1" noMove="1" noResize="1" noEditPoints="1" noAdjustHandles="1" noChangeArrowheads="1" noChangeShapeType="1" noTextEdit="1"/>
              </p:cNvSpPr>
              <p:nvPr/>
            </p:nvSpPr>
            <p:spPr>
              <a:xfrm>
                <a:off x="206062" y="2171242"/>
                <a:ext cx="6465194" cy="3637471"/>
              </a:xfrm>
              <a:prstGeom prst="rect">
                <a:avLst/>
              </a:prstGeom>
              <a:blipFill>
                <a:blip r:embed="rId2"/>
                <a:stretch>
                  <a:fillRect l="-566" t="-503" r="-566" b="-11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2A87C21-9C21-1FBC-C710-F469906ACD01}"/>
                  </a:ext>
                </a:extLst>
              </p:cNvPr>
              <p:cNvSpPr txBox="1"/>
              <p:nvPr/>
            </p:nvSpPr>
            <p:spPr>
              <a:xfrm>
                <a:off x="6633121" y="634920"/>
                <a:ext cx="4824784" cy="5863080"/>
              </a:xfrm>
              <a:prstGeom prst="rect">
                <a:avLst/>
              </a:prstGeom>
              <a:noFill/>
            </p:spPr>
            <p:txBody>
              <a:bodyPr wrap="square">
                <a:spAutoFit/>
              </a:bodyPr>
              <a:lstStyle/>
              <a:p>
                <a:pPr algn="just"/>
                <a:r>
                  <a:rPr lang="zh-CN" altLang="en-US" sz="1600" dirty="0">
                    <a:latin typeface="Noto Sans SC" panose="020B0200000000000000" pitchFamily="34" charset="-122"/>
                    <a:ea typeface="Noto Sans SC" panose="020B0200000000000000" pitchFamily="34" charset="-122"/>
                  </a:rPr>
                  <a:t>         虽然</a:t>
                </a:r>
                <a14:m>
                  <m:oMath xmlns:m="http://schemas.openxmlformats.org/officeDocument/2006/math">
                    <m:r>
                      <a:rPr lang="en-US" altLang="zh-CN" sz="1600" i="1">
                        <a:latin typeface="Cambria Math" panose="02040503050406030204" pitchFamily="18" charset="0"/>
                      </a:rPr>
                      <m:t>𝑈</m:t>
                    </m:r>
                  </m:oMath>
                </a14:m>
                <a:r>
                  <a:rPr lang="zh-CN" altLang="en-US" sz="1600" dirty="0">
                    <a:latin typeface="Noto Sans SC" panose="020B0200000000000000" pitchFamily="34" charset="-122"/>
                    <a:ea typeface="Noto Sans SC" panose="020B0200000000000000" pitchFamily="34" charset="-122"/>
                  </a:rPr>
                  <a:t>是均匀随机变量，但是</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i="1">
                            <a:latin typeface="Cambria Math" panose="02040503050406030204" pitchFamily="18" charset="0"/>
                          </a:rPr>
                          <m:t>𝑖</m:t>
                        </m:r>
                      </m:sub>
                    </m:sSub>
                  </m:oMath>
                </a14:m>
                <a:r>
                  <a:rPr lang="zh-CN" altLang="en-US" sz="1600" dirty="0">
                    <a:latin typeface="Noto Sans SC" panose="020B0200000000000000" pitchFamily="34" charset="-122"/>
                    <a:ea typeface="Noto Sans SC" panose="020B0200000000000000" pitchFamily="34" charset="-122"/>
                  </a:rPr>
                  <a:t>是根据</a:t>
                </a:r>
                <a14:m>
                  <m:oMath xmlns:m="http://schemas.openxmlformats.org/officeDocument/2006/math">
                    <m:r>
                      <a:rPr lang="en-US" altLang="zh-CN" sz="1600" i="1">
                        <a:latin typeface="Cambria Math" panose="02040503050406030204" pitchFamily="18" charset="0"/>
                      </a:rPr>
                      <m:t>𝑈</m:t>
                    </m:r>
                  </m:oMath>
                </a14:m>
                <a:r>
                  <a:rPr lang="zh-CN" altLang="en-US" sz="1600" dirty="0">
                    <a:latin typeface="Noto Sans SC" panose="020B0200000000000000" pitchFamily="34" charset="-122"/>
                    <a:ea typeface="Noto Sans SC" panose="020B0200000000000000" pitchFamily="34" charset="-122"/>
                  </a:rPr>
                  <a:t>进行偏移后得到的具有依赖关系的随机变量，那么应该怎么计算概率密度？</a:t>
                </a:r>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我们先来看两个变量的情况：</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i="1">
                              <a:latin typeface="Cambria Math" panose="02040503050406030204" pitchFamily="18" charset="0"/>
                            </a:rPr>
                            <m:t>0</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𝑈</m:t>
                      </m:r>
                      <m:d>
                        <m:dPr>
                          <m:begChr m:val="["/>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0, 1</m:t>
                          </m:r>
                        </m:e>
                      </m:d>
                      <m:r>
                        <a:rPr lang="en-US" altLang="zh-CN" sz="1600" b="0" i="1" smtClean="0">
                          <a:latin typeface="Cambria Math" panose="02040503050406030204" pitchFamily="18" charset="0"/>
                        </a:rPr>
                        <m:t>,  </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𝑝</m:t>
                          </m:r>
                        </m:e>
                        <m:sub>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𝑈</m:t>
                              </m:r>
                            </m:e>
                            <m:sub>
                              <m:r>
                                <a:rPr lang="en-US" altLang="zh-CN" sz="1600" i="1">
                                  <a:latin typeface="Cambria Math" panose="02040503050406030204" pitchFamily="18" charset="0"/>
                                  <a:ea typeface="Cambria Math" panose="02040503050406030204" pitchFamily="18" charset="0"/>
                                </a:rPr>
                                <m:t>0</m:t>
                              </m:r>
                            </m:sub>
                          </m:sSub>
                        </m:sub>
                      </m:sSub>
                      <m:d>
                        <m:dPr>
                          <m:ctrlPr>
                            <a:rPr lang="en-US" altLang="zh-CN" sz="1600" i="1" smtClean="0">
                              <a:latin typeface="Cambria Math" panose="02040503050406030204" pitchFamily="18" charset="0"/>
                              <a:ea typeface="Cambria Math" panose="02040503050406030204" pitchFamily="18" charset="0"/>
                            </a:rPr>
                          </m:ctrlPr>
                        </m:dPr>
                        <m:e>
                          <m:sSub>
                            <m:sSubPr>
                              <m:ctrlPr>
                                <a:rPr lang="en-US" altLang="zh-CN" sz="1600" i="1" smtClean="0">
                                  <a:latin typeface="Cambria Math" panose="02040503050406030204" pitchFamily="18" charset="0"/>
                                  <a:ea typeface="Cambria Math" panose="02040503050406030204" pitchFamily="18" charset="0"/>
                                </a:rPr>
                              </m:ctrlPr>
                            </m:sSubPr>
                            <m:e>
                              <m:r>
                                <a:rPr lang="en-US" altLang="zh-CN" sz="1600" i="1" smtClean="0">
                                  <a:latin typeface="Cambria Math" panose="02040503050406030204" pitchFamily="18" charset="0"/>
                                  <a:ea typeface="Cambria Math" panose="02040503050406030204" pitchFamily="18" charset="0"/>
                                </a:rPr>
                                <m:t>𝑢</m:t>
                              </m:r>
                            </m:e>
                            <m:sub>
                              <m:r>
                                <a:rPr lang="en-US" altLang="zh-CN" sz="1600" i="1">
                                  <a:latin typeface="Cambria Math" panose="02040503050406030204" pitchFamily="18" charset="0"/>
                                  <a:ea typeface="Cambria Math" panose="02040503050406030204" pitchFamily="18" charset="0"/>
                                </a:rPr>
                                <m:t>0</m:t>
                              </m:r>
                            </m:sub>
                          </m:sSub>
                        </m:e>
                      </m:d>
                      <m:r>
                        <a:rPr lang="en-US" altLang="zh-CN" sz="1600" i="1">
                          <a:latin typeface="Cambria Math" panose="02040503050406030204" pitchFamily="18" charset="0"/>
                          <a:ea typeface="Cambria Math" panose="02040503050406030204" pitchFamily="18" charset="0"/>
                        </a:rPr>
                        <m:t>=1</m:t>
                      </m:r>
                    </m:oMath>
                  </m:oMathPara>
                </a14:m>
                <a:endParaRPr lang="en-US" altLang="zh-CN" sz="1600" b="0" i="1" dirty="0">
                  <a:latin typeface="Cambria Math" panose="02040503050406030204" pitchFamily="18" charset="0"/>
                </a:endParaRPr>
              </a:p>
              <a:p>
                <a:pPr algn="just"/>
                <a14:m>
                  <m:oMathPara xmlns:m="http://schemas.openxmlformats.org/officeDocument/2006/math">
                    <m:o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ℎ</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0</m:t>
                              </m:r>
                            </m:sub>
                          </m:sSub>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𝑤𝑟𝑎𝑝</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0</m:t>
                              </m:r>
                            </m:sub>
                          </m:sSub>
                          <m:r>
                            <a:rPr lang="en-US" altLang="zh-CN" sz="1600" b="0" i="1" smtClean="0">
                              <a:latin typeface="Cambria Math" panose="02040503050406030204" pitchFamily="18" charset="0"/>
                            </a:rPr>
                            <m:t>+0.5</m:t>
                          </m:r>
                        </m:e>
                      </m:d>
                    </m:oMath>
                  </m:oMathPara>
                </a14:m>
                <a:endParaRPr lang="en-US" altLang="zh-CN" sz="1600" b="0" i="1" dirty="0">
                  <a:latin typeface="Cambria Math" panose="02040503050406030204" pitchFamily="18" charset="0"/>
                </a:endParaRPr>
              </a:p>
              <a:p>
                <a:pPr algn="just"/>
                <a:r>
                  <a:rPr lang="en-US" altLang="zh-CN" sz="1600" b="0" dirty="0">
                    <a:latin typeface="Noto Sans SC" panose="020B0200000000000000" pitchFamily="34" charset="-122"/>
                    <a:ea typeface="Noto Sans SC" panose="020B0200000000000000" pitchFamily="34" charset="-122"/>
                  </a:rPr>
                  <a:t>         </a:t>
                </a:r>
                <a:r>
                  <a:rPr lang="zh-CN" altLang="en-US" sz="1600" b="0" dirty="0">
                    <a:latin typeface="Noto Sans SC" panose="020B0200000000000000" pitchFamily="34" charset="-122"/>
                    <a:ea typeface="Noto Sans SC" panose="020B0200000000000000" pitchFamily="34" charset="-122"/>
                  </a:rPr>
                  <a:t>联合分布可以</a:t>
                </a:r>
                <a:r>
                  <a:rPr lang="zh-CN" altLang="en-US" sz="1600" dirty="0">
                    <a:latin typeface="Noto Sans SC" panose="020B0200000000000000" pitchFamily="34" charset="-122"/>
                    <a:ea typeface="Noto Sans SC" panose="020B0200000000000000" pitchFamily="34" charset="-122"/>
                  </a:rPr>
                  <a:t>用</a:t>
                </a:r>
                <a:r>
                  <a:rPr lang="en-US" altLang="zh-CN" sz="1600" dirty="0">
                    <a:latin typeface="Noto Sans SC" panose="020B0200000000000000" pitchFamily="34" charset="-122"/>
                    <a:ea typeface="Noto Sans SC" panose="020B0200000000000000" pitchFamily="34" charset="-122"/>
                  </a:rPr>
                  <a:t>Dirac</a:t>
                </a:r>
                <a:r>
                  <a:rPr lang="zh-CN" altLang="en-US" sz="1600" dirty="0">
                    <a:latin typeface="Noto Sans SC" panose="020B0200000000000000" pitchFamily="34" charset="-122"/>
                    <a:ea typeface="Noto Sans SC" panose="020B0200000000000000" pitchFamily="34" charset="-122"/>
                  </a:rPr>
                  <a:t>的广义密度形式化</a:t>
                </a:r>
                <a:r>
                  <a:rPr lang="zh-CN" altLang="en-US" sz="1600" b="0" dirty="0">
                    <a:latin typeface="Noto Sans SC" panose="020B0200000000000000" pitchFamily="34" charset="-122"/>
                    <a:ea typeface="Noto Sans SC" panose="020B0200000000000000" pitchFamily="34" charset="-122"/>
                  </a:rPr>
                  <a:t>表示为</a:t>
                </a:r>
                <a:endParaRPr lang="en-US" altLang="zh-CN" sz="1600" b="0"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sz="1600" b="0" i="1" smtClean="0">
                          <a:latin typeface="Cambria Math" panose="02040503050406030204" pitchFamily="18" charset="0"/>
                        </a:rPr>
                        <m:t>𝑝</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0</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1</m:t>
                              </m:r>
                            </m:sub>
                          </m:sSub>
                        </m:e>
                      </m:d>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𝑝</m:t>
                          </m:r>
                        </m:e>
                        <m:sub>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𝑈</m:t>
                              </m:r>
                            </m:e>
                            <m:sub>
                              <m:r>
                                <a:rPr lang="en-US" altLang="zh-CN" sz="1600" i="1">
                                  <a:latin typeface="Cambria Math" panose="02040503050406030204" pitchFamily="18" charset="0"/>
                                  <a:ea typeface="Cambria Math" panose="02040503050406030204" pitchFamily="18" charset="0"/>
                                </a:rPr>
                                <m:t>0</m:t>
                              </m:r>
                            </m:sub>
                          </m:sSub>
                        </m:sub>
                      </m:sSub>
                      <m:d>
                        <m:dPr>
                          <m:ctrlPr>
                            <a:rPr lang="en-US" altLang="zh-CN" sz="1600" i="1">
                              <a:latin typeface="Cambria Math" panose="02040503050406030204" pitchFamily="18" charset="0"/>
                              <a:ea typeface="Cambria Math" panose="02040503050406030204" pitchFamily="18" charset="0"/>
                            </a:rPr>
                          </m:ctrlPr>
                        </m:dPr>
                        <m:e>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𝑢</m:t>
                              </m:r>
                            </m:e>
                            <m:sub>
                              <m:r>
                                <a:rPr lang="en-US" altLang="zh-CN" sz="1600" i="1">
                                  <a:latin typeface="Cambria Math" panose="02040503050406030204" pitchFamily="18" charset="0"/>
                                  <a:ea typeface="Cambria Math" panose="02040503050406030204" pitchFamily="18" charset="0"/>
                                </a:rPr>
                                <m:t>0</m:t>
                              </m:r>
                            </m:sub>
                          </m:sSub>
                        </m:e>
                      </m:d>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𝑝</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1</m:t>
                              </m:r>
                            </m:sub>
                          </m:sSub>
                        </m:e>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0</m:t>
                              </m:r>
                            </m:sub>
                          </m:sSub>
                        </m:e>
                      </m:d>
                    </m:oMath>
                  </m:oMathPara>
                </a14:m>
                <a:endParaRPr lang="en-US" altLang="zh-CN" sz="1600" b="0" dirty="0">
                  <a:ea typeface="Cambria Math" panose="02040503050406030204" pitchFamily="18" charset="0"/>
                </a:endParaRPr>
              </a:p>
              <a:p>
                <a:pPr algn="just"/>
                <a14:m>
                  <m:oMathPara xmlns:m="http://schemas.openxmlformats.org/officeDocument/2006/math">
                    <m:oMath>
                      <m:r>
                        <m:rPr>
                          <m:nor/>
                        </m:rPr>
                        <a:rPr lang="zh-CN" altLang="en-US" sz="1600" i="0" dirty="0">
                          <a:latin typeface="Noto Sans SC" panose="020B0200000000000000" pitchFamily="34" charset="-122"/>
                          <a:ea typeface="Noto Sans SC" panose="020B0200000000000000" pitchFamily="34" charset="-122"/>
                        </a:rPr>
                        <m:t>其中：</m:t>
                      </m:r>
                      <m:r>
                        <a:rPr lang="en-US" altLang="zh-CN" sz="1600" i="1">
                          <a:latin typeface="Cambria Math" panose="02040503050406030204" pitchFamily="18" charset="0"/>
                        </a:rPr>
                        <m:t>𝑝</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1</m:t>
                              </m:r>
                            </m:sub>
                          </m:sSub>
                        </m:e>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𝛿</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ℎ</m:t>
                          </m:r>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0</m:t>
                                  </m:r>
                                </m:sub>
                              </m:sSub>
                            </m:e>
                          </m:d>
                        </m:e>
                      </m:d>
                    </m:oMath>
                  </m:oMathPara>
                </a14:m>
                <a:endParaRPr lang="en-US" altLang="zh-CN" sz="1600" b="0" i="1" dirty="0">
                  <a:latin typeface="Cambria Math" panose="02040503050406030204" pitchFamily="18" charset="0"/>
                </a:endParaRPr>
              </a:p>
              <a:p>
                <a:pPr algn="just"/>
                <a14:m>
                  <m:oMathPara xmlns:m="http://schemas.openxmlformats.org/officeDocument/2006/math">
                    <m:oMath>
                      <m:r>
                        <m:rPr>
                          <m:nor/>
                        </m:rPr>
                        <a:rPr lang="zh-CN" altLang="en-US" sz="1600" i="0" dirty="0">
                          <a:latin typeface="Noto Sans SC" panose="020B0200000000000000" pitchFamily="34" charset="-122"/>
                          <a:ea typeface="Noto Sans SC" panose="020B0200000000000000" pitchFamily="34" charset="-122"/>
                        </a:rPr>
                        <m:t>边缘概率密度</m:t>
                      </m:r>
                      <m:r>
                        <a:rPr lang="zh-CN" altLang="en-US" sz="1600" i="1" dirty="0" smtClean="0">
                          <a:latin typeface="Cambria Math" panose="02040503050406030204" pitchFamily="18" charset="0"/>
                          <a:ea typeface="Noto Sans SC" panose="020B0200000000000000" pitchFamily="34" charset="-122"/>
                        </a:rPr>
                        <m:t>：</m:t>
                      </m:r>
                      <m:sSub>
                        <m:sSubPr>
                          <m:ctrlPr>
                            <a:rPr lang="en-US" altLang="zh-CN" sz="1600" b="0" i="1" dirty="0" smtClean="0">
                              <a:latin typeface="Cambria Math" panose="02040503050406030204" pitchFamily="18" charset="0"/>
                              <a:ea typeface="Noto Sans SC" panose="020B0200000000000000" pitchFamily="34" charset="-122"/>
                            </a:rPr>
                          </m:ctrlPr>
                        </m:sSubPr>
                        <m:e>
                          <m:r>
                            <a:rPr lang="en-US" altLang="zh-CN" sz="1600" b="0" i="1" dirty="0" smtClean="0">
                              <a:latin typeface="Cambria Math" panose="02040503050406030204" pitchFamily="18" charset="0"/>
                              <a:ea typeface="Noto Sans SC" panose="020B0200000000000000" pitchFamily="34" charset="-122"/>
                            </a:rPr>
                            <m:t>𝑝</m:t>
                          </m:r>
                        </m:e>
                        <m:sub>
                          <m:sSub>
                            <m:sSubPr>
                              <m:ctrlPr>
                                <a:rPr lang="en-US" altLang="zh-CN" sz="1600" b="0" i="1" dirty="0" smtClean="0">
                                  <a:latin typeface="Cambria Math" panose="02040503050406030204" pitchFamily="18" charset="0"/>
                                  <a:ea typeface="Noto Sans SC" panose="020B0200000000000000" pitchFamily="34" charset="-122"/>
                                </a:rPr>
                              </m:ctrlPr>
                            </m:sSubPr>
                            <m:e>
                              <m:r>
                                <a:rPr lang="en-US" altLang="zh-CN" sz="1600" b="0" i="1" dirty="0" smtClean="0">
                                  <a:latin typeface="Cambria Math" panose="02040503050406030204" pitchFamily="18" charset="0"/>
                                  <a:ea typeface="Noto Sans SC" panose="020B0200000000000000" pitchFamily="34" charset="-122"/>
                                </a:rPr>
                                <m:t>𝑈</m:t>
                              </m:r>
                            </m:e>
                            <m:sub>
                              <m:r>
                                <a:rPr lang="en-US" altLang="zh-CN" sz="1600" b="0" i="1" dirty="0" smtClean="0">
                                  <a:latin typeface="Cambria Math" panose="02040503050406030204" pitchFamily="18" charset="0"/>
                                  <a:ea typeface="Noto Sans SC" panose="020B0200000000000000" pitchFamily="34" charset="-122"/>
                                </a:rPr>
                                <m:t>1</m:t>
                              </m:r>
                            </m:sub>
                          </m:sSub>
                        </m:sub>
                      </m:sSub>
                      <m:d>
                        <m:dPr>
                          <m:ctrlPr>
                            <a:rPr lang="en-US" altLang="zh-CN" sz="1600" b="0" i="1" dirty="0" smtClean="0">
                              <a:latin typeface="Cambria Math" panose="02040503050406030204" pitchFamily="18" charset="0"/>
                              <a:ea typeface="Noto Sans SC" panose="020B0200000000000000" pitchFamily="34" charset="-122"/>
                            </a:rPr>
                          </m:ctrlPr>
                        </m:dPr>
                        <m:e>
                          <m:sSub>
                            <m:sSubPr>
                              <m:ctrlPr>
                                <a:rPr lang="en-US" altLang="zh-CN" sz="1600" b="0" i="1" dirty="0" smtClean="0">
                                  <a:latin typeface="Cambria Math" panose="02040503050406030204" pitchFamily="18" charset="0"/>
                                  <a:ea typeface="Noto Sans SC" panose="020B0200000000000000" pitchFamily="34" charset="-122"/>
                                </a:rPr>
                              </m:ctrlPr>
                            </m:sSubPr>
                            <m:e>
                              <m:r>
                                <a:rPr lang="en-US" altLang="zh-CN" sz="1600" b="0" i="1" dirty="0" smtClean="0">
                                  <a:latin typeface="Cambria Math" panose="02040503050406030204" pitchFamily="18" charset="0"/>
                                  <a:ea typeface="Noto Sans SC" panose="020B0200000000000000" pitchFamily="34" charset="-122"/>
                                </a:rPr>
                                <m:t>𝑢</m:t>
                              </m:r>
                            </m:e>
                            <m:sub>
                              <m:r>
                                <a:rPr lang="en-US" altLang="zh-CN" sz="1600" b="0" i="1" dirty="0" smtClean="0">
                                  <a:latin typeface="Cambria Math" panose="02040503050406030204" pitchFamily="18" charset="0"/>
                                  <a:ea typeface="Noto Sans SC" panose="020B0200000000000000" pitchFamily="34" charset="-122"/>
                                </a:rPr>
                                <m:t>1</m:t>
                              </m:r>
                            </m:sub>
                          </m:sSub>
                        </m:e>
                      </m:d>
                      <m:r>
                        <a:rPr lang="en-US" altLang="zh-CN" sz="1600" b="0" i="1" dirty="0" smtClean="0">
                          <a:latin typeface="Cambria Math" panose="02040503050406030204" pitchFamily="18" charset="0"/>
                          <a:ea typeface="Noto Sans SC" panose="020B0200000000000000" pitchFamily="34" charset="-122"/>
                        </a:rPr>
                        <m:t>=</m:t>
                      </m:r>
                      <m:nary>
                        <m:naryPr>
                          <m:subHide m:val="on"/>
                          <m:supHide m:val="on"/>
                          <m:ctrlPr>
                            <a:rPr lang="en-US" altLang="zh-CN" sz="1600" b="0" i="1" dirty="0" smtClean="0">
                              <a:latin typeface="Cambria Math" panose="02040503050406030204" pitchFamily="18" charset="0"/>
                              <a:ea typeface="Noto Sans SC" panose="020B0200000000000000" pitchFamily="34" charset="-122"/>
                            </a:rPr>
                          </m:ctrlPr>
                        </m:naryPr>
                        <m:sub/>
                        <m:sup/>
                        <m:e>
                          <m:r>
                            <a:rPr lang="en-US" altLang="zh-CN" sz="1600" i="1">
                              <a:latin typeface="Cambria Math" panose="02040503050406030204" pitchFamily="18" charset="0"/>
                            </a:rPr>
                            <m:t>𝑝</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1</m:t>
                                  </m:r>
                                </m:sub>
                              </m:sSub>
                            </m:e>
                          </m:d>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e>
                      </m:nary>
                    </m:oMath>
                  </m:oMathPara>
                </a14:m>
                <a:endParaRPr lang="en-US" altLang="zh-CN" sz="1600" b="0" i="1" dirty="0">
                  <a:latin typeface="Cambria Math" panose="02040503050406030204" pitchFamily="18" charset="0"/>
                  <a:ea typeface="Noto Sans SC" panose="020B0200000000000000" pitchFamily="34" charset="-122"/>
                </a:endParaRPr>
              </a:p>
              <a:p>
                <a:pPr algn="just"/>
                <a14:m>
                  <m:oMathPara xmlns:m="http://schemas.openxmlformats.org/officeDocument/2006/math">
                    <m:oMath>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𝑝</m:t>
                          </m:r>
                        </m:e>
                        <m:sub>
                          <m:sSub>
                            <m:sSubPr>
                              <m:ctrlPr>
                                <a:rPr lang="en-US" altLang="zh-CN" sz="1600" b="0" i="1" dirty="0" smtClean="0">
                                  <a:latin typeface="Cambria Math" panose="02040503050406030204" pitchFamily="18" charset="0"/>
                                  <a:ea typeface="Noto Sans SC" panose="020B0200000000000000" pitchFamily="34" charset="-122"/>
                                </a:rPr>
                              </m:ctrlPr>
                            </m:sSubPr>
                            <m:e>
                              <m:r>
                                <a:rPr lang="en-US" altLang="zh-CN" sz="1600" b="0" i="1" dirty="0" smtClean="0">
                                  <a:latin typeface="Cambria Math" panose="02040503050406030204" pitchFamily="18" charset="0"/>
                                  <a:ea typeface="Noto Sans SC" panose="020B0200000000000000" pitchFamily="34" charset="-122"/>
                                </a:rPr>
                                <m:t>𝑈</m:t>
                              </m:r>
                            </m:e>
                            <m:sub>
                              <m:r>
                                <a:rPr lang="en-US" altLang="zh-CN" sz="1600" i="1" dirty="0">
                                  <a:latin typeface="Cambria Math" panose="02040503050406030204" pitchFamily="18" charset="0"/>
                                  <a:ea typeface="Noto Sans SC" panose="020B0200000000000000" pitchFamily="34" charset="-122"/>
                                </a:rPr>
                                <m:t>1</m:t>
                              </m:r>
                            </m:sub>
                          </m:sSub>
                        </m:sub>
                      </m:sSub>
                      <m:d>
                        <m:dPr>
                          <m:ctrlPr>
                            <a:rPr lang="en-US" altLang="zh-CN" sz="1600" i="1" dirty="0">
                              <a:latin typeface="Cambria Math" panose="02040503050406030204" pitchFamily="18" charset="0"/>
                              <a:ea typeface="Noto Sans SC" panose="020B0200000000000000" pitchFamily="34" charset="-122"/>
                            </a:rPr>
                          </m:ctrlPr>
                        </m:dPr>
                        <m:e>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𝑢</m:t>
                              </m:r>
                            </m:e>
                            <m:sub>
                              <m:r>
                                <a:rPr lang="en-US" altLang="zh-CN" sz="1600" i="1" dirty="0">
                                  <a:latin typeface="Cambria Math" panose="02040503050406030204" pitchFamily="18" charset="0"/>
                                  <a:ea typeface="Noto Sans SC" panose="020B0200000000000000" pitchFamily="34" charset="-122"/>
                                </a:rPr>
                                <m:t>1</m:t>
                              </m:r>
                            </m:sub>
                          </m:sSub>
                        </m:e>
                      </m:d>
                      <m:r>
                        <a:rPr lang="en-US" altLang="zh-CN" sz="1600" i="1" dirty="0">
                          <a:latin typeface="Cambria Math" panose="02040503050406030204" pitchFamily="18" charset="0"/>
                          <a:ea typeface="Noto Sans SC" panose="020B0200000000000000" pitchFamily="34" charset="-122"/>
                        </a:rPr>
                        <m:t>=</m:t>
                      </m:r>
                      <m:nary>
                        <m:naryPr>
                          <m:subHide m:val="on"/>
                          <m:supHide m:val="on"/>
                          <m:ctrlPr>
                            <a:rPr lang="en-US" altLang="zh-CN" sz="1600" i="1" dirty="0">
                              <a:latin typeface="Cambria Math" panose="02040503050406030204" pitchFamily="18" charset="0"/>
                              <a:ea typeface="Noto Sans SC" panose="020B0200000000000000" pitchFamily="34" charset="-122"/>
                            </a:rPr>
                          </m:ctrlPr>
                        </m:naryPr>
                        <m:sub/>
                        <m:sup/>
                        <m:e>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𝑝</m:t>
                              </m:r>
                            </m:e>
                            <m:sub>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𝑈</m:t>
                                  </m:r>
                                </m:e>
                                <m:sub>
                                  <m:r>
                                    <a:rPr lang="en-US" altLang="zh-CN" sz="1600" i="1">
                                      <a:latin typeface="Cambria Math" panose="02040503050406030204" pitchFamily="18" charset="0"/>
                                      <a:ea typeface="Cambria Math" panose="02040503050406030204" pitchFamily="18" charset="0"/>
                                    </a:rPr>
                                    <m:t>0</m:t>
                                  </m:r>
                                </m:sub>
                              </m:sSub>
                            </m:sub>
                          </m:sSub>
                          <m:d>
                            <m:dPr>
                              <m:ctrlPr>
                                <a:rPr lang="en-US" altLang="zh-CN" sz="1600" i="1">
                                  <a:latin typeface="Cambria Math" panose="02040503050406030204" pitchFamily="18" charset="0"/>
                                  <a:ea typeface="Cambria Math" panose="02040503050406030204" pitchFamily="18" charset="0"/>
                                </a:rPr>
                              </m:ctrlPr>
                            </m:dPr>
                            <m:e>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𝑢</m:t>
                                  </m:r>
                                </m:e>
                                <m:sub>
                                  <m:r>
                                    <a:rPr lang="en-US" altLang="zh-CN" sz="1600" i="1">
                                      <a:latin typeface="Cambria Math" panose="02040503050406030204" pitchFamily="18" charset="0"/>
                                      <a:ea typeface="Cambria Math" panose="02040503050406030204" pitchFamily="18" charset="0"/>
                                    </a:rPr>
                                    <m:t>0</m:t>
                                  </m:r>
                                </m:sub>
                              </m:sSub>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𝛿</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ℎ</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e>
                              </m:d>
                            </m:e>
                          </m:d>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e>
                      </m:nary>
                    </m:oMath>
                  </m:oMathPara>
                </a14:m>
                <a:endParaRPr lang="en-US" altLang="zh-CN" sz="1600" i="1" dirty="0">
                  <a:latin typeface="Cambria Math" panose="02040503050406030204" pitchFamily="18" charset="0"/>
                </a:endParaRPr>
              </a:p>
              <a:p>
                <a:pPr algn="just"/>
                <a14:m>
                  <m:oMathPara xmlns:m="http://schemas.openxmlformats.org/officeDocument/2006/math">
                    <m:oMath>
                      <m:r>
                        <m:rPr>
                          <m:nor/>
                        </m:rPr>
                        <a:rPr lang="zh-CN" altLang="en-US" sz="1600" i="0" dirty="0">
                          <a:latin typeface="Noto Sans SC" panose="020B0200000000000000" pitchFamily="34" charset="-122"/>
                          <a:ea typeface="Noto Sans SC" panose="020B0200000000000000" pitchFamily="34" charset="-122"/>
                        </a:rPr>
                        <m:t>令</m:t>
                      </m:r>
                      <m:r>
                        <a:rPr lang="zh-CN" altLang="en-US" sz="1600" i="1" dirty="0" smtClean="0">
                          <a:latin typeface="Cambria Math" panose="02040503050406030204" pitchFamily="18" charset="0"/>
                          <a:ea typeface="Noto Sans SC" panose="020B0200000000000000" pitchFamily="34" charset="-122"/>
                        </a:rPr>
                        <m:t>：</m:t>
                      </m:r>
                      <m:r>
                        <a:rPr lang="en-US" altLang="zh-CN" sz="1600" b="0" i="1" dirty="0" smtClean="0">
                          <a:latin typeface="Cambria Math" panose="02040503050406030204" pitchFamily="18" charset="0"/>
                          <a:ea typeface="Noto Sans SC" panose="020B0200000000000000" pitchFamily="34" charset="-122"/>
                        </a:rPr>
                        <m:t>𝑣</m:t>
                      </m:r>
                      <m:r>
                        <a:rPr lang="en-US" altLang="zh-CN" sz="1600" b="0" i="1" dirty="0" smtClean="0">
                          <a:latin typeface="Cambria Math" panose="02040503050406030204" pitchFamily="18" charset="0"/>
                          <a:ea typeface="Noto Sans SC" panose="020B0200000000000000" pitchFamily="34" charset="-122"/>
                        </a:rPr>
                        <m:t>=</m:t>
                      </m:r>
                      <m:r>
                        <a:rPr lang="en-US" altLang="zh-CN" sz="1600" b="0" i="1" dirty="0" smtClean="0">
                          <a:latin typeface="Cambria Math" panose="02040503050406030204" pitchFamily="18" charset="0"/>
                          <a:ea typeface="Noto Sans SC" panose="020B0200000000000000" pitchFamily="34" charset="-122"/>
                        </a:rPr>
                        <m:t>ℎ</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e>
                      </m:d>
                      <m:r>
                        <a:rPr lang="en-US" altLang="zh-CN" sz="1600" b="0" i="1" smtClean="0">
                          <a:latin typeface="Cambria Math" panose="02040503050406030204" pitchFamily="18" charset="0"/>
                        </a:rPr>
                        <m:t>,  </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0</m:t>
                          </m:r>
                        </m:sub>
                      </m:sSub>
                      <m:r>
                        <a:rPr lang="en-US" altLang="zh-CN" sz="1600" b="0" i="1" smtClean="0">
                          <a:latin typeface="Cambria Math" panose="02040503050406030204" pitchFamily="18" charset="0"/>
                        </a:rPr>
                        <m:t>=</m:t>
                      </m:r>
                      <m:sSup>
                        <m:sSupPr>
                          <m:ctrlPr>
                            <a:rPr lang="en-US" altLang="zh-CN" sz="1600" b="0" i="1" smtClean="0">
                              <a:latin typeface="Cambria Math" panose="02040503050406030204" pitchFamily="18" charset="0"/>
                            </a:rPr>
                          </m:ctrlPr>
                        </m:sSupPr>
                        <m:e>
                          <m:r>
                            <a:rPr lang="en-US" altLang="zh-CN" sz="1600" b="0" i="1" smtClean="0">
                              <a:latin typeface="Cambria Math" panose="02040503050406030204" pitchFamily="18" charset="0"/>
                            </a:rPr>
                            <m:t>ℎ</m:t>
                          </m:r>
                        </m:e>
                        <m:sup>
                          <m:r>
                            <a:rPr lang="en-US" altLang="zh-CN" sz="1600" b="0" i="1" smtClean="0">
                              <a:latin typeface="Cambria Math" panose="02040503050406030204" pitchFamily="18" charset="0"/>
                            </a:rPr>
                            <m:t>−1</m:t>
                          </m:r>
                        </m:sup>
                      </m:sSup>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𝑣</m:t>
                          </m:r>
                        </m:e>
                      </m:d>
                    </m:oMath>
                  </m:oMathPara>
                </a14:m>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𝑝</m:t>
                          </m:r>
                        </m:e>
                        <m:sub>
                          <m:sSub>
                            <m:sSubPr>
                              <m:ctrlPr>
                                <a:rPr lang="en-US" altLang="zh-CN" sz="1600" b="0" i="1" dirty="0" smtClean="0">
                                  <a:latin typeface="Cambria Math" panose="02040503050406030204" pitchFamily="18" charset="0"/>
                                  <a:ea typeface="Noto Sans SC" panose="020B0200000000000000" pitchFamily="34" charset="-122"/>
                                </a:rPr>
                              </m:ctrlPr>
                            </m:sSubPr>
                            <m:e>
                              <m:r>
                                <a:rPr lang="en-US" altLang="zh-CN" sz="1600" b="0" i="1" dirty="0" smtClean="0">
                                  <a:latin typeface="Cambria Math" panose="02040503050406030204" pitchFamily="18" charset="0"/>
                                  <a:ea typeface="Noto Sans SC" panose="020B0200000000000000" pitchFamily="34" charset="-122"/>
                                </a:rPr>
                                <m:t>𝑈</m:t>
                              </m:r>
                            </m:e>
                            <m:sub>
                              <m:r>
                                <a:rPr lang="en-US" altLang="zh-CN" sz="1600" i="1" dirty="0">
                                  <a:latin typeface="Cambria Math" panose="02040503050406030204" pitchFamily="18" charset="0"/>
                                  <a:ea typeface="Noto Sans SC" panose="020B0200000000000000" pitchFamily="34" charset="-122"/>
                                </a:rPr>
                                <m:t>1</m:t>
                              </m:r>
                            </m:sub>
                          </m:sSub>
                        </m:sub>
                      </m:sSub>
                      <m:d>
                        <m:dPr>
                          <m:ctrlPr>
                            <a:rPr lang="en-US" altLang="zh-CN" sz="1600" i="1" dirty="0">
                              <a:latin typeface="Cambria Math" panose="02040503050406030204" pitchFamily="18" charset="0"/>
                              <a:ea typeface="Noto Sans SC" panose="020B0200000000000000" pitchFamily="34" charset="-122"/>
                            </a:rPr>
                          </m:ctrlPr>
                        </m:dPr>
                        <m:e>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𝑢</m:t>
                              </m:r>
                            </m:e>
                            <m:sub>
                              <m:r>
                                <a:rPr lang="en-US" altLang="zh-CN" sz="1600" i="1" dirty="0">
                                  <a:latin typeface="Cambria Math" panose="02040503050406030204" pitchFamily="18" charset="0"/>
                                  <a:ea typeface="Noto Sans SC" panose="020B0200000000000000" pitchFamily="34" charset="-122"/>
                                </a:rPr>
                                <m:t>1</m:t>
                              </m:r>
                            </m:sub>
                          </m:sSub>
                        </m:e>
                      </m:d>
                      <m:r>
                        <a:rPr lang="en-US" altLang="zh-CN" sz="1600" i="1" dirty="0">
                          <a:latin typeface="Cambria Math" panose="02040503050406030204" pitchFamily="18" charset="0"/>
                          <a:ea typeface="Noto Sans SC" panose="020B0200000000000000" pitchFamily="34" charset="-122"/>
                        </a:rPr>
                        <m:t>=</m:t>
                      </m:r>
                      <m:nary>
                        <m:naryPr>
                          <m:subHide m:val="on"/>
                          <m:supHide m:val="on"/>
                          <m:ctrlPr>
                            <a:rPr lang="en-US" altLang="zh-CN" sz="1600" i="1" dirty="0">
                              <a:latin typeface="Cambria Math" panose="02040503050406030204" pitchFamily="18" charset="0"/>
                              <a:ea typeface="Noto Sans SC" panose="020B0200000000000000" pitchFamily="34" charset="-122"/>
                            </a:rPr>
                          </m:ctrlPr>
                        </m:naryPr>
                        <m:sub/>
                        <m:sup/>
                        <m:e>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𝑝</m:t>
                              </m:r>
                            </m:e>
                            <m:sub>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𝑈</m:t>
                                  </m:r>
                                </m:e>
                                <m:sub>
                                  <m:r>
                                    <a:rPr lang="en-US" altLang="zh-CN" sz="1600" i="1">
                                      <a:latin typeface="Cambria Math" panose="02040503050406030204" pitchFamily="18" charset="0"/>
                                      <a:ea typeface="Cambria Math" panose="02040503050406030204" pitchFamily="18" charset="0"/>
                                    </a:rPr>
                                    <m:t>0</m:t>
                                  </m:r>
                                </m:sub>
                              </m:sSub>
                            </m:sub>
                          </m:sSub>
                          <m:d>
                            <m:dPr>
                              <m:ctrlPr>
                                <a:rPr lang="en-US" altLang="zh-CN" sz="1600" b="0" i="1" smtClean="0">
                                  <a:latin typeface="Cambria Math" panose="02040503050406030204" pitchFamily="18" charset="0"/>
                                  <a:ea typeface="Cambria Math" panose="02040503050406030204" pitchFamily="18" charset="0"/>
                                </a:rPr>
                              </m:ctrlPr>
                            </m:dPr>
                            <m:e>
                              <m:sSup>
                                <m:sSupPr>
                                  <m:ctrlPr>
                                    <a:rPr lang="en-US" altLang="zh-CN" sz="1600" b="0" i="1" smtClean="0">
                                      <a:latin typeface="Cambria Math" panose="02040503050406030204" pitchFamily="18" charset="0"/>
                                      <a:ea typeface="Cambria Math" panose="02040503050406030204" pitchFamily="18" charset="0"/>
                                    </a:rPr>
                                  </m:ctrlPr>
                                </m:sSupPr>
                                <m:e>
                                  <m:r>
                                    <a:rPr lang="en-US" altLang="zh-CN" sz="1600" b="0" i="1" smtClean="0">
                                      <a:latin typeface="Cambria Math" panose="02040503050406030204" pitchFamily="18" charset="0"/>
                                      <a:ea typeface="Cambria Math" panose="02040503050406030204" pitchFamily="18" charset="0"/>
                                    </a:rPr>
                                    <m:t>ℎ</m:t>
                                  </m:r>
                                </m:e>
                                <m:sup>
                                  <m:r>
                                    <a:rPr lang="en-US" altLang="zh-CN" sz="1600" b="0" i="1" smtClean="0">
                                      <a:latin typeface="Cambria Math" panose="02040503050406030204" pitchFamily="18" charset="0"/>
                                      <a:ea typeface="Cambria Math" panose="02040503050406030204" pitchFamily="18" charset="0"/>
                                    </a:rPr>
                                    <m:t>−1</m:t>
                                  </m:r>
                                </m:sup>
                              </m:sSup>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𝑣</m:t>
                                  </m:r>
                                </m:e>
                              </m:d>
                            </m:e>
                          </m:d>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𝛿</m:t>
                          </m:r>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b="0" i="1" smtClean="0">
                                  <a:latin typeface="Cambria Math" panose="02040503050406030204" pitchFamily="18" charset="0"/>
                                </a:rPr>
                                <m:t>𝑣</m:t>
                              </m:r>
                            </m:e>
                          </m:d>
                          <m:d>
                            <m:dPr>
                              <m:begChr m:val="|"/>
                              <m:endChr m:val="|"/>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0</m:t>
                                      </m:r>
                                    </m:sub>
                                  </m:sSub>
                                </m:num>
                                <m:den>
                                  <m:r>
                                    <a:rPr lang="en-US" altLang="zh-CN" sz="1600" b="0" i="1" smtClean="0">
                                      <a:latin typeface="Cambria Math" panose="02040503050406030204" pitchFamily="18" charset="0"/>
                                    </a:rPr>
                                    <m:t>𝑑𝑣</m:t>
                                  </m:r>
                                </m:den>
                              </m:f>
                            </m:e>
                          </m:d>
                          <m:r>
                            <a:rPr lang="en-US" altLang="zh-CN" sz="1600" i="1">
                              <a:latin typeface="Cambria Math" panose="02040503050406030204" pitchFamily="18" charset="0"/>
                            </a:rPr>
                            <m:t>𝑑</m:t>
                          </m:r>
                          <m:r>
                            <a:rPr lang="en-US" altLang="zh-CN" sz="1600" i="1" smtClean="0">
                              <a:latin typeface="Cambria Math" panose="02040503050406030204" pitchFamily="18" charset="0"/>
                            </a:rPr>
                            <m:t>𝑣</m:t>
                          </m:r>
                        </m:e>
                      </m:nary>
                    </m:oMath>
                  </m:oMathPara>
                </a14:m>
                <a:endParaRPr lang="en-US" altLang="zh-CN" sz="1600" i="1" dirty="0">
                  <a:latin typeface="Cambria Math" panose="02040503050406030204" pitchFamily="18" charset="0"/>
                </a:endParaRPr>
              </a:p>
              <a:p>
                <a:pPr algn="just"/>
                <a14:m>
                  <m:oMathPara xmlns:m="http://schemas.openxmlformats.org/officeDocument/2006/math">
                    <m:oMath>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𝑝</m:t>
                          </m:r>
                        </m:e>
                        <m:sub>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𝑈</m:t>
                              </m:r>
                            </m:e>
                            <m:sub>
                              <m:r>
                                <a:rPr lang="en-US" altLang="zh-CN" sz="1600" b="0" i="1" smtClean="0">
                                  <a:latin typeface="Cambria Math" panose="02040503050406030204" pitchFamily="18" charset="0"/>
                                  <a:ea typeface="Cambria Math" panose="02040503050406030204" pitchFamily="18" charset="0"/>
                                </a:rPr>
                                <m:t>0</m:t>
                              </m:r>
                            </m:sub>
                          </m:sSub>
                        </m:sub>
                      </m:sSub>
                      <m:d>
                        <m:dPr>
                          <m:ctrlPr>
                            <a:rPr lang="en-US" altLang="zh-CN" sz="1600" i="1">
                              <a:latin typeface="Cambria Math" panose="02040503050406030204" pitchFamily="18" charset="0"/>
                              <a:ea typeface="Cambria Math" panose="02040503050406030204" pitchFamily="18" charset="0"/>
                            </a:rPr>
                          </m:ctrlPr>
                        </m:dPr>
                        <m:e>
                          <m:sSup>
                            <m:sSupPr>
                              <m:ctrlPr>
                                <a:rPr lang="en-US" altLang="zh-CN" sz="1600" i="1">
                                  <a:latin typeface="Cambria Math" panose="02040503050406030204" pitchFamily="18" charset="0"/>
                                  <a:ea typeface="Cambria Math" panose="02040503050406030204" pitchFamily="18" charset="0"/>
                                </a:rPr>
                              </m:ctrlPr>
                            </m:sSupPr>
                            <m:e>
                              <m:r>
                                <a:rPr lang="en-US" altLang="zh-CN" sz="1600" i="1">
                                  <a:latin typeface="Cambria Math" panose="02040503050406030204" pitchFamily="18" charset="0"/>
                                  <a:ea typeface="Cambria Math" panose="02040503050406030204" pitchFamily="18" charset="0"/>
                                </a:rPr>
                                <m:t>ℎ</m:t>
                              </m:r>
                            </m:e>
                            <m:sup>
                              <m:r>
                                <a:rPr lang="en-US" altLang="zh-CN" sz="1600" i="1">
                                  <a:latin typeface="Cambria Math" panose="02040503050406030204" pitchFamily="18" charset="0"/>
                                  <a:ea typeface="Cambria Math" panose="02040503050406030204" pitchFamily="18" charset="0"/>
                                </a:rPr>
                                <m:t>−1</m:t>
                              </m:r>
                            </m:sup>
                          </m:sSup>
                          <m:d>
                            <m:dPr>
                              <m:ctrlPr>
                                <a:rPr lang="en-US" altLang="zh-CN" sz="1600" b="0" i="1" smtClean="0">
                                  <a:latin typeface="Cambria Math" panose="02040503050406030204" pitchFamily="18" charset="0"/>
                                  <a:ea typeface="Cambria Math" panose="02040503050406030204" pitchFamily="18" charset="0"/>
                                </a:rPr>
                              </m:ctrlPr>
                            </m:dPr>
                            <m:e>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𝑢</m:t>
                                  </m:r>
                                </m:e>
                                <m:sub>
                                  <m:r>
                                    <a:rPr lang="en-US" altLang="zh-CN" sz="1600" b="0" i="1" smtClean="0">
                                      <a:latin typeface="Cambria Math" panose="02040503050406030204" pitchFamily="18" charset="0"/>
                                      <a:ea typeface="Cambria Math" panose="02040503050406030204" pitchFamily="18" charset="0"/>
                                    </a:rPr>
                                    <m:t>1</m:t>
                                  </m:r>
                                </m:sub>
                              </m:sSub>
                            </m:e>
                          </m:d>
                        </m:e>
                      </m:d>
                      <m:d>
                        <m:dPr>
                          <m:begChr m:val="|"/>
                          <m:endChr m:val="|"/>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num>
                            <m:den>
                              <m:r>
                                <a:rPr lang="en-US" altLang="zh-CN" sz="1600" i="1">
                                  <a:latin typeface="Cambria Math" panose="02040503050406030204" pitchFamily="18" charset="0"/>
                                </a:rPr>
                                <m:t>𝑑𝑣</m:t>
                              </m:r>
                            </m:den>
                          </m:f>
                        </m:e>
                      </m:d>
                      <m:sSub>
                        <m:sSubPr>
                          <m:ctrlPr>
                            <a:rPr lang="zh-CN" altLang="en-US" sz="1600" i="1">
                              <a:latin typeface="Cambria Math" panose="02040503050406030204" pitchFamily="18" charset="0"/>
                            </a:rPr>
                          </m:ctrlPr>
                        </m:sSubPr>
                        <m:e>
                          <m:d>
                            <m:dPr>
                              <m:begChr m:val=""/>
                              <m:endChr m:val="|"/>
                              <m:ctrlPr>
                                <a:rPr lang="zh-CN" altLang="en-US" sz="1600">
                                  <a:latin typeface="Cambria Math" panose="02040503050406030204" pitchFamily="18" charset="0"/>
                                </a:rPr>
                              </m:ctrlPr>
                            </m:dPr>
                            <m:e>
                              <m:r>
                                <a:rPr lang="zh-CN" altLang="en-US" sz="1600">
                                  <a:latin typeface="Cambria Math" panose="02040503050406030204" pitchFamily="18" charset="0"/>
                                </a:rPr>
                                <m:t>​</m:t>
                              </m:r>
                            </m:e>
                          </m:d>
                        </m:e>
                        <m:sub>
                          <m:r>
                            <a:rPr lang="en-US" altLang="zh-CN" sz="1600" b="0" i="1" smtClean="0">
                              <a:latin typeface="Cambria Math" panose="02040503050406030204" pitchFamily="18" charset="0"/>
                            </a:rPr>
                            <m:t>𝑣</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𝑢</m:t>
                              </m:r>
                            </m:e>
                            <m:sub>
                              <m:r>
                                <a:rPr lang="en-US" altLang="zh-CN" sz="1600" b="0" i="1" smtClean="0">
                                  <a:latin typeface="Cambria Math" panose="02040503050406030204" pitchFamily="18" charset="0"/>
                                </a:rPr>
                                <m:t>1</m:t>
                              </m:r>
                            </m:sub>
                          </m:sSub>
                        </m:sub>
                      </m:sSub>
                      <m:r>
                        <a:rPr lang="en-US" altLang="zh-CN" sz="1600" b="0" i="1" smtClean="0">
                          <a:latin typeface="Cambria Math" panose="02040503050406030204" pitchFamily="18" charset="0"/>
                        </a:rPr>
                        <m:t>     </m:t>
                      </m:r>
                    </m:oMath>
                  </m:oMathPara>
                </a14:m>
                <a:endParaRPr lang="en-US" altLang="zh-CN" sz="1600" b="0" i="1" dirty="0">
                  <a:latin typeface="Cambria Math" panose="02040503050406030204" pitchFamily="18" charset="0"/>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因为</a:t>
                </a:r>
                <a14:m>
                  <m:oMath xmlns:m="http://schemas.openxmlformats.org/officeDocument/2006/math">
                    <m:d>
                      <m:dPr>
                        <m:begChr m:val="|"/>
                        <m:endChr m:val="|"/>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𝑢</m:t>
                                </m:r>
                              </m:e>
                              <m:sub>
                                <m:r>
                                  <a:rPr lang="en-US" altLang="zh-CN" sz="1600" i="1">
                                    <a:latin typeface="Cambria Math" panose="02040503050406030204" pitchFamily="18" charset="0"/>
                                  </a:rPr>
                                  <m:t>0</m:t>
                                </m:r>
                              </m:sub>
                            </m:sSub>
                          </m:num>
                          <m:den>
                            <m:r>
                              <a:rPr lang="en-US" altLang="zh-CN" sz="1600" i="1">
                                <a:latin typeface="Cambria Math" panose="02040503050406030204" pitchFamily="18" charset="0"/>
                              </a:rPr>
                              <m:t>𝑑𝑣</m:t>
                            </m:r>
                          </m:den>
                        </m:f>
                      </m:e>
                    </m:d>
                    <m:r>
                      <a:rPr lang="en-US" altLang="zh-CN" sz="1600" b="0" i="1" smtClean="0">
                        <a:latin typeface="Cambria Math" panose="02040503050406030204" pitchFamily="18" charset="0"/>
                      </a:rPr>
                      <m:t>=1</m:t>
                    </m:r>
                  </m:oMath>
                </a14:m>
                <a:r>
                  <a:rPr lang="zh-CN" altLang="en-US" sz="1600" dirty="0">
                    <a:latin typeface="Noto Sans SC" panose="020B0200000000000000" pitchFamily="34" charset="-122"/>
                    <a:ea typeface="Noto Sans SC" panose="020B0200000000000000" pitchFamily="34" charset="-122"/>
                  </a:rPr>
                  <a:t>几乎处处成立，于是：</a:t>
                </a:r>
                <a:endParaRPr lang="en-US" altLang="zh-CN" sz="1600" dirty="0">
                  <a:latin typeface="Noto Sans SC" panose="020B0200000000000000" pitchFamily="34" charset="-122"/>
                  <a:ea typeface="Noto Sans SC" panose="020B0200000000000000" pitchFamily="34" charset="-122"/>
                </a:endParaRPr>
              </a:p>
              <a:p>
                <a:pPr algn="just"/>
                <a14:m>
                  <m:oMathPara xmlns:m="http://schemas.openxmlformats.org/officeDocument/2006/math">
                    <m:oMath>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𝑝</m:t>
                          </m:r>
                        </m:e>
                        <m:sub>
                          <m:sSub>
                            <m:sSubPr>
                              <m:ctrlPr>
                                <a:rPr lang="en-US" altLang="zh-CN" sz="1600" b="0" i="1" dirty="0" smtClean="0">
                                  <a:latin typeface="Cambria Math" panose="02040503050406030204" pitchFamily="18" charset="0"/>
                                  <a:ea typeface="Noto Sans SC" panose="020B0200000000000000" pitchFamily="34" charset="-122"/>
                                </a:rPr>
                              </m:ctrlPr>
                            </m:sSubPr>
                            <m:e>
                              <m:r>
                                <a:rPr lang="en-US" altLang="zh-CN" sz="1600" b="0" i="1" dirty="0" smtClean="0">
                                  <a:latin typeface="Cambria Math" panose="02040503050406030204" pitchFamily="18" charset="0"/>
                                  <a:ea typeface="Noto Sans SC" panose="020B0200000000000000" pitchFamily="34" charset="-122"/>
                                </a:rPr>
                                <m:t>𝑈</m:t>
                              </m:r>
                            </m:e>
                            <m:sub>
                              <m:r>
                                <a:rPr lang="en-US" altLang="zh-CN" sz="1600" i="1" dirty="0">
                                  <a:latin typeface="Cambria Math" panose="02040503050406030204" pitchFamily="18" charset="0"/>
                                  <a:ea typeface="Noto Sans SC" panose="020B0200000000000000" pitchFamily="34" charset="-122"/>
                                </a:rPr>
                                <m:t>1</m:t>
                              </m:r>
                            </m:sub>
                          </m:sSub>
                        </m:sub>
                      </m:sSub>
                      <m:d>
                        <m:dPr>
                          <m:ctrlPr>
                            <a:rPr lang="en-US" altLang="zh-CN" sz="1600" i="1" dirty="0">
                              <a:latin typeface="Cambria Math" panose="02040503050406030204" pitchFamily="18" charset="0"/>
                              <a:ea typeface="Noto Sans SC" panose="020B0200000000000000" pitchFamily="34" charset="-122"/>
                            </a:rPr>
                          </m:ctrlPr>
                        </m:dPr>
                        <m:e>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𝑢</m:t>
                              </m:r>
                            </m:e>
                            <m:sub>
                              <m:r>
                                <a:rPr lang="en-US" altLang="zh-CN" sz="1600" i="1" dirty="0">
                                  <a:latin typeface="Cambria Math" panose="02040503050406030204" pitchFamily="18" charset="0"/>
                                  <a:ea typeface="Noto Sans SC" panose="020B0200000000000000" pitchFamily="34" charset="-122"/>
                                </a:rPr>
                                <m:t>1</m:t>
                              </m:r>
                            </m:sub>
                          </m:sSub>
                        </m:e>
                      </m:d>
                      <m:r>
                        <a:rPr lang="en-US" altLang="zh-CN" sz="1600" b="0" i="1" dirty="0" smtClean="0">
                          <a:latin typeface="Cambria Math" panose="02040503050406030204" pitchFamily="18" charset="0"/>
                          <a:ea typeface="Noto Sans SC" panose="020B0200000000000000" pitchFamily="34" charset="-122"/>
                        </a:rPr>
                        <m:t>=1</m:t>
                      </m:r>
                    </m:oMath>
                  </m:oMathPara>
                </a14:m>
                <a:endParaRPr lang="en-US" altLang="zh-CN" sz="1600" dirty="0">
                  <a:latin typeface="Noto Sans SC" panose="020B0200000000000000" pitchFamily="34" charset="-122"/>
                  <a:ea typeface="Noto Sans SC" panose="020B0200000000000000" pitchFamily="34" charset="-122"/>
                </a:endParaRPr>
              </a:p>
              <a:p>
                <a:pPr algn="just"/>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因此，尽管</a:t>
                </a:r>
                <a14:m>
                  <m:oMath xmlns:m="http://schemas.openxmlformats.org/officeDocument/2006/math">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𝑈</m:t>
                        </m:r>
                      </m:e>
                      <m:sub>
                        <m:r>
                          <a:rPr lang="en-US" altLang="zh-CN" sz="1600" i="1" dirty="0">
                            <a:latin typeface="Cambria Math" panose="02040503050406030204" pitchFamily="18" charset="0"/>
                            <a:ea typeface="Noto Sans SC" panose="020B0200000000000000" pitchFamily="34" charset="-122"/>
                          </a:rPr>
                          <m:t>1</m:t>
                        </m:r>
                      </m:sub>
                    </m:sSub>
                  </m:oMath>
                </a14:m>
                <a:r>
                  <a:rPr lang="zh-CN" altLang="en-US" sz="1600" dirty="0">
                    <a:latin typeface="Noto Sans SC" panose="020B0200000000000000" pitchFamily="34" charset="-122"/>
                    <a:ea typeface="Noto Sans SC" panose="020B0200000000000000" pitchFamily="34" charset="-122"/>
                  </a:rPr>
                  <a:t>完全由</a:t>
                </a:r>
                <a14:m>
                  <m:oMath xmlns:m="http://schemas.openxmlformats.org/officeDocument/2006/math">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𝑈</m:t>
                        </m:r>
                      </m:e>
                      <m:sub>
                        <m:r>
                          <a:rPr lang="en-US" altLang="zh-CN" sz="1600" b="0" i="1" dirty="0" smtClean="0">
                            <a:latin typeface="Cambria Math" panose="02040503050406030204" pitchFamily="18" charset="0"/>
                            <a:ea typeface="Noto Sans SC" panose="020B0200000000000000" pitchFamily="34" charset="-122"/>
                          </a:rPr>
                          <m:t>0</m:t>
                        </m:r>
                      </m:sub>
                    </m:sSub>
                  </m:oMath>
                </a14:m>
                <a:r>
                  <a:rPr lang="zh-CN" altLang="en-US" sz="1600" dirty="0">
                    <a:latin typeface="Noto Sans SC" panose="020B0200000000000000" pitchFamily="34" charset="-122"/>
                    <a:ea typeface="Noto Sans SC" panose="020B0200000000000000" pitchFamily="34" charset="-122"/>
                  </a:rPr>
                  <a:t>决定，两者并不独立，但</a:t>
                </a:r>
                <a14:m>
                  <m:oMath xmlns:m="http://schemas.openxmlformats.org/officeDocument/2006/math">
                    <m:sSub>
                      <m:sSubPr>
                        <m:ctrlPr>
                          <a:rPr lang="en-US" altLang="zh-CN" sz="1600" i="1" dirty="0">
                            <a:latin typeface="Cambria Math" panose="02040503050406030204" pitchFamily="18" charset="0"/>
                            <a:ea typeface="Noto Sans SC" panose="020B0200000000000000" pitchFamily="34" charset="-122"/>
                          </a:rPr>
                        </m:ctrlPr>
                      </m:sSubPr>
                      <m:e>
                        <m:r>
                          <a:rPr lang="en-US" altLang="zh-CN" sz="1600" i="1" dirty="0">
                            <a:latin typeface="Cambria Math" panose="02040503050406030204" pitchFamily="18" charset="0"/>
                            <a:ea typeface="Noto Sans SC" panose="020B0200000000000000" pitchFamily="34" charset="-122"/>
                          </a:rPr>
                          <m:t>𝑈</m:t>
                        </m:r>
                      </m:e>
                      <m:sub>
                        <m:r>
                          <a:rPr lang="en-US" altLang="zh-CN" sz="1600" i="1" dirty="0">
                            <a:latin typeface="Cambria Math" panose="02040503050406030204" pitchFamily="18" charset="0"/>
                            <a:ea typeface="Noto Sans SC" panose="020B0200000000000000" pitchFamily="34" charset="-122"/>
                          </a:rPr>
                          <m:t>1</m:t>
                        </m:r>
                      </m:sub>
                    </m:sSub>
                  </m:oMath>
                </a14:m>
                <a:r>
                  <a:rPr lang="zh-CN" altLang="en-US" sz="1600" dirty="0">
                    <a:latin typeface="Noto Sans SC" panose="020B0200000000000000" pitchFamily="34" charset="-122"/>
                    <a:ea typeface="Noto Sans SC" panose="020B0200000000000000" pitchFamily="34" charset="-122"/>
                  </a:rPr>
                  <a:t>的分布仍然是均匀分布。</a:t>
                </a:r>
                <a:endParaRPr lang="en-US" altLang="zh-CN" sz="1600" dirty="0">
                  <a:latin typeface="Noto Sans SC" panose="020B0200000000000000" pitchFamily="34" charset="-122"/>
                  <a:ea typeface="Noto Sans SC" panose="020B0200000000000000" pitchFamily="34" charset="-122"/>
                </a:endParaRPr>
              </a:p>
            </p:txBody>
          </p:sp>
        </mc:Choice>
        <mc:Fallback xmlns="">
          <p:sp>
            <p:nvSpPr>
              <p:cNvPr id="4" name="文本框 3">
                <a:extLst>
                  <a:ext uri="{FF2B5EF4-FFF2-40B4-BE49-F238E27FC236}">
                    <a16:creationId xmlns:a16="http://schemas.microsoft.com/office/drawing/2014/main" id="{22A87C21-9C21-1FBC-C710-F469906ACD01}"/>
                  </a:ext>
                </a:extLst>
              </p:cNvPr>
              <p:cNvSpPr txBox="1">
                <a:spLocks noRot="1" noChangeAspect="1" noMove="1" noResize="1" noEditPoints="1" noAdjustHandles="1" noChangeArrowheads="1" noChangeShapeType="1" noTextEdit="1"/>
              </p:cNvSpPr>
              <p:nvPr/>
            </p:nvSpPr>
            <p:spPr>
              <a:xfrm>
                <a:off x="6633121" y="634920"/>
                <a:ext cx="4824784" cy="5863080"/>
              </a:xfrm>
              <a:prstGeom prst="rect">
                <a:avLst/>
              </a:prstGeom>
              <a:blipFill>
                <a:blip r:embed="rId3"/>
                <a:stretch>
                  <a:fillRect l="-631" t="-312" r="-631" b="-4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7205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B769B-334E-CA32-6A50-126376284B4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18431FB-72DC-5522-E31A-06EBE1B8B41E}"/>
              </a:ext>
            </a:extLst>
          </p:cNvPr>
          <p:cNvSpPr>
            <a:spLocks noGrp="1"/>
          </p:cNvSpPr>
          <p:nvPr>
            <p:ph type="title" idx="1"/>
          </p:nvPr>
        </p:nvSpPr>
        <p:spPr/>
        <p:txBody>
          <a:bodyPr/>
          <a:lstStyle/>
          <a:p>
            <a:r>
              <a:rPr lang="zh-CN" altLang="en-US" dirty="0"/>
              <a:t>波长采样</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1D00158-B8E1-3247-540C-F1643C331FC6}"/>
                  </a:ext>
                </a:extLst>
              </p:cNvPr>
              <p:cNvSpPr txBox="1"/>
              <p:nvPr/>
            </p:nvSpPr>
            <p:spPr>
              <a:xfrm>
                <a:off x="6824368" y="1570418"/>
                <a:ext cx="4981332" cy="5024965"/>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实际上，对于我们目前实现了的大多材质，光线的反射都与波长无关。</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但是对于完美折射与微表面理论带有粗糙度的折射材质，计算他们的折射方向需要用到材质的折射率，而大多数物体的折射率并不是常数，不同的波长会对应不同的折射率。因此对于这些情况，就不能让四个波长公用同一条光路了。</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当然，也不能让这四个波长在遇到折射时就分散为四束光线，因为这样会导致分散的光线约分越多，呈指数增长。</a:t>
                </a:r>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因此，一种简单的算法实现为：如果遇到了涉及折射的材质，就丢弃掉后三个波长样本，只保留第一个波长，对应的蒙特卡洛估计器变为：</a:t>
                </a:r>
                <a:endParaRPr lang="en-US" altLang="zh-CN" dirty="0">
                  <a:latin typeface="Noto Sans SC" panose="020B0200000000000000" pitchFamily="34" charset="-122"/>
                  <a:ea typeface="Noto Sans SC" panose="020B0200000000000000" pitchFamily="34" charset="-122"/>
                </a:endParaRPr>
              </a:p>
              <a:p>
                <a:pPr algn="just"/>
                <a14:m>
                  <m:oMathPara xmlns:m="http://schemas.openxmlformats.org/officeDocument/2006/math">
                    <m:oMath>
                      <m:r>
                        <a:rPr lang="en-US" altLang="zh-CN" i="1">
                          <a:latin typeface="Cambria Math" panose="02040503050406030204" pitchFamily="18" charset="0"/>
                        </a:rPr>
                        <m:t>𝑌</m:t>
                      </m:r>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1</m:t>
                          </m:r>
                        </m:num>
                        <m:den>
                          <m:r>
                            <a:rPr lang="en-US" altLang="zh-CN" b="0" i="1" dirty="0" smtClean="0">
                              <a:latin typeface="Cambria Math" panose="02040503050406030204" pitchFamily="18" charset="0"/>
                              <a:ea typeface="Cambria Math" panose="02040503050406030204" pitchFamily="18" charset="0"/>
                            </a:rPr>
                            <m:t>4</m:t>
                          </m:r>
                        </m:den>
                      </m:f>
                      <m:nary>
                        <m:naryPr>
                          <m:chr m:val="∑"/>
                          <m:ctrlPr>
                            <a:rPr lang="en-US" altLang="zh-CN" b="0" i="1" dirty="0" smtClean="0">
                              <a:latin typeface="Cambria Math" panose="02040503050406030204" pitchFamily="18" charset="0"/>
                              <a:ea typeface="Cambria Math" panose="02040503050406030204" pitchFamily="18" charset="0"/>
                            </a:rPr>
                          </m:ctrlPr>
                        </m:naryPr>
                        <m:sub>
                          <m:r>
                            <m:rPr>
                              <m:brk m:alnAt="23"/>
                            </m:rPr>
                            <a:rPr lang="en-US" altLang="zh-CN" b="0" i="1" dirty="0" smtClean="0">
                              <a:latin typeface="Cambria Math" panose="02040503050406030204" pitchFamily="18" charset="0"/>
                              <a:ea typeface="Cambria Math" panose="02040503050406030204" pitchFamily="18" charset="0"/>
                            </a:rPr>
                            <m:t>𝑖</m:t>
                          </m:r>
                          <m:r>
                            <a:rPr lang="en-US" altLang="zh-CN" b="0" i="1" dirty="0" smtClean="0">
                              <a:latin typeface="Cambria Math" panose="02040503050406030204" pitchFamily="18" charset="0"/>
                              <a:ea typeface="Cambria Math" panose="02040503050406030204" pitchFamily="18" charset="0"/>
                            </a:rPr>
                            <m:t>=1</m:t>
                          </m:r>
                        </m:sub>
                        <m:sup>
                          <m:r>
                            <a:rPr lang="en-US" altLang="zh-CN" b="0" i="1" dirty="0" smtClean="0">
                              <a:latin typeface="Cambria Math" panose="02040503050406030204" pitchFamily="18" charset="0"/>
                              <a:ea typeface="Cambria Math" panose="02040503050406030204" pitchFamily="18" charset="0"/>
                            </a:rPr>
                            <m:t>4</m:t>
                          </m:r>
                        </m:sup>
                        <m:e>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𝐿</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𝑦</m:t>
                                  </m:r>
                                </m:e>
                              </m:acc>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num>
                            <m:den>
                              <m:r>
                                <a:rPr lang="en-US" altLang="zh-CN" i="1" dirty="0">
                                  <a:latin typeface="Cambria Math" panose="02040503050406030204" pitchFamily="18" charset="0"/>
                                  <a:ea typeface="Cambria Math" panose="02040503050406030204" pitchFamily="18" charset="0"/>
                                </a:rPr>
                                <m:t>𝑝</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i="1" dirty="0">
                                          <a:latin typeface="Cambria Math" panose="02040503050406030204" pitchFamily="18" charset="0"/>
                                          <a:ea typeface="Cambria Math" panose="02040503050406030204" pitchFamily="18" charset="0"/>
                                        </a:rPr>
                                        <m:t>𝑖</m:t>
                                      </m:r>
                                    </m:sub>
                                  </m:sSub>
                                </m:e>
                              </m:d>
                            </m:den>
                          </m:f>
                        </m:e>
                      </m:nary>
                      <m:r>
                        <a:rPr lang="en-US" altLang="zh-CN" b="0" i="1" dirty="0" smtClean="0">
                          <a:latin typeface="Cambria Math" panose="02040503050406030204" pitchFamily="18" charset="0"/>
                          <a:ea typeface="Cambria Math" panose="02040503050406030204" pitchFamily="18" charset="0"/>
                        </a:rPr>
                        <m:t>     →     </m:t>
                      </m:r>
                      <m:r>
                        <a:rPr lang="en-US" altLang="zh-CN" i="1">
                          <a:latin typeface="Cambria Math" panose="02040503050406030204" pitchFamily="18" charset="0"/>
                        </a:rPr>
                        <m:t>𝑌</m:t>
                      </m:r>
                      <m:r>
                        <a:rPr lang="en-US" altLang="zh-CN" i="1" dirty="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r>
                            <a:rPr lang="en-US" altLang="zh-CN" i="1" dirty="0">
                              <a:latin typeface="Cambria Math" panose="02040503050406030204" pitchFamily="18" charset="0"/>
                              <a:ea typeface="Cambria Math" panose="02040503050406030204" pitchFamily="18" charset="0"/>
                            </a:rPr>
                            <m:t>𝐿</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b="0" i="1" dirty="0" smtClean="0">
                                      <a:latin typeface="Cambria Math" panose="02040503050406030204" pitchFamily="18" charset="0"/>
                                      <a:ea typeface="Cambria Math" panose="02040503050406030204" pitchFamily="18" charset="0"/>
                                    </a:rPr>
                                    <m:t>1</m:t>
                                  </m:r>
                                </m:sub>
                              </m:sSub>
                            </m:e>
                          </m:d>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𝑦</m:t>
                              </m:r>
                            </m:e>
                          </m:acc>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b="0" i="1" dirty="0" smtClean="0">
                                      <a:latin typeface="Cambria Math" panose="02040503050406030204" pitchFamily="18" charset="0"/>
                                      <a:ea typeface="Cambria Math" panose="02040503050406030204" pitchFamily="18" charset="0"/>
                                    </a:rPr>
                                    <m:t>1</m:t>
                                  </m:r>
                                </m:sub>
                              </m:sSub>
                            </m:e>
                          </m:d>
                        </m:num>
                        <m:den>
                          <m:r>
                            <a:rPr lang="en-US" altLang="zh-CN" i="1" dirty="0">
                              <a:latin typeface="Cambria Math" panose="02040503050406030204" pitchFamily="18" charset="0"/>
                              <a:ea typeface="Cambria Math" panose="02040503050406030204" pitchFamily="18" charset="0"/>
                            </a:rPr>
                            <m:t>𝑝</m:t>
                          </m:r>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𝜆</m:t>
                                  </m:r>
                                </m:e>
                                <m:sub>
                                  <m:r>
                                    <a:rPr lang="en-US" altLang="zh-CN" b="0" i="1" dirty="0" smtClean="0">
                                      <a:latin typeface="Cambria Math" panose="02040503050406030204" pitchFamily="18" charset="0"/>
                                      <a:ea typeface="Cambria Math" panose="02040503050406030204" pitchFamily="18" charset="0"/>
                                    </a:rPr>
                                    <m:t>1</m:t>
                                  </m:r>
                                </m:sub>
                              </m:sSub>
                            </m:e>
                          </m:d>
                        </m:den>
                      </m:f>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6" name="文本框 5">
                <a:extLst>
                  <a:ext uri="{FF2B5EF4-FFF2-40B4-BE49-F238E27FC236}">
                    <a16:creationId xmlns:a16="http://schemas.microsoft.com/office/drawing/2014/main" id="{01D00158-B8E1-3247-540C-F1643C331FC6}"/>
                  </a:ext>
                </a:extLst>
              </p:cNvPr>
              <p:cNvSpPr txBox="1">
                <a:spLocks noRot="1" noChangeAspect="1" noMove="1" noResize="1" noEditPoints="1" noAdjustHandles="1" noChangeArrowheads="1" noChangeShapeType="1" noTextEdit="1"/>
              </p:cNvSpPr>
              <p:nvPr/>
            </p:nvSpPr>
            <p:spPr>
              <a:xfrm>
                <a:off x="6824368" y="1570418"/>
                <a:ext cx="4981332" cy="5024965"/>
              </a:xfrm>
              <a:prstGeom prst="rect">
                <a:avLst/>
              </a:prstGeom>
              <a:blipFill>
                <a:blip r:embed="rId2"/>
                <a:stretch>
                  <a:fillRect l="-978" t="-728"/>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5A07B75A-E57F-47F3-CEB6-1E682CF87509}"/>
              </a:ext>
            </a:extLst>
          </p:cNvPr>
          <p:cNvPicPr>
            <a:picLocks noChangeAspect="1"/>
          </p:cNvPicPr>
          <p:nvPr/>
        </p:nvPicPr>
        <p:blipFill>
          <a:blip r:embed="rId3"/>
          <a:stretch>
            <a:fillRect/>
          </a:stretch>
        </p:blipFill>
        <p:spPr>
          <a:xfrm>
            <a:off x="386300" y="3082092"/>
            <a:ext cx="5857611" cy="326668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A0EEEF5-2F45-1CD6-D0E4-9CC12189AB6A}"/>
                  </a:ext>
                </a:extLst>
              </p:cNvPr>
              <p:cNvSpPr txBox="1"/>
              <p:nvPr/>
            </p:nvSpPr>
            <p:spPr>
              <a:xfrm>
                <a:off x="275072" y="1570418"/>
                <a:ext cx="5968839" cy="1200329"/>
              </a:xfrm>
              <a:prstGeom prst="rect">
                <a:avLst/>
              </a:prstGeom>
              <a:noFill/>
            </p:spPr>
            <p:txBody>
              <a:bodyPr wrap="square">
                <a:spAutoFit/>
              </a:bodyPr>
              <a:lstStyle/>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采样得到了四个波长</a:t>
                </a:r>
                <a14:m>
                  <m:oMath xmlns:m="http://schemas.openxmlformats.org/officeDocument/2006/math">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b="0" i="1" smtClean="0">
                                <a:latin typeface="Cambria Math" panose="02040503050406030204" pitchFamily="18" charset="0"/>
                              </a:rPr>
                              <m:t>3</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b="0" i="1" smtClean="0">
                                <a:latin typeface="Cambria Math" panose="02040503050406030204" pitchFamily="18" charset="0"/>
                              </a:rPr>
                              <m:t>4</m:t>
                            </m:r>
                          </m:sub>
                        </m:sSub>
                      </m:e>
                    </m:d>
                  </m:oMath>
                </a14:m>
                <a:r>
                  <a:rPr lang="zh-CN" altLang="en-US" dirty="0">
                    <a:latin typeface="Noto Sans SC" panose="020B0200000000000000" pitchFamily="34" charset="-122"/>
                    <a:ea typeface="Noto Sans SC" panose="020B0200000000000000" pitchFamily="34" charset="-122"/>
                  </a:rPr>
                  <a:t>后，就需要在后续的光路中计算四个波长对应的</a:t>
                </a:r>
                <a:r>
                  <a:rPr lang="en-US" altLang="zh-CN" dirty="0">
                    <a:latin typeface="Noto Sans SC" panose="020B0200000000000000" pitchFamily="34" charset="-122"/>
                    <a:ea typeface="Noto Sans SC" panose="020B0200000000000000" pitchFamily="34" charset="-122"/>
                  </a:rPr>
                  <a:t>BSDF</a:t>
                </a:r>
                <a:r>
                  <a:rPr lang="zh-CN" altLang="en-US" dirty="0">
                    <a:latin typeface="Noto Sans SC" panose="020B0200000000000000" pitchFamily="34" charset="-122"/>
                    <a:ea typeface="Noto Sans SC" panose="020B0200000000000000" pitchFamily="34" charset="-122"/>
                  </a:rPr>
                  <a:t>、吞吐量权重</a:t>
                </a:r>
                <a:r>
                  <a:rPr lang="en-US" altLang="zh-CN" dirty="0">
                    <a:latin typeface="Noto Sans SC" panose="020B0200000000000000" pitchFamily="34" charset="-122"/>
                    <a:ea typeface="Noto Sans SC" panose="020B0200000000000000" pitchFamily="34" charset="-122"/>
                  </a:rPr>
                  <a:t>β</a:t>
                </a:r>
                <a:r>
                  <a:rPr lang="zh-CN" altLang="en-US" dirty="0">
                    <a:latin typeface="Noto Sans SC" panose="020B0200000000000000" pitchFamily="34" charset="-122"/>
                    <a:ea typeface="Noto Sans SC" panose="020B0200000000000000" pitchFamily="34" charset="-122"/>
                  </a:rPr>
                  <a:t>、光照等信息了。</a:t>
                </a:r>
                <a:endParaRPr lang="en-US" altLang="zh-CN" dirty="0">
                  <a:latin typeface="Noto Sans SC" panose="020B0200000000000000" pitchFamily="34" charset="-122"/>
                  <a:ea typeface="Noto Sans SC" panose="020B0200000000000000" pitchFamily="34" charset="-122"/>
                </a:endParaRPr>
              </a:p>
              <a:p>
                <a:pPr algn="just"/>
                <a:r>
                  <a:rPr lang="zh-CN" altLang="en-US" dirty="0">
                    <a:latin typeface="Noto Sans SC" panose="020B0200000000000000" pitchFamily="34" charset="-122"/>
                    <a:ea typeface="Noto Sans SC" panose="020B0200000000000000" pitchFamily="34" charset="-122"/>
                  </a:rPr>
                  <a:t>         这里隐含了一个条件，就是光线的路径与波长无关。</a:t>
                </a:r>
                <a:endParaRPr lang="en-US" altLang="zh-CN" dirty="0">
                  <a:latin typeface="Noto Sans SC" panose="020B0200000000000000" pitchFamily="34" charset="-122"/>
                  <a:ea typeface="Noto Sans SC" panose="020B0200000000000000" pitchFamily="34" charset="-122"/>
                </a:endParaRPr>
              </a:p>
            </p:txBody>
          </p:sp>
        </mc:Choice>
        <mc:Fallback xmlns="">
          <p:sp>
            <p:nvSpPr>
              <p:cNvPr id="8" name="文本框 7">
                <a:extLst>
                  <a:ext uri="{FF2B5EF4-FFF2-40B4-BE49-F238E27FC236}">
                    <a16:creationId xmlns:a16="http://schemas.microsoft.com/office/drawing/2014/main" id="{4A0EEEF5-2F45-1CD6-D0E4-9CC12189AB6A}"/>
                  </a:ext>
                </a:extLst>
              </p:cNvPr>
              <p:cNvSpPr txBox="1">
                <a:spLocks noRot="1" noChangeAspect="1" noMove="1" noResize="1" noEditPoints="1" noAdjustHandles="1" noChangeArrowheads="1" noChangeShapeType="1" noTextEdit="1"/>
              </p:cNvSpPr>
              <p:nvPr/>
            </p:nvSpPr>
            <p:spPr>
              <a:xfrm>
                <a:off x="275072" y="1570418"/>
                <a:ext cx="5968839" cy="1200329"/>
              </a:xfrm>
              <a:prstGeom prst="rect">
                <a:avLst/>
              </a:prstGeom>
              <a:blipFill>
                <a:blip r:embed="rId4"/>
                <a:stretch>
                  <a:fillRect l="-817" t="-3046" r="-919" b="-71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21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C192F-984C-31B5-EC70-B902697CB06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E647EA6-55FE-D48F-BD57-39CCF9941D44}"/>
              </a:ext>
            </a:extLst>
          </p:cNvPr>
          <p:cNvSpPr>
            <a:spLocks noGrp="1"/>
          </p:cNvSpPr>
          <p:nvPr>
            <p:ph type="title" idx="1"/>
          </p:nvPr>
        </p:nvSpPr>
        <p:spPr/>
        <p:txBody>
          <a:bodyPr/>
          <a:lstStyle/>
          <a:p>
            <a:r>
              <a:rPr lang="zh-CN" altLang="en-US" dirty="0"/>
              <a:t>光谱数据从哪来？</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8E6D4DE-E888-6A7E-18A1-40252E72B3D1}"/>
                  </a:ext>
                </a:extLst>
              </p:cNvPr>
              <p:cNvSpPr txBox="1"/>
              <p:nvPr/>
            </p:nvSpPr>
            <p:spPr>
              <a:xfrm>
                <a:off x="300830" y="1997839"/>
                <a:ext cx="5958301" cy="2862322"/>
              </a:xfrm>
              <a:prstGeom prst="rect">
                <a:avLst/>
              </a:prstGeom>
              <a:noFill/>
            </p:spPr>
            <p:txBody>
              <a:bodyPr wrap="square">
                <a:spAutoFit/>
              </a:bodyPr>
              <a:lstStyle/>
              <a:p>
                <a:pPr algn="just"/>
                <a:r>
                  <a:rPr lang="zh-CN" altLang="en-US" sz="2000" dirty="0">
                    <a:latin typeface="Noto Sans SC" panose="020B0200000000000000" pitchFamily="34" charset="-122"/>
                    <a:ea typeface="Noto Sans SC" panose="020B0200000000000000" pitchFamily="34" charset="-122"/>
                  </a:rPr>
                  <a:t>目前已经解决了：</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1. </a:t>
                </a:r>
                <a:r>
                  <a:rPr lang="zh-CN" altLang="en-US" sz="2000" dirty="0">
                    <a:latin typeface="Noto Sans SC" panose="020B0200000000000000" pitchFamily="34" charset="-122"/>
                    <a:ea typeface="Noto Sans SC" panose="020B0200000000000000" pitchFamily="34" charset="-122"/>
                  </a:rPr>
                  <a:t>计算机中如何表示光谱数据</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zh-CN" altLang="en-US" sz="2000" dirty="0">
                    <a:latin typeface="Noto Sans SC" panose="020B0200000000000000" pitchFamily="34" charset="-122"/>
                    <a:ea typeface="Noto Sans SC" panose="020B0200000000000000" pitchFamily="34" charset="-122"/>
                  </a:rPr>
                  <a:t>         </a:t>
                </a:r>
                <a:r>
                  <a:rPr lang="en-US" altLang="zh-CN" sz="2000" dirty="0">
                    <a:latin typeface="Noto Sans SC" panose="020B0200000000000000" pitchFamily="34" charset="-122"/>
                    <a:ea typeface="Noto Sans SC" panose="020B0200000000000000" pitchFamily="34" charset="-122"/>
                  </a:rPr>
                  <a:t>2. </a:t>
                </a:r>
                <a:r>
                  <a:rPr lang="zh-CN" altLang="en-US" sz="2000" dirty="0">
                    <a:latin typeface="Noto Sans SC" panose="020B0200000000000000" pitchFamily="34" charset="-122"/>
                    <a:ea typeface="Noto Sans SC" panose="020B0200000000000000" pitchFamily="34" charset="-122"/>
                  </a:rPr>
                  <a:t>光谱</a:t>
                </a:r>
                <a14:m>
                  <m:oMath xmlns:m="http://schemas.openxmlformats.org/officeDocument/2006/math">
                    <m:r>
                      <a:rPr lang="en-US" altLang="zh-CN" sz="2000" i="1">
                        <a:latin typeface="Cambria Math" panose="02040503050406030204" pitchFamily="18" charset="0"/>
                      </a:rPr>
                      <m:t>𝐿</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𝜆</m:t>
                        </m:r>
                      </m:e>
                    </m:d>
                  </m:oMath>
                </a14:m>
                <a:r>
                  <a:rPr lang="zh-CN" altLang="en-US" sz="2000" dirty="0">
                    <a:latin typeface="Noto Sans SC" panose="020B0200000000000000" pitchFamily="34" charset="-122"/>
                    <a:ea typeface="Noto Sans SC" panose="020B0200000000000000" pitchFamily="34" charset="-122"/>
                  </a:rPr>
                  <a:t>该如何转换为颜色（色彩科学）</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3. </a:t>
                </a:r>
                <a:r>
                  <a:rPr lang="zh-CN" altLang="en-US" sz="2000" dirty="0">
                    <a:latin typeface="Noto Sans SC" panose="020B0200000000000000" pitchFamily="34" charset="-122"/>
                    <a:ea typeface="Noto Sans SC" panose="020B0200000000000000" pitchFamily="34" charset="-122"/>
                  </a:rPr>
                  <a:t>如何对光谱分布进行路径追踪（波长采样）</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zh-CN" altLang="en-US" sz="2000" dirty="0">
                    <a:latin typeface="Noto Sans SC" panose="020B0200000000000000" pitchFamily="34" charset="-122"/>
                    <a:ea typeface="Noto Sans SC" panose="020B0200000000000000" pitchFamily="34" charset="-122"/>
                  </a:rPr>
                  <a:t>但是，光谱的数据该从哪里来？</a:t>
                </a:r>
                <a:endParaRPr lang="en-US" altLang="zh-CN" sz="2000" dirty="0">
                  <a:latin typeface="Noto Sans SC" panose="020B0200000000000000" pitchFamily="34" charset="-122"/>
                  <a:ea typeface="Noto Sans SC" panose="020B0200000000000000" pitchFamily="34" charset="-122"/>
                </a:endParaRPr>
              </a:p>
            </p:txBody>
          </p:sp>
        </mc:Choice>
        <mc:Fallback xmlns="">
          <p:sp>
            <p:nvSpPr>
              <p:cNvPr id="3" name="文本框 2">
                <a:extLst>
                  <a:ext uri="{FF2B5EF4-FFF2-40B4-BE49-F238E27FC236}">
                    <a16:creationId xmlns:a16="http://schemas.microsoft.com/office/drawing/2014/main" id="{58E6D4DE-E888-6A7E-18A1-40252E72B3D1}"/>
                  </a:ext>
                </a:extLst>
              </p:cNvPr>
              <p:cNvSpPr txBox="1">
                <a:spLocks noRot="1" noChangeAspect="1" noMove="1" noResize="1" noEditPoints="1" noAdjustHandles="1" noChangeArrowheads="1" noChangeShapeType="1" noTextEdit="1"/>
              </p:cNvSpPr>
              <p:nvPr/>
            </p:nvSpPr>
            <p:spPr>
              <a:xfrm>
                <a:off x="300830" y="1997839"/>
                <a:ext cx="5958301" cy="2862322"/>
              </a:xfrm>
              <a:prstGeom prst="rect">
                <a:avLst/>
              </a:prstGeom>
              <a:blipFill>
                <a:blip r:embed="rId2"/>
                <a:stretch>
                  <a:fillRect l="-1022" t="-1279" b="-2985"/>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8028E05E-967F-991E-B93A-9095C7D8387A}"/>
              </a:ext>
            </a:extLst>
          </p:cNvPr>
          <p:cNvSpPr txBox="1"/>
          <p:nvPr/>
        </p:nvSpPr>
        <p:spPr>
          <a:xfrm>
            <a:off x="6561609" y="1521701"/>
            <a:ext cx="4934431" cy="4093428"/>
          </a:xfrm>
          <a:prstGeom prst="rect">
            <a:avLst/>
          </a:prstGeom>
          <a:noFill/>
        </p:spPr>
        <p:txBody>
          <a:bodyPr wrap="square">
            <a:spAutoFit/>
          </a:bodyPr>
          <a:lstStyle/>
          <a:p>
            <a:pPr algn="just"/>
            <a:r>
              <a:rPr lang="zh-CN" altLang="en-US" sz="2000" dirty="0">
                <a:latin typeface="Noto Sans SC" panose="020B0200000000000000" pitchFamily="34" charset="-122"/>
                <a:ea typeface="Noto Sans SC" panose="020B0200000000000000" pitchFamily="34" charset="-122"/>
              </a:rPr>
              <a:t>首先，要区分光谱数据一共有几类：</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1. </a:t>
            </a:r>
            <a:r>
              <a:rPr lang="zh-CN" altLang="en-US" sz="2000" dirty="0">
                <a:latin typeface="Noto Sans SC" panose="020B0200000000000000" pitchFamily="34" charset="-122"/>
                <a:ea typeface="Noto Sans SC" panose="020B0200000000000000" pitchFamily="34" charset="-122"/>
              </a:rPr>
              <a:t>光源的相对发射光谱</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2. </a:t>
            </a:r>
            <a:r>
              <a:rPr lang="zh-CN" altLang="en-US" sz="2000" dirty="0">
                <a:latin typeface="Noto Sans SC" panose="020B0200000000000000" pitchFamily="34" charset="-122"/>
                <a:ea typeface="Noto Sans SC" panose="020B0200000000000000" pitchFamily="34" charset="-122"/>
              </a:rPr>
              <a:t>光源的辐射率发射光谱</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dirty="0">
                <a:latin typeface="Noto Sans SC" panose="020B0200000000000000" pitchFamily="34" charset="-122"/>
                <a:ea typeface="Noto Sans SC" panose="020B0200000000000000" pitchFamily="34" charset="-122"/>
              </a:rPr>
              <a:t>         3.</a:t>
            </a:r>
            <a:r>
              <a:rPr lang="zh-CN" altLang="en-US" sz="2000" dirty="0">
                <a:latin typeface="Noto Sans SC" panose="020B0200000000000000" pitchFamily="34" charset="-122"/>
                <a:ea typeface="Noto Sans SC" panose="020B0200000000000000" pitchFamily="34" charset="-122"/>
              </a:rPr>
              <a:t> 颜色的响应光谱（</a:t>
            </a:r>
            <a:r>
              <a:rPr lang="en-US" altLang="zh-CN" sz="2000" dirty="0">
                <a:latin typeface="Noto Sans SC" panose="020B0200000000000000" pitchFamily="34" charset="-122"/>
                <a:ea typeface="Noto Sans SC" panose="020B0200000000000000" pitchFamily="34" charset="-122"/>
              </a:rPr>
              <a:t>XYZ</a:t>
            </a:r>
            <a:r>
              <a:rPr lang="zh-CN" altLang="en-US" sz="2000" dirty="0">
                <a:latin typeface="Noto Sans SC" panose="020B0200000000000000" pitchFamily="34" charset="-122"/>
                <a:ea typeface="Noto Sans SC" panose="020B0200000000000000" pitchFamily="34" charset="-122"/>
              </a:rPr>
              <a:t>匹配函数）</a:t>
            </a:r>
            <a:endParaRPr lang="en-US" altLang="zh-CN" sz="2000"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b="1" dirty="0">
                <a:latin typeface="Noto Sans SC" panose="020B0200000000000000" pitchFamily="34" charset="-122"/>
                <a:ea typeface="Noto Sans SC" panose="020B0200000000000000" pitchFamily="34" charset="-122"/>
              </a:rPr>
              <a:t>         4. </a:t>
            </a:r>
            <a:r>
              <a:rPr lang="zh-CN" altLang="en-US" sz="2000" b="1" dirty="0">
                <a:latin typeface="Noto Sans SC" panose="020B0200000000000000" pitchFamily="34" charset="-122"/>
                <a:ea typeface="Noto Sans SC" panose="020B0200000000000000" pitchFamily="34" charset="-122"/>
              </a:rPr>
              <a:t>物体表面反射率</a:t>
            </a:r>
            <a:endParaRPr lang="en-US" altLang="zh-CN" sz="2000" b="1"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b="1" dirty="0">
                <a:latin typeface="Noto Sans SC" panose="020B0200000000000000" pitchFamily="34" charset="-122"/>
                <a:ea typeface="Noto Sans SC" panose="020B0200000000000000" pitchFamily="34" charset="-122"/>
              </a:rPr>
              <a:t>         5. </a:t>
            </a:r>
            <a:r>
              <a:rPr lang="zh-CN" altLang="en-US" sz="2000" b="1" dirty="0">
                <a:latin typeface="Noto Sans SC" panose="020B0200000000000000" pitchFamily="34" charset="-122"/>
                <a:ea typeface="Noto Sans SC" panose="020B0200000000000000" pitchFamily="34" charset="-122"/>
              </a:rPr>
              <a:t>透射物体的折射率</a:t>
            </a:r>
            <a:endParaRPr lang="en-US" altLang="zh-CN" sz="2000" b="1" dirty="0">
              <a:latin typeface="Noto Sans SC" panose="020B0200000000000000" pitchFamily="34" charset="-122"/>
              <a:ea typeface="Noto Sans SC" panose="020B0200000000000000" pitchFamily="34" charset="-122"/>
            </a:endParaRPr>
          </a:p>
          <a:p>
            <a:pPr algn="just"/>
            <a:endParaRPr lang="en-US" altLang="zh-CN" sz="2000" dirty="0">
              <a:latin typeface="Noto Sans SC" panose="020B0200000000000000" pitchFamily="34" charset="-122"/>
              <a:ea typeface="Noto Sans SC" panose="020B0200000000000000" pitchFamily="34" charset="-122"/>
            </a:endParaRPr>
          </a:p>
          <a:p>
            <a:pPr algn="just"/>
            <a:r>
              <a:rPr lang="en-US" altLang="zh-CN" sz="2000" b="1" dirty="0">
                <a:latin typeface="Noto Sans SC" panose="020B0200000000000000" pitchFamily="34" charset="-122"/>
                <a:ea typeface="Noto Sans SC" panose="020B0200000000000000" pitchFamily="34" charset="-122"/>
              </a:rPr>
              <a:t>         6. </a:t>
            </a:r>
            <a:r>
              <a:rPr lang="zh-CN" altLang="en-US" sz="2000" b="1" dirty="0">
                <a:latin typeface="Noto Sans SC" panose="020B0200000000000000" pitchFamily="34" charset="-122"/>
                <a:ea typeface="Noto Sans SC" panose="020B0200000000000000" pitchFamily="34" charset="-122"/>
              </a:rPr>
              <a:t>导体的消光系数</a:t>
            </a:r>
            <a:endParaRPr lang="en-US" altLang="zh-CN" sz="2000" b="1"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3447278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9292D-2403-BF27-6A1F-2D21CD52775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AD507CA-99A4-096E-3972-14633BBB9AD4}"/>
              </a:ext>
            </a:extLst>
          </p:cNvPr>
          <p:cNvSpPr>
            <a:spLocks noGrp="1"/>
          </p:cNvSpPr>
          <p:nvPr>
            <p:ph type="title" idx="1"/>
          </p:nvPr>
        </p:nvSpPr>
        <p:spPr/>
        <p:txBody>
          <a:bodyPr/>
          <a:lstStyle/>
          <a:p>
            <a:r>
              <a:rPr lang="zh-CN" altLang="en-US" dirty="0"/>
              <a:t>光谱数据从哪来？</a:t>
            </a:r>
          </a:p>
        </p:txBody>
      </p:sp>
      <p:sp>
        <p:nvSpPr>
          <p:cNvPr id="3" name="文本框 2">
            <a:extLst>
              <a:ext uri="{FF2B5EF4-FFF2-40B4-BE49-F238E27FC236}">
                <a16:creationId xmlns:a16="http://schemas.microsoft.com/office/drawing/2014/main" id="{E1E7E4A9-3017-4DA3-FC9D-53D1899F2FE9}"/>
              </a:ext>
            </a:extLst>
          </p:cNvPr>
          <p:cNvSpPr txBox="1"/>
          <p:nvPr/>
        </p:nvSpPr>
        <p:spPr>
          <a:xfrm>
            <a:off x="410300" y="1592154"/>
            <a:ext cx="5958301" cy="400110"/>
          </a:xfrm>
          <a:prstGeom prst="rect">
            <a:avLst/>
          </a:prstGeom>
          <a:noFill/>
        </p:spPr>
        <p:txBody>
          <a:bodyPr wrap="square">
            <a:spAutoFit/>
          </a:bodyPr>
          <a:lstStyle/>
          <a:p>
            <a:pPr algn="just"/>
            <a:r>
              <a:rPr lang="en-US" altLang="zh-CN" sz="2000" b="1" dirty="0">
                <a:latin typeface="Noto Sans SC" panose="020B0200000000000000" pitchFamily="34" charset="-122"/>
                <a:ea typeface="Noto Sans SC" panose="020B0200000000000000" pitchFamily="34" charset="-122"/>
              </a:rPr>
              <a:t>4. </a:t>
            </a:r>
            <a:r>
              <a:rPr lang="zh-CN" altLang="en-US" sz="2000" b="1" dirty="0">
                <a:latin typeface="Noto Sans SC" panose="020B0200000000000000" pitchFamily="34" charset="-122"/>
                <a:ea typeface="Noto Sans SC" panose="020B0200000000000000" pitchFamily="34" charset="-122"/>
              </a:rPr>
              <a:t>物体表面反射率</a:t>
            </a:r>
            <a:endParaRPr lang="en-US" altLang="zh-CN" sz="2000" b="1" dirty="0">
              <a:latin typeface="Noto Sans SC" panose="020B0200000000000000" pitchFamily="34" charset="-122"/>
              <a:ea typeface="Noto Sans SC" panose="020B0200000000000000" pitchFamily="34" charset="-122"/>
            </a:endParaRPr>
          </a:p>
        </p:txBody>
      </p:sp>
      <p:sp>
        <p:nvSpPr>
          <p:cNvPr id="4" name="文本框 3">
            <a:extLst>
              <a:ext uri="{FF2B5EF4-FFF2-40B4-BE49-F238E27FC236}">
                <a16:creationId xmlns:a16="http://schemas.microsoft.com/office/drawing/2014/main" id="{E7BC9C38-F89B-F068-65F7-6755271A4EE7}"/>
              </a:ext>
            </a:extLst>
          </p:cNvPr>
          <p:cNvSpPr txBox="1"/>
          <p:nvPr/>
        </p:nvSpPr>
        <p:spPr>
          <a:xfrm>
            <a:off x="264013" y="2399753"/>
            <a:ext cx="5325418" cy="1200329"/>
          </a:xfrm>
          <a:prstGeom prst="rect">
            <a:avLst/>
          </a:prstGeom>
          <a:noFill/>
        </p:spPr>
        <p:txBody>
          <a:bodyPr wrap="square" rtlCol="0">
            <a:spAutoFit/>
          </a:bodyPr>
          <a:lstStyle/>
          <a:p>
            <a:r>
              <a:rPr lang="zh-CN" altLang="en-US" dirty="0">
                <a:latin typeface="Noto Sans SC" panose="020B0200000000000000" pitchFamily="34" charset="-122"/>
                <a:ea typeface="Noto Sans SC" panose="020B0200000000000000" pitchFamily="34" charset="-122"/>
              </a:rPr>
              <a:t>         在先前的代码实现中，使用</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来表示物体表面的反射率。但是对于光谱渲染来说，物体表面的反射率应该用完整的光谱分布来表示。因此，需要一种方法，将</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转为光谱。</a:t>
            </a:r>
            <a:endParaRPr lang="en-US" altLang="zh-CN" dirty="0">
              <a:latin typeface="Noto Sans SC" panose="020B0200000000000000" pitchFamily="34" charset="-122"/>
              <a:ea typeface="Noto Sans SC" panose="020B0200000000000000" pitchFamily="34" charset="-122"/>
            </a:endParaRPr>
          </a:p>
        </p:txBody>
      </p:sp>
      <p:pic>
        <p:nvPicPr>
          <p:cNvPr id="6" name="图片 5">
            <a:extLst>
              <a:ext uri="{FF2B5EF4-FFF2-40B4-BE49-F238E27FC236}">
                <a16:creationId xmlns:a16="http://schemas.microsoft.com/office/drawing/2014/main" id="{30F072F3-0153-C5A4-BF5F-65C9E1B084F7}"/>
              </a:ext>
            </a:extLst>
          </p:cNvPr>
          <p:cNvPicPr>
            <a:picLocks noChangeAspect="1"/>
          </p:cNvPicPr>
          <p:nvPr/>
        </p:nvPicPr>
        <p:blipFill>
          <a:blip r:embed="rId2"/>
          <a:stretch>
            <a:fillRect/>
          </a:stretch>
        </p:blipFill>
        <p:spPr>
          <a:xfrm>
            <a:off x="264013" y="4202331"/>
            <a:ext cx="5325418" cy="1250211"/>
          </a:xfrm>
          <a:prstGeom prst="rect">
            <a:avLst/>
          </a:prstGeom>
        </p:spPr>
      </p:pic>
      <p:sp>
        <p:nvSpPr>
          <p:cNvPr id="7" name="文本框 6">
            <a:extLst>
              <a:ext uri="{FF2B5EF4-FFF2-40B4-BE49-F238E27FC236}">
                <a16:creationId xmlns:a16="http://schemas.microsoft.com/office/drawing/2014/main" id="{BC57FC74-7016-5F6B-FD14-7F912EA4F636}"/>
              </a:ext>
            </a:extLst>
          </p:cNvPr>
          <p:cNvSpPr txBox="1"/>
          <p:nvPr/>
        </p:nvSpPr>
        <p:spPr>
          <a:xfrm>
            <a:off x="6198858" y="1792209"/>
            <a:ext cx="5325418" cy="923330"/>
          </a:xfrm>
          <a:prstGeom prst="rect">
            <a:avLst/>
          </a:prstGeom>
          <a:noFill/>
        </p:spPr>
        <p:txBody>
          <a:bodyPr wrap="square" rtlCol="0">
            <a:spAutoFit/>
          </a:bodyPr>
          <a:lstStyle/>
          <a:p>
            <a:r>
              <a:rPr lang="zh-CN" altLang="en-US" dirty="0">
                <a:latin typeface="Noto Sans SC" panose="020B0200000000000000" pitchFamily="34" charset="-122"/>
                <a:ea typeface="Noto Sans SC" panose="020B0200000000000000" pitchFamily="34" charset="-122"/>
              </a:rPr>
              <a:t>         </a:t>
            </a:r>
            <a:r>
              <a:rPr lang="en-US" altLang="zh-CN" dirty="0">
                <a:latin typeface="Noto Sans SC" panose="020B0200000000000000" pitchFamily="34" charset="-122"/>
                <a:ea typeface="Noto Sans SC" panose="020B0200000000000000" pitchFamily="34" charset="-122"/>
              </a:rPr>
              <a:t>RGB</a:t>
            </a:r>
            <a:r>
              <a:rPr lang="zh-CN" altLang="en-US" dirty="0">
                <a:latin typeface="Noto Sans SC" panose="020B0200000000000000" pitchFamily="34" charset="-122"/>
                <a:ea typeface="Noto Sans SC" panose="020B0200000000000000" pitchFamily="34" charset="-122"/>
              </a:rPr>
              <a:t>转光谱的内容将在下一讲具体说明。</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目前可以先用以下方法临时代替一下：</a:t>
            </a:r>
            <a:endParaRPr lang="en-US" altLang="zh-CN" dirty="0">
              <a:latin typeface="Noto Sans SC" panose="020B0200000000000000" pitchFamily="34" charset="-122"/>
              <a:ea typeface="Noto Sans SC" panose="020B0200000000000000" pitchFamily="34" charset="-122"/>
            </a:endParaRPr>
          </a:p>
        </p:txBody>
      </p:sp>
      <p:pic>
        <p:nvPicPr>
          <p:cNvPr id="9" name="图片 8">
            <a:extLst>
              <a:ext uri="{FF2B5EF4-FFF2-40B4-BE49-F238E27FC236}">
                <a16:creationId xmlns:a16="http://schemas.microsoft.com/office/drawing/2014/main" id="{F80C0371-21CD-54D2-A2A1-290FB90D9481}"/>
              </a:ext>
            </a:extLst>
          </p:cNvPr>
          <p:cNvPicPr>
            <a:picLocks noChangeAspect="1"/>
          </p:cNvPicPr>
          <p:nvPr/>
        </p:nvPicPr>
        <p:blipFill>
          <a:blip r:embed="rId3"/>
          <a:stretch>
            <a:fillRect/>
          </a:stretch>
        </p:blipFill>
        <p:spPr>
          <a:xfrm>
            <a:off x="6096000" y="3103668"/>
            <a:ext cx="5531134" cy="2400423"/>
          </a:xfrm>
          <a:prstGeom prst="rect">
            <a:avLst/>
          </a:prstGeom>
        </p:spPr>
      </p:pic>
    </p:spTree>
    <p:extLst>
      <p:ext uri="{BB962C8B-B14F-4D97-AF65-F5344CB8AC3E}">
        <p14:creationId xmlns:p14="http://schemas.microsoft.com/office/powerpoint/2010/main" val="36528562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0650A-596A-8AB4-E102-827A812704C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33038D7-AE50-1A5B-4A6E-7E1190569D3B}"/>
              </a:ext>
            </a:extLst>
          </p:cNvPr>
          <p:cNvSpPr>
            <a:spLocks noGrp="1"/>
          </p:cNvSpPr>
          <p:nvPr>
            <p:ph type="title" idx="1"/>
          </p:nvPr>
        </p:nvSpPr>
        <p:spPr/>
        <p:txBody>
          <a:bodyPr/>
          <a:lstStyle/>
          <a:p>
            <a:r>
              <a:rPr lang="zh-CN" altLang="en-US" dirty="0"/>
              <a:t>光谱数据从哪来？</a:t>
            </a:r>
          </a:p>
        </p:txBody>
      </p:sp>
      <p:sp>
        <p:nvSpPr>
          <p:cNvPr id="3" name="文本框 2">
            <a:extLst>
              <a:ext uri="{FF2B5EF4-FFF2-40B4-BE49-F238E27FC236}">
                <a16:creationId xmlns:a16="http://schemas.microsoft.com/office/drawing/2014/main" id="{D52A3F76-EF7C-DD79-4D09-CCB02AF98E31}"/>
              </a:ext>
            </a:extLst>
          </p:cNvPr>
          <p:cNvSpPr txBox="1"/>
          <p:nvPr/>
        </p:nvSpPr>
        <p:spPr>
          <a:xfrm>
            <a:off x="410300" y="1592154"/>
            <a:ext cx="5958301" cy="707886"/>
          </a:xfrm>
          <a:prstGeom prst="rect">
            <a:avLst/>
          </a:prstGeom>
          <a:noFill/>
        </p:spPr>
        <p:txBody>
          <a:bodyPr wrap="square">
            <a:spAutoFit/>
          </a:bodyPr>
          <a:lstStyle/>
          <a:p>
            <a:pPr algn="just"/>
            <a:r>
              <a:rPr lang="en-US" altLang="zh-CN" sz="2000" b="1" dirty="0">
                <a:latin typeface="Noto Sans SC" panose="020B0200000000000000" pitchFamily="34" charset="-122"/>
                <a:ea typeface="Noto Sans SC" panose="020B0200000000000000" pitchFamily="34" charset="-122"/>
              </a:rPr>
              <a:t>5. </a:t>
            </a:r>
            <a:r>
              <a:rPr lang="zh-CN" altLang="en-US" sz="2000" b="1" dirty="0">
                <a:latin typeface="Noto Sans SC" panose="020B0200000000000000" pitchFamily="34" charset="-122"/>
                <a:ea typeface="Noto Sans SC" panose="020B0200000000000000" pitchFamily="34" charset="-122"/>
              </a:rPr>
              <a:t>透射物体的折射率</a:t>
            </a:r>
            <a:endParaRPr lang="en-US" altLang="zh-CN" sz="2000" b="1" dirty="0">
              <a:latin typeface="Noto Sans SC" panose="020B0200000000000000" pitchFamily="34" charset="-122"/>
              <a:ea typeface="Noto Sans SC" panose="020B0200000000000000" pitchFamily="34" charset="-122"/>
            </a:endParaRPr>
          </a:p>
          <a:p>
            <a:pPr algn="just"/>
            <a:r>
              <a:rPr lang="en-US" altLang="zh-CN" sz="2000" b="1" dirty="0">
                <a:latin typeface="Noto Sans SC" panose="020B0200000000000000" pitchFamily="34" charset="-122"/>
                <a:ea typeface="Noto Sans SC" panose="020B0200000000000000" pitchFamily="34" charset="-122"/>
              </a:rPr>
              <a:t>6. </a:t>
            </a:r>
            <a:r>
              <a:rPr lang="zh-CN" altLang="en-US" sz="2000" b="1" dirty="0">
                <a:latin typeface="Noto Sans SC" panose="020B0200000000000000" pitchFamily="34" charset="-122"/>
                <a:ea typeface="Noto Sans SC" panose="020B0200000000000000" pitchFamily="34" charset="-122"/>
              </a:rPr>
              <a:t>导体的消光系数</a:t>
            </a:r>
            <a:endParaRPr lang="en-US" altLang="zh-CN" sz="2000" b="1" dirty="0">
              <a:latin typeface="Noto Sans SC" panose="020B0200000000000000" pitchFamily="34" charset="-122"/>
              <a:ea typeface="Noto Sans SC" panose="020B0200000000000000" pitchFamily="34" charset="-122"/>
            </a:endParaRPr>
          </a:p>
        </p:txBody>
      </p:sp>
      <p:sp>
        <p:nvSpPr>
          <p:cNvPr id="6" name="文本框 5">
            <a:extLst>
              <a:ext uri="{FF2B5EF4-FFF2-40B4-BE49-F238E27FC236}">
                <a16:creationId xmlns:a16="http://schemas.microsoft.com/office/drawing/2014/main" id="{847CE997-E6C4-3097-E98D-C133C96051F1}"/>
              </a:ext>
            </a:extLst>
          </p:cNvPr>
          <p:cNvSpPr txBox="1"/>
          <p:nvPr/>
        </p:nvSpPr>
        <p:spPr>
          <a:xfrm>
            <a:off x="264013" y="2399753"/>
            <a:ext cx="5325418" cy="646331"/>
          </a:xfrm>
          <a:prstGeom prst="rect">
            <a:avLst/>
          </a:prstGeom>
          <a:noFill/>
        </p:spPr>
        <p:txBody>
          <a:bodyPr wrap="square" rtlCol="0">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物体的折射率和消光系数可以在一些网站上找到公开的测量数据，例如</a:t>
            </a:r>
            <a:r>
              <a:rPr lang="en-US" altLang="zh-CN" dirty="0">
                <a:latin typeface="Noto Sans SC" panose="020B0200000000000000" pitchFamily="34" charset="-122"/>
                <a:ea typeface="Noto Sans SC" panose="020B0200000000000000" pitchFamily="34" charset="-122"/>
              </a:rPr>
              <a:t>refractiveindex.info</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p:pic>
        <p:nvPicPr>
          <p:cNvPr id="9" name="图片 8">
            <a:extLst>
              <a:ext uri="{FF2B5EF4-FFF2-40B4-BE49-F238E27FC236}">
                <a16:creationId xmlns:a16="http://schemas.microsoft.com/office/drawing/2014/main" id="{7A9774AC-A85B-8B05-C3D7-50FD3C663575}"/>
              </a:ext>
            </a:extLst>
          </p:cNvPr>
          <p:cNvPicPr>
            <a:picLocks noChangeAspect="1"/>
          </p:cNvPicPr>
          <p:nvPr/>
        </p:nvPicPr>
        <p:blipFill>
          <a:blip r:embed="rId2"/>
          <a:stretch>
            <a:fillRect/>
          </a:stretch>
        </p:blipFill>
        <p:spPr>
          <a:xfrm>
            <a:off x="695960" y="3145797"/>
            <a:ext cx="4690326" cy="3495834"/>
          </a:xfrm>
          <a:prstGeom prst="rect">
            <a:avLst/>
          </a:prstGeom>
        </p:spPr>
      </p:pic>
      <p:pic>
        <p:nvPicPr>
          <p:cNvPr id="11" name="图片 10">
            <a:extLst>
              <a:ext uri="{FF2B5EF4-FFF2-40B4-BE49-F238E27FC236}">
                <a16:creationId xmlns:a16="http://schemas.microsoft.com/office/drawing/2014/main" id="{979248A5-7F9D-5DFD-C2C5-89E6F50133D7}"/>
              </a:ext>
            </a:extLst>
          </p:cNvPr>
          <p:cNvPicPr>
            <a:picLocks noChangeAspect="1"/>
          </p:cNvPicPr>
          <p:nvPr/>
        </p:nvPicPr>
        <p:blipFill>
          <a:blip r:embed="rId3"/>
          <a:stretch>
            <a:fillRect/>
          </a:stretch>
        </p:blipFill>
        <p:spPr>
          <a:xfrm>
            <a:off x="6745027" y="3140019"/>
            <a:ext cx="4751013" cy="3501612"/>
          </a:xfrm>
          <a:prstGeom prst="rect">
            <a:avLst/>
          </a:prstGeom>
        </p:spPr>
      </p:pic>
      <p:sp>
        <p:nvSpPr>
          <p:cNvPr id="13" name="文本框 12">
            <a:extLst>
              <a:ext uri="{FF2B5EF4-FFF2-40B4-BE49-F238E27FC236}">
                <a16:creationId xmlns:a16="http://schemas.microsoft.com/office/drawing/2014/main" id="{4BEEF016-57F1-2DB2-B76E-C92EFC5C58F0}"/>
              </a:ext>
            </a:extLst>
          </p:cNvPr>
          <p:cNvSpPr txBox="1"/>
          <p:nvPr/>
        </p:nvSpPr>
        <p:spPr>
          <a:xfrm>
            <a:off x="5927024" y="1838375"/>
            <a:ext cx="6094926" cy="923330"/>
          </a:xfrm>
          <a:prstGeom prst="rect">
            <a:avLst/>
          </a:prstGeom>
          <a:noFill/>
        </p:spPr>
        <p:txBody>
          <a:bodyPr wrap="square">
            <a:spAutoFit/>
          </a:bodyPr>
          <a:lstStyle/>
          <a:p>
            <a:r>
              <a:rPr lang="en-US" altLang="zh-CN" sz="1800"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以银</a:t>
            </a:r>
            <a:r>
              <a:rPr lang="en-US" altLang="zh-CN" sz="1800" dirty="0">
                <a:latin typeface="Noto Sans SC" panose="020B0200000000000000" pitchFamily="34" charset="-122"/>
                <a:ea typeface="Noto Sans SC" panose="020B0200000000000000" pitchFamily="34" charset="-122"/>
              </a:rPr>
              <a:t>Ag</a:t>
            </a:r>
            <a:r>
              <a:rPr lang="zh-CN" altLang="en-US" sz="1800" dirty="0">
                <a:latin typeface="Noto Sans SC" panose="020B0200000000000000" pitchFamily="34" charset="-122"/>
                <a:ea typeface="Noto Sans SC" panose="020B0200000000000000" pitchFamily="34" charset="-122"/>
              </a:rPr>
              <a:t>为例，网站给出了多个不同的测量结果。由于银的</a:t>
            </a:r>
            <a:r>
              <a:rPr lang="en-US" altLang="zh-CN" sz="1800" dirty="0">
                <a:latin typeface="Noto Sans SC" panose="020B0200000000000000" pitchFamily="34" charset="-122"/>
                <a:ea typeface="Noto Sans SC" panose="020B0200000000000000" pitchFamily="34" charset="-122"/>
              </a:rPr>
              <a:t>η</a:t>
            </a:r>
            <a:r>
              <a:rPr lang="zh-CN" altLang="en-US" sz="1800" dirty="0">
                <a:latin typeface="Noto Sans SC" panose="020B0200000000000000" pitchFamily="34" charset="-122"/>
                <a:ea typeface="Noto Sans SC" panose="020B0200000000000000" pitchFamily="34" charset="-122"/>
              </a:rPr>
              <a:t>和</a:t>
            </a:r>
            <a:r>
              <a:rPr lang="en-US" altLang="zh-CN" sz="1800" dirty="0">
                <a:latin typeface="Noto Sans SC" panose="020B0200000000000000" pitchFamily="34" charset="-122"/>
                <a:ea typeface="Noto Sans SC" panose="020B0200000000000000" pitchFamily="34" charset="-122"/>
              </a:rPr>
              <a:t>k</a:t>
            </a:r>
            <a:r>
              <a:rPr lang="zh-CN" altLang="en-US" sz="1800" dirty="0">
                <a:latin typeface="Noto Sans SC" panose="020B0200000000000000" pitchFamily="34" charset="-122"/>
                <a:ea typeface="Noto Sans SC" panose="020B0200000000000000" pitchFamily="34" charset="-122"/>
              </a:rPr>
              <a:t>的测量，会受到制备方式、表面的粗糙度和氧化层影响，所以不同的测量结果会有不同。</a:t>
            </a:r>
            <a:endParaRPr lang="en-US" altLang="zh-CN" sz="1800"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1143880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ADA5-9E85-FBFB-F9EF-DA67BC345E2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887BDA2-6CB0-ADF2-BFFC-26B6E9C18D54}"/>
              </a:ext>
            </a:extLst>
          </p:cNvPr>
          <p:cNvSpPr>
            <a:spLocks noGrp="1"/>
          </p:cNvSpPr>
          <p:nvPr>
            <p:ph type="title" idx="1"/>
          </p:nvPr>
        </p:nvSpPr>
        <p:spPr/>
        <p:txBody>
          <a:bodyPr/>
          <a:lstStyle/>
          <a:p>
            <a:r>
              <a:rPr lang="zh-CN" altLang="en-US" dirty="0"/>
              <a:t>读取</a:t>
            </a:r>
            <a:r>
              <a:rPr lang="en-US" altLang="zh-CN" dirty="0"/>
              <a:t>CSV</a:t>
            </a:r>
            <a:r>
              <a:rPr lang="zh-CN" altLang="en-US" dirty="0"/>
              <a:t>文件</a:t>
            </a:r>
          </a:p>
        </p:txBody>
      </p:sp>
      <p:pic>
        <p:nvPicPr>
          <p:cNvPr id="4" name="图片 3">
            <a:extLst>
              <a:ext uri="{FF2B5EF4-FFF2-40B4-BE49-F238E27FC236}">
                <a16:creationId xmlns:a16="http://schemas.microsoft.com/office/drawing/2014/main" id="{0D2C4BF7-FABA-AAAA-D5B8-795F338E0C5E}"/>
              </a:ext>
            </a:extLst>
          </p:cNvPr>
          <p:cNvPicPr>
            <a:picLocks noChangeAspect="1"/>
          </p:cNvPicPr>
          <p:nvPr/>
        </p:nvPicPr>
        <p:blipFill>
          <a:blip r:embed="rId2"/>
          <a:stretch>
            <a:fillRect/>
          </a:stretch>
        </p:blipFill>
        <p:spPr>
          <a:xfrm>
            <a:off x="1582634" y="2768434"/>
            <a:ext cx="8357029" cy="325771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文本框 7">
            <a:extLst>
              <a:ext uri="{FF2B5EF4-FFF2-40B4-BE49-F238E27FC236}">
                <a16:creationId xmlns:a16="http://schemas.microsoft.com/office/drawing/2014/main" id="{DE9EEE15-3010-9CCA-EE66-8930B0236D9C}"/>
              </a:ext>
            </a:extLst>
          </p:cNvPr>
          <p:cNvSpPr txBox="1"/>
          <p:nvPr/>
        </p:nvSpPr>
        <p:spPr>
          <a:xfrm>
            <a:off x="410300" y="1592154"/>
            <a:ext cx="5958301" cy="400110"/>
          </a:xfrm>
          <a:prstGeom prst="rect">
            <a:avLst/>
          </a:prstGeom>
          <a:noFill/>
        </p:spPr>
        <p:txBody>
          <a:bodyPr wrap="square">
            <a:spAutoFit/>
          </a:bodyPr>
          <a:lstStyle/>
          <a:p>
            <a:pPr algn="just"/>
            <a:r>
              <a:rPr lang="en-US" altLang="zh-CN" sz="2000" b="1" dirty="0">
                <a:latin typeface="Noto Sans SC" panose="020B0200000000000000" pitchFamily="34" charset="-122"/>
                <a:ea typeface="Noto Sans SC" panose="020B0200000000000000" pitchFamily="34" charset="-122"/>
              </a:rPr>
              <a:t>ben-</a:t>
            </a:r>
            <a:r>
              <a:rPr lang="en-US" altLang="zh-CN" sz="2000" b="1" dirty="0" err="1">
                <a:latin typeface="Noto Sans SC" panose="020B0200000000000000" pitchFamily="34" charset="-122"/>
                <a:ea typeface="Noto Sans SC" panose="020B0200000000000000" pitchFamily="34" charset="-122"/>
              </a:rPr>
              <a:t>strasser</a:t>
            </a:r>
            <a:r>
              <a:rPr lang="en-US" altLang="zh-CN" sz="2000" b="1" dirty="0">
                <a:latin typeface="Noto Sans SC" panose="020B0200000000000000" pitchFamily="34" charset="-122"/>
                <a:ea typeface="Noto Sans SC" panose="020B0200000000000000" pitchFamily="34" charset="-122"/>
              </a:rPr>
              <a:t>/fast-</a:t>
            </a:r>
            <a:r>
              <a:rPr lang="en-US" altLang="zh-CN" sz="2000" b="1" dirty="0" err="1">
                <a:latin typeface="Noto Sans SC" panose="020B0200000000000000" pitchFamily="34" charset="-122"/>
                <a:ea typeface="Noto Sans SC" panose="020B0200000000000000" pitchFamily="34" charset="-122"/>
              </a:rPr>
              <a:t>cpp</a:t>
            </a:r>
            <a:r>
              <a:rPr lang="en-US" altLang="zh-CN" sz="2000" b="1" dirty="0">
                <a:latin typeface="Noto Sans SC" panose="020B0200000000000000" pitchFamily="34" charset="-122"/>
                <a:ea typeface="Noto Sans SC" panose="020B0200000000000000" pitchFamily="34" charset="-122"/>
              </a:rPr>
              <a:t>-csv-parser</a:t>
            </a:r>
          </a:p>
        </p:txBody>
      </p:sp>
    </p:spTree>
    <p:extLst>
      <p:ext uri="{BB962C8B-B14F-4D97-AF65-F5344CB8AC3E}">
        <p14:creationId xmlns:p14="http://schemas.microsoft.com/office/powerpoint/2010/main" val="53628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3A621-A7A2-C2EF-71DA-9E6683BDF8B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14EFA60-D6EC-12DA-AF44-67366ED53682}"/>
              </a:ext>
            </a:extLst>
          </p:cNvPr>
          <p:cNvSpPr>
            <a:spLocks noGrp="1"/>
          </p:cNvSpPr>
          <p:nvPr>
            <p:ph type="title" idx="1"/>
          </p:nvPr>
        </p:nvSpPr>
        <p:spPr/>
        <p:txBody>
          <a:bodyPr/>
          <a:lstStyle/>
          <a:p>
            <a:r>
              <a:rPr lang="zh-CN" altLang="en-US" dirty="0"/>
              <a:t>拓展内容：</a:t>
            </a:r>
            <a:r>
              <a:rPr lang="en-US" altLang="zh-CN" dirty="0"/>
              <a:t>Spectral MIS</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AD3A1C3-36FC-78F1-6975-7C91573371B2}"/>
                  </a:ext>
                </a:extLst>
              </p:cNvPr>
              <p:cNvSpPr txBox="1"/>
              <p:nvPr/>
            </p:nvSpPr>
            <p:spPr>
              <a:xfrm>
                <a:off x="869824" y="1443125"/>
                <a:ext cx="9948430" cy="2031325"/>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在当前的代码实现中，</a:t>
                </a:r>
                <a:r>
                  <a:rPr lang="zh-CN" altLang="en-US" sz="1800" dirty="0">
                    <a:latin typeface="Noto Sans SC" panose="020B0200000000000000" pitchFamily="34" charset="-122"/>
                    <a:ea typeface="Noto Sans SC" panose="020B0200000000000000" pitchFamily="34" charset="-122"/>
                  </a:rPr>
                  <a:t>采样得到的四个波长</a:t>
                </a:r>
                <a14:m>
                  <m:oMath xmlns:m="http://schemas.openxmlformats.org/officeDocument/2006/math">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b="0" i="1" smtClean="0">
                                <a:latin typeface="Cambria Math" panose="02040503050406030204" pitchFamily="18" charset="0"/>
                              </a:rPr>
                              <m:t>3</m:t>
                            </m:r>
                          </m:sub>
                        </m:sSub>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b="0" i="1" smtClean="0">
                                <a:latin typeface="Cambria Math" panose="02040503050406030204" pitchFamily="18" charset="0"/>
                              </a:rPr>
                              <m:t>4</m:t>
                            </m:r>
                          </m:sub>
                        </m:sSub>
                      </m:e>
                    </m:d>
                  </m:oMath>
                </a14:m>
                <a:r>
                  <a:rPr lang="zh-CN" altLang="en-US" sz="1800" dirty="0">
                    <a:latin typeface="Noto Sans SC" panose="020B0200000000000000" pitchFamily="34" charset="-122"/>
                    <a:ea typeface="Noto Sans SC" panose="020B0200000000000000" pitchFamily="34" charset="-122"/>
                  </a:rPr>
                  <a:t>会在同一条光路中传播，并计算贡献，当遇到折射的时候，因为不同波长对应的折射率不同，所以为了方式光线分裂为</a:t>
                </a:r>
                <a:r>
                  <a:rPr lang="en-US" altLang="zh-CN" dirty="0">
                    <a:latin typeface="Noto Sans SC" panose="020B0200000000000000" pitchFamily="34" charset="-122"/>
                    <a:ea typeface="Noto Sans SC" panose="020B0200000000000000" pitchFamily="34" charset="-122"/>
                  </a:rPr>
                  <a:t>4</a:t>
                </a:r>
                <a:r>
                  <a:rPr lang="zh-CN" altLang="en-US" dirty="0">
                    <a:latin typeface="Noto Sans SC" panose="020B0200000000000000" pitchFamily="34" charset="-122"/>
                    <a:ea typeface="Noto Sans SC" panose="020B0200000000000000" pitchFamily="34" charset="-122"/>
                  </a:rPr>
                  <a:t>条，我们通过</a:t>
                </a:r>
                <a:r>
                  <a:rPr lang="en-US" altLang="zh-CN" dirty="0" err="1">
                    <a:latin typeface="Noto Sans SC" panose="020B0200000000000000" pitchFamily="34" charset="-122"/>
                    <a:ea typeface="Noto Sans SC" panose="020B0200000000000000" pitchFamily="34" charset="-122"/>
                  </a:rPr>
                  <a:t>wavelength.terminated</a:t>
                </a:r>
                <a:r>
                  <a:rPr lang="en-US" altLang="zh-CN" dirty="0">
                    <a:latin typeface="Noto Sans SC" panose="020B0200000000000000" pitchFamily="34" charset="-122"/>
                    <a:ea typeface="Noto Sans SC" panose="020B0200000000000000" pitchFamily="34" charset="-122"/>
                  </a:rPr>
                  <a:t> = true</a:t>
                </a:r>
                <a:r>
                  <a:rPr lang="zh-CN" altLang="en-US" dirty="0">
                    <a:latin typeface="Noto Sans SC" panose="020B0200000000000000" pitchFamily="34" charset="-122"/>
                    <a:ea typeface="Noto Sans SC" panose="020B0200000000000000" pitchFamily="34" charset="-122"/>
                  </a:rPr>
                  <a:t>终止掉了后续的三个波长，我们的渲染器退化为了单波长的路径追踪渲染器。</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而这么做的结果也很明显，画面上出现折射的物体拥有更加显著的</a:t>
                </a:r>
                <a:r>
                  <a:rPr lang="zh-CN" altLang="en-US" b="1" dirty="0">
                    <a:latin typeface="Noto Sans SC" panose="020B0200000000000000" pitchFamily="34" charset="-122"/>
                    <a:ea typeface="Noto Sans SC" panose="020B0200000000000000" pitchFamily="34" charset="-122"/>
                  </a:rPr>
                  <a:t>色彩噪声</a:t>
                </a:r>
                <a:r>
                  <a:rPr lang="zh-CN" altLang="en-US" dirty="0">
                    <a:latin typeface="Noto Sans SC" panose="020B0200000000000000" pitchFamily="34" charset="-122"/>
                    <a:ea typeface="Noto Sans SC" panose="020B0200000000000000" pitchFamily="34" charset="-122"/>
                  </a:rPr>
                  <a:t>，而其他的物体得益于四个波长样本，拥有更少的</a:t>
                </a:r>
                <a:r>
                  <a:rPr lang="zh-CN" altLang="en-US" b="1" dirty="0">
                    <a:latin typeface="Noto Sans SC" panose="020B0200000000000000" pitchFamily="34" charset="-122"/>
                    <a:ea typeface="Noto Sans SC" panose="020B0200000000000000" pitchFamily="34" charset="-122"/>
                  </a:rPr>
                  <a:t>色彩噪声</a:t>
                </a:r>
                <a:r>
                  <a:rPr lang="zh-CN" altLang="en-US" dirty="0">
                    <a:latin typeface="Noto Sans SC" panose="020B0200000000000000" pitchFamily="34" charset="-122"/>
                    <a:ea typeface="Noto Sans SC" panose="020B0200000000000000" pitchFamily="34" charset="-122"/>
                  </a:rPr>
                  <a:t>。</a:t>
                </a:r>
                <a:endParaRPr lang="zh-CN" altLang="en-US" dirty="0"/>
              </a:p>
            </p:txBody>
          </p:sp>
        </mc:Choice>
        <mc:Fallback xmlns="">
          <p:sp>
            <p:nvSpPr>
              <p:cNvPr id="3" name="文本框 2">
                <a:extLst>
                  <a:ext uri="{FF2B5EF4-FFF2-40B4-BE49-F238E27FC236}">
                    <a16:creationId xmlns:a16="http://schemas.microsoft.com/office/drawing/2014/main" id="{7AD3A1C3-36FC-78F1-6975-7C91573371B2}"/>
                  </a:ext>
                </a:extLst>
              </p:cNvPr>
              <p:cNvSpPr txBox="1">
                <a:spLocks noRot="1" noChangeAspect="1" noMove="1" noResize="1" noEditPoints="1" noAdjustHandles="1" noChangeArrowheads="1" noChangeShapeType="1" noTextEdit="1"/>
              </p:cNvSpPr>
              <p:nvPr/>
            </p:nvSpPr>
            <p:spPr>
              <a:xfrm>
                <a:off x="869824" y="1443125"/>
                <a:ext cx="9948430" cy="2031325"/>
              </a:xfrm>
              <a:prstGeom prst="rect">
                <a:avLst/>
              </a:prstGeom>
              <a:blipFill>
                <a:blip r:embed="rId2"/>
                <a:stretch>
                  <a:fillRect l="-551" t="-1802" r="-490" b="-39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85816D0-0DE6-DCCA-9E8F-54EA7A300FB9}"/>
                  </a:ext>
                </a:extLst>
              </p:cNvPr>
              <p:cNvSpPr txBox="1"/>
              <p:nvPr/>
            </p:nvSpPr>
            <p:spPr>
              <a:xfrm>
                <a:off x="2796576" y="3474450"/>
                <a:ext cx="6094926" cy="869982"/>
              </a:xfrm>
              <a:prstGeom prst="rect">
                <a:avLst/>
              </a:prstGeom>
              <a:noFill/>
            </p:spPr>
            <p:txBody>
              <a:bodyPr wrap="square">
                <a:spAutoFit/>
              </a:bodyPr>
              <a:lstStyle/>
              <a:p>
                <a:pPr/>
                <a14:m>
                  <m:oMathPara xmlns:m="http://schemas.openxmlformats.org/officeDocument/2006/math">
                    <m:oMath>
                      <m:r>
                        <a:rPr lang="en-US" altLang="zh-CN" sz="1800" i="1" smtClean="0">
                          <a:latin typeface="Cambria Math" panose="02040503050406030204" pitchFamily="18" charset="0"/>
                        </a:rPr>
                        <m:t>𝑌</m:t>
                      </m:r>
                      <m:r>
                        <a:rPr lang="en-US" altLang="zh-CN" sz="1800" i="1" dirty="0">
                          <a:latin typeface="Cambria Math" panose="02040503050406030204" pitchFamily="18" charset="0"/>
                          <a:ea typeface="Cambria Math" panose="02040503050406030204" pitchFamily="18" charset="0"/>
                        </a:rPr>
                        <m:t>≈</m:t>
                      </m:r>
                      <m:f>
                        <m:fPr>
                          <m:ctrlPr>
                            <a:rPr lang="en-US" altLang="zh-CN" sz="1800" i="1" dirty="0">
                              <a:latin typeface="Cambria Math" panose="02040503050406030204" pitchFamily="18" charset="0"/>
                              <a:ea typeface="Cambria Math" panose="02040503050406030204" pitchFamily="18" charset="0"/>
                            </a:rPr>
                          </m:ctrlPr>
                        </m:fPr>
                        <m:num>
                          <m:r>
                            <a:rPr lang="en-US" altLang="zh-CN" sz="1800" i="1" dirty="0">
                              <a:latin typeface="Cambria Math" panose="02040503050406030204" pitchFamily="18" charset="0"/>
                              <a:ea typeface="Cambria Math" panose="02040503050406030204" pitchFamily="18" charset="0"/>
                            </a:rPr>
                            <m:t>1</m:t>
                          </m:r>
                        </m:num>
                        <m:den>
                          <m:r>
                            <a:rPr lang="en-US" altLang="zh-CN" sz="1800" b="0" i="1" dirty="0" smtClean="0">
                              <a:latin typeface="Cambria Math" panose="02040503050406030204" pitchFamily="18" charset="0"/>
                              <a:ea typeface="Cambria Math" panose="02040503050406030204" pitchFamily="18" charset="0"/>
                            </a:rPr>
                            <m:t>4</m:t>
                          </m:r>
                        </m:den>
                      </m:f>
                      <m:nary>
                        <m:naryPr>
                          <m:chr m:val="∑"/>
                          <m:ctrlPr>
                            <a:rPr lang="en-US" altLang="zh-CN" sz="1800" b="0" i="1" dirty="0" smtClean="0">
                              <a:latin typeface="Cambria Math" panose="02040503050406030204" pitchFamily="18" charset="0"/>
                              <a:ea typeface="Cambria Math" panose="02040503050406030204" pitchFamily="18" charset="0"/>
                            </a:rPr>
                          </m:ctrlPr>
                        </m:naryPr>
                        <m:sub>
                          <m:r>
                            <m:rPr>
                              <m:brk m:alnAt="23"/>
                            </m:rPr>
                            <a:rPr lang="en-US" altLang="zh-CN" sz="1800" b="0" i="1" dirty="0" smtClean="0">
                              <a:latin typeface="Cambria Math" panose="02040503050406030204" pitchFamily="18" charset="0"/>
                              <a:ea typeface="Cambria Math" panose="02040503050406030204" pitchFamily="18" charset="0"/>
                            </a:rPr>
                            <m:t>𝑖</m:t>
                          </m:r>
                          <m:r>
                            <a:rPr lang="en-US" altLang="zh-CN" sz="1800" b="0" i="1" dirty="0" smtClean="0">
                              <a:latin typeface="Cambria Math" panose="02040503050406030204" pitchFamily="18" charset="0"/>
                              <a:ea typeface="Cambria Math" panose="02040503050406030204" pitchFamily="18" charset="0"/>
                            </a:rPr>
                            <m:t>=1</m:t>
                          </m:r>
                        </m:sub>
                        <m:sup>
                          <m:r>
                            <a:rPr lang="en-US" altLang="zh-CN" sz="1800" b="0" i="1" dirty="0" smtClean="0">
                              <a:latin typeface="Cambria Math" panose="02040503050406030204" pitchFamily="18" charset="0"/>
                              <a:ea typeface="Cambria Math" panose="02040503050406030204" pitchFamily="18" charset="0"/>
                            </a:rPr>
                            <m:t>4</m:t>
                          </m:r>
                        </m:sup>
                        <m:e>
                          <m:f>
                            <m:fPr>
                              <m:ctrlPr>
                                <a:rPr lang="en-US" altLang="zh-CN" sz="1800" i="1" dirty="0">
                                  <a:latin typeface="Cambria Math" panose="02040503050406030204" pitchFamily="18" charset="0"/>
                                  <a:ea typeface="Cambria Math" panose="02040503050406030204" pitchFamily="18" charset="0"/>
                                </a:rPr>
                              </m:ctrlPr>
                            </m:fPr>
                            <m:num>
                              <m:r>
                                <a:rPr lang="en-US" altLang="zh-CN" sz="1800" i="1" dirty="0">
                                  <a:latin typeface="Cambria Math" panose="02040503050406030204" pitchFamily="18" charset="0"/>
                                  <a:ea typeface="Cambria Math" panose="02040503050406030204" pitchFamily="18" charset="0"/>
                                </a:rPr>
                                <m:t>𝐿</m:t>
                              </m:r>
                              <m:d>
                                <m:dPr>
                                  <m:ctrlPr>
                                    <a:rPr lang="en-US" altLang="zh-CN" sz="1800" i="1" dirty="0">
                                      <a:latin typeface="Cambria Math" panose="02040503050406030204" pitchFamily="18" charset="0"/>
                                      <a:ea typeface="Cambria Math" panose="02040503050406030204" pitchFamily="18" charset="0"/>
                                    </a:rPr>
                                  </m:ctrlPr>
                                </m:dPr>
                                <m:e>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𝜆</m:t>
                                      </m:r>
                                    </m:e>
                                    <m:sub>
                                      <m:r>
                                        <a:rPr lang="en-US" altLang="zh-CN" sz="1800" i="1" dirty="0">
                                          <a:latin typeface="Cambria Math" panose="02040503050406030204" pitchFamily="18" charset="0"/>
                                          <a:ea typeface="Cambria Math" panose="02040503050406030204" pitchFamily="18" charset="0"/>
                                        </a:rPr>
                                        <m:t>𝑖</m:t>
                                      </m:r>
                                    </m:sub>
                                  </m:sSub>
                                </m:e>
                              </m:d>
                              <m:acc>
                                <m:accPr>
                                  <m:chr m:val="̅"/>
                                  <m:ctrlPr>
                                    <a:rPr lang="en-US" altLang="zh-CN" sz="1800" i="1" dirty="0">
                                      <a:latin typeface="Cambria Math" panose="02040503050406030204" pitchFamily="18" charset="0"/>
                                      <a:ea typeface="Cambria Math" panose="02040503050406030204" pitchFamily="18" charset="0"/>
                                    </a:rPr>
                                  </m:ctrlPr>
                                </m:accPr>
                                <m:e>
                                  <m:r>
                                    <a:rPr lang="en-US" altLang="zh-CN" sz="1800" i="1" dirty="0">
                                      <a:latin typeface="Cambria Math" panose="02040503050406030204" pitchFamily="18" charset="0"/>
                                      <a:ea typeface="Cambria Math" panose="02040503050406030204" pitchFamily="18" charset="0"/>
                                    </a:rPr>
                                    <m:t>𝑦</m:t>
                                  </m:r>
                                </m:e>
                              </m:acc>
                              <m:d>
                                <m:dPr>
                                  <m:ctrlPr>
                                    <a:rPr lang="en-US" altLang="zh-CN" sz="1800" i="1" dirty="0">
                                      <a:latin typeface="Cambria Math" panose="02040503050406030204" pitchFamily="18" charset="0"/>
                                      <a:ea typeface="Cambria Math" panose="02040503050406030204" pitchFamily="18" charset="0"/>
                                    </a:rPr>
                                  </m:ctrlPr>
                                </m:dPr>
                                <m:e>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𝜆</m:t>
                                      </m:r>
                                    </m:e>
                                    <m:sub>
                                      <m:r>
                                        <a:rPr lang="en-US" altLang="zh-CN" sz="1800" i="1" dirty="0">
                                          <a:latin typeface="Cambria Math" panose="02040503050406030204" pitchFamily="18" charset="0"/>
                                          <a:ea typeface="Cambria Math" panose="02040503050406030204" pitchFamily="18" charset="0"/>
                                        </a:rPr>
                                        <m:t>𝑖</m:t>
                                      </m:r>
                                    </m:sub>
                                  </m:sSub>
                                </m:e>
                              </m:d>
                            </m:num>
                            <m:den>
                              <m:r>
                                <a:rPr lang="en-US" altLang="zh-CN" sz="1800" i="1" dirty="0">
                                  <a:latin typeface="Cambria Math" panose="02040503050406030204" pitchFamily="18" charset="0"/>
                                  <a:ea typeface="Cambria Math" panose="02040503050406030204" pitchFamily="18" charset="0"/>
                                </a:rPr>
                                <m:t>𝑝</m:t>
                              </m:r>
                              <m:d>
                                <m:dPr>
                                  <m:ctrlPr>
                                    <a:rPr lang="en-US" altLang="zh-CN" sz="1800" i="1" dirty="0">
                                      <a:latin typeface="Cambria Math" panose="02040503050406030204" pitchFamily="18" charset="0"/>
                                      <a:ea typeface="Cambria Math" panose="02040503050406030204" pitchFamily="18" charset="0"/>
                                    </a:rPr>
                                  </m:ctrlPr>
                                </m:dPr>
                                <m:e>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𝜆</m:t>
                                      </m:r>
                                    </m:e>
                                    <m:sub>
                                      <m:r>
                                        <a:rPr lang="en-US" altLang="zh-CN" sz="1800" i="1" dirty="0">
                                          <a:latin typeface="Cambria Math" panose="02040503050406030204" pitchFamily="18" charset="0"/>
                                          <a:ea typeface="Cambria Math" panose="02040503050406030204" pitchFamily="18" charset="0"/>
                                        </a:rPr>
                                        <m:t>𝑖</m:t>
                                      </m:r>
                                    </m:sub>
                                  </m:sSub>
                                </m:e>
                              </m:d>
                            </m:den>
                          </m:f>
                        </m:e>
                      </m:nary>
                      <m:r>
                        <a:rPr lang="en-US" altLang="zh-CN" sz="1800" b="0" i="1" dirty="0" smtClean="0">
                          <a:latin typeface="Cambria Math" panose="02040503050406030204" pitchFamily="18" charset="0"/>
                          <a:ea typeface="Cambria Math" panose="02040503050406030204" pitchFamily="18" charset="0"/>
                        </a:rPr>
                        <m:t>     </m:t>
                      </m:r>
                      <m:r>
                        <a:rPr lang="en-US" altLang="zh-CN" sz="1800" b="0" i="1" dirty="0" smtClean="0">
                          <a:latin typeface="Cambria Math" panose="02040503050406030204" pitchFamily="18" charset="0"/>
                          <a:ea typeface="Cambria Math" panose="02040503050406030204" pitchFamily="18" charset="0"/>
                        </a:rPr>
                        <m:t>𝑣𝑠</m:t>
                      </m:r>
                      <m:r>
                        <a:rPr lang="en-US" altLang="zh-CN" sz="1800" b="0" i="1" dirty="0" smtClean="0">
                          <a:latin typeface="Cambria Math" panose="02040503050406030204" pitchFamily="18" charset="0"/>
                          <a:ea typeface="Cambria Math" panose="02040503050406030204" pitchFamily="18" charset="0"/>
                        </a:rPr>
                        <m:t>     </m:t>
                      </m:r>
                      <m:r>
                        <a:rPr lang="en-US" altLang="zh-CN" sz="1800" i="1">
                          <a:latin typeface="Cambria Math" panose="02040503050406030204" pitchFamily="18" charset="0"/>
                        </a:rPr>
                        <m:t>𝑌</m:t>
                      </m:r>
                      <m:r>
                        <a:rPr lang="en-US" altLang="zh-CN" sz="1800" i="1" dirty="0">
                          <a:latin typeface="Cambria Math" panose="02040503050406030204" pitchFamily="18" charset="0"/>
                          <a:ea typeface="Cambria Math" panose="02040503050406030204" pitchFamily="18" charset="0"/>
                        </a:rPr>
                        <m:t>≈</m:t>
                      </m:r>
                      <m:f>
                        <m:fPr>
                          <m:ctrlPr>
                            <a:rPr lang="en-US" altLang="zh-CN" sz="1800" i="1" dirty="0">
                              <a:latin typeface="Cambria Math" panose="02040503050406030204" pitchFamily="18" charset="0"/>
                              <a:ea typeface="Cambria Math" panose="02040503050406030204" pitchFamily="18" charset="0"/>
                            </a:rPr>
                          </m:ctrlPr>
                        </m:fPr>
                        <m:num>
                          <m:r>
                            <a:rPr lang="en-US" altLang="zh-CN" sz="1800" i="1" dirty="0">
                              <a:latin typeface="Cambria Math" panose="02040503050406030204" pitchFamily="18" charset="0"/>
                              <a:ea typeface="Cambria Math" panose="02040503050406030204" pitchFamily="18" charset="0"/>
                            </a:rPr>
                            <m:t>𝐿</m:t>
                          </m:r>
                          <m:d>
                            <m:dPr>
                              <m:ctrlPr>
                                <a:rPr lang="en-US" altLang="zh-CN" sz="1800" i="1" dirty="0">
                                  <a:latin typeface="Cambria Math" panose="02040503050406030204" pitchFamily="18" charset="0"/>
                                  <a:ea typeface="Cambria Math" panose="02040503050406030204" pitchFamily="18" charset="0"/>
                                </a:rPr>
                              </m:ctrlPr>
                            </m:dPr>
                            <m:e>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𝜆</m:t>
                                  </m:r>
                                </m:e>
                                <m:sub>
                                  <m:r>
                                    <a:rPr lang="en-US" altLang="zh-CN" sz="1800" b="0" i="1" dirty="0" smtClean="0">
                                      <a:latin typeface="Cambria Math" panose="02040503050406030204" pitchFamily="18" charset="0"/>
                                      <a:ea typeface="Cambria Math" panose="02040503050406030204" pitchFamily="18" charset="0"/>
                                    </a:rPr>
                                    <m:t>1</m:t>
                                  </m:r>
                                </m:sub>
                              </m:sSub>
                            </m:e>
                          </m:d>
                          <m:acc>
                            <m:accPr>
                              <m:chr m:val="̅"/>
                              <m:ctrlPr>
                                <a:rPr lang="en-US" altLang="zh-CN" sz="1800" i="1" dirty="0">
                                  <a:latin typeface="Cambria Math" panose="02040503050406030204" pitchFamily="18" charset="0"/>
                                  <a:ea typeface="Cambria Math" panose="02040503050406030204" pitchFamily="18" charset="0"/>
                                </a:rPr>
                              </m:ctrlPr>
                            </m:accPr>
                            <m:e>
                              <m:r>
                                <a:rPr lang="en-US" altLang="zh-CN" sz="1800" i="1" dirty="0">
                                  <a:latin typeface="Cambria Math" panose="02040503050406030204" pitchFamily="18" charset="0"/>
                                  <a:ea typeface="Cambria Math" panose="02040503050406030204" pitchFamily="18" charset="0"/>
                                </a:rPr>
                                <m:t>𝑦</m:t>
                              </m:r>
                            </m:e>
                          </m:acc>
                          <m:d>
                            <m:dPr>
                              <m:ctrlPr>
                                <a:rPr lang="en-US" altLang="zh-CN" sz="1800" i="1" dirty="0">
                                  <a:latin typeface="Cambria Math" panose="02040503050406030204" pitchFamily="18" charset="0"/>
                                  <a:ea typeface="Cambria Math" panose="02040503050406030204" pitchFamily="18" charset="0"/>
                                </a:rPr>
                              </m:ctrlPr>
                            </m:dPr>
                            <m:e>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𝜆</m:t>
                                  </m:r>
                                </m:e>
                                <m:sub>
                                  <m:r>
                                    <a:rPr lang="en-US" altLang="zh-CN" sz="1800" b="0" i="1" dirty="0" smtClean="0">
                                      <a:latin typeface="Cambria Math" panose="02040503050406030204" pitchFamily="18" charset="0"/>
                                      <a:ea typeface="Cambria Math" panose="02040503050406030204" pitchFamily="18" charset="0"/>
                                    </a:rPr>
                                    <m:t>1</m:t>
                                  </m:r>
                                </m:sub>
                              </m:sSub>
                            </m:e>
                          </m:d>
                        </m:num>
                        <m:den>
                          <m:r>
                            <a:rPr lang="en-US" altLang="zh-CN" sz="1800" i="1" dirty="0">
                              <a:latin typeface="Cambria Math" panose="02040503050406030204" pitchFamily="18" charset="0"/>
                              <a:ea typeface="Cambria Math" panose="02040503050406030204" pitchFamily="18" charset="0"/>
                            </a:rPr>
                            <m:t>𝑝</m:t>
                          </m:r>
                          <m:d>
                            <m:dPr>
                              <m:ctrlPr>
                                <a:rPr lang="en-US" altLang="zh-CN" sz="1800" i="1" dirty="0">
                                  <a:latin typeface="Cambria Math" panose="02040503050406030204" pitchFamily="18" charset="0"/>
                                  <a:ea typeface="Cambria Math" panose="02040503050406030204" pitchFamily="18" charset="0"/>
                                </a:rPr>
                              </m:ctrlPr>
                            </m:dPr>
                            <m:e>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𝜆</m:t>
                                  </m:r>
                                </m:e>
                                <m:sub>
                                  <m:r>
                                    <a:rPr lang="en-US" altLang="zh-CN" sz="1800" b="0" i="1" dirty="0" smtClean="0">
                                      <a:latin typeface="Cambria Math" panose="02040503050406030204" pitchFamily="18" charset="0"/>
                                      <a:ea typeface="Cambria Math" panose="02040503050406030204" pitchFamily="18" charset="0"/>
                                    </a:rPr>
                                    <m:t>1</m:t>
                                  </m:r>
                                </m:sub>
                              </m:sSub>
                            </m:e>
                          </m:d>
                        </m:den>
                      </m:f>
                    </m:oMath>
                  </m:oMathPara>
                </a14:m>
                <a:endParaRPr lang="zh-CN" altLang="en-US" dirty="0"/>
              </a:p>
            </p:txBody>
          </p:sp>
        </mc:Choice>
        <mc:Fallback xmlns="">
          <p:sp>
            <p:nvSpPr>
              <p:cNvPr id="7" name="文本框 6">
                <a:extLst>
                  <a:ext uri="{FF2B5EF4-FFF2-40B4-BE49-F238E27FC236}">
                    <a16:creationId xmlns:a16="http://schemas.microsoft.com/office/drawing/2014/main" id="{785816D0-0DE6-DCCA-9E8F-54EA7A300FB9}"/>
                  </a:ext>
                </a:extLst>
              </p:cNvPr>
              <p:cNvSpPr txBox="1">
                <a:spLocks noRot="1" noChangeAspect="1" noMove="1" noResize="1" noEditPoints="1" noAdjustHandles="1" noChangeArrowheads="1" noChangeShapeType="1" noTextEdit="1"/>
              </p:cNvSpPr>
              <p:nvPr/>
            </p:nvSpPr>
            <p:spPr>
              <a:xfrm>
                <a:off x="2796576" y="3474450"/>
                <a:ext cx="6094926" cy="869982"/>
              </a:xfrm>
              <a:prstGeom prst="rect">
                <a:avLst/>
              </a:prstGeom>
              <a:blipFill>
                <a:blip r:embed="rId3"/>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8465D9E4-05CA-A6D7-FBF0-809E08131E9E}"/>
              </a:ext>
            </a:extLst>
          </p:cNvPr>
          <p:cNvSpPr txBox="1"/>
          <p:nvPr/>
        </p:nvSpPr>
        <p:spPr>
          <a:xfrm>
            <a:off x="869824" y="4399212"/>
            <a:ext cx="9948430" cy="1477328"/>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但是如果我们仔细想一想，对于粗糙度为</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的材质的折射来说，它的折射方向确实是一个</a:t>
            </a:r>
            <a:r>
              <a:rPr lang="en-US" altLang="zh-CN" dirty="0">
                <a:latin typeface="Noto Sans SC" panose="020B0200000000000000" pitchFamily="34" charset="-122"/>
                <a:ea typeface="Noto Sans SC" panose="020B0200000000000000" pitchFamily="34" charset="-122"/>
              </a:rPr>
              <a:t>Dirac Delta</a:t>
            </a:r>
            <a:r>
              <a:rPr lang="zh-CN" altLang="en-US" dirty="0">
                <a:latin typeface="Noto Sans SC" panose="020B0200000000000000" pitchFamily="34" charset="-122"/>
                <a:ea typeface="Noto Sans SC" panose="020B0200000000000000" pitchFamily="34" charset="-122"/>
              </a:rPr>
              <a:t>分布，因此不同波长的光线会根据折射率被折射到完全不同且唯一的方向。</a:t>
            </a:r>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那么对于粗糙度不为</a:t>
            </a:r>
            <a:r>
              <a:rPr lang="en-US" altLang="zh-CN" dirty="0">
                <a:latin typeface="Noto Sans SC" panose="020B0200000000000000" pitchFamily="34" charset="-122"/>
                <a:ea typeface="Noto Sans SC" panose="020B0200000000000000" pitchFamily="34" charset="-122"/>
              </a:rPr>
              <a:t>0</a:t>
            </a:r>
            <a:r>
              <a:rPr lang="zh-CN" altLang="en-US" dirty="0">
                <a:latin typeface="Noto Sans SC" panose="020B0200000000000000" pitchFamily="34" charset="-122"/>
                <a:ea typeface="Noto Sans SC" panose="020B0200000000000000" pitchFamily="34" charset="-122"/>
              </a:rPr>
              <a:t>的物体呢？他的折射方向理应是一个和折射率有关的范围，也就意味着这种情况下其实并不一定要</a:t>
            </a:r>
            <a:r>
              <a:rPr lang="en-US" altLang="zh-CN" dirty="0">
                <a:latin typeface="Noto Sans SC" panose="020B0200000000000000" pitchFamily="34" charset="-122"/>
                <a:ea typeface="Noto Sans SC" panose="020B0200000000000000" pitchFamily="34" charset="-122"/>
              </a:rPr>
              <a:t>terminate</a:t>
            </a:r>
            <a:r>
              <a:rPr lang="zh-CN" altLang="en-US" dirty="0">
                <a:latin typeface="Noto Sans SC" panose="020B0200000000000000" pitchFamily="34" charset="-122"/>
                <a:ea typeface="Noto Sans SC" panose="020B0200000000000000" pitchFamily="34" charset="-122"/>
              </a:rPr>
              <a:t>掉后续的所有波长，不同波长的光仍有可能走同一条光路。于是我们就可以大幅减少粗糙折射物体上的</a:t>
            </a:r>
            <a:r>
              <a:rPr lang="zh-CN" altLang="en-US" b="1" dirty="0">
                <a:latin typeface="Noto Sans SC" panose="020B0200000000000000" pitchFamily="34" charset="-122"/>
                <a:ea typeface="Noto Sans SC" panose="020B0200000000000000" pitchFamily="34" charset="-122"/>
              </a:rPr>
              <a:t>色彩噪声</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p:spTree>
    <p:extLst>
      <p:ext uri="{BB962C8B-B14F-4D97-AF65-F5344CB8AC3E}">
        <p14:creationId xmlns:p14="http://schemas.microsoft.com/office/powerpoint/2010/main" val="444005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FBBB2-519D-B243-C484-BE9DDB27BB3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9C9AEE2-3B1F-8005-53BF-FDA8D2FE5883}"/>
              </a:ext>
            </a:extLst>
          </p:cNvPr>
          <p:cNvSpPr>
            <a:spLocks noGrp="1"/>
          </p:cNvSpPr>
          <p:nvPr>
            <p:ph type="title" idx="1"/>
          </p:nvPr>
        </p:nvSpPr>
        <p:spPr/>
        <p:txBody>
          <a:bodyPr/>
          <a:lstStyle/>
          <a:p>
            <a:r>
              <a:rPr lang="zh-CN" altLang="en-US" dirty="0"/>
              <a:t>粗糙折射</a:t>
            </a:r>
          </a:p>
        </p:txBody>
      </p:sp>
      <p:sp>
        <p:nvSpPr>
          <p:cNvPr id="56" name="文本框 55">
            <a:extLst>
              <a:ext uri="{FF2B5EF4-FFF2-40B4-BE49-F238E27FC236}">
                <a16:creationId xmlns:a16="http://schemas.microsoft.com/office/drawing/2014/main" id="{A84407E6-C107-7EF2-94E6-6324E0C80E7C}"/>
              </a:ext>
            </a:extLst>
          </p:cNvPr>
          <p:cNvSpPr txBox="1"/>
          <p:nvPr/>
        </p:nvSpPr>
        <p:spPr>
          <a:xfrm>
            <a:off x="4910666" y="1626046"/>
            <a:ext cx="6134100" cy="1978637"/>
          </a:xfrm>
          <a:prstGeom prst="rect">
            <a:avLst/>
          </a:prstGeom>
          <a:noFill/>
        </p:spPr>
        <p:txBody>
          <a:bodyPr wrap="square">
            <a:spAutoFit/>
          </a:bodyPr>
          <a:lstStyle/>
          <a:p>
            <a:r>
              <a:rPr lang="zh-CN" altLang="en-US" sz="2000" dirty="0">
                <a:latin typeface="Noto Sans SC" panose="020B0200000000000000" pitchFamily="34" charset="-122"/>
                <a:ea typeface="Noto Sans SC" panose="020B0200000000000000" pitchFamily="34" charset="-122"/>
              </a:rPr>
              <a:t>         粗糙折射：</a:t>
            </a:r>
            <a:r>
              <a:rPr lang="zh-CN" altLang="en-US" sz="2000" dirty="0">
                <a:solidFill>
                  <a:schemeClr val="accent3">
                    <a:lumMod val="75000"/>
                  </a:schemeClr>
                </a:solidFill>
                <a:latin typeface="Noto Sans SC" panose="020B0200000000000000" pitchFamily="34" charset="-122"/>
                <a:ea typeface="Noto Sans SC" panose="020B0200000000000000" pitchFamily="34" charset="-122"/>
              </a:rPr>
              <a:t>对于具有粗糙度的物体，根据微表面理论，光线可能会在法线朝向不同的微表面发生折射。</a:t>
            </a:r>
            <a:r>
              <a:rPr lang="zh-CN" altLang="en-US" sz="2000" dirty="0">
                <a:solidFill>
                  <a:schemeClr val="accent6">
                    <a:lumMod val="75000"/>
                  </a:schemeClr>
                </a:solidFill>
                <a:latin typeface="Noto Sans SC" panose="020B0200000000000000" pitchFamily="34" charset="-122"/>
                <a:ea typeface="Noto Sans SC" panose="020B0200000000000000" pitchFamily="34" charset="-122"/>
              </a:rPr>
              <a:t>对于一个固定入射方向，出射方向是由折射率决定的波瓣。</a:t>
            </a:r>
            <a:r>
              <a:rPr lang="zh-CN" altLang="en-US" sz="2000" dirty="0">
                <a:latin typeface="Noto Sans SC" panose="020B0200000000000000" pitchFamily="34" charset="-122"/>
                <a:ea typeface="Noto Sans SC" panose="020B0200000000000000" pitchFamily="34" charset="-122"/>
              </a:rPr>
              <a:t>于是对于不同波长的光，他们各自的出射波瓣会部分重合。所以四个波长，可能可以复用同一个路径，也可能其中的几个不能复用该路径。</a:t>
            </a:r>
            <a:endParaRPr lang="zh-CN" altLang="en-US" dirty="0"/>
          </a:p>
        </p:txBody>
      </p:sp>
      <p:grpSp>
        <p:nvGrpSpPr>
          <p:cNvPr id="59" name="组合 58">
            <a:extLst>
              <a:ext uri="{FF2B5EF4-FFF2-40B4-BE49-F238E27FC236}">
                <a16:creationId xmlns:a16="http://schemas.microsoft.com/office/drawing/2014/main" id="{B231CDCC-1BF5-CFA7-A256-7F1AF90B918E}"/>
              </a:ext>
            </a:extLst>
          </p:cNvPr>
          <p:cNvGrpSpPr/>
          <p:nvPr/>
        </p:nvGrpSpPr>
        <p:grpSpPr>
          <a:xfrm>
            <a:off x="880425" y="1568743"/>
            <a:ext cx="3048001" cy="2064163"/>
            <a:chOff x="7642913" y="1610370"/>
            <a:chExt cx="3048001" cy="2064163"/>
          </a:xfrm>
        </p:grpSpPr>
        <p:sp>
          <p:nvSpPr>
            <p:cNvPr id="60" name="流程图: 可选过程 59">
              <a:extLst>
                <a:ext uri="{FF2B5EF4-FFF2-40B4-BE49-F238E27FC236}">
                  <a16:creationId xmlns:a16="http://schemas.microsoft.com/office/drawing/2014/main" id="{3CEA43B4-5081-7748-9865-9A81CF6D9577}"/>
                </a:ext>
              </a:extLst>
            </p:cNvPr>
            <p:cNvSpPr/>
            <p:nvPr/>
          </p:nvSpPr>
          <p:spPr>
            <a:xfrm>
              <a:off x="7642913" y="1610370"/>
              <a:ext cx="3048001" cy="2064163"/>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弧形 60">
              <a:extLst>
                <a:ext uri="{FF2B5EF4-FFF2-40B4-BE49-F238E27FC236}">
                  <a16:creationId xmlns:a16="http://schemas.microsoft.com/office/drawing/2014/main" id="{32004A97-A6F3-FCE3-3886-CA7DC7C30CDC}"/>
                </a:ext>
              </a:extLst>
            </p:cNvPr>
            <p:cNvSpPr/>
            <p:nvPr/>
          </p:nvSpPr>
          <p:spPr>
            <a:xfrm>
              <a:off x="8786604" y="2144329"/>
              <a:ext cx="914400" cy="914400"/>
            </a:xfrm>
            <a:prstGeom prst="arc">
              <a:avLst>
                <a:gd name="adj1" fmla="val 10951567"/>
                <a:gd name="adj2"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弧形 61">
              <a:extLst>
                <a:ext uri="{FF2B5EF4-FFF2-40B4-BE49-F238E27FC236}">
                  <a16:creationId xmlns:a16="http://schemas.microsoft.com/office/drawing/2014/main" id="{9AB6307B-F11C-CC8F-086E-109521491150}"/>
                </a:ext>
              </a:extLst>
            </p:cNvPr>
            <p:cNvSpPr/>
            <p:nvPr/>
          </p:nvSpPr>
          <p:spPr>
            <a:xfrm>
              <a:off x="8786604" y="2144329"/>
              <a:ext cx="914400" cy="914400"/>
            </a:xfrm>
            <a:prstGeom prst="arc">
              <a:avLst>
                <a:gd name="adj1" fmla="val 13713069"/>
                <a:gd name="adj2" fmla="val 0"/>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63" name="直接连接符 62">
              <a:extLst>
                <a:ext uri="{FF2B5EF4-FFF2-40B4-BE49-F238E27FC236}">
                  <a16:creationId xmlns:a16="http://schemas.microsoft.com/office/drawing/2014/main" id="{53AE9D53-D048-3186-7D79-AA530E20ABCC}"/>
                </a:ext>
              </a:extLst>
            </p:cNvPr>
            <p:cNvCxnSpPr>
              <a:cxnSpLocks/>
            </p:cNvCxnSpPr>
            <p:nvPr/>
          </p:nvCxnSpPr>
          <p:spPr>
            <a:xfrm>
              <a:off x="7874000" y="2585584"/>
              <a:ext cx="265547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9C4FDD88-F380-656B-7C5B-97A851A92742}"/>
                </a:ext>
              </a:extLst>
            </p:cNvPr>
            <p:cNvCxnSpPr>
              <a:cxnSpLocks/>
            </p:cNvCxnSpPr>
            <p:nvPr/>
          </p:nvCxnSpPr>
          <p:spPr>
            <a:xfrm flipV="1">
              <a:off x="9243811" y="1801045"/>
              <a:ext cx="954657" cy="76967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4560A1CC-B71A-7B5D-B820-8A3BDBFC51A8}"/>
                </a:ext>
              </a:extLst>
            </p:cNvPr>
            <p:cNvSpPr txBox="1"/>
            <p:nvPr/>
          </p:nvSpPr>
          <p:spPr>
            <a:xfrm>
              <a:off x="9883142" y="2187748"/>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空气</a:t>
              </a:r>
            </a:p>
          </p:txBody>
        </p:sp>
        <p:sp>
          <p:nvSpPr>
            <p:cNvPr id="66" name="文本框 65">
              <a:extLst>
                <a:ext uri="{FF2B5EF4-FFF2-40B4-BE49-F238E27FC236}">
                  <a16:creationId xmlns:a16="http://schemas.microsoft.com/office/drawing/2014/main" id="{2168DE3C-A679-D255-07A9-45305CD484FE}"/>
                </a:ext>
              </a:extLst>
            </p:cNvPr>
            <p:cNvSpPr txBox="1"/>
            <p:nvPr/>
          </p:nvSpPr>
          <p:spPr>
            <a:xfrm>
              <a:off x="9875302" y="2600451"/>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介质</a:t>
              </a:r>
            </a:p>
          </p:txBody>
        </p:sp>
        <p:cxnSp>
          <p:nvCxnSpPr>
            <p:cNvPr id="67" name="直接箭头连接符 66">
              <a:extLst>
                <a:ext uri="{FF2B5EF4-FFF2-40B4-BE49-F238E27FC236}">
                  <a16:creationId xmlns:a16="http://schemas.microsoft.com/office/drawing/2014/main" id="{5D2EBE16-92E9-7C40-6382-75B12330CDA3}"/>
                </a:ext>
              </a:extLst>
            </p:cNvPr>
            <p:cNvCxnSpPr>
              <a:cxnSpLocks/>
            </p:cNvCxnSpPr>
            <p:nvPr/>
          </p:nvCxnSpPr>
          <p:spPr>
            <a:xfrm flipV="1">
              <a:off x="9243811" y="2295525"/>
              <a:ext cx="340075" cy="2741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a:extLst>
                <a:ext uri="{FF2B5EF4-FFF2-40B4-BE49-F238E27FC236}">
                  <a16:creationId xmlns:a16="http://schemas.microsoft.com/office/drawing/2014/main" id="{E5FA64E7-5AA6-A2BF-0230-7B256BE7D40B}"/>
                </a:ext>
              </a:extLst>
            </p:cNvPr>
            <p:cNvCxnSpPr>
              <a:cxnSpLocks/>
            </p:cNvCxnSpPr>
            <p:nvPr/>
          </p:nvCxnSpPr>
          <p:spPr>
            <a:xfrm flipV="1">
              <a:off x="9243804" y="2157413"/>
              <a:ext cx="12909" cy="41229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0AB0E2ED-B80F-5FDD-1BA4-BF5EF77171FA}"/>
                </a:ext>
              </a:extLst>
            </p:cNvPr>
            <p:cNvCxnSpPr>
              <a:cxnSpLocks/>
            </p:cNvCxnSpPr>
            <p:nvPr/>
          </p:nvCxnSpPr>
          <p:spPr>
            <a:xfrm flipH="1" flipV="1">
              <a:off x="9090025" y="2178050"/>
              <a:ext cx="153779" cy="39165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E6741AB0-1C69-B159-495B-C05AAFB70C92}"/>
                </a:ext>
              </a:extLst>
            </p:cNvPr>
            <p:cNvCxnSpPr>
              <a:cxnSpLocks/>
              <a:endCxn id="62" idx="0"/>
            </p:cNvCxnSpPr>
            <p:nvPr/>
          </p:nvCxnSpPr>
          <p:spPr>
            <a:xfrm flipH="1" flipV="1">
              <a:off x="8941160" y="2258836"/>
              <a:ext cx="302644" cy="310868"/>
            </a:xfrm>
            <a:prstGeom prst="straightConnector1">
              <a:avLst/>
            </a:prstGeom>
            <a:ln>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1638380C-7582-1E48-957A-933805D25F4C}"/>
                </a:ext>
              </a:extLst>
            </p:cNvPr>
            <p:cNvCxnSpPr>
              <a:cxnSpLocks/>
            </p:cNvCxnSpPr>
            <p:nvPr/>
          </p:nvCxnSpPr>
          <p:spPr>
            <a:xfrm flipV="1">
              <a:off x="9243804" y="2435225"/>
              <a:ext cx="416134" cy="134479"/>
            </a:xfrm>
            <a:prstGeom prst="straightConnector1">
              <a:avLst/>
            </a:prstGeom>
            <a:ln>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8C38071F-3AFD-2059-FA6C-CF219E4A3F81}"/>
                </a:ext>
              </a:extLst>
            </p:cNvPr>
            <p:cNvCxnSpPr>
              <a:cxnSpLocks/>
            </p:cNvCxnSpPr>
            <p:nvPr/>
          </p:nvCxnSpPr>
          <p:spPr>
            <a:xfrm flipV="1">
              <a:off x="9243804" y="2566988"/>
              <a:ext cx="446296" cy="2716"/>
            </a:xfrm>
            <a:prstGeom prst="straightConnector1">
              <a:avLst/>
            </a:prstGeom>
            <a:ln>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a16="http://schemas.microsoft.com/office/drawing/2014/main" id="{6E0B80BA-CE0D-55BF-D15D-A356969CED48}"/>
                </a:ext>
              </a:extLst>
            </p:cNvPr>
            <p:cNvCxnSpPr>
              <a:cxnSpLocks/>
            </p:cNvCxnSpPr>
            <p:nvPr/>
          </p:nvCxnSpPr>
          <p:spPr>
            <a:xfrm flipV="1">
              <a:off x="9243595" y="2195513"/>
              <a:ext cx="197268" cy="37419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F5760B69-833F-6A38-0CA2-FFC7E83A62F9}"/>
                </a:ext>
              </a:extLst>
            </p:cNvPr>
            <p:cNvCxnSpPr>
              <a:cxnSpLocks/>
            </p:cNvCxnSpPr>
            <p:nvPr/>
          </p:nvCxnSpPr>
          <p:spPr>
            <a:xfrm flipH="1">
              <a:off x="8463116" y="2576506"/>
              <a:ext cx="780479" cy="629246"/>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a16="http://schemas.microsoft.com/office/drawing/2014/main" id="{E97358F6-346C-5096-334A-A6FF6B7F48A1}"/>
                </a:ext>
              </a:extLst>
            </p:cNvPr>
            <p:cNvCxnSpPr>
              <a:cxnSpLocks/>
            </p:cNvCxnSpPr>
            <p:nvPr/>
          </p:nvCxnSpPr>
          <p:spPr>
            <a:xfrm flipH="1">
              <a:off x="8700445" y="2576506"/>
              <a:ext cx="542941" cy="311970"/>
            </a:xfrm>
            <a:prstGeom prst="straightConnector1">
              <a:avLst/>
            </a:prstGeom>
            <a:ln w="19050">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a16="http://schemas.microsoft.com/office/drawing/2014/main" id="{739DBB16-9362-7773-ED98-F950556F2EBB}"/>
                </a:ext>
              </a:extLst>
            </p:cNvPr>
            <p:cNvCxnSpPr>
              <a:cxnSpLocks/>
            </p:cNvCxnSpPr>
            <p:nvPr/>
          </p:nvCxnSpPr>
          <p:spPr>
            <a:xfrm flipH="1">
              <a:off x="8510221" y="2578019"/>
              <a:ext cx="733165" cy="928186"/>
            </a:xfrm>
            <a:prstGeom prst="straightConnector1">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9698DB6B-0272-0B7E-73E0-29600580A4E4}"/>
                </a:ext>
              </a:extLst>
            </p:cNvPr>
            <p:cNvCxnSpPr>
              <a:cxnSpLocks/>
            </p:cNvCxnSpPr>
            <p:nvPr/>
          </p:nvCxnSpPr>
          <p:spPr>
            <a:xfrm flipH="1">
              <a:off x="8674543" y="2576506"/>
              <a:ext cx="568634" cy="840010"/>
            </a:xfrm>
            <a:prstGeom prst="straightConnector1">
              <a:avLst/>
            </a:prstGeom>
            <a:ln w="19050">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E8A44E2A-577C-5D3F-4993-DDE9A4BE8F60}"/>
                </a:ext>
              </a:extLst>
            </p:cNvPr>
            <p:cNvCxnSpPr>
              <a:cxnSpLocks/>
            </p:cNvCxnSpPr>
            <p:nvPr/>
          </p:nvCxnSpPr>
          <p:spPr>
            <a:xfrm flipH="1">
              <a:off x="8536517" y="2577521"/>
              <a:ext cx="706451" cy="485832"/>
            </a:xfrm>
            <a:prstGeom prst="straightConnector1">
              <a:avLst/>
            </a:prstGeom>
            <a:ln w="190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1D352C78-1BC8-0F11-B1A6-540C7CA1C542}"/>
                </a:ext>
              </a:extLst>
            </p:cNvPr>
            <p:cNvCxnSpPr>
              <a:cxnSpLocks/>
            </p:cNvCxnSpPr>
            <p:nvPr/>
          </p:nvCxnSpPr>
          <p:spPr>
            <a:xfrm flipH="1">
              <a:off x="8366125" y="2576506"/>
              <a:ext cx="876425" cy="95813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BBA82164-E2B8-158F-EB18-1363D94AB9FC}"/>
                </a:ext>
              </a:extLst>
            </p:cNvPr>
            <p:cNvCxnSpPr>
              <a:cxnSpLocks/>
            </p:cNvCxnSpPr>
            <p:nvPr/>
          </p:nvCxnSpPr>
          <p:spPr>
            <a:xfrm flipH="1">
              <a:off x="8396701" y="2576506"/>
              <a:ext cx="845849" cy="796707"/>
            </a:xfrm>
            <a:prstGeom prst="straightConnector1">
              <a:avLst/>
            </a:prstGeom>
            <a:ln w="190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F5EE0D35-C8B1-4D82-D9A4-68DD8DACC88F}"/>
                    </a:ext>
                  </a:extLst>
                </p:cNvPr>
                <p:cNvSpPr txBox="1"/>
                <p:nvPr/>
              </p:nvSpPr>
              <p:spPr>
                <a:xfrm>
                  <a:off x="9342229" y="1700684"/>
                  <a:ext cx="597920"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00B050"/>
                            </a:solidFill>
                            <a:latin typeface="Cambria Math" panose="02040503050406030204" pitchFamily="18" charset="0"/>
                          </a:rPr>
                          <m:t>𝒗𝒊𝒆𝒘</m:t>
                        </m:r>
                      </m:oMath>
                    </m:oMathPara>
                  </a14:m>
                  <a:endParaRPr lang="zh-CN" altLang="en-US" b="1" i="1" dirty="0">
                    <a:solidFill>
                      <a:srgbClr val="00B050"/>
                    </a:solidFill>
                  </a:endParaRPr>
                </a:p>
              </p:txBody>
            </p:sp>
          </mc:Choice>
          <mc:Fallback xmlns="">
            <p:sp>
              <p:nvSpPr>
                <p:cNvPr id="81" name="文本框 80">
                  <a:extLst>
                    <a:ext uri="{FF2B5EF4-FFF2-40B4-BE49-F238E27FC236}">
                      <a16:creationId xmlns:a16="http://schemas.microsoft.com/office/drawing/2014/main" id="{3D4B692C-5EC2-8BB6-815E-1C8BD23C37E5}"/>
                    </a:ext>
                  </a:extLst>
                </p:cNvPr>
                <p:cNvSpPr txBox="1">
                  <a:spLocks noRot="1" noChangeAspect="1" noMove="1" noResize="1" noEditPoints="1" noAdjustHandles="1" noChangeArrowheads="1" noChangeShapeType="1" noTextEdit="1"/>
                </p:cNvSpPr>
                <p:nvPr/>
              </p:nvSpPr>
              <p:spPr>
                <a:xfrm>
                  <a:off x="9342229" y="1700684"/>
                  <a:ext cx="597920" cy="276999"/>
                </a:xfrm>
                <a:prstGeom prst="rect">
                  <a:avLst/>
                </a:prstGeom>
                <a:blipFill>
                  <a:blip r:embed="rId2"/>
                  <a:stretch>
                    <a:fillRect l="-8163" t="-28261" r="-29592"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1C76B331-9522-50BC-450D-4BB67E2FFB54}"/>
                    </a:ext>
                  </a:extLst>
                </p:cNvPr>
                <p:cNvSpPr txBox="1"/>
                <p:nvPr/>
              </p:nvSpPr>
              <p:spPr>
                <a:xfrm>
                  <a:off x="9123468" y="3025612"/>
                  <a:ext cx="634789"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FFC000"/>
                            </a:solidFill>
                            <a:latin typeface="Cambria Math" panose="02040503050406030204" pitchFamily="18" charset="0"/>
                          </a:rPr>
                          <m:t>𝒍𝒊𝒈𝒉𝒕</m:t>
                        </m:r>
                      </m:oMath>
                    </m:oMathPara>
                  </a14:m>
                  <a:endParaRPr lang="zh-CN" altLang="en-US" b="1" i="1" dirty="0">
                    <a:solidFill>
                      <a:srgbClr val="FFC000"/>
                    </a:solidFill>
                  </a:endParaRPr>
                </a:p>
              </p:txBody>
            </p:sp>
          </mc:Choice>
          <mc:Fallback xmlns="">
            <p:sp>
              <p:nvSpPr>
                <p:cNvPr id="82" name="文本框 81">
                  <a:extLst>
                    <a:ext uri="{FF2B5EF4-FFF2-40B4-BE49-F238E27FC236}">
                      <a16:creationId xmlns:a16="http://schemas.microsoft.com/office/drawing/2014/main" id="{180DCD1A-B085-33CD-BAA3-9A9C002CD448}"/>
                    </a:ext>
                  </a:extLst>
                </p:cNvPr>
                <p:cNvSpPr txBox="1">
                  <a:spLocks noRot="1" noChangeAspect="1" noMove="1" noResize="1" noEditPoints="1" noAdjustHandles="1" noChangeArrowheads="1" noChangeShapeType="1" noTextEdit="1"/>
                </p:cNvSpPr>
                <p:nvPr/>
              </p:nvSpPr>
              <p:spPr>
                <a:xfrm>
                  <a:off x="9123468" y="3025612"/>
                  <a:ext cx="634789" cy="276999"/>
                </a:xfrm>
                <a:prstGeom prst="rect">
                  <a:avLst/>
                </a:prstGeom>
                <a:blipFill>
                  <a:blip r:embed="rId3"/>
                  <a:stretch>
                    <a:fillRect l="-11538" t="-28261" r="-27885"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文本框 82">
                  <a:extLst>
                    <a:ext uri="{FF2B5EF4-FFF2-40B4-BE49-F238E27FC236}">
                      <a16:creationId xmlns:a16="http://schemas.microsoft.com/office/drawing/2014/main" id="{CC1D03D5-56B5-B33A-B589-6BFC7C8EBE15}"/>
                    </a:ext>
                  </a:extLst>
                </p:cNvPr>
                <p:cNvSpPr txBox="1"/>
                <p:nvPr/>
              </p:nvSpPr>
              <p:spPr>
                <a:xfrm>
                  <a:off x="8001797" y="1871769"/>
                  <a:ext cx="711733" cy="430887"/>
                </a:xfrm>
                <a:prstGeom prst="rect">
                  <a:avLst/>
                </a:prstGeom>
                <a:noFill/>
              </p:spPr>
              <p:txBody>
                <a:bodyPr wrap="none" lIns="0" tIns="0" rIns="0" bIns="0" rtlCol="0">
                  <a:spAutoFit/>
                </a:bodyPr>
                <a:lstStyle/>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𝒗𝒊𝒔𝒊𝒃𝒍𝒆</m:t>
                        </m:r>
                      </m:oMath>
                    </m:oMathPara>
                  </a14:m>
                  <a:endParaRPr lang="en-US" altLang="zh-CN" sz="1400" b="1" i="1" dirty="0">
                    <a:solidFill>
                      <a:schemeClr val="accent6">
                        <a:lumMod val="60000"/>
                        <a:lumOff val="40000"/>
                      </a:schemeClr>
                    </a:solidFill>
                    <a:latin typeface="Cambria Math" panose="02040503050406030204" pitchFamily="18" charset="0"/>
                  </a:endParaRPr>
                </a:p>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𝒏𝒐𝒓𝒎𝒂𝒍</m:t>
                        </m:r>
                      </m:oMath>
                    </m:oMathPara>
                  </a14:m>
                  <a:endParaRPr lang="zh-CN" altLang="en-US" sz="1400" b="1" i="1" dirty="0">
                    <a:solidFill>
                      <a:schemeClr val="accent6">
                        <a:lumMod val="60000"/>
                        <a:lumOff val="40000"/>
                      </a:schemeClr>
                    </a:solidFill>
                  </a:endParaRPr>
                </a:p>
              </p:txBody>
            </p:sp>
          </mc:Choice>
          <mc:Fallback xmlns="">
            <p:sp>
              <p:nvSpPr>
                <p:cNvPr id="83" name="文本框 82">
                  <a:extLst>
                    <a:ext uri="{FF2B5EF4-FFF2-40B4-BE49-F238E27FC236}">
                      <a16:creationId xmlns:a16="http://schemas.microsoft.com/office/drawing/2014/main" id="{FED69CCA-8F09-06DD-DF0F-4924240BB9A7}"/>
                    </a:ext>
                  </a:extLst>
                </p:cNvPr>
                <p:cNvSpPr txBox="1">
                  <a:spLocks noRot="1" noChangeAspect="1" noMove="1" noResize="1" noEditPoints="1" noAdjustHandles="1" noChangeArrowheads="1" noChangeShapeType="1" noTextEdit="1"/>
                </p:cNvSpPr>
                <p:nvPr/>
              </p:nvSpPr>
              <p:spPr>
                <a:xfrm>
                  <a:off x="8001797" y="1871769"/>
                  <a:ext cx="711733" cy="430887"/>
                </a:xfrm>
                <a:prstGeom prst="rect">
                  <a:avLst/>
                </a:prstGeom>
                <a:blipFill>
                  <a:blip r:embed="rId4"/>
                  <a:stretch>
                    <a:fillRect l="-5128" t="-14085" r="-17949" b="-23944"/>
                  </a:stretch>
                </a:blipFill>
              </p:spPr>
              <p:txBody>
                <a:bodyPr/>
                <a:lstStyle/>
                <a:p>
                  <a:r>
                    <a:rPr lang="zh-CN" altLang="en-US">
                      <a:noFill/>
                    </a:rPr>
                    <a:t> </a:t>
                  </a:r>
                </a:p>
              </p:txBody>
            </p:sp>
          </mc:Fallback>
        </mc:AlternateContent>
      </p:grpSp>
      <p:grpSp>
        <p:nvGrpSpPr>
          <p:cNvPr id="111" name="组合 110">
            <a:extLst>
              <a:ext uri="{FF2B5EF4-FFF2-40B4-BE49-F238E27FC236}">
                <a16:creationId xmlns:a16="http://schemas.microsoft.com/office/drawing/2014/main" id="{90F99E58-6334-35B6-7FC8-BAFD17483A6D}"/>
              </a:ext>
            </a:extLst>
          </p:cNvPr>
          <p:cNvGrpSpPr/>
          <p:nvPr/>
        </p:nvGrpSpPr>
        <p:grpSpPr>
          <a:xfrm>
            <a:off x="880424" y="4166865"/>
            <a:ext cx="3048001" cy="2064163"/>
            <a:chOff x="7664857" y="3279754"/>
            <a:chExt cx="3048001" cy="2064163"/>
          </a:xfrm>
        </p:grpSpPr>
        <p:sp>
          <p:nvSpPr>
            <p:cNvPr id="85" name="流程图: 可选过程 84">
              <a:extLst>
                <a:ext uri="{FF2B5EF4-FFF2-40B4-BE49-F238E27FC236}">
                  <a16:creationId xmlns:a16="http://schemas.microsoft.com/office/drawing/2014/main" id="{46E72086-EA79-CB24-7DBC-94057A27F23E}"/>
                </a:ext>
              </a:extLst>
            </p:cNvPr>
            <p:cNvSpPr/>
            <p:nvPr/>
          </p:nvSpPr>
          <p:spPr>
            <a:xfrm>
              <a:off x="7664857" y="3279754"/>
              <a:ext cx="3048001" cy="2064163"/>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弧形 85">
              <a:extLst>
                <a:ext uri="{FF2B5EF4-FFF2-40B4-BE49-F238E27FC236}">
                  <a16:creationId xmlns:a16="http://schemas.microsoft.com/office/drawing/2014/main" id="{91DF60B3-1BE6-A019-FE77-235802A7B1E4}"/>
                </a:ext>
              </a:extLst>
            </p:cNvPr>
            <p:cNvSpPr/>
            <p:nvPr/>
          </p:nvSpPr>
          <p:spPr>
            <a:xfrm>
              <a:off x="8808548" y="3813713"/>
              <a:ext cx="914400" cy="914400"/>
            </a:xfrm>
            <a:prstGeom prst="arc">
              <a:avLst>
                <a:gd name="adj1" fmla="val 10951567"/>
                <a:gd name="adj2"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 name="弧形 86">
              <a:extLst>
                <a:ext uri="{FF2B5EF4-FFF2-40B4-BE49-F238E27FC236}">
                  <a16:creationId xmlns:a16="http://schemas.microsoft.com/office/drawing/2014/main" id="{136A1AAE-93BD-6018-889F-79D41571A1EA}"/>
                </a:ext>
              </a:extLst>
            </p:cNvPr>
            <p:cNvSpPr/>
            <p:nvPr/>
          </p:nvSpPr>
          <p:spPr>
            <a:xfrm>
              <a:off x="8808548" y="3813713"/>
              <a:ext cx="914400" cy="914400"/>
            </a:xfrm>
            <a:prstGeom prst="arc">
              <a:avLst>
                <a:gd name="adj1" fmla="val 13713069"/>
                <a:gd name="adj2" fmla="val 0"/>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88" name="直接连接符 87">
              <a:extLst>
                <a:ext uri="{FF2B5EF4-FFF2-40B4-BE49-F238E27FC236}">
                  <a16:creationId xmlns:a16="http://schemas.microsoft.com/office/drawing/2014/main" id="{874D3765-4AA5-CA10-5F22-334C0EFD4429}"/>
                </a:ext>
              </a:extLst>
            </p:cNvPr>
            <p:cNvCxnSpPr>
              <a:cxnSpLocks/>
            </p:cNvCxnSpPr>
            <p:nvPr/>
          </p:nvCxnSpPr>
          <p:spPr>
            <a:xfrm>
              <a:off x="7895944" y="4254968"/>
              <a:ext cx="265547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9" name="直接箭头连接符 88">
              <a:extLst>
                <a:ext uri="{FF2B5EF4-FFF2-40B4-BE49-F238E27FC236}">
                  <a16:creationId xmlns:a16="http://schemas.microsoft.com/office/drawing/2014/main" id="{74507E48-70D7-9716-4A4F-D2E6A6711540}"/>
                </a:ext>
              </a:extLst>
            </p:cNvPr>
            <p:cNvCxnSpPr>
              <a:cxnSpLocks/>
            </p:cNvCxnSpPr>
            <p:nvPr/>
          </p:nvCxnSpPr>
          <p:spPr>
            <a:xfrm flipV="1">
              <a:off x="9265755" y="3470429"/>
              <a:ext cx="954657" cy="76967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35DF0A00-5519-AB6D-BD63-4ACDC297160D}"/>
                </a:ext>
              </a:extLst>
            </p:cNvPr>
            <p:cNvSpPr txBox="1"/>
            <p:nvPr/>
          </p:nvSpPr>
          <p:spPr>
            <a:xfrm>
              <a:off x="9905086" y="3857132"/>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空气</a:t>
              </a:r>
            </a:p>
          </p:txBody>
        </p:sp>
        <p:sp>
          <p:nvSpPr>
            <p:cNvPr id="91" name="文本框 90">
              <a:extLst>
                <a:ext uri="{FF2B5EF4-FFF2-40B4-BE49-F238E27FC236}">
                  <a16:creationId xmlns:a16="http://schemas.microsoft.com/office/drawing/2014/main" id="{A7343743-3E33-6F42-4ED5-2B45EC5B426A}"/>
                </a:ext>
              </a:extLst>
            </p:cNvPr>
            <p:cNvSpPr txBox="1"/>
            <p:nvPr/>
          </p:nvSpPr>
          <p:spPr>
            <a:xfrm>
              <a:off x="9897246" y="4269835"/>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介质</a:t>
              </a:r>
            </a:p>
          </p:txBody>
        </p:sp>
        <p:cxnSp>
          <p:nvCxnSpPr>
            <p:cNvPr id="92" name="直接箭头连接符 91">
              <a:extLst>
                <a:ext uri="{FF2B5EF4-FFF2-40B4-BE49-F238E27FC236}">
                  <a16:creationId xmlns:a16="http://schemas.microsoft.com/office/drawing/2014/main" id="{DB4D8FBC-9B8D-4D15-BD4A-110A56031B1D}"/>
                </a:ext>
              </a:extLst>
            </p:cNvPr>
            <p:cNvCxnSpPr>
              <a:cxnSpLocks/>
            </p:cNvCxnSpPr>
            <p:nvPr/>
          </p:nvCxnSpPr>
          <p:spPr>
            <a:xfrm flipV="1">
              <a:off x="9265755" y="3964909"/>
              <a:ext cx="340075" cy="2741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9F7E8C56-478E-0A0B-2CE6-BECACC106B9D}"/>
                </a:ext>
              </a:extLst>
            </p:cNvPr>
            <p:cNvCxnSpPr>
              <a:cxnSpLocks/>
            </p:cNvCxnSpPr>
            <p:nvPr/>
          </p:nvCxnSpPr>
          <p:spPr>
            <a:xfrm flipV="1">
              <a:off x="9265748" y="3826797"/>
              <a:ext cx="12909" cy="41229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a:extLst>
                <a:ext uri="{FF2B5EF4-FFF2-40B4-BE49-F238E27FC236}">
                  <a16:creationId xmlns:a16="http://schemas.microsoft.com/office/drawing/2014/main" id="{4D305561-4413-FB3C-E60E-66B6EB0EDF08}"/>
                </a:ext>
              </a:extLst>
            </p:cNvPr>
            <p:cNvCxnSpPr>
              <a:cxnSpLocks/>
            </p:cNvCxnSpPr>
            <p:nvPr/>
          </p:nvCxnSpPr>
          <p:spPr>
            <a:xfrm flipH="1" flipV="1">
              <a:off x="9111969" y="3847434"/>
              <a:ext cx="153779" cy="39165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9CBEA11F-73D2-42CC-AFB0-DBFFAE9364D6}"/>
                </a:ext>
              </a:extLst>
            </p:cNvPr>
            <p:cNvCxnSpPr>
              <a:cxnSpLocks/>
              <a:endCxn id="87" idx="0"/>
            </p:cNvCxnSpPr>
            <p:nvPr/>
          </p:nvCxnSpPr>
          <p:spPr>
            <a:xfrm flipH="1" flipV="1">
              <a:off x="8963104" y="3928220"/>
              <a:ext cx="302644" cy="310868"/>
            </a:xfrm>
            <a:prstGeom prst="straightConnector1">
              <a:avLst/>
            </a:prstGeom>
            <a:ln>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467834DC-56CB-781C-3E14-4003E7F68477}"/>
                </a:ext>
              </a:extLst>
            </p:cNvPr>
            <p:cNvCxnSpPr>
              <a:cxnSpLocks/>
            </p:cNvCxnSpPr>
            <p:nvPr/>
          </p:nvCxnSpPr>
          <p:spPr>
            <a:xfrm flipV="1">
              <a:off x="9265748" y="4104609"/>
              <a:ext cx="416134" cy="134479"/>
            </a:xfrm>
            <a:prstGeom prst="straightConnector1">
              <a:avLst/>
            </a:prstGeom>
            <a:ln>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7" name="直接箭头连接符 96">
              <a:extLst>
                <a:ext uri="{FF2B5EF4-FFF2-40B4-BE49-F238E27FC236}">
                  <a16:creationId xmlns:a16="http://schemas.microsoft.com/office/drawing/2014/main" id="{F38004B1-C0E1-5A4E-FFD3-BD065FB9E4A5}"/>
                </a:ext>
              </a:extLst>
            </p:cNvPr>
            <p:cNvCxnSpPr>
              <a:cxnSpLocks/>
            </p:cNvCxnSpPr>
            <p:nvPr/>
          </p:nvCxnSpPr>
          <p:spPr>
            <a:xfrm flipV="1">
              <a:off x="9265748" y="4236372"/>
              <a:ext cx="446296" cy="2716"/>
            </a:xfrm>
            <a:prstGeom prst="straightConnector1">
              <a:avLst/>
            </a:prstGeom>
            <a:ln>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18B7B064-1243-0862-374A-C22C48FF032E}"/>
                </a:ext>
              </a:extLst>
            </p:cNvPr>
            <p:cNvCxnSpPr>
              <a:cxnSpLocks/>
            </p:cNvCxnSpPr>
            <p:nvPr/>
          </p:nvCxnSpPr>
          <p:spPr>
            <a:xfrm flipV="1">
              <a:off x="9265539" y="3864897"/>
              <a:ext cx="197268" cy="37419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F5166594-386C-013E-04A2-A14D2EB1FE7F}"/>
                </a:ext>
              </a:extLst>
            </p:cNvPr>
            <p:cNvCxnSpPr>
              <a:cxnSpLocks/>
            </p:cNvCxnSpPr>
            <p:nvPr/>
          </p:nvCxnSpPr>
          <p:spPr>
            <a:xfrm flipH="1">
              <a:off x="8485060" y="4245890"/>
              <a:ext cx="780479" cy="629246"/>
            </a:xfrm>
            <a:prstGeom prst="straightConnector1">
              <a:avLst/>
            </a:prstGeom>
            <a:ln w="19050">
              <a:solidFill>
                <a:srgbClr val="FFC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0" name="直接箭头连接符 99">
              <a:extLst>
                <a:ext uri="{FF2B5EF4-FFF2-40B4-BE49-F238E27FC236}">
                  <a16:creationId xmlns:a16="http://schemas.microsoft.com/office/drawing/2014/main" id="{502C83C6-8FCD-F173-01E9-6AEA64A67787}"/>
                </a:ext>
              </a:extLst>
            </p:cNvPr>
            <p:cNvCxnSpPr>
              <a:cxnSpLocks/>
            </p:cNvCxnSpPr>
            <p:nvPr/>
          </p:nvCxnSpPr>
          <p:spPr>
            <a:xfrm flipH="1">
              <a:off x="8722389" y="4245890"/>
              <a:ext cx="542941" cy="311970"/>
            </a:xfrm>
            <a:prstGeom prst="straightConnector1">
              <a:avLst/>
            </a:prstGeom>
            <a:ln w="19050">
              <a:solidFill>
                <a:schemeClr val="accent6">
                  <a:lumMod val="20000"/>
                  <a:lumOff val="8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A97F7EF7-6393-3D4C-375B-6BF51580E8D8}"/>
                </a:ext>
              </a:extLst>
            </p:cNvPr>
            <p:cNvCxnSpPr>
              <a:cxnSpLocks/>
            </p:cNvCxnSpPr>
            <p:nvPr/>
          </p:nvCxnSpPr>
          <p:spPr>
            <a:xfrm flipH="1">
              <a:off x="8532165" y="4247403"/>
              <a:ext cx="733165" cy="928186"/>
            </a:xfrm>
            <a:prstGeom prst="straightConnector1">
              <a:avLst/>
            </a:prstGeom>
            <a:ln w="19050">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9E7B901B-AFF3-23FB-EEFE-00F0C1BEE1DE}"/>
                </a:ext>
              </a:extLst>
            </p:cNvPr>
            <p:cNvCxnSpPr>
              <a:cxnSpLocks/>
            </p:cNvCxnSpPr>
            <p:nvPr/>
          </p:nvCxnSpPr>
          <p:spPr>
            <a:xfrm flipH="1">
              <a:off x="8696487" y="4245890"/>
              <a:ext cx="568634" cy="840010"/>
            </a:xfrm>
            <a:prstGeom prst="straightConnector1">
              <a:avLst/>
            </a:prstGeom>
            <a:ln w="19050">
              <a:solidFill>
                <a:srgbClr val="62021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07F5D88E-450B-9B88-244B-522DF51F551A}"/>
                </a:ext>
              </a:extLst>
            </p:cNvPr>
            <p:cNvCxnSpPr>
              <a:cxnSpLocks/>
            </p:cNvCxnSpPr>
            <p:nvPr/>
          </p:nvCxnSpPr>
          <p:spPr>
            <a:xfrm flipH="1">
              <a:off x="8558461" y="4246905"/>
              <a:ext cx="706451" cy="485832"/>
            </a:xfrm>
            <a:prstGeom prst="straightConnector1">
              <a:avLst/>
            </a:prstGeom>
            <a:ln w="19050">
              <a:solidFill>
                <a:schemeClr val="accent6">
                  <a:lumMod val="40000"/>
                  <a:lumOff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D6A7E7FC-A29B-61E1-978F-ADC2A4AAF4A1}"/>
                </a:ext>
              </a:extLst>
            </p:cNvPr>
            <p:cNvCxnSpPr>
              <a:cxnSpLocks/>
            </p:cNvCxnSpPr>
            <p:nvPr/>
          </p:nvCxnSpPr>
          <p:spPr>
            <a:xfrm flipH="1">
              <a:off x="8388069" y="4245890"/>
              <a:ext cx="876425" cy="958131"/>
            </a:xfrm>
            <a:prstGeom prst="straightConnector1">
              <a:avLst/>
            </a:prstGeom>
            <a:ln w="19050">
              <a:solidFill>
                <a:schemeClr val="accent6">
                  <a:lumMod val="7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723C474C-39D2-4183-689E-49289B6B9CF5}"/>
                </a:ext>
              </a:extLst>
            </p:cNvPr>
            <p:cNvCxnSpPr>
              <a:cxnSpLocks/>
            </p:cNvCxnSpPr>
            <p:nvPr/>
          </p:nvCxnSpPr>
          <p:spPr>
            <a:xfrm flipH="1">
              <a:off x="8418645" y="4245890"/>
              <a:ext cx="845849" cy="796707"/>
            </a:xfrm>
            <a:prstGeom prst="straightConnector1">
              <a:avLst/>
            </a:prstGeom>
            <a:ln w="19050">
              <a:solidFill>
                <a:schemeClr val="accent6">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文本框 105">
                  <a:extLst>
                    <a:ext uri="{FF2B5EF4-FFF2-40B4-BE49-F238E27FC236}">
                      <a16:creationId xmlns:a16="http://schemas.microsoft.com/office/drawing/2014/main" id="{38638B1E-11DE-F000-73D5-E55331346B56}"/>
                    </a:ext>
                  </a:extLst>
                </p:cNvPr>
                <p:cNvSpPr txBox="1"/>
                <p:nvPr/>
              </p:nvSpPr>
              <p:spPr>
                <a:xfrm>
                  <a:off x="9364173" y="3370068"/>
                  <a:ext cx="597920"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00B050"/>
                            </a:solidFill>
                            <a:latin typeface="Cambria Math" panose="02040503050406030204" pitchFamily="18" charset="0"/>
                          </a:rPr>
                          <m:t>𝒗𝒊𝒆𝒘</m:t>
                        </m:r>
                      </m:oMath>
                    </m:oMathPara>
                  </a14:m>
                  <a:endParaRPr lang="zh-CN" altLang="en-US" b="1" i="1" dirty="0">
                    <a:solidFill>
                      <a:srgbClr val="00B050"/>
                    </a:solidFill>
                  </a:endParaRPr>
                </a:p>
              </p:txBody>
            </p:sp>
          </mc:Choice>
          <mc:Fallback xmlns="">
            <p:sp>
              <p:nvSpPr>
                <p:cNvPr id="106" name="文本框 105">
                  <a:extLst>
                    <a:ext uri="{FF2B5EF4-FFF2-40B4-BE49-F238E27FC236}">
                      <a16:creationId xmlns:a16="http://schemas.microsoft.com/office/drawing/2014/main" id="{A5397093-ED7F-04B8-C010-525712754918}"/>
                    </a:ext>
                  </a:extLst>
                </p:cNvPr>
                <p:cNvSpPr txBox="1">
                  <a:spLocks noRot="1" noChangeAspect="1" noMove="1" noResize="1" noEditPoints="1" noAdjustHandles="1" noChangeArrowheads="1" noChangeShapeType="1" noTextEdit="1"/>
                </p:cNvSpPr>
                <p:nvPr/>
              </p:nvSpPr>
              <p:spPr>
                <a:xfrm>
                  <a:off x="9364173" y="3370068"/>
                  <a:ext cx="597920" cy="276999"/>
                </a:xfrm>
                <a:prstGeom prst="rect">
                  <a:avLst/>
                </a:prstGeom>
                <a:blipFill>
                  <a:blip r:embed="rId5"/>
                  <a:stretch>
                    <a:fillRect l="-8163" t="-28261" r="-29592"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文本框 106">
                  <a:extLst>
                    <a:ext uri="{FF2B5EF4-FFF2-40B4-BE49-F238E27FC236}">
                      <a16:creationId xmlns:a16="http://schemas.microsoft.com/office/drawing/2014/main" id="{E63667DA-44D6-FAD3-AB9A-1BB75AF42B12}"/>
                    </a:ext>
                  </a:extLst>
                </p:cNvPr>
                <p:cNvSpPr txBox="1"/>
                <p:nvPr/>
              </p:nvSpPr>
              <p:spPr>
                <a:xfrm>
                  <a:off x="9145412" y="4694996"/>
                  <a:ext cx="634789"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FFC000"/>
                            </a:solidFill>
                            <a:latin typeface="Cambria Math" panose="02040503050406030204" pitchFamily="18" charset="0"/>
                          </a:rPr>
                          <m:t>𝒍𝒊𝒈𝒉𝒕</m:t>
                        </m:r>
                      </m:oMath>
                    </m:oMathPara>
                  </a14:m>
                  <a:endParaRPr lang="zh-CN" altLang="en-US" b="1" i="1" dirty="0">
                    <a:solidFill>
                      <a:srgbClr val="FFC000"/>
                    </a:solidFill>
                  </a:endParaRPr>
                </a:p>
              </p:txBody>
            </p:sp>
          </mc:Choice>
          <mc:Fallback xmlns="">
            <p:sp>
              <p:nvSpPr>
                <p:cNvPr id="107" name="文本框 106">
                  <a:extLst>
                    <a:ext uri="{FF2B5EF4-FFF2-40B4-BE49-F238E27FC236}">
                      <a16:creationId xmlns:a16="http://schemas.microsoft.com/office/drawing/2014/main" id="{4897C195-D655-7163-9AFA-1CE008E0DC2C}"/>
                    </a:ext>
                  </a:extLst>
                </p:cNvPr>
                <p:cNvSpPr txBox="1">
                  <a:spLocks noRot="1" noChangeAspect="1" noMove="1" noResize="1" noEditPoints="1" noAdjustHandles="1" noChangeArrowheads="1" noChangeShapeType="1" noTextEdit="1"/>
                </p:cNvSpPr>
                <p:nvPr/>
              </p:nvSpPr>
              <p:spPr>
                <a:xfrm>
                  <a:off x="9145412" y="4694996"/>
                  <a:ext cx="634789" cy="276999"/>
                </a:xfrm>
                <a:prstGeom prst="rect">
                  <a:avLst/>
                </a:prstGeom>
                <a:blipFill>
                  <a:blip r:embed="rId6"/>
                  <a:stretch>
                    <a:fillRect l="-11538" t="-28889" r="-27885" b="-5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文本框 107">
                  <a:extLst>
                    <a:ext uri="{FF2B5EF4-FFF2-40B4-BE49-F238E27FC236}">
                      <a16:creationId xmlns:a16="http://schemas.microsoft.com/office/drawing/2014/main" id="{83DC04C9-EA48-9C16-C822-993BB54C078F}"/>
                    </a:ext>
                  </a:extLst>
                </p:cNvPr>
                <p:cNvSpPr txBox="1"/>
                <p:nvPr/>
              </p:nvSpPr>
              <p:spPr>
                <a:xfrm>
                  <a:off x="8023741" y="3541153"/>
                  <a:ext cx="711733" cy="430887"/>
                </a:xfrm>
                <a:prstGeom prst="rect">
                  <a:avLst/>
                </a:prstGeom>
                <a:noFill/>
              </p:spPr>
              <p:txBody>
                <a:bodyPr wrap="none" lIns="0" tIns="0" rIns="0" bIns="0" rtlCol="0">
                  <a:spAutoFit/>
                </a:bodyPr>
                <a:lstStyle/>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𝒗𝒊𝒔𝒊𝒃𝒍𝒆</m:t>
                        </m:r>
                      </m:oMath>
                    </m:oMathPara>
                  </a14:m>
                  <a:endParaRPr lang="en-US" altLang="zh-CN" sz="1400" b="1" i="1" dirty="0">
                    <a:solidFill>
                      <a:schemeClr val="accent6">
                        <a:lumMod val="60000"/>
                        <a:lumOff val="40000"/>
                      </a:schemeClr>
                    </a:solidFill>
                    <a:latin typeface="Cambria Math" panose="02040503050406030204" pitchFamily="18" charset="0"/>
                  </a:endParaRPr>
                </a:p>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𝒏𝒐𝒓𝒎𝒂𝒍</m:t>
                        </m:r>
                      </m:oMath>
                    </m:oMathPara>
                  </a14:m>
                  <a:endParaRPr lang="zh-CN" altLang="en-US" sz="1400" b="1" i="1" dirty="0">
                    <a:solidFill>
                      <a:schemeClr val="accent6">
                        <a:lumMod val="60000"/>
                        <a:lumOff val="40000"/>
                      </a:schemeClr>
                    </a:solidFill>
                  </a:endParaRPr>
                </a:p>
              </p:txBody>
            </p:sp>
          </mc:Choice>
          <mc:Fallback xmlns="">
            <p:sp>
              <p:nvSpPr>
                <p:cNvPr id="108" name="文本框 107">
                  <a:extLst>
                    <a:ext uri="{FF2B5EF4-FFF2-40B4-BE49-F238E27FC236}">
                      <a16:creationId xmlns:a16="http://schemas.microsoft.com/office/drawing/2014/main" id="{BB988762-5FC8-D6FB-2F7B-2B6AECB85ABD}"/>
                    </a:ext>
                  </a:extLst>
                </p:cNvPr>
                <p:cNvSpPr txBox="1">
                  <a:spLocks noRot="1" noChangeAspect="1" noMove="1" noResize="1" noEditPoints="1" noAdjustHandles="1" noChangeArrowheads="1" noChangeShapeType="1" noTextEdit="1"/>
                </p:cNvSpPr>
                <p:nvPr/>
              </p:nvSpPr>
              <p:spPr>
                <a:xfrm>
                  <a:off x="8023741" y="3541153"/>
                  <a:ext cx="711733" cy="430887"/>
                </a:xfrm>
                <a:prstGeom prst="rect">
                  <a:avLst/>
                </a:prstGeom>
                <a:blipFill>
                  <a:blip r:embed="rId4"/>
                  <a:stretch>
                    <a:fillRect l="-5128" t="-14085" r="-17949" b="-23944"/>
                  </a:stretch>
                </a:blipFill>
              </p:spPr>
              <p:txBody>
                <a:bodyPr/>
                <a:lstStyle/>
                <a:p>
                  <a:r>
                    <a:rPr lang="zh-CN" altLang="en-US">
                      <a:noFill/>
                    </a:rPr>
                    <a:t> </a:t>
                  </a:r>
                </a:p>
              </p:txBody>
            </p:sp>
          </mc:Fallback>
        </mc:AlternateContent>
        <p:sp>
          <p:nvSpPr>
            <p:cNvPr id="110" name="任意多边形: 形状 109">
              <a:extLst>
                <a:ext uri="{FF2B5EF4-FFF2-40B4-BE49-F238E27FC236}">
                  <a16:creationId xmlns:a16="http://schemas.microsoft.com/office/drawing/2014/main" id="{EF49C378-9DFF-8BAB-A111-E28514E07265}"/>
                </a:ext>
              </a:extLst>
            </p:cNvPr>
            <p:cNvSpPr/>
            <p:nvPr/>
          </p:nvSpPr>
          <p:spPr>
            <a:xfrm>
              <a:off x="8384191" y="4246905"/>
              <a:ext cx="865791" cy="960641"/>
            </a:xfrm>
            <a:custGeom>
              <a:avLst/>
              <a:gdLst>
                <a:gd name="csX0" fmla="*/ 865747 w 865810"/>
                <a:gd name="csY0" fmla="*/ 6898 h 960129"/>
                <a:gd name="csX1" fmla="*/ 687947 w 865810"/>
                <a:gd name="csY1" fmla="*/ 103736 h 960129"/>
                <a:gd name="csX2" fmla="*/ 476810 w 865810"/>
                <a:gd name="csY2" fmla="*/ 227561 h 960129"/>
                <a:gd name="csX3" fmla="*/ 332347 w 865810"/>
                <a:gd name="csY3" fmla="*/ 324398 h 960129"/>
                <a:gd name="csX4" fmla="*/ 187885 w 865810"/>
                <a:gd name="csY4" fmla="*/ 456161 h 960129"/>
                <a:gd name="csX5" fmla="*/ 76760 w 865810"/>
                <a:gd name="csY5" fmla="*/ 624436 h 960129"/>
                <a:gd name="csX6" fmla="*/ 18022 w 865810"/>
                <a:gd name="csY6" fmla="*/ 783186 h 960129"/>
                <a:gd name="csX7" fmla="*/ 560 w 865810"/>
                <a:gd name="csY7" fmla="*/ 903836 h 960129"/>
                <a:gd name="csX8" fmla="*/ 13260 w 865810"/>
                <a:gd name="csY8" fmla="*/ 954636 h 960129"/>
                <a:gd name="csX9" fmla="*/ 94222 w 865810"/>
                <a:gd name="csY9" fmla="*/ 954636 h 960129"/>
                <a:gd name="csX10" fmla="*/ 194235 w 865810"/>
                <a:gd name="csY10" fmla="*/ 918123 h 960129"/>
                <a:gd name="csX11" fmla="*/ 268847 w 865810"/>
                <a:gd name="csY11" fmla="*/ 867323 h 960129"/>
                <a:gd name="csX12" fmla="*/ 360922 w 865810"/>
                <a:gd name="csY12" fmla="*/ 768898 h 960129"/>
                <a:gd name="csX13" fmla="*/ 508560 w 865810"/>
                <a:gd name="csY13" fmla="*/ 554586 h 960129"/>
                <a:gd name="csX14" fmla="*/ 668897 w 865810"/>
                <a:gd name="csY14" fmla="*/ 300586 h 960129"/>
                <a:gd name="csX15" fmla="*/ 865747 w 865810"/>
                <a:gd name="csY15" fmla="*/ 6898 h 960129"/>
                <a:gd name="csX0" fmla="*/ 865747 w 865754"/>
                <a:gd name="csY0" fmla="*/ 7410 h 960641"/>
                <a:gd name="csX1" fmla="*/ 687947 w 865754"/>
                <a:gd name="csY1" fmla="*/ 104248 h 960641"/>
                <a:gd name="csX2" fmla="*/ 476810 w 865754"/>
                <a:gd name="csY2" fmla="*/ 228073 h 960641"/>
                <a:gd name="csX3" fmla="*/ 332347 w 865754"/>
                <a:gd name="csY3" fmla="*/ 324910 h 960641"/>
                <a:gd name="csX4" fmla="*/ 187885 w 865754"/>
                <a:gd name="csY4" fmla="*/ 456673 h 960641"/>
                <a:gd name="csX5" fmla="*/ 76760 w 865754"/>
                <a:gd name="csY5" fmla="*/ 624948 h 960641"/>
                <a:gd name="csX6" fmla="*/ 18022 w 865754"/>
                <a:gd name="csY6" fmla="*/ 783698 h 960641"/>
                <a:gd name="csX7" fmla="*/ 560 w 865754"/>
                <a:gd name="csY7" fmla="*/ 904348 h 960641"/>
                <a:gd name="csX8" fmla="*/ 13260 w 865754"/>
                <a:gd name="csY8" fmla="*/ 955148 h 960641"/>
                <a:gd name="csX9" fmla="*/ 94222 w 865754"/>
                <a:gd name="csY9" fmla="*/ 955148 h 960641"/>
                <a:gd name="csX10" fmla="*/ 194235 w 865754"/>
                <a:gd name="csY10" fmla="*/ 918635 h 960641"/>
                <a:gd name="csX11" fmla="*/ 268847 w 865754"/>
                <a:gd name="csY11" fmla="*/ 867835 h 960641"/>
                <a:gd name="csX12" fmla="*/ 360922 w 865754"/>
                <a:gd name="csY12" fmla="*/ 769410 h 960641"/>
                <a:gd name="csX13" fmla="*/ 508560 w 865754"/>
                <a:gd name="csY13" fmla="*/ 555098 h 960641"/>
                <a:gd name="csX14" fmla="*/ 681597 w 865754"/>
                <a:gd name="csY14" fmla="*/ 310623 h 960641"/>
                <a:gd name="csX15" fmla="*/ 865747 w 865754"/>
                <a:gd name="csY15" fmla="*/ 7410 h 960641"/>
                <a:gd name="csX0" fmla="*/ 865747 w 865791"/>
                <a:gd name="csY0" fmla="*/ 7410 h 960641"/>
                <a:gd name="csX1" fmla="*/ 687947 w 865791"/>
                <a:gd name="csY1" fmla="*/ 104248 h 960641"/>
                <a:gd name="csX2" fmla="*/ 476810 w 865791"/>
                <a:gd name="csY2" fmla="*/ 228073 h 960641"/>
                <a:gd name="csX3" fmla="*/ 332347 w 865791"/>
                <a:gd name="csY3" fmla="*/ 324910 h 960641"/>
                <a:gd name="csX4" fmla="*/ 187885 w 865791"/>
                <a:gd name="csY4" fmla="*/ 456673 h 960641"/>
                <a:gd name="csX5" fmla="*/ 76760 w 865791"/>
                <a:gd name="csY5" fmla="*/ 624948 h 960641"/>
                <a:gd name="csX6" fmla="*/ 18022 w 865791"/>
                <a:gd name="csY6" fmla="*/ 783698 h 960641"/>
                <a:gd name="csX7" fmla="*/ 560 w 865791"/>
                <a:gd name="csY7" fmla="*/ 904348 h 960641"/>
                <a:gd name="csX8" fmla="*/ 13260 w 865791"/>
                <a:gd name="csY8" fmla="*/ 955148 h 960641"/>
                <a:gd name="csX9" fmla="*/ 94222 w 865791"/>
                <a:gd name="csY9" fmla="*/ 955148 h 960641"/>
                <a:gd name="csX10" fmla="*/ 194235 w 865791"/>
                <a:gd name="csY10" fmla="*/ 918635 h 960641"/>
                <a:gd name="csX11" fmla="*/ 268847 w 865791"/>
                <a:gd name="csY11" fmla="*/ 867835 h 960641"/>
                <a:gd name="csX12" fmla="*/ 360922 w 865791"/>
                <a:gd name="csY12" fmla="*/ 769410 h 960641"/>
                <a:gd name="csX13" fmla="*/ 508560 w 865791"/>
                <a:gd name="csY13" fmla="*/ 555098 h 960641"/>
                <a:gd name="csX14" fmla="*/ 672072 w 865791"/>
                <a:gd name="csY14" fmla="*/ 310623 h 960641"/>
                <a:gd name="csX15" fmla="*/ 865747 w 865791"/>
                <a:gd name="csY15" fmla="*/ 7410 h 960641"/>
                <a:gd name="csX0" fmla="*/ 865747 w 865791"/>
                <a:gd name="csY0" fmla="*/ 7410 h 960641"/>
                <a:gd name="csX1" fmla="*/ 687947 w 865791"/>
                <a:gd name="csY1" fmla="*/ 104248 h 960641"/>
                <a:gd name="csX2" fmla="*/ 476810 w 865791"/>
                <a:gd name="csY2" fmla="*/ 228073 h 960641"/>
                <a:gd name="csX3" fmla="*/ 332347 w 865791"/>
                <a:gd name="csY3" fmla="*/ 324910 h 960641"/>
                <a:gd name="csX4" fmla="*/ 187885 w 865791"/>
                <a:gd name="csY4" fmla="*/ 456673 h 960641"/>
                <a:gd name="csX5" fmla="*/ 76760 w 865791"/>
                <a:gd name="csY5" fmla="*/ 624948 h 960641"/>
                <a:gd name="csX6" fmla="*/ 18022 w 865791"/>
                <a:gd name="csY6" fmla="*/ 783698 h 960641"/>
                <a:gd name="csX7" fmla="*/ 560 w 865791"/>
                <a:gd name="csY7" fmla="*/ 904348 h 960641"/>
                <a:gd name="csX8" fmla="*/ 13260 w 865791"/>
                <a:gd name="csY8" fmla="*/ 955148 h 960641"/>
                <a:gd name="csX9" fmla="*/ 94222 w 865791"/>
                <a:gd name="csY9" fmla="*/ 955148 h 960641"/>
                <a:gd name="csX10" fmla="*/ 194235 w 865791"/>
                <a:gd name="csY10" fmla="*/ 918635 h 960641"/>
                <a:gd name="csX11" fmla="*/ 268847 w 865791"/>
                <a:gd name="csY11" fmla="*/ 867835 h 960641"/>
                <a:gd name="csX12" fmla="*/ 360922 w 865791"/>
                <a:gd name="csY12" fmla="*/ 769410 h 960641"/>
                <a:gd name="csX13" fmla="*/ 513322 w 865791"/>
                <a:gd name="csY13" fmla="*/ 555098 h 960641"/>
                <a:gd name="csX14" fmla="*/ 672072 w 865791"/>
                <a:gd name="csY14" fmla="*/ 310623 h 960641"/>
                <a:gd name="csX15" fmla="*/ 865747 w 865791"/>
                <a:gd name="csY15" fmla="*/ 7410 h 960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65791" h="960641">
                  <a:moveTo>
                    <a:pt x="865747" y="7410"/>
                  </a:moveTo>
                  <a:cubicBezTo>
                    <a:pt x="868393" y="-26986"/>
                    <a:pt x="752770" y="67471"/>
                    <a:pt x="687947" y="104248"/>
                  </a:cubicBezTo>
                  <a:cubicBezTo>
                    <a:pt x="623124" y="141025"/>
                    <a:pt x="536077" y="191296"/>
                    <a:pt x="476810" y="228073"/>
                  </a:cubicBezTo>
                  <a:cubicBezTo>
                    <a:pt x="417543" y="264850"/>
                    <a:pt x="380501" y="286810"/>
                    <a:pt x="332347" y="324910"/>
                  </a:cubicBezTo>
                  <a:cubicBezTo>
                    <a:pt x="284193" y="363010"/>
                    <a:pt x="230483" y="406667"/>
                    <a:pt x="187885" y="456673"/>
                  </a:cubicBezTo>
                  <a:cubicBezTo>
                    <a:pt x="145287" y="506679"/>
                    <a:pt x="105070" y="570444"/>
                    <a:pt x="76760" y="624948"/>
                  </a:cubicBezTo>
                  <a:cubicBezTo>
                    <a:pt x="48450" y="679452"/>
                    <a:pt x="30722" y="737131"/>
                    <a:pt x="18022" y="783698"/>
                  </a:cubicBezTo>
                  <a:cubicBezTo>
                    <a:pt x="5322" y="830265"/>
                    <a:pt x="1354" y="875773"/>
                    <a:pt x="560" y="904348"/>
                  </a:cubicBezTo>
                  <a:cubicBezTo>
                    <a:pt x="-234" y="932923"/>
                    <a:pt x="-2350" y="946681"/>
                    <a:pt x="13260" y="955148"/>
                  </a:cubicBezTo>
                  <a:cubicBezTo>
                    <a:pt x="28870" y="963615"/>
                    <a:pt x="64060" y="961233"/>
                    <a:pt x="94222" y="955148"/>
                  </a:cubicBezTo>
                  <a:cubicBezTo>
                    <a:pt x="124384" y="949063"/>
                    <a:pt x="165131" y="933187"/>
                    <a:pt x="194235" y="918635"/>
                  </a:cubicBezTo>
                  <a:cubicBezTo>
                    <a:pt x="223339" y="904083"/>
                    <a:pt x="241066" y="892706"/>
                    <a:pt x="268847" y="867835"/>
                  </a:cubicBezTo>
                  <a:cubicBezTo>
                    <a:pt x="296628" y="842964"/>
                    <a:pt x="320176" y="821533"/>
                    <a:pt x="360922" y="769410"/>
                  </a:cubicBezTo>
                  <a:cubicBezTo>
                    <a:pt x="401668" y="717287"/>
                    <a:pt x="461993" y="633150"/>
                    <a:pt x="513322" y="555098"/>
                  </a:cubicBezTo>
                  <a:cubicBezTo>
                    <a:pt x="564651" y="477046"/>
                    <a:pt x="613335" y="401904"/>
                    <a:pt x="672072" y="310623"/>
                  </a:cubicBezTo>
                  <a:cubicBezTo>
                    <a:pt x="730810" y="219342"/>
                    <a:pt x="863101" y="41806"/>
                    <a:pt x="865747" y="7410"/>
                  </a:cubicBezTo>
                  <a:close/>
                </a:path>
              </a:pathLst>
            </a:cu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0" name="组合 189">
            <a:extLst>
              <a:ext uri="{FF2B5EF4-FFF2-40B4-BE49-F238E27FC236}">
                <a16:creationId xmlns:a16="http://schemas.microsoft.com/office/drawing/2014/main" id="{0578659B-AE47-209A-8625-94D136B80AF0}"/>
              </a:ext>
            </a:extLst>
          </p:cNvPr>
          <p:cNvGrpSpPr/>
          <p:nvPr/>
        </p:nvGrpSpPr>
        <p:grpSpPr>
          <a:xfrm>
            <a:off x="4695084" y="4171633"/>
            <a:ext cx="3048001" cy="2064163"/>
            <a:chOff x="8554149" y="3392612"/>
            <a:chExt cx="3048001" cy="2064163"/>
          </a:xfrm>
        </p:grpSpPr>
        <p:sp>
          <p:nvSpPr>
            <p:cNvPr id="163" name="流程图: 可选过程 162">
              <a:extLst>
                <a:ext uri="{FF2B5EF4-FFF2-40B4-BE49-F238E27FC236}">
                  <a16:creationId xmlns:a16="http://schemas.microsoft.com/office/drawing/2014/main" id="{5391E56A-53B5-69AF-6652-0BCF100EA2DD}"/>
                </a:ext>
              </a:extLst>
            </p:cNvPr>
            <p:cNvSpPr/>
            <p:nvPr/>
          </p:nvSpPr>
          <p:spPr>
            <a:xfrm>
              <a:off x="8554149" y="3392612"/>
              <a:ext cx="3048001" cy="2064163"/>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弧形 163">
              <a:extLst>
                <a:ext uri="{FF2B5EF4-FFF2-40B4-BE49-F238E27FC236}">
                  <a16:creationId xmlns:a16="http://schemas.microsoft.com/office/drawing/2014/main" id="{07F92770-0E82-8477-C596-53435E9C4CC3}"/>
                </a:ext>
              </a:extLst>
            </p:cNvPr>
            <p:cNvSpPr/>
            <p:nvPr/>
          </p:nvSpPr>
          <p:spPr>
            <a:xfrm>
              <a:off x="9697840" y="3926571"/>
              <a:ext cx="914400" cy="914400"/>
            </a:xfrm>
            <a:prstGeom prst="arc">
              <a:avLst>
                <a:gd name="adj1" fmla="val 10951567"/>
                <a:gd name="adj2"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5" name="弧形 164">
              <a:extLst>
                <a:ext uri="{FF2B5EF4-FFF2-40B4-BE49-F238E27FC236}">
                  <a16:creationId xmlns:a16="http://schemas.microsoft.com/office/drawing/2014/main" id="{D5383A0A-0E6C-5018-751D-2B54E0101FC0}"/>
                </a:ext>
              </a:extLst>
            </p:cNvPr>
            <p:cNvSpPr/>
            <p:nvPr/>
          </p:nvSpPr>
          <p:spPr>
            <a:xfrm>
              <a:off x="9697840" y="3926571"/>
              <a:ext cx="914400" cy="914400"/>
            </a:xfrm>
            <a:prstGeom prst="arc">
              <a:avLst>
                <a:gd name="adj1" fmla="val 13713069"/>
                <a:gd name="adj2" fmla="val 0"/>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66" name="直接连接符 165">
              <a:extLst>
                <a:ext uri="{FF2B5EF4-FFF2-40B4-BE49-F238E27FC236}">
                  <a16:creationId xmlns:a16="http://schemas.microsoft.com/office/drawing/2014/main" id="{51109EE2-EDE3-69C9-5A2F-D715960A80AF}"/>
                </a:ext>
              </a:extLst>
            </p:cNvPr>
            <p:cNvCxnSpPr>
              <a:cxnSpLocks/>
            </p:cNvCxnSpPr>
            <p:nvPr/>
          </p:nvCxnSpPr>
          <p:spPr>
            <a:xfrm>
              <a:off x="8785236" y="4367826"/>
              <a:ext cx="265547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16D99AA4-5184-51C2-7931-80163343F4BB}"/>
                </a:ext>
              </a:extLst>
            </p:cNvPr>
            <p:cNvCxnSpPr>
              <a:cxnSpLocks/>
            </p:cNvCxnSpPr>
            <p:nvPr/>
          </p:nvCxnSpPr>
          <p:spPr>
            <a:xfrm flipV="1">
              <a:off x="10155047" y="3583287"/>
              <a:ext cx="954657" cy="76967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8" name="文本框 167">
              <a:extLst>
                <a:ext uri="{FF2B5EF4-FFF2-40B4-BE49-F238E27FC236}">
                  <a16:creationId xmlns:a16="http://schemas.microsoft.com/office/drawing/2014/main" id="{7802EF38-535B-59EF-C7D6-33C8E1246E6E}"/>
                </a:ext>
              </a:extLst>
            </p:cNvPr>
            <p:cNvSpPr txBox="1"/>
            <p:nvPr/>
          </p:nvSpPr>
          <p:spPr>
            <a:xfrm>
              <a:off x="10794378" y="3969990"/>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空气</a:t>
              </a:r>
            </a:p>
          </p:txBody>
        </p:sp>
        <p:sp>
          <p:nvSpPr>
            <p:cNvPr id="169" name="文本框 168">
              <a:extLst>
                <a:ext uri="{FF2B5EF4-FFF2-40B4-BE49-F238E27FC236}">
                  <a16:creationId xmlns:a16="http://schemas.microsoft.com/office/drawing/2014/main" id="{651535E2-B51F-FA6B-9541-D69EAE66BC39}"/>
                </a:ext>
              </a:extLst>
            </p:cNvPr>
            <p:cNvSpPr txBox="1"/>
            <p:nvPr/>
          </p:nvSpPr>
          <p:spPr>
            <a:xfrm>
              <a:off x="10786538" y="4382693"/>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介质</a:t>
              </a:r>
            </a:p>
          </p:txBody>
        </p:sp>
        <p:cxnSp>
          <p:nvCxnSpPr>
            <p:cNvPr id="170" name="直接箭头连接符 169">
              <a:extLst>
                <a:ext uri="{FF2B5EF4-FFF2-40B4-BE49-F238E27FC236}">
                  <a16:creationId xmlns:a16="http://schemas.microsoft.com/office/drawing/2014/main" id="{A5F3141C-B30B-E445-3678-40822411050E}"/>
                </a:ext>
              </a:extLst>
            </p:cNvPr>
            <p:cNvCxnSpPr>
              <a:cxnSpLocks/>
            </p:cNvCxnSpPr>
            <p:nvPr/>
          </p:nvCxnSpPr>
          <p:spPr>
            <a:xfrm flipV="1">
              <a:off x="10155047" y="4077767"/>
              <a:ext cx="340075" cy="2741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直接箭头连接符 170">
              <a:extLst>
                <a:ext uri="{FF2B5EF4-FFF2-40B4-BE49-F238E27FC236}">
                  <a16:creationId xmlns:a16="http://schemas.microsoft.com/office/drawing/2014/main" id="{98FAD0F5-685B-3D7E-D77B-7C76FFDFC84D}"/>
                </a:ext>
              </a:extLst>
            </p:cNvPr>
            <p:cNvCxnSpPr>
              <a:cxnSpLocks/>
            </p:cNvCxnSpPr>
            <p:nvPr/>
          </p:nvCxnSpPr>
          <p:spPr>
            <a:xfrm flipV="1">
              <a:off x="10155040" y="3939655"/>
              <a:ext cx="12909" cy="41229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2" name="直接箭头连接符 171">
              <a:extLst>
                <a:ext uri="{FF2B5EF4-FFF2-40B4-BE49-F238E27FC236}">
                  <a16:creationId xmlns:a16="http://schemas.microsoft.com/office/drawing/2014/main" id="{C67ABCE9-8560-629D-5C5F-2F0EB8A66C46}"/>
                </a:ext>
              </a:extLst>
            </p:cNvPr>
            <p:cNvCxnSpPr>
              <a:cxnSpLocks/>
            </p:cNvCxnSpPr>
            <p:nvPr/>
          </p:nvCxnSpPr>
          <p:spPr>
            <a:xfrm flipH="1" flipV="1">
              <a:off x="10001261" y="3960292"/>
              <a:ext cx="153779" cy="39165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直接箭头连接符 172">
              <a:extLst>
                <a:ext uri="{FF2B5EF4-FFF2-40B4-BE49-F238E27FC236}">
                  <a16:creationId xmlns:a16="http://schemas.microsoft.com/office/drawing/2014/main" id="{6981DCE3-009D-C024-D4D1-BC1CEAB6FF35}"/>
                </a:ext>
              </a:extLst>
            </p:cNvPr>
            <p:cNvCxnSpPr>
              <a:cxnSpLocks/>
              <a:endCxn id="165" idx="0"/>
            </p:cNvCxnSpPr>
            <p:nvPr/>
          </p:nvCxnSpPr>
          <p:spPr>
            <a:xfrm flipH="1" flipV="1">
              <a:off x="9852396" y="4041078"/>
              <a:ext cx="302644" cy="310868"/>
            </a:xfrm>
            <a:prstGeom prst="straightConnector1">
              <a:avLst/>
            </a:prstGeom>
            <a:ln>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直接箭头连接符 173">
              <a:extLst>
                <a:ext uri="{FF2B5EF4-FFF2-40B4-BE49-F238E27FC236}">
                  <a16:creationId xmlns:a16="http://schemas.microsoft.com/office/drawing/2014/main" id="{80EA34DC-B866-2CE2-F1B6-AE5909EEBEEE}"/>
                </a:ext>
              </a:extLst>
            </p:cNvPr>
            <p:cNvCxnSpPr>
              <a:cxnSpLocks/>
            </p:cNvCxnSpPr>
            <p:nvPr/>
          </p:nvCxnSpPr>
          <p:spPr>
            <a:xfrm flipV="1">
              <a:off x="10155040" y="4217467"/>
              <a:ext cx="416134" cy="134479"/>
            </a:xfrm>
            <a:prstGeom prst="straightConnector1">
              <a:avLst/>
            </a:prstGeom>
            <a:ln>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5" name="直接箭头连接符 174">
              <a:extLst>
                <a:ext uri="{FF2B5EF4-FFF2-40B4-BE49-F238E27FC236}">
                  <a16:creationId xmlns:a16="http://schemas.microsoft.com/office/drawing/2014/main" id="{27D500DA-F14C-25A3-AE86-A58A62D2DFB3}"/>
                </a:ext>
              </a:extLst>
            </p:cNvPr>
            <p:cNvCxnSpPr>
              <a:cxnSpLocks/>
            </p:cNvCxnSpPr>
            <p:nvPr/>
          </p:nvCxnSpPr>
          <p:spPr>
            <a:xfrm flipV="1">
              <a:off x="10155040" y="4349230"/>
              <a:ext cx="446296" cy="2716"/>
            </a:xfrm>
            <a:prstGeom prst="straightConnector1">
              <a:avLst/>
            </a:prstGeom>
            <a:ln>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直接箭头连接符 175">
              <a:extLst>
                <a:ext uri="{FF2B5EF4-FFF2-40B4-BE49-F238E27FC236}">
                  <a16:creationId xmlns:a16="http://schemas.microsoft.com/office/drawing/2014/main" id="{531AB25A-7C05-590A-7178-8BD315324015}"/>
                </a:ext>
              </a:extLst>
            </p:cNvPr>
            <p:cNvCxnSpPr>
              <a:cxnSpLocks/>
            </p:cNvCxnSpPr>
            <p:nvPr/>
          </p:nvCxnSpPr>
          <p:spPr>
            <a:xfrm flipV="1">
              <a:off x="10154831" y="3977755"/>
              <a:ext cx="197268" cy="37419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7" name="直接箭头连接符 176">
              <a:extLst>
                <a:ext uri="{FF2B5EF4-FFF2-40B4-BE49-F238E27FC236}">
                  <a16:creationId xmlns:a16="http://schemas.microsoft.com/office/drawing/2014/main" id="{99D9971E-5177-6109-B768-63EC11CADF97}"/>
                </a:ext>
              </a:extLst>
            </p:cNvPr>
            <p:cNvCxnSpPr>
              <a:cxnSpLocks/>
            </p:cNvCxnSpPr>
            <p:nvPr/>
          </p:nvCxnSpPr>
          <p:spPr>
            <a:xfrm flipH="1">
              <a:off x="9374352" y="4358748"/>
              <a:ext cx="780479" cy="629246"/>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815923BB-4CCC-687A-7D2D-378D021B2E31}"/>
                </a:ext>
              </a:extLst>
            </p:cNvPr>
            <p:cNvCxnSpPr>
              <a:cxnSpLocks/>
            </p:cNvCxnSpPr>
            <p:nvPr/>
          </p:nvCxnSpPr>
          <p:spPr>
            <a:xfrm flipH="1">
              <a:off x="9611681" y="4358748"/>
              <a:ext cx="542941" cy="311970"/>
            </a:xfrm>
            <a:prstGeom prst="straightConnector1">
              <a:avLst/>
            </a:prstGeom>
            <a:ln w="19050">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直接箭头连接符 179">
              <a:extLst>
                <a:ext uri="{FF2B5EF4-FFF2-40B4-BE49-F238E27FC236}">
                  <a16:creationId xmlns:a16="http://schemas.microsoft.com/office/drawing/2014/main" id="{053252E5-DDCE-328F-D34F-EC9790F77BCA}"/>
                </a:ext>
              </a:extLst>
            </p:cNvPr>
            <p:cNvCxnSpPr>
              <a:cxnSpLocks/>
            </p:cNvCxnSpPr>
            <p:nvPr/>
          </p:nvCxnSpPr>
          <p:spPr>
            <a:xfrm flipH="1">
              <a:off x="9585779" y="4358748"/>
              <a:ext cx="568634" cy="840010"/>
            </a:xfrm>
            <a:prstGeom prst="straightConnector1">
              <a:avLst/>
            </a:prstGeom>
            <a:ln w="19050">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接箭头连接符 181">
              <a:extLst>
                <a:ext uri="{FF2B5EF4-FFF2-40B4-BE49-F238E27FC236}">
                  <a16:creationId xmlns:a16="http://schemas.microsoft.com/office/drawing/2014/main" id="{F6E8D645-CD4B-F826-C202-B02635E1A63E}"/>
                </a:ext>
              </a:extLst>
            </p:cNvPr>
            <p:cNvCxnSpPr>
              <a:cxnSpLocks/>
            </p:cNvCxnSpPr>
            <p:nvPr/>
          </p:nvCxnSpPr>
          <p:spPr>
            <a:xfrm flipH="1">
              <a:off x="9277361" y="4358748"/>
              <a:ext cx="876425" cy="95813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文本框 183">
                  <a:extLst>
                    <a:ext uri="{FF2B5EF4-FFF2-40B4-BE49-F238E27FC236}">
                      <a16:creationId xmlns:a16="http://schemas.microsoft.com/office/drawing/2014/main" id="{09F7C40F-3327-903D-8F7E-A34416ECB9D8}"/>
                    </a:ext>
                  </a:extLst>
                </p:cNvPr>
                <p:cNvSpPr txBox="1"/>
                <p:nvPr/>
              </p:nvSpPr>
              <p:spPr>
                <a:xfrm>
                  <a:off x="10253465" y="3482926"/>
                  <a:ext cx="597920"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00B050"/>
                            </a:solidFill>
                            <a:latin typeface="Cambria Math" panose="02040503050406030204" pitchFamily="18" charset="0"/>
                          </a:rPr>
                          <m:t>𝒗𝒊𝒆𝒘</m:t>
                        </m:r>
                      </m:oMath>
                    </m:oMathPara>
                  </a14:m>
                  <a:endParaRPr lang="zh-CN" altLang="en-US" b="1" i="1" dirty="0">
                    <a:solidFill>
                      <a:srgbClr val="00B050"/>
                    </a:solidFill>
                  </a:endParaRPr>
                </a:p>
              </p:txBody>
            </p:sp>
          </mc:Choice>
          <mc:Fallback xmlns="">
            <p:sp>
              <p:nvSpPr>
                <p:cNvPr id="184" name="文本框 183">
                  <a:extLst>
                    <a:ext uri="{FF2B5EF4-FFF2-40B4-BE49-F238E27FC236}">
                      <a16:creationId xmlns:a16="http://schemas.microsoft.com/office/drawing/2014/main" id="{8F788505-1A6B-AEB7-E5C8-B0EDA2D8DD55}"/>
                    </a:ext>
                  </a:extLst>
                </p:cNvPr>
                <p:cNvSpPr txBox="1">
                  <a:spLocks noRot="1" noChangeAspect="1" noMove="1" noResize="1" noEditPoints="1" noAdjustHandles="1" noChangeArrowheads="1" noChangeShapeType="1" noTextEdit="1"/>
                </p:cNvSpPr>
                <p:nvPr/>
              </p:nvSpPr>
              <p:spPr>
                <a:xfrm>
                  <a:off x="10253465" y="3482926"/>
                  <a:ext cx="597920" cy="276999"/>
                </a:xfrm>
                <a:prstGeom prst="rect">
                  <a:avLst/>
                </a:prstGeom>
                <a:blipFill>
                  <a:blip r:embed="rId7"/>
                  <a:stretch>
                    <a:fillRect l="-8163" t="-28261" r="-28571"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5" name="文本框 184">
                  <a:extLst>
                    <a:ext uri="{FF2B5EF4-FFF2-40B4-BE49-F238E27FC236}">
                      <a16:creationId xmlns:a16="http://schemas.microsoft.com/office/drawing/2014/main" id="{C6642D9E-239A-60BD-1368-8FFA5E51C23A}"/>
                    </a:ext>
                  </a:extLst>
                </p:cNvPr>
                <p:cNvSpPr txBox="1"/>
                <p:nvPr/>
              </p:nvSpPr>
              <p:spPr>
                <a:xfrm>
                  <a:off x="10034704" y="4807854"/>
                  <a:ext cx="634789"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FFC000"/>
                            </a:solidFill>
                            <a:latin typeface="Cambria Math" panose="02040503050406030204" pitchFamily="18" charset="0"/>
                          </a:rPr>
                          <m:t>𝒍𝒊𝒈𝒉𝒕</m:t>
                        </m:r>
                      </m:oMath>
                    </m:oMathPara>
                  </a14:m>
                  <a:endParaRPr lang="zh-CN" altLang="en-US" b="1" i="1" dirty="0">
                    <a:solidFill>
                      <a:srgbClr val="FFC000"/>
                    </a:solidFill>
                  </a:endParaRPr>
                </a:p>
              </p:txBody>
            </p:sp>
          </mc:Choice>
          <mc:Fallback xmlns="">
            <p:sp>
              <p:nvSpPr>
                <p:cNvPr id="185" name="文本框 184">
                  <a:extLst>
                    <a:ext uri="{FF2B5EF4-FFF2-40B4-BE49-F238E27FC236}">
                      <a16:creationId xmlns:a16="http://schemas.microsoft.com/office/drawing/2014/main" id="{25C0AF30-20B7-ABD7-FCDE-DA3BB1F76568}"/>
                    </a:ext>
                  </a:extLst>
                </p:cNvPr>
                <p:cNvSpPr txBox="1">
                  <a:spLocks noRot="1" noChangeAspect="1" noMove="1" noResize="1" noEditPoints="1" noAdjustHandles="1" noChangeArrowheads="1" noChangeShapeType="1" noTextEdit="1"/>
                </p:cNvSpPr>
                <p:nvPr/>
              </p:nvSpPr>
              <p:spPr>
                <a:xfrm>
                  <a:off x="10034704" y="4807854"/>
                  <a:ext cx="634789" cy="276999"/>
                </a:xfrm>
                <a:prstGeom prst="rect">
                  <a:avLst/>
                </a:prstGeom>
                <a:blipFill>
                  <a:blip r:embed="rId8"/>
                  <a:stretch>
                    <a:fillRect l="-11538" t="-28261" r="-27885"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6" name="文本框 185">
                  <a:extLst>
                    <a:ext uri="{FF2B5EF4-FFF2-40B4-BE49-F238E27FC236}">
                      <a16:creationId xmlns:a16="http://schemas.microsoft.com/office/drawing/2014/main" id="{59F7A12F-F4FC-7E6F-96EF-EB1598061913}"/>
                    </a:ext>
                  </a:extLst>
                </p:cNvPr>
                <p:cNvSpPr txBox="1"/>
                <p:nvPr/>
              </p:nvSpPr>
              <p:spPr>
                <a:xfrm>
                  <a:off x="8913033" y="3654011"/>
                  <a:ext cx="711733" cy="430887"/>
                </a:xfrm>
                <a:prstGeom prst="rect">
                  <a:avLst/>
                </a:prstGeom>
                <a:noFill/>
              </p:spPr>
              <p:txBody>
                <a:bodyPr wrap="none" lIns="0" tIns="0" rIns="0" bIns="0" rtlCol="0">
                  <a:spAutoFit/>
                </a:bodyPr>
                <a:lstStyle/>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𝒗𝒊𝒔𝒊𝒃𝒍𝒆</m:t>
                        </m:r>
                      </m:oMath>
                    </m:oMathPara>
                  </a14:m>
                  <a:endParaRPr lang="en-US" altLang="zh-CN" sz="1400" b="1" i="1" dirty="0">
                    <a:solidFill>
                      <a:schemeClr val="accent6">
                        <a:lumMod val="60000"/>
                        <a:lumOff val="40000"/>
                      </a:schemeClr>
                    </a:solidFill>
                    <a:latin typeface="Cambria Math" panose="02040503050406030204" pitchFamily="18" charset="0"/>
                  </a:endParaRPr>
                </a:p>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𝒏𝒐𝒓𝒎𝒂𝒍</m:t>
                        </m:r>
                      </m:oMath>
                    </m:oMathPara>
                  </a14:m>
                  <a:endParaRPr lang="zh-CN" altLang="en-US" sz="1400" b="1" i="1" dirty="0">
                    <a:solidFill>
                      <a:schemeClr val="accent6">
                        <a:lumMod val="60000"/>
                        <a:lumOff val="40000"/>
                      </a:schemeClr>
                    </a:solidFill>
                  </a:endParaRPr>
                </a:p>
              </p:txBody>
            </p:sp>
          </mc:Choice>
          <mc:Fallback xmlns="">
            <p:sp>
              <p:nvSpPr>
                <p:cNvPr id="186" name="文本框 185">
                  <a:extLst>
                    <a:ext uri="{FF2B5EF4-FFF2-40B4-BE49-F238E27FC236}">
                      <a16:creationId xmlns:a16="http://schemas.microsoft.com/office/drawing/2014/main" id="{15EA8DD7-B55A-975F-1B59-6D53CC2ED4E2}"/>
                    </a:ext>
                  </a:extLst>
                </p:cNvPr>
                <p:cNvSpPr txBox="1">
                  <a:spLocks noRot="1" noChangeAspect="1" noMove="1" noResize="1" noEditPoints="1" noAdjustHandles="1" noChangeArrowheads="1" noChangeShapeType="1" noTextEdit="1"/>
                </p:cNvSpPr>
                <p:nvPr/>
              </p:nvSpPr>
              <p:spPr>
                <a:xfrm>
                  <a:off x="8913033" y="3654011"/>
                  <a:ext cx="711733" cy="430887"/>
                </a:xfrm>
                <a:prstGeom prst="rect">
                  <a:avLst/>
                </a:prstGeom>
                <a:blipFill>
                  <a:blip r:embed="rId4"/>
                  <a:stretch>
                    <a:fillRect l="-5128" t="-14085" r="-17949" b="-23944"/>
                  </a:stretch>
                </a:blipFill>
              </p:spPr>
              <p:txBody>
                <a:bodyPr/>
                <a:lstStyle/>
                <a:p>
                  <a:r>
                    <a:rPr lang="zh-CN" altLang="en-US">
                      <a:noFill/>
                    </a:rPr>
                    <a:t> </a:t>
                  </a:r>
                </a:p>
              </p:txBody>
            </p:sp>
          </mc:Fallback>
        </mc:AlternateContent>
        <p:cxnSp>
          <p:nvCxnSpPr>
            <p:cNvPr id="187" name="直接箭头连接符 186">
              <a:extLst>
                <a:ext uri="{FF2B5EF4-FFF2-40B4-BE49-F238E27FC236}">
                  <a16:creationId xmlns:a16="http://schemas.microsoft.com/office/drawing/2014/main" id="{87A40750-D279-8CF0-58B1-333A3135518E}"/>
                </a:ext>
              </a:extLst>
            </p:cNvPr>
            <p:cNvCxnSpPr>
              <a:cxnSpLocks/>
            </p:cNvCxnSpPr>
            <p:nvPr/>
          </p:nvCxnSpPr>
          <p:spPr>
            <a:xfrm flipH="1">
              <a:off x="9652753" y="4358748"/>
              <a:ext cx="504683" cy="868655"/>
            </a:xfrm>
            <a:prstGeom prst="straightConnector1">
              <a:avLst/>
            </a:prstGeom>
            <a:ln w="19050">
              <a:solidFill>
                <a:srgbClr val="62021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8" name="直接箭头连接符 187">
              <a:extLst>
                <a:ext uri="{FF2B5EF4-FFF2-40B4-BE49-F238E27FC236}">
                  <a16:creationId xmlns:a16="http://schemas.microsoft.com/office/drawing/2014/main" id="{72966DAE-0905-CD2B-1D9E-C0D7EA090F28}"/>
                </a:ext>
              </a:extLst>
            </p:cNvPr>
            <p:cNvCxnSpPr>
              <a:cxnSpLocks/>
            </p:cNvCxnSpPr>
            <p:nvPr/>
          </p:nvCxnSpPr>
          <p:spPr>
            <a:xfrm flipH="1">
              <a:off x="9595964" y="4357734"/>
              <a:ext cx="558867" cy="264392"/>
            </a:xfrm>
            <a:prstGeom prst="straightConnector1">
              <a:avLst/>
            </a:prstGeom>
            <a:ln w="19050">
              <a:solidFill>
                <a:schemeClr val="accent6">
                  <a:lumMod val="20000"/>
                  <a:lumOff val="8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89" name="直接箭头连接符 188">
              <a:extLst>
                <a:ext uri="{FF2B5EF4-FFF2-40B4-BE49-F238E27FC236}">
                  <a16:creationId xmlns:a16="http://schemas.microsoft.com/office/drawing/2014/main" id="{DB4760AB-4EFD-F818-AEB3-A9E0D484F469}"/>
                </a:ext>
              </a:extLst>
            </p:cNvPr>
            <p:cNvCxnSpPr>
              <a:cxnSpLocks/>
            </p:cNvCxnSpPr>
            <p:nvPr/>
          </p:nvCxnSpPr>
          <p:spPr>
            <a:xfrm flipH="1">
              <a:off x="9326905" y="4358748"/>
              <a:ext cx="827926" cy="987717"/>
            </a:xfrm>
            <a:prstGeom prst="straightConnector1">
              <a:avLst/>
            </a:prstGeom>
            <a:ln w="19050">
              <a:solidFill>
                <a:schemeClr val="accent6">
                  <a:lumMod val="7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grpSp>
      <p:grpSp>
        <p:nvGrpSpPr>
          <p:cNvPr id="191" name="组合 190">
            <a:extLst>
              <a:ext uri="{FF2B5EF4-FFF2-40B4-BE49-F238E27FC236}">
                <a16:creationId xmlns:a16="http://schemas.microsoft.com/office/drawing/2014/main" id="{B456E0BE-B0E0-EAC2-6D28-896E27A9DDAE}"/>
              </a:ext>
            </a:extLst>
          </p:cNvPr>
          <p:cNvGrpSpPr/>
          <p:nvPr/>
        </p:nvGrpSpPr>
        <p:grpSpPr>
          <a:xfrm>
            <a:off x="8514291" y="4166864"/>
            <a:ext cx="3048001" cy="2064163"/>
            <a:chOff x="8554149" y="3392612"/>
            <a:chExt cx="3048001" cy="2064163"/>
          </a:xfrm>
        </p:grpSpPr>
        <p:sp>
          <p:nvSpPr>
            <p:cNvPr id="192" name="流程图: 可选过程 191">
              <a:extLst>
                <a:ext uri="{FF2B5EF4-FFF2-40B4-BE49-F238E27FC236}">
                  <a16:creationId xmlns:a16="http://schemas.microsoft.com/office/drawing/2014/main" id="{6B7C5219-B0D8-E112-D95F-0EE062F06ECB}"/>
                </a:ext>
              </a:extLst>
            </p:cNvPr>
            <p:cNvSpPr/>
            <p:nvPr/>
          </p:nvSpPr>
          <p:spPr>
            <a:xfrm>
              <a:off x="8554149" y="3392612"/>
              <a:ext cx="3048001" cy="2064163"/>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弧形 192">
              <a:extLst>
                <a:ext uri="{FF2B5EF4-FFF2-40B4-BE49-F238E27FC236}">
                  <a16:creationId xmlns:a16="http://schemas.microsoft.com/office/drawing/2014/main" id="{AE46E4C2-2192-BFC1-B920-D353908FB43E}"/>
                </a:ext>
              </a:extLst>
            </p:cNvPr>
            <p:cNvSpPr/>
            <p:nvPr/>
          </p:nvSpPr>
          <p:spPr>
            <a:xfrm>
              <a:off x="9697840" y="3926571"/>
              <a:ext cx="914400" cy="914400"/>
            </a:xfrm>
            <a:prstGeom prst="arc">
              <a:avLst>
                <a:gd name="adj1" fmla="val 10951567"/>
                <a:gd name="adj2"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4" name="弧形 193">
              <a:extLst>
                <a:ext uri="{FF2B5EF4-FFF2-40B4-BE49-F238E27FC236}">
                  <a16:creationId xmlns:a16="http://schemas.microsoft.com/office/drawing/2014/main" id="{0B38FD47-680F-87C8-744B-192F53124D5A}"/>
                </a:ext>
              </a:extLst>
            </p:cNvPr>
            <p:cNvSpPr/>
            <p:nvPr/>
          </p:nvSpPr>
          <p:spPr>
            <a:xfrm>
              <a:off x="9697840" y="3926571"/>
              <a:ext cx="914400" cy="914400"/>
            </a:xfrm>
            <a:prstGeom prst="arc">
              <a:avLst>
                <a:gd name="adj1" fmla="val 13713069"/>
                <a:gd name="adj2" fmla="val 0"/>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195" name="直接连接符 194">
              <a:extLst>
                <a:ext uri="{FF2B5EF4-FFF2-40B4-BE49-F238E27FC236}">
                  <a16:creationId xmlns:a16="http://schemas.microsoft.com/office/drawing/2014/main" id="{EF35EF97-E589-7AFF-3A2B-52685E1E42F8}"/>
                </a:ext>
              </a:extLst>
            </p:cNvPr>
            <p:cNvCxnSpPr>
              <a:cxnSpLocks/>
            </p:cNvCxnSpPr>
            <p:nvPr/>
          </p:nvCxnSpPr>
          <p:spPr>
            <a:xfrm>
              <a:off x="8785236" y="4367826"/>
              <a:ext cx="265547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6" name="直接箭头连接符 195">
              <a:extLst>
                <a:ext uri="{FF2B5EF4-FFF2-40B4-BE49-F238E27FC236}">
                  <a16:creationId xmlns:a16="http://schemas.microsoft.com/office/drawing/2014/main" id="{4C93C722-A82B-0467-7034-5E7E705FC2C3}"/>
                </a:ext>
              </a:extLst>
            </p:cNvPr>
            <p:cNvCxnSpPr>
              <a:cxnSpLocks/>
            </p:cNvCxnSpPr>
            <p:nvPr/>
          </p:nvCxnSpPr>
          <p:spPr>
            <a:xfrm flipV="1">
              <a:off x="10155047" y="3583287"/>
              <a:ext cx="954657" cy="76967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7" name="文本框 196">
              <a:extLst>
                <a:ext uri="{FF2B5EF4-FFF2-40B4-BE49-F238E27FC236}">
                  <a16:creationId xmlns:a16="http://schemas.microsoft.com/office/drawing/2014/main" id="{976E2119-F0D8-D50D-A8E2-1664FDF74AA8}"/>
                </a:ext>
              </a:extLst>
            </p:cNvPr>
            <p:cNvSpPr txBox="1"/>
            <p:nvPr/>
          </p:nvSpPr>
          <p:spPr>
            <a:xfrm>
              <a:off x="10794378" y="3969990"/>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空气</a:t>
              </a:r>
            </a:p>
          </p:txBody>
        </p:sp>
        <p:sp>
          <p:nvSpPr>
            <p:cNvPr id="198" name="文本框 197">
              <a:extLst>
                <a:ext uri="{FF2B5EF4-FFF2-40B4-BE49-F238E27FC236}">
                  <a16:creationId xmlns:a16="http://schemas.microsoft.com/office/drawing/2014/main" id="{1CA62EA7-BF55-C282-B93D-88DEB3C8B568}"/>
                </a:ext>
              </a:extLst>
            </p:cNvPr>
            <p:cNvSpPr txBox="1"/>
            <p:nvPr/>
          </p:nvSpPr>
          <p:spPr>
            <a:xfrm>
              <a:off x="10786538" y="4382693"/>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介质</a:t>
              </a:r>
            </a:p>
          </p:txBody>
        </p:sp>
        <p:cxnSp>
          <p:nvCxnSpPr>
            <p:cNvPr id="199" name="直接箭头连接符 198">
              <a:extLst>
                <a:ext uri="{FF2B5EF4-FFF2-40B4-BE49-F238E27FC236}">
                  <a16:creationId xmlns:a16="http://schemas.microsoft.com/office/drawing/2014/main" id="{0A0E85A7-DB3A-859C-CCB6-67A945D17F8B}"/>
                </a:ext>
              </a:extLst>
            </p:cNvPr>
            <p:cNvCxnSpPr>
              <a:cxnSpLocks/>
            </p:cNvCxnSpPr>
            <p:nvPr/>
          </p:nvCxnSpPr>
          <p:spPr>
            <a:xfrm flipV="1">
              <a:off x="10155047" y="4077767"/>
              <a:ext cx="340075" cy="2741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0" name="直接箭头连接符 199">
              <a:extLst>
                <a:ext uri="{FF2B5EF4-FFF2-40B4-BE49-F238E27FC236}">
                  <a16:creationId xmlns:a16="http://schemas.microsoft.com/office/drawing/2014/main" id="{C287FC4E-42F4-3564-16EC-4C477F8F0A60}"/>
                </a:ext>
              </a:extLst>
            </p:cNvPr>
            <p:cNvCxnSpPr>
              <a:cxnSpLocks/>
            </p:cNvCxnSpPr>
            <p:nvPr/>
          </p:nvCxnSpPr>
          <p:spPr>
            <a:xfrm flipV="1">
              <a:off x="10155040" y="3939655"/>
              <a:ext cx="12909" cy="41229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93CC113D-471D-C4BA-6ABD-A307A2479A5A}"/>
                </a:ext>
              </a:extLst>
            </p:cNvPr>
            <p:cNvCxnSpPr>
              <a:cxnSpLocks/>
            </p:cNvCxnSpPr>
            <p:nvPr/>
          </p:nvCxnSpPr>
          <p:spPr>
            <a:xfrm flipH="1" flipV="1">
              <a:off x="10001261" y="3960292"/>
              <a:ext cx="153779" cy="39165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直接箭头连接符 201">
              <a:extLst>
                <a:ext uri="{FF2B5EF4-FFF2-40B4-BE49-F238E27FC236}">
                  <a16:creationId xmlns:a16="http://schemas.microsoft.com/office/drawing/2014/main" id="{814426AA-9AD3-B703-0D57-8AE598156EAB}"/>
                </a:ext>
              </a:extLst>
            </p:cNvPr>
            <p:cNvCxnSpPr>
              <a:cxnSpLocks/>
              <a:endCxn id="194" idx="0"/>
            </p:cNvCxnSpPr>
            <p:nvPr/>
          </p:nvCxnSpPr>
          <p:spPr>
            <a:xfrm flipH="1" flipV="1">
              <a:off x="9852396" y="4041078"/>
              <a:ext cx="302644" cy="310868"/>
            </a:xfrm>
            <a:prstGeom prst="straightConnector1">
              <a:avLst/>
            </a:prstGeom>
            <a:ln>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203" name="直接箭头连接符 202">
              <a:extLst>
                <a:ext uri="{FF2B5EF4-FFF2-40B4-BE49-F238E27FC236}">
                  <a16:creationId xmlns:a16="http://schemas.microsoft.com/office/drawing/2014/main" id="{2D95D8A0-5677-33B2-9207-D3D6D160340D}"/>
                </a:ext>
              </a:extLst>
            </p:cNvPr>
            <p:cNvCxnSpPr>
              <a:cxnSpLocks/>
            </p:cNvCxnSpPr>
            <p:nvPr/>
          </p:nvCxnSpPr>
          <p:spPr>
            <a:xfrm flipV="1">
              <a:off x="10155040" y="4217467"/>
              <a:ext cx="416134" cy="134479"/>
            </a:xfrm>
            <a:prstGeom prst="straightConnector1">
              <a:avLst/>
            </a:prstGeom>
            <a:ln>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17A4D1D8-F345-4B3D-2286-8E1A32AB96A1}"/>
                </a:ext>
              </a:extLst>
            </p:cNvPr>
            <p:cNvCxnSpPr>
              <a:cxnSpLocks/>
            </p:cNvCxnSpPr>
            <p:nvPr/>
          </p:nvCxnSpPr>
          <p:spPr>
            <a:xfrm flipV="1">
              <a:off x="10155040" y="4349230"/>
              <a:ext cx="446296" cy="2716"/>
            </a:xfrm>
            <a:prstGeom prst="straightConnector1">
              <a:avLst/>
            </a:prstGeom>
            <a:ln>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8211E788-C6D9-6D8D-006C-4AE6D80AFDF7}"/>
                </a:ext>
              </a:extLst>
            </p:cNvPr>
            <p:cNvCxnSpPr>
              <a:cxnSpLocks/>
            </p:cNvCxnSpPr>
            <p:nvPr/>
          </p:nvCxnSpPr>
          <p:spPr>
            <a:xfrm flipV="1">
              <a:off x="10154831" y="3977755"/>
              <a:ext cx="197268" cy="37419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CD20C27A-EFFE-9CE7-F73D-8C2969EA1FDA}"/>
                </a:ext>
              </a:extLst>
            </p:cNvPr>
            <p:cNvCxnSpPr>
              <a:cxnSpLocks/>
            </p:cNvCxnSpPr>
            <p:nvPr/>
          </p:nvCxnSpPr>
          <p:spPr>
            <a:xfrm flipH="1">
              <a:off x="9374352" y="4358748"/>
              <a:ext cx="780479" cy="629246"/>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07" name="直接箭头连接符 206">
              <a:extLst>
                <a:ext uri="{FF2B5EF4-FFF2-40B4-BE49-F238E27FC236}">
                  <a16:creationId xmlns:a16="http://schemas.microsoft.com/office/drawing/2014/main" id="{8B725CE6-A164-AE8D-35BA-3C36D7662DA1}"/>
                </a:ext>
              </a:extLst>
            </p:cNvPr>
            <p:cNvCxnSpPr>
              <a:cxnSpLocks/>
            </p:cNvCxnSpPr>
            <p:nvPr/>
          </p:nvCxnSpPr>
          <p:spPr>
            <a:xfrm flipH="1">
              <a:off x="9611681" y="4358748"/>
              <a:ext cx="542941" cy="311970"/>
            </a:xfrm>
            <a:prstGeom prst="straightConnector1">
              <a:avLst/>
            </a:prstGeom>
            <a:ln w="19050">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207">
              <a:extLst>
                <a:ext uri="{FF2B5EF4-FFF2-40B4-BE49-F238E27FC236}">
                  <a16:creationId xmlns:a16="http://schemas.microsoft.com/office/drawing/2014/main" id="{ACBC0D7B-E0A3-F5F9-0E1E-E6D5CED88BD0}"/>
                </a:ext>
              </a:extLst>
            </p:cNvPr>
            <p:cNvCxnSpPr>
              <a:cxnSpLocks/>
            </p:cNvCxnSpPr>
            <p:nvPr/>
          </p:nvCxnSpPr>
          <p:spPr>
            <a:xfrm flipH="1">
              <a:off x="9585779" y="4358748"/>
              <a:ext cx="568634" cy="840010"/>
            </a:xfrm>
            <a:prstGeom prst="straightConnector1">
              <a:avLst/>
            </a:prstGeom>
            <a:ln w="19050">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209" name="直接箭头连接符 208">
              <a:extLst>
                <a:ext uri="{FF2B5EF4-FFF2-40B4-BE49-F238E27FC236}">
                  <a16:creationId xmlns:a16="http://schemas.microsoft.com/office/drawing/2014/main" id="{8255FA1C-F74C-B067-BB03-D95633073E8D}"/>
                </a:ext>
              </a:extLst>
            </p:cNvPr>
            <p:cNvCxnSpPr>
              <a:cxnSpLocks/>
            </p:cNvCxnSpPr>
            <p:nvPr/>
          </p:nvCxnSpPr>
          <p:spPr>
            <a:xfrm flipH="1">
              <a:off x="9277361" y="4358748"/>
              <a:ext cx="876425" cy="958131"/>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0" name="文本框 209">
                  <a:extLst>
                    <a:ext uri="{FF2B5EF4-FFF2-40B4-BE49-F238E27FC236}">
                      <a16:creationId xmlns:a16="http://schemas.microsoft.com/office/drawing/2014/main" id="{AAE78A2A-32FA-8C22-FC94-B8A316DFE962}"/>
                    </a:ext>
                  </a:extLst>
                </p:cNvPr>
                <p:cNvSpPr txBox="1"/>
                <p:nvPr/>
              </p:nvSpPr>
              <p:spPr>
                <a:xfrm>
                  <a:off x="10253465" y="3482926"/>
                  <a:ext cx="597920"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00B050"/>
                            </a:solidFill>
                            <a:latin typeface="Cambria Math" panose="02040503050406030204" pitchFamily="18" charset="0"/>
                          </a:rPr>
                          <m:t>𝒗𝒊𝒆𝒘</m:t>
                        </m:r>
                      </m:oMath>
                    </m:oMathPara>
                  </a14:m>
                  <a:endParaRPr lang="zh-CN" altLang="en-US" b="1" i="1" dirty="0">
                    <a:solidFill>
                      <a:srgbClr val="00B050"/>
                    </a:solidFill>
                  </a:endParaRPr>
                </a:p>
              </p:txBody>
            </p:sp>
          </mc:Choice>
          <mc:Fallback xmlns="">
            <p:sp>
              <p:nvSpPr>
                <p:cNvPr id="210" name="文本框 209">
                  <a:extLst>
                    <a:ext uri="{FF2B5EF4-FFF2-40B4-BE49-F238E27FC236}">
                      <a16:creationId xmlns:a16="http://schemas.microsoft.com/office/drawing/2014/main" id="{B8848B64-6C08-43C0-78D0-53D514D11FFA}"/>
                    </a:ext>
                  </a:extLst>
                </p:cNvPr>
                <p:cNvSpPr txBox="1">
                  <a:spLocks noRot="1" noChangeAspect="1" noMove="1" noResize="1" noEditPoints="1" noAdjustHandles="1" noChangeArrowheads="1" noChangeShapeType="1" noTextEdit="1"/>
                </p:cNvSpPr>
                <p:nvPr/>
              </p:nvSpPr>
              <p:spPr>
                <a:xfrm>
                  <a:off x="10253465" y="3482926"/>
                  <a:ext cx="597920" cy="276999"/>
                </a:xfrm>
                <a:prstGeom prst="rect">
                  <a:avLst/>
                </a:prstGeom>
                <a:blipFill>
                  <a:blip r:embed="rId9"/>
                  <a:stretch>
                    <a:fillRect l="-8081" t="-28261" r="-28283"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1" name="文本框 210">
                  <a:extLst>
                    <a:ext uri="{FF2B5EF4-FFF2-40B4-BE49-F238E27FC236}">
                      <a16:creationId xmlns:a16="http://schemas.microsoft.com/office/drawing/2014/main" id="{63CFEB63-2174-A8A4-BD1E-16D86EC670F6}"/>
                    </a:ext>
                  </a:extLst>
                </p:cNvPr>
                <p:cNvSpPr txBox="1"/>
                <p:nvPr/>
              </p:nvSpPr>
              <p:spPr>
                <a:xfrm>
                  <a:off x="10034704" y="4807854"/>
                  <a:ext cx="634789"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FFC000"/>
                            </a:solidFill>
                            <a:latin typeface="Cambria Math" panose="02040503050406030204" pitchFamily="18" charset="0"/>
                          </a:rPr>
                          <m:t>𝒍𝒊𝒈𝒉𝒕</m:t>
                        </m:r>
                      </m:oMath>
                    </m:oMathPara>
                  </a14:m>
                  <a:endParaRPr lang="zh-CN" altLang="en-US" b="1" i="1" dirty="0">
                    <a:solidFill>
                      <a:srgbClr val="FFC000"/>
                    </a:solidFill>
                  </a:endParaRPr>
                </a:p>
              </p:txBody>
            </p:sp>
          </mc:Choice>
          <mc:Fallback xmlns="">
            <p:sp>
              <p:nvSpPr>
                <p:cNvPr id="211" name="文本框 210">
                  <a:extLst>
                    <a:ext uri="{FF2B5EF4-FFF2-40B4-BE49-F238E27FC236}">
                      <a16:creationId xmlns:a16="http://schemas.microsoft.com/office/drawing/2014/main" id="{990774D3-52E6-7370-652D-29301369EF91}"/>
                    </a:ext>
                  </a:extLst>
                </p:cNvPr>
                <p:cNvSpPr txBox="1">
                  <a:spLocks noRot="1" noChangeAspect="1" noMove="1" noResize="1" noEditPoints="1" noAdjustHandles="1" noChangeArrowheads="1" noChangeShapeType="1" noTextEdit="1"/>
                </p:cNvSpPr>
                <p:nvPr/>
              </p:nvSpPr>
              <p:spPr>
                <a:xfrm>
                  <a:off x="10034704" y="4807854"/>
                  <a:ext cx="634789" cy="276999"/>
                </a:xfrm>
                <a:prstGeom prst="rect">
                  <a:avLst/>
                </a:prstGeom>
                <a:blipFill>
                  <a:blip r:embed="rId10"/>
                  <a:stretch>
                    <a:fillRect l="-11538" t="-28889" r="-26923" b="-5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2" name="文本框 211">
                  <a:extLst>
                    <a:ext uri="{FF2B5EF4-FFF2-40B4-BE49-F238E27FC236}">
                      <a16:creationId xmlns:a16="http://schemas.microsoft.com/office/drawing/2014/main" id="{1CC04BD4-8227-DD51-1BB3-1E9411292F9D}"/>
                    </a:ext>
                  </a:extLst>
                </p:cNvPr>
                <p:cNvSpPr txBox="1"/>
                <p:nvPr/>
              </p:nvSpPr>
              <p:spPr>
                <a:xfrm>
                  <a:off x="8913033" y="3654011"/>
                  <a:ext cx="711733" cy="430887"/>
                </a:xfrm>
                <a:prstGeom prst="rect">
                  <a:avLst/>
                </a:prstGeom>
                <a:noFill/>
              </p:spPr>
              <p:txBody>
                <a:bodyPr wrap="none" lIns="0" tIns="0" rIns="0" bIns="0" rtlCol="0">
                  <a:spAutoFit/>
                </a:bodyPr>
                <a:lstStyle/>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𝒗𝒊𝒔𝒊𝒃𝒍𝒆</m:t>
                        </m:r>
                      </m:oMath>
                    </m:oMathPara>
                  </a14:m>
                  <a:endParaRPr lang="en-US" altLang="zh-CN" sz="1400" b="1" i="1" dirty="0">
                    <a:solidFill>
                      <a:schemeClr val="accent6">
                        <a:lumMod val="60000"/>
                        <a:lumOff val="40000"/>
                      </a:schemeClr>
                    </a:solidFill>
                    <a:latin typeface="Cambria Math" panose="02040503050406030204" pitchFamily="18" charset="0"/>
                  </a:endParaRPr>
                </a:p>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𝒏𝒐𝒓𝒎𝒂𝒍</m:t>
                        </m:r>
                      </m:oMath>
                    </m:oMathPara>
                  </a14:m>
                  <a:endParaRPr lang="zh-CN" altLang="en-US" sz="1400" b="1" i="1" dirty="0">
                    <a:solidFill>
                      <a:schemeClr val="accent6">
                        <a:lumMod val="60000"/>
                        <a:lumOff val="40000"/>
                      </a:schemeClr>
                    </a:solidFill>
                  </a:endParaRPr>
                </a:p>
              </p:txBody>
            </p:sp>
          </mc:Choice>
          <mc:Fallback xmlns="">
            <p:sp>
              <p:nvSpPr>
                <p:cNvPr id="212" name="文本框 211">
                  <a:extLst>
                    <a:ext uri="{FF2B5EF4-FFF2-40B4-BE49-F238E27FC236}">
                      <a16:creationId xmlns:a16="http://schemas.microsoft.com/office/drawing/2014/main" id="{DA53F3CB-B3B6-D8DF-F7BE-FC84BF40068C}"/>
                    </a:ext>
                  </a:extLst>
                </p:cNvPr>
                <p:cNvSpPr txBox="1">
                  <a:spLocks noRot="1" noChangeAspect="1" noMove="1" noResize="1" noEditPoints="1" noAdjustHandles="1" noChangeArrowheads="1" noChangeShapeType="1" noTextEdit="1"/>
                </p:cNvSpPr>
                <p:nvPr/>
              </p:nvSpPr>
              <p:spPr>
                <a:xfrm>
                  <a:off x="8913033" y="3654011"/>
                  <a:ext cx="711733" cy="430887"/>
                </a:xfrm>
                <a:prstGeom prst="rect">
                  <a:avLst/>
                </a:prstGeom>
                <a:blipFill>
                  <a:blip r:embed="rId4"/>
                  <a:stretch>
                    <a:fillRect l="-5172" t="-14085" r="-18966" b="-23944"/>
                  </a:stretch>
                </a:blipFill>
              </p:spPr>
              <p:txBody>
                <a:bodyPr/>
                <a:lstStyle/>
                <a:p>
                  <a:r>
                    <a:rPr lang="zh-CN" altLang="en-US">
                      <a:noFill/>
                    </a:rPr>
                    <a:t> </a:t>
                  </a:r>
                </a:p>
              </p:txBody>
            </p:sp>
          </mc:Fallback>
        </mc:AlternateContent>
        <p:cxnSp>
          <p:nvCxnSpPr>
            <p:cNvPr id="213" name="直接箭头连接符 212">
              <a:extLst>
                <a:ext uri="{FF2B5EF4-FFF2-40B4-BE49-F238E27FC236}">
                  <a16:creationId xmlns:a16="http://schemas.microsoft.com/office/drawing/2014/main" id="{B44E0786-916C-1E4D-E258-E9BECF30A708}"/>
                </a:ext>
              </a:extLst>
            </p:cNvPr>
            <p:cNvCxnSpPr>
              <a:cxnSpLocks/>
            </p:cNvCxnSpPr>
            <p:nvPr/>
          </p:nvCxnSpPr>
          <p:spPr>
            <a:xfrm flipH="1">
              <a:off x="9544221" y="4358748"/>
              <a:ext cx="613215" cy="808483"/>
            </a:xfrm>
            <a:prstGeom prst="straightConnector1">
              <a:avLst/>
            </a:prstGeom>
            <a:ln w="19050">
              <a:solidFill>
                <a:srgbClr val="62021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4" name="直接箭头连接符 213">
              <a:extLst>
                <a:ext uri="{FF2B5EF4-FFF2-40B4-BE49-F238E27FC236}">
                  <a16:creationId xmlns:a16="http://schemas.microsoft.com/office/drawing/2014/main" id="{1E54A40F-7C2C-5856-EB41-2C7DB1164F5F}"/>
                </a:ext>
              </a:extLst>
            </p:cNvPr>
            <p:cNvCxnSpPr>
              <a:cxnSpLocks/>
            </p:cNvCxnSpPr>
            <p:nvPr/>
          </p:nvCxnSpPr>
          <p:spPr>
            <a:xfrm flipH="1">
              <a:off x="9639471" y="4357734"/>
              <a:ext cx="515360" cy="358647"/>
            </a:xfrm>
            <a:prstGeom prst="straightConnector1">
              <a:avLst/>
            </a:prstGeom>
            <a:ln w="19050">
              <a:solidFill>
                <a:schemeClr val="accent6">
                  <a:lumMod val="20000"/>
                  <a:lumOff val="8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5" name="直接箭头连接符 214">
              <a:extLst>
                <a:ext uri="{FF2B5EF4-FFF2-40B4-BE49-F238E27FC236}">
                  <a16:creationId xmlns:a16="http://schemas.microsoft.com/office/drawing/2014/main" id="{6BFA04E5-0537-5C73-44FE-23B0EDDEC42B}"/>
                </a:ext>
              </a:extLst>
            </p:cNvPr>
            <p:cNvCxnSpPr>
              <a:cxnSpLocks/>
            </p:cNvCxnSpPr>
            <p:nvPr/>
          </p:nvCxnSpPr>
          <p:spPr>
            <a:xfrm flipH="1">
              <a:off x="9233071" y="4358748"/>
              <a:ext cx="921760" cy="911671"/>
            </a:xfrm>
            <a:prstGeom prst="straightConnector1">
              <a:avLst/>
            </a:prstGeom>
            <a:ln w="19050">
              <a:solidFill>
                <a:schemeClr val="accent6">
                  <a:lumMod val="7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9" name="文本框 218">
            <a:extLst>
              <a:ext uri="{FF2B5EF4-FFF2-40B4-BE49-F238E27FC236}">
                <a16:creationId xmlns:a16="http://schemas.microsoft.com/office/drawing/2014/main" id="{954DB82E-6FAE-D295-B5E4-47953B58BDA6}"/>
              </a:ext>
            </a:extLst>
          </p:cNvPr>
          <p:cNvSpPr txBox="1"/>
          <p:nvPr/>
        </p:nvSpPr>
        <p:spPr>
          <a:xfrm>
            <a:off x="5637727" y="2971800"/>
            <a:ext cx="65" cy="276999"/>
          </a:xfrm>
          <a:prstGeom prst="rect">
            <a:avLst/>
          </a:prstGeom>
          <a:noFill/>
        </p:spPr>
        <p:txBody>
          <a:bodyPr wrap="none" lIns="0" tIns="0" rIns="0" bIns="0" rtlCol="0">
            <a:spAutoFit/>
          </a:bodyPr>
          <a:lstStyle/>
          <a:p>
            <a:endParaRPr lang="zh-CN" altLang="en-US" dirty="0"/>
          </a:p>
        </p:txBody>
      </p:sp>
      <p:sp>
        <p:nvSpPr>
          <p:cNvPr id="221" name="文本框 220">
            <a:extLst>
              <a:ext uri="{FF2B5EF4-FFF2-40B4-BE49-F238E27FC236}">
                <a16:creationId xmlns:a16="http://schemas.microsoft.com/office/drawing/2014/main" id="{DE2CFC69-7253-5DE6-C4D5-7A6E2BADEB76}"/>
              </a:ext>
            </a:extLst>
          </p:cNvPr>
          <p:cNvSpPr txBox="1"/>
          <p:nvPr/>
        </p:nvSpPr>
        <p:spPr>
          <a:xfrm>
            <a:off x="4692650" y="6235646"/>
            <a:ext cx="3076575" cy="338554"/>
          </a:xfrm>
          <a:prstGeom prst="rect">
            <a:avLst/>
          </a:prstGeom>
          <a:noFill/>
        </p:spPr>
        <p:txBody>
          <a:bodyPr wrap="square">
            <a:spAutoFit/>
          </a:bodyPr>
          <a:lstStyle/>
          <a:p>
            <a:pPr algn="ctr"/>
            <a:r>
              <a:rPr lang="zh-CN" altLang="en-US" sz="1600" dirty="0">
                <a:latin typeface="Noto Sans SC" panose="020B0200000000000000" pitchFamily="34" charset="-122"/>
                <a:ea typeface="Noto Sans SC" panose="020B0200000000000000" pitchFamily="34" charset="-122"/>
              </a:rPr>
              <a:t>更大的折射率</a:t>
            </a:r>
            <a:endParaRPr lang="zh-CN" altLang="en-US" sz="1400" dirty="0"/>
          </a:p>
        </p:txBody>
      </p:sp>
      <p:sp>
        <p:nvSpPr>
          <p:cNvPr id="223" name="文本框 222">
            <a:extLst>
              <a:ext uri="{FF2B5EF4-FFF2-40B4-BE49-F238E27FC236}">
                <a16:creationId xmlns:a16="http://schemas.microsoft.com/office/drawing/2014/main" id="{D61A92DD-80DB-8F2D-ED4D-A88094DED810}"/>
              </a:ext>
            </a:extLst>
          </p:cNvPr>
          <p:cNvSpPr txBox="1"/>
          <p:nvPr/>
        </p:nvSpPr>
        <p:spPr>
          <a:xfrm>
            <a:off x="8518525" y="6235646"/>
            <a:ext cx="3076575" cy="338554"/>
          </a:xfrm>
          <a:prstGeom prst="rect">
            <a:avLst/>
          </a:prstGeom>
          <a:noFill/>
        </p:spPr>
        <p:txBody>
          <a:bodyPr wrap="square">
            <a:spAutoFit/>
          </a:bodyPr>
          <a:lstStyle/>
          <a:p>
            <a:pPr algn="ctr"/>
            <a:r>
              <a:rPr lang="zh-CN" altLang="en-US" sz="1600" dirty="0">
                <a:latin typeface="Noto Sans SC" panose="020B0200000000000000" pitchFamily="34" charset="-122"/>
                <a:ea typeface="Noto Sans SC" panose="020B0200000000000000" pitchFamily="34" charset="-122"/>
              </a:rPr>
              <a:t>更小的折射率</a:t>
            </a:r>
            <a:endParaRPr lang="zh-CN" altLang="en-US" sz="1400" dirty="0"/>
          </a:p>
        </p:txBody>
      </p:sp>
    </p:spTree>
    <p:extLst>
      <p:ext uri="{BB962C8B-B14F-4D97-AF65-F5344CB8AC3E}">
        <p14:creationId xmlns:p14="http://schemas.microsoft.com/office/powerpoint/2010/main" val="4180040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E862-E795-0F8B-36F2-E808116CB5A5}"/>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7F478C83-9FAE-3730-D6D2-90048316AE67}"/>
              </a:ext>
            </a:extLst>
          </p:cNvPr>
          <p:cNvPicPr>
            <a:picLocks noChangeAspect="1"/>
          </p:cNvPicPr>
          <p:nvPr/>
        </p:nvPicPr>
        <p:blipFill>
          <a:blip r:embed="rId2"/>
          <a:stretch>
            <a:fillRect/>
          </a:stretch>
        </p:blipFill>
        <p:spPr>
          <a:xfrm>
            <a:off x="8462730" y="0"/>
            <a:ext cx="3729270" cy="2503939"/>
          </a:xfrm>
          <a:prstGeom prst="rect">
            <a:avLst/>
          </a:prstGeom>
        </p:spPr>
      </p:pic>
      <p:sp>
        <p:nvSpPr>
          <p:cNvPr id="5" name="标题 4">
            <a:extLst>
              <a:ext uri="{FF2B5EF4-FFF2-40B4-BE49-F238E27FC236}">
                <a16:creationId xmlns:a16="http://schemas.microsoft.com/office/drawing/2014/main" id="{754BEAA5-3471-FA73-B206-C2710B573E53}"/>
              </a:ext>
            </a:extLst>
          </p:cNvPr>
          <p:cNvSpPr>
            <a:spLocks noGrp="1"/>
          </p:cNvSpPr>
          <p:nvPr>
            <p:ph type="title" idx="1"/>
          </p:nvPr>
        </p:nvSpPr>
        <p:spPr/>
        <p:txBody>
          <a:bodyPr/>
          <a:lstStyle/>
          <a:p>
            <a:r>
              <a:rPr lang="zh-CN" altLang="en-US" dirty="0"/>
              <a:t>两种渲染方程</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1DE51F7-1387-4DFF-35B6-91A32C8AE5BB}"/>
                  </a:ext>
                </a:extLst>
              </p:cNvPr>
              <p:cNvSpPr>
                <a:spLocks noGrp="1"/>
              </p:cNvSpPr>
              <p:nvPr>
                <p:ph idx="3"/>
              </p:nvPr>
            </p:nvSpPr>
            <p:spPr>
              <a:xfrm>
                <a:off x="0" y="1873444"/>
                <a:ext cx="12192000" cy="3690229"/>
              </a:xfrm>
            </p:spPr>
            <p:txBody>
              <a:bodyPr>
                <a:normAutofit/>
              </a:bodyPr>
              <a:lstStyle/>
              <a:p>
                <a:pPr marL="0" indent="0">
                  <a:buNone/>
                </a:pPr>
                <a14:m>
                  <m:oMathPara xmlns:m="http://schemas.openxmlformats.org/officeDocument/2006/math">
                    <m:oMath>
                      <m:r>
                        <a:rPr lang="en-US" altLang="zh-CN" b="0" i="1" dirty="0" smtClean="0">
                          <a:solidFill>
                            <a:schemeClr val="tx1"/>
                          </a:solidFill>
                          <a:latin typeface="Cambria Math" panose="02040503050406030204" pitchFamily="18" charset="0"/>
                        </a:rPr>
                        <m:t>𝐿</m:t>
                      </m:r>
                      <m:d>
                        <m:dPr>
                          <m:ctrlPr>
                            <a:rPr lang="en-US" altLang="zh-CN" b="1" i="1" dirty="0" smtClean="0">
                              <a:solidFill>
                                <a:schemeClr val="tx1"/>
                              </a:solidFill>
                              <a:latin typeface="Cambria Math" panose="02040503050406030204" pitchFamily="18" charset="0"/>
                            </a:rPr>
                          </m:ctrlPr>
                        </m:dPr>
                        <m:e>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𝟏</m:t>
                              </m:r>
                            </m:sub>
                          </m:sSub>
                          <m:r>
                            <a:rPr lang="en-US" altLang="zh-CN" b="1" i="1" dirty="0" smtClean="0">
                              <a:solidFill>
                                <a:schemeClr val="tx1"/>
                              </a:solidFill>
                              <a:latin typeface="Cambria Math" panose="02040503050406030204" pitchFamily="18" charset="0"/>
                            </a:rPr>
                            <m:t>→</m:t>
                          </m:r>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𝟎</m:t>
                              </m:r>
                            </m:sub>
                          </m:sSub>
                        </m:e>
                      </m:d>
                      <m:r>
                        <a:rPr lang="en-US" altLang="zh-CN" b="1" i="1" smtClean="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𝐿</m:t>
                          </m:r>
                        </m:e>
                        <m:sub>
                          <m:r>
                            <a:rPr lang="en-US" altLang="zh-CN" i="1" dirty="0">
                              <a:solidFill>
                                <a:schemeClr val="tx1"/>
                              </a:solidFill>
                              <a:latin typeface="Cambria Math" panose="02040503050406030204" pitchFamily="18" charset="0"/>
                            </a:rPr>
                            <m:t>𝑒</m:t>
                          </m:r>
                        </m:sub>
                      </m:sSub>
                      <m:d>
                        <m:dPr>
                          <m:ctrlPr>
                            <a:rPr lang="en-US" altLang="zh-CN" b="1" i="1" dirty="0" smtClean="0">
                              <a:solidFill>
                                <a:schemeClr val="tx1"/>
                              </a:solidFill>
                              <a:latin typeface="Cambria Math" panose="02040503050406030204" pitchFamily="18" charset="0"/>
                            </a:rPr>
                          </m:ctrlPr>
                        </m:dPr>
                        <m:e>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𝟏</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𝟎</m:t>
                              </m:r>
                            </m:sub>
                          </m:sSub>
                        </m:e>
                      </m:d>
                      <m:r>
                        <a:rPr lang="en-US" altLang="zh-CN" b="1" i="1" dirty="0">
                          <a:solidFill>
                            <a:schemeClr val="tx1"/>
                          </a:solidFill>
                          <a:latin typeface="Cambria Math" panose="02040503050406030204" pitchFamily="18" charset="0"/>
                        </a:rPr>
                        <m:t>+</m:t>
                      </m:r>
                      <m:nary>
                        <m:naryPr>
                          <m:supHide m:val="on"/>
                          <m:ctrlPr>
                            <a:rPr lang="en-US" altLang="zh-CN" b="0" i="1" dirty="0" smtClean="0">
                              <a:solidFill>
                                <a:schemeClr val="tx1"/>
                              </a:solidFill>
                              <a:latin typeface="Cambria Math" panose="02040503050406030204" pitchFamily="18" charset="0"/>
                            </a:rPr>
                          </m:ctrlPr>
                        </m:naryPr>
                        <m:sub>
                          <m:sSup>
                            <m:sSupPr>
                              <m:ctrlPr>
                                <a:rPr lang="en-US" altLang="zh-CN" b="0" i="1" dirty="0" smtClean="0">
                                  <a:solidFill>
                                    <a:schemeClr val="tx1"/>
                                  </a:solidFill>
                                  <a:latin typeface="Cambria Math" panose="02040503050406030204" pitchFamily="18" charset="0"/>
                                </a:rPr>
                              </m:ctrlPr>
                            </m:sSupPr>
                            <m:e>
                              <m:r>
                                <a:rPr lang="en-US" altLang="zh-CN" b="0" i="1" dirty="0" smtClean="0">
                                  <a:solidFill>
                                    <a:schemeClr val="tx1"/>
                                  </a:solidFill>
                                  <a:latin typeface="Cambria Math" panose="02040503050406030204" pitchFamily="18" charset="0"/>
                                </a:rPr>
                                <m:t>𝑆</m:t>
                              </m:r>
                            </m:e>
                            <m:sup>
                              <m:r>
                                <a:rPr lang="en-US" altLang="zh-CN" b="0" i="1" dirty="0" smtClean="0">
                                  <a:solidFill>
                                    <a:schemeClr val="tx1"/>
                                  </a:solidFill>
                                  <a:latin typeface="Cambria Math" panose="02040503050406030204" pitchFamily="18" charset="0"/>
                                </a:rPr>
                                <m:t>2</m:t>
                              </m:r>
                            </m:sup>
                          </m:sSup>
                        </m:sub>
                        <m:sup/>
                        <m:e>
                          <m:r>
                            <a:rPr lang="en-US" altLang="zh-CN" i="1" dirty="0">
                              <a:solidFill>
                                <a:schemeClr val="tx1"/>
                              </a:solidFill>
                              <a:latin typeface="Cambria Math" panose="02040503050406030204" pitchFamily="18" charset="0"/>
                            </a:rPr>
                            <m:t>𝑓</m:t>
                          </m:r>
                          <m:d>
                            <m:dPr>
                              <m:ctrlPr>
                                <a:rPr lang="en-US" altLang="zh-CN" b="1" i="1" dirty="0" smtClean="0">
                                  <a:solidFill>
                                    <a:schemeClr val="tx1"/>
                                  </a:solidFill>
                                  <a:latin typeface="Cambria Math" panose="02040503050406030204" pitchFamily="18" charset="0"/>
                                </a:rPr>
                              </m:ctrlPr>
                            </m:dPr>
                            <m:e>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rPr>
                                <m:t>→</m:t>
                              </m:r>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𝟏</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𝟎</m:t>
                                  </m:r>
                                </m:sub>
                              </m:sSub>
                            </m:e>
                          </m:d>
                          <m:r>
                            <a:rPr lang="en-US" altLang="zh-CN" b="0" i="1" dirty="0" smtClean="0">
                              <a:solidFill>
                                <a:schemeClr val="tx1"/>
                              </a:solidFill>
                              <a:latin typeface="Cambria Math" panose="02040503050406030204" pitchFamily="18" charset="0"/>
                            </a:rPr>
                            <m:t> </m:t>
                          </m:r>
                          <m:r>
                            <a:rPr lang="en-US" altLang="zh-CN" b="0" i="1" dirty="0" smtClean="0">
                              <a:solidFill>
                                <a:schemeClr val="accent2">
                                  <a:lumMod val="75000"/>
                                </a:schemeClr>
                              </a:solidFill>
                              <a:latin typeface="Cambria Math" panose="02040503050406030204" pitchFamily="18" charset="0"/>
                            </a:rPr>
                            <m:t>𝐿</m:t>
                          </m:r>
                          <m:d>
                            <m:dPr>
                              <m:ctrlPr>
                                <a:rPr lang="en-US" altLang="zh-CN" b="1" i="1" dirty="0" smtClean="0">
                                  <a:solidFill>
                                    <a:schemeClr val="accent2">
                                      <a:lumMod val="75000"/>
                                    </a:schemeClr>
                                  </a:solidFill>
                                  <a:latin typeface="Cambria Math" panose="02040503050406030204" pitchFamily="18" charset="0"/>
                                </a:rPr>
                              </m:ctrlPr>
                            </m:dPr>
                            <m:e>
                              <m:sSub>
                                <m:sSubPr>
                                  <m:ctrlPr>
                                    <a:rPr lang="en-US" altLang="zh-CN" b="1" i="1" dirty="0" smtClean="0">
                                      <a:solidFill>
                                        <a:schemeClr val="accent2">
                                          <a:lumMod val="75000"/>
                                        </a:schemeClr>
                                      </a:solidFill>
                                      <a:latin typeface="Cambria Math" panose="02040503050406030204" pitchFamily="18" charset="0"/>
                                    </a:rPr>
                                  </m:ctrlPr>
                                </m:sSubPr>
                                <m:e>
                                  <m:r>
                                    <a:rPr lang="en-US" altLang="zh-CN" b="1" i="1" dirty="0" smtClean="0">
                                      <a:solidFill>
                                        <a:schemeClr val="accent2">
                                          <a:lumMod val="75000"/>
                                        </a:schemeClr>
                                      </a:solidFill>
                                      <a:latin typeface="Cambria Math" panose="02040503050406030204" pitchFamily="18" charset="0"/>
                                    </a:rPr>
                                    <m:t>𝒑</m:t>
                                  </m:r>
                                </m:e>
                                <m:sub>
                                  <m:r>
                                    <a:rPr lang="en-US" altLang="zh-CN" b="1" i="1" dirty="0" smtClean="0">
                                      <a:solidFill>
                                        <a:schemeClr val="accent2">
                                          <a:lumMod val="75000"/>
                                        </a:schemeClr>
                                      </a:solidFill>
                                      <a:latin typeface="Cambria Math" panose="02040503050406030204" pitchFamily="18" charset="0"/>
                                    </a:rPr>
                                    <m:t>𝟐</m:t>
                                  </m:r>
                                </m:sub>
                              </m:sSub>
                              <m:r>
                                <a:rPr lang="en-US" altLang="zh-CN" b="1" i="1" dirty="0">
                                  <a:solidFill>
                                    <a:schemeClr val="accent2">
                                      <a:lumMod val="75000"/>
                                    </a:schemeClr>
                                  </a:solidFill>
                                  <a:latin typeface="Cambria Math" panose="02040503050406030204" pitchFamily="18" charset="0"/>
                                </a:rPr>
                                <m:t>→</m:t>
                              </m:r>
                              <m:sSub>
                                <m:sSubPr>
                                  <m:ctrlPr>
                                    <a:rPr lang="en-US" altLang="zh-CN" b="1" i="1" dirty="0" smtClean="0">
                                      <a:solidFill>
                                        <a:schemeClr val="accent2">
                                          <a:lumMod val="75000"/>
                                        </a:schemeClr>
                                      </a:solidFill>
                                      <a:latin typeface="Cambria Math" panose="02040503050406030204" pitchFamily="18" charset="0"/>
                                    </a:rPr>
                                  </m:ctrlPr>
                                </m:sSubPr>
                                <m:e>
                                  <m:r>
                                    <a:rPr lang="en-US" altLang="zh-CN" b="1" i="1" dirty="0" smtClean="0">
                                      <a:solidFill>
                                        <a:schemeClr val="accent2">
                                          <a:lumMod val="75000"/>
                                        </a:schemeClr>
                                      </a:solidFill>
                                      <a:latin typeface="Cambria Math" panose="02040503050406030204" pitchFamily="18" charset="0"/>
                                    </a:rPr>
                                    <m:t>𝒑</m:t>
                                  </m:r>
                                </m:e>
                                <m:sub>
                                  <m:r>
                                    <a:rPr lang="en-US" altLang="zh-CN" b="1" i="1" dirty="0" smtClean="0">
                                      <a:solidFill>
                                        <a:schemeClr val="accent2">
                                          <a:lumMod val="75000"/>
                                        </a:schemeClr>
                                      </a:solidFill>
                                      <a:latin typeface="Cambria Math" panose="02040503050406030204" pitchFamily="18" charset="0"/>
                                    </a:rPr>
                                    <m:t>𝟏</m:t>
                                  </m:r>
                                </m:sub>
                              </m:sSub>
                            </m:e>
                          </m:d>
                          <m:r>
                            <a:rPr lang="en-US" altLang="zh-CN" b="0" i="1" dirty="0" smtClean="0">
                              <a:solidFill>
                                <a:schemeClr val="tx1"/>
                              </a:solidFill>
                              <a:latin typeface="Cambria Math" panose="02040503050406030204" pitchFamily="18" charset="0"/>
                            </a:rPr>
                            <m:t> </m:t>
                          </m:r>
                          <m:d>
                            <m:dPr>
                              <m:begChr m:val="|"/>
                              <m:endChr m:val="|"/>
                              <m:ctrlPr>
                                <a:rPr lang="en-US" altLang="zh-CN" b="0" i="1" dirty="0" smtClean="0">
                                  <a:solidFill>
                                    <a:schemeClr val="tx1"/>
                                  </a:solidFill>
                                  <a:latin typeface="Cambria Math" panose="02040503050406030204" pitchFamily="18" charset="0"/>
                                </a:rPr>
                              </m:ctrlPr>
                            </m:dPr>
                            <m:e>
                              <m:func>
                                <m:funcPr>
                                  <m:ctrlPr>
                                    <a:rPr lang="en-US" altLang="zh-CN" b="0" i="0" dirty="0" smtClean="0">
                                      <a:solidFill>
                                        <a:schemeClr val="tx1"/>
                                      </a:solidFill>
                                      <a:latin typeface="Cambria Math" panose="02040503050406030204" pitchFamily="18" charset="0"/>
                                    </a:rPr>
                                  </m:ctrlPr>
                                </m:funcPr>
                                <m:fName>
                                  <m:r>
                                    <m:rPr>
                                      <m:sty m:val="p"/>
                                    </m:rPr>
                                    <a:rPr lang="en-US" altLang="zh-CN" b="0" i="0" dirty="0" smtClean="0">
                                      <a:solidFill>
                                        <a:schemeClr val="tx1"/>
                                      </a:solidFill>
                                      <a:latin typeface="Cambria Math" panose="02040503050406030204" pitchFamily="18" charset="0"/>
                                    </a:rPr>
                                    <m:t>cos</m:t>
                                  </m:r>
                                </m:fName>
                                <m:e>
                                  <m:sSub>
                                    <m:sSubPr>
                                      <m:ctrlPr>
                                        <a:rPr lang="en-US" altLang="zh-CN" b="0"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𝜃</m:t>
                                      </m:r>
                                    </m:e>
                                    <m:sub>
                                      <m:r>
                                        <a:rPr lang="en-US" altLang="zh-CN" b="0" i="1" dirty="0" smtClean="0">
                                          <a:solidFill>
                                            <a:schemeClr val="tx1"/>
                                          </a:solidFill>
                                          <a:latin typeface="Cambria Math" panose="02040503050406030204" pitchFamily="18" charset="0"/>
                                        </a:rPr>
                                        <m:t>2</m:t>
                                      </m:r>
                                    </m:sub>
                                  </m:sSub>
                                </m:e>
                              </m:func>
                            </m:e>
                          </m:d>
                          <m:r>
                            <a:rPr lang="en-US" altLang="zh-CN" b="0" i="1" dirty="0" smtClean="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𝑑</m:t>
                          </m:r>
                          <m:sSub>
                            <m:sSubPr>
                              <m:ctrlPr>
                                <a:rPr lang="en-US" altLang="zh-CN" b="0"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2</m:t>
                              </m:r>
                            </m:sub>
                          </m:sSub>
                        </m:e>
                      </m:nary>
                    </m:oMath>
                    <m:oMath>
                      <m:r>
                        <a:rPr lang="en-US" altLang="zh-CN" b="1" i="1" smtClean="0">
                          <a:solidFill>
                            <a:schemeClr val="tx1"/>
                          </a:solidFill>
                          <a:latin typeface="Cambria Math" panose="02040503050406030204" pitchFamily="18" charset="0"/>
                        </a:rPr>
                        <m:t>                  </m:t>
                      </m:r>
                      <m:r>
                        <a:rPr lang="en-US" altLang="zh-CN" b="1" i="1">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𝐿</m:t>
                          </m:r>
                        </m:e>
                        <m:sub>
                          <m:r>
                            <a:rPr lang="en-US" altLang="zh-CN" i="1" dirty="0">
                              <a:solidFill>
                                <a:schemeClr val="tx1"/>
                              </a:solidFill>
                              <a:latin typeface="Cambria Math" panose="02040503050406030204" pitchFamily="18" charset="0"/>
                            </a:rPr>
                            <m:t>𝑒</m:t>
                          </m:r>
                        </m:sub>
                      </m:sSub>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𝟏</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𝟎</m:t>
                              </m:r>
                            </m:sub>
                          </m:sSub>
                        </m:e>
                      </m:d>
                      <m:r>
                        <a:rPr lang="en-US" altLang="zh-CN" b="1" i="1" dirty="0">
                          <a:solidFill>
                            <a:schemeClr val="tx1"/>
                          </a:solidFill>
                          <a:latin typeface="Cambria Math" panose="02040503050406030204" pitchFamily="18" charset="0"/>
                        </a:rPr>
                        <m:t>+</m:t>
                      </m:r>
                      <m:nary>
                        <m:naryPr>
                          <m:supHide m:val="on"/>
                          <m:ctrlPr>
                            <a:rPr lang="en-US" altLang="zh-CN" i="1" dirty="0">
                              <a:solidFill>
                                <a:schemeClr val="tx1"/>
                              </a:solidFill>
                              <a:latin typeface="Cambria Math" panose="02040503050406030204" pitchFamily="18" charset="0"/>
                            </a:rPr>
                          </m:ctrlPr>
                        </m:naryPr>
                        <m:sub>
                          <m:r>
                            <a:rPr lang="en-US" altLang="zh-CN" i="1" dirty="0">
                              <a:solidFill>
                                <a:schemeClr val="tx1"/>
                              </a:solidFill>
                              <a:latin typeface="Cambria Math" panose="02040503050406030204" pitchFamily="18" charset="0"/>
                            </a:rPr>
                            <m:t>𝐴</m:t>
                          </m:r>
                        </m:sub>
                        <m:sup/>
                        <m:e>
                          <m:r>
                            <a:rPr lang="en-US" altLang="zh-CN" i="1" dirty="0">
                              <a:solidFill>
                                <a:schemeClr val="tx1"/>
                              </a:solidFill>
                              <a:latin typeface="Cambria Math" panose="02040503050406030204" pitchFamily="18" charset="0"/>
                            </a:rPr>
                            <m:t>𝑓</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𝟏</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𝟎</m:t>
                                  </m:r>
                                </m:sub>
                              </m:sSub>
                            </m:e>
                          </m:d>
                          <m:r>
                            <a:rPr lang="en-US" altLang="zh-CN" i="1" dirty="0">
                              <a:solidFill>
                                <a:schemeClr val="tx1"/>
                              </a:solidFill>
                              <a:latin typeface="Cambria Math" panose="02040503050406030204" pitchFamily="18" charset="0"/>
                            </a:rPr>
                            <m:t> </m:t>
                          </m:r>
                          <m:r>
                            <a:rPr lang="en-US" altLang="zh-CN" i="1" dirty="0" smtClean="0">
                              <a:solidFill>
                                <a:schemeClr val="accent2">
                                  <a:lumMod val="75000"/>
                                </a:schemeClr>
                              </a:solidFill>
                              <a:latin typeface="Cambria Math" panose="02040503050406030204" pitchFamily="18" charset="0"/>
                            </a:rPr>
                            <m:t>𝐿</m:t>
                          </m:r>
                          <m:d>
                            <m:dPr>
                              <m:ctrlPr>
                                <a:rPr lang="en-US" altLang="zh-CN" b="1" i="1" dirty="0">
                                  <a:solidFill>
                                    <a:schemeClr val="accent2">
                                      <a:lumMod val="75000"/>
                                    </a:schemeClr>
                                  </a:solidFill>
                                  <a:latin typeface="Cambria Math" panose="02040503050406030204" pitchFamily="18" charset="0"/>
                                </a:rPr>
                              </m:ctrlPr>
                            </m:dPr>
                            <m:e>
                              <m:sSub>
                                <m:sSubPr>
                                  <m:ctrlPr>
                                    <a:rPr lang="en-US" altLang="zh-CN" b="1" i="1" dirty="0">
                                      <a:solidFill>
                                        <a:schemeClr val="accent2">
                                          <a:lumMod val="75000"/>
                                        </a:schemeClr>
                                      </a:solidFill>
                                      <a:latin typeface="Cambria Math" panose="02040503050406030204" pitchFamily="18" charset="0"/>
                                    </a:rPr>
                                  </m:ctrlPr>
                                </m:sSubPr>
                                <m:e>
                                  <m:r>
                                    <a:rPr lang="en-US" altLang="zh-CN" b="1" i="1" dirty="0">
                                      <a:solidFill>
                                        <a:schemeClr val="accent2">
                                          <a:lumMod val="75000"/>
                                        </a:schemeClr>
                                      </a:solidFill>
                                      <a:latin typeface="Cambria Math" panose="02040503050406030204" pitchFamily="18" charset="0"/>
                                    </a:rPr>
                                    <m:t>𝒑</m:t>
                                  </m:r>
                                </m:e>
                                <m:sub>
                                  <m:r>
                                    <a:rPr lang="en-US" altLang="zh-CN" b="1" i="1" dirty="0">
                                      <a:solidFill>
                                        <a:schemeClr val="accent2">
                                          <a:lumMod val="75000"/>
                                        </a:schemeClr>
                                      </a:solidFill>
                                      <a:latin typeface="Cambria Math" panose="02040503050406030204" pitchFamily="18" charset="0"/>
                                    </a:rPr>
                                    <m:t>𝟐</m:t>
                                  </m:r>
                                </m:sub>
                              </m:sSub>
                              <m:r>
                                <a:rPr lang="en-US" altLang="zh-CN" b="1" i="1" dirty="0">
                                  <a:solidFill>
                                    <a:schemeClr val="accent2">
                                      <a:lumMod val="75000"/>
                                    </a:schemeClr>
                                  </a:solidFill>
                                  <a:latin typeface="Cambria Math" panose="02040503050406030204" pitchFamily="18" charset="0"/>
                                </a:rPr>
                                <m:t>→</m:t>
                              </m:r>
                              <m:sSub>
                                <m:sSubPr>
                                  <m:ctrlPr>
                                    <a:rPr lang="en-US" altLang="zh-CN" b="1" i="1" dirty="0">
                                      <a:solidFill>
                                        <a:schemeClr val="accent2">
                                          <a:lumMod val="75000"/>
                                        </a:schemeClr>
                                      </a:solidFill>
                                      <a:latin typeface="Cambria Math" panose="02040503050406030204" pitchFamily="18" charset="0"/>
                                    </a:rPr>
                                  </m:ctrlPr>
                                </m:sSubPr>
                                <m:e>
                                  <m:r>
                                    <a:rPr lang="en-US" altLang="zh-CN" b="1" i="1" dirty="0">
                                      <a:solidFill>
                                        <a:schemeClr val="accent2">
                                          <a:lumMod val="75000"/>
                                        </a:schemeClr>
                                      </a:solidFill>
                                      <a:latin typeface="Cambria Math" panose="02040503050406030204" pitchFamily="18" charset="0"/>
                                    </a:rPr>
                                    <m:t>𝒑</m:t>
                                  </m:r>
                                </m:e>
                                <m:sub>
                                  <m:r>
                                    <a:rPr lang="en-US" altLang="zh-CN" b="1" i="1" dirty="0">
                                      <a:solidFill>
                                        <a:schemeClr val="accent2">
                                          <a:lumMod val="75000"/>
                                        </a:schemeClr>
                                      </a:solidFill>
                                      <a:latin typeface="Cambria Math" panose="02040503050406030204" pitchFamily="18" charset="0"/>
                                    </a:rPr>
                                    <m:t>𝟏</m:t>
                                  </m:r>
                                </m:sub>
                              </m:sSub>
                            </m:e>
                          </m:d>
                          <m:r>
                            <a:rPr lang="en-US" altLang="zh-CN" b="0" i="1" dirty="0" smtClean="0">
                              <a:solidFill>
                                <a:schemeClr val="tx1"/>
                              </a:solidFill>
                              <a:latin typeface="Cambria Math" panose="02040503050406030204" pitchFamily="18" charset="0"/>
                            </a:rPr>
                            <m:t> </m:t>
                          </m:r>
                          <m:d>
                            <m:dPr>
                              <m:begChr m:val="|"/>
                              <m:endChr m:val="|"/>
                              <m:ctrlPr>
                                <a:rPr lang="en-US" altLang="zh-CN" i="1" dirty="0">
                                  <a:solidFill>
                                    <a:schemeClr val="tx1"/>
                                  </a:solidFill>
                                  <a:latin typeface="Cambria Math" panose="02040503050406030204" pitchFamily="18" charset="0"/>
                                </a:rPr>
                              </m:ctrlPr>
                            </m:dPr>
                            <m:e>
                              <m:func>
                                <m:funcPr>
                                  <m:ctrlPr>
                                    <a:rPr lang="en-US" altLang="zh-CN" dirty="0">
                                      <a:solidFill>
                                        <a:schemeClr val="tx1"/>
                                      </a:solidFill>
                                      <a:latin typeface="Cambria Math" panose="02040503050406030204" pitchFamily="18" charset="0"/>
                                    </a:rPr>
                                  </m:ctrlPr>
                                </m:funcPr>
                                <m:fName>
                                  <m:r>
                                    <m:rPr>
                                      <m:sty m:val="p"/>
                                    </m:rPr>
                                    <a:rPr lang="en-US" altLang="zh-CN" dirty="0">
                                      <a:solidFill>
                                        <a:schemeClr val="tx1"/>
                                      </a:solidFill>
                                      <a:latin typeface="Cambria Math" panose="02040503050406030204" pitchFamily="18" charset="0"/>
                                    </a:rPr>
                                    <m:t>cos</m:t>
                                  </m:r>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b="0" i="1" dirty="0" smtClean="0">
                                          <a:solidFill>
                                            <a:schemeClr val="tx1"/>
                                          </a:solidFill>
                                          <a:latin typeface="Cambria Math" panose="02040503050406030204" pitchFamily="18" charset="0"/>
                                        </a:rPr>
                                        <m:t>2</m:t>
                                      </m:r>
                                    </m:sub>
                                  </m:sSub>
                                </m:e>
                              </m:func>
                            </m:e>
                          </m:d>
                          <m:r>
                            <a:rPr lang="en-US" altLang="zh-CN" b="0" i="1" dirty="0" smtClean="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𝑉</m:t>
                          </m:r>
                          <m:d>
                            <m:dPr>
                              <m:ctrlPr>
                                <a:rPr lang="en-US" altLang="zh-CN" b="1" i="1" dirty="0" smtClean="0">
                                  <a:solidFill>
                                    <a:schemeClr val="tx1"/>
                                  </a:solidFill>
                                  <a:latin typeface="Cambria Math" panose="02040503050406030204" pitchFamily="18" charset="0"/>
                                </a:rPr>
                              </m:ctrlPr>
                            </m:dPr>
                            <m:e>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ea typeface="Cambria Math" panose="02040503050406030204" pitchFamily="18" charset="0"/>
                                </a:rPr>
                                <m:t>↔</m:t>
                              </m:r>
                              <m:sSub>
                                <m:sSubPr>
                                  <m:ctrlPr>
                                    <a:rPr lang="en-US" altLang="zh-CN" b="1" i="1" dirty="0" smtClean="0">
                                      <a:solidFill>
                                        <a:schemeClr val="tx1"/>
                                      </a:solidFill>
                                      <a:latin typeface="Cambria Math" panose="02040503050406030204" pitchFamily="18" charset="0"/>
                                      <a:ea typeface="Cambria Math" panose="02040503050406030204" pitchFamily="18" charset="0"/>
                                    </a:rPr>
                                  </m:ctrlPr>
                                </m:sSubPr>
                                <m:e>
                                  <m:r>
                                    <a:rPr lang="en-US" altLang="zh-CN" b="1" i="1" dirty="0" smtClean="0">
                                      <a:solidFill>
                                        <a:schemeClr val="tx1"/>
                                      </a:solidFill>
                                      <a:latin typeface="Cambria Math" panose="02040503050406030204" pitchFamily="18" charset="0"/>
                                      <a:ea typeface="Cambria Math" panose="02040503050406030204" pitchFamily="18" charset="0"/>
                                    </a:rPr>
                                    <m:t>𝒑</m:t>
                                  </m:r>
                                </m:e>
                                <m:sub>
                                  <m:r>
                                    <a:rPr lang="en-US" altLang="zh-CN" b="1" i="1" dirty="0" smtClean="0">
                                      <a:solidFill>
                                        <a:schemeClr val="tx1"/>
                                      </a:solidFill>
                                      <a:latin typeface="Cambria Math" panose="02040503050406030204" pitchFamily="18" charset="0"/>
                                      <a:ea typeface="Cambria Math" panose="02040503050406030204" pitchFamily="18" charset="0"/>
                                    </a:rPr>
                                    <m:t>𝟏</m:t>
                                  </m:r>
                                </m:sub>
                              </m:sSub>
                            </m:e>
                          </m:d>
                          <m:d>
                            <m:dPr>
                              <m:begChr m:val="|"/>
                              <m:endChr m:val="|"/>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𝑑𝑒𝑡</m:t>
                              </m:r>
                              <m:d>
                                <m:dPr>
                                  <m:ctrlPr>
                                    <a:rPr lang="en-US" altLang="zh-CN" i="1" dirty="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𝑑</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2</m:t>
                                          </m:r>
                                        </m:sub>
                                      </m:sSub>
                                    </m:num>
                                    <m:den>
                                      <m:r>
                                        <a:rPr lang="en-US" altLang="zh-CN" i="1" dirty="0">
                                          <a:solidFill>
                                            <a:schemeClr val="tx1"/>
                                          </a:solidFill>
                                          <a:latin typeface="Cambria Math" panose="02040503050406030204" pitchFamily="18" charset="0"/>
                                        </a:rPr>
                                        <m:t>𝑑𝐴</m:t>
                                      </m:r>
                                      <m:d>
                                        <m:dPr>
                                          <m:ctrlPr>
                                            <a:rPr lang="en-US" altLang="zh-CN" b="1" i="1" dirty="0" smtClean="0">
                                              <a:solidFill>
                                                <a:schemeClr val="tx1"/>
                                              </a:solidFill>
                                              <a:latin typeface="Cambria Math" panose="02040503050406030204" pitchFamily="18" charset="0"/>
                                            </a:rPr>
                                          </m:ctrlPr>
                                        </m:dPr>
                                        <m:e>
                                          <m:sSub>
                                            <m:sSubPr>
                                              <m:ctrlPr>
                                                <a:rPr lang="en-US" altLang="zh-CN" b="1" i="1" dirty="0" smtClean="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𝒑</m:t>
                                              </m:r>
                                            </m:e>
                                            <m:sub>
                                              <m:r>
                                                <a:rPr lang="en-US" altLang="zh-CN" b="1" i="1" dirty="0" smtClean="0">
                                                  <a:solidFill>
                                                    <a:schemeClr val="tx1"/>
                                                  </a:solidFill>
                                                  <a:latin typeface="Cambria Math" panose="02040503050406030204" pitchFamily="18" charset="0"/>
                                                </a:rPr>
                                                <m:t>𝟐</m:t>
                                              </m:r>
                                            </m:sub>
                                          </m:sSub>
                                        </m:e>
                                      </m:d>
                                    </m:den>
                                  </m:f>
                                </m:e>
                              </m:d>
                            </m:e>
                          </m:d>
                          <m:r>
                            <a:rPr lang="en-US" altLang="zh-CN" i="1" dirty="0">
                              <a:solidFill>
                                <a:schemeClr val="tx1"/>
                              </a:solidFill>
                              <a:latin typeface="Cambria Math" panose="02040503050406030204" pitchFamily="18" charset="0"/>
                            </a:rPr>
                            <m:t>𝑑𝐴</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e>
                          </m:d>
                        </m:e>
                      </m:nary>
                    </m:oMath>
                  </m:oMathPara>
                </a14:m>
                <a:endParaRPr lang="en-US" altLang="zh-CN" b="1" i="1" dirty="0">
                  <a:solidFill>
                    <a:schemeClr val="tx1"/>
                  </a:solidFill>
                  <a:latin typeface="Cambria Math" panose="02040503050406030204" pitchFamily="18" charset="0"/>
                </a:endParaRPr>
              </a:p>
              <a:p>
                <a:pPr marL="0" indent="0">
                  <a:buNone/>
                </a:pPr>
                <a14:m>
                  <m:oMathPara xmlns:m="http://schemas.openxmlformats.org/officeDocument/2006/math">
                    <m:oMath>
                      <m:r>
                        <a:rPr lang="en-US" altLang="zh-CN" b="0" i="1" dirty="0" smtClean="0">
                          <a:solidFill>
                            <a:schemeClr val="tx1"/>
                          </a:solidFill>
                          <a:latin typeface="Cambria Math" panose="02040503050406030204" pitchFamily="18" charset="0"/>
                        </a:rPr>
                        <m:t>𝐺</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ea typeface="Cambria Math" panose="02040503050406030204" pitchFamily="18" charset="0"/>
                            </a:rPr>
                            <m:t>↔</m:t>
                          </m:r>
                          <m:sSub>
                            <m:sSubPr>
                              <m:ctrlPr>
                                <a:rPr lang="en-US" altLang="zh-CN" b="1" i="1" dirty="0">
                                  <a:solidFill>
                                    <a:schemeClr val="tx1"/>
                                  </a:solidFill>
                                  <a:latin typeface="Cambria Math" panose="02040503050406030204" pitchFamily="18" charset="0"/>
                                  <a:ea typeface="Cambria Math" panose="02040503050406030204" pitchFamily="18" charset="0"/>
                                </a:rPr>
                              </m:ctrlPr>
                            </m:sSubPr>
                            <m:e>
                              <m:r>
                                <a:rPr lang="en-US" altLang="zh-CN" b="1" i="1" dirty="0">
                                  <a:solidFill>
                                    <a:schemeClr val="tx1"/>
                                  </a:solidFill>
                                  <a:latin typeface="Cambria Math" panose="02040503050406030204" pitchFamily="18" charset="0"/>
                                  <a:ea typeface="Cambria Math" panose="02040503050406030204" pitchFamily="18" charset="0"/>
                                </a:rPr>
                                <m:t>𝒑</m:t>
                              </m:r>
                            </m:e>
                            <m:sub>
                              <m:r>
                                <a:rPr lang="en-US" altLang="zh-CN" b="1" i="1" dirty="0">
                                  <a:solidFill>
                                    <a:schemeClr val="tx1"/>
                                  </a:solidFill>
                                  <a:latin typeface="Cambria Math" panose="02040503050406030204" pitchFamily="18" charset="0"/>
                                  <a:ea typeface="Cambria Math" panose="02040503050406030204" pitchFamily="18" charset="0"/>
                                </a:rPr>
                                <m:t>𝟏</m:t>
                              </m:r>
                            </m:sub>
                          </m:sSub>
                        </m:e>
                      </m:d>
                      <m:r>
                        <a:rPr lang="en-US" altLang="zh-CN" b="0" i="1" dirty="0" smtClean="0">
                          <a:solidFill>
                            <a:schemeClr val="tx1"/>
                          </a:solidFill>
                          <a:latin typeface="Cambria Math" panose="02040503050406030204" pitchFamily="18" charset="0"/>
                        </a:rPr>
                        <m:t>=</m:t>
                      </m:r>
                      <m:d>
                        <m:dPr>
                          <m:begChr m:val="|"/>
                          <m:endChr m:val="|"/>
                          <m:ctrlPr>
                            <a:rPr lang="en-US" altLang="zh-CN" i="1" dirty="0">
                              <a:solidFill>
                                <a:schemeClr val="tx1"/>
                              </a:solidFill>
                              <a:latin typeface="Cambria Math" panose="02040503050406030204" pitchFamily="18" charset="0"/>
                            </a:rPr>
                          </m:ctrlPr>
                        </m:dPr>
                        <m:e>
                          <m:func>
                            <m:funcPr>
                              <m:ctrlPr>
                                <a:rPr lang="en-US" altLang="zh-CN" dirty="0">
                                  <a:solidFill>
                                    <a:schemeClr val="tx1"/>
                                  </a:solidFill>
                                  <a:latin typeface="Cambria Math" panose="02040503050406030204" pitchFamily="18" charset="0"/>
                                </a:rPr>
                              </m:ctrlPr>
                            </m:funcPr>
                            <m:fName>
                              <m:r>
                                <m:rPr>
                                  <m:sty m:val="p"/>
                                </m:rPr>
                                <a:rPr lang="en-US" altLang="zh-CN" dirty="0">
                                  <a:solidFill>
                                    <a:schemeClr val="tx1"/>
                                  </a:solidFill>
                                  <a:latin typeface="Cambria Math" panose="02040503050406030204" pitchFamily="18" charset="0"/>
                                </a:rPr>
                                <m:t>cos</m:t>
                              </m:r>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b="0" i="1" dirty="0" smtClean="0">
                                      <a:solidFill>
                                        <a:schemeClr val="tx1"/>
                                      </a:solidFill>
                                      <a:latin typeface="Cambria Math" panose="02040503050406030204" pitchFamily="18" charset="0"/>
                                    </a:rPr>
                                    <m:t>2</m:t>
                                  </m:r>
                                </m:sub>
                              </m:sSub>
                            </m:e>
                          </m:func>
                        </m:e>
                      </m:d>
                      <m:r>
                        <a:rPr lang="en-US" altLang="zh-CN" i="1" dirty="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𝑉</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ea typeface="Cambria Math" panose="02040503050406030204" pitchFamily="18" charset="0"/>
                            </a:rPr>
                            <m:t>↔</m:t>
                          </m:r>
                          <m:sSub>
                            <m:sSubPr>
                              <m:ctrlPr>
                                <a:rPr lang="en-US" altLang="zh-CN" b="1" i="1" dirty="0">
                                  <a:solidFill>
                                    <a:schemeClr val="tx1"/>
                                  </a:solidFill>
                                  <a:latin typeface="Cambria Math" panose="02040503050406030204" pitchFamily="18" charset="0"/>
                                  <a:ea typeface="Cambria Math" panose="02040503050406030204" pitchFamily="18" charset="0"/>
                                </a:rPr>
                              </m:ctrlPr>
                            </m:sSubPr>
                            <m:e>
                              <m:r>
                                <a:rPr lang="en-US" altLang="zh-CN" b="1" i="1" dirty="0">
                                  <a:solidFill>
                                    <a:schemeClr val="tx1"/>
                                  </a:solidFill>
                                  <a:latin typeface="Cambria Math" panose="02040503050406030204" pitchFamily="18" charset="0"/>
                                  <a:ea typeface="Cambria Math" panose="02040503050406030204" pitchFamily="18" charset="0"/>
                                </a:rPr>
                                <m:t>𝒑</m:t>
                              </m:r>
                            </m:e>
                            <m:sub>
                              <m:r>
                                <a:rPr lang="en-US" altLang="zh-CN" b="1" i="1" dirty="0">
                                  <a:solidFill>
                                    <a:schemeClr val="tx1"/>
                                  </a:solidFill>
                                  <a:latin typeface="Cambria Math" panose="02040503050406030204" pitchFamily="18" charset="0"/>
                                  <a:ea typeface="Cambria Math" panose="02040503050406030204" pitchFamily="18" charset="0"/>
                                </a:rPr>
                                <m:t>𝟏</m:t>
                              </m:r>
                            </m:sub>
                          </m:sSub>
                        </m:e>
                      </m:d>
                      <m:d>
                        <m:dPr>
                          <m:begChr m:val="|"/>
                          <m:endChr m:val="|"/>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𝑑𝑒𝑡</m:t>
                          </m:r>
                          <m:d>
                            <m:dPr>
                              <m:ctrlPr>
                                <a:rPr lang="en-US" altLang="zh-CN" i="1" dirty="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𝑑</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2</m:t>
                                      </m:r>
                                    </m:sub>
                                  </m:sSub>
                                </m:num>
                                <m:den>
                                  <m:r>
                                    <a:rPr lang="en-US" altLang="zh-CN" i="1" dirty="0">
                                      <a:solidFill>
                                        <a:schemeClr val="tx1"/>
                                      </a:solidFill>
                                      <a:latin typeface="Cambria Math" panose="02040503050406030204" pitchFamily="18" charset="0"/>
                                    </a:rPr>
                                    <m:t>𝑑𝐴</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e>
                                  </m:d>
                                </m:den>
                              </m:f>
                            </m:e>
                          </m:d>
                        </m:e>
                      </m:d>
                    </m:oMath>
                  </m:oMathPara>
                </a14:m>
                <a:endParaRPr lang="en-US" altLang="zh-CN" b="1" i="1" dirty="0">
                  <a:solidFill>
                    <a:schemeClr val="tx1"/>
                  </a:solidFill>
                  <a:latin typeface="Cambria Math" panose="02040503050406030204" pitchFamily="18" charset="0"/>
                </a:endParaRPr>
              </a:p>
              <a:p>
                <a:pPr marL="0" indent="0">
                  <a:buNone/>
                </a:pPr>
                <a:endParaRPr lang="en-US" altLang="zh-CN" b="1" i="1" dirty="0">
                  <a:solidFill>
                    <a:schemeClr val="tx1"/>
                  </a:solidFill>
                  <a:latin typeface="Cambria Math" panose="02040503050406030204" pitchFamily="18" charset="0"/>
                </a:endParaRPr>
              </a:p>
              <a:p>
                <a:pPr marL="0" indent="0">
                  <a:buNone/>
                </a:pPr>
                <a14:m>
                  <m:oMathPara xmlns:m="http://schemas.openxmlformats.org/officeDocument/2006/math">
                    <m:oMath>
                      <m:nary>
                        <m:naryPr>
                          <m:supHide m:val="on"/>
                          <m:ctrlPr>
                            <a:rPr lang="en-US" altLang="zh-CN" b="0" i="1" dirty="0" smtClean="0">
                              <a:solidFill>
                                <a:schemeClr val="tx1"/>
                              </a:solidFill>
                              <a:latin typeface="Cambria Math" panose="02040503050406030204" pitchFamily="18" charset="0"/>
                            </a:rPr>
                          </m:ctrlPr>
                        </m:naryPr>
                        <m:sub>
                          <m:sSup>
                            <m:sSupPr>
                              <m:ctrlPr>
                                <a:rPr lang="en-US" altLang="zh-CN" b="0" i="1" dirty="0" smtClean="0">
                                  <a:solidFill>
                                    <a:schemeClr val="tx1"/>
                                  </a:solidFill>
                                  <a:latin typeface="Cambria Math" panose="02040503050406030204" pitchFamily="18" charset="0"/>
                                </a:rPr>
                              </m:ctrlPr>
                            </m:sSupPr>
                            <m:e>
                              <m:r>
                                <a:rPr lang="en-US" altLang="zh-CN" b="0" i="1" dirty="0" smtClean="0">
                                  <a:solidFill>
                                    <a:schemeClr val="tx1"/>
                                  </a:solidFill>
                                  <a:latin typeface="Cambria Math" panose="02040503050406030204" pitchFamily="18" charset="0"/>
                                </a:rPr>
                                <m:t>𝑆</m:t>
                              </m:r>
                            </m:e>
                            <m:sup>
                              <m:r>
                                <a:rPr lang="en-US" altLang="zh-CN" b="0" i="1" dirty="0" smtClean="0">
                                  <a:solidFill>
                                    <a:schemeClr val="tx1"/>
                                  </a:solidFill>
                                  <a:latin typeface="Cambria Math" panose="02040503050406030204" pitchFamily="18" charset="0"/>
                                </a:rPr>
                                <m:t>2</m:t>
                              </m:r>
                            </m:sup>
                          </m:sSup>
                        </m:sub>
                        <m:sup/>
                        <m:e>
                          <m:r>
                            <a:rPr lang="en-US" altLang="zh-CN" i="1" dirty="0">
                              <a:solidFill>
                                <a:schemeClr val="tx1"/>
                              </a:solidFill>
                              <a:latin typeface="Cambria Math" panose="02040503050406030204" pitchFamily="18" charset="0"/>
                            </a:rPr>
                            <m:t>𝑓</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𝟏</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𝟎</m:t>
                                  </m:r>
                                </m:sub>
                              </m:sSub>
                            </m:e>
                          </m:d>
                          <m:r>
                            <a:rPr lang="en-US" altLang="zh-CN" i="1" dirty="0">
                              <a:solidFill>
                                <a:schemeClr val="tx1"/>
                              </a:solidFill>
                              <a:latin typeface="Cambria Math" panose="02040503050406030204" pitchFamily="18" charset="0"/>
                            </a:rPr>
                            <m:t> </m:t>
                          </m:r>
                          <m:r>
                            <a:rPr lang="en-US" altLang="zh-CN" i="1" dirty="0" smtClean="0">
                              <a:solidFill>
                                <a:schemeClr val="accent2">
                                  <a:lumMod val="75000"/>
                                </a:schemeClr>
                              </a:solidFill>
                              <a:latin typeface="Cambria Math" panose="02040503050406030204" pitchFamily="18" charset="0"/>
                            </a:rPr>
                            <m:t>𝐿</m:t>
                          </m:r>
                          <m:d>
                            <m:dPr>
                              <m:ctrlPr>
                                <a:rPr lang="en-US" altLang="zh-CN" b="1" i="1" dirty="0">
                                  <a:solidFill>
                                    <a:schemeClr val="accent2">
                                      <a:lumMod val="75000"/>
                                    </a:schemeClr>
                                  </a:solidFill>
                                  <a:latin typeface="Cambria Math" panose="02040503050406030204" pitchFamily="18" charset="0"/>
                                </a:rPr>
                              </m:ctrlPr>
                            </m:dPr>
                            <m:e>
                              <m:sSub>
                                <m:sSubPr>
                                  <m:ctrlPr>
                                    <a:rPr lang="en-US" altLang="zh-CN" b="1" i="1" dirty="0">
                                      <a:solidFill>
                                        <a:schemeClr val="accent2">
                                          <a:lumMod val="75000"/>
                                        </a:schemeClr>
                                      </a:solidFill>
                                      <a:latin typeface="Cambria Math" panose="02040503050406030204" pitchFamily="18" charset="0"/>
                                    </a:rPr>
                                  </m:ctrlPr>
                                </m:sSubPr>
                                <m:e>
                                  <m:r>
                                    <a:rPr lang="en-US" altLang="zh-CN" b="1" i="1" dirty="0">
                                      <a:solidFill>
                                        <a:schemeClr val="accent2">
                                          <a:lumMod val="75000"/>
                                        </a:schemeClr>
                                      </a:solidFill>
                                      <a:latin typeface="Cambria Math" panose="02040503050406030204" pitchFamily="18" charset="0"/>
                                    </a:rPr>
                                    <m:t>𝒑</m:t>
                                  </m:r>
                                </m:e>
                                <m:sub>
                                  <m:r>
                                    <a:rPr lang="en-US" altLang="zh-CN" b="1" i="1" dirty="0">
                                      <a:solidFill>
                                        <a:schemeClr val="accent2">
                                          <a:lumMod val="75000"/>
                                        </a:schemeClr>
                                      </a:solidFill>
                                      <a:latin typeface="Cambria Math" panose="02040503050406030204" pitchFamily="18" charset="0"/>
                                    </a:rPr>
                                    <m:t>𝟐</m:t>
                                  </m:r>
                                </m:sub>
                              </m:sSub>
                              <m:r>
                                <a:rPr lang="en-US" altLang="zh-CN" b="1" i="1" dirty="0">
                                  <a:solidFill>
                                    <a:schemeClr val="accent2">
                                      <a:lumMod val="75000"/>
                                    </a:schemeClr>
                                  </a:solidFill>
                                  <a:latin typeface="Cambria Math" panose="02040503050406030204" pitchFamily="18" charset="0"/>
                                </a:rPr>
                                <m:t>→</m:t>
                              </m:r>
                              <m:sSub>
                                <m:sSubPr>
                                  <m:ctrlPr>
                                    <a:rPr lang="en-US" altLang="zh-CN" b="1" i="1" dirty="0">
                                      <a:solidFill>
                                        <a:schemeClr val="accent2">
                                          <a:lumMod val="75000"/>
                                        </a:schemeClr>
                                      </a:solidFill>
                                      <a:latin typeface="Cambria Math" panose="02040503050406030204" pitchFamily="18" charset="0"/>
                                    </a:rPr>
                                  </m:ctrlPr>
                                </m:sSubPr>
                                <m:e>
                                  <m:r>
                                    <a:rPr lang="en-US" altLang="zh-CN" b="1" i="1" dirty="0">
                                      <a:solidFill>
                                        <a:schemeClr val="accent2">
                                          <a:lumMod val="75000"/>
                                        </a:schemeClr>
                                      </a:solidFill>
                                      <a:latin typeface="Cambria Math" panose="02040503050406030204" pitchFamily="18" charset="0"/>
                                    </a:rPr>
                                    <m:t>𝒑</m:t>
                                  </m:r>
                                </m:e>
                                <m:sub>
                                  <m:r>
                                    <a:rPr lang="en-US" altLang="zh-CN" b="1" i="1" dirty="0">
                                      <a:solidFill>
                                        <a:schemeClr val="accent2">
                                          <a:lumMod val="75000"/>
                                        </a:schemeClr>
                                      </a:solidFill>
                                      <a:latin typeface="Cambria Math" panose="02040503050406030204" pitchFamily="18" charset="0"/>
                                    </a:rPr>
                                    <m:t>𝟏</m:t>
                                  </m:r>
                                </m:sub>
                              </m:sSub>
                            </m:e>
                          </m:d>
                          <m:r>
                            <a:rPr lang="en-US" altLang="zh-CN" i="1" dirty="0">
                              <a:solidFill>
                                <a:schemeClr val="tx1"/>
                              </a:solidFill>
                              <a:latin typeface="Cambria Math" panose="02040503050406030204" pitchFamily="18" charset="0"/>
                            </a:rPr>
                            <m:t> </m:t>
                          </m:r>
                          <m:d>
                            <m:dPr>
                              <m:begChr m:val="|"/>
                              <m:endChr m:val="|"/>
                              <m:ctrlPr>
                                <a:rPr lang="en-US" altLang="zh-CN" i="1" dirty="0">
                                  <a:solidFill>
                                    <a:schemeClr val="tx1"/>
                                  </a:solidFill>
                                  <a:latin typeface="Cambria Math" panose="02040503050406030204" pitchFamily="18" charset="0"/>
                                </a:rPr>
                              </m:ctrlPr>
                            </m:dPr>
                            <m:e>
                              <m:func>
                                <m:funcPr>
                                  <m:ctrlPr>
                                    <a:rPr lang="en-US" altLang="zh-CN" dirty="0">
                                      <a:solidFill>
                                        <a:schemeClr val="tx1"/>
                                      </a:solidFill>
                                      <a:latin typeface="Cambria Math" panose="02040503050406030204" pitchFamily="18" charset="0"/>
                                    </a:rPr>
                                  </m:ctrlPr>
                                </m:funcPr>
                                <m:fName>
                                  <m:r>
                                    <m:rPr>
                                      <m:sty m:val="p"/>
                                    </m:rPr>
                                    <a:rPr lang="en-US" altLang="zh-CN" dirty="0">
                                      <a:solidFill>
                                        <a:schemeClr val="tx1"/>
                                      </a:solidFill>
                                      <a:latin typeface="Cambria Math" panose="02040503050406030204" pitchFamily="18" charset="0"/>
                                    </a:rPr>
                                    <m:t>cos</m:t>
                                  </m:r>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b="0" i="1" dirty="0" smtClean="0">
                                          <a:solidFill>
                                            <a:schemeClr val="tx1"/>
                                          </a:solidFill>
                                          <a:latin typeface="Cambria Math" panose="02040503050406030204" pitchFamily="18" charset="0"/>
                                        </a:rPr>
                                        <m:t>2</m:t>
                                      </m:r>
                                    </m:sub>
                                  </m:sSub>
                                </m:e>
                              </m:func>
                            </m:e>
                          </m:d>
                          <m:r>
                            <a:rPr lang="en-US" altLang="zh-CN" i="1" dirty="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𝑑</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2</m:t>
                              </m:r>
                            </m:sub>
                          </m:sSub>
                        </m:e>
                      </m:nary>
                      <m:r>
                        <a:rPr lang="en-US" altLang="zh-CN" b="1" i="1" dirty="0" smtClean="0">
                          <a:solidFill>
                            <a:schemeClr val="tx1"/>
                          </a:solidFill>
                          <a:latin typeface="Cambria Math" panose="02040503050406030204" pitchFamily="18" charset="0"/>
                        </a:rPr>
                        <m:t>=</m:t>
                      </m:r>
                      <m:nary>
                        <m:naryPr>
                          <m:supHide m:val="on"/>
                          <m:ctrlPr>
                            <a:rPr lang="en-US" altLang="zh-CN" i="1" dirty="0">
                              <a:solidFill>
                                <a:schemeClr val="tx1"/>
                              </a:solidFill>
                              <a:latin typeface="Cambria Math" panose="02040503050406030204" pitchFamily="18" charset="0"/>
                            </a:rPr>
                          </m:ctrlPr>
                        </m:naryPr>
                        <m:sub>
                          <m:r>
                            <a:rPr lang="en-US" altLang="zh-CN" i="1" dirty="0">
                              <a:solidFill>
                                <a:schemeClr val="tx1"/>
                              </a:solidFill>
                              <a:latin typeface="Cambria Math" panose="02040503050406030204" pitchFamily="18" charset="0"/>
                            </a:rPr>
                            <m:t>𝐴</m:t>
                          </m:r>
                        </m:sub>
                        <m:sup/>
                        <m:e>
                          <m:r>
                            <a:rPr lang="en-US" altLang="zh-CN" i="1" dirty="0">
                              <a:solidFill>
                                <a:schemeClr val="tx1"/>
                              </a:solidFill>
                              <a:latin typeface="Cambria Math" panose="02040503050406030204" pitchFamily="18" charset="0"/>
                            </a:rPr>
                            <m:t>𝑓</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𝟏</m:t>
                                  </m:r>
                                </m:sub>
                              </m:sSub>
                              <m:r>
                                <a:rPr lang="en-US" altLang="zh-CN" b="1" i="1" dirty="0">
                                  <a:solidFill>
                                    <a:schemeClr val="tx1"/>
                                  </a:solidFill>
                                  <a:latin typeface="Cambria Math" panose="02040503050406030204" pitchFamily="18" charset="0"/>
                                </a:rPr>
                                <m:t>→</m:t>
                              </m:r>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𝟎</m:t>
                                  </m:r>
                                </m:sub>
                              </m:sSub>
                            </m:e>
                          </m:d>
                          <m:r>
                            <a:rPr lang="en-US" altLang="zh-CN" i="1" dirty="0">
                              <a:solidFill>
                                <a:schemeClr val="tx1"/>
                              </a:solidFill>
                              <a:latin typeface="Cambria Math" panose="02040503050406030204" pitchFamily="18" charset="0"/>
                            </a:rPr>
                            <m:t> </m:t>
                          </m:r>
                          <m:r>
                            <a:rPr lang="en-US" altLang="zh-CN" i="1" dirty="0" smtClean="0">
                              <a:solidFill>
                                <a:schemeClr val="accent2">
                                  <a:lumMod val="75000"/>
                                </a:schemeClr>
                              </a:solidFill>
                              <a:latin typeface="Cambria Math" panose="02040503050406030204" pitchFamily="18" charset="0"/>
                            </a:rPr>
                            <m:t>𝐿</m:t>
                          </m:r>
                          <m:d>
                            <m:dPr>
                              <m:ctrlPr>
                                <a:rPr lang="en-US" altLang="zh-CN" b="1" i="1" dirty="0">
                                  <a:solidFill>
                                    <a:schemeClr val="accent2">
                                      <a:lumMod val="75000"/>
                                    </a:schemeClr>
                                  </a:solidFill>
                                  <a:latin typeface="Cambria Math" panose="02040503050406030204" pitchFamily="18" charset="0"/>
                                </a:rPr>
                              </m:ctrlPr>
                            </m:dPr>
                            <m:e>
                              <m:sSub>
                                <m:sSubPr>
                                  <m:ctrlPr>
                                    <a:rPr lang="en-US" altLang="zh-CN" b="1" i="1" dirty="0">
                                      <a:solidFill>
                                        <a:schemeClr val="accent2">
                                          <a:lumMod val="75000"/>
                                        </a:schemeClr>
                                      </a:solidFill>
                                      <a:latin typeface="Cambria Math" panose="02040503050406030204" pitchFamily="18" charset="0"/>
                                    </a:rPr>
                                  </m:ctrlPr>
                                </m:sSubPr>
                                <m:e>
                                  <m:r>
                                    <a:rPr lang="en-US" altLang="zh-CN" b="1" i="1" dirty="0">
                                      <a:solidFill>
                                        <a:schemeClr val="accent2">
                                          <a:lumMod val="75000"/>
                                        </a:schemeClr>
                                      </a:solidFill>
                                      <a:latin typeface="Cambria Math" panose="02040503050406030204" pitchFamily="18" charset="0"/>
                                    </a:rPr>
                                    <m:t>𝒑</m:t>
                                  </m:r>
                                </m:e>
                                <m:sub>
                                  <m:r>
                                    <a:rPr lang="en-US" altLang="zh-CN" b="1" i="1" dirty="0">
                                      <a:solidFill>
                                        <a:schemeClr val="accent2">
                                          <a:lumMod val="75000"/>
                                        </a:schemeClr>
                                      </a:solidFill>
                                      <a:latin typeface="Cambria Math" panose="02040503050406030204" pitchFamily="18" charset="0"/>
                                    </a:rPr>
                                    <m:t>𝟐</m:t>
                                  </m:r>
                                </m:sub>
                              </m:sSub>
                              <m:r>
                                <a:rPr lang="en-US" altLang="zh-CN" b="1" i="1" dirty="0">
                                  <a:solidFill>
                                    <a:schemeClr val="accent2">
                                      <a:lumMod val="75000"/>
                                    </a:schemeClr>
                                  </a:solidFill>
                                  <a:latin typeface="Cambria Math" panose="02040503050406030204" pitchFamily="18" charset="0"/>
                                </a:rPr>
                                <m:t>→</m:t>
                              </m:r>
                              <m:sSub>
                                <m:sSubPr>
                                  <m:ctrlPr>
                                    <a:rPr lang="en-US" altLang="zh-CN" b="1" i="1" dirty="0">
                                      <a:solidFill>
                                        <a:schemeClr val="accent2">
                                          <a:lumMod val="75000"/>
                                        </a:schemeClr>
                                      </a:solidFill>
                                      <a:latin typeface="Cambria Math" panose="02040503050406030204" pitchFamily="18" charset="0"/>
                                    </a:rPr>
                                  </m:ctrlPr>
                                </m:sSubPr>
                                <m:e>
                                  <m:r>
                                    <a:rPr lang="en-US" altLang="zh-CN" b="1" i="1" dirty="0">
                                      <a:solidFill>
                                        <a:schemeClr val="accent2">
                                          <a:lumMod val="75000"/>
                                        </a:schemeClr>
                                      </a:solidFill>
                                      <a:latin typeface="Cambria Math" panose="02040503050406030204" pitchFamily="18" charset="0"/>
                                    </a:rPr>
                                    <m:t>𝒑</m:t>
                                  </m:r>
                                </m:e>
                                <m:sub>
                                  <m:r>
                                    <a:rPr lang="en-US" altLang="zh-CN" b="1" i="1" dirty="0">
                                      <a:solidFill>
                                        <a:schemeClr val="accent2">
                                          <a:lumMod val="75000"/>
                                        </a:schemeClr>
                                      </a:solidFill>
                                      <a:latin typeface="Cambria Math" panose="02040503050406030204" pitchFamily="18" charset="0"/>
                                    </a:rPr>
                                    <m:t>𝟏</m:t>
                                  </m:r>
                                </m:sub>
                              </m:sSub>
                            </m:e>
                          </m:d>
                          <m:r>
                            <a:rPr lang="en-US" altLang="zh-CN" b="1" i="1" dirty="0" smtClean="0">
                              <a:solidFill>
                                <a:schemeClr val="tx1"/>
                              </a:solidFill>
                              <a:latin typeface="Cambria Math" panose="02040503050406030204" pitchFamily="18" charset="0"/>
                            </a:rPr>
                            <m:t> </m:t>
                          </m:r>
                          <m:r>
                            <a:rPr lang="en-US" altLang="zh-CN" i="1" dirty="0">
                              <a:solidFill>
                                <a:schemeClr val="tx1"/>
                              </a:solidFill>
                              <a:latin typeface="Cambria Math" panose="02040503050406030204" pitchFamily="18" charset="0"/>
                            </a:rPr>
                            <m:t>𝐺</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r>
                                <a:rPr lang="en-US" altLang="zh-CN" b="1" i="1" dirty="0">
                                  <a:solidFill>
                                    <a:schemeClr val="tx1"/>
                                  </a:solidFill>
                                  <a:latin typeface="Cambria Math" panose="02040503050406030204" pitchFamily="18" charset="0"/>
                                  <a:ea typeface="Cambria Math" panose="02040503050406030204" pitchFamily="18" charset="0"/>
                                </a:rPr>
                                <m:t>↔</m:t>
                              </m:r>
                              <m:sSub>
                                <m:sSubPr>
                                  <m:ctrlPr>
                                    <a:rPr lang="en-US" altLang="zh-CN" b="1" i="1" dirty="0">
                                      <a:solidFill>
                                        <a:schemeClr val="tx1"/>
                                      </a:solidFill>
                                      <a:latin typeface="Cambria Math" panose="02040503050406030204" pitchFamily="18" charset="0"/>
                                      <a:ea typeface="Cambria Math" panose="02040503050406030204" pitchFamily="18" charset="0"/>
                                    </a:rPr>
                                  </m:ctrlPr>
                                </m:sSubPr>
                                <m:e>
                                  <m:r>
                                    <a:rPr lang="en-US" altLang="zh-CN" b="1" i="1" dirty="0">
                                      <a:solidFill>
                                        <a:schemeClr val="tx1"/>
                                      </a:solidFill>
                                      <a:latin typeface="Cambria Math" panose="02040503050406030204" pitchFamily="18" charset="0"/>
                                      <a:ea typeface="Cambria Math" panose="02040503050406030204" pitchFamily="18" charset="0"/>
                                    </a:rPr>
                                    <m:t>𝒑</m:t>
                                  </m:r>
                                </m:e>
                                <m:sub>
                                  <m:r>
                                    <a:rPr lang="en-US" altLang="zh-CN" b="1" i="1" dirty="0">
                                      <a:solidFill>
                                        <a:schemeClr val="tx1"/>
                                      </a:solidFill>
                                      <a:latin typeface="Cambria Math" panose="02040503050406030204" pitchFamily="18" charset="0"/>
                                      <a:ea typeface="Cambria Math" panose="02040503050406030204" pitchFamily="18" charset="0"/>
                                    </a:rPr>
                                    <m:t>𝟏</m:t>
                                  </m:r>
                                </m:sub>
                              </m:sSub>
                            </m:e>
                          </m:d>
                          <m:r>
                            <a:rPr lang="en-US" altLang="zh-CN" i="1" dirty="0">
                              <a:solidFill>
                                <a:schemeClr val="tx1"/>
                              </a:solidFill>
                              <a:latin typeface="Cambria Math" panose="02040503050406030204" pitchFamily="18" charset="0"/>
                            </a:rPr>
                            <m:t>𝑑𝐴</m:t>
                          </m:r>
                          <m:d>
                            <m:dPr>
                              <m:ctrlPr>
                                <a:rPr lang="en-US" altLang="zh-CN" b="1" i="1" dirty="0">
                                  <a:solidFill>
                                    <a:schemeClr val="tx1"/>
                                  </a:solidFill>
                                  <a:latin typeface="Cambria Math" panose="02040503050406030204" pitchFamily="18" charset="0"/>
                                </a:rPr>
                              </m:ctrlPr>
                            </m:dPr>
                            <m:e>
                              <m:sSub>
                                <m:sSubPr>
                                  <m:ctrlPr>
                                    <a:rPr lang="en-US" altLang="zh-CN" b="1"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𝒑</m:t>
                                  </m:r>
                                </m:e>
                                <m:sub>
                                  <m:r>
                                    <a:rPr lang="en-US" altLang="zh-CN" b="1" i="1" dirty="0">
                                      <a:solidFill>
                                        <a:schemeClr val="tx1"/>
                                      </a:solidFill>
                                      <a:latin typeface="Cambria Math" panose="02040503050406030204" pitchFamily="18" charset="0"/>
                                    </a:rPr>
                                    <m:t>𝟐</m:t>
                                  </m:r>
                                </m:sub>
                              </m:sSub>
                            </m:e>
                          </m:d>
                        </m:e>
                      </m:nary>
                    </m:oMath>
                  </m:oMathPara>
                </a14:m>
                <a:endParaRPr lang="en-US" altLang="zh-CN" b="1" i="1" dirty="0">
                  <a:solidFill>
                    <a:schemeClr val="tx1"/>
                  </a:solidFill>
                  <a:latin typeface="Cambria Math" panose="02040503050406030204" pitchFamily="18" charset="0"/>
                </a:endParaRPr>
              </a:p>
            </p:txBody>
          </p:sp>
        </mc:Choice>
        <mc:Fallback xmlns="">
          <p:sp>
            <p:nvSpPr>
              <p:cNvPr id="2" name="内容占位符 1">
                <a:extLst>
                  <a:ext uri="{FF2B5EF4-FFF2-40B4-BE49-F238E27FC236}">
                    <a16:creationId xmlns:a16="http://schemas.microsoft.com/office/drawing/2014/main" id="{11DE51F7-1387-4DFF-35B6-91A32C8AE5BB}"/>
                  </a:ext>
                </a:extLst>
              </p:cNvPr>
              <p:cNvSpPr>
                <a:spLocks noGrp="1" noRot="1" noChangeAspect="1" noMove="1" noResize="1" noEditPoints="1" noAdjustHandles="1" noChangeArrowheads="1" noChangeShapeType="1" noTextEdit="1"/>
              </p:cNvSpPr>
              <p:nvPr>
                <p:ph idx="3"/>
              </p:nvPr>
            </p:nvSpPr>
            <p:spPr>
              <a:xfrm>
                <a:off x="0" y="1873444"/>
                <a:ext cx="12192000" cy="3690229"/>
              </a:xfrm>
              <a:blipFill>
                <a:blip r:embed="rId3"/>
                <a:stretch>
                  <a:fillRect l="-4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8617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9FB22-047F-C3CA-89DD-3181493E2271}"/>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C1D0A8DB-B40B-3526-3909-3D068458E95F}"/>
              </a:ext>
            </a:extLst>
          </p:cNvPr>
          <p:cNvPicPr>
            <a:picLocks noChangeAspect="1"/>
          </p:cNvPicPr>
          <p:nvPr/>
        </p:nvPicPr>
        <p:blipFill>
          <a:blip r:embed="rId2"/>
          <a:stretch>
            <a:fillRect/>
          </a:stretch>
        </p:blipFill>
        <p:spPr>
          <a:xfrm>
            <a:off x="8300435" y="71405"/>
            <a:ext cx="3729270" cy="2503939"/>
          </a:xfrm>
          <a:prstGeom prst="rect">
            <a:avLst/>
          </a:prstGeom>
        </p:spPr>
      </p:pic>
      <p:sp>
        <p:nvSpPr>
          <p:cNvPr id="5" name="标题 4">
            <a:extLst>
              <a:ext uri="{FF2B5EF4-FFF2-40B4-BE49-F238E27FC236}">
                <a16:creationId xmlns:a16="http://schemas.microsoft.com/office/drawing/2014/main" id="{B285968D-7DA5-92E6-AB3A-3E4B93D69CD3}"/>
              </a:ext>
            </a:extLst>
          </p:cNvPr>
          <p:cNvSpPr>
            <a:spLocks noGrp="1"/>
          </p:cNvSpPr>
          <p:nvPr>
            <p:ph type="title" idx="1"/>
          </p:nvPr>
        </p:nvSpPr>
        <p:spPr/>
        <p:txBody>
          <a:bodyPr/>
          <a:lstStyle/>
          <a:p>
            <a:r>
              <a:rPr lang="zh-CN" altLang="en-US" dirty="0"/>
              <a:t>路径积分</a:t>
            </a:r>
          </a:p>
        </p:txBody>
      </p:sp>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F97C12B6-11DF-D9DD-D512-EE93D28E19A0}"/>
                  </a:ext>
                </a:extLst>
              </p:cNvPr>
              <p:cNvSpPr>
                <a:spLocks noGrp="1"/>
              </p:cNvSpPr>
              <p:nvPr>
                <p:ph idx="3"/>
              </p:nvPr>
            </p:nvSpPr>
            <p:spPr>
              <a:xfrm>
                <a:off x="232321" y="1502813"/>
                <a:ext cx="10800080" cy="4931410"/>
              </a:xfrm>
            </p:spPr>
            <p:txBody>
              <a:bodyPr>
                <a:normAutofit fontScale="92500"/>
              </a:bodyPr>
              <a:lstStyle/>
              <a:p>
                <a:pPr marL="0" indent="0">
                  <a:buNone/>
                </a:pPr>
                <a14:m>
                  <m:oMathPara xmlns:m="http://schemas.openxmlformats.org/officeDocument/2006/math">
                    <m:oMath>
                      <m:r>
                        <a:rPr lang="en-US" altLang="zh-CN" sz="1400" b="0" i="1" dirty="0" smtClean="0">
                          <a:latin typeface="Cambria Math" panose="02040503050406030204" pitchFamily="18" charset="0"/>
                        </a:rPr>
                        <m:t>𝐿</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smtClean="0">
                              <a:latin typeface="Cambria Math" panose="02040503050406030204" pitchFamily="18" charset="0"/>
                            </a:rPr>
                            <m:t>→</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𝟎</m:t>
                              </m:r>
                            </m:sub>
                          </m:sSub>
                        </m:e>
                      </m:d>
                      <m:r>
                        <a:rPr lang="en-US" altLang="zh-CN" sz="1400" b="1" i="1" smtClean="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𝟎</m:t>
                              </m:r>
                            </m:sub>
                          </m:sSub>
                        </m:e>
                      </m:d>
                      <m:r>
                        <a:rPr lang="en-US" altLang="zh-CN" sz="1400" b="1" i="1" dirty="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r>
                            <a:rPr lang="en-US" altLang="zh-CN" sz="1400" i="1" dirty="0">
                              <a:latin typeface="Cambria Math" panose="02040503050406030204" pitchFamily="18" charset="0"/>
                            </a:rPr>
                            <m:t>𝑓</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𝟎</m:t>
                                  </m:r>
                                </m:sub>
                              </m:sSub>
                            </m:e>
                          </m:d>
                          <m:r>
                            <a:rPr lang="en-US" altLang="zh-CN" sz="1400" b="0" i="1" dirty="0" smtClean="0">
                              <a:latin typeface="Cambria Math" panose="02040503050406030204" pitchFamily="18" charset="0"/>
                            </a:rPr>
                            <m:t> </m:t>
                          </m:r>
                          <m:r>
                            <a:rPr lang="en-US" altLang="zh-CN" sz="1400" b="0" i="1" dirty="0" smtClean="0">
                              <a:solidFill>
                                <a:schemeClr val="accent2">
                                  <a:lumMod val="75000"/>
                                </a:schemeClr>
                              </a:solidFill>
                              <a:latin typeface="Cambria Math" panose="02040503050406030204" pitchFamily="18" charset="0"/>
                            </a:rPr>
                            <m:t>𝐿</m:t>
                          </m:r>
                          <m:d>
                            <m:dPr>
                              <m:ctrlPr>
                                <a:rPr lang="en-US" altLang="zh-CN" sz="1400" b="1" i="1" dirty="0" smtClean="0">
                                  <a:solidFill>
                                    <a:schemeClr val="accent2">
                                      <a:lumMod val="75000"/>
                                    </a:schemeClr>
                                  </a:solidFill>
                                  <a:latin typeface="Cambria Math" panose="02040503050406030204" pitchFamily="18" charset="0"/>
                                </a:rPr>
                              </m:ctrlPr>
                            </m:dPr>
                            <m:e>
                              <m:sSub>
                                <m:sSubPr>
                                  <m:ctrlPr>
                                    <a:rPr lang="en-US" altLang="zh-CN" sz="1400" b="1" i="1" dirty="0" smtClean="0">
                                      <a:solidFill>
                                        <a:schemeClr val="accent2">
                                          <a:lumMod val="75000"/>
                                        </a:schemeClr>
                                      </a:solidFill>
                                      <a:latin typeface="Cambria Math" panose="02040503050406030204" pitchFamily="18" charset="0"/>
                                    </a:rPr>
                                  </m:ctrlPr>
                                </m:sSubPr>
                                <m:e>
                                  <m:r>
                                    <a:rPr lang="en-US" altLang="zh-CN" sz="1400" b="1" i="1" dirty="0" smtClean="0">
                                      <a:solidFill>
                                        <a:schemeClr val="accent2">
                                          <a:lumMod val="75000"/>
                                        </a:schemeClr>
                                      </a:solidFill>
                                      <a:latin typeface="Cambria Math" panose="02040503050406030204" pitchFamily="18" charset="0"/>
                                    </a:rPr>
                                    <m:t>𝒑</m:t>
                                  </m:r>
                                </m:e>
                                <m:sub>
                                  <m:r>
                                    <a:rPr lang="en-US" altLang="zh-CN" sz="1400" b="1" i="1" dirty="0" smtClean="0">
                                      <a:solidFill>
                                        <a:schemeClr val="accent2">
                                          <a:lumMod val="75000"/>
                                        </a:schemeClr>
                                      </a:solidFill>
                                      <a:latin typeface="Cambria Math" panose="02040503050406030204" pitchFamily="18" charset="0"/>
                                    </a:rPr>
                                    <m:t>𝟐</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smtClean="0">
                                      <a:solidFill>
                                        <a:schemeClr val="accent2">
                                          <a:lumMod val="75000"/>
                                        </a:schemeClr>
                                      </a:solidFill>
                                      <a:latin typeface="Cambria Math" panose="02040503050406030204" pitchFamily="18" charset="0"/>
                                    </a:rPr>
                                  </m:ctrlPr>
                                </m:sSubPr>
                                <m:e>
                                  <m:r>
                                    <a:rPr lang="en-US" altLang="zh-CN" sz="1400" b="1" i="1" dirty="0" smtClean="0">
                                      <a:solidFill>
                                        <a:schemeClr val="accent2">
                                          <a:lumMod val="75000"/>
                                        </a:schemeClr>
                                      </a:solidFill>
                                      <a:latin typeface="Cambria Math" panose="02040503050406030204" pitchFamily="18" charset="0"/>
                                    </a:rPr>
                                    <m:t>𝒑</m:t>
                                  </m:r>
                                </m:e>
                                <m:sub>
                                  <m:r>
                                    <a:rPr lang="en-US" altLang="zh-CN" sz="1400" b="1" i="1" dirty="0" smtClean="0">
                                      <a:solidFill>
                                        <a:schemeClr val="accent2">
                                          <a:lumMod val="75000"/>
                                        </a:schemeClr>
                                      </a:solidFill>
                                      <a:latin typeface="Cambria Math" panose="02040503050406030204" pitchFamily="18" charset="0"/>
                                    </a:rPr>
                                    <m:t>𝟏</m:t>
                                  </m:r>
                                </m:sub>
                              </m:sSub>
                            </m:e>
                          </m:d>
                          <m:r>
                            <a:rPr lang="en-US" altLang="zh-CN" sz="1400" b="1" i="1" dirty="0" smtClean="0">
                              <a:latin typeface="Cambria Math" panose="02040503050406030204" pitchFamily="18" charset="0"/>
                            </a:rPr>
                            <m:t> </m:t>
                          </m:r>
                          <m:r>
                            <a:rPr lang="en-US" altLang="zh-CN" sz="1400" b="0" i="1" dirty="0">
                              <a:latin typeface="Cambria Math" panose="02040503050406030204" pitchFamily="18" charset="0"/>
                            </a:rPr>
                            <m:t>𝐺</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smtClean="0">
                                      <a:latin typeface="Cambria Math" panose="02040503050406030204" pitchFamily="18" charset="0"/>
                                      <a:ea typeface="Cambria Math" panose="02040503050406030204" pitchFamily="18" charset="0"/>
                                    </a:rPr>
                                  </m:ctrlPr>
                                </m:sSubPr>
                                <m:e>
                                  <m:r>
                                    <a:rPr lang="en-US" altLang="zh-CN" sz="1400" b="1" i="1" dirty="0" smtClean="0">
                                      <a:latin typeface="Cambria Math" panose="02040503050406030204" pitchFamily="18" charset="0"/>
                                      <a:ea typeface="Cambria Math" panose="02040503050406030204" pitchFamily="18" charset="0"/>
                                    </a:rPr>
                                    <m:t>𝒑</m:t>
                                  </m:r>
                                </m:e>
                                <m:sub>
                                  <m:r>
                                    <a:rPr lang="en-US" altLang="zh-CN" sz="1400" b="1" i="1" dirty="0" smtClean="0">
                                      <a:latin typeface="Cambria Math" panose="02040503050406030204" pitchFamily="18" charset="0"/>
                                      <a:ea typeface="Cambria Math" panose="02040503050406030204" pitchFamily="18" charset="0"/>
                                    </a:rPr>
                                    <m:t>𝟏</m:t>
                                  </m:r>
                                </m:sub>
                              </m:sSub>
                            </m:e>
                          </m:d>
                          <m:r>
                            <a:rPr lang="en-US" altLang="zh-CN" sz="1400" b="0" i="1" dirty="0" smtClean="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e>
                          </m:d>
                        </m:e>
                      </m:nary>
                    </m:oMath>
                  </m:oMathPara>
                </a14:m>
                <a:endParaRPr lang="en-US" altLang="zh-CN" sz="1400" b="1" i="1" dirty="0">
                  <a:latin typeface="Cambria Math" panose="02040503050406030204" pitchFamily="18" charset="0"/>
                </a:endParaRPr>
              </a:p>
              <a:p>
                <a:pPr marL="0" indent="0">
                  <a:buNone/>
                </a:pPr>
                <a14:m>
                  <m:oMathPara xmlns:m="http://schemas.openxmlformats.org/officeDocument/2006/math">
                    <m:oMath>
                      <m:r>
                        <a:rPr lang="en-US" altLang="zh-CN" sz="1400" b="0" i="1" dirty="0" smtClean="0">
                          <a:solidFill>
                            <a:schemeClr val="accent2">
                              <a:lumMod val="75000"/>
                            </a:schemeClr>
                          </a:solidFill>
                          <a:latin typeface="Cambria Math" panose="02040503050406030204" pitchFamily="18" charset="0"/>
                        </a:rPr>
                        <m:t>𝐿</m:t>
                      </m:r>
                      <m:d>
                        <m:dPr>
                          <m:ctrlPr>
                            <a:rPr lang="en-US" altLang="zh-CN" sz="1400" b="1" i="1" dirty="0" smtClean="0">
                              <a:solidFill>
                                <a:schemeClr val="accent2">
                                  <a:lumMod val="75000"/>
                                </a:schemeClr>
                              </a:solidFill>
                              <a:latin typeface="Cambria Math" panose="02040503050406030204" pitchFamily="18" charset="0"/>
                            </a:rPr>
                          </m:ctrlPr>
                        </m:dPr>
                        <m:e>
                          <m:sSub>
                            <m:sSubPr>
                              <m:ctrlPr>
                                <a:rPr lang="en-US" altLang="zh-CN" sz="1400" b="1" i="1" dirty="0" smtClean="0">
                                  <a:solidFill>
                                    <a:schemeClr val="accent2">
                                      <a:lumMod val="75000"/>
                                    </a:schemeClr>
                                  </a:solidFill>
                                  <a:latin typeface="Cambria Math" panose="02040503050406030204" pitchFamily="18" charset="0"/>
                                </a:rPr>
                              </m:ctrlPr>
                            </m:sSubPr>
                            <m:e>
                              <m:r>
                                <a:rPr lang="en-US" altLang="zh-CN" sz="1400" b="1" i="1" dirty="0" smtClean="0">
                                  <a:solidFill>
                                    <a:schemeClr val="accent2">
                                      <a:lumMod val="75000"/>
                                    </a:schemeClr>
                                  </a:solidFill>
                                  <a:latin typeface="Cambria Math" panose="02040503050406030204" pitchFamily="18" charset="0"/>
                                </a:rPr>
                                <m:t>𝒑</m:t>
                              </m:r>
                            </m:e>
                            <m:sub>
                              <m:r>
                                <a:rPr lang="en-US" altLang="zh-CN" sz="1400" b="1" i="1" dirty="0" smtClean="0">
                                  <a:solidFill>
                                    <a:schemeClr val="accent2">
                                      <a:lumMod val="75000"/>
                                    </a:schemeClr>
                                  </a:solidFill>
                                  <a:latin typeface="Cambria Math" panose="02040503050406030204" pitchFamily="18" charset="0"/>
                                </a:rPr>
                                <m:t>𝟐</m:t>
                              </m:r>
                            </m:sub>
                          </m:sSub>
                          <m:r>
                            <a:rPr lang="en-US" altLang="zh-CN" sz="1400" b="1" i="1" dirty="0" smtClean="0">
                              <a:solidFill>
                                <a:schemeClr val="accent2">
                                  <a:lumMod val="75000"/>
                                </a:schemeClr>
                              </a:solidFill>
                              <a:latin typeface="Cambria Math" panose="02040503050406030204" pitchFamily="18" charset="0"/>
                            </a:rPr>
                            <m:t>→</m:t>
                          </m:r>
                          <m:sSub>
                            <m:sSubPr>
                              <m:ctrlPr>
                                <a:rPr lang="en-US" altLang="zh-CN" sz="1400" b="1" i="1" dirty="0" smtClean="0">
                                  <a:solidFill>
                                    <a:schemeClr val="accent2">
                                      <a:lumMod val="75000"/>
                                    </a:schemeClr>
                                  </a:solidFill>
                                  <a:latin typeface="Cambria Math" panose="02040503050406030204" pitchFamily="18" charset="0"/>
                                </a:rPr>
                              </m:ctrlPr>
                            </m:sSubPr>
                            <m:e>
                              <m:r>
                                <a:rPr lang="en-US" altLang="zh-CN" sz="1400" b="1" i="1" dirty="0" smtClean="0">
                                  <a:solidFill>
                                    <a:schemeClr val="accent2">
                                      <a:lumMod val="75000"/>
                                    </a:schemeClr>
                                  </a:solidFill>
                                  <a:latin typeface="Cambria Math" panose="02040503050406030204" pitchFamily="18" charset="0"/>
                                </a:rPr>
                                <m:t>𝒑</m:t>
                              </m:r>
                            </m:e>
                            <m:sub>
                              <m:r>
                                <a:rPr lang="en-US" altLang="zh-CN" sz="1400" b="1" i="1" dirty="0" smtClean="0">
                                  <a:solidFill>
                                    <a:schemeClr val="accent2">
                                      <a:lumMod val="75000"/>
                                    </a:schemeClr>
                                  </a:solidFill>
                                  <a:latin typeface="Cambria Math" panose="02040503050406030204" pitchFamily="18" charset="0"/>
                                </a:rPr>
                                <m:t>𝟏</m:t>
                              </m:r>
                            </m:sub>
                          </m:sSub>
                        </m:e>
                      </m:d>
                      <m:r>
                        <a:rPr lang="en-US" altLang="zh-CN" sz="1400" b="1" i="1" smtClean="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𝟏</m:t>
                              </m:r>
                            </m:sub>
                          </m:sSub>
                        </m:e>
                      </m:d>
                      <m:r>
                        <a:rPr lang="en-US" altLang="zh-CN" sz="1400" b="1" i="1" dirty="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r>
                            <a:rPr lang="en-US" altLang="zh-CN" sz="1400" i="1" dirty="0">
                              <a:latin typeface="Cambria Math" panose="02040503050406030204" pitchFamily="18" charset="0"/>
                            </a:rPr>
                            <m:t>𝑓</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𝟑</m:t>
                                  </m:r>
                                </m:sub>
                              </m:sSub>
                              <m:r>
                                <a:rPr lang="en-US" altLang="zh-CN" sz="1400" b="1" i="1" dirty="0">
                                  <a:latin typeface="Cambria Math" panose="02040503050406030204" pitchFamily="18" charset="0"/>
                                </a:rPr>
                                <m:t>→</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𝟏</m:t>
                                  </m:r>
                                </m:sub>
                              </m:sSub>
                            </m:e>
                          </m:d>
                          <m:r>
                            <a:rPr lang="en-US" altLang="zh-CN" sz="1400" b="0" i="1" dirty="0" smtClean="0">
                              <a:latin typeface="Cambria Math" panose="02040503050406030204" pitchFamily="18" charset="0"/>
                            </a:rPr>
                            <m:t> </m:t>
                          </m:r>
                          <m:r>
                            <a:rPr lang="en-US" altLang="zh-CN" sz="1400" b="0" i="1" dirty="0" smtClean="0">
                              <a:solidFill>
                                <a:schemeClr val="accent6">
                                  <a:lumMod val="50000"/>
                                </a:schemeClr>
                              </a:solidFill>
                              <a:latin typeface="Cambria Math" panose="02040503050406030204" pitchFamily="18" charset="0"/>
                            </a:rPr>
                            <m:t>𝐿</m:t>
                          </m:r>
                          <m:d>
                            <m:dPr>
                              <m:ctrlPr>
                                <a:rPr lang="en-US" altLang="zh-CN" sz="1400" b="1" i="1" dirty="0" smtClean="0">
                                  <a:solidFill>
                                    <a:schemeClr val="accent6">
                                      <a:lumMod val="50000"/>
                                    </a:schemeClr>
                                  </a:solidFill>
                                  <a:latin typeface="Cambria Math" panose="02040503050406030204" pitchFamily="18" charset="0"/>
                                </a:rPr>
                              </m:ctrlPr>
                            </m:dPr>
                            <m:e>
                              <m:sSub>
                                <m:sSubPr>
                                  <m:ctrlPr>
                                    <a:rPr lang="en-US" altLang="zh-CN" sz="1400" b="1" i="1" dirty="0" smtClean="0">
                                      <a:solidFill>
                                        <a:schemeClr val="accent6">
                                          <a:lumMod val="50000"/>
                                        </a:schemeClr>
                                      </a:solidFill>
                                      <a:latin typeface="Cambria Math" panose="02040503050406030204" pitchFamily="18" charset="0"/>
                                    </a:rPr>
                                  </m:ctrlPr>
                                </m:sSubPr>
                                <m:e>
                                  <m:r>
                                    <a:rPr lang="en-US" altLang="zh-CN" sz="1400" b="1" i="1" dirty="0" smtClean="0">
                                      <a:solidFill>
                                        <a:schemeClr val="accent6">
                                          <a:lumMod val="50000"/>
                                        </a:schemeClr>
                                      </a:solidFill>
                                      <a:latin typeface="Cambria Math" panose="02040503050406030204" pitchFamily="18" charset="0"/>
                                    </a:rPr>
                                    <m:t>𝒑</m:t>
                                  </m:r>
                                </m:e>
                                <m:sub>
                                  <m:r>
                                    <a:rPr lang="en-US" altLang="zh-CN" sz="1400" b="1" i="1" dirty="0" smtClean="0">
                                      <a:solidFill>
                                        <a:schemeClr val="accent6">
                                          <a:lumMod val="50000"/>
                                        </a:schemeClr>
                                      </a:solidFill>
                                      <a:latin typeface="Cambria Math" panose="02040503050406030204" pitchFamily="18" charset="0"/>
                                    </a:rPr>
                                    <m:t>𝟑</m:t>
                                  </m:r>
                                </m:sub>
                              </m:sSub>
                              <m:r>
                                <a:rPr lang="en-US" altLang="zh-CN" sz="1400" b="1" i="1" dirty="0">
                                  <a:solidFill>
                                    <a:schemeClr val="accent6">
                                      <a:lumMod val="50000"/>
                                    </a:schemeClr>
                                  </a:solidFill>
                                  <a:latin typeface="Cambria Math" panose="02040503050406030204" pitchFamily="18" charset="0"/>
                                </a:rPr>
                                <m:t>→</m:t>
                              </m:r>
                              <m:sSub>
                                <m:sSubPr>
                                  <m:ctrlPr>
                                    <a:rPr lang="en-US" altLang="zh-CN" sz="1400" b="1" i="1" dirty="0" smtClean="0">
                                      <a:solidFill>
                                        <a:schemeClr val="accent6">
                                          <a:lumMod val="50000"/>
                                        </a:schemeClr>
                                      </a:solidFill>
                                      <a:latin typeface="Cambria Math" panose="02040503050406030204" pitchFamily="18" charset="0"/>
                                    </a:rPr>
                                  </m:ctrlPr>
                                </m:sSubPr>
                                <m:e>
                                  <m:r>
                                    <a:rPr lang="en-US" altLang="zh-CN" sz="1400" b="1" i="1" dirty="0" smtClean="0">
                                      <a:solidFill>
                                        <a:schemeClr val="accent6">
                                          <a:lumMod val="50000"/>
                                        </a:schemeClr>
                                      </a:solidFill>
                                      <a:latin typeface="Cambria Math" panose="02040503050406030204" pitchFamily="18" charset="0"/>
                                    </a:rPr>
                                    <m:t>𝒑</m:t>
                                  </m:r>
                                </m:e>
                                <m:sub>
                                  <m:r>
                                    <a:rPr lang="en-US" altLang="zh-CN" sz="1400" b="1" i="1" dirty="0" smtClean="0">
                                      <a:solidFill>
                                        <a:schemeClr val="accent6">
                                          <a:lumMod val="50000"/>
                                        </a:schemeClr>
                                      </a:solidFill>
                                      <a:latin typeface="Cambria Math" panose="02040503050406030204" pitchFamily="18" charset="0"/>
                                    </a:rPr>
                                    <m:t>𝟐</m:t>
                                  </m:r>
                                </m:sub>
                              </m:sSub>
                            </m:e>
                          </m:d>
                          <m:r>
                            <a:rPr lang="en-US" altLang="zh-CN" sz="1400" b="1" i="1" dirty="0" smtClean="0">
                              <a:latin typeface="Cambria Math" panose="02040503050406030204" pitchFamily="18" charset="0"/>
                            </a:rPr>
                            <m:t> </m:t>
                          </m:r>
                          <m:r>
                            <a:rPr lang="en-US" altLang="zh-CN" sz="1400" b="0" i="1" dirty="0">
                              <a:latin typeface="Cambria Math" panose="02040503050406030204" pitchFamily="18" charset="0"/>
                            </a:rPr>
                            <m:t>𝐺</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𝟑</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smtClean="0">
                                      <a:latin typeface="Cambria Math" panose="02040503050406030204" pitchFamily="18" charset="0"/>
                                      <a:ea typeface="Cambria Math" panose="02040503050406030204" pitchFamily="18" charset="0"/>
                                    </a:rPr>
                                  </m:ctrlPr>
                                </m:sSubPr>
                                <m:e>
                                  <m:r>
                                    <a:rPr lang="en-US" altLang="zh-CN" sz="1400" b="1" i="1" dirty="0" smtClean="0">
                                      <a:latin typeface="Cambria Math" panose="02040503050406030204" pitchFamily="18" charset="0"/>
                                      <a:ea typeface="Cambria Math" panose="02040503050406030204" pitchFamily="18" charset="0"/>
                                    </a:rPr>
                                    <m:t>𝒑</m:t>
                                  </m:r>
                                </m:e>
                                <m:sub>
                                  <m:r>
                                    <a:rPr lang="en-US" altLang="zh-CN" sz="1400" b="1" i="1" dirty="0" smtClean="0">
                                      <a:latin typeface="Cambria Math" panose="02040503050406030204" pitchFamily="18" charset="0"/>
                                      <a:ea typeface="Cambria Math" panose="02040503050406030204" pitchFamily="18" charset="0"/>
                                    </a:rPr>
                                    <m:t>𝟐</m:t>
                                  </m:r>
                                </m:sub>
                              </m:sSub>
                            </m:e>
                          </m:d>
                          <m:r>
                            <a:rPr lang="en-US" altLang="zh-CN" sz="1400" b="0" i="1" dirty="0" smtClean="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𝟑</m:t>
                                  </m:r>
                                </m:sub>
                              </m:sSub>
                            </m:e>
                          </m:d>
                        </m:e>
                      </m:nary>
                    </m:oMath>
                  </m:oMathPara>
                </a14:m>
                <a:endParaRPr lang="en-US" altLang="zh-CN" sz="1400" b="1" i="1" dirty="0">
                  <a:latin typeface="Cambria Math" panose="02040503050406030204" pitchFamily="18" charset="0"/>
                </a:endParaRPr>
              </a:p>
              <a:p>
                <a:pPr marL="0" indent="0">
                  <a:buNone/>
                </a:pPr>
                <a14:m>
                  <m:oMathPara xmlns:m="http://schemas.openxmlformats.org/officeDocument/2006/math">
                    <m:oMath>
                      <m:r>
                        <a:rPr lang="en-US" altLang="zh-CN" sz="1400" i="1" dirty="0" smtClean="0">
                          <a:solidFill>
                            <a:schemeClr val="accent6">
                              <a:lumMod val="50000"/>
                            </a:schemeClr>
                          </a:solidFill>
                          <a:latin typeface="Cambria Math" panose="02040503050406030204" pitchFamily="18" charset="0"/>
                        </a:rPr>
                        <m:t>𝐿</m:t>
                      </m:r>
                      <m:d>
                        <m:dPr>
                          <m:ctrlPr>
                            <a:rPr lang="en-US" altLang="zh-CN" sz="1400" b="1" i="1" dirty="0">
                              <a:solidFill>
                                <a:schemeClr val="accent6">
                                  <a:lumMod val="50000"/>
                                </a:schemeClr>
                              </a:solidFill>
                              <a:latin typeface="Cambria Math" panose="02040503050406030204" pitchFamily="18" charset="0"/>
                            </a:rPr>
                          </m:ctrlPr>
                        </m:dPr>
                        <m:e>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smtClean="0">
                                  <a:solidFill>
                                    <a:schemeClr val="accent6">
                                      <a:lumMod val="50000"/>
                                    </a:schemeClr>
                                  </a:solidFill>
                                  <a:latin typeface="Cambria Math" panose="02040503050406030204" pitchFamily="18" charset="0"/>
                                </a:rPr>
                                <m:t>𝟑</m:t>
                              </m:r>
                            </m:sub>
                          </m:sSub>
                          <m:r>
                            <a:rPr lang="en-US" altLang="zh-CN" sz="1400" b="1" i="1" dirty="0">
                              <a:solidFill>
                                <a:schemeClr val="accent6">
                                  <a:lumMod val="50000"/>
                                </a:schemeClr>
                              </a:solidFill>
                              <a:latin typeface="Cambria Math" panose="02040503050406030204" pitchFamily="18" charset="0"/>
                            </a:rPr>
                            <m:t>→</m:t>
                          </m:r>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smtClean="0">
                                  <a:solidFill>
                                    <a:schemeClr val="accent6">
                                      <a:lumMod val="50000"/>
                                    </a:schemeClr>
                                  </a:solidFill>
                                  <a:latin typeface="Cambria Math" panose="02040503050406030204" pitchFamily="18" charset="0"/>
                                </a:rPr>
                                <m:t>𝟐</m:t>
                              </m:r>
                            </m:sub>
                          </m:sSub>
                        </m:e>
                      </m:d>
                      <m:r>
                        <a:rPr lang="en-US" altLang="zh-CN" sz="1400" b="1" i="1">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𝟑</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𝟐</m:t>
                              </m:r>
                            </m:sub>
                          </m:sSub>
                        </m:e>
                      </m:d>
                      <m:r>
                        <a:rPr lang="en-US" altLang="zh-CN" sz="1400" b="1" i="1" dirty="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r>
                            <a:rPr lang="en-US" altLang="zh-CN" sz="1400" i="1" dirty="0">
                              <a:latin typeface="Cambria Math" panose="02040503050406030204" pitchFamily="18" charset="0"/>
                            </a:rPr>
                            <m:t>𝑓</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𝟒</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𝟑</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𝟐</m:t>
                                  </m:r>
                                </m:sub>
                              </m:sSub>
                            </m:e>
                          </m:d>
                          <m:r>
                            <a:rPr lang="en-US" altLang="zh-CN" sz="1400" i="1" dirty="0">
                              <a:latin typeface="Cambria Math" panose="02040503050406030204" pitchFamily="18" charset="0"/>
                            </a:rPr>
                            <m:t> </m:t>
                          </m:r>
                          <m:r>
                            <a:rPr lang="en-US" altLang="zh-CN" sz="1400" i="1" dirty="0" smtClean="0">
                              <a:solidFill>
                                <a:schemeClr val="accent3">
                                  <a:lumMod val="75000"/>
                                </a:schemeClr>
                              </a:solidFill>
                              <a:latin typeface="Cambria Math" panose="02040503050406030204" pitchFamily="18" charset="0"/>
                            </a:rPr>
                            <m:t>𝐿</m:t>
                          </m:r>
                          <m:d>
                            <m:dPr>
                              <m:ctrlPr>
                                <a:rPr lang="en-US" altLang="zh-CN" sz="1400" b="1" i="1" dirty="0">
                                  <a:solidFill>
                                    <a:schemeClr val="accent3">
                                      <a:lumMod val="75000"/>
                                    </a:schemeClr>
                                  </a:solidFill>
                                  <a:latin typeface="Cambria Math" panose="02040503050406030204" pitchFamily="18" charset="0"/>
                                </a:rPr>
                              </m:ctrlPr>
                            </m:dPr>
                            <m:e>
                              <m:sSub>
                                <m:sSubPr>
                                  <m:ctrlPr>
                                    <a:rPr lang="en-US" altLang="zh-CN" sz="1400" b="1" i="1" dirty="0">
                                      <a:solidFill>
                                        <a:schemeClr val="accent3">
                                          <a:lumMod val="75000"/>
                                        </a:schemeClr>
                                      </a:solidFill>
                                      <a:latin typeface="Cambria Math" panose="02040503050406030204" pitchFamily="18" charset="0"/>
                                    </a:rPr>
                                  </m:ctrlPr>
                                </m:sSubPr>
                                <m:e>
                                  <m:r>
                                    <a:rPr lang="en-US" altLang="zh-CN" sz="1400" b="1" i="1" dirty="0">
                                      <a:solidFill>
                                        <a:schemeClr val="accent3">
                                          <a:lumMod val="75000"/>
                                        </a:schemeClr>
                                      </a:solidFill>
                                      <a:latin typeface="Cambria Math" panose="02040503050406030204" pitchFamily="18" charset="0"/>
                                    </a:rPr>
                                    <m:t>𝒑</m:t>
                                  </m:r>
                                </m:e>
                                <m:sub>
                                  <m:r>
                                    <a:rPr lang="en-US" altLang="zh-CN" sz="1400" b="1" i="1" dirty="0" smtClean="0">
                                      <a:solidFill>
                                        <a:schemeClr val="accent3">
                                          <a:lumMod val="75000"/>
                                        </a:schemeClr>
                                      </a:solidFill>
                                      <a:latin typeface="Cambria Math" panose="02040503050406030204" pitchFamily="18" charset="0"/>
                                    </a:rPr>
                                    <m:t>𝟒</m:t>
                                  </m:r>
                                </m:sub>
                              </m:sSub>
                              <m:r>
                                <a:rPr lang="en-US" altLang="zh-CN" sz="1400" b="1" i="1" dirty="0">
                                  <a:solidFill>
                                    <a:schemeClr val="accent3">
                                      <a:lumMod val="75000"/>
                                    </a:schemeClr>
                                  </a:solidFill>
                                  <a:latin typeface="Cambria Math" panose="02040503050406030204" pitchFamily="18" charset="0"/>
                                </a:rPr>
                                <m:t>→</m:t>
                              </m:r>
                              <m:sSub>
                                <m:sSubPr>
                                  <m:ctrlPr>
                                    <a:rPr lang="en-US" altLang="zh-CN" sz="1400" b="1" i="1" dirty="0">
                                      <a:solidFill>
                                        <a:schemeClr val="accent3">
                                          <a:lumMod val="75000"/>
                                        </a:schemeClr>
                                      </a:solidFill>
                                      <a:latin typeface="Cambria Math" panose="02040503050406030204" pitchFamily="18" charset="0"/>
                                    </a:rPr>
                                  </m:ctrlPr>
                                </m:sSubPr>
                                <m:e>
                                  <m:r>
                                    <a:rPr lang="en-US" altLang="zh-CN" sz="1400" b="1" i="1" dirty="0">
                                      <a:solidFill>
                                        <a:schemeClr val="accent3">
                                          <a:lumMod val="75000"/>
                                        </a:schemeClr>
                                      </a:solidFill>
                                      <a:latin typeface="Cambria Math" panose="02040503050406030204" pitchFamily="18" charset="0"/>
                                    </a:rPr>
                                    <m:t>𝒑</m:t>
                                  </m:r>
                                </m:e>
                                <m:sub>
                                  <m:r>
                                    <a:rPr lang="en-US" altLang="zh-CN" sz="1400" b="1" i="1" dirty="0" smtClean="0">
                                      <a:solidFill>
                                        <a:schemeClr val="accent3">
                                          <a:lumMod val="75000"/>
                                        </a:schemeClr>
                                      </a:solidFill>
                                      <a:latin typeface="Cambria Math" panose="02040503050406030204" pitchFamily="18" charset="0"/>
                                    </a:rPr>
                                    <m:t>𝟑</m:t>
                                  </m:r>
                                </m:sub>
                              </m:sSub>
                            </m:e>
                          </m:d>
                          <m:r>
                            <a:rPr lang="en-US" altLang="zh-CN" sz="1400" b="1" i="1" dirty="0">
                              <a:latin typeface="Cambria Math" panose="02040503050406030204" pitchFamily="18" charset="0"/>
                            </a:rPr>
                            <m:t> </m:t>
                          </m:r>
                          <m:r>
                            <a:rPr lang="en-US" altLang="zh-CN" sz="1400" i="1" dirty="0">
                              <a:latin typeface="Cambria Math" panose="02040503050406030204" pitchFamily="18" charset="0"/>
                            </a:rPr>
                            <m:t>𝐺</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𝟒</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a:latin typeface="Cambria Math" panose="02040503050406030204" pitchFamily="18" charset="0"/>
                                      <a:ea typeface="Cambria Math" panose="02040503050406030204" pitchFamily="18" charset="0"/>
                                    </a:rPr>
                                  </m:ctrlPr>
                                </m:sSubPr>
                                <m:e>
                                  <m:r>
                                    <a:rPr lang="en-US" altLang="zh-CN" sz="1400" b="1" i="1" dirty="0">
                                      <a:latin typeface="Cambria Math" panose="02040503050406030204" pitchFamily="18" charset="0"/>
                                      <a:ea typeface="Cambria Math" panose="02040503050406030204" pitchFamily="18" charset="0"/>
                                    </a:rPr>
                                    <m:t>𝒑</m:t>
                                  </m:r>
                                </m:e>
                                <m:sub>
                                  <m:r>
                                    <a:rPr lang="en-US" altLang="zh-CN" sz="1400" b="1" i="1" dirty="0" smtClean="0">
                                      <a:latin typeface="Cambria Math" panose="02040503050406030204" pitchFamily="18" charset="0"/>
                                      <a:ea typeface="Cambria Math" panose="02040503050406030204" pitchFamily="18" charset="0"/>
                                    </a:rPr>
                                    <m:t>𝟑</m:t>
                                  </m:r>
                                </m:sub>
                              </m:sSub>
                            </m:e>
                          </m:d>
                          <m:r>
                            <a:rPr lang="en-US" altLang="zh-CN" sz="1400" i="1" dirty="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𝟒</m:t>
                                  </m:r>
                                </m:sub>
                              </m:sSub>
                            </m:e>
                          </m:d>
                        </m:e>
                      </m:nary>
                    </m:oMath>
                  </m:oMathPara>
                </a14:m>
                <a:endParaRPr lang="en-US" altLang="zh-CN" sz="1400" b="1" i="1" dirty="0">
                  <a:latin typeface="Cambria Math" panose="02040503050406030204" pitchFamily="18" charset="0"/>
                </a:endParaRPr>
              </a:p>
              <a:p>
                <a:pPr marL="0" indent="0">
                  <a:buNone/>
                </a:pPr>
                <a14:m>
                  <m:oMathPara xmlns:m="http://schemas.openxmlformats.org/officeDocument/2006/math">
                    <m:oMath>
                      <m:r>
                        <a:rPr lang="en-US" altLang="zh-CN" sz="1400" b="0" i="1" dirty="0" smtClean="0">
                          <a:latin typeface="Cambria Math" panose="02040503050406030204" pitchFamily="18" charset="0"/>
                        </a:rPr>
                        <m:t>𝐿</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smtClean="0">
                              <a:latin typeface="Cambria Math" panose="02040503050406030204" pitchFamily="18" charset="0"/>
                            </a:rPr>
                            <m:t>→</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𝟎</m:t>
                              </m:r>
                            </m:sub>
                          </m:sSub>
                        </m:e>
                      </m:d>
                      <m:r>
                        <a:rPr lang="en-US" altLang="zh-CN" sz="1400" b="1" i="1" smtClean="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𝟎</m:t>
                              </m:r>
                            </m:sub>
                          </m:sSub>
                        </m:e>
                      </m:d>
                    </m:oMath>
                    <m:oMath>
                      <m:r>
                        <a:rPr lang="en-US" altLang="zh-CN" sz="1400" b="1" i="1" dirty="0" smtClean="0">
                          <a:latin typeface="Cambria Math" panose="02040503050406030204" pitchFamily="18" charset="0"/>
                        </a:rPr>
                        <m:t>    </m:t>
                      </m:r>
                      <m:r>
                        <a:rPr lang="en-US" altLang="zh-CN" sz="1400" b="1" i="1" dirty="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r>
                            <a:rPr lang="en-US" altLang="zh-CN" sz="1400" i="1" dirty="0">
                              <a:latin typeface="Cambria Math" panose="02040503050406030204" pitchFamily="18" charset="0"/>
                            </a:rPr>
                            <m:t>𝑓</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𝟎</m:t>
                                  </m:r>
                                </m:sub>
                              </m:sSub>
                            </m:e>
                          </m:d>
                          <m:r>
                            <a:rPr lang="en-US" altLang="zh-CN" sz="1400" b="0" i="1" dirty="0" smtClean="0">
                              <a:latin typeface="Cambria Math" panose="02040503050406030204" pitchFamily="18" charset="0"/>
                            </a:rPr>
                            <m:t> </m:t>
                          </m:r>
                          <m:d>
                            <m:dPr>
                              <m:ctrlPr>
                                <a:rPr lang="en-US" altLang="zh-CN" sz="1400" i="1" dirty="0">
                                  <a:solidFill>
                                    <a:schemeClr val="accent2">
                                      <a:lumMod val="75000"/>
                                    </a:schemeClr>
                                  </a:solidFill>
                                  <a:latin typeface="Cambria Math" panose="02040503050406030204" pitchFamily="18" charset="0"/>
                                </a:rPr>
                              </m:ctrlPr>
                            </m:dPr>
                            <m:e>
                              <m:sSub>
                                <m:sSubPr>
                                  <m:ctrlPr>
                                    <a:rPr lang="en-US" altLang="zh-CN" sz="1400" i="1" dirty="0">
                                      <a:solidFill>
                                        <a:schemeClr val="accent2">
                                          <a:lumMod val="75000"/>
                                        </a:schemeClr>
                                      </a:solidFill>
                                      <a:latin typeface="Cambria Math" panose="02040503050406030204" pitchFamily="18" charset="0"/>
                                    </a:rPr>
                                  </m:ctrlPr>
                                </m:sSubPr>
                                <m:e>
                                  <m:r>
                                    <a:rPr lang="en-US" altLang="zh-CN" sz="1400" i="1" dirty="0">
                                      <a:solidFill>
                                        <a:schemeClr val="accent2">
                                          <a:lumMod val="75000"/>
                                        </a:schemeClr>
                                      </a:solidFill>
                                      <a:latin typeface="Cambria Math" panose="02040503050406030204" pitchFamily="18" charset="0"/>
                                    </a:rPr>
                                    <m:t>𝐿</m:t>
                                  </m:r>
                                </m:e>
                                <m:sub>
                                  <m:r>
                                    <a:rPr lang="en-US" altLang="zh-CN" sz="1400" i="1" dirty="0">
                                      <a:solidFill>
                                        <a:schemeClr val="accent2">
                                          <a:lumMod val="75000"/>
                                        </a:schemeClr>
                                      </a:solidFill>
                                      <a:latin typeface="Cambria Math" panose="02040503050406030204" pitchFamily="18" charset="0"/>
                                    </a:rPr>
                                    <m:t>𝑒</m:t>
                                  </m:r>
                                </m:sub>
                              </m:sSub>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𝟐</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𝟏</m:t>
                                      </m:r>
                                    </m:sub>
                                  </m:sSub>
                                </m:e>
                              </m:d>
                              <m:r>
                                <a:rPr lang="en-US" altLang="zh-CN" sz="1400" b="1" i="1" dirty="0">
                                  <a:solidFill>
                                    <a:schemeClr val="accent2">
                                      <a:lumMod val="75000"/>
                                    </a:schemeClr>
                                  </a:solidFill>
                                  <a:latin typeface="Cambria Math" panose="02040503050406030204" pitchFamily="18" charset="0"/>
                                </a:rPr>
                                <m:t>+</m:t>
                              </m:r>
                              <m:nary>
                                <m:naryPr>
                                  <m:supHide m:val="on"/>
                                  <m:ctrlPr>
                                    <a:rPr lang="en-US" altLang="zh-CN" sz="1400" i="1" dirty="0">
                                      <a:solidFill>
                                        <a:schemeClr val="accent2">
                                          <a:lumMod val="75000"/>
                                        </a:schemeClr>
                                      </a:solidFill>
                                      <a:latin typeface="Cambria Math" panose="02040503050406030204" pitchFamily="18" charset="0"/>
                                    </a:rPr>
                                  </m:ctrlPr>
                                </m:naryPr>
                                <m:sub>
                                  <m:r>
                                    <a:rPr lang="en-US" altLang="zh-CN" sz="1400" i="1" dirty="0">
                                      <a:solidFill>
                                        <a:schemeClr val="accent2">
                                          <a:lumMod val="75000"/>
                                        </a:schemeClr>
                                      </a:solidFill>
                                      <a:latin typeface="Cambria Math" panose="02040503050406030204" pitchFamily="18" charset="0"/>
                                    </a:rPr>
                                    <m:t>𝐴</m:t>
                                  </m:r>
                                </m:sub>
                                <m:sup/>
                                <m:e>
                                  <m:r>
                                    <a:rPr lang="en-US" altLang="zh-CN" sz="1400" i="1" dirty="0">
                                      <a:solidFill>
                                        <a:schemeClr val="accent2">
                                          <a:lumMod val="75000"/>
                                        </a:schemeClr>
                                      </a:solidFill>
                                      <a:latin typeface="Cambria Math" panose="02040503050406030204" pitchFamily="18" charset="0"/>
                                    </a:rPr>
                                    <m:t>𝑓</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𝟐</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𝟏</m:t>
                                          </m:r>
                                        </m:sub>
                                      </m:sSub>
                                    </m:e>
                                  </m:d>
                                  <m:r>
                                    <a:rPr lang="en-US" altLang="zh-CN" sz="1400" i="1" dirty="0">
                                      <a:solidFill>
                                        <a:schemeClr val="accent2">
                                          <a:lumMod val="75000"/>
                                        </a:schemeClr>
                                      </a:solidFill>
                                      <a:latin typeface="Cambria Math" panose="02040503050406030204" pitchFamily="18" charset="0"/>
                                    </a:rPr>
                                    <m:t> </m:t>
                                  </m:r>
                                  <m:r>
                                    <a:rPr lang="en-US" altLang="zh-CN" sz="1400" i="1" dirty="0" smtClean="0">
                                      <a:solidFill>
                                        <a:schemeClr val="accent6">
                                          <a:lumMod val="50000"/>
                                        </a:schemeClr>
                                      </a:solidFill>
                                      <a:latin typeface="Cambria Math" panose="02040503050406030204" pitchFamily="18" charset="0"/>
                                    </a:rPr>
                                    <m:t>𝐿</m:t>
                                  </m:r>
                                  <m:d>
                                    <m:dPr>
                                      <m:ctrlPr>
                                        <a:rPr lang="en-US" altLang="zh-CN" sz="1400" b="1" i="1" dirty="0">
                                          <a:solidFill>
                                            <a:schemeClr val="accent6">
                                              <a:lumMod val="50000"/>
                                            </a:schemeClr>
                                          </a:solidFill>
                                          <a:latin typeface="Cambria Math" panose="02040503050406030204" pitchFamily="18" charset="0"/>
                                        </a:rPr>
                                      </m:ctrlPr>
                                    </m:dPr>
                                    <m:e>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a:solidFill>
                                                <a:schemeClr val="accent6">
                                                  <a:lumMod val="50000"/>
                                                </a:schemeClr>
                                              </a:solidFill>
                                              <a:latin typeface="Cambria Math" panose="02040503050406030204" pitchFamily="18" charset="0"/>
                                            </a:rPr>
                                            <m:t>𝟑</m:t>
                                          </m:r>
                                        </m:sub>
                                      </m:sSub>
                                      <m:r>
                                        <a:rPr lang="en-US" altLang="zh-CN" sz="1400" b="1" i="1" dirty="0">
                                          <a:solidFill>
                                            <a:schemeClr val="accent6">
                                              <a:lumMod val="50000"/>
                                            </a:schemeClr>
                                          </a:solidFill>
                                          <a:latin typeface="Cambria Math" panose="02040503050406030204" pitchFamily="18" charset="0"/>
                                        </a:rPr>
                                        <m:t>→</m:t>
                                      </m:r>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a:solidFill>
                                                <a:schemeClr val="accent6">
                                                  <a:lumMod val="50000"/>
                                                </a:schemeClr>
                                              </a:solidFill>
                                              <a:latin typeface="Cambria Math" panose="02040503050406030204" pitchFamily="18" charset="0"/>
                                            </a:rPr>
                                            <m:t>𝟐</m:t>
                                          </m:r>
                                        </m:sub>
                                      </m:sSub>
                                    </m:e>
                                  </m:d>
                                  <m:r>
                                    <a:rPr lang="en-US" altLang="zh-CN" sz="1400" b="1" i="1" dirty="0">
                                      <a:solidFill>
                                        <a:schemeClr val="accent2">
                                          <a:lumMod val="75000"/>
                                        </a:schemeClr>
                                      </a:solidFill>
                                      <a:latin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𝐺</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400" i="1" dirty="0">
                                      <a:solidFill>
                                        <a:schemeClr val="accent2">
                                          <a:lumMod val="75000"/>
                                        </a:schemeClr>
                                      </a:solidFill>
                                      <a:latin typeface="Cambria Math" panose="02040503050406030204" pitchFamily="18" charset="0"/>
                                      <a:ea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𝑑𝐴</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e>
                                  </m:d>
                                </m:e>
                              </m:nary>
                            </m:e>
                          </m:d>
                          <m:r>
                            <a:rPr lang="en-US" altLang="zh-CN" sz="1400" b="1" i="1" dirty="0" smtClean="0">
                              <a:latin typeface="Cambria Math" panose="02040503050406030204" pitchFamily="18" charset="0"/>
                            </a:rPr>
                            <m:t> </m:t>
                          </m:r>
                          <m:r>
                            <a:rPr lang="en-US" altLang="zh-CN" sz="1400" b="0" i="1" dirty="0">
                              <a:latin typeface="Cambria Math" panose="02040503050406030204" pitchFamily="18" charset="0"/>
                            </a:rPr>
                            <m:t>𝐺</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smtClean="0">
                                      <a:latin typeface="Cambria Math" panose="02040503050406030204" pitchFamily="18" charset="0"/>
                                      <a:ea typeface="Cambria Math" panose="02040503050406030204" pitchFamily="18" charset="0"/>
                                    </a:rPr>
                                  </m:ctrlPr>
                                </m:sSubPr>
                                <m:e>
                                  <m:r>
                                    <a:rPr lang="en-US" altLang="zh-CN" sz="1400" b="1" i="1" dirty="0" smtClean="0">
                                      <a:latin typeface="Cambria Math" panose="02040503050406030204" pitchFamily="18" charset="0"/>
                                      <a:ea typeface="Cambria Math" panose="02040503050406030204" pitchFamily="18" charset="0"/>
                                    </a:rPr>
                                    <m:t>𝒑</m:t>
                                  </m:r>
                                </m:e>
                                <m:sub>
                                  <m:r>
                                    <a:rPr lang="en-US" altLang="zh-CN" sz="1400" b="1" i="1" dirty="0" smtClean="0">
                                      <a:latin typeface="Cambria Math" panose="02040503050406030204" pitchFamily="18" charset="0"/>
                                      <a:ea typeface="Cambria Math" panose="02040503050406030204" pitchFamily="18" charset="0"/>
                                    </a:rPr>
                                    <m:t>𝟏</m:t>
                                  </m:r>
                                </m:sub>
                              </m:sSub>
                            </m:e>
                          </m:d>
                          <m:r>
                            <a:rPr lang="en-US" altLang="zh-CN" sz="1400" b="0" i="1" dirty="0" smtClean="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𝟐</m:t>
                                  </m:r>
                                </m:sub>
                              </m:sSub>
                            </m:e>
                          </m:d>
                        </m:e>
                      </m:nary>
                    </m:oMath>
                    <m:oMath>
                      <m:r>
                        <a:rPr lang="en-US" altLang="zh-CN" sz="1400" b="1" i="1" smtClean="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r>
                        <a:rPr lang="en-US" altLang="zh-CN" sz="1400" b="1" i="1" dirty="0" smtClean="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sSub>
                            <m:sSubPr>
                              <m:ctrlPr>
                                <a:rPr lang="en-US" altLang="zh-CN" sz="1400" i="1" dirty="0">
                                  <a:solidFill>
                                    <a:schemeClr val="accent2">
                                      <a:lumMod val="75000"/>
                                    </a:schemeClr>
                                  </a:solidFill>
                                  <a:latin typeface="Cambria Math" panose="02040503050406030204" pitchFamily="18" charset="0"/>
                                </a:rPr>
                              </m:ctrlPr>
                            </m:sSubPr>
                            <m:e>
                              <m:r>
                                <a:rPr lang="en-US" altLang="zh-CN" sz="1400" i="1" dirty="0">
                                  <a:solidFill>
                                    <a:schemeClr val="accent2">
                                      <a:lumMod val="75000"/>
                                    </a:schemeClr>
                                  </a:solidFill>
                                  <a:latin typeface="Cambria Math" panose="02040503050406030204" pitchFamily="18" charset="0"/>
                                </a:rPr>
                                <m:t>𝐿</m:t>
                              </m:r>
                            </m:e>
                            <m:sub>
                              <m:r>
                                <a:rPr lang="en-US" altLang="zh-CN" sz="1400" i="1" dirty="0">
                                  <a:solidFill>
                                    <a:schemeClr val="accent2">
                                      <a:lumMod val="75000"/>
                                    </a:schemeClr>
                                  </a:solidFill>
                                  <a:latin typeface="Cambria Math" panose="02040503050406030204" pitchFamily="18" charset="0"/>
                                </a:rPr>
                                <m:t>𝑒</m:t>
                              </m:r>
                            </m:sub>
                          </m:sSub>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𝟐</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𝟏</m:t>
                                  </m:r>
                                </m:sub>
                              </m:sSub>
                            </m:e>
                          </m:d>
                          <m:r>
                            <a:rPr lang="en-US" altLang="zh-CN" sz="1400" b="0" i="1" dirty="0" smtClean="0">
                              <a:solidFill>
                                <a:schemeClr val="accent2">
                                  <a:lumMod val="75000"/>
                                </a:schemeClr>
                              </a:solidFill>
                              <a:latin typeface="Cambria Math" panose="02040503050406030204" pitchFamily="18" charset="0"/>
                            </a:rPr>
                            <m:t> </m:t>
                          </m:r>
                          <m:r>
                            <a:rPr lang="en-US" altLang="zh-CN" sz="1400" i="1" dirty="0">
                              <a:latin typeface="Cambria Math" panose="02040503050406030204" pitchFamily="18" charset="0"/>
                            </a:rPr>
                            <m:t>𝑓</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r>
                            <a:rPr lang="en-US" altLang="zh-CN" sz="1400" b="0" i="1" dirty="0" smtClean="0">
                              <a:latin typeface="Cambria Math" panose="02040503050406030204" pitchFamily="18" charset="0"/>
                            </a:rPr>
                            <m:t> </m:t>
                          </m:r>
                          <m:r>
                            <a:rPr lang="en-US" altLang="zh-CN" sz="1400" i="1" dirty="0">
                              <a:latin typeface="Cambria Math" panose="02040503050406030204" pitchFamily="18" charset="0"/>
                            </a:rPr>
                            <m:t>𝐺</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a:latin typeface="Cambria Math" panose="02040503050406030204" pitchFamily="18" charset="0"/>
                                      <a:ea typeface="Cambria Math" panose="02040503050406030204" pitchFamily="18" charset="0"/>
                                    </a:rPr>
                                  </m:ctrlPr>
                                </m:sSubPr>
                                <m:e>
                                  <m:r>
                                    <a:rPr lang="en-US" altLang="zh-CN" sz="1400" b="1" i="1" dirty="0">
                                      <a:latin typeface="Cambria Math" panose="02040503050406030204" pitchFamily="18" charset="0"/>
                                      <a:ea typeface="Cambria Math" panose="02040503050406030204" pitchFamily="18" charset="0"/>
                                    </a:rPr>
                                    <m:t>𝒑</m:t>
                                  </m:r>
                                </m:e>
                                <m:sub>
                                  <m:r>
                                    <a:rPr lang="en-US" altLang="zh-CN" sz="1400" b="1" i="1" dirty="0">
                                      <a:latin typeface="Cambria Math" panose="02040503050406030204" pitchFamily="18" charset="0"/>
                                      <a:ea typeface="Cambria Math" panose="02040503050406030204" pitchFamily="18" charset="0"/>
                                    </a:rPr>
                                    <m:t>𝟏</m:t>
                                  </m:r>
                                </m:sub>
                              </m:sSub>
                            </m:e>
                          </m:d>
                          <m:r>
                            <a:rPr lang="en-US" altLang="zh-CN" sz="1400" i="1" dirty="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e>
                          </m:d>
                        </m:e>
                      </m:nary>
                    </m:oMath>
                    <m:oMath>
                      <m:r>
                        <a:rPr lang="en-US" altLang="zh-CN" sz="1400" b="1" i="1" dirty="0" smtClean="0">
                          <a:latin typeface="Cambria Math" panose="02040503050406030204" pitchFamily="18" charset="0"/>
                        </a:rPr>
                        <m:t>    +</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r>
                            <a:rPr lang="en-US" altLang="zh-CN" sz="1400" i="1" dirty="0">
                              <a:latin typeface="Cambria Math" panose="02040503050406030204" pitchFamily="18" charset="0"/>
                            </a:rPr>
                            <m:t>𝑓</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nary>
                            <m:naryPr>
                              <m:supHide m:val="on"/>
                              <m:ctrlPr>
                                <a:rPr lang="en-US" altLang="zh-CN" sz="1400" i="1" dirty="0">
                                  <a:solidFill>
                                    <a:schemeClr val="accent2">
                                      <a:lumMod val="75000"/>
                                    </a:schemeClr>
                                  </a:solidFill>
                                  <a:latin typeface="Cambria Math" panose="02040503050406030204" pitchFamily="18" charset="0"/>
                                </a:rPr>
                              </m:ctrlPr>
                            </m:naryPr>
                            <m:sub>
                              <m:r>
                                <a:rPr lang="en-US" altLang="zh-CN" sz="1400" i="1" dirty="0">
                                  <a:solidFill>
                                    <a:schemeClr val="accent2">
                                      <a:lumMod val="75000"/>
                                    </a:schemeClr>
                                  </a:solidFill>
                                  <a:latin typeface="Cambria Math" panose="02040503050406030204" pitchFamily="18" charset="0"/>
                                </a:rPr>
                                <m:t>𝐴</m:t>
                              </m:r>
                            </m:sub>
                            <m:sup/>
                            <m:e>
                              <m:r>
                                <a:rPr lang="en-US" altLang="zh-CN" sz="1400" i="1" dirty="0">
                                  <a:solidFill>
                                    <a:schemeClr val="accent2">
                                      <a:lumMod val="75000"/>
                                    </a:schemeClr>
                                  </a:solidFill>
                                  <a:latin typeface="Cambria Math" panose="02040503050406030204" pitchFamily="18" charset="0"/>
                                </a:rPr>
                                <m:t>𝑓</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𝟐</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𝟏</m:t>
                                      </m:r>
                                    </m:sub>
                                  </m:sSub>
                                </m:e>
                              </m:d>
                              <m:r>
                                <a:rPr lang="en-US" altLang="zh-CN" sz="1400" i="1" dirty="0">
                                  <a:solidFill>
                                    <a:schemeClr val="accent2">
                                      <a:lumMod val="75000"/>
                                    </a:schemeClr>
                                  </a:solidFill>
                                  <a:latin typeface="Cambria Math" panose="02040503050406030204" pitchFamily="18" charset="0"/>
                                </a:rPr>
                                <m:t> </m:t>
                              </m:r>
                              <m:r>
                                <a:rPr lang="en-US" altLang="zh-CN" sz="1400" i="1" dirty="0" smtClean="0">
                                  <a:solidFill>
                                    <a:schemeClr val="accent6">
                                      <a:lumMod val="50000"/>
                                    </a:schemeClr>
                                  </a:solidFill>
                                  <a:latin typeface="Cambria Math" panose="02040503050406030204" pitchFamily="18" charset="0"/>
                                </a:rPr>
                                <m:t>𝐿</m:t>
                              </m:r>
                              <m:d>
                                <m:dPr>
                                  <m:ctrlPr>
                                    <a:rPr lang="en-US" altLang="zh-CN" sz="1400" b="1" i="1" dirty="0">
                                      <a:solidFill>
                                        <a:schemeClr val="accent6">
                                          <a:lumMod val="50000"/>
                                        </a:schemeClr>
                                      </a:solidFill>
                                      <a:latin typeface="Cambria Math" panose="02040503050406030204" pitchFamily="18" charset="0"/>
                                    </a:rPr>
                                  </m:ctrlPr>
                                </m:dPr>
                                <m:e>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a:solidFill>
                                            <a:schemeClr val="accent6">
                                              <a:lumMod val="50000"/>
                                            </a:schemeClr>
                                          </a:solidFill>
                                          <a:latin typeface="Cambria Math" panose="02040503050406030204" pitchFamily="18" charset="0"/>
                                        </a:rPr>
                                        <m:t>𝟑</m:t>
                                      </m:r>
                                    </m:sub>
                                  </m:sSub>
                                  <m:r>
                                    <a:rPr lang="en-US" altLang="zh-CN" sz="1400" b="1" i="1" dirty="0">
                                      <a:solidFill>
                                        <a:schemeClr val="accent6">
                                          <a:lumMod val="50000"/>
                                        </a:schemeClr>
                                      </a:solidFill>
                                      <a:latin typeface="Cambria Math" panose="02040503050406030204" pitchFamily="18" charset="0"/>
                                    </a:rPr>
                                    <m:t>→</m:t>
                                  </m:r>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a:solidFill>
                                            <a:schemeClr val="accent6">
                                              <a:lumMod val="50000"/>
                                            </a:schemeClr>
                                          </a:solidFill>
                                          <a:latin typeface="Cambria Math" panose="02040503050406030204" pitchFamily="18" charset="0"/>
                                        </a:rPr>
                                        <m:t>𝟐</m:t>
                                      </m:r>
                                    </m:sub>
                                  </m:sSub>
                                </m:e>
                              </m:d>
                              <m:r>
                                <a:rPr lang="en-US" altLang="zh-CN" sz="1400" b="1" i="1" dirty="0">
                                  <a:solidFill>
                                    <a:schemeClr val="accent2">
                                      <a:lumMod val="75000"/>
                                    </a:schemeClr>
                                  </a:solidFill>
                                  <a:latin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𝐺</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400" i="1" dirty="0">
                                  <a:solidFill>
                                    <a:schemeClr val="accent2">
                                      <a:lumMod val="75000"/>
                                    </a:schemeClr>
                                  </a:solidFill>
                                  <a:latin typeface="Cambria Math" panose="02040503050406030204" pitchFamily="18" charset="0"/>
                                  <a:ea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𝑑𝐴</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e>
                              </m:d>
                            </m:e>
                          </m:nary>
                          <m:r>
                            <a:rPr lang="en-US" altLang="zh-CN" sz="1400" b="0" i="1" dirty="0" smtClean="0">
                              <a:solidFill>
                                <a:schemeClr val="accent2">
                                  <a:lumMod val="75000"/>
                                </a:schemeClr>
                              </a:solidFill>
                              <a:latin typeface="Cambria Math" panose="02040503050406030204" pitchFamily="18" charset="0"/>
                            </a:rPr>
                            <m:t> </m:t>
                          </m:r>
                          <m:r>
                            <a:rPr lang="en-US" altLang="zh-CN" sz="1400" i="1" dirty="0">
                              <a:latin typeface="Cambria Math" panose="02040503050406030204" pitchFamily="18" charset="0"/>
                            </a:rPr>
                            <m:t>𝐺</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a:latin typeface="Cambria Math" panose="02040503050406030204" pitchFamily="18" charset="0"/>
                                      <a:ea typeface="Cambria Math" panose="02040503050406030204" pitchFamily="18" charset="0"/>
                                    </a:rPr>
                                  </m:ctrlPr>
                                </m:sSubPr>
                                <m:e>
                                  <m:r>
                                    <a:rPr lang="en-US" altLang="zh-CN" sz="1400" b="1" i="1" dirty="0">
                                      <a:latin typeface="Cambria Math" panose="02040503050406030204" pitchFamily="18" charset="0"/>
                                      <a:ea typeface="Cambria Math" panose="02040503050406030204" pitchFamily="18" charset="0"/>
                                    </a:rPr>
                                    <m:t>𝒑</m:t>
                                  </m:r>
                                </m:e>
                                <m:sub>
                                  <m:r>
                                    <a:rPr lang="en-US" altLang="zh-CN" sz="1400" b="1" i="1" dirty="0">
                                      <a:latin typeface="Cambria Math" panose="02040503050406030204" pitchFamily="18" charset="0"/>
                                      <a:ea typeface="Cambria Math" panose="02040503050406030204" pitchFamily="18" charset="0"/>
                                    </a:rPr>
                                    <m:t>𝟏</m:t>
                                  </m:r>
                                </m:sub>
                              </m:sSub>
                            </m:e>
                          </m:d>
                          <m:r>
                            <a:rPr lang="en-US" altLang="zh-CN" sz="1400" i="1" dirty="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e>
                          </m:d>
                        </m:e>
                      </m:nary>
                      <m:r>
                        <a:rPr lang="en-US" altLang="zh-CN" sz="1400" b="1" i="1" dirty="0" smtClean="0">
                          <a:latin typeface="Cambria Math" panose="02040503050406030204" pitchFamily="18" charset="0"/>
                        </a:rPr>
                        <m:t> </m:t>
                      </m:r>
                    </m:oMath>
                    <m:oMath>
                      <m:r>
                        <a:rPr lang="en-US" altLang="zh-CN" sz="1400" b="1" i="1" smtClean="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r>
                        <a:rPr lang="en-US" altLang="zh-CN" sz="1400" b="1" i="1" dirty="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𝑒</m:t>
                              </m:r>
                            </m:sub>
                          </m:sSub>
                          <m:d>
                            <m:dPr>
                              <m:ctrlPr>
                                <a:rPr lang="en-US" altLang="zh-CN" sz="1400" b="1"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𝒑</m:t>
                                  </m:r>
                                </m:e>
                                <m:sub>
                                  <m:r>
                                    <a:rPr lang="en-US" altLang="zh-CN" sz="1400" b="1" i="1" dirty="0">
                                      <a:solidFill>
                                        <a:schemeClr val="tx1"/>
                                      </a:solidFill>
                                      <a:latin typeface="Cambria Math" panose="02040503050406030204" pitchFamily="18" charset="0"/>
                                    </a:rPr>
                                    <m:t>𝟐</m:t>
                                  </m:r>
                                </m:sub>
                              </m:sSub>
                              <m:r>
                                <a:rPr lang="en-US" altLang="zh-CN" sz="1400" b="1"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𝒑</m:t>
                                  </m:r>
                                </m:e>
                                <m:sub>
                                  <m:r>
                                    <a:rPr lang="en-US" altLang="zh-CN" sz="1400" b="1" i="1" dirty="0">
                                      <a:solidFill>
                                        <a:schemeClr val="tx1"/>
                                      </a:solidFill>
                                      <a:latin typeface="Cambria Math" panose="02040503050406030204" pitchFamily="18" charset="0"/>
                                    </a:rPr>
                                    <m:t>𝟏</m:t>
                                  </m:r>
                                </m:sub>
                              </m:sSub>
                            </m:e>
                          </m:d>
                          <m:r>
                            <a:rPr lang="en-US" altLang="zh-CN" sz="1400" i="1" dirty="0">
                              <a:solidFill>
                                <a:schemeClr val="accent2">
                                  <a:lumMod val="75000"/>
                                </a:schemeClr>
                              </a:solidFill>
                              <a:latin typeface="Cambria Math" panose="02040503050406030204" pitchFamily="18" charset="0"/>
                            </a:rPr>
                            <m:t> </m:t>
                          </m:r>
                          <m:r>
                            <a:rPr lang="en-US" altLang="zh-CN" sz="1400" i="1" dirty="0">
                              <a:latin typeface="Cambria Math" panose="02040503050406030204" pitchFamily="18" charset="0"/>
                            </a:rPr>
                            <m:t>𝑓</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r>
                            <a:rPr lang="en-US" altLang="zh-CN" sz="1400" i="1" dirty="0">
                              <a:latin typeface="Cambria Math" panose="02040503050406030204" pitchFamily="18" charset="0"/>
                            </a:rPr>
                            <m:t> </m:t>
                          </m:r>
                          <m:r>
                            <a:rPr lang="en-US" altLang="zh-CN" sz="1400" i="1" dirty="0">
                              <a:latin typeface="Cambria Math" panose="02040503050406030204" pitchFamily="18" charset="0"/>
                            </a:rPr>
                            <m:t>𝐺</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a:latin typeface="Cambria Math" panose="02040503050406030204" pitchFamily="18" charset="0"/>
                                      <a:ea typeface="Cambria Math" panose="02040503050406030204" pitchFamily="18" charset="0"/>
                                    </a:rPr>
                                  </m:ctrlPr>
                                </m:sSubPr>
                                <m:e>
                                  <m:r>
                                    <a:rPr lang="en-US" altLang="zh-CN" sz="1400" b="1" i="1" dirty="0">
                                      <a:latin typeface="Cambria Math" panose="02040503050406030204" pitchFamily="18" charset="0"/>
                                      <a:ea typeface="Cambria Math" panose="02040503050406030204" pitchFamily="18" charset="0"/>
                                    </a:rPr>
                                    <m:t>𝒑</m:t>
                                  </m:r>
                                </m:e>
                                <m:sub>
                                  <m:r>
                                    <a:rPr lang="en-US" altLang="zh-CN" sz="1400" b="1" i="1" dirty="0">
                                      <a:latin typeface="Cambria Math" panose="02040503050406030204" pitchFamily="18" charset="0"/>
                                      <a:ea typeface="Cambria Math" panose="02040503050406030204" pitchFamily="18" charset="0"/>
                                    </a:rPr>
                                    <m:t>𝟏</m:t>
                                  </m:r>
                                </m:sub>
                              </m:sSub>
                            </m:e>
                          </m:d>
                          <m:r>
                            <a:rPr lang="en-US" altLang="zh-CN" sz="1400" i="1" dirty="0">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e>
                          </m:d>
                        </m:e>
                      </m:nary>
                    </m:oMath>
                    <m:oMath>
                      <m:r>
                        <a:rPr lang="en-US" altLang="zh-CN" sz="1400" b="1" i="1" dirty="0" smtClean="0">
                          <a:latin typeface="Cambria Math" panose="02040503050406030204" pitchFamily="18" charset="0"/>
                        </a:rPr>
                        <m:t>    </m:t>
                      </m:r>
                      <m:r>
                        <a:rPr lang="en-US" altLang="zh-CN" sz="1400" b="1" i="1" dirty="0">
                          <a:latin typeface="Cambria Math" panose="02040503050406030204" pitchFamily="18" charset="0"/>
                        </a:rPr>
                        <m:t>+</m:t>
                      </m:r>
                      <m:nary>
                        <m:naryPr>
                          <m:supHide m:val="on"/>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𝐴</m:t>
                          </m:r>
                        </m:sub>
                        <m:sup/>
                        <m:e>
                          <m:nary>
                            <m:naryPr>
                              <m:supHide m:val="on"/>
                              <m:ctrlPr>
                                <a:rPr lang="en-US" altLang="zh-CN" sz="1400" i="1" dirty="0">
                                  <a:solidFill>
                                    <a:schemeClr val="accent2">
                                      <a:lumMod val="75000"/>
                                    </a:schemeClr>
                                  </a:solidFill>
                                  <a:latin typeface="Cambria Math" panose="02040503050406030204" pitchFamily="18" charset="0"/>
                                </a:rPr>
                              </m:ctrlPr>
                            </m:naryPr>
                            <m:sub>
                              <m:r>
                                <a:rPr lang="en-US" altLang="zh-CN" sz="1400" i="1" dirty="0">
                                  <a:solidFill>
                                    <a:schemeClr val="accent2">
                                      <a:lumMod val="75000"/>
                                    </a:schemeClr>
                                  </a:solidFill>
                                  <a:latin typeface="Cambria Math" panose="02040503050406030204" pitchFamily="18" charset="0"/>
                                </a:rPr>
                                <m:t>𝐴</m:t>
                              </m:r>
                            </m:sub>
                            <m:sup/>
                            <m:e>
                              <m:r>
                                <a:rPr lang="en-US" altLang="zh-CN" sz="1400" i="1" dirty="0">
                                  <a:latin typeface="Cambria Math" panose="02040503050406030204" pitchFamily="18" charset="0"/>
                                </a:rPr>
                                <m:t>𝑓</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r>
                                <a:rPr lang="en-US" altLang="zh-CN" sz="1400" b="0" i="1" dirty="0" smtClean="0">
                                  <a:latin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𝑓</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𝟐</m:t>
                                      </m:r>
                                    </m:sub>
                                  </m:sSub>
                                  <m:r>
                                    <a:rPr lang="en-US" altLang="zh-CN" sz="1400" b="1" i="1" dirty="0">
                                      <a:solidFill>
                                        <a:schemeClr val="accent2">
                                          <a:lumMod val="75000"/>
                                        </a:schemeClr>
                                      </a:solidFill>
                                      <a:latin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𝟏</m:t>
                                      </m:r>
                                    </m:sub>
                                  </m:sSub>
                                </m:e>
                              </m:d>
                              <m:r>
                                <a:rPr lang="en-US" altLang="zh-CN" sz="1400" i="1" dirty="0">
                                  <a:solidFill>
                                    <a:schemeClr val="accent2">
                                      <a:lumMod val="75000"/>
                                    </a:schemeClr>
                                  </a:solidFill>
                                  <a:latin typeface="Cambria Math" panose="02040503050406030204" pitchFamily="18" charset="0"/>
                                </a:rPr>
                                <m:t> </m:t>
                              </m:r>
                              <m:r>
                                <a:rPr lang="en-US" altLang="zh-CN" sz="1400" i="1" dirty="0" smtClean="0">
                                  <a:solidFill>
                                    <a:schemeClr val="accent6">
                                      <a:lumMod val="50000"/>
                                    </a:schemeClr>
                                  </a:solidFill>
                                  <a:latin typeface="Cambria Math" panose="02040503050406030204" pitchFamily="18" charset="0"/>
                                </a:rPr>
                                <m:t>𝐿</m:t>
                              </m:r>
                              <m:d>
                                <m:dPr>
                                  <m:ctrlPr>
                                    <a:rPr lang="en-US" altLang="zh-CN" sz="1400" b="1" i="1" dirty="0">
                                      <a:solidFill>
                                        <a:schemeClr val="accent6">
                                          <a:lumMod val="50000"/>
                                        </a:schemeClr>
                                      </a:solidFill>
                                      <a:latin typeface="Cambria Math" panose="02040503050406030204" pitchFamily="18" charset="0"/>
                                    </a:rPr>
                                  </m:ctrlPr>
                                </m:dPr>
                                <m:e>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a:solidFill>
                                            <a:schemeClr val="accent6">
                                              <a:lumMod val="50000"/>
                                            </a:schemeClr>
                                          </a:solidFill>
                                          <a:latin typeface="Cambria Math" panose="02040503050406030204" pitchFamily="18" charset="0"/>
                                        </a:rPr>
                                        <m:t>𝟑</m:t>
                                      </m:r>
                                    </m:sub>
                                  </m:sSub>
                                  <m:r>
                                    <a:rPr lang="en-US" altLang="zh-CN" sz="1400" b="1" i="1" dirty="0">
                                      <a:solidFill>
                                        <a:schemeClr val="accent6">
                                          <a:lumMod val="50000"/>
                                        </a:schemeClr>
                                      </a:solidFill>
                                      <a:latin typeface="Cambria Math" panose="02040503050406030204" pitchFamily="18" charset="0"/>
                                    </a:rPr>
                                    <m:t>→</m:t>
                                  </m:r>
                                  <m:sSub>
                                    <m:sSubPr>
                                      <m:ctrlPr>
                                        <a:rPr lang="en-US" altLang="zh-CN" sz="1400" b="1" i="1" dirty="0">
                                          <a:solidFill>
                                            <a:schemeClr val="accent6">
                                              <a:lumMod val="50000"/>
                                            </a:schemeClr>
                                          </a:solidFill>
                                          <a:latin typeface="Cambria Math" panose="02040503050406030204" pitchFamily="18" charset="0"/>
                                        </a:rPr>
                                      </m:ctrlPr>
                                    </m:sSubPr>
                                    <m:e>
                                      <m:r>
                                        <a:rPr lang="en-US" altLang="zh-CN" sz="1400" b="1" i="1" dirty="0">
                                          <a:solidFill>
                                            <a:schemeClr val="accent6">
                                              <a:lumMod val="50000"/>
                                            </a:schemeClr>
                                          </a:solidFill>
                                          <a:latin typeface="Cambria Math" panose="02040503050406030204" pitchFamily="18" charset="0"/>
                                        </a:rPr>
                                        <m:t>𝒑</m:t>
                                      </m:r>
                                    </m:e>
                                    <m:sub>
                                      <m:r>
                                        <a:rPr lang="en-US" altLang="zh-CN" sz="1400" b="1" i="1" dirty="0">
                                          <a:solidFill>
                                            <a:schemeClr val="accent6">
                                              <a:lumMod val="50000"/>
                                            </a:schemeClr>
                                          </a:solidFill>
                                          <a:latin typeface="Cambria Math" panose="02040503050406030204" pitchFamily="18" charset="0"/>
                                        </a:rPr>
                                        <m:t>𝟐</m:t>
                                      </m:r>
                                    </m:sub>
                                  </m:sSub>
                                </m:e>
                              </m:d>
                              <m:r>
                                <a:rPr lang="en-US" altLang="zh-CN" sz="1400" b="1" i="1" dirty="0">
                                  <a:solidFill>
                                    <a:schemeClr val="accent2">
                                      <a:lumMod val="75000"/>
                                    </a:schemeClr>
                                  </a:solidFill>
                                  <a:latin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𝐺</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4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400" b="0" i="1" dirty="0" smtClean="0">
                                  <a:solidFill>
                                    <a:schemeClr val="accent2">
                                      <a:lumMod val="75000"/>
                                    </a:schemeClr>
                                  </a:solidFill>
                                  <a:latin typeface="Cambria Math" panose="02040503050406030204" pitchFamily="18" charset="0"/>
                                  <a:ea typeface="Cambria Math" panose="02040503050406030204" pitchFamily="18" charset="0"/>
                                </a:rPr>
                                <m:t> </m:t>
                              </m:r>
                              <m:r>
                                <a:rPr lang="en-US" altLang="zh-CN" sz="1400" i="1" dirty="0">
                                  <a:latin typeface="Cambria Math" panose="02040503050406030204" pitchFamily="18" charset="0"/>
                                </a:rPr>
                                <m:t>𝐺</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r>
                                    <a:rPr lang="en-US" altLang="zh-CN" sz="1400" b="1" i="1" dirty="0">
                                      <a:latin typeface="Cambria Math" panose="02040503050406030204" pitchFamily="18" charset="0"/>
                                      <a:ea typeface="Cambria Math" panose="02040503050406030204" pitchFamily="18" charset="0"/>
                                    </a:rPr>
                                    <m:t>↔</m:t>
                                  </m:r>
                                  <m:sSub>
                                    <m:sSubPr>
                                      <m:ctrlPr>
                                        <a:rPr lang="en-US" altLang="zh-CN" sz="1400" b="1" i="1" dirty="0">
                                          <a:latin typeface="Cambria Math" panose="02040503050406030204" pitchFamily="18" charset="0"/>
                                          <a:ea typeface="Cambria Math" panose="02040503050406030204" pitchFamily="18" charset="0"/>
                                        </a:rPr>
                                      </m:ctrlPr>
                                    </m:sSubPr>
                                    <m:e>
                                      <m:r>
                                        <a:rPr lang="en-US" altLang="zh-CN" sz="1400" b="1" i="1" dirty="0">
                                          <a:latin typeface="Cambria Math" panose="02040503050406030204" pitchFamily="18" charset="0"/>
                                          <a:ea typeface="Cambria Math" panose="02040503050406030204" pitchFamily="18" charset="0"/>
                                        </a:rPr>
                                        <m:t>𝒑</m:t>
                                      </m:r>
                                    </m:e>
                                    <m:sub>
                                      <m:r>
                                        <a:rPr lang="en-US" altLang="zh-CN" sz="1400" b="1" i="1" dirty="0">
                                          <a:latin typeface="Cambria Math" panose="02040503050406030204" pitchFamily="18" charset="0"/>
                                          <a:ea typeface="Cambria Math" panose="02040503050406030204" pitchFamily="18" charset="0"/>
                                        </a:rPr>
                                        <m:t>𝟏</m:t>
                                      </m:r>
                                    </m:sub>
                                  </m:sSub>
                                </m:e>
                              </m:d>
                              <m:r>
                                <a:rPr lang="en-US" altLang="zh-CN" sz="1400" b="0" i="1" dirty="0" smtClean="0">
                                  <a:latin typeface="Cambria Math" panose="02040503050406030204" pitchFamily="18" charset="0"/>
                                  <a:ea typeface="Cambria Math" panose="02040503050406030204" pitchFamily="18" charset="0"/>
                                </a:rPr>
                                <m:t> </m:t>
                              </m:r>
                              <m:r>
                                <a:rPr lang="en-US" altLang="zh-CN" sz="1400" i="1" dirty="0">
                                  <a:solidFill>
                                    <a:schemeClr val="accent2">
                                      <a:lumMod val="75000"/>
                                    </a:schemeClr>
                                  </a:solidFill>
                                  <a:latin typeface="Cambria Math" panose="02040503050406030204" pitchFamily="18" charset="0"/>
                                </a:rPr>
                                <m:t>𝑑𝐴</m:t>
                              </m:r>
                              <m:d>
                                <m:dPr>
                                  <m:ctrlPr>
                                    <a:rPr lang="en-US" altLang="zh-CN" sz="1400" b="1" i="1" dirty="0">
                                      <a:solidFill>
                                        <a:schemeClr val="accent2">
                                          <a:lumMod val="75000"/>
                                        </a:schemeClr>
                                      </a:solidFill>
                                      <a:latin typeface="Cambria Math" panose="02040503050406030204" pitchFamily="18" charset="0"/>
                                    </a:rPr>
                                  </m:ctrlPr>
                                </m:dPr>
                                <m:e>
                                  <m:sSub>
                                    <m:sSubPr>
                                      <m:ctrlPr>
                                        <a:rPr lang="en-US" altLang="zh-CN" sz="1400" b="1" i="1" dirty="0">
                                          <a:solidFill>
                                            <a:schemeClr val="accent2">
                                              <a:lumMod val="75000"/>
                                            </a:schemeClr>
                                          </a:solidFill>
                                          <a:latin typeface="Cambria Math" panose="02040503050406030204" pitchFamily="18" charset="0"/>
                                        </a:rPr>
                                      </m:ctrlPr>
                                    </m:sSubPr>
                                    <m:e>
                                      <m:r>
                                        <a:rPr lang="en-US" altLang="zh-CN" sz="1400" b="1" i="1" dirty="0">
                                          <a:solidFill>
                                            <a:schemeClr val="accent2">
                                              <a:lumMod val="75000"/>
                                            </a:schemeClr>
                                          </a:solidFill>
                                          <a:latin typeface="Cambria Math" panose="02040503050406030204" pitchFamily="18" charset="0"/>
                                        </a:rPr>
                                        <m:t>𝒑</m:t>
                                      </m:r>
                                    </m:e>
                                    <m:sub>
                                      <m:r>
                                        <a:rPr lang="en-US" altLang="zh-CN" sz="1400" b="1" i="1" dirty="0">
                                          <a:solidFill>
                                            <a:schemeClr val="accent2">
                                              <a:lumMod val="75000"/>
                                            </a:schemeClr>
                                          </a:solidFill>
                                          <a:latin typeface="Cambria Math" panose="02040503050406030204" pitchFamily="18" charset="0"/>
                                        </a:rPr>
                                        <m:t>𝟑</m:t>
                                      </m:r>
                                    </m:sub>
                                  </m:sSub>
                                </m:e>
                              </m:d>
                            </m:e>
                          </m:nary>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e>
                          </m:d>
                        </m:e>
                      </m:nary>
                    </m:oMath>
                  </m:oMathPara>
                </a14:m>
                <a:endParaRPr lang="en-US" altLang="zh-CN" sz="1400" b="1" i="1" dirty="0">
                  <a:latin typeface="Cambria Math" panose="02040503050406030204" pitchFamily="18" charset="0"/>
                </a:endParaRPr>
              </a:p>
            </p:txBody>
          </p:sp>
        </mc:Choice>
        <mc:Fallback xmlns="">
          <p:sp>
            <p:nvSpPr>
              <p:cNvPr id="2" name="内容占位符 1">
                <a:extLst>
                  <a:ext uri="{FF2B5EF4-FFF2-40B4-BE49-F238E27FC236}">
                    <a16:creationId xmlns:a16="http://schemas.microsoft.com/office/drawing/2014/main" id="{11DE51F7-1387-4DFF-35B6-91A32C8AE5BB}"/>
                  </a:ext>
                </a:extLst>
              </p:cNvPr>
              <p:cNvSpPr>
                <a:spLocks noGrp="1" noRot="1" noChangeAspect="1" noMove="1" noResize="1" noEditPoints="1" noAdjustHandles="1" noChangeArrowheads="1" noChangeShapeType="1" noTextEdit="1"/>
              </p:cNvSpPr>
              <p:nvPr>
                <p:ph idx="3"/>
              </p:nvPr>
            </p:nvSpPr>
            <p:spPr>
              <a:xfrm>
                <a:off x="232321" y="1502813"/>
                <a:ext cx="10800080" cy="4931410"/>
              </a:xfr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8833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9503A-1D97-A425-3E0B-50C0931F144B}"/>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3DE49408-E00C-5B60-6F29-F7A4FDA5E2FB}"/>
              </a:ext>
            </a:extLst>
          </p:cNvPr>
          <p:cNvPicPr>
            <a:picLocks noChangeAspect="1"/>
          </p:cNvPicPr>
          <p:nvPr/>
        </p:nvPicPr>
        <p:blipFill>
          <a:blip r:embed="rId2"/>
          <a:stretch>
            <a:fillRect/>
          </a:stretch>
        </p:blipFill>
        <p:spPr>
          <a:xfrm>
            <a:off x="8075054" y="0"/>
            <a:ext cx="4116946" cy="2764236"/>
          </a:xfrm>
          <a:prstGeom prst="rect">
            <a:avLst/>
          </a:prstGeom>
        </p:spPr>
      </p:pic>
      <p:sp>
        <p:nvSpPr>
          <p:cNvPr id="5" name="标题 4">
            <a:extLst>
              <a:ext uri="{FF2B5EF4-FFF2-40B4-BE49-F238E27FC236}">
                <a16:creationId xmlns:a16="http://schemas.microsoft.com/office/drawing/2014/main" id="{280E545E-A0CA-AFE8-ACDF-5AF2BD07CCA8}"/>
              </a:ext>
            </a:extLst>
          </p:cNvPr>
          <p:cNvSpPr>
            <a:spLocks noGrp="1"/>
          </p:cNvSpPr>
          <p:nvPr>
            <p:ph type="title" idx="1"/>
          </p:nvPr>
        </p:nvSpPr>
        <p:spPr/>
        <p:txBody>
          <a:bodyPr/>
          <a:lstStyle/>
          <a:p>
            <a:r>
              <a:rPr lang="zh-CN" altLang="en-US" dirty="0"/>
              <a:t>路径积分  </a:t>
            </a:r>
            <a:r>
              <a:rPr lang="en-US" altLang="zh-CN" dirty="0">
                <a:sym typeface="Wingdings" panose="05000000000000000000" pitchFamily="2" charset="2"/>
              </a:rPr>
              <a:t>  </a:t>
            </a:r>
            <a:r>
              <a:rPr lang="zh-CN" altLang="en-US" dirty="0">
                <a:sym typeface="Wingdings" panose="05000000000000000000" pitchFamily="2" charset="2"/>
              </a:rPr>
              <a:t>向光源采样</a:t>
            </a:r>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CDFA418-965C-3978-8044-E823FA75DCAE}"/>
                  </a:ext>
                </a:extLst>
              </p:cNvPr>
              <p:cNvSpPr txBox="1"/>
              <p:nvPr/>
            </p:nvSpPr>
            <p:spPr>
              <a:xfrm>
                <a:off x="83713" y="1216493"/>
                <a:ext cx="12061064" cy="2345450"/>
              </a:xfrm>
              <a:prstGeom prst="rect">
                <a:avLst/>
              </a:prstGeom>
              <a:noFill/>
            </p:spPr>
            <p:txBody>
              <a:bodyPr wrap="square">
                <a:spAutoFit/>
              </a:bodyPr>
              <a:lstStyle/>
              <a:p>
                <a:pPr marL="0" indent="0">
                  <a:lnSpc>
                    <a:spcPct val="120000"/>
                  </a:lnSpc>
                  <a:buNone/>
                </a:pPr>
                <a14:m>
                  <m:oMathPara xmlns:m="http://schemas.openxmlformats.org/officeDocument/2006/math">
                    <m:oMath>
                      <m:r>
                        <a:rPr lang="en-US" altLang="zh-CN" sz="1500" b="0" i="1" dirty="0" smtClean="0">
                          <a:latin typeface="Cambria Math" panose="02040503050406030204" pitchFamily="18" charset="0"/>
                        </a:rPr>
                        <m:t>𝐿</m:t>
                      </m:r>
                      <m:d>
                        <m:dPr>
                          <m:ctrlPr>
                            <a:rPr lang="en-US" altLang="zh-CN" sz="1500" b="1" i="1" dirty="0" smtClean="0">
                              <a:latin typeface="Cambria Math" panose="02040503050406030204" pitchFamily="18" charset="0"/>
                            </a:rPr>
                          </m:ctrlPr>
                        </m:dPr>
                        <m:e>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𝟏</m:t>
                              </m:r>
                            </m:sub>
                          </m:sSub>
                          <m:r>
                            <a:rPr lang="en-US" altLang="zh-CN" sz="1500" b="1" i="1" dirty="0" smtClean="0">
                              <a:latin typeface="Cambria Math" panose="02040503050406030204" pitchFamily="18" charset="0"/>
                            </a:rPr>
                            <m:t>→</m:t>
                          </m:r>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𝟎</m:t>
                              </m:r>
                            </m:sub>
                          </m:sSub>
                        </m:e>
                      </m:d>
                      <m:r>
                        <a:rPr lang="en-US" altLang="zh-CN" sz="1500" b="1" i="1" smtClean="0">
                          <a:latin typeface="Cambria Math" panose="02040503050406030204" pitchFamily="18" charset="0"/>
                        </a:rPr>
                        <m:t>=</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𝑒</m:t>
                          </m:r>
                        </m:sub>
                      </m:sSub>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oMath>
                    <m:oMath>
                      <m:r>
                        <a:rPr lang="en-US" altLang="zh-CN" sz="1500" b="1" i="1" dirty="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r>
                            <a:rPr lang="en-US" altLang="zh-CN" sz="1500" i="1" dirty="0">
                              <a:latin typeface="Cambria Math" panose="02040503050406030204" pitchFamily="18" charset="0"/>
                            </a:rPr>
                            <m:t>𝐴</m:t>
                          </m:r>
                        </m:sub>
                        <m:sup/>
                        <m:e>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𝐿</m:t>
                              </m:r>
                            </m:e>
                            <m:sub>
                              <m:r>
                                <a:rPr lang="en-US" altLang="zh-CN" sz="1500" i="1" dirty="0">
                                  <a:solidFill>
                                    <a:schemeClr val="tx1"/>
                                  </a:solidFill>
                                  <a:latin typeface="Cambria Math" panose="02040503050406030204" pitchFamily="18" charset="0"/>
                                </a:rPr>
                                <m:t>𝑒</m:t>
                              </m:r>
                            </m:sub>
                          </m:sSub>
                          <m:d>
                            <m:dPr>
                              <m:ctrlPr>
                                <a:rPr lang="en-US" altLang="zh-CN" sz="1500" b="1" i="1" dirty="0">
                                  <a:solidFill>
                                    <a:schemeClr val="tx1"/>
                                  </a:solidFill>
                                  <a:latin typeface="Cambria Math" panose="02040503050406030204" pitchFamily="18" charset="0"/>
                                </a:rPr>
                              </m:ctrlPr>
                            </m:dPr>
                            <m:e>
                              <m:sSub>
                                <m:sSubPr>
                                  <m:ctrlPr>
                                    <a:rPr lang="en-US" altLang="zh-CN" sz="1500" b="1" i="1" dirty="0">
                                      <a:solidFill>
                                        <a:schemeClr val="tx1"/>
                                      </a:solidFill>
                                      <a:latin typeface="Cambria Math" panose="02040503050406030204" pitchFamily="18" charset="0"/>
                                    </a:rPr>
                                  </m:ctrlPr>
                                </m:sSubPr>
                                <m:e>
                                  <m:r>
                                    <a:rPr lang="en-US" altLang="zh-CN" sz="1500" b="1" i="1" dirty="0">
                                      <a:solidFill>
                                        <a:schemeClr val="tx1"/>
                                      </a:solidFill>
                                      <a:latin typeface="Cambria Math" panose="02040503050406030204" pitchFamily="18" charset="0"/>
                                    </a:rPr>
                                    <m:t>𝒑</m:t>
                                  </m:r>
                                </m:e>
                                <m:sub>
                                  <m:r>
                                    <a:rPr lang="en-US" altLang="zh-CN" sz="1500" b="1" i="1" dirty="0">
                                      <a:solidFill>
                                        <a:schemeClr val="tx1"/>
                                      </a:solidFill>
                                      <a:latin typeface="Cambria Math" panose="02040503050406030204" pitchFamily="18" charset="0"/>
                                    </a:rPr>
                                    <m:t>𝟐</m:t>
                                  </m:r>
                                </m:sub>
                              </m:sSub>
                              <m:r>
                                <a:rPr lang="en-US" altLang="zh-CN" sz="1500" b="1" i="1" dirty="0">
                                  <a:solidFill>
                                    <a:schemeClr val="tx1"/>
                                  </a:solidFill>
                                  <a:latin typeface="Cambria Math" panose="02040503050406030204" pitchFamily="18" charset="0"/>
                                </a:rPr>
                                <m:t>→</m:t>
                              </m:r>
                              <m:sSub>
                                <m:sSubPr>
                                  <m:ctrlPr>
                                    <a:rPr lang="en-US" altLang="zh-CN" sz="1500" b="1" i="1" dirty="0">
                                      <a:solidFill>
                                        <a:schemeClr val="tx1"/>
                                      </a:solidFill>
                                      <a:latin typeface="Cambria Math" panose="02040503050406030204" pitchFamily="18" charset="0"/>
                                    </a:rPr>
                                  </m:ctrlPr>
                                </m:sSubPr>
                                <m:e>
                                  <m:r>
                                    <a:rPr lang="en-US" altLang="zh-CN" sz="1500" b="1" i="1" dirty="0">
                                      <a:solidFill>
                                        <a:schemeClr val="tx1"/>
                                      </a:solidFill>
                                      <a:latin typeface="Cambria Math" panose="02040503050406030204" pitchFamily="18" charset="0"/>
                                    </a:rPr>
                                    <m:t>𝒑</m:t>
                                  </m:r>
                                </m:e>
                                <m:sub>
                                  <m:r>
                                    <a:rPr lang="en-US" altLang="zh-CN" sz="1500" b="1" i="1" dirty="0">
                                      <a:solidFill>
                                        <a:schemeClr val="tx1"/>
                                      </a:solidFill>
                                      <a:latin typeface="Cambria Math" panose="02040503050406030204" pitchFamily="18" charset="0"/>
                                    </a:rPr>
                                    <m:t>𝟏</m:t>
                                  </m:r>
                                </m:sub>
                              </m:sSub>
                            </m:e>
                          </m:d>
                          <m:r>
                            <a:rPr lang="en-US" altLang="zh-CN" sz="1500" i="1" dirty="0">
                              <a:solidFill>
                                <a:schemeClr val="accent2">
                                  <a:lumMod val="75000"/>
                                </a:schemeClr>
                              </a:solidFill>
                              <a:latin typeface="Cambria Math" panose="02040503050406030204" pitchFamily="18" charset="0"/>
                            </a:rPr>
                            <m:t> </m:t>
                          </m:r>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latin typeface="Cambria Math" panose="02040503050406030204" pitchFamily="18" charset="0"/>
                            </a:rPr>
                            <m:t>𝐺</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ea typeface="Cambria Math" panose="02040503050406030204" pitchFamily="18" charset="0"/>
                                </a:rPr>
                                <m:t>↔</m:t>
                              </m:r>
                              <m:sSub>
                                <m:sSubPr>
                                  <m:ctrlPr>
                                    <a:rPr lang="en-US" altLang="zh-CN" sz="1500" b="1" i="1" dirty="0">
                                      <a:latin typeface="Cambria Math" panose="02040503050406030204" pitchFamily="18" charset="0"/>
                                      <a:ea typeface="Cambria Math" panose="02040503050406030204" pitchFamily="18" charset="0"/>
                                    </a:rPr>
                                  </m:ctrlPr>
                                </m:sSubPr>
                                <m:e>
                                  <m:r>
                                    <a:rPr lang="en-US" altLang="zh-CN" sz="1500" b="1" i="1" dirty="0">
                                      <a:latin typeface="Cambria Math" panose="02040503050406030204" pitchFamily="18" charset="0"/>
                                      <a:ea typeface="Cambria Math" panose="02040503050406030204" pitchFamily="18" charset="0"/>
                                    </a:rPr>
                                    <m:t>𝒑</m:t>
                                  </m:r>
                                </m:e>
                                <m:sub>
                                  <m:r>
                                    <a:rPr lang="en-US" altLang="zh-CN" sz="1500" b="1" i="1" dirty="0">
                                      <a:latin typeface="Cambria Math" panose="02040503050406030204" pitchFamily="18" charset="0"/>
                                      <a:ea typeface="Cambria Math" panose="02040503050406030204" pitchFamily="18" charset="0"/>
                                    </a:rPr>
                                    <m:t>𝟏</m:t>
                                  </m:r>
                                </m:sub>
                              </m:sSub>
                            </m:e>
                          </m:d>
                          <m:r>
                            <a:rPr lang="en-US" altLang="zh-CN" sz="1500" i="1" dirty="0">
                              <a:latin typeface="Cambria Math" panose="02040503050406030204" pitchFamily="18" charset="0"/>
                              <a:ea typeface="Cambria Math" panose="02040503050406030204" pitchFamily="18" charset="0"/>
                            </a:rPr>
                            <m:t> </m:t>
                          </m:r>
                          <m:r>
                            <a:rPr lang="en-US" altLang="zh-CN" sz="1500" i="1" dirty="0">
                              <a:latin typeface="Cambria Math" panose="02040503050406030204" pitchFamily="18" charset="0"/>
                            </a:rPr>
                            <m:t>𝑑𝐴</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e>
                          </m:d>
                        </m:e>
                      </m:nary>
                    </m:oMath>
                    <m:oMath>
                      <m:r>
                        <a:rPr lang="en-US" altLang="zh-CN" sz="1500" b="1" i="1" dirty="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r>
                            <a:rPr lang="en-US" altLang="zh-CN" sz="1500" i="1" dirty="0">
                              <a:latin typeface="Cambria Math" panose="02040503050406030204" pitchFamily="18" charset="0"/>
                            </a:rPr>
                            <m:t>𝐴</m:t>
                          </m:r>
                        </m:sub>
                        <m:sup/>
                        <m:e>
                          <m:nary>
                            <m:naryPr>
                              <m:supHide m:val="on"/>
                              <m:ctrlPr>
                                <a:rPr lang="en-US" altLang="zh-CN" sz="1500" i="1" dirty="0">
                                  <a:solidFill>
                                    <a:schemeClr val="accent2">
                                      <a:lumMod val="75000"/>
                                    </a:schemeClr>
                                  </a:solidFill>
                                  <a:latin typeface="Cambria Math" panose="02040503050406030204" pitchFamily="18" charset="0"/>
                                </a:rPr>
                              </m:ctrlPr>
                            </m:naryPr>
                            <m:sub>
                              <m:r>
                                <a:rPr lang="en-US" altLang="zh-CN" sz="1500" i="1" dirty="0">
                                  <a:solidFill>
                                    <a:schemeClr val="accent2">
                                      <a:lumMod val="75000"/>
                                    </a:schemeClr>
                                  </a:solidFill>
                                  <a:latin typeface="Cambria Math" panose="02040503050406030204" pitchFamily="18" charset="0"/>
                                </a:rPr>
                                <m:t>𝐴</m:t>
                              </m:r>
                            </m:sub>
                            <m:sup/>
                            <m:e>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𝑓</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𝟐</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𝟏</m:t>
                                      </m:r>
                                    </m:sub>
                                  </m:sSub>
                                </m:e>
                              </m:d>
                              <m:r>
                                <a:rPr lang="en-US" altLang="zh-CN" sz="1500" b="0" i="1" dirty="0" smtClean="0">
                                  <a:solidFill>
                                    <a:schemeClr val="accent2">
                                      <a:lumMod val="75000"/>
                                    </a:schemeClr>
                                  </a:solidFill>
                                  <a:latin typeface="Cambria Math" panose="02040503050406030204" pitchFamily="18" charset="0"/>
                                </a:rPr>
                                <m:t> </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𝐿</m:t>
                                  </m:r>
                                </m:e>
                                <m:sub>
                                  <m:r>
                                    <a:rPr lang="en-US" altLang="zh-CN" sz="1500" i="1" dirty="0">
                                      <a:solidFill>
                                        <a:schemeClr val="accent6">
                                          <a:lumMod val="50000"/>
                                        </a:schemeClr>
                                      </a:solidFill>
                                      <a:latin typeface="Cambria Math" panose="02040503050406030204" pitchFamily="18" charset="0"/>
                                    </a:rPr>
                                    <m:t>𝑒</m:t>
                                  </m:r>
                                </m:sub>
                              </m:sSub>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b="0" i="1" dirty="0" smtClean="0">
                                  <a:solidFill>
                                    <a:schemeClr val="accent6">
                                      <a:lumMod val="50000"/>
                                    </a:schemeClr>
                                  </a:solidFill>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𝐺</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500" i="1" dirty="0">
                                  <a:solidFill>
                                    <a:schemeClr val="accent2">
                                      <a:lumMod val="75000"/>
                                    </a:schemeClr>
                                  </a:solidFill>
                                  <a:latin typeface="Cambria Math" panose="02040503050406030204" pitchFamily="18" charset="0"/>
                                  <a:ea typeface="Cambria Math" panose="02040503050406030204" pitchFamily="18" charset="0"/>
                                </a:rPr>
                                <m:t> </m:t>
                              </m:r>
                              <m:r>
                                <a:rPr lang="en-US" altLang="zh-CN" sz="1500" i="1" dirty="0">
                                  <a:latin typeface="Cambria Math" panose="02040503050406030204" pitchFamily="18" charset="0"/>
                                </a:rPr>
                                <m:t>𝐺</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ea typeface="Cambria Math" panose="02040503050406030204" pitchFamily="18" charset="0"/>
                                    </a:rPr>
                                    <m:t>↔</m:t>
                                  </m:r>
                                  <m:sSub>
                                    <m:sSubPr>
                                      <m:ctrlPr>
                                        <a:rPr lang="en-US" altLang="zh-CN" sz="1500" b="1" i="1" dirty="0">
                                          <a:latin typeface="Cambria Math" panose="02040503050406030204" pitchFamily="18" charset="0"/>
                                          <a:ea typeface="Cambria Math" panose="02040503050406030204" pitchFamily="18" charset="0"/>
                                        </a:rPr>
                                      </m:ctrlPr>
                                    </m:sSubPr>
                                    <m:e>
                                      <m:r>
                                        <a:rPr lang="en-US" altLang="zh-CN" sz="1500" b="1" i="1" dirty="0">
                                          <a:latin typeface="Cambria Math" panose="02040503050406030204" pitchFamily="18" charset="0"/>
                                          <a:ea typeface="Cambria Math" panose="02040503050406030204" pitchFamily="18" charset="0"/>
                                        </a:rPr>
                                        <m:t>𝒑</m:t>
                                      </m:r>
                                    </m:e>
                                    <m:sub>
                                      <m:r>
                                        <a:rPr lang="en-US" altLang="zh-CN" sz="1500" b="1" i="1" dirty="0">
                                          <a:latin typeface="Cambria Math" panose="02040503050406030204" pitchFamily="18" charset="0"/>
                                          <a:ea typeface="Cambria Math" panose="02040503050406030204" pitchFamily="18" charset="0"/>
                                        </a:rPr>
                                        <m:t>𝟏</m:t>
                                      </m:r>
                                    </m:sub>
                                  </m:sSub>
                                </m:e>
                              </m:d>
                              <m:r>
                                <a:rPr lang="en-US" altLang="zh-CN" sz="1500" i="1" dirty="0">
                                  <a:latin typeface="Cambria Math" panose="02040503050406030204" pitchFamily="18" charset="0"/>
                                  <a:ea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𝑑𝐴</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e>
                              </m:d>
                            </m:e>
                          </m:nary>
                          <m:r>
                            <a:rPr lang="en-US" altLang="zh-CN" sz="1500" i="1" dirty="0">
                              <a:latin typeface="Cambria Math" panose="02040503050406030204" pitchFamily="18" charset="0"/>
                            </a:rPr>
                            <m:t>𝑑𝐴</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e>
                          </m:d>
                        </m:e>
                      </m:nary>
                    </m:oMath>
                    <m:oMath>
                      <m:r>
                        <a:rPr lang="en-US" altLang="zh-CN" sz="1500" b="1" i="1" dirty="0" smtClean="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r>
                            <a:rPr lang="en-US" altLang="zh-CN" sz="1500" i="1" dirty="0">
                              <a:latin typeface="Cambria Math" panose="02040503050406030204" pitchFamily="18" charset="0"/>
                            </a:rPr>
                            <m:t>𝐴</m:t>
                          </m:r>
                        </m:sub>
                        <m:sup/>
                        <m:e>
                          <m:nary>
                            <m:naryPr>
                              <m:supHide m:val="on"/>
                              <m:ctrlPr>
                                <a:rPr lang="en-US" altLang="zh-CN" sz="1500" i="1" dirty="0">
                                  <a:solidFill>
                                    <a:schemeClr val="accent2">
                                      <a:lumMod val="75000"/>
                                    </a:schemeClr>
                                  </a:solidFill>
                                  <a:latin typeface="Cambria Math" panose="02040503050406030204" pitchFamily="18" charset="0"/>
                                </a:rPr>
                              </m:ctrlPr>
                            </m:naryPr>
                            <m:sub>
                              <m:r>
                                <a:rPr lang="en-US" altLang="zh-CN" sz="1500" i="1" dirty="0">
                                  <a:solidFill>
                                    <a:schemeClr val="accent2">
                                      <a:lumMod val="75000"/>
                                    </a:schemeClr>
                                  </a:solidFill>
                                  <a:latin typeface="Cambria Math" panose="02040503050406030204" pitchFamily="18" charset="0"/>
                                </a:rPr>
                                <m:t>𝐴</m:t>
                              </m:r>
                            </m:sub>
                            <m:sup/>
                            <m:e>
                              <m:nary>
                                <m:naryPr>
                                  <m:supHide m:val="on"/>
                                  <m:ctrlPr>
                                    <a:rPr lang="en-US" altLang="zh-CN" sz="1500" i="1" dirty="0">
                                      <a:solidFill>
                                        <a:schemeClr val="accent6">
                                          <a:lumMod val="50000"/>
                                        </a:schemeClr>
                                      </a:solidFill>
                                      <a:latin typeface="Cambria Math" panose="02040503050406030204" pitchFamily="18" charset="0"/>
                                    </a:rPr>
                                  </m:ctrlPr>
                                </m:naryPr>
                                <m:sub>
                                  <m:r>
                                    <a:rPr lang="en-US" altLang="zh-CN" sz="1500" i="1" dirty="0">
                                      <a:solidFill>
                                        <a:schemeClr val="accent6">
                                          <a:lumMod val="50000"/>
                                        </a:schemeClr>
                                      </a:solidFill>
                                      <a:latin typeface="Cambria Math" panose="02040503050406030204" pitchFamily="18" charset="0"/>
                                    </a:rPr>
                                    <m:t>𝐴</m:t>
                                  </m:r>
                                </m:sub>
                                <m:sup/>
                                <m:e>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𝑓</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𝟐</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𝟏</m:t>
                                          </m:r>
                                        </m:sub>
                                      </m:sSub>
                                    </m:e>
                                  </m:d>
                                  <m:r>
                                    <a:rPr lang="en-US" altLang="zh-CN" sz="1500" b="0" i="1" dirty="0" smtClean="0">
                                      <a:solidFill>
                                        <a:schemeClr val="accent2">
                                          <a:lumMod val="75000"/>
                                        </a:schemeClr>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𝑓</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i="1" dirty="0">
                                      <a:solidFill>
                                        <a:schemeClr val="accent6">
                                          <a:lumMod val="50000"/>
                                        </a:schemeClr>
                                      </a:solidFill>
                                      <a:latin typeface="Cambria Math" panose="02040503050406030204" pitchFamily="18" charset="0"/>
                                    </a:rPr>
                                    <m:t> </m:t>
                                  </m:r>
                                  <m:sSub>
                                    <m:sSubPr>
                                      <m:ctrlPr>
                                        <a:rPr lang="en-US" altLang="zh-CN" sz="1500" i="1" dirty="0" smtClean="0">
                                          <a:solidFill>
                                            <a:srgbClr val="7030A0"/>
                                          </a:solidFill>
                                          <a:latin typeface="Cambria Math" panose="02040503050406030204" pitchFamily="18" charset="0"/>
                                        </a:rPr>
                                      </m:ctrlPr>
                                    </m:sSubPr>
                                    <m:e>
                                      <m:r>
                                        <a:rPr lang="en-US" altLang="zh-CN" sz="1500" i="1" dirty="0" smtClean="0">
                                          <a:solidFill>
                                            <a:srgbClr val="7030A0"/>
                                          </a:solidFill>
                                          <a:latin typeface="Cambria Math" panose="02040503050406030204" pitchFamily="18" charset="0"/>
                                        </a:rPr>
                                        <m:t>𝐿</m:t>
                                      </m:r>
                                    </m:e>
                                    <m:sub>
                                      <m:r>
                                        <a:rPr lang="en-US" altLang="zh-CN" sz="1500" b="1" i="1" dirty="0" smtClean="0">
                                          <a:solidFill>
                                            <a:srgbClr val="7030A0"/>
                                          </a:solidFill>
                                          <a:latin typeface="Cambria Math" panose="02040503050406030204" pitchFamily="18" charset="0"/>
                                        </a:rPr>
                                        <m:t>𝒆</m:t>
                                      </m:r>
                                    </m:sub>
                                  </m:sSub>
                                  <m:d>
                                    <m:dPr>
                                      <m:ctrlPr>
                                        <a:rPr lang="en-US" altLang="zh-CN" sz="1500" b="1" i="1" dirty="0">
                                          <a:solidFill>
                                            <a:srgbClr val="7030A0"/>
                                          </a:solidFill>
                                          <a:latin typeface="Cambria Math" panose="02040503050406030204" pitchFamily="18" charset="0"/>
                                        </a:rPr>
                                      </m:ctrlPr>
                                    </m:dPr>
                                    <m:e>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𝟒</m:t>
                                          </m:r>
                                        </m:sub>
                                      </m:sSub>
                                      <m:r>
                                        <a:rPr lang="en-US" altLang="zh-CN" sz="1500" b="1" i="1" dirty="0">
                                          <a:solidFill>
                                            <a:srgbClr val="7030A0"/>
                                          </a:solidFill>
                                          <a:latin typeface="Cambria Math" panose="02040503050406030204" pitchFamily="18" charset="0"/>
                                        </a:rPr>
                                        <m:t>→</m:t>
                                      </m:r>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𝟑</m:t>
                                          </m:r>
                                        </m:sub>
                                      </m:sSub>
                                    </m:e>
                                  </m:d>
                                  <m:r>
                                    <a:rPr lang="en-US" altLang="zh-CN" sz="1500" b="1" i="1" dirty="0">
                                      <a:solidFill>
                                        <a:schemeClr val="accent6">
                                          <a:lumMod val="50000"/>
                                        </a:schemeClr>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𝐺</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𝟑</m:t>
                                          </m:r>
                                        </m:sub>
                                      </m:sSub>
                                    </m:e>
                                  </m:d>
                                  <m:r>
                                    <a:rPr lang="en-US" altLang="zh-CN" sz="1500" b="0" i="1" dirty="0" smtClean="0">
                                      <a:solidFill>
                                        <a:schemeClr val="accent6">
                                          <a:lumMod val="50000"/>
                                        </a:schemeClr>
                                      </a:solidFill>
                                      <a:latin typeface="Cambria Math" panose="02040503050406030204" pitchFamily="18" charset="0"/>
                                      <a:ea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𝐺</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500" i="1" dirty="0">
                                      <a:solidFill>
                                        <a:schemeClr val="accent2">
                                          <a:lumMod val="75000"/>
                                        </a:schemeClr>
                                      </a:solidFill>
                                      <a:latin typeface="Cambria Math" panose="02040503050406030204" pitchFamily="18" charset="0"/>
                                      <a:ea typeface="Cambria Math" panose="02040503050406030204" pitchFamily="18" charset="0"/>
                                    </a:rPr>
                                    <m:t> </m:t>
                                  </m:r>
                                  <m:r>
                                    <a:rPr lang="en-US" altLang="zh-CN" sz="1500" i="1" dirty="0">
                                      <a:latin typeface="Cambria Math" panose="02040503050406030204" pitchFamily="18" charset="0"/>
                                    </a:rPr>
                                    <m:t>𝐺</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ea typeface="Cambria Math" panose="02040503050406030204" pitchFamily="18" charset="0"/>
                                        </a:rPr>
                                        <m:t>↔</m:t>
                                      </m:r>
                                      <m:sSub>
                                        <m:sSubPr>
                                          <m:ctrlPr>
                                            <a:rPr lang="en-US" altLang="zh-CN" sz="1500" b="1" i="1" dirty="0">
                                              <a:latin typeface="Cambria Math" panose="02040503050406030204" pitchFamily="18" charset="0"/>
                                              <a:ea typeface="Cambria Math" panose="02040503050406030204" pitchFamily="18" charset="0"/>
                                            </a:rPr>
                                          </m:ctrlPr>
                                        </m:sSubPr>
                                        <m:e>
                                          <m:r>
                                            <a:rPr lang="en-US" altLang="zh-CN" sz="1500" b="1" i="1" dirty="0">
                                              <a:latin typeface="Cambria Math" panose="02040503050406030204" pitchFamily="18" charset="0"/>
                                              <a:ea typeface="Cambria Math" panose="02040503050406030204" pitchFamily="18" charset="0"/>
                                            </a:rPr>
                                            <m:t>𝒑</m:t>
                                          </m:r>
                                        </m:e>
                                        <m:sub>
                                          <m:r>
                                            <a:rPr lang="en-US" altLang="zh-CN" sz="1500" b="1" i="1" dirty="0">
                                              <a:latin typeface="Cambria Math" panose="02040503050406030204" pitchFamily="18" charset="0"/>
                                              <a:ea typeface="Cambria Math" panose="02040503050406030204" pitchFamily="18" charset="0"/>
                                            </a:rPr>
                                            <m:t>𝟏</m:t>
                                          </m:r>
                                        </m:sub>
                                      </m:sSub>
                                    </m:e>
                                  </m:d>
                                  <m:r>
                                    <a:rPr lang="en-US" altLang="zh-CN" sz="1500" b="0" i="1" dirty="0" smtClean="0">
                                      <a:latin typeface="Cambria Math" panose="02040503050406030204" pitchFamily="18" charset="0"/>
                                      <a:ea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𝑑𝐴</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e>
                                  </m:d>
                                </m:e>
                              </m:nary>
                              <m:r>
                                <a:rPr lang="en-US" altLang="zh-CN" sz="1500" i="1" dirty="0">
                                  <a:solidFill>
                                    <a:schemeClr val="accent2">
                                      <a:lumMod val="75000"/>
                                    </a:schemeClr>
                                  </a:solidFill>
                                  <a:latin typeface="Cambria Math" panose="02040503050406030204" pitchFamily="18" charset="0"/>
                                </a:rPr>
                                <m:t>𝑑𝐴</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e>
                              </m:d>
                            </m:e>
                          </m:nary>
                          <m:r>
                            <a:rPr lang="en-US" altLang="zh-CN" sz="1500" i="1" dirty="0">
                              <a:latin typeface="Cambria Math" panose="02040503050406030204" pitchFamily="18" charset="0"/>
                            </a:rPr>
                            <m:t>𝑑𝐴</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e>
                          </m:d>
                        </m:e>
                      </m:nary>
                    </m:oMath>
                    <m:oMath>
                      <m:r>
                        <a:rPr lang="en-US" altLang="zh-CN" sz="1500" b="1" i="1" smtClean="0">
                          <a:latin typeface="Cambria Math" panose="02040503050406030204" pitchFamily="18" charset="0"/>
                        </a:rPr>
                        <m:t>    +…</m:t>
                      </m:r>
                    </m:oMath>
                  </m:oMathPara>
                </a14:m>
                <a:endParaRPr lang="en-US" altLang="zh-CN" sz="1500" b="1" i="1" dirty="0">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2CDFA418-965C-3978-8044-E823FA75DCAE}"/>
                  </a:ext>
                </a:extLst>
              </p:cNvPr>
              <p:cNvSpPr txBox="1">
                <a:spLocks noRot="1" noChangeAspect="1" noMove="1" noResize="1" noEditPoints="1" noAdjustHandles="1" noChangeArrowheads="1" noChangeShapeType="1" noTextEdit="1"/>
              </p:cNvSpPr>
              <p:nvPr/>
            </p:nvSpPr>
            <p:spPr>
              <a:xfrm>
                <a:off x="83713" y="1216493"/>
                <a:ext cx="12061064" cy="2345450"/>
              </a:xfrm>
              <a:prstGeom prst="rect">
                <a:avLst/>
              </a:prstGeom>
              <a:blipFill>
                <a:blip r:embed="rId3"/>
                <a:stretch>
                  <a:fillRect b="-78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BC74C1E-0150-AE58-3D8E-1BF1CF9A445D}"/>
                  </a:ext>
                </a:extLst>
              </p:cNvPr>
              <p:cNvSpPr txBox="1"/>
              <p:nvPr/>
            </p:nvSpPr>
            <p:spPr>
              <a:xfrm>
                <a:off x="65468" y="3698436"/>
                <a:ext cx="11430572" cy="2448747"/>
              </a:xfrm>
              <a:prstGeom prst="rect">
                <a:avLst/>
              </a:prstGeom>
              <a:noFill/>
            </p:spPr>
            <p:txBody>
              <a:bodyPr wrap="square">
                <a:spAutoFit/>
              </a:bodyPr>
              <a:lstStyle/>
              <a:p>
                <a:pPr>
                  <a:lnSpc>
                    <a:spcPct val="120000"/>
                  </a:lnSpc>
                </a:pPr>
                <a14:m>
                  <m:oMathPara xmlns:m="http://schemas.openxmlformats.org/officeDocument/2006/math">
                    <m:oMath>
                      <m:r>
                        <a:rPr lang="en-US" altLang="zh-CN" sz="1500" b="0" i="1" dirty="0" smtClean="0">
                          <a:latin typeface="Cambria Math" panose="02040503050406030204" pitchFamily="18" charset="0"/>
                        </a:rPr>
                        <m:t>𝐿</m:t>
                      </m:r>
                      <m:d>
                        <m:dPr>
                          <m:ctrlPr>
                            <a:rPr lang="en-US" altLang="zh-CN" sz="1500" b="1" i="1" dirty="0" smtClean="0">
                              <a:latin typeface="Cambria Math" panose="02040503050406030204" pitchFamily="18" charset="0"/>
                            </a:rPr>
                          </m:ctrlPr>
                        </m:dPr>
                        <m:e>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𝟏</m:t>
                              </m:r>
                            </m:sub>
                          </m:sSub>
                          <m:r>
                            <a:rPr lang="en-US" altLang="zh-CN" sz="1500" b="1" i="1" dirty="0" smtClean="0">
                              <a:latin typeface="Cambria Math" panose="02040503050406030204" pitchFamily="18" charset="0"/>
                            </a:rPr>
                            <m:t>→</m:t>
                          </m:r>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𝟎</m:t>
                              </m:r>
                            </m:sub>
                          </m:sSub>
                        </m:e>
                      </m:d>
                      <m:r>
                        <a:rPr lang="en-US" altLang="zh-CN" sz="1500" b="1" i="1" smtClean="0">
                          <a:latin typeface="Cambria Math" panose="02040503050406030204" pitchFamily="18" charset="0"/>
                        </a:rPr>
                        <m:t>=</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𝑒</m:t>
                          </m:r>
                        </m:sub>
                      </m:sSub>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oMath>
                    <m:oMath>
                      <m:r>
                        <a:rPr lang="en-US" altLang="zh-CN" sz="1500" b="1" i="1" dirty="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𝐴</m:t>
                              </m:r>
                            </m:e>
                            <m:sub>
                              <m:r>
                                <a:rPr lang="en-US" altLang="zh-CN" sz="1500" b="0" i="1" dirty="0" smtClean="0">
                                  <a:latin typeface="Cambria Math" panose="02040503050406030204" pitchFamily="18" charset="0"/>
                                </a:rPr>
                                <m:t>𝐸</m:t>
                              </m:r>
                            </m:sub>
                          </m:sSub>
                        </m:sub>
                        <m:sup/>
                        <m:e>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𝐿</m:t>
                              </m:r>
                            </m:e>
                            <m:sub>
                              <m:r>
                                <a:rPr lang="en-US" altLang="zh-CN" sz="1500" i="1" dirty="0">
                                  <a:solidFill>
                                    <a:schemeClr val="tx1"/>
                                  </a:solidFill>
                                  <a:latin typeface="Cambria Math" panose="02040503050406030204" pitchFamily="18" charset="0"/>
                                </a:rPr>
                                <m:t>𝑒</m:t>
                              </m:r>
                            </m:sub>
                          </m:sSub>
                          <m:d>
                            <m:dPr>
                              <m:ctrlPr>
                                <a:rPr lang="en-US" altLang="zh-CN" sz="1500" b="1" i="1" dirty="0">
                                  <a:solidFill>
                                    <a:schemeClr val="tx1"/>
                                  </a:solidFill>
                                  <a:latin typeface="Cambria Math" panose="02040503050406030204" pitchFamily="18" charset="0"/>
                                </a:rPr>
                              </m:ctrlPr>
                            </m:dPr>
                            <m:e>
                              <m:sSub>
                                <m:sSubPr>
                                  <m:ctrlPr>
                                    <a:rPr lang="en-US" altLang="zh-CN" sz="1500" b="1" i="1" dirty="0">
                                      <a:solidFill>
                                        <a:schemeClr val="tx1"/>
                                      </a:solidFill>
                                      <a:latin typeface="Cambria Math" panose="02040503050406030204" pitchFamily="18" charset="0"/>
                                    </a:rPr>
                                  </m:ctrlPr>
                                </m:sSubPr>
                                <m:e>
                                  <m:r>
                                    <a:rPr lang="en-US" altLang="zh-CN" sz="1500" b="1" i="1" dirty="0">
                                      <a:solidFill>
                                        <a:schemeClr val="tx1"/>
                                      </a:solidFill>
                                      <a:latin typeface="Cambria Math" panose="02040503050406030204" pitchFamily="18" charset="0"/>
                                    </a:rPr>
                                    <m:t>𝒑</m:t>
                                  </m:r>
                                </m:e>
                                <m:sub>
                                  <m:r>
                                    <a:rPr lang="en-US" altLang="zh-CN" sz="1500" b="1" i="1" dirty="0">
                                      <a:solidFill>
                                        <a:schemeClr val="tx1"/>
                                      </a:solidFill>
                                      <a:latin typeface="Cambria Math" panose="02040503050406030204" pitchFamily="18" charset="0"/>
                                    </a:rPr>
                                    <m:t>𝟐</m:t>
                                  </m:r>
                                </m:sub>
                              </m:sSub>
                              <m:r>
                                <a:rPr lang="en-US" altLang="zh-CN" sz="1500" b="1" i="1" dirty="0">
                                  <a:solidFill>
                                    <a:schemeClr val="tx1"/>
                                  </a:solidFill>
                                  <a:latin typeface="Cambria Math" panose="02040503050406030204" pitchFamily="18" charset="0"/>
                                </a:rPr>
                                <m:t>→</m:t>
                              </m:r>
                              <m:sSub>
                                <m:sSubPr>
                                  <m:ctrlPr>
                                    <a:rPr lang="en-US" altLang="zh-CN" sz="1500" b="1" i="1" dirty="0">
                                      <a:solidFill>
                                        <a:schemeClr val="tx1"/>
                                      </a:solidFill>
                                      <a:latin typeface="Cambria Math" panose="02040503050406030204" pitchFamily="18" charset="0"/>
                                    </a:rPr>
                                  </m:ctrlPr>
                                </m:sSubPr>
                                <m:e>
                                  <m:r>
                                    <a:rPr lang="en-US" altLang="zh-CN" sz="1500" b="1" i="1" dirty="0">
                                      <a:solidFill>
                                        <a:schemeClr val="tx1"/>
                                      </a:solidFill>
                                      <a:latin typeface="Cambria Math" panose="02040503050406030204" pitchFamily="18" charset="0"/>
                                    </a:rPr>
                                    <m:t>𝒑</m:t>
                                  </m:r>
                                </m:e>
                                <m:sub>
                                  <m:r>
                                    <a:rPr lang="en-US" altLang="zh-CN" sz="1500" b="1" i="1" dirty="0">
                                      <a:solidFill>
                                        <a:schemeClr val="tx1"/>
                                      </a:solidFill>
                                      <a:latin typeface="Cambria Math" panose="02040503050406030204" pitchFamily="18" charset="0"/>
                                    </a:rPr>
                                    <m:t>𝟏</m:t>
                                  </m:r>
                                </m:sub>
                              </m:sSub>
                            </m:e>
                          </m:d>
                          <m:r>
                            <a:rPr lang="en-US" altLang="zh-CN" sz="1500" i="1" dirty="0">
                              <a:solidFill>
                                <a:schemeClr val="accent2">
                                  <a:lumMod val="75000"/>
                                </a:schemeClr>
                              </a:solidFill>
                              <a:latin typeface="Cambria Math" panose="02040503050406030204" pitchFamily="18" charset="0"/>
                            </a:rPr>
                            <m:t> </m:t>
                          </m:r>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latin typeface="Cambria Math" panose="02040503050406030204" pitchFamily="18" charset="0"/>
                            </a:rPr>
                            <m:t>𝐺</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ea typeface="Cambria Math" panose="02040503050406030204" pitchFamily="18" charset="0"/>
                                </a:rPr>
                                <m:t>↔</m:t>
                              </m:r>
                              <m:sSub>
                                <m:sSubPr>
                                  <m:ctrlPr>
                                    <a:rPr lang="en-US" altLang="zh-CN" sz="1500" b="1" i="1" dirty="0">
                                      <a:latin typeface="Cambria Math" panose="02040503050406030204" pitchFamily="18" charset="0"/>
                                      <a:ea typeface="Cambria Math" panose="02040503050406030204" pitchFamily="18" charset="0"/>
                                    </a:rPr>
                                  </m:ctrlPr>
                                </m:sSubPr>
                                <m:e>
                                  <m:r>
                                    <a:rPr lang="en-US" altLang="zh-CN" sz="1500" b="1" i="1" dirty="0">
                                      <a:latin typeface="Cambria Math" panose="02040503050406030204" pitchFamily="18" charset="0"/>
                                      <a:ea typeface="Cambria Math" panose="02040503050406030204" pitchFamily="18" charset="0"/>
                                    </a:rPr>
                                    <m:t>𝒑</m:t>
                                  </m:r>
                                </m:e>
                                <m:sub>
                                  <m:r>
                                    <a:rPr lang="en-US" altLang="zh-CN" sz="1500" b="1" i="1" dirty="0">
                                      <a:latin typeface="Cambria Math" panose="02040503050406030204" pitchFamily="18" charset="0"/>
                                      <a:ea typeface="Cambria Math" panose="02040503050406030204" pitchFamily="18" charset="0"/>
                                    </a:rPr>
                                    <m:t>𝟏</m:t>
                                  </m:r>
                                </m:sub>
                              </m:sSub>
                            </m:e>
                          </m:d>
                          <m:r>
                            <a:rPr lang="en-US" altLang="zh-CN" sz="1500" i="1" dirty="0">
                              <a:latin typeface="Cambria Math" panose="02040503050406030204" pitchFamily="18" charset="0"/>
                              <a:ea typeface="Cambria Math" panose="02040503050406030204" pitchFamily="18" charset="0"/>
                            </a:rPr>
                            <m:t> </m:t>
                          </m:r>
                          <m:r>
                            <a:rPr lang="en-US" altLang="zh-CN" sz="1500" i="1" dirty="0">
                              <a:latin typeface="Cambria Math" panose="02040503050406030204" pitchFamily="18" charset="0"/>
                            </a:rPr>
                            <m:t>𝑑𝐴</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e>
                          </m:d>
                        </m:e>
                      </m:nary>
                    </m:oMath>
                    <m:oMath>
                      <m:r>
                        <a:rPr lang="en-US" altLang="zh-CN" sz="1500" b="1" i="1" dirty="0">
                          <a:latin typeface="Cambria Math" panose="02040503050406030204" pitchFamily="18" charset="0"/>
                        </a:rPr>
                        <m:t>    +</m:t>
                      </m:r>
                      <m:nary>
                        <m:naryPr>
                          <m:supHide m:val="on"/>
                          <m:ctrlPr>
                            <a:rPr lang="en-US" altLang="zh-CN" sz="1500" b="0" i="1" dirty="0" smtClean="0">
                              <a:latin typeface="Cambria Math" panose="02040503050406030204" pitchFamily="18" charset="0"/>
                            </a:rPr>
                          </m:ctrlPr>
                        </m:naryPr>
                        <m:sub>
                          <m:sSup>
                            <m:sSupPr>
                              <m:ctrlPr>
                                <a:rPr lang="en-US" altLang="zh-CN" sz="1500" b="0" i="1" dirty="0" smtClean="0">
                                  <a:latin typeface="Cambria Math" panose="02040503050406030204" pitchFamily="18" charset="0"/>
                                </a:rPr>
                              </m:ctrlPr>
                            </m:sSupPr>
                            <m:e>
                              <m:r>
                                <a:rPr lang="en-US" altLang="zh-CN" sz="1500" b="0" i="1" dirty="0" smtClean="0">
                                  <a:latin typeface="Cambria Math" panose="02040503050406030204" pitchFamily="18" charset="0"/>
                                </a:rPr>
                                <m:t>𝑆</m:t>
                              </m:r>
                            </m:e>
                            <m:sup>
                              <m:r>
                                <a:rPr lang="en-US" altLang="zh-CN" sz="1500" b="0" i="1" dirty="0" smtClean="0">
                                  <a:latin typeface="Cambria Math" panose="02040503050406030204" pitchFamily="18" charset="0"/>
                                </a:rPr>
                                <m:t>2</m:t>
                              </m:r>
                            </m:sup>
                          </m:sSup>
                        </m:sub>
                        <m:sup/>
                        <m:e>
                          <m:nary>
                            <m:naryPr>
                              <m:supHide m:val="on"/>
                              <m:ctrlPr>
                                <a:rPr lang="en-US" altLang="zh-CN" sz="1500" i="1" dirty="0">
                                  <a:solidFill>
                                    <a:schemeClr val="accent2">
                                      <a:lumMod val="75000"/>
                                    </a:schemeClr>
                                  </a:solidFill>
                                  <a:latin typeface="Cambria Math" panose="02040503050406030204" pitchFamily="18" charset="0"/>
                                </a:rPr>
                              </m:ctrlPr>
                            </m:naryPr>
                            <m:sub>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𝐴</m:t>
                                  </m:r>
                                </m:e>
                                <m:sub>
                                  <m:r>
                                    <a:rPr lang="en-US" altLang="zh-CN" sz="1500" b="0" i="1" dirty="0" smtClean="0">
                                      <a:solidFill>
                                        <a:schemeClr val="accent2">
                                          <a:lumMod val="75000"/>
                                        </a:schemeClr>
                                      </a:solidFill>
                                      <a:latin typeface="Cambria Math" panose="02040503050406030204" pitchFamily="18" charset="0"/>
                                    </a:rPr>
                                    <m:t>𝐸</m:t>
                                  </m:r>
                                </m:sub>
                              </m:sSub>
                            </m:sub>
                            <m:sup/>
                            <m:e>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𝑓</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𝟐</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𝟏</m:t>
                                      </m:r>
                                    </m:sub>
                                  </m:sSub>
                                </m:e>
                              </m:d>
                              <m:r>
                                <a:rPr lang="en-US" altLang="zh-CN" sz="1500" b="0" i="1" dirty="0" smtClean="0">
                                  <a:solidFill>
                                    <a:schemeClr val="accent2">
                                      <a:lumMod val="75000"/>
                                    </a:schemeClr>
                                  </a:solidFill>
                                  <a:latin typeface="Cambria Math" panose="02040503050406030204" pitchFamily="18" charset="0"/>
                                </a:rPr>
                                <m:t> </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𝐿</m:t>
                                  </m:r>
                                </m:e>
                                <m:sub>
                                  <m:r>
                                    <a:rPr lang="en-US" altLang="zh-CN" sz="1500" i="1" dirty="0">
                                      <a:solidFill>
                                        <a:schemeClr val="accent6">
                                          <a:lumMod val="50000"/>
                                        </a:schemeClr>
                                      </a:solidFill>
                                      <a:latin typeface="Cambria Math" panose="02040503050406030204" pitchFamily="18" charset="0"/>
                                    </a:rPr>
                                    <m:t>𝑒</m:t>
                                  </m:r>
                                </m:sub>
                              </m:sSub>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b="0" i="1" dirty="0" smtClean="0">
                                  <a:solidFill>
                                    <a:schemeClr val="accent6">
                                      <a:lumMod val="50000"/>
                                    </a:schemeClr>
                                  </a:solidFill>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𝐺</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500" i="1" dirty="0">
                                  <a:solidFill>
                                    <a:schemeClr val="accent2">
                                      <a:lumMod val="75000"/>
                                    </a:schemeClr>
                                  </a:solidFill>
                                  <a:latin typeface="Cambria Math" panose="02040503050406030204" pitchFamily="18" charset="0"/>
                                  <a:ea typeface="Cambria Math" panose="02040503050406030204" pitchFamily="18" charset="0"/>
                                </a:rPr>
                                <m:t> </m:t>
                              </m:r>
                              <m:r>
                                <a:rPr lang="en-US" altLang="zh-CN" sz="1500" i="1" dirty="0" smtClean="0">
                                  <a:latin typeface="Cambria Math" panose="02040503050406030204" pitchFamily="18" charset="0"/>
                                </a:rPr>
                                <m:t>|</m:t>
                              </m:r>
                              <m:func>
                                <m:funcPr>
                                  <m:ctrlPr>
                                    <a:rPr lang="en-US" altLang="zh-CN" sz="1500" b="0" i="0" dirty="0" smtClean="0">
                                      <a:latin typeface="Cambria Math" panose="02040503050406030204" pitchFamily="18" charset="0"/>
                                    </a:rPr>
                                  </m:ctrlPr>
                                </m:funcPr>
                                <m:fName>
                                  <m:r>
                                    <m:rPr>
                                      <m:sty m:val="p"/>
                                    </m:rPr>
                                    <a:rPr lang="en-US" altLang="zh-CN" sz="1500" b="0" i="0" dirty="0" smtClean="0">
                                      <a:latin typeface="Cambria Math" panose="02040503050406030204" pitchFamily="18" charset="0"/>
                                    </a:rPr>
                                    <m:t>cos</m:t>
                                  </m:r>
                                </m:fName>
                                <m:e>
                                  <m:sSub>
                                    <m:sSubPr>
                                      <m:ctrlPr>
                                        <a:rPr lang="en-US" altLang="zh-CN" sz="1500" b="0" i="1" dirty="0" smtClean="0">
                                          <a:latin typeface="Cambria Math" panose="02040503050406030204" pitchFamily="18" charset="0"/>
                                        </a:rPr>
                                      </m:ctrlPr>
                                    </m:sSubPr>
                                    <m:e>
                                      <m:r>
                                        <a:rPr lang="en-US" altLang="zh-CN" sz="1500" b="0" i="1" dirty="0" smtClean="0">
                                          <a:latin typeface="Cambria Math" panose="02040503050406030204" pitchFamily="18" charset="0"/>
                                        </a:rPr>
                                        <m:t>𝜃</m:t>
                                      </m:r>
                                    </m:e>
                                    <m:sub>
                                      <m:r>
                                        <a:rPr lang="en-US" altLang="zh-CN" sz="1500" b="0" i="1" dirty="0" smtClean="0">
                                          <a:latin typeface="Cambria Math" panose="02040503050406030204" pitchFamily="18" charset="0"/>
                                        </a:rPr>
                                        <m:t>2</m:t>
                                      </m:r>
                                    </m:sub>
                                  </m:sSub>
                                </m:e>
                              </m:func>
                              <m:r>
                                <a:rPr lang="en-US" altLang="zh-CN" sz="1500" b="0" i="1" dirty="0" smtClean="0">
                                  <a:latin typeface="Cambria Math" panose="02040503050406030204" pitchFamily="18" charset="0"/>
                                </a:rPr>
                                <m:t>|</m:t>
                              </m:r>
                              <m:r>
                                <a:rPr lang="en-US" altLang="zh-CN" sz="1500" i="1" dirty="0">
                                  <a:latin typeface="Cambria Math" panose="02040503050406030204" pitchFamily="18" charset="0"/>
                                  <a:ea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𝑑𝐴</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e>
                              </m:d>
                            </m:e>
                          </m:nary>
                          <m:r>
                            <a:rPr lang="en-US" altLang="zh-CN" sz="1500" i="1" dirty="0">
                              <a:latin typeface="Cambria Math" panose="02040503050406030204" pitchFamily="18" charset="0"/>
                            </a:rPr>
                            <m:t>𝑑</m:t>
                          </m:r>
                          <m:sSub>
                            <m:sSubPr>
                              <m:ctrlPr>
                                <a:rPr lang="en-US" altLang="zh-CN" sz="1500" i="1" dirty="0" smtClean="0">
                                  <a:latin typeface="Cambria Math" panose="02040503050406030204" pitchFamily="18" charset="0"/>
                                </a:rPr>
                              </m:ctrlPr>
                            </m:sSubPr>
                            <m:e>
                              <m:r>
                                <a:rPr lang="en-US" altLang="zh-CN" sz="1500" i="1" dirty="0" smtClean="0">
                                  <a:latin typeface="Cambria Math" panose="02040503050406030204" pitchFamily="18" charset="0"/>
                                </a:rPr>
                                <m:t>𝜔</m:t>
                              </m:r>
                            </m:e>
                            <m:sub>
                              <m:r>
                                <a:rPr lang="en-US" altLang="zh-CN" sz="1500" b="0" i="1" dirty="0" smtClean="0">
                                  <a:latin typeface="Cambria Math" panose="02040503050406030204" pitchFamily="18" charset="0"/>
                                </a:rPr>
                                <m:t>2</m:t>
                              </m:r>
                            </m:sub>
                          </m:sSub>
                        </m:e>
                      </m:nary>
                    </m:oMath>
                    <m:oMath>
                      <m:r>
                        <a:rPr lang="en-US" altLang="zh-CN" sz="1500" b="1" i="1" dirty="0" smtClean="0">
                          <a:latin typeface="Cambria Math" panose="02040503050406030204" pitchFamily="18" charset="0"/>
                        </a:rPr>
                        <m:t>    +</m:t>
                      </m:r>
                      <m:nary>
                        <m:naryPr>
                          <m:supHide m:val="on"/>
                          <m:ctrlPr>
                            <a:rPr lang="en-US" altLang="zh-CN" sz="1500" b="0" i="1" dirty="0" smtClean="0">
                              <a:latin typeface="Cambria Math" panose="02040503050406030204" pitchFamily="18" charset="0"/>
                            </a:rPr>
                          </m:ctrlPr>
                        </m:naryPr>
                        <m:sub>
                          <m:sSup>
                            <m:sSupPr>
                              <m:ctrlPr>
                                <a:rPr lang="en-US" altLang="zh-CN" sz="1500" b="0" i="1" dirty="0" smtClean="0">
                                  <a:latin typeface="Cambria Math" panose="02040503050406030204" pitchFamily="18" charset="0"/>
                                </a:rPr>
                              </m:ctrlPr>
                            </m:sSupPr>
                            <m:e>
                              <m:r>
                                <a:rPr lang="en-US" altLang="zh-CN" sz="1500" b="0" i="1" dirty="0" smtClean="0">
                                  <a:latin typeface="Cambria Math" panose="02040503050406030204" pitchFamily="18" charset="0"/>
                                </a:rPr>
                                <m:t>𝑆</m:t>
                              </m:r>
                            </m:e>
                            <m:sup>
                              <m:r>
                                <a:rPr lang="en-US" altLang="zh-CN" sz="1500" b="0" i="1" dirty="0" smtClean="0">
                                  <a:latin typeface="Cambria Math" panose="02040503050406030204" pitchFamily="18" charset="0"/>
                                </a:rPr>
                                <m:t>2</m:t>
                              </m:r>
                            </m:sup>
                          </m:sSup>
                        </m:sub>
                        <m:sup/>
                        <m:e>
                          <m:nary>
                            <m:naryPr>
                              <m:supHide m:val="on"/>
                              <m:ctrlPr>
                                <a:rPr lang="en-US" altLang="zh-CN" sz="1500" b="0" i="1" dirty="0" smtClean="0">
                                  <a:solidFill>
                                    <a:schemeClr val="accent2">
                                      <a:lumMod val="75000"/>
                                    </a:schemeClr>
                                  </a:solidFill>
                                  <a:latin typeface="Cambria Math" panose="02040503050406030204" pitchFamily="18" charset="0"/>
                                </a:rPr>
                              </m:ctrlPr>
                            </m:naryPr>
                            <m:sub>
                              <m:sSup>
                                <m:sSupPr>
                                  <m:ctrlPr>
                                    <a:rPr lang="en-US" altLang="zh-CN" sz="1500" b="0" i="1" dirty="0" smtClean="0">
                                      <a:solidFill>
                                        <a:schemeClr val="accent2">
                                          <a:lumMod val="75000"/>
                                        </a:schemeClr>
                                      </a:solidFill>
                                      <a:latin typeface="Cambria Math" panose="02040503050406030204" pitchFamily="18" charset="0"/>
                                    </a:rPr>
                                  </m:ctrlPr>
                                </m:sSupPr>
                                <m:e>
                                  <m:r>
                                    <a:rPr lang="en-US" altLang="zh-CN" sz="1500" b="0" i="1" dirty="0" smtClean="0">
                                      <a:solidFill>
                                        <a:schemeClr val="accent2">
                                          <a:lumMod val="75000"/>
                                        </a:schemeClr>
                                      </a:solidFill>
                                      <a:latin typeface="Cambria Math" panose="02040503050406030204" pitchFamily="18" charset="0"/>
                                    </a:rPr>
                                    <m:t>𝑆</m:t>
                                  </m:r>
                                </m:e>
                                <m:sup>
                                  <m:r>
                                    <a:rPr lang="en-US" altLang="zh-CN" sz="1500" b="0" i="1" dirty="0" smtClean="0">
                                      <a:solidFill>
                                        <a:schemeClr val="accent2">
                                          <a:lumMod val="75000"/>
                                        </a:schemeClr>
                                      </a:solidFill>
                                      <a:latin typeface="Cambria Math" panose="02040503050406030204" pitchFamily="18" charset="0"/>
                                    </a:rPr>
                                    <m:t>2</m:t>
                                  </m:r>
                                </m:sup>
                              </m:sSup>
                            </m:sub>
                            <m:sup/>
                            <m:e>
                              <m:nary>
                                <m:naryPr>
                                  <m:supHide m:val="on"/>
                                  <m:ctrlPr>
                                    <a:rPr lang="en-US" altLang="zh-CN" sz="1500" i="1" dirty="0">
                                      <a:solidFill>
                                        <a:schemeClr val="accent6">
                                          <a:lumMod val="50000"/>
                                        </a:schemeClr>
                                      </a:solidFill>
                                      <a:latin typeface="Cambria Math" panose="02040503050406030204" pitchFamily="18" charset="0"/>
                                    </a:rPr>
                                  </m:ctrlPr>
                                </m:naryPr>
                                <m:sub>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𝐴</m:t>
                                      </m:r>
                                    </m:e>
                                    <m:sub>
                                      <m:r>
                                        <a:rPr lang="en-US" altLang="zh-CN" sz="1500" b="0" i="1" dirty="0" smtClean="0">
                                          <a:solidFill>
                                            <a:schemeClr val="accent6">
                                              <a:lumMod val="50000"/>
                                            </a:schemeClr>
                                          </a:solidFill>
                                          <a:latin typeface="Cambria Math" panose="02040503050406030204" pitchFamily="18" charset="0"/>
                                        </a:rPr>
                                        <m:t>𝐸</m:t>
                                      </m:r>
                                    </m:sub>
                                  </m:sSub>
                                </m:sub>
                                <m:sup/>
                                <m:e>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𝑓</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𝟐</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𝟏</m:t>
                                          </m:r>
                                        </m:sub>
                                      </m:sSub>
                                    </m:e>
                                  </m:d>
                                  <m:r>
                                    <a:rPr lang="en-US" altLang="zh-CN" sz="1500" b="0" i="1" dirty="0" smtClean="0">
                                      <a:solidFill>
                                        <a:schemeClr val="accent2">
                                          <a:lumMod val="75000"/>
                                        </a:schemeClr>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𝑓</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i="1" dirty="0">
                                      <a:solidFill>
                                        <a:schemeClr val="accent6">
                                          <a:lumMod val="50000"/>
                                        </a:schemeClr>
                                      </a:solidFill>
                                      <a:latin typeface="Cambria Math" panose="02040503050406030204" pitchFamily="18" charset="0"/>
                                    </a:rPr>
                                    <m:t> </m:t>
                                  </m:r>
                                  <m:sSub>
                                    <m:sSubPr>
                                      <m:ctrlPr>
                                        <a:rPr lang="en-US" altLang="zh-CN" sz="1500" i="1" dirty="0" smtClean="0">
                                          <a:solidFill>
                                            <a:srgbClr val="7030A0"/>
                                          </a:solidFill>
                                          <a:latin typeface="Cambria Math" panose="02040503050406030204" pitchFamily="18" charset="0"/>
                                        </a:rPr>
                                      </m:ctrlPr>
                                    </m:sSubPr>
                                    <m:e>
                                      <m:r>
                                        <a:rPr lang="en-US" altLang="zh-CN" sz="1500" i="1" dirty="0" smtClean="0">
                                          <a:solidFill>
                                            <a:srgbClr val="7030A0"/>
                                          </a:solidFill>
                                          <a:latin typeface="Cambria Math" panose="02040503050406030204" pitchFamily="18" charset="0"/>
                                        </a:rPr>
                                        <m:t>𝐿</m:t>
                                      </m:r>
                                    </m:e>
                                    <m:sub>
                                      <m:r>
                                        <a:rPr lang="en-US" altLang="zh-CN" sz="1500" b="1" i="1" dirty="0" smtClean="0">
                                          <a:solidFill>
                                            <a:srgbClr val="7030A0"/>
                                          </a:solidFill>
                                          <a:latin typeface="Cambria Math" panose="02040503050406030204" pitchFamily="18" charset="0"/>
                                        </a:rPr>
                                        <m:t>𝒆</m:t>
                                      </m:r>
                                    </m:sub>
                                  </m:sSub>
                                  <m:d>
                                    <m:dPr>
                                      <m:ctrlPr>
                                        <a:rPr lang="en-US" altLang="zh-CN" sz="1500" b="1" i="1" dirty="0">
                                          <a:solidFill>
                                            <a:srgbClr val="7030A0"/>
                                          </a:solidFill>
                                          <a:latin typeface="Cambria Math" panose="02040503050406030204" pitchFamily="18" charset="0"/>
                                        </a:rPr>
                                      </m:ctrlPr>
                                    </m:dPr>
                                    <m:e>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𝟒</m:t>
                                          </m:r>
                                        </m:sub>
                                      </m:sSub>
                                      <m:r>
                                        <a:rPr lang="en-US" altLang="zh-CN" sz="1500" b="1" i="1" dirty="0">
                                          <a:solidFill>
                                            <a:srgbClr val="7030A0"/>
                                          </a:solidFill>
                                          <a:latin typeface="Cambria Math" panose="02040503050406030204" pitchFamily="18" charset="0"/>
                                        </a:rPr>
                                        <m:t>→</m:t>
                                      </m:r>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𝟑</m:t>
                                          </m:r>
                                        </m:sub>
                                      </m:sSub>
                                    </m:e>
                                  </m:d>
                                  <m:r>
                                    <a:rPr lang="en-US" altLang="zh-CN" sz="1500" b="1" i="1" dirty="0">
                                      <a:solidFill>
                                        <a:schemeClr val="accent6">
                                          <a:lumMod val="50000"/>
                                        </a:schemeClr>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𝐺</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𝟑</m:t>
                                          </m:r>
                                        </m:sub>
                                      </m:sSub>
                                    </m:e>
                                  </m:d>
                                  <m:r>
                                    <a:rPr lang="en-US" altLang="zh-CN" sz="1500" b="0" i="1" dirty="0" smtClean="0">
                                      <a:solidFill>
                                        <a:schemeClr val="accent6">
                                          <a:lumMod val="50000"/>
                                        </a:schemeClr>
                                      </a:solidFill>
                                      <a:latin typeface="Cambria Math" panose="02040503050406030204" pitchFamily="18" charset="0"/>
                                      <a:ea typeface="Cambria Math" panose="02040503050406030204" pitchFamily="18" charset="0"/>
                                    </a:rPr>
                                    <m:t> </m:t>
                                  </m:r>
                                  <m:d>
                                    <m:dPr>
                                      <m:begChr m:val="|"/>
                                      <m:endChr m:val="|"/>
                                      <m:ctrlPr>
                                        <a:rPr lang="en-US" altLang="zh-CN" sz="1500" b="0" i="1" dirty="0" smtClean="0">
                                          <a:solidFill>
                                            <a:schemeClr val="accent2">
                                              <a:lumMod val="75000"/>
                                            </a:schemeClr>
                                          </a:solidFill>
                                          <a:latin typeface="Cambria Math" panose="02040503050406030204" pitchFamily="18" charset="0"/>
                                        </a:rPr>
                                      </m:ctrlPr>
                                    </m:dPr>
                                    <m:e>
                                      <m:func>
                                        <m:funcPr>
                                          <m:ctrlPr>
                                            <a:rPr lang="en-US" altLang="zh-CN" sz="1500" b="0" i="0" dirty="0" smtClean="0">
                                              <a:solidFill>
                                                <a:schemeClr val="accent2">
                                                  <a:lumMod val="75000"/>
                                                </a:schemeClr>
                                              </a:solidFill>
                                              <a:latin typeface="Cambria Math" panose="02040503050406030204" pitchFamily="18" charset="0"/>
                                            </a:rPr>
                                          </m:ctrlPr>
                                        </m:funcPr>
                                        <m:fName>
                                          <m:r>
                                            <m:rPr>
                                              <m:sty m:val="p"/>
                                            </m:rPr>
                                            <a:rPr lang="en-US" altLang="zh-CN" sz="1500" b="0" i="0" dirty="0" smtClean="0">
                                              <a:solidFill>
                                                <a:schemeClr val="accent2">
                                                  <a:lumMod val="75000"/>
                                                </a:schemeClr>
                                              </a:solidFill>
                                              <a:latin typeface="Cambria Math" panose="02040503050406030204" pitchFamily="18" charset="0"/>
                                            </a:rPr>
                                            <m:t>cos</m:t>
                                          </m:r>
                                        </m:fName>
                                        <m:e>
                                          <m:sSub>
                                            <m:sSubPr>
                                              <m:ctrlPr>
                                                <a:rPr lang="en-US" altLang="zh-CN" sz="1500" b="0" i="1" dirty="0" smtClean="0">
                                                  <a:solidFill>
                                                    <a:schemeClr val="accent2">
                                                      <a:lumMod val="75000"/>
                                                    </a:schemeClr>
                                                  </a:solidFill>
                                                  <a:latin typeface="Cambria Math" panose="02040503050406030204" pitchFamily="18" charset="0"/>
                                                </a:rPr>
                                              </m:ctrlPr>
                                            </m:sSubPr>
                                            <m:e>
                                              <m:r>
                                                <a:rPr lang="en-US" altLang="zh-CN" sz="1500" b="0" i="1" dirty="0" smtClean="0">
                                                  <a:solidFill>
                                                    <a:schemeClr val="accent2">
                                                      <a:lumMod val="75000"/>
                                                    </a:schemeClr>
                                                  </a:solidFill>
                                                  <a:latin typeface="Cambria Math" panose="02040503050406030204" pitchFamily="18" charset="0"/>
                                                </a:rPr>
                                                <m:t>𝜃</m:t>
                                              </m:r>
                                            </m:e>
                                            <m:sub>
                                              <m:r>
                                                <a:rPr lang="en-US" altLang="zh-CN" sz="1500" b="0" i="1" dirty="0" smtClean="0">
                                                  <a:solidFill>
                                                    <a:schemeClr val="accent2">
                                                      <a:lumMod val="75000"/>
                                                    </a:schemeClr>
                                                  </a:solidFill>
                                                  <a:latin typeface="Cambria Math" panose="02040503050406030204" pitchFamily="18" charset="0"/>
                                                </a:rPr>
                                                <m:t>3</m:t>
                                              </m:r>
                                            </m:sub>
                                          </m:sSub>
                                        </m:e>
                                      </m:func>
                                    </m:e>
                                  </m:d>
                                  <m:r>
                                    <a:rPr lang="en-US" altLang="zh-CN" sz="1500" b="0" i="1" dirty="0" smtClean="0">
                                      <a:solidFill>
                                        <a:schemeClr val="accent2">
                                          <a:lumMod val="75000"/>
                                        </a:schemeClr>
                                      </a:solidFill>
                                      <a:latin typeface="Cambria Math" panose="02040503050406030204" pitchFamily="18" charset="0"/>
                                    </a:rPr>
                                    <m:t> </m:t>
                                  </m:r>
                                  <m:d>
                                    <m:dPr>
                                      <m:begChr m:val="|"/>
                                      <m:endChr m:val="|"/>
                                      <m:ctrlPr>
                                        <a:rPr lang="en-US" altLang="zh-CN" sz="1500" i="1" dirty="0">
                                          <a:latin typeface="Cambria Math" panose="02040503050406030204" pitchFamily="18" charset="0"/>
                                        </a:rPr>
                                      </m:ctrlPr>
                                    </m:dPr>
                                    <m:e>
                                      <m:func>
                                        <m:funcPr>
                                          <m:ctrlPr>
                                            <a:rPr lang="en-US" altLang="zh-CN" sz="1500" dirty="0">
                                              <a:latin typeface="Cambria Math" panose="02040503050406030204" pitchFamily="18" charset="0"/>
                                            </a:rPr>
                                          </m:ctrlPr>
                                        </m:funcPr>
                                        <m:fName>
                                          <m:r>
                                            <m:rPr>
                                              <m:sty m:val="p"/>
                                            </m:rPr>
                                            <a:rPr lang="en-US" altLang="zh-CN" sz="1500" dirty="0">
                                              <a:latin typeface="Cambria Math" panose="02040503050406030204" pitchFamily="18" charset="0"/>
                                            </a:rPr>
                                            <m:t>cos</m:t>
                                          </m:r>
                                        </m:fName>
                                        <m:e>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𝜃</m:t>
                                              </m:r>
                                            </m:e>
                                            <m:sub>
                                              <m:r>
                                                <a:rPr lang="en-US" altLang="zh-CN" sz="1500" i="1" dirty="0">
                                                  <a:latin typeface="Cambria Math" panose="02040503050406030204" pitchFamily="18" charset="0"/>
                                                </a:rPr>
                                                <m:t>2</m:t>
                                              </m:r>
                                            </m:sub>
                                          </m:sSub>
                                        </m:e>
                                      </m:func>
                                    </m:e>
                                  </m:d>
                                  <m:r>
                                    <a:rPr lang="en-US" altLang="zh-CN" sz="1500" b="0" i="1" dirty="0" smtClean="0">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𝑑𝐴</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e>
                                  </m:d>
                                </m:e>
                              </m:nary>
                              <m:r>
                                <a:rPr lang="en-US" altLang="zh-CN" sz="1500" i="1" dirty="0">
                                  <a:solidFill>
                                    <a:schemeClr val="accent2">
                                      <a:lumMod val="75000"/>
                                    </a:schemeClr>
                                  </a:solidFill>
                                  <a:latin typeface="Cambria Math" panose="02040503050406030204" pitchFamily="18" charset="0"/>
                                </a:rPr>
                                <m:t>𝑑</m:t>
                              </m:r>
                              <m:sSub>
                                <m:sSubPr>
                                  <m:ctrlPr>
                                    <a:rPr lang="en-US" altLang="zh-CN" sz="1500" b="0" i="1" dirty="0" smtClean="0">
                                      <a:solidFill>
                                        <a:schemeClr val="accent2">
                                          <a:lumMod val="75000"/>
                                        </a:schemeClr>
                                      </a:solidFill>
                                      <a:latin typeface="Cambria Math" panose="02040503050406030204" pitchFamily="18" charset="0"/>
                                    </a:rPr>
                                  </m:ctrlPr>
                                </m:sSubPr>
                                <m:e>
                                  <m:r>
                                    <a:rPr lang="en-US" altLang="zh-CN" sz="1500" b="0" i="1" dirty="0" smtClean="0">
                                      <a:solidFill>
                                        <a:schemeClr val="accent2">
                                          <a:lumMod val="75000"/>
                                        </a:schemeClr>
                                      </a:solidFill>
                                      <a:latin typeface="Cambria Math" panose="02040503050406030204" pitchFamily="18" charset="0"/>
                                    </a:rPr>
                                    <m:t>𝜔</m:t>
                                  </m:r>
                                </m:e>
                                <m:sub>
                                  <m:r>
                                    <a:rPr lang="en-US" altLang="zh-CN" sz="1500" b="0" i="1" dirty="0" smtClean="0">
                                      <a:solidFill>
                                        <a:schemeClr val="accent2">
                                          <a:lumMod val="75000"/>
                                        </a:schemeClr>
                                      </a:solidFill>
                                      <a:latin typeface="Cambria Math" panose="02040503050406030204" pitchFamily="18" charset="0"/>
                                    </a:rPr>
                                    <m:t>3</m:t>
                                  </m:r>
                                </m:sub>
                              </m:sSub>
                            </m:e>
                          </m:nary>
                          <m:r>
                            <a:rPr lang="en-US" altLang="zh-CN" sz="1500" i="1" dirty="0">
                              <a:latin typeface="Cambria Math" panose="02040503050406030204" pitchFamily="18" charset="0"/>
                            </a:rPr>
                            <m:t>𝑑</m:t>
                          </m:r>
                          <m:sSub>
                            <m:sSubPr>
                              <m:ctrlPr>
                                <a:rPr lang="en-US" altLang="zh-CN" sz="1500" b="0" i="1" dirty="0" smtClean="0">
                                  <a:latin typeface="Cambria Math" panose="02040503050406030204" pitchFamily="18" charset="0"/>
                                </a:rPr>
                              </m:ctrlPr>
                            </m:sSubPr>
                            <m:e>
                              <m:r>
                                <a:rPr lang="en-US" altLang="zh-CN" sz="1500" b="0" i="1" dirty="0" smtClean="0">
                                  <a:latin typeface="Cambria Math" panose="02040503050406030204" pitchFamily="18" charset="0"/>
                                </a:rPr>
                                <m:t>𝜔</m:t>
                              </m:r>
                            </m:e>
                            <m:sub>
                              <m:r>
                                <a:rPr lang="en-US" altLang="zh-CN" sz="1500" b="0" i="1" dirty="0" smtClean="0">
                                  <a:latin typeface="Cambria Math" panose="02040503050406030204" pitchFamily="18" charset="0"/>
                                </a:rPr>
                                <m:t>2</m:t>
                              </m:r>
                            </m:sub>
                          </m:sSub>
                        </m:e>
                      </m:nary>
                    </m:oMath>
                    <m:oMath>
                      <m:r>
                        <a:rPr lang="en-US" altLang="zh-CN" sz="1500" b="1" i="1" smtClean="0">
                          <a:latin typeface="Cambria Math" panose="02040503050406030204" pitchFamily="18" charset="0"/>
                        </a:rPr>
                        <m:t>    +…</m:t>
                      </m:r>
                    </m:oMath>
                  </m:oMathPara>
                </a14:m>
                <a:endParaRPr lang="en-US" altLang="zh-CN" sz="1500" b="1" i="1" dirty="0">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CBC74C1E-0150-AE58-3D8E-1BF1CF9A445D}"/>
                  </a:ext>
                </a:extLst>
              </p:cNvPr>
              <p:cNvSpPr txBox="1">
                <a:spLocks noRot="1" noChangeAspect="1" noMove="1" noResize="1" noEditPoints="1" noAdjustHandles="1" noChangeArrowheads="1" noChangeShapeType="1" noTextEdit="1"/>
              </p:cNvSpPr>
              <p:nvPr/>
            </p:nvSpPr>
            <p:spPr>
              <a:xfrm>
                <a:off x="65468" y="3698436"/>
                <a:ext cx="11430572" cy="2448747"/>
              </a:xfrm>
              <a:prstGeom prst="rect">
                <a:avLst/>
              </a:prstGeom>
              <a:blipFill>
                <a:blip r:embed="rId4"/>
                <a:stretch>
                  <a:fillRect b="-7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376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7973F-FAD0-5E7F-15D6-3B0A50943B6E}"/>
            </a:ext>
          </a:extLst>
        </p:cNvPr>
        <p:cNvGrpSpPr/>
        <p:nvPr/>
      </p:nvGrpSpPr>
      <p:grpSpPr>
        <a:xfrm>
          <a:off x="0" y="0"/>
          <a:ext cx="0" cy="0"/>
          <a:chOff x="0" y="0"/>
          <a:chExt cx="0" cy="0"/>
        </a:xfrm>
      </p:grpSpPr>
      <p:pic>
        <p:nvPicPr>
          <p:cNvPr id="7" name="图片 6">
            <a:extLst>
              <a:ext uri="{FF2B5EF4-FFF2-40B4-BE49-F238E27FC236}">
                <a16:creationId xmlns:a16="http://schemas.microsoft.com/office/drawing/2014/main" id="{FF0A9CC1-6454-4896-09C2-FABDAD63C574}"/>
              </a:ext>
            </a:extLst>
          </p:cNvPr>
          <p:cNvPicPr>
            <a:picLocks noChangeAspect="1"/>
          </p:cNvPicPr>
          <p:nvPr/>
        </p:nvPicPr>
        <p:blipFill>
          <a:blip r:embed="rId2"/>
          <a:stretch>
            <a:fillRect/>
          </a:stretch>
        </p:blipFill>
        <p:spPr>
          <a:xfrm>
            <a:off x="8075054" y="0"/>
            <a:ext cx="4116946" cy="2764236"/>
          </a:xfrm>
          <a:prstGeom prst="rect">
            <a:avLst/>
          </a:prstGeom>
        </p:spPr>
      </p:pic>
      <p:sp>
        <p:nvSpPr>
          <p:cNvPr id="5" name="标题 4">
            <a:extLst>
              <a:ext uri="{FF2B5EF4-FFF2-40B4-BE49-F238E27FC236}">
                <a16:creationId xmlns:a16="http://schemas.microsoft.com/office/drawing/2014/main" id="{FCACC23A-D7AC-E8A0-0354-7940698EAE38}"/>
              </a:ext>
            </a:extLst>
          </p:cNvPr>
          <p:cNvSpPr>
            <a:spLocks noGrp="1"/>
          </p:cNvSpPr>
          <p:nvPr>
            <p:ph type="title" idx="1"/>
          </p:nvPr>
        </p:nvSpPr>
        <p:spPr/>
        <p:txBody>
          <a:bodyPr/>
          <a:lstStyle/>
          <a:p>
            <a:r>
              <a:rPr lang="zh-CN" altLang="en-US" dirty="0"/>
              <a:t>路径积分  </a:t>
            </a:r>
            <a:r>
              <a:rPr lang="en-US" altLang="zh-CN" dirty="0"/>
              <a:t>—— </a:t>
            </a:r>
            <a:r>
              <a:rPr lang="zh-CN" altLang="en-US" dirty="0"/>
              <a:t> 化简</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7F12ABC-A02A-4C85-125B-475E488389F1}"/>
                  </a:ext>
                </a:extLst>
              </p:cNvPr>
              <p:cNvSpPr txBox="1"/>
              <p:nvPr/>
            </p:nvSpPr>
            <p:spPr>
              <a:xfrm>
                <a:off x="187818" y="1347560"/>
                <a:ext cx="11430572" cy="2448747"/>
              </a:xfrm>
              <a:prstGeom prst="rect">
                <a:avLst/>
              </a:prstGeom>
              <a:noFill/>
            </p:spPr>
            <p:txBody>
              <a:bodyPr wrap="square">
                <a:spAutoFit/>
              </a:bodyPr>
              <a:lstStyle/>
              <a:p>
                <a:pPr>
                  <a:lnSpc>
                    <a:spcPct val="120000"/>
                  </a:lnSpc>
                </a:pPr>
                <a14:m>
                  <m:oMathPara xmlns:m="http://schemas.openxmlformats.org/officeDocument/2006/math">
                    <m:oMath>
                      <m:r>
                        <a:rPr lang="en-US" altLang="zh-CN" sz="1500" b="0" i="1" dirty="0" smtClean="0">
                          <a:latin typeface="Cambria Math" panose="02040503050406030204" pitchFamily="18" charset="0"/>
                        </a:rPr>
                        <m:t>𝐿</m:t>
                      </m:r>
                      <m:d>
                        <m:dPr>
                          <m:ctrlPr>
                            <a:rPr lang="en-US" altLang="zh-CN" sz="1500" b="1" i="1" dirty="0" smtClean="0">
                              <a:latin typeface="Cambria Math" panose="02040503050406030204" pitchFamily="18" charset="0"/>
                            </a:rPr>
                          </m:ctrlPr>
                        </m:dPr>
                        <m:e>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𝟏</m:t>
                              </m:r>
                            </m:sub>
                          </m:sSub>
                          <m:r>
                            <a:rPr lang="en-US" altLang="zh-CN" sz="1500" b="1" i="1" dirty="0" smtClean="0">
                              <a:latin typeface="Cambria Math" panose="02040503050406030204" pitchFamily="18" charset="0"/>
                            </a:rPr>
                            <m:t>→</m:t>
                          </m:r>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𝟎</m:t>
                              </m:r>
                            </m:sub>
                          </m:sSub>
                        </m:e>
                      </m:d>
                      <m:r>
                        <a:rPr lang="en-US" altLang="zh-CN" sz="1500" b="1" i="1" smtClean="0">
                          <a:latin typeface="Cambria Math" panose="02040503050406030204" pitchFamily="18" charset="0"/>
                        </a:rPr>
                        <m:t>=</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𝑒</m:t>
                          </m:r>
                        </m:sub>
                      </m:sSub>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oMath>
                    <m:oMath>
                      <m:r>
                        <a:rPr lang="en-US" altLang="zh-CN" sz="1500" b="1" i="1" dirty="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𝐴</m:t>
                              </m:r>
                            </m:e>
                            <m:sub>
                              <m:r>
                                <a:rPr lang="en-US" altLang="zh-CN" sz="1500" b="0" i="1" dirty="0" smtClean="0">
                                  <a:latin typeface="Cambria Math" panose="02040503050406030204" pitchFamily="18" charset="0"/>
                                </a:rPr>
                                <m:t>𝐸</m:t>
                              </m:r>
                            </m:sub>
                          </m:sSub>
                        </m:sub>
                        <m:sup/>
                        <m:e>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𝐿</m:t>
                              </m:r>
                            </m:e>
                            <m:sub>
                              <m:r>
                                <a:rPr lang="en-US" altLang="zh-CN" sz="1500" i="1" dirty="0">
                                  <a:solidFill>
                                    <a:schemeClr val="tx1"/>
                                  </a:solidFill>
                                  <a:latin typeface="Cambria Math" panose="02040503050406030204" pitchFamily="18" charset="0"/>
                                </a:rPr>
                                <m:t>𝑒</m:t>
                              </m:r>
                            </m:sub>
                          </m:sSub>
                          <m:d>
                            <m:dPr>
                              <m:ctrlPr>
                                <a:rPr lang="en-US" altLang="zh-CN" sz="1500" b="1" i="1" dirty="0">
                                  <a:solidFill>
                                    <a:schemeClr val="tx1"/>
                                  </a:solidFill>
                                  <a:latin typeface="Cambria Math" panose="02040503050406030204" pitchFamily="18" charset="0"/>
                                </a:rPr>
                              </m:ctrlPr>
                            </m:dPr>
                            <m:e>
                              <m:sSub>
                                <m:sSubPr>
                                  <m:ctrlPr>
                                    <a:rPr lang="en-US" altLang="zh-CN" sz="1500" b="1" i="1" dirty="0">
                                      <a:solidFill>
                                        <a:schemeClr val="tx1"/>
                                      </a:solidFill>
                                      <a:latin typeface="Cambria Math" panose="02040503050406030204" pitchFamily="18" charset="0"/>
                                    </a:rPr>
                                  </m:ctrlPr>
                                </m:sSubPr>
                                <m:e>
                                  <m:r>
                                    <a:rPr lang="en-US" altLang="zh-CN" sz="1500" b="1" i="1" dirty="0">
                                      <a:solidFill>
                                        <a:schemeClr val="tx1"/>
                                      </a:solidFill>
                                      <a:latin typeface="Cambria Math" panose="02040503050406030204" pitchFamily="18" charset="0"/>
                                    </a:rPr>
                                    <m:t>𝒑</m:t>
                                  </m:r>
                                </m:e>
                                <m:sub>
                                  <m:r>
                                    <a:rPr lang="en-US" altLang="zh-CN" sz="1500" b="1" i="1" dirty="0">
                                      <a:solidFill>
                                        <a:schemeClr val="tx1"/>
                                      </a:solidFill>
                                      <a:latin typeface="Cambria Math" panose="02040503050406030204" pitchFamily="18" charset="0"/>
                                    </a:rPr>
                                    <m:t>𝟐</m:t>
                                  </m:r>
                                </m:sub>
                              </m:sSub>
                              <m:r>
                                <a:rPr lang="en-US" altLang="zh-CN" sz="1500" b="1" i="1" dirty="0">
                                  <a:solidFill>
                                    <a:schemeClr val="tx1"/>
                                  </a:solidFill>
                                  <a:latin typeface="Cambria Math" panose="02040503050406030204" pitchFamily="18" charset="0"/>
                                </a:rPr>
                                <m:t>→</m:t>
                              </m:r>
                              <m:sSub>
                                <m:sSubPr>
                                  <m:ctrlPr>
                                    <a:rPr lang="en-US" altLang="zh-CN" sz="1500" b="1" i="1" dirty="0">
                                      <a:solidFill>
                                        <a:schemeClr val="tx1"/>
                                      </a:solidFill>
                                      <a:latin typeface="Cambria Math" panose="02040503050406030204" pitchFamily="18" charset="0"/>
                                    </a:rPr>
                                  </m:ctrlPr>
                                </m:sSubPr>
                                <m:e>
                                  <m:r>
                                    <a:rPr lang="en-US" altLang="zh-CN" sz="1500" b="1" i="1" dirty="0">
                                      <a:solidFill>
                                        <a:schemeClr val="tx1"/>
                                      </a:solidFill>
                                      <a:latin typeface="Cambria Math" panose="02040503050406030204" pitchFamily="18" charset="0"/>
                                    </a:rPr>
                                    <m:t>𝒑</m:t>
                                  </m:r>
                                </m:e>
                                <m:sub>
                                  <m:r>
                                    <a:rPr lang="en-US" altLang="zh-CN" sz="1500" b="1" i="1" dirty="0">
                                      <a:solidFill>
                                        <a:schemeClr val="tx1"/>
                                      </a:solidFill>
                                      <a:latin typeface="Cambria Math" panose="02040503050406030204" pitchFamily="18" charset="0"/>
                                    </a:rPr>
                                    <m:t>𝟏</m:t>
                                  </m:r>
                                </m:sub>
                              </m:sSub>
                            </m:e>
                          </m:d>
                          <m:r>
                            <a:rPr lang="en-US" altLang="zh-CN" sz="1500" i="1" dirty="0">
                              <a:solidFill>
                                <a:schemeClr val="accent2">
                                  <a:lumMod val="75000"/>
                                </a:schemeClr>
                              </a:solidFill>
                              <a:latin typeface="Cambria Math" panose="02040503050406030204" pitchFamily="18" charset="0"/>
                            </a:rPr>
                            <m:t> </m:t>
                          </m:r>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latin typeface="Cambria Math" panose="02040503050406030204" pitchFamily="18" charset="0"/>
                            </a:rPr>
                            <m:t>𝐺</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ea typeface="Cambria Math" panose="02040503050406030204" pitchFamily="18" charset="0"/>
                                </a:rPr>
                                <m:t>↔</m:t>
                              </m:r>
                              <m:sSub>
                                <m:sSubPr>
                                  <m:ctrlPr>
                                    <a:rPr lang="en-US" altLang="zh-CN" sz="1500" b="1" i="1" dirty="0">
                                      <a:latin typeface="Cambria Math" panose="02040503050406030204" pitchFamily="18" charset="0"/>
                                      <a:ea typeface="Cambria Math" panose="02040503050406030204" pitchFamily="18" charset="0"/>
                                    </a:rPr>
                                  </m:ctrlPr>
                                </m:sSubPr>
                                <m:e>
                                  <m:r>
                                    <a:rPr lang="en-US" altLang="zh-CN" sz="1500" b="1" i="1" dirty="0">
                                      <a:latin typeface="Cambria Math" panose="02040503050406030204" pitchFamily="18" charset="0"/>
                                      <a:ea typeface="Cambria Math" panose="02040503050406030204" pitchFamily="18" charset="0"/>
                                    </a:rPr>
                                    <m:t>𝒑</m:t>
                                  </m:r>
                                </m:e>
                                <m:sub>
                                  <m:r>
                                    <a:rPr lang="en-US" altLang="zh-CN" sz="1500" b="1" i="1" dirty="0">
                                      <a:latin typeface="Cambria Math" panose="02040503050406030204" pitchFamily="18" charset="0"/>
                                      <a:ea typeface="Cambria Math" panose="02040503050406030204" pitchFamily="18" charset="0"/>
                                    </a:rPr>
                                    <m:t>𝟏</m:t>
                                  </m:r>
                                </m:sub>
                              </m:sSub>
                            </m:e>
                          </m:d>
                          <m:r>
                            <a:rPr lang="en-US" altLang="zh-CN" sz="1500" i="1" dirty="0">
                              <a:latin typeface="Cambria Math" panose="02040503050406030204" pitchFamily="18" charset="0"/>
                              <a:ea typeface="Cambria Math" panose="02040503050406030204" pitchFamily="18" charset="0"/>
                            </a:rPr>
                            <m:t> </m:t>
                          </m:r>
                          <m:r>
                            <a:rPr lang="en-US" altLang="zh-CN" sz="1500" i="1" dirty="0">
                              <a:latin typeface="Cambria Math" panose="02040503050406030204" pitchFamily="18" charset="0"/>
                            </a:rPr>
                            <m:t>𝑑𝐴</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e>
                          </m:d>
                        </m:e>
                      </m:nary>
                    </m:oMath>
                    <m:oMath>
                      <m:r>
                        <a:rPr lang="en-US" altLang="zh-CN" sz="1500" b="1" i="1" dirty="0">
                          <a:latin typeface="Cambria Math" panose="02040503050406030204" pitchFamily="18" charset="0"/>
                        </a:rPr>
                        <m:t>    +</m:t>
                      </m:r>
                      <m:nary>
                        <m:naryPr>
                          <m:supHide m:val="on"/>
                          <m:ctrlPr>
                            <a:rPr lang="en-US" altLang="zh-CN" sz="1500" b="0" i="1" dirty="0" smtClean="0">
                              <a:latin typeface="Cambria Math" panose="02040503050406030204" pitchFamily="18" charset="0"/>
                            </a:rPr>
                          </m:ctrlPr>
                        </m:naryPr>
                        <m:sub>
                          <m:sSup>
                            <m:sSupPr>
                              <m:ctrlPr>
                                <a:rPr lang="en-US" altLang="zh-CN" sz="1500" b="0" i="1" dirty="0" smtClean="0">
                                  <a:latin typeface="Cambria Math" panose="02040503050406030204" pitchFamily="18" charset="0"/>
                                </a:rPr>
                              </m:ctrlPr>
                            </m:sSupPr>
                            <m:e>
                              <m:r>
                                <a:rPr lang="en-US" altLang="zh-CN" sz="1500" b="0" i="1" dirty="0" smtClean="0">
                                  <a:latin typeface="Cambria Math" panose="02040503050406030204" pitchFamily="18" charset="0"/>
                                </a:rPr>
                                <m:t>𝑆</m:t>
                              </m:r>
                            </m:e>
                            <m:sup>
                              <m:r>
                                <a:rPr lang="en-US" altLang="zh-CN" sz="1500" b="0" i="1" dirty="0" smtClean="0">
                                  <a:latin typeface="Cambria Math" panose="02040503050406030204" pitchFamily="18" charset="0"/>
                                </a:rPr>
                                <m:t>2</m:t>
                              </m:r>
                            </m:sup>
                          </m:sSup>
                        </m:sub>
                        <m:sup/>
                        <m:e>
                          <m:nary>
                            <m:naryPr>
                              <m:supHide m:val="on"/>
                              <m:ctrlPr>
                                <a:rPr lang="en-US" altLang="zh-CN" sz="1500" i="1" dirty="0">
                                  <a:solidFill>
                                    <a:schemeClr val="accent2">
                                      <a:lumMod val="75000"/>
                                    </a:schemeClr>
                                  </a:solidFill>
                                  <a:latin typeface="Cambria Math" panose="02040503050406030204" pitchFamily="18" charset="0"/>
                                </a:rPr>
                              </m:ctrlPr>
                            </m:naryPr>
                            <m:sub>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𝐴</m:t>
                                  </m:r>
                                </m:e>
                                <m:sub>
                                  <m:r>
                                    <a:rPr lang="en-US" altLang="zh-CN" sz="1500" b="0" i="1" dirty="0" smtClean="0">
                                      <a:solidFill>
                                        <a:schemeClr val="accent2">
                                          <a:lumMod val="75000"/>
                                        </a:schemeClr>
                                      </a:solidFill>
                                      <a:latin typeface="Cambria Math" panose="02040503050406030204" pitchFamily="18" charset="0"/>
                                    </a:rPr>
                                    <m:t>𝐸</m:t>
                                  </m:r>
                                </m:sub>
                              </m:sSub>
                            </m:sub>
                            <m:sup/>
                            <m:e>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𝑓</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𝟐</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𝟏</m:t>
                                      </m:r>
                                    </m:sub>
                                  </m:sSub>
                                </m:e>
                              </m:d>
                              <m:r>
                                <a:rPr lang="en-US" altLang="zh-CN" sz="1500" b="0" i="1" dirty="0" smtClean="0">
                                  <a:solidFill>
                                    <a:schemeClr val="accent2">
                                      <a:lumMod val="75000"/>
                                    </a:schemeClr>
                                  </a:solidFill>
                                  <a:latin typeface="Cambria Math" panose="02040503050406030204" pitchFamily="18" charset="0"/>
                                </a:rPr>
                                <m:t> </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𝐿</m:t>
                                  </m:r>
                                </m:e>
                                <m:sub>
                                  <m:r>
                                    <a:rPr lang="en-US" altLang="zh-CN" sz="1500" i="1" dirty="0">
                                      <a:solidFill>
                                        <a:schemeClr val="accent6">
                                          <a:lumMod val="50000"/>
                                        </a:schemeClr>
                                      </a:solidFill>
                                      <a:latin typeface="Cambria Math" panose="02040503050406030204" pitchFamily="18" charset="0"/>
                                    </a:rPr>
                                    <m:t>𝑒</m:t>
                                  </m:r>
                                </m:sub>
                              </m:sSub>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b="0" i="1" dirty="0" smtClean="0">
                                  <a:solidFill>
                                    <a:schemeClr val="accent6">
                                      <a:lumMod val="50000"/>
                                    </a:schemeClr>
                                  </a:solidFill>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𝐺</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ea typeface="Cambria Math" panose="02040503050406030204" pitchFamily="18" charset="0"/>
                                        </a:rPr>
                                        <m:t>𝟐</m:t>
                                      </m:r>
                                    </m:sub>
                                  </m:sSub>
                                </m:e>
                              </m:d>
                              <m:r>
                                <a:rPr lang="en-US" altLang="zh-CN" sz="1500" i="1" dirty="0">
                                  <a:solidFill>
                                    <a:schemeClr val="accent2">
                                      <a:lumMod val="75000"/>
                                    </a:schemeClr>
                                  </a:solidFill>
                                  <a:latin typeface="Cambria Math" panose="02040503050406030204" pitchFamily="18" charset="0"/>
                                  <a:ea typeface="Cambria Math" panose="02040503050406030204" pitchFamily="18" charset="0"/>
                                </a:rPr>
                                <m:t> </m:t>
                              </m:r>
                              <m:r>
                                <a:rPr lang="en-US" altLang="zh-CN" sz="1500" i="1" dirty="0" smtClean="0">
                                  <a:latin typeface="Cambria Math" panose="02040503050406030204" pitchFamily="18" charset="0"/>
                                </a:rPr>
                                <m:t>|</m:t>
                              </m:r>
                              <m:func>
                                <m:funcPr>
                                  <m:ctrlPr>
                                    <a:rPr lang="en-US" altLang="zh-CN" sz="1500" b="0" i="0" dirty="0" smtClean="0">
                                      <a:latin typeface="Cambria Math" panose="02040503050406030204" pitchFamily="18" charset="0"/>
                                    </a:rPr>
                                  </m:ctrlPr>
                                </m:funcPr>
                                <m:fName>
                                  <m:r>
                                    <m:rPr>
                                      <m:sty m:val="p"/>
                                    </m:rPr>
                                    <a:rPr lang="en-US" altLang="zh-CN" sz="1500" b="0" i="0" dirty="0" smtClean="0">
                                      <a:latin typeface="Cambria Math" panose="02040503050406030204" pitchFamily="18" charset="0"/>
                                    </a:rPr>
                                    <m:t>cos</m:t>
                                  </m:r>
                                </m:fName>
                                <m:e>
                                  <m:sSub>
                                    <m:sSubPr>
                                      <m:ctrlPr>
                                        <a:rPr lang="en-US" altLang="zh-CN" sz="1500" b="0" i="1" dirty="0" smtClean="0">
                                          <a:latin typeface="Cambria Math" panose="02040503050406030204" pitchFamily="18" charset="0"/>
                                        </a:rPr>
                                      </m:ctrlPr>
                                    </m:sSubPr>
                                    <m:e>
                                      <m:r>
                                        <a:rPr lang="en-US" altLang="zh-CN" sz="1500" b="0" i="1" dirty="0" smtClean="0">
                                          <a:latin typeface="Cambria Math" panose="02040503050406030204" pitchFamily="18" charset="0"/>
                                        </a:rPr>
                                        <m:t>𝜃</m:t>
                                      </m:r>
                                    </m:e>
                                    <m:sub>
                                      <m:r>
                                        <a:rPr lang="en-US" altLang="zh-CN" sz="1500" b="0" i="1" dirty="0" smtClean="0">
                                          <a:latin typeface="Cambria Math" panose="02040503050406030204" pitchFamily="18" charset="0"/>
                                        </a:rPr>
                                        <m:t>2</m:t>
                                      </m:r>
                                    </m:sub>
                                  </m:sSub>
                                </m:e>
                              </m:func>
                              <m:r>
                                <a:rPr lang="en-US" altLang="zh-CN" sz="1500" b="0" i="1" dirty="0" smtClean="0">
                                  <a:latin typeface="Cambria Math" panose="02040503050406030204" pitchFamily="18" charset="0"/>
                                </a:rPr>
                                <m:t>|</m:t>
                              </m:r>
                              <m:r>
                                <a:rPr lang="en-US" altLang="zh-CN" sz="1500" i="1" dirty="0">
                                  <a:latin typeface="Cambria Math" panose="02040503050406030204" pitchFamily="18" charset="0"/>
                                  <a:ea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𝑑𝐴</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e>
                              </m:d>
                            </m:e>
                          </m:nary>
                          <m:r>
                            <a:rPr lang="en-US" altLang="zh-CN" sz="1500" i="1" dirty="0">
                              <a:latin typeface="Cambria Math" panose="02040503050406030204" pitchFamily="18" charset="0"/>
                            </a:rPr>
                            <m:t>𝑑</m:t>
                          </m:r>
                          <m:sSub>
                            <m:sSubPr>
                              <m:ctrlPr>
                                <a:rPr lang="en-US" altLang="zh-CN" sz="1500" i="1" dirty="0" smtClean="0">
                                  <a:latin typeface="Cambria Math" panose="02040503050406030204" pitchFamily="18" charset="0"/>
                                </a:rPr>
                              </m:ctrlPr>
                            </m:sSubPr>
                            <m:e>
                              <m:r>
                                <a:rPr lang="en-US" altLang="zh-CN" sz="1500" i="1" dirty="0" smtClean="0">
                                  <a:latin typeface="Cambria Math" panose="02040503050406030204" pitchFamily="18" charset="0"/>
                                </a:rPr>
                                <m:t>𝜔</m:t>
                              </m:r>
                            </m:e>
                            <m:sub>
                              <m:r>
                                <a:rPr lang="en-US" altLang="zh-CN" sz="1500" b="0" i="1" dirty="0" smtClean="0">
                                  <a:latin typeface="Cambria Math" panose="02040503050406030204" pitchFamily="18" charset="0"/>
                                </a:rPr>
                                <m:t>2</m:t>
                              </m:r>
                            </m:sub>
                          </m:sSub>
                        </m:e>
                      </m:nary>
                    </m:oMath>
                    <m:oMath>
                      <m:r>
                        <a:rPr lang="en-US" altLang="zh-CN" sz="1500" b="1" i="1" dirty="0" smtClean="0">
                          <a:latin typeface="Cambria Math" panose="02040503050406030204" pitchFamily="18" charset="0"/>
                        </a:rPr>
                        <m:t>    +</m:t>
                      </m:r>
                      <m:nary>
                        <m:naryPr>
                          <m:supHide m:val="on"/>
                          <m:ctrlPr>
                            <a:rPr lang="en-US" altLang="zh-CN" sz="1500" b="0" i="1" dirty="0" smtClean="0">
                              <a:latin typeface="Cambria Math" panose="02040503050406030204" pitchFamily="18" charset="0"/>
                            </a:rPr>
                          </m:ctrlPr>
                        </m:naryPr>
                        <m:sub>
                          <m:sSup>
                            <m:sSupPr>
                              <m:ctrlPr>
                                <a:rPr lang="en-US" altLang="zh-CN" sz="1500" b="0" i="1" dirty="0" smtClean="0">
                                  <a:latin typeface="Cambria Math" panose="02040503050406030204" pitchFamily="18" charset="0"/>
                                </a:rPr>
                              </m:ctrlPr>
                            </m:sSupPr>
                            <m:e>
                              <m:r>
                                <a:rPr lang="en-US" altLang="zh-CN" sz="1500" b="0" i="1" dirty="0" smtClean="0">
                                  <a:latin typeface="Cambria Math" panose="02040503050406030204" pitchFamily="18" charset="0"/>
                                </a:rPr>
                                <m:t>𝑆</m:t>
                              </m:r>
                            </m:e>
                            <m:sup>
                              <m:r>
                                <a:rPr lang="en-US" altLang="zh-CN" sz="1500" b="0" i="1" dirty="0" smtClean="0">
                                  <a:latin typeface="Cambria Math" panose="02040503050406030204" pitchFamily="18" charset="0"/>
                                </a:rPr>
                                <m:t>2</m:t>
                              </m:r>
                            </m:sup>
                          </m:sSup>
                        </m:sub>
                        <m:sup/>
                        <m:e>
                          <m:nary>
                            <m:naryPr>
                              <m:supHide m:val="on"/>
                              <m:ctrlPr>
                                <a:rPr lang="en-US" altLang="zh-CN" sz="1500" b="0" i="1" dirty="0" smtClean="0">
                                  <a:solidFill>
                                    <a:schemeClr val="accent2">
                                      <a:lumMod val="75000"/>
                                    </a:schemeClr>
                                  </a:solidFill>
                                  <a:latin typeface="Cambria Math" panose="02040503050406030204" pitchFamily="18" charset="0"/>
                                </a:rPr>
                              </m:ctrlPr>
                            </m:naryPr>
                            <m:sub>
                              <m:sSup>
                                <m:sSupPr>
                                  <m:ctrlPr>
                                    <a:rPr lang="en-US" altLang="zh-CN" sz="1500" b="0" i="1" dirty="0" smtClean="0">
                                      <a:solidFill>
                                        <a:schemeClr val="accent2">
                                          <a:lumMod val="75000"/>
                                        </a:schemeClr>
                                      </a:solidFill>
                                      <a:latin typeface="Cambria Math" panose="02040503050406030204" pitchFamily="18" charset="0"/>
                                    </a:rPr>
                                  </m:ctrlPr>
                                </m:sSupPr>
                                <m:e>
                                  <m:r>
                                    <a:rPr lang="en-US" altLang="zh-CN" sz="1500" b="0" i="1" dirty="0" smtClean="0">
                                      <a:solidFill>
                                        <a:schemeClr val="accent2">
                                          <a:lumMod val="75000"/>
                                        </a:schemeClr>
                                      </a:solidFill>
                                      <a:latin typeface="Cambria Math" panose="02040503050406030204" pitchFamily="18" charset="0"/>
                                    </a:rPr>
                                    <m:t>𝑆</m:t>
                                  </m:r>
                                </m:e>
                                <m:sup>
                                  <m:r>
                                    <a:rPr lang="en-US" altLang="zh-CN" sz="1500" b="0" i="1" dirty="0" smtClean="0">
                                      <a:solidFill>
                                        <a:schemeClr val="accent2">
                                          <a:lumMod val="75000"/>
                                        </a:schemeClr>
                                      </a:solidFill>
                                      <a:latin typeface="Cambria Math" panose="02040503050406030204" pitchFamily="18" charset="0"/>
                                    </a:rPr>
                                    <m:t>2</m:t>
                                  </m:r>
                                </m:sup>
                              </m:sSup>
                            </m:sub>
                            <m:sup/>
                            <m:e>
                              <m:nary>
                                <m:naryPr>
                                  <m:supHide m:val="on"/>
                                  <m:ctrlPr>
                                    <a:rPr lang="en-US" altLang="zh-CN" sz="1500" i="1" dirty="0">
                                      <a:solidFill>
                                        <a:schemeClr val="accent6">
                                          <a:lumMod val="50000"/>
                                        </a:schemeClr>
                                      </a:solidFill>
                                      <a:latin typeface="Cambria Math" panose="02040503050406030204" pitchFamily="18" charset="0"/>
                                    </a:rPr>
                                  </m:ctrlPr>
                                </m:naryPr>
                                <m:sub>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𝐴</m:t>
                                      </m:r>
                                    </m:e>
                                    <m:sub>
                                      <m:r>
                                        <a:rPr lang="en-US" altLang="zh-CN" sz="1500" b="0" i="1" dirty="0" smtClean="0">
                                          <a:solidFill>
                                            <a:schemeClr val="accent6">
                                              <a:lumMod val="50000"/>
                                            </a:schemeClr>
                                          </a:solidFill>
                                          <a:latin typeface="Cambria Math" panose="02040503050406030204" pitchFamily="18" charset="0"/>
                                        </a:rPr>
                                        <m:t>𝐸</m:t>
                                      </m:r>
                                    </m:sub>
                                  </m:sSub>
                                </m:sub>
                                <m:sup/>
                                <m:e>
                                  <m:r>
                                    <a:rPr lang="en-US" altLang="zh-CN" sz="1500" i="1" dirty="0">
                                      <a:latin typeface="Cambria Math" panose="02040503050406030204" pitchFamily="18" charset="0"/>
                                    </a:rPr>
                                    <m:t>𝑓</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r>
                                    <a:rPr lang="en-US" altLang="zh-CN" sz="1500" i="1" dirty="0">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𝑓</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𝟐</m:t>
                                          </m:r>
                                        </m:sub>
                                      </m:sSub>
                                      <m:r>
                                        <a:rPr lang="en-US" altLang="zh-CN" sz="1500" b="1" i="1" dirty="0">
                                          <a:solidFill>
                                            <a:schemeClr val="accent2">
                                              <a:lumMod val="75000"/>
                                            </a:schemeClr>
                                          </a:solidFill>
                                          <a:latin typeface="Cambria Math" panose="02040503050406030204" pitchFamily="18" charset="0"/>
                                        </a:rPr>
                                        <m:t>→</m:t>
                                      </m:r>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𝟏</m:t>
                                          </m:r>
                                        </m:sub>
                                      </m:sSub>
                                    </m:e>
                                  </m:d>
                                  <m:r>
                                    <a:rPr lang="en-US" altLang="zh-CN" sz="1500" b="0" i="1" dirty="0" smtClean="0">
                                      <a:solidFill>
                                        <a:schemeClr val="accent2">
                                          <a:lumMod val="75000"/>
                                        </a:schemeClr>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𝑓</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i="1" dirty="0">
                                      <a:solidFill>
                                        <a:schemeClr val="accent6">
                                          <a:lumMod val="50000"/>
                                        </a:schemeClr>
                                      </a:solidFill>
                                      <a:latin typeface="Cambria Math" panose="02040503050406030204" pitchFamily="18" charset="0"/>
                                    </a:rPr>
                                    <m:t> </m:t>
                                  </m:r>
                                  <m:sSub>
                                    <m:sSubPr>
                                      <m:ctrlPr>
                                        <a:rPr lang="en-US" altLang="zh-CN" sz="1500" i="1" dirty="0" smtClean="0">
                                          <a:solidFill>
                                            <a:srgbClr val="7030A0"/>
                                          </a:solidFill>
                                          <a:latin typeface="Cambria Math" panose="02040503050406030204" pitchFamily="18" charset="0"/>
                                        </a:rPr>
                                      </m:ctrlPr>
                                    </m:sSubPr>
                                    <m:e>
                                      <m:r>
                                        <a:rPr lang="en-US" altLang="zh-CN" sz="1500" i="1" dirty="0" smtClean="0">
                                          <a:solidFill>
                                            <a:srgbClr val="7030A0"/>
                                          </a:solidFill>
                                          <a:latin typeface="Cambria Math" panose="02040503050406030204" pitchFamily="18" charset="0"/>
                                        </a:rPr>
                                        <m:t>𝐿</m:t>
                                      </m:r>
                                    </m:e>
                                    <m:sub>
                                      <m:r>
                                        <a:rPr lang="en-US" altLang="zh-CN" sz="1500" b="1" i="1" dirty="0" smtClean="0">
                                          <a:solidFill>
                                            <a:srgbClr val="7030A0"/>
                                          </a:solidFill>
                                          <a:latin typeface="Cambria Math" panose="02040503050406030204" pitchFamily="18" charset="0"/>
                                        </a:rPr>
                                        <m:t>𝒆</m:t>
                                      </m:r>
                                    </m:sub>
                                  </m:sSub>
                                  <m:d>
                                    <m:dPr>
                                      <m:ctrlPr>
                                        <a:rPr lang="en-US" altLang="zh-CN" sz="1500" b="1" i="1" dirty="0">
                                          <a:solidFill>
                                            <a:srgbClr val="7030A0"/>
                                          </a:solidFill>
                                          <a:latin typeface="Cambria Math" panose="02040503050406030204" pitchFamily="18" charset="0"/>
                                        </a:rPr>
                                      </m:ctrlPr>
                                    </m:dPr>
                                    <m:e>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𝟒</m:t>
                                          </m:r>
                                        </m:sub>
                                      </m:sSub>
                                      <m:r>
                                        <a:rPr lang="en-US" altLang="zh-CN" sz="1500" b="1" i="1" dirty="0">
                                          <a:solidFill>
                                            <a:srgbClr val="7030A0"/>
                                          </a:solidFill>
                                          <a:latin typeface="Cambria Math" panose="02040503050406030204" pitchFamily="18" charset="0"/>
                                        </a:rPr>
                                        <m:t>→</m:t>
                                      </m:r>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𝟑</m:t>
                                          </m:r>
                                        </m:sub>
                                      </m:sSub>
                                    </m:e>
                                  </m:d>
                                  <m:r>
                                    <a:rPr lang="en-US" altLang="zh-CN" sz="1500" b="1" i="1" dirty="0">
                                      <a:solidFill>
                                        <a:schemeClr val="accent6">
                                          <a:lumMod val="50000"/>
                                        </a:schemeClr>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𝐺</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ea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ea typeface="Cambria Math" panose="02040503050406030204" pitchFamily="18" charset="0"/>
                                            </a:rPr>
                                            <m:t>𝟑</m:t>
                                          </m:r>
                                        </m:sub>
                                      </m:sSub>
                                    </m:e>
                                  </m:d>
                                  <m:r>
                                    <a:rPr lang="en-US" altLang="zh-CN" sz="1500" b="0" i="1" dirty="0" smtClean="0">
                                      <a:solidFill>
                                        <a:schemeClr val="accent6">
                                          <a:lumMod val="50000"/>
                                        </a:schemeClr>
                                      </a:solidFill>
                                      <a:latin typeface="Cambria Math" panose="02040503050406030204" pitchFamily="18" charset="0"/>
                                      <a:ea typeface="Cambria Math" panose="02040503050406030204" pitchFamily="18" charset="0"/>
                                    </a:rPr>
                                    <m:t> </m:t>
                                  </m:r>
                                  <m:d>
                                    <m:dPr>
                                      <m:begChr m:val="|"/>
                                      <m:endChr m:val="|"/>
                                      <m:ctrlPr>
                                        <a:rPr lang="en-US" altLang="zh-CN" sz="1500" b="0" i="1" dirty="0" smtClean="0">
                                          <a:solidFill>
                                            <a:schemeClr val="accent2">
                                              <a:lumMod val="75000"/>
                                            </a:schemeClr>
                                          </a:solidFill>
                                          <a:latin typeface="Cambria Math" panose="02040503050406030204" pitchFamily="18" charset="0"/>
                                        </a:rPr>
                                      </m:ctrlPr>
                                    </m:dPr>
                                    <m:e>
                                      <m:func>
                                        <m:funcPr>
                                          <m:ctrlPr>
                                            <a:rPr lang="en-US" altLang="zh-CN" sz="1500" b="0" i="0" dirty="0" smtClean="0">
                                              <a:solidFill>
                                                <a:schemeClr val="accent2">
                                                  <a:lumMod val="75000"/>
                                                </a:schemeClr>
                                              </a:solidFill>
                                              <a:latin typeface="Cambria Math" panose="02040503050406030204" pitchFamily="18" charset="0"/>
                                            </a:rPr>
                                          </m:ctrlPr>
                                        </m:funcPr>
                                        <m:fName>
                                          <m:r>
                                            <m:rPr>
                                              <m:sty m:val="p"/>
                                            </m:rPr>
                                            <a:rPr lang="en-US" altLang="zh-CN" sz="1500" b="0" i="0" dirty="0" smtClean="0">
                                              <a:solidFill>
                                                <a:schemeClr val="accent2">
                                                  <a:lumMod val="75000"/>
                                                </a:schemeClr>
                                              </a:solidFill>
                                              <a:latin typeface="Cambria Math" panose="02040503050406030204" pitchFamily="18" charset="0"/>
                                            </a:rPr>
                                            <m:t>cos</m:t>
                                          </m:r>
                                        </m:fName>
                                        <m:e>
                                          <m:sSub>
                                            <m:sSubPr>
                                              <m:ctrlPr>
                                                <a:rPr lang="en-US" altLang="zh-CN" sz="1500" b="0" i="1" dirty="0" smtClean="0">
                                                  <a:solidFill>
                                                    <a:schemeClr val="accent2">
                                                      <a:lumMod val="75000"/>
                                                    </a:schemeClr>
                                                  </a:solidFill>
                                                  <a:latin typeface="Cambria Math" panose="02040503050406030204" pitchFamily="18" charset="0"/>
                                                </a:rPr>
                                              </m:ctrlPr>
                                            </m:sSubPr>
                                            <m:e>
                                              <m:r>
                                                <a:rPr lang="en-US" altLang="zh-CN" sz="1500" b="0" i="1" dirty="0" smtClean="0">
                                                  <a:solidFill>
                                                    <a:schemeClr val="accent2">
                                                      <a:lumMod val="75000"/>
                                                    </a:schemeClr>
                                                  </a:solidFill>
                                                  <a:latin typeface="Cambria Math" panose="02040503050406030204" pitchFamily="18" charset="0"/>
                                                </a:rPr>
                                                <m:t>𝜃</m:t>
                                              </m:r>
                                            </m:e>
                                            <m:sub>
                                              <m:r>
                                                <a:rPr lang="en-US" altLang="zh-CN" sz="1500" b="0" i="1" dirty="0" smtClean="0">
                                                  <a:solidFill>
                                                    <a:schemeClr val="accent2">
                                                      <a:lumMod val="75000"/>
                                                    </a:schemeClr>
                                                  </a:solidFill>
                                                  <a:latin typeface="Cambria Math" panose="02040503050406030204" pitchFamily="18" charset="0"/>
                                                </a:rPr>
                                                <m:t>3</m:t>
                                              </m:r>
                                            </m:sub>
                                          </m:sSub>
                                        </m:e>
                                      </m:func>
                                    </m:e>
                                  </m:d>
                                  <m:r>
                                    <a:rPr lang="en-US" altLang="zh-CN" sz="1500" b="0" i="1" dirty="0" smtClean="0">
                                      <a:solidFill>
                                        <a:schemeClr val="accent2">
                                          <a:lumMod val="75000"/>
                                        </a:schemeClr>
                                      </a:solidFill>
                                      <a:latin typeface="Cambria Math" panose="02040503050406030204" pitchFamily="18" charset="0"/>
                                    </a:rPr>
                                    <m:t> </m:t>
                                  </m:r>
                                  <m:d>
                                    <m:dPr>
                                      <m:begChr m:val="|"/>
                                      <m:endChr m:val="|"/>
                                      <m:ctrlPr>
                                        <a:rPr lang="en-US" altLang="zh-CN" sz="1500" i="1" dirty="0">
                                          <a:latin typeface="Cambria Math" panose="02040503050406030204" pitchFamily="18" charset="0"/>
                                        </a:rPr>
                                      </m:ctrlPr>
                                    </m:dPr>
                                    <m:e>
                                      <m:func>
                                        <m:funcPr>
                                          <m:ctrlPr>
                                            <a:rPr lang="en-US" altLang="zh-CN" sz="1500" dirty="0">
                                              <a:latin typeface="Cambria Math" panose="02040503050406030204" pitchFamily="18" charset="0"/>
                                            </a:rPr>
                                          </m:ctrlPr>
                                        </m:funcPr>
                                        <m:fName>
                                          <m:r>
                                            <m:rPr>
                                              <m:sty m:val="p"/>
                                            </m:rPr>
                                            <a:rPr lang="en-US" altLang="zh-CN" sz="1500" dirty="0">
                                              <a:latin typeface="Cambria Math" panose="02040503050406030204" pitchFamily="18" charset="0"/>
                                            </a:rPr>
                                            <m:t>cos</m:t>
                                          </m:r>
                                        </m:fName>
                                        <m:e>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𝜃</m:t>
                                              </m:r>
                                            </m:e>
                                            <m:sub>
                                              <m:r>
                                                <a:rPr lang="en-US" altLang="zh-CN" sz="1500" i="1" dirty="0">
                                                  <a:latin typeface="Cambria Math" panose="02040503050406030204" pitchFamily="18" charset="0"/>
                                                </a:rPr>
                                                <m:t>2</m:t>
                                              </m:r>
                                            </m:sub>
                                          </m:sSub>
                                        </m:e>
                                      </m:func>
                                    </m:e>
                                  </m:d>
                                  <m:r>
                                    <a:rPr lang="en-US" altLang="zh-CN" sz="1500" b="0" i="1" dirty="0" smtClean="0">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𝑑𝐴</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e>
                                  </m:d>
                                </m:e>
                              </m:nary>
                              <m:r>
                                <a:rPr lang="en-US" altLang="zh-CN" sz="1500" i="1" dirty="0">
                                  <a:solidFill>
                                    <a:schemeClr val="accent2">
                                      <a:lumMod val="75000"/>
                                    </a:schemeClr>
                                  </a:solidFill>
                                  <a:latin typeface="Cambria Math" panose="02040503050406030204" pitchFamily="18" charset="0"/>
                                </a:rPr>
                                <m:t>𝑑</m:t>
                              </m:r>
                              <m:sSub>
                                <m:sSubPr>
                                  <m:ctrlPr>
                                    <a:rPr lang="en-US" altLang="zh-CN" sz="1500" b="0" i="1" dirty="0" smtClean="0">
                                      <a:solidFill>
                                        <a:schemeClr val="accent2">
                                          <a:lumMod val="75000"/>
                                        </a:schemeClr>
                                      </a:solidFill>
                                      <a:latin typeface="Cambria Math" panose="02040503050406030204" pitchFamily="18" charset="0"/>
                                    </a:rPr>
                                  </m:ctrlPr>
                                </m:sSubPr>
                                <m:e>
                                  <m:r>
                                    <a:rPr lang="en-US" altLang="zh-CN" sz="1500" b="0" i="1" dirty="0" smtClean="0">
                                      <a:solidFill>
                                        <a:schemeClr val="accent2">
                                          <a:lumMod val="75000"/>
                                        </a:schemeClr>
                                      </a:solidFill>
                                      <a:latin typeface="Cambria Math" panose="02040503050406030204" pitchFamily="18" charset="0"/>
                                    </a:rPr>
                                    <m:t>𝜔</m:t>
                                  </m:r>
                                </m:e>
                                <m:sub>
                                  <m:r>
                                    <a:rPr lang="en-US" altLang="zh-CN" sz="1500" b="0" i="1" dirty="0" smtClean="0">
                                      <a:solidFill>
                                        <a:schemeClr val="accent2">
                                          <a:lumMod val="75000"/>
                                        </a:schemeClr>
                                      </a:solidFill>
                                      <a:latin typeface="Cambria Math" panose="02040503050406030204" pitchFamily="18" charset="0"/>
                                    </a:rPr>
                                    <m:t>3</m:t>
                                  </m:r>
                                </m:sub>
                              </m:sSub>
                            </m:e>
                          </m:nary>
                          <m:r>
                            <a:rPr lang="en-US" altLang="zh-CN" sz="1500" i="1" dirty="0">
                              <a:latin typeface="Cambria Math" panose="02040503050406030204" pitchFamily="18" charset="0"/>
                            </a:rPr>
                            <m:t>𝑑</m:t>
                          </m:r>
                          <m:sSub>
                            <m:sSubPr>
                              <m:ctrlPr>
                                <a:rPr lang="en-US" altLang="zh-CN" sz="1500" b="0" i="1" dirty="0" smtClean="0">
                                  <a:latin typeface="Cambria Math" panose="02040503050406030204" pitchFamily="18" charset="0"/>
                                </a:rPr>
                              </m:ctrlPr>
                            </m:sSubPr>
                            <m:e>
                              <m:r>
                                <a:rPr lang="en-US" altLang="zh-CN" sz="1500" b="0" i="1" dirty="0" smtClean="0">
                                  <a:latin typeface="Cambria Math" panose="02040503050406030204" pitchFamily="18" charset="0"/>
                                </a:rPr>
                                <m:t>𝜔</m:t>
                              </m:r>
                            </m:e>
                            <m:sub>
                              <m:r>
                                <a:rPr lang="en-US" altLang="zh-CN" sz="1500" b="0" i="1" dirty="0" smtClean="0">
                                  <a:latin typeface="Cambria Math" panose="02040503050406030204" pitchFamily="18" charset="0"/>
                                </a:rPr>
                                <m:t>2</m:t>
                              </m:r>
                            </m:sub>
                          </m:sSub>
                        </m:e>
                      </m:nary>
                    </m:oMath>
                    <m:oMath>
                      <m:r>
                        <a:rPr lang="en-US" altLang="zh-CN" sz="1500" b="1" i="1" smtClean="0">
                          <a:latin typeface="Cambria Math" panose="02040503050406030204" pitchFamily="18" charset="0"/>
                        </a:rPr>
                        <m:t>    +…</m:t>
                      </m:r>
                    </m:oMath>
                  </m:oMathPara>
                </a14:m>
                <a:endParaRPr lang="en-US" altLang="zh-CN" sz="1500" b="1" i="1" dirty="0">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57F12ABC-A02A-4C85-125B-475E488389F1}"/>
                  </a:ext>
                </a:extLst>
              </p:cNvPr>
              <p:cNvSpPr txBox="1">
                <a:spLocks noRot="1" noChangeAspect="1" noMove="1" noResize="1" noEditPoints="1" noAdjustHandles="1" noChangeArrowheads="1" noChangeShapeType="1" noTextEdit="1"/>
              </p:cNvSpPr>
              <p:nvPr/>
            </p:nvSpPr>
            <p:spPr>
              <a:xfrm>
                <a:off x="187818" y="1347560"/>
                <a:ext cx="11430572" cy="2448747"/>
              </a:xfrm>
              <a:prstGeom prst="rect">
                <a:avLst/>
              </a:prstGeom>
              <a:blipFill>
                <a:blip r:embed="rId3"/>
                <a:stretch>
                  <a:fillRect b="-7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384D6A2-C0A4-F12F-33DA-4C774228AD64}"/>
                  </a:ext>
                </a:extLst>
              </p:cNvPr>
              <p:cNvSpPr txBox="1"/>
              <p:nvPr/>
            </p:nvSpPr>
            <p:spPr>
              <a:xfrm>
                <a:off x="6485014" y="3543170"/>
                <a:ext cx="5706986" cy="2196563"/>
              </a:xfrm>
              <a:prstGeom prst="rect">
                <a:avLst/>
              </a:prstGeom>
              <a:noFill/>
            </p:spPr>
            <p:txBody>
              <a:bodyPr wrap="square">
                <a:spAutoFit/>
              </a:bodyPr>
              <a:lstStyle/>
              <a:p>
                <a:pPr algn="ctr">
                  <a:lnSpc>
                    <a:spcPct val="150000"/>
                  </a:lnSpc>
                </a:pPr>
                <a:r>
                  <a:rPr lang="en-US" altLang="zh-CN" sz="1600" b="1" dirty="0">
                    <a:latin typeface="Cambria Math" panose="02040503050406030204" pitchFamily="18" charset="0"/>
                  </a:rPr>
                  <a:t> </a:t>
                </a:r>
                <a:r>
                  <a:rPr lang="zh-CN" altLang="en-US" sz="1600" b="1" dirty="0">
                    <a:latin typeface="Cambria Math" panose="02040503050406030204" pitchFamily="18" charset="0"/>
                  </a:rPr>
                  <a:t>一些符号定义和化简</a:t>
                </a:r>
                <a:endParaRPr lang="en-US" altLang="zh-CN" sz="1600" i="1" dirty="0">
                  <a:latin typeface="Cambria Math" panose="02040503050406030204" pitchFamily="18" charset="0"/>
                </a:endParaRPr>
              </a:p>
              <a:p>
                <a:pPr>
                  <a:lnSpc>
                    <a:spcPct val="150000"/>
                  </a:lnSpc>
                </a:pPr>
                <a14:m>
                  <m:oMathPara xmlns:m="http://schemas.openxmlformats.org/officeDocument/2006/math">
                    <m:o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𝑓</m:t>
                          </m:r>
                        </m:e>
                        <m:sub>
                          <m:r>
                            <a:rPr lang="en-US" altLang="zh-CN" sz="1600" i="1" dirty="0">
                              <a:latin typeface="Cambria Math" panose="02040503050406030204" pitchFamily="18" charset="0"/>
                            </a:rPr>
                            <m:t>𝑘</m:t>
                          </m:r>
                        </m:sub>
                      </m:sSub>
                      <m:r>
                        <a:rPr lang="en-US" altLang="zh-CN" sz="1600" i="1" dirty="0">
                          <a:latin typeface="Cambria Math" panose="02040503050406030204" pitchFamily="18" charset="0"/>
                          <a:ea typeface="Cambria Math" panose="02040503050406030204" pitchFamily="18" charset="0"/>
                        </a:rPr>
                        <m:t>≡</m:t>
                      </m:r>
                      <m:r>
                        <a:rPr lang="en-US" altLang="zh-CN" sz="1600" i="1" dirty="0" smtClean="0">
                          <a:latin typeface="Cambria Math" panose="02040503050406030204" pitchFamily="18" charset="0"/>
                        </a:rPr>
                        <m:t>𝑓</m:t>
                      </m:r>
                      <m:d>
                        <m:dPr>
                          <m:ctrlPr>
                            <a:rPr lang="en-US" altLang="zh-CN" sz="1600" b="1" i="1" dirty="0">
                              <a:latin typeface="Cambria Math" panose="02040503050406030204" pitchFamily="18" charset="0"/>
                            </a:rPr>
                          </m:ctrlPr>
                        </m:dPr>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smtClean="0">
                                  <a:latin typeface="Cambria Math" panose="02040503050406030204" pitchFamily="18" charset="0"/>
                                </a:rPr>
                                <m:t>𝒌</m:t>
                              </m:r>
                              <m:r>
                                <a:rPr lang="en-US" altLang="zh-CN" sz="1600" b="1" i="1" dirty="0" smtClean="0">
                                  <a:latin typeface="Cambria Math" panose="02040503050406030204" pitchFamily="18" charset="0"/>
                                </a:rPr>
                                <m:t>+</m:t>
                              </m:r>
                              <m:r>
                                <a:rPr lang="en-US" altLang="zh-CN" sz="1600" b="1" i="1" dirty="0" smtClean="0">
                                  <a:latin typeface="Cambria Math" panose="02040503050406030204" pitchFamily="18" charset="0"/>
                                </a:rPr>
                                <m:t>𝟏</m:t>
                              </m:r>
                            </m:sub>
                          </m:sSub>
                          <m:r>
                            <a:rPr lang="en-US" altLang="zh-CN" sz="1600" b="1" i="1" dirty="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smtClean="0">
                                  <a:latin typeface="Cambria Math" panose="02040503050406030204" pitchFamily="18" charset="0"/>
                                </a:rPr>
                                <m:t>𝒌</m:t>
                              </m:r>
                            </m:sub>
                          </m:sSub>
                          <m:r>
                            <a:rPr lang="en-US" altLang="zh-CN" sz="1600" b="1" i="1" dirty="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smtClean="0">
                                  <a:latin typeface="Cambria Math" panose="02040503050406030204" pitchFamily="18" charset="0"/>
                                </a:rPr>
                                <m:t>𝒌</m:t>
                              </m:r>
                              <m:r>
                                <a:rPr lang="en-US" altLang="zh-CN" sz="1600" b="1" i="1" dirty="0" smtClean="0">
                                  <a:latin typeface="Cambria Math" panose="02040503050406030204" pitchFamily="18" charset="0"/>
                                </a:rPr>
                                <m:t>−</m:t>
                              </m:r>
                              <m:r>
                                <a:rPr lang="en-US" altLang="zh-CN" sz="1600" b="1" i="1" dirty="0" smtClean="0">
                                  <a:latin typeface="Cambria Math" panose="02040503050406030204" pitchFamily="18" charset="0"/>
                                </a:rPr>
                                <m:t>𝟏</m:t>
                              </m:r>
                            </m:sub>
                          </m:sSub>
                        </m:e>
                      </m:d>
                    </m:oMath>
                  </m:oMathPara>
                </a14:m>
                <a:endParaRPr lang="en-US" altLang="zh-CN" sz="1600" b="1" i="1" dirty="0">
                  <a:latin typeface="Cambria Math" panose="02040503050406030204" pitchFamily="18" charset="0"/>
                </a:endParaRPr>
              </a:p>
              <a:p>
                <a:pPr>
                  <a:lnSpc>
                    <a:spcPct val="150000"/>
                  </a:lnSpc>
                </a:pPr>
                <a14:m>
                  <m:oMathPara xmlns:m="http://schemas.openxmlformats.org/officeDocument/2006/math">
                    <m:o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𝐺</m:t>
                          </m:r>
                        </m:e>
                        <m:sub>
                          <m:r>
                            <a:rPr lang="en-US" altLang="zh-CN" sz="1600" i="1" dirty="0">
                              <a:latin typeface="Cambria Math" panose="02040503050406030204" pitchFamily="18" charset="0"/>
                            </a:rPr>
                            <m:t>𝑘</m:t>
                          </m:r>
                        </m:sub>
                      </m:sSub>
                      <m:r>
                        <a:rPr lang="en-US" altLang="zh-CN" sz="1600" i="1" dirty="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rPr>
                        <m:t>𝐺</m:t>
                      </m:r>
                      <m:d>
                        <m:dPr>
                          <m:ctrlPr>
                            <a:rPr lang="en-US" altLang="zh-CN" sz="1600" b="1" i="1" dirty="0" smtClean="0">
                              <a:latin typeface="Cambria Math" panose="02040503050406030204" pitchFamily="18" charset="0"/>
                            </a:rPr>
                          </m:ctrlPr>
                        </m:dPr>
                        <m:e>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𝒑</m:t>
                              </m:r>
                            </m:e>
                            <m:sub>
                              <m:r>
                                <a:rPr lang="en-US" altLang="zh-CN" sz="1600" b="1" i="1" dirty="0" smtClean="0">
                                  <a:latin typeface="Cambria Math" panose="02040503050406030204" pitchFamily="18" charset="0"/>
                                </a:rPr>
                                <m:t>𝒌</m:t>
                              </m:r>
                              <m:r>
                                <a:rPr lang="en-US" altLang="zh-CN" sz="1600" b="1" i="1" dirty="0" smtClean="0">
                                  <a:latin typeface="Cambria Math" panose="02040503050406030204" pitchFamily="18" charset="0"/>
                                </a:rPr>
                                <m:t>+</m:t>
                              </m:r>
                              <m:r>
                                <a:rPr lang="en-US" altLang="zh-CN" sz="1600" b="1" i="1" dirty="0" smtClean="0">
                                  <a:latin typeface="Cambria Math" panose="02040503050406030204" pitchFamily="18" charset="0"/>
                                </a:rPr>
                                <m:t>𝟏</m:t>
                              </m:r>
                            </m:sub>
                          </m:sSub>
                          <m:r>
                            <a:rPr lang="en-US" altLang="zh-CN" sz="1600" b="1" i="1" dirty="0">
                              <a:latin typeface="Cambria Math" panose="02040503050406030204" pitchFamily="18" charset="0"/>
                              <a:ea typeface="Cambria Math" panose="02040503050406030204" pitchFamily="18" charset="0"/>
                            </a:rPr>
                            <m:t>↔</m:t>
                          </m:r>
                          <m:sSub>
                            <m:sSubPr>
                              <m:ctrlPr>
                                <a:rPr lang="en-US" altLang="zh-CN" sz="1600" b="1" i="1" dirty="0" smtClean="0">
                                  <a:latin typeface="Cambria Math" panose="02040503050406030204" pitchFamily="18" charset="0"/>
                                  <a:ea typeface="Cambria Math" panose="02040503050406030204" pitchFamily="18" charset="0"/>
                                </a:rPr>
                              </m:ctrlPr>
                            </m:sSubPr>
                            <m:e>
                              <m:r>
                                <a:rPr lang="en-US" altLang="zh-CN" sz="1600" b="1" i="1" dirty="0" smtClean="0">
                                  <a:latin typeface="Cambria Math" panose="02040503050406030204" pitchFamily="18" charset="0"/>
                                  <a:ea typeface="Cambria Math" panose="02040503050406030204" pitchFamily="18" charset="0"/>
                                </a:rPr>
                                <m:t>𝒑</m:t>
                              </m:r>
                            </m:e>
                            <m:sub>
                              <m:r>
                                <a:rPr lang="en-US" altLang="zh-CN" sz="1600" b="1" i="1" dirty="0" smtClean="0">
                                  <a:latin typeface="Cambria Math" panose="02040503050406030204" pitchFamily="18" charset="0"/>
                                  <a:ea typeface="Cambria Math" panose="02040503050406030204" pitchFamily="18" charset="0"/>
                                </a:rPr>
                                <m:t>𝒌</m:t>
                              </m:r>
                            </m:sub>
                          </m:sSub>
                        </m:e>
                      </m:d>
                      <m:r>
                        <a:rPr lang="en-US" altLang="zh-CN" sz="1600" b="1"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  </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𝑉</m:t>
                          </m:r>
                        </m:e>
                        <m:sub>
                          <m:r>
                            <a:rPr lang="en-US" altLang="zh-CN" sz="1600" i="1" dirty="0">
                              <a:latin typeface="Cambria Math" panose="02040503050406030204" pitchFamily="18" charset="0"/>
                            </a:rPr>
                            <m:t>𝑘</m:t>
                          </m:r>
                        </m:sub>
                      </m:sSub>
                      <m:r>
                        <a:rPr lang="en-US" altLang="zh-CN" sz="1600" i="1" dirty="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rPr>
                        <m:t>𝑉</m:t>
                      </m:r>
                      <m:d>
                        <m:dPr>
                          <m:ctrlPr>
                            <a:rPr lang="en-US" altLang="zh-CN" sz="1600" b="1" i="1" dirty="0">
                              <a:latin typeface="Cambria Math" panose="02040503050406030204" pitchFamily="18" charset="0"/>
                            </a:rPr>
                          </m:ctrlPr>
                        </m:dPr>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𝒌</m:t>
                              </m:r>
                              <m:r>
                                <a:rPr lang="en-US" altLang="zh-CN" sz="1600" b="1" i="1" dirty="0">
                                  <a:latin typeface="Cambria Math" panose="02040503050406030204" pitchFamily="18" charset="0"/>
                                </a:rPr>
                                <m:t>+</m:t>
                              </m:r>
                              <m:r>
                                <a:rPr lang="en-US" altLang="zh-CN" sz="1600" b="1" i="1" dirty="0">
                                  <a:latin typeface="Cambria Math" panose="02040503050406030204" pitchFamily="18" charset="0"/>
                                </a:rPr>
                                <m:t>𝟏</m:t>
                              </m:r>
                            </m:sub>
                          </m:sSub>
                          <m:r>
                            <a:rPr lang="en-US" altLang="zh-CN" sz="1600" b="1" i="1" dirty="0">
                              <a:latin typeface="Cambria Math" panose="02040503050406030204" pitchFamily="18" charset="0"/>
                              <a:ea typeface="Cambria Math" panose="02040503050406030204" pitchFamily="18" charset="0"/>
                            </a:rPr>
                            <m:t>↔</m:t>
                          </m:r>
                          <m:sSub>
                            <m:sSubPr>
                              <m:ctrlPr>
                                <a:rPr lang="en-US" altLang="zh-CN" sz="1600" b="1" i="1" dirty="0">
                                  <a:latin typeface="Cambria Math" panose="02040503050406030204" pitchFamily="18" charset="0"/>
                                  <a:ea typeface="Cambria Math" panose="02040503050406030204" pitchFamily="18" charset="0"/>
                                </a:rPr>
                              </m:ctrlPr>
                            </m:sSubPr>
                            <m:e>
                              <m:r>
                                <a:rPr lang="en-US" altLang="zh-CN" sz="1600" b="1" i="1" dirty="0">
                                  <a:latin typeface="Cambria Math" panose="02040503050406030204" pitchFamily="18" charset="0"/>
                                  <a:ea typeface="Cambria Math" panose="02040503050406030204" pitchFamily="18" charset="0"/>
                                </a:rPr>
                                <m:t>𝒑</m:t>
                              </m:r>
                            </m:e>
                            <m:sub>
                              <m:r>
                                <a:rPr lang="en-US" altLang="zh-CN" sz="1600" b="1" i="1" dirty="0">
                                  <a:latin typeface="Cambria Math" panose="02040503050406030204" pitchFamily="18" charset="0"/>
                                  <a:ea typeface="Cambria Math" panose="02040503050406030204" pitchFamily="18" charset="0"/>
                                </a:rPr>
                                <m:t>𝒌</m:t>
                              </m:r>
                            </m:sub>
                          </m:sSub>
                        </m:e>
                      </m:d>
                    </m:oMath>
                  </m:oMathPara>
                </a14:m>
                <a:endParaRPr lang="en-US" altLang="zh-CN" sz="1600" b="0" i="1" dirty="0">
                  <a:latin typeface="Cambria Math" panose="02040503050406030204" pitchFamily="18" charset="0"/>
                </a:endParaRPr>
              </a:p>
              <a:p>
                <a:pPr>
                  <a:lnSpc>
                    <a:spcPct val="120000"/>
                  </a:lnSpc>
                </a:pPr>
                <a14:m>
                  <m:oMathPara xmlns:m="http://schemas.openxmlformats.org/officeDocument/2006/math">
                    <m:oMath>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𝜔</m:t>
                          </m:r>
                        </m:e>
                        <m:sub>
                          <m:r>
                            <a:rPr lang="en-US" altLang="zh-CN" sz="1600" b="0" i="1" dirty="0" smtClean="0">
                              <a:latin typeface="Cambria Math" panose="02040503050406030204" pitchFamily="18" charset="0"/>
                            </a:rPr>
                            <m:t>𝑘</m:t>
                          </m:r>
                        </m:sub>
                      </m:sSub>
                      <m:r>
                        <a:rPr lang="en-US" altLang="zh-CN" sz="1600" b="0" i="1" dirty="0" smtClean="0">
                          <a:latin typeface="Cambria Math" panose="02040503050406030204" pitchFamily="18" charset="0"/>
                        </a:rPr>
                        <m:t>=</m:t>
                      </m:r>
                      <m:f>
                        <m:fPr>
                          <m:ctrlPr>
                            <a:rPr lang="en-US" altLang="zh-CN" sz="1600" b="1" i="1" dirty="0" smtClean="0">
                              <a:latin typeface="Cambria Math" panose="02040503050406030204" pitchFamily="18" charset="0"/>
                            </a:rPr>
                          </m:ctrlPr>
                        </m:fPr>
                        <m:num>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𝒑</m:t>
                              </m:r>
                            </m:e>
                            <m:sub>
                              <m:r>
                                <a:rPr lang="en-US" altLang="zh-CN" sz="1600" b="1" i="1" dirty="0" smtClean="0">
                                  <a:latin typeface="Cambria Math" panose="02040503050406030204" pitchFamily="18" charset="0"/>
                                </a:rPr>
                                <m:t>𝒌</m:t>
                              </m:r>
                            </m:sub>
                          </m:sSub>
                          <m:r>
                            <a:rPr lang="en-US" altLang="zh-CN" sz="1600" b="1" i="1" dirty="0" smtClean="0">
                              <a:latin typeface="Cambria Math" panose="02040503050406030204" pitchFamily="18" charset="0"/>
                            </a:rPr>
                            <m:t>−</m:t>
                          </m:r>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𝒑</m:t>
                              </m:r>
                            </m:e>
                            <m:sub>
                              <m:r>
                                <a:rPr lang="en-US" altLang="zh-CN" sz="1600" b="1" i="1" dirty="0" smtClean="0">
                                  <a:latin typeface="Cambria Math" panose="02040503050406030204" pitchFamily="18" charset="0"/>
                                </a:rPr>
                                <m:t>𝒌</m:t>
                              </m:r>
                              <m:r>
                                <a:rPr lang="en-US" altLang="zh-CN" sz="1600" b="1" i="1" dirty="0" smtClean="0">
                                  <a:latin typeface="Cambria Math" panose="02040503050406030204" pitchFamily="18" charset="0"/>
                                </a:rPr>
                                <m:t>−</m:t>
                              </m:r>
                              <m:r>
                                <a:rPr lang="en-US" altLang="zh-CN" sz="1600" b="1" i="1" dirty="0" smtClean="0">
                                  <a:latin typeface="Cambria Math" panose="02040503050406030204" pitchFamily="18" charset="0"/>
                                </a:rPr>
                                <m:t>𝟏</m:t>
                              </m:r>
                            </m:sub>
                          </m:sSub>
                        </m:num>
                        <m:den>
                          <m:d>
                            <m:dPr>
                              <m:begChr m:val="‖"/>
                              <m:endChr m:val="‖"/>
                              <m:ctrlPr>
                                <a:rPr lang="en-US" altLang="zh-CN" sz="1600" b="1" i="1" dirty="0">
                                  <a:latin typeface="Cambria Math" panose="02040503050406030204" pitchFamily="18" charset="0"/>
                                </a:rPr>
                              </m:ctrlPr>
                            </m:dPr>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𝒌</m:t>
                                  </m:r>
                                </m:sub>
                              </m:sSub>
                              <m:r>
                                <a:rPr lang="en-US" altLang="zh-CN" sz="1600" b="1" i="1" dirty="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𝒌</m:t>
                                  </m:r>
                                  <m:r>
                                    <a:rPr lang="en-US" altLang="zh-CN" sz="1600" b="1" i="1" dirty="0">
                                      <a:latin typeface="Cambria Math" panose="02040503050406030204" pitchFamily="18" charset="0"/>
                                    </a:rPr>
                                    <m:t>−</m:t>
                                  </m:r>
                                  <m:r>
                                    <a:rPr lang="en-US" altLang="zh-CN" sz="1600" b="1" i="1" dirty="0">
                                      <a:latin typeface="Cambria Math" panose="02040503050406030204" pitchFamily="18" charset="0"/>
                                    </a:rPr>
                                    <m:t>𝟏</m:t>
                                  </m:r>
                                </m:sub>
                              </m:sSub>
                            </m:e>
                          </m:d>
                        </m:den>
                      </m:f>
                      <m:r>
                        <a:rPr lang="en-US" altLang="zh-CN" sz="1600" b="0" i="1" dirty="0" smtClean="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𝜃</m:t>
                          </m:r>
                        </m:e>
                        <m:sub>
                          <m:r>
                            <a:rPr lang="en-US" altLang="zh-CN" sz="1600" b="0" i="1" dirty="0" smtClean="0">
                              <a:latin typeface="Cambria Math" panose="02040503050406030204" pitchFamily="18" charset="0"/>
                            </a:rPr>
                            <m:t>𝑘</m:t>
                          </m:r>
                        </m:sub>
                      </m:sSub>
                      <m:r>
                        <a:rPr lang="en-US" altLang="zh-CN" sz="1600" b="0" i="1" dirty="0" smtClean="0">
                          <a:latin typeface="Cambria Math" panose="02040503050406030204" pitchFamily="18" charset="0"/>
                        </a:rPr>
                        <m:t>=∠</m:t>
                      </m:r>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𝑘</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𝑛</m:t>
                              </m:r>
                            </m:e>
                            <m:sub>
                              <m:r>
                                <a:rPr lang="en-US" altLang="zh-CN" sz="1600" b="0" i="1" dirty="0" smtClean="0">
                                  <a:latin typeface="Cambria Math" panose="02040503050406030204" pitchFamily="18" charset="0"/>
                                </a:rPr>
                                <m:t>𝑘</m:t>
                              </m:r>
                              <m:r>
                                <a:rPr lang="en-US" altLang="zh-CN" sz="1600" b="0" i="1" dirty="0" smtClean="0">
                                  <a:latin typeface="Cambria Math" panose="02040503050406030204" pitchFamily="18" charset="0"/>
                                </a:rPr>
                                <m:t>−1</m:t>
                              </m:r>
                            </m:sub>
                          </m:sSub>
                        </m:e>
                      </m:d>
                    </m:oMath>
                  </m:oMathPara>
                </a14:m>
                <a:endParaRPr lang="en-US" altLang="zh-CN" sz="1600" b="0" i="1" dirty="0">
                  <a:latin typeface="Cambria Math" panose="02040503050406030204" pitchFamily="18" charset="0"/>
                </a:endParaRPr>
              </a:p>
              <a:p>
                <a:pPr>
                  <a:lnSpc>
                    <a:spcPct val="200000"/>
                  </a:lnSpc>
                </a:pPr>
                <a14:m>
                  <m:oMathPara xmlns:m="http://schemas.openxmlformats.org/officeDocument/2006/math">
                    <m:oMath>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𝜔</m:t>
                          </m:r>
                        </m:e>
                        <m:sub>
                          <m:r>
                            <a:rPr lang="en-US" altLang="zh-CN" sz="1400" b="0" i="1" dirty="0" smtClean="0">
                              <a:latin typeface="Cambria Math" panose="02040503050406030204" pitchFamily="18" charset="0"/>
                            </a:rPr>
                            <m:t>𝑘</m:t>
                          </m:r>
                        </m:sub>
                      </m:sSub>
                      <m:r>
                        <a:rPr lang="zh-CN" altLang="en-US" sz="1400" i="1" dirty="0">
                          <a:latin typeface="Cambria Math" panose="02040503050406030204" pitchFamily="18" charset="0"/>
                        </a:rPr>
                        <m:t>表示</m:t>
                      </m:r>
                      <m:r>
                        <a:rPr lang="zh-CN" altLang="en-US" sz="1400" i="1" dirty="0" smtClean="0">
                          <a:latin typeface="Cambria Math" panose="02040503050406030204" pitchFamily="18" charset="0"/>
                        </a:rPr>
                        <m:t>从</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𝒌</m:t>
                          </m:r>
                          <m:r>
                            <a:rPr lang="en-US" altLang="zh-CN" sz="1400" b="1" i="1" dirty="0" smtClean="0">
                              <a:latin typeface="Cambria Math" panose="02040503050406030204" pitchFamily="18" charset="0"/>
                            </a:rPr>
                            <m:t>−</m:t>
                          </m:r>
                          <m:r>
                            <a:rPr lang="en-US" altLang="zh-CN" sz="1400" b="1" i="1" dirty="0" smtClean="0">
                              <a:latin typeface="Cambria Math" panose="02040503050406030204" pitchFamily="18" charset="0"/>
                            </a:rPr>
                            <m:t>𝟏</m:t>
                          </m:r>
                        </m:sub>
                      </m:sSub>
                      <m:r>
                        <a:rPr lang="zh-CN" altLang="en-US" sz="1400" i="1" dirty="0">
                          <a:latin typeface="Cambria Math" panose="02040503050406030204" pitchFamily="18" charset="0"/>
                        </a:rPr>
                        <m:t>指向</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𝒌</m:t>
                          </m:r>
                        </m:sub>
                      </m:sSub>
                      <m:r>
                        <a:rPr lang="zh-CN" altLang="en-US" sz="1400" i="1" dirty="0">
                          <a:latin typeface="Cambria Math" panose="02040503050406030204" pitchFamily="18" charset="0"/>
                        </a:rPr>
                        <m:t>的</m:t>
                      </m:r>
                      <m:r>
                        <a:rPr lang="zh-CN" altLang="en-US" sz="1400" i="1" dirty="0" smtClean="0">
                          <a:latin typeface="Cambria Math" panose="02040503050406030204" pitchFamily="18" charset="0"/>
                        </a:rPr>
                        <m:t>方向</m:t>
                      </m:r>
                      <m:r>
                        <a:rPr lang="zh-CN" altLang="en-US"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𝜃</m:t>
                          </m:r>
                        </m:e>
                        <m:sub>
                          <m:r>
                            <a:rPr lang="en-US" altLang="zh-CN" sz="1400" i="1" dirty="0">
                              <a:latin typeface="Cambria Math" panose="02040503050406030204" pitchFamily="18" charset="0"/>
                            </a:rPr>
                            <m:t>𝑘</m:t>
                          </m:r>
                        </m:sub>
                      </m:sSub>
                      <m:r>
                        <a:rPr lang="zh-CN" altLang="en-US" sz="1400" i="1" dirty="0" smtClean="0">
                          <a:latin typeface="Cambria Math" panose="02040503050406030204" pitchFamily="18" charset="0"/>
                        </a:rPr>
                        <m:t>是</m:t>
                      </m:r>
                      <m:r>
                        <a:rPr lang="zh-CN" altLang="en-US" sz="1400" i="1" dirty="0">
                          <a:latin typeface="Cambria Math" panose="02040503050406030204" pitchFamily="18" charset="0"/>
                        </a:rPr>
                        <m:t>该方向</m:t>
                      </m:r>
                      <m:r>
                        <a:rPr lang="zh-CN" altLang="en-US" sz="1400" i="1" dirty="0" smtClean="0">
                          <a:latin typeface="Cambria Math" panose="02040503050406030204" pitchFamily="18" charset="0"/>
                        </a:rPr>
                        <m:t>与</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𝒌</m:t>
                          </m:r>
                          <m:r>
                            <a:rPr lang="en-US" altLang="zh-CN" sz="1400" b="1" i="1" dirty="0" smtClean="0">
                              <a:latin typeface="Cambria Math" panose="02040503050406030204" pitchFamily="18" charset="0"/>
                            </a:rPr>
                            <m:t>−</m:t>
                          </m:r>
                          <m:r>
                            <a:rPr lang="en-US" altLang="zh-CN" sz="1400" b="1" i="1" dirty="0" smtClean="0">
                              <a:latin typeface="Cambria Math" panose="02040503050406030204" pitchFamily="18" charset="0"/>
                            </a:rPr>
                            <m:t>𝟏</m:t>
                          </m:r>
                        </m:sub>
                      </m:sSub>
                      <m:r>
                        <a:rPr lang="zh-CN" altLang="en-US" sz="1400" i="1" dirty="0">
                          <a:latin typeface="Cambria Math" panose="02040503050406030204" pitchFamily="18" charset="0"/>
                        </a:rPr>
                        <m:t>处</m:t>
                      </m:r>
                      <m:r>
                        <a:rPr lang="zh-CN" altLang="en-US" sz="1400" i="1" dirty="0" smtClean="0">
                          <a:latin typeface="Cambria Math" panose="02040503050406030204" pitchFamily="18" charset="0"/>
                        </a:rPr>
                        <m:t>表面法线</m:t>
                      </m:r>
                      <m:r>
                        <a:rPr lang="zh-CN" altLang="en-US" sz="1400" i="1" dirty="0">
                          <a:latin typeface="Cambria Math" panose="02040503050406030204" pitchFamily="18" charset="0"/>
                        </a:rPr>
                        <m:t>的</m:t>
                      </m:r>
                      <m:r>
                        <a:rPr lang="zh-CN" altLang="en-US" sz="1400" i="1" dirty="0" smtClean="0">
                          <a:latin typeface="Cambria Math" panose="02040503050406030204" pitchFamily="18" charset="0"/>
                        </a:rPr>
                        <m:t>夹角</m:t>
                      </m:r>
                      <m:r>
                        <a:rPr lang="zh-CN" altLang="en-US" sz="1400" i="1" dirty="0">
                          <a:latin typeface="Cambria Math" panose="02040503050406030204" pitchFamily="18" charset="0"/>
                        </a:rPr>
                        <m:t>。</m:t>
                      </m:r>
                    </m:oMath>
                  </m:oMathPara>
                </a14:m>
                <a:endParaRPr lang="en-US" altLang="zh-CN" sz="1400" b="1" i="1"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8384D6A2-C0A4-F12F-33DA-4C774228AD64}"/>
                  </a:ext>
                </a:extLst>
              </p:cNvPr>
              <p:cNvSpPr txBox="1">
                <a:spLocks noRot="1" noChangeAspect="1" noMove="1" noResize="1" noEditPoints="1" noAdjustHandles="1" noChangeArrowheads="1" noChangeShapeType="1" noTextEdit="1"/>
              </p:cNvSpPr>
              <p:nvPr/>
            </p:nvSpPr>
            <p:spPr>
              <a:xfrm>
                <a:off x="6485014" y="3543170"/>
                <a:ext cx="5706986" cy="2196563"/>
              </a:xfrm>
              <a:prstGeom prst="rect">
                <a:avLst/>
              </a:prstGeom>
              <a:blipFill>
                <a:blip r:embed="rId4"/>
                <a:stretch>
                  <a:fillRect r="-1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C56308F-7497-64FE-721D-D77DF921307B}"/>
                  </a:ext>
                </a:extLst>
              </p:cNvPr>
              <p:cNvSpPr txBox="1"/>
              <p:nvPr/>
            </p:nvSpPr>
            <p:spPr>
              <a:xfrm>
                <a:off x="541413" y="3803446"/>
                <a:ext cx="7476186" cy="3054554"/>
              </a:xfrm>
              <a:prstGeom prst="rect">
                <a:avLst/>
              </a:prstGeom>
              <a:noFill/>
            </p:spPr>
            <p:txBody>
              <a:bodyPr wrap="square">
                <a:spAutoFit/>
              </a:bodyPr>
              <a:lstStyle/>
              <a:p>
                <a:pPr>
                  <a:lnSpc>
                    <a:spcPct val="120000"/>
                  </a:lnSpc>
                </a:pPr>
                <a14:m>
                  <m:oMathPara xmlns:m="http://schemas.openxmlformats.org/officeDocument/2006/math">
                    <m:oMath>
                      <m:r>
                        <a:rPr lang="en-US" altLang="zh-CN" sz="1500" b="0" i="1" dirty="0" smtClean="0">
                          <a:latin typeface="Cambria Math" panose="02040503050406030204" pitchFamily="18" charset="0"/>
                        </a:rPr>
                        <m:t>𝐿</m:t>
                      </m:r>
                      <m:d>
                        <m:dPr>
                          <m:ctrlPr>
                            <a:rPr lang="en-US" altLang="zh-CN" sz="1500" b="1" i="1" dirty="0" smtClean="0">
                              <a:latin typeface="Cambria Math" panose="02040503050406030204" pitchFamily="18" charset="0"/>
                            </a:rPr>
                          </m:ctrlPr>
                        </m:dPr>
                        <m:e>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𝟏</m:t>
                              </m:r>
                            </m:sub>
                          </m:sSub>
                          <m:r>
                            <a:rPr lang="en-US" altLang="zh-CN" sz="1500" b="1" i="1" dirty="0" smtClean="0">
                              <a:latin typeface="Cambria Math" panose="02040503050406030204" pitchFamily="18" charset="0"/>
                            </a:rPr>
                            <m:t>→</m:t>
                          </m:r>
                          <m:sSub>
                            <m:sSubPr>
                              <m:ctrlPr>
                                <a:rPr lang="en-US" altLang="zh-CN" sz="1500" b="1" i="1" dirty="0" smtClean="0">
                                  <a:latin typeface="Cambria Math" panose="02040503050406030204" pitchFamily="18" charset="0"/>
                                </a:rPr>
                              </m:ctrlPr>
                            </m:sSubPr>
                            <m:e>
                              <m:r>
                                <a:rPr lang="en-US" altLang="zh-CN" sz="1500" b="1" i="1" dirty="0" smtClean="0">
                                  <a:latin typeface="Cambria Math" panose="02040503050406030204" pitchFamily="18" charset="0"/>
                                </a:rPr>
                                <m:t>𝒑</m:t>
                              </m:r>
                            </m:e>
                            <m:sub>
                              <m:r>
                                <a:rPr lang="en-US" altLang="zh-CN" sz="1500" b="1" i="1" dirty="0" smtClean="0">
                                  <a:latin typeface="Cambria Math" panose="02040503050406030204" pitchFamily="18" charset="0"/>
                                </a:rPr>
                                <m:t>𝟎</m:t>
                              </m:r>
                            </m:sub>
                          </m:sSub>
                        </m:e>
                      </m:d>
                      <m:r>
                        <a:rPr lang="en-US" altLang="zh-CN" sz="1500" b="1" i="1" smtClean="0">
                          <a:latin typeface="Cambria Math" panose="02040503050406030204" pitchFamily="18" charset="0"/>
                        </a:rPr>
                        <m:t>=</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𝑒</m:t>
                          </m:r>
                        </m:sub>
                      </m:sSub>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𝟎</m:t>
                              </m:r>
                            </m:sub>
                          </m:sSub>
                        </m:e>
                      </m:d>
                    </m:oMath>
                    <m:oMath>
                      <m:r>
                        <a:rPr lang="en-US" altLang="zh-CN" sz="1500" b="1" i="1" dirty="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𝐴</m:t>
                              </m:r>
                            </m:e>
                            <m:sub>
                              <m:r>
                                <a:rPr lang="en-US" altLang="zh-CN" sz="1500" b="0" i="1" dirty="0" smtClean="0">
                                  <a:latin typeface="Cambria Math" panose="02040503050406030204" pitchFamily="18" charset="0"/>
                                </a:rPr>
                                <m:t>𝐸</m:t>
                              </m:r>
                            </m:sub>
                          </m:sSub>
                        </m:sub>
                        <m:sup/>
                        <m:e>
                          <m:r>
                            <a:rPr lang="en-US" altLang="zh-CN" sz="1500" i="1" dirty="0">
                              <a:solidFill>
                                <a:schemeClr val="accent2">
                                  <a:lumMod val="75000"/>
                                </a:schemeClr>
                              </a:solidFill>
                              <a:latin typeface="Cambria Math" panose="02040503050406030204" pitchFamily="18" charset="0"/>
                            </a:rPr>
                            <m:t> </m:t>
                          </m:r>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𝑓</m:t>
                              </m:r>
                            </m:e>
                            <m:sub>
                              <m:r>
                                <a:rPr lang="en-US" altLang="zh-CN" sz="1500" b="0" i="1" dirty="0" smtClean="0">
                                  <a:solidFill>
                                    <a:schemeClr val="tx1"/>
                                  </a:solidFill>
                                  <a:latin typeface="Cambria Math" panose="02040503050406030204" pitchFamily="18" charset="0"/>
                                </a:rPr>
                                <m:t>1</m:t>
                              </m:r>
                            </m:sub>
                          </m:sSub>
                          <m:r>
                            <a:rPr lang="en-US" altLang="zh-CN" sz="1500" b="0" i="1" dirty="0" smtClean="0">
                              <a:solidFill>
                                <a:schemeClr val="tx1"/>
                              </a:solidFill>
                              <a:latin typeface="Cambria Math" panose="02040503050406030204" pitchFamily="18" charset="0"/>
                            </a:rPr>
                            <m:t> </m:t>
                          </m:r>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𝐺</m:t>
                              </m:r>
                            </m:e>
                            <m:sub>
                              <m:r>
                                <a:rPr lang="en-US" altLang="zh-CN" sz="1500" b="0" i="1" dirty="0" smtClean="0">
                                  <a:solidFill>
                                    <a:schemeClr val="tx1"/>
                                  </a:solidFill>
                                  <a:latin typeface="Cambria Math" panose="02040503050406030204" pitchFamily="18" charset="0"/>
                                </a:rPr>
                                <m:t>1</m:t>
                              </m:r>
                            </m:sub>
                          </m:sSub>
                          <m:r>
                            <a:rPr lang="en-US" altLang="zh-CN" sz="1500" b="0" i="1" dirty="0" smtClean="0">
                              <a:solidFill>
                                <a:schemeClr val="tx1"/>
                              </a:solidFill>
                              <a:latin typeface="Cambria Math" panose="02040503050406030204" pitchFamily="18" charset="0"/>
                            </a:rPr>
                            <m:t> </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𝐿</m:t>
                              </m:r>
                            </m:e>
                            <m:sub>
                              <m:r>
                                <a:rPr lang="en-US" altLang="zh-CN" sz="1500" i="1" dirty="0">
                                  <a:latin typeface="Cambria Math" panose="02040503050406030204" pitchFamily="18" charset="0"/>
                                </a:rPr>
                                <m:t>𝑒</m:t>
                              </m:r>
                            </m:sub>
                          </m:sSub>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r>
                                <a:rPr lang="en-US" altLang="zh-CN" sz="1500" b="1" i="1" dirty="0">
                                  <a:latin typeface="Cambria Math" panose="02040503050406030204" pitchFamily="18" charset="0"/>
                                </a:rPr>
                                <m:t>→</m:t>
                              </m:r>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𝟏</m:t>
                                  </m:r>
                                </m:sub>
                              </m:sSub>
                            </m:e>
                          </m:d>
                          <m:r>
                            <a:rPr lang="en-US" altLang="zh-CN" sz="1500" b="1" i="1" dirty="0" smtClean="0">
                              <a:latin typeface="Cambria Math" panose="02040503050406030204" pitchFamily="18" charset="0"/>
                            </a:rPr>
                            <m:t> </m:t>
                          </m:r>
                          <m:r>
                            <a:rPr lang="en-US" altLang="zh-CN" sz="1500" i="1" dirty="0">
                              <a:latin typeface="Cambria Math" panose="02040503050406030204" pitchFamily="18" charset="0"/>
                            </a:rPr>
                            <m:t>𝑑𝐴</m:t>
                          </m:r>
                          <m:d>
                            <m:dPr>
                              <m:ctrlPr>
                                <a:rPr lang="en-US" altLang="zh-CN" sz="1500" b="1" i="1" dirty="0">
                                  <a:latin typeface="Cambria Math" panose="02040503050406030204" pitchFamily="18" charset="0"/>
                                </a:rPr>
                              </m:ctrlPr>
                            </m:dPr>
                            <m:e>
                              <m:sSub>
                                <m:sSubPr>
                                  <m:ctrlPr>
                                    <a:rPr lang="en-US" altLang="zh-CN" sz="1500" b="1" i="1" dirty="0">
                                      <a:latin typeface="Cambria Math" panose="02040503050406030204" pitchFamily="18" charset="0"/>
                                    </a:rPr>
                                  </m:ctrlPr>
                                </m:sSubPr>
                                <m:e>
                                  <m:r>
                                    <a:rPr lang="en-US" altLang="zh-CN" sz="1500" b="1" i="1" dirty="0">
                                      <a:latin typeface="Cambria Math" panose="02040503050406030204" pitchFamily="18" charset="0"/>
                                    </a:rPr>
                                    <m:t>𝒑</m:t>
                                  </m:r>
                                </m:e>
                                <m:sub>
                                  <m:r>
                                    <a:rPr lang="en-US" altLang="zh-CN" sz="1500" b="1" i="1" dirty="0">
                                      <a:latin typeface="Cambria Math" panose="02040503050406030204" pitchFamily="18" charset="0"/>
                                    </a:rPr>
                                    <m:t>𝟐</m:t>
                                  </m:r>
                                </m:sub>
                              </m:sSub>
                            </m:e>
                          </m:d>
                        </m:e>
                      </m:nary>
                    </m:oMath>
                    <m:oMath>
                      <m:r>
                        <a:rPr lang="en-US" altLang="zh-CN" sz="1500" b="1" i="1" dirty="0">
                          <a:latin typeface="Cambria Math" panose="02040503050406030204" pitchFamily="18" charset="0"/>
                        </a:rPr>
                        <m:t>    +</m:t>
                      </m:r>
                      <m:nary>
                        <m:naryPr>
                          <m:supHide m:val="on"/>
                          <m:ctrlPr>
                            <a:rPr lang="en-US" altLang="zh-CN" sz="1500" b="0" i="1" dirty="0" smtClean="0">
                              <a:latin typeface="Cambria Math" panose="02040503050406030204" pitchFamily="18" charset="0"/>
                            </a:rPr>
                          </m:ctrlPr>
                        </m:naryPr>
                        <m:sub>
                          <m:sSup>
                            <m:sSupPr>
                              <m:ctrlPr>
                                <a:rPr lang="en-US" altLang="zh-CN" sz="1500" b="0" i="1" dirty="0" smtClean="0">
                                  <a:latin typeface="Cambria Math" panose="02040503050406030204" pitchFamily="18" charset="0"/>
                                </a:rPr>
                              </m:ctrlPr>
                            </m:sSupPr>
                            <m:e>
                              <m:r>
                                <a:rPr lang="en-US" altLang="zh-CN" sz="1500" b="0" i="1" dirty="0" smtClean="0">
                                  <a:latin typeface="Cambria Math" panose="02040503050406030204" pitchFamily="18" charset="0"/>
                                </a:rPr>
                                <m:t>𝑆</m:t>
                              </m:r>
                            </m:e>
                            <m:sup>
                              <m:r>
                                <a:rPr lang="en-US" altLang="zh-CN" sz="1500" b="0" i="1" dirty="0" smtClean="0">
                                  <a:latin typeface="Cambria Math" panose="02040503050406030204" pitchFamily="18" charset="0"/>
                                </a:rPr>
                                <m:t>2</m:t>
                              </m:r>
                            </m:sup>
                          </m:sSup>
                        </m:sub>
                        <m:sup/>
                        <m:e>
                          <m:nary>
                            <m:naryPr>
                              <m:supHide m:val="on"/>
                              <m:ctrlPr>
                                <a:rPr lang="en-US" altLang="zh-CN" sz="1500" i="1" dirty="0">
                                  <a:solidFill>
                                    <a:schemeClr val="accent2">
                                      <a:lumMod val="75000"/>
                                    </a:schemeClr>
                                  </a:solidFill>
                                  <a:latin typeface="Cambria Math" panose="02040503050406030204" pitchFamily="18" charset="0"/>
                                </a:rPr>
                              </m:ctrlPr>
                            </m:naryPr>
                            <m:sub>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𝐴</m:t>
                                  </m:r>
                                </m:e>
                                <m:sub>
                                  <m:r>
                                    <a:rPr lang="en-US" altLang="zh-CN" sz="1500" b="0" i="1" dirty="0" smtClean="0">
                                      <a:solidFill>
                                        <a:schemeClr val="accent2">
                                          <a:lumMod val="75000"/>
                                        </a:schemeClr>
                                      </a:solidFill>
                                      <a:latin typeface="Cambria Math" panose="02040503050406030204" pitchFamily="18" charset="0"/>
                                    </a:rPr>
                                    <m:t>𝐸</m:t>
                                  </m:r>
                                </m:sub>
                              </m:sSub>
                            </m:sub>
                            <m:sup/>
                            <m:e>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𝑓</m:t>
                                  </m:r>
                                </m:e>
                                <m:sub>
                                  <m:r>
                                    <a:rPr lang="en-US" altLang="zh-CN" sz="1500" b="0" i="1" dirty="0" smtClean="0">
                                      <a:solidFill>
                                        <a:schemeClr val="tx1"/>
                                      </a:solidFill>
                                      <a:latin typeface="Cambria Math" panose="02040503050406030204" pitchFamily="18" charset="0"/>
                                    </a:rPr>
                                    <m:t>1</m:t>
                                  </m:r>
                                </m:sub>
                              </m:sSub>
                              <m:r>
                                <a:rPr lang="en-US" altLang="zh-CN" sz="1500" b="0" i="1" dirty="0" smtClean="0">
                                  <a:solidFill>
                                    <a:schemeClr val="tx1"/>
                                  </a:solidFill>
                                  <a:latin typeface="Cambria Math" panose="02040503050406030204" pitchFamily="18" charset="0"/>
                                </a:rPr>
                                <m:t> </m:t>
                              </m:r>
                              <m:d>
                                <m:dPr>
                                  <m:begChr m:val="|"/>
                                  <m:endChr m:val="|"/>
                                  <m:ctrlPr>
                                    <a:rPr lang="en-US" altLang="zh-CN" sz="1500" i="1" dirty="0">
                                      <a:latin typeface="Cambria Math" panose="02040503050406030204" pitchFamily="18" charset="0"/>
                                    </a:rPr>
                                  </m:ctrlPr>
                                </m:dPr>
                                <m:e>
                                  <m:func>
                                    <m:funcPr>
                                      <m:ctrlPr>
                                        <a:rPr lang="en-US" altLang="zh-CN" sz="1500" dirty="0">
                                          <a:latin typeface="Cambria Math" panose="02040503050406030204" pitchFamily="18" charset="0"/>
                                        </a:rPr>
                                      </m:ctrlPr>
                                    </m:funcPr>
                                    <m:fName>
                                      <m:r>
                                        <m:rPr>
                                          <m:sty m:val="p"/>
                                        </m:rPr>
                                        <a:rPr lang="en-US" altLang="zh-CN" sz="1500" dirty="0">
                                          <a:latin typeface="Cambria Math" panose="02040503050406030204" pitchFamily="18" charset="0"/>
                                        </a:rPr>
                                        <m:t>cos</m:t>
                                      </m:r>
                                    </m:fName>
                                    <m:e>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𝜃</m:t>
                                          </m:r>
                                        </m:e>
                                        <m:sub>
                                          <m:r>
                                            <a:rPr lang="en-US" altLang="zh-CN" sz="1500" i="1" dirty="0">
                                              <a:latin typeface="Cambria Math" panose="02040503050406030204" pitchFamily="18" charset="0"/>
                                            </a:rPr>
                                            <m:t>2</m:t>
                                          </m:r>
                                        </m:sub>
                                      </m:sSub>
                                    </m:e>
                                  </m:func>
                                </m:e>
                              </m:d>
                              <m:r>
                                <a:rPr lang="en-US" altLang="zh-CN" sz="1500" b="0" i="1" dirty="0" smtClean="0">
                                  <a:latin typeface="Cambria Math" panose="02040503050406030204" pitchFamily="18" charset="0"/>
                                </a:rPr>
                                <m:t> </m:t>
                              </m:r>
                              <m:sSub>
                                <m:sSubPr>
                                  <m:ctrlPr>
                                    <a:rPr lang="en-US" altLang="zh-CN" sz="1500" i="1" dirty="0" smtClean="0">
                                      <a:solidFill>
                                        <a:schemeClr val="accent2">
                                          <a:lumMod val="75000"/>
                                        </a:schemeClr>
                                      </a:solidFill>
                                      <a:latin typeface="Cambria Math" panose="02040503050406030204" pitchFamily="18" charset="0"/>
                                    </a:rPr>
                                  </m:ctrlPr>
                                </m:sSubPr>
                                <m:e>
                                  <m:r>
                                    <a:rPr lang="en-US" altLang="zh-CN" sz="1500" i="1" dirty="0" smtClean="0">
                                      <a:solidFill>
                                        <a:schemeClr val="accent2">
                                          <a:lumMod val="75000"/>
                                        </a:schemeClr>
                                      </a:solidFill>
                                      <a:latin typeface="Cambria Math" panose="02040503050406030204" pitchFamily="18" charset="0"/>
                                    </a:rPr>
                                    <m:t>𝑓</m:t>
                                  </m:r>
                                </m:e>
                                <m:sub>
                                  <m:r>
                                    <a:rPr lang="en-US" altLang="zh-CN" sz="1500" b="0" i="1" dirty="0" smtClean="0">
                                      <a:solidFill>
                                        <a:schemeClr val="accent2">
                                          <a:lumMod val="75000"/>
                                        </a:schemeClr>
                                      </a:solidFill>
                                      <a:latin typeface="Cambria Math" panose="02040503050406030204" pitchFamily="18" charset="0"/>
                                    </a:rPr>
                                    <m:t>2</m:t>
                                  </m:r>
                                </m:sub>
                              </m:sSub>
                              <m:r>
                                <a:rPr lang="en-US" altLang="zh-CN" sz="1500" b="0" i="1" dirty="0" smtClean="0">
                                  <a:solidFill>
                                    <a:schemeClr val="accent2">
                                      <a:lumMod val="75000"/>
                                    </a:schemeClr>
                                  </a:solidFill>
                                  <a:latin typeface="Cambria Math" panose="02040503050406030204" pitchFamily="18" charset="0"/>
                                </a:rPr>
                                <m:t> </m:t>
                              </m:r>
                              <m:sSub>
                                <m:sSubPr>
                                  <m:ctrlPr>
                                    <a:rPr lang="en-US" altLang="zh-CN" sz="1500" i="1" dirty="0" smtClean="0">
                                      <a:solidFill>
                                        <a:schemeClr val="accent2">
                                          <a:lumMod val="75000"/>
                                        </a:schemeClr>
                                      </a:solidFill>
                                      <a:latin typeface="Cambria Math" panose="02040503050406030204" pitchFamily="18" charset="0"/>
                                    </a:rPr>
                                  </m:ctrlPr>
                                </m:sSubPr>
                                <m:e>
                                  <m:r>
                                    <a:rPr lang="en-US" altLang="zh-CN" sz="1500" i="1" dirty="0" smtClean="0">
                                      <a:solidFill>
                                        <a:schemeClr val="accent2">
                                          <a:lumMod val="75000"/>
                                        </a:schemeClr>
                                      </a:solidFill>
                                      <a:latin typeface="Cambria Math" panose="02040503050406030204" pitchFamily="18" charset="0"/>
                                    </a:rPr>
                                    <m:t>𝐺</m:t>
                                  </m:r>
                                </m:e>
                                <m:sub>
                                  <m:r>
                                    <a:rPr lang="en-US" altLang="zh-CN" sz="1500" b="0" i="1" dirty="0" smtClean="0">
                                      <a:solidFill>
                                        <a:schemeClr val="accent2">
                                          <a:lumMod val="75000"/>
                                        </a:schemeClr>
                                      </a:solidFill>
                                      <a:latin typeface="Cambria Math" panose="02040503050406030204" pitchFamily="18" charset="0"/>
                                    </a:rPr>
                                    <m:t>2</m:t>
                                  </m:r>
                                </m:sub>
                              </m:sSub>
                              <m:r>
                                <a:rPr lang="en-US" altLang="zh-CN" sz="1500" i="1" dirty="0">
                                  <a:solidFill>
                                    <a:schemeClr val="accent2">
                                      <a:lumMod val="75000"/>
                                    </a:schemeClr>
                                  </a:solidFill>
                                  <a:latin typeface="Cambria Math" panose="02040503050406030204" pitchFamily="18" charset="0"/>
                                  <a:ea typeface="Cambria Math" panose="02040503050406030204" pitchFamily="18" charset="0"/>
                                </a:rPr>
                                <m:t> </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𝐿</m:t>
                                  </m:r>
                                </m:e>
                                <m:sub>
                                  <m:r>
                                    <a:rPr lang="en-US" altLang="zh-CN" sz="1500" i="1" dirty="0">
                                      <a:solidFill>
                                        <a:schemeClr val="accent6">
                                          <a:lumMod val="50000"/>
                                        </a:schemeClr>
                                      </a:solidFill>
                                      <a:latin typeface="Cambria Math" panose="02040503050406030204" pitchFamily="18" charset="0"/>
                                    </a:rPr>
                                    <m:t>𝑒</m:t>
                                  </m:r>
                                </m:sub>
                              </m:sSub>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𝟑</m:t>
                                      </m:r>
                                    </m:sub>
                                  </m:sSub>
                                  <m:r>
                                    <a:rPr lang="en-US" altLang="zh-CN" sz="1500" b="1" i="1" dirty="0">
                                      <a:solidFill>
                                        <a:schemeClr val="accent6">
                                          <a:lumMod val="50000"/>
                                        </a:schemeClr>
                                      </a:solidFill>
                                      <a:latin typeface="Cambria Math" panose="02040503050406030204" pitchFamily="18" charset="0"/>
                                    </a:rPr>
                                    <m:t>→</m:t>
                                  </m:r>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𝟐</m:t>
                                      </m:r>
                                    </m:sub>
                                  </m:sSub>
                                </m:e>
                              </m:d>
                              <m:r>
                                <a:rPr lang="en-US" altLang="zh-CN" sz="1500" b="0" i="1" dirty="0" smtClean="0">
                                  <a:solidFill>
                                    <a:schemeClr val="accent6">
                                      <a:lumMod val="50000"/>
                                    </a:schemeClr>
                                  </a:solidFill>
                                  <a:latin typeface="Cambria Math" panose="02040503050406030204" pitchFamily="18" charset="0"/>
                                </a:rPr>
                                <m:t> </m:t>
                              </m:r>
                              <m:r>
                                <a:rPr lang="en-US" altLang="zh-CN" sz="1500" i="1" dirty="0">
                                  <a:solidFill>
                                    <a:schemeClr val="accent2">
                                      <a:lumMod val="75000"/>
                                    </a:schemeClr>
                                  </a:solidFill>
                                  <a:latin typeface="Cambria Math" panose="02040503050406030204" pitchFamily="18" charset="0"/>
                                </a:rPr>
                                <m:t>𝑑𝐴</m:t>
                              </m:r>
                              <m:d>
                                <m:dPr>
                                  <m:ctrlPr>
                                    <a:rPr lang="en-US" altLang="zh-CN" sz="1500" b="1" i="1" dirty="0">
                                      <a:solidFill>
                                        <a:schemeClr val="accent2">
                                          <a:lumMod val="75000"/>
                                        </a:schemeClr>
                                      </a:solidFill>
                                      <a:latin typeface="Cambria Math" panose="02040503050406030204" pitchFamily="18" charset="0"/>
                                    </a:rPr>
                                  </m:ctrlPr>
                                </m:dPr>
                                <m:e>
                                  <m:sSub>
                                    <m:sSubPr>
                                      <m:ctrlPr>
                                        <a:rPr lang="en-US" altLang="zh-CN" sz="1500" b="1" i="1" dirty="0">
                                          <a:solidFill>
                                            <a:schemeClr val="accent2">
                                              <a:lumMod val="75000"/>
                                            </a:schemeClr>
                                          </a:solidFill>
                                          <a:latin typeface="Cambria Math" panose="02040503050406030204" pitchFamily="18" charset="0"/>
                                        </a:rPr>
                                      </m:ctrlPr>
                                    </m:sSubPr>
                                    <m:e>
                                      <m:r>
                                        <a:rPr lang="en-US" altLang="zh-CN" sz="1500" b="1" i="1" dirty="0">
                                          <a:solidFill>
                                            <a:schemeClr val="accent2">
                                              <a:lumMod val="75000"/>
                                            </a:schemeClr>
                                          </a:solidFill>
                                          <a:latin typeface="Cambria Math" panose="02040503050406030204" pitchFamily="18" charset="0"/>
                                        </a:rPr>
                                        <m:t>𝒑</m:t>
                                      </m:r>
                                    </m:e>
                                    <m:sub>
                                      <m:r>
                                        <a:rPr lang="en-US" altLang="zh-CN" sz="1500" b="1" i="1" dirty="0">
                                          <a:solidFill>
                                            <a:schemeClr val="accent2">
                                              <a:lumMod val="75000"/>
                                            </a:schemeClr>
                                          </a:solidFill>
                                          <a:latin typeface="Cambria Math" panose="02040503050406030204" pitchFamily="18" charset="0"/>
                                        </a:rPr>
                                        <m:t>𝟑</m:t>
                                      </m:r>
                                    </m:sub>
                                  </m:sSub>
                                </m:e>
                              </m:d>
                            </m:e>
                          </m:nary>
                          <m:r>
                            <a:rPr lang="en-US" altLang="zh-CN" sz="1500" i="1" dirty="0">
                              <a:latin typeface="Cambria Math" panose="02040503050406030204" pitchFamily="18" charset="0"/>
                            </a:rPr>
                            <m:t>𝑑</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𝜔</m:t>
                              </m:r>
                            </m:e>
                            <m:sub>
                              <m:r>
                                <a:rPr lang="en-US" altLang="zh-CN" sz="1500" i="1" dirty="0">
                                  <a:latin typeface="Cambria Math" panose="02040503050406030204" pitchFamily="18" charset="0"/>
                                </a:rPr>
                                <m:t>2</m:t>
                              </m:r>
                            </m:sub>
                          </m:sSub>
                        </m:e>
                      </m:nary>
                    </m:oMath>
                    <m:oMath>
                      <m:r>
                        <a:rPr lang="en-US" altLang="zh-CN" sz="1500" b="1" i="1" dirty="0" smtClean="0">
                          <a:latin typeface="Cambria Math" panose="02040503050406030204" pitchFamily="18" charset="0"/>
                        </a:rPr>
                        <m:t>    +</m:t>
                      </m:r>
                      <m:nary>
                        <m:naryPr>
                          <m:supHide m:val="on"/>
                          <m:ctrlPr>
                            <a:rPr lang="en-US" altLang="zh-CN" sz="1500" b="0" i="1" dirty="0" smtClean="0">
                              <a:latin typeface="Cambria Math" panose="02040503050406030204" pitchFamily="18" charset="0"/>
                            </a:rPr>
                          </m:ctrlPr>
                        </m:naryPr>
                        <m:sub>
                          <m:sSup>
                            <m:sSupPr>
                              <m:ctrlPr>
                                <a:rPr lang="en-US" altLang="zh-CN" sz="1500" b="0" i="1" dirty="0" smtClean="0">
                                  <a:latin typeface="Cambria Math" panose="02040503050406030204" pitchFamily="18" charset="0"/>
                                </a:rPr>
                              </m:ctrlPr>
                            </m:sSupPr>
                            <m:e>
                              <m:r>
                                <a:rPr lang="en-US" altLang="zh-CN" sz="1500" b="0" i="1" dirty="0" smtClean="0">
                                  <a:latin typeface="Cambria Math" panose="02040503050406030204" pitchFamily="18" charset="0"/>
                                </a:rPr>
                                <m:t>𝑆</m:t>
                              </m:r>
                            </m:e>
                            <m:sup>
                              <m:r>
                                <a:rPr lang="en-US" altLang="zh-CN" sz="1500" b="0" i="1" dirty="0" smtClean="0">
                                  <a:latin typeface="Cambria Math" panose="02040503050406030204" pitchFamily="18" charset="0"/>
                                </a:rPr>
                                <m:t>2</m:t>
                              </m:r>
                            </m:sup>
                          </m:sSup>
                        </m:sub>
                        <m:sup/>
                        <m:e>
                          <m:nary>
                            <m:naryPr>
                              <m:supHide m:val="on"/>
                              <m:ctrlPr>
                                <a:rPr lang="en-US" altLang="zh-CN" sz="1500" b="0" i="1" dirty="0" smtClean="0">
                                  <a:solidFill>
                                    <a:schemeClr val="accent2">
                                      <a:lumMod val="75000"/>
                                    </a:schemeClr>
                                  </a:solidFill>
                                  <a:latin typeface="Cambria Math" panose="02040503050406030204" pitchFamily="18" charset="0"/>
                                </a:rPr>
                              </m:ctrlPr>
                            </m:naryPr>
                            <m:sub>
                              <m:sSup>
                                <m:sSupPr>
                                  <m:ctrlPr>
                                    <a:rPr lang="en-US" altLang="zh-CN" sz="1500" b="0" i="1" dirty="0" smtClean="0">
                                      <a:solidFill>
                                        <a:schemeClr val="accent2">
                                          <a:lumMod val="75000"/>
                                        </a:schemeClr>
                                      </a:solidFill>
                                      <a:latin typeface="Cambria Math" panose="02040503050406030204" pitchFamily="18" charset="0"/>
                                    </a:rPr>
                                  </m:ctrlPr>
                                </m:sSupPr>
                                <m:e>
                                  <m:r>
                                    <a:rPr lang="en-US" altLang="zh-CN" sz="1500" b="0" i="1" dirty="0" smtClean="0">
                                      <a:solidFill>
                                        <a:schemeClr val="accent2">
                                          <a:lumMod val="75000"/>
                                        </a:schemeClr>
                                      </a:solidFill>
                                      <a:latin typeface="Cambria Math" panose="02040503050406030204" pitchFamily="18" charset="0"/>
                                    </a:rPr>
                                    <m:t>𝑆</m:t>
                                  </m:r>
                                </m:e>
                                <m:sup>
                                  <m:r>
                                    <a:rPr lang="en-US" altLang="zh-CN" sz="1500" b="0" i="1" dirty="0" smtClean="0">
                                      <a:solidFill>
                                        <a:schemeClr val="accent2">
                                          <a:lumMod val="75000"/>
                                        </a:schemeClr>
                                      </a:solidFill>
                                      <a:latin typeface="Cambria Math" panose="02040503050406030204" pitchFamily="18" charset="0"/>
                                    </a:rPr>
                                    <m:t>2</m:t>
                                  </m:r>
                                </m:sup>
                              </m:sSup>
                            </m:sub>
                            <m:sup/>
                            <m:e>
                              <m:nary>
                                <m:naryPr>
                                  <m:supHide m:val="on"/>
                                  <m:ctrlPr>
                                    <a:rPr lang="en-US" altLang="zh-CN" sz="1500" i="1" dirty="0">
                                      <a:solidFill>
                                        <a:schemeClr val="accent6">
                                          <a:lumMod val="50000"/>
                                        </a:schemeClr>
                                      </a:solidFill>
                                      <a:latin typeface="Cambria Math" panose="02040503050406030204" pitchFamily="18" charset="0"/>
                                    </a:rPr>
                                  </m:ctrlPr>
                                </m:naryPr>
                                <m:sub>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𝐴</m:t>
                                      </m:r>
                                    </m:e>
                                    <m:sub>
                                      <m:r>
                                        <a:rPr lang="en-US" altLang="zh-CN" sz="1500" b="0" i="1" dirty="0" smtClean="0">
                                          <a:solidFill>
                                            <a:schemeClr val="accent6">
                                              <a:lumMod val="50000"/>
                                            </a:schemeClr>
                                          </a:solidFill>
                                          <a:latin typeface="Cambria Math" panose="02040503050406030204" pitchFamily="18" charset="0"/>
                                        </a:rPr>
                                        <m:t>𝐸</m:t>
                                      </m:r>
                                    </m:sub>
                                  </m:sSub>
                                </m:sub>
                                <m:sup/>
                                <m:e>
                                  <m:sSub>
                                    <m:sSubPr>
                                      <m:ctrlPr>
                                        <a:rPr lang="en-US" altLang="zh-CN" sz="1500" i="1" dirty="0" smtClean="0">
                                          <a:latin typeface="Cambria Math" panose="02040503050406030204" pitchFamily="18" charset="0"/>
                                        </a:rPr>
                                      </m:ctrlPr>
                                    </m:sSubPr>
                                    <m:e>
                                      <m:r>
                                        <a:rPr lang="en-US" altLang="zh-CN" sz="1500" i="1" dirty="0" smtClean="0">
                                          <a:latin typeface="Cambria Math" panose="02040503050406030204" pitchFamily="18" charset="0"/>
                                        </a:rPr>
                                        <m:t>𝑓</m:t>
                                      </m:r>
                                    </m:e>
                                    <m:sub>
                                      <m:r>
                                        <a:rPr lang="en-US" altLang="zh-CN" sz="1500" b="0" i="1" dirty="0" smtClean="0">
                                          <a:latin typeface="Cambria Math" panose="02040503050406030204" pitchFamily="18" charset="0"/>
                                        </a:rPr>
                                        <m:t>1</m:t>
                                      </m:r>
                                    </m:sub>
                                  </m:sSub>
                                  <m:r>
                                    <a:rPr lang="en-US" altLang="zh-CN" sz="1500" b="0" i="1" dirty="0" smtClean="0">
                                      <a:latin typeface="Cambria Math" panose="02040503050406030204" pitchFamily="18" charset="0"/>
                                    </a:rPr>
                                    <m:t> </m:t>
                                  </m:r>
                                  <m:d>
                                    <m:dPr>
                                      <m:begChr m:val="|"/>
                                      <m:endChr m:val="|"/>
                                      <m:ctrlPr>
                                        <a:rPr lang="en-US" altLang="zh-CN" sz="1500" i="1" dirty="0">
                                          <a:latin typeface="Cambria Math" panose="02040503050406030204" pitchFamily="18" charset="0"/>
                                        </a:rPr>
                                      </m:ctrlPr>
                                    </m:dPr>
                                    <m:e>
                                      <m:func>
                                        <m:funcPr>
                                          <m:ctrlPr>
                                            <a:rPr lang="en-US" altLang="zh-CN" sz="1500" dirty="0">
                                              <a:latin typeface="Cambria Math" panose="02040503050406030204" pitchFamily="18" charset="0"/>
                                            </a:rPr>
                                          </m:ctrlPr>
                                        </m:funcPr>
                                        <m:fName>
                                          <m:r>
                                            <m:rPr>
                                              <m:sty m:val="p"/>
                                            </m:rPr>
                                            <a:rPr lang="en-US" altLang="zh-CN" sz="1500" dirty="0">
                                              <a:latin typeface="Cambria Math" panose="02040503050406030204" pitchFamily="18" charset="0"/>
                                            </a:rPr>
                                            <m:t>cos</m:t>
                                          </m:r>
                                        </m:fName>
                                        <m:e>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𝜃</m:t>
                                              </m:r>
                                            </m:e>
                                            <m:sub>
                                              <m:r>
                                                <a:rPr lang="en-US" altLang="zh-CN" sz="1500" i="1" dirty="0">
                                                  <a:latin typeface="Cambria Math" panose="02040503050406030204" pitchFamily="18" charset="0"/>
                                                </a:rPr>
                                                <m:t>2</m:t>
                                              </m:r>
                                            </m:sub>
                                          </m:sSub>
                                        </m:e>
                                      </m:func>
                                    </m:e>
                                  </m:d>
                                  <m:r>
                                    <a:rPr lang="en-US" altLang="zh-CN" sz="1500" b="0" i="1" dirty="0" smtClean="0">
                                      <a:latin typeface="Cambria Math" panose="02040503050406030204" pitchFamily="18" charset="0"/>
                                    </a:rPr>
                                    <m:t> </m:t>
                                  </m:r>
                                  <m:sSub>
                                    <m:sSubPr>
                                      <m:ctrlPr>
                                        <a:rPr lang="en-US" altLang="zh-CN" sz="1500" i="1" dirty="0" smtClean="0">
                                          <a:solidFill>
                                            <a:schemeClr val="accent2">
                                              <a:lumMod val="75000"/>
                                            </a:schemeClr>
                                          </a:solidFill>
                                          <a:latin typeface="Cambria Math" panose="02040503050406030204" pitchFamily="18" charset="0"/>
                                        </a:rPr>
                                      </m:ctrlPr>
                                    </m:sSubPr>
                                    <m:e>
                                      <m:r>
                                        <a:rPr lang="en-US" altLang="zh-CN" sz="1500" i="1" dirty="0" smtClean="0">
                                          <a:solidFill>
                                            <a:schemeClr val="accent2">
                                              <a:lumMod val="75000"/>
                                            </a:schemeClr>
                                          </a:solidFill>
                                          <a:latin typeface="Cambria Math" panose="02040503050406030204" pitchFamily="18" charset="0"/>
                                        </a:rPr>
                                        <m:t>𝑓</m:t>
                                      </m:r>
                                    </m:e>
                                    <m:sub>
                                      <m:r>
                                        <a:rPr lang="en-US" altLang="zh-CN" sz="1500" b="0" i="1" dirty="0" smtClean="0">
                                          <a:solidFill>
                                            <a:schemeClr val="accent2">
                                              <a:lumMod val="75000"/>
                                            </a:schemeClr>
                                          </a:solidFill>
                                          <a:latin typeface="Cambria Math" panose="02040503050406030204" pitchFamily="18" charset="0"/>
                                        </a:rPr>
                                        <m:t>2</m:t>
                                      </m:r>
                                    </m:sub>
                                  </m:sSub>
                                  <m:r>
                                    <a:rPr lang="en-US" altLang="zh-CN" sz="1500" b="0" i="1" dirty="0" smtClean="0">
                                      <a:solidFill>
                                        <a:schemeClr val="accent2">
                                          <a:lumMod val="75000"/>
                                        </a:schemeClr>
                                      </a:solidFill>
                                      <a:latin typeface="Cambria Math" panose="02040503050406030204" pitchFamily="18" charset="0"/>
                                    </a:rPr>
                                    <m:t> </m:t>
                                  </m:r>
                                  <m:d>
                                    <m:dPr>
                                      <m:begChr m:val="|"/>
                                      <m:endChr m:val="|"/>
                                      <m:ctrlPr>
                                        <a:rPr lang="en-US" altLang="zh-CN" sz="1500" i="1" dirty="0">
                                          <a:solidFill>
                                            <a:schemeClr val="accent2">
                                              <a:lumMod val="75000"/>
                                            </a:schemeClr>
                                          </a:solidFill>
                                          <a:latin typeface="Cambria Math" panose="02040503050406030204" pitchFamily="18" charset="0"/>
                                        </a:rPr>
                                      </m:ctrlPr>
                                    </m:dPr>
                                    <m:e>
                                      <m:func>
                                        <m:funcPr>
                                          <m:ctrlPr>
                                            <a:rPr lang="en-US" altLang="zh-CN" sz="1500" dirty="0">
                                              <a:solidFill>
                                                <a:schemeClr val="accent2">
                                                  <a:lumMod val="75000"/>
                                                </a:schemeClr>
                                              </a:solidFill>
                                              <a:latin typeface="Cambria Math" panose="02040503050406030204" pitchFamily="18" charset="0"/>
                                            </a:rPr>
                                          </m:ctrlPr>
                                        </m:funcPr>
                                        <m:fName>
                                          <m:r>
                                            <m:rPr>
                                              <m:sty m:val="p"/>
                                            </m:rPr>
                                            <a:rPr lang="en-US" altLang="zh-CN" sz="1500" dirty="0">
                                              <a:solidFill>
                                                <a:schemeClr val="accent2">
                                                  <a:lumMod val="75000"/>
                                                </a:schemeClr>
                                              </a:solidFill>
                                              <a:latin typeface="Cambria Math" panose="02040503050406030204" pitchFamily="18" charset="0"/>
                                            </a:rPr>
                                            <m:t>cos</m:t>
                                          </m:r>
                                        </m:fName>
                                        <m:e>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𝜃</m:t>
                                              </m:r>
                                            </m:e>
                                            <m:sub>
                                              <m:r>
                                                <a:rPr lang="en-US" altLang="zh-CN" sz="1500" i="1" dirty="0">
                                                  <a:solidFill>
                                                    <a:schemeClr val="accent2">
                                                      <a:lumMod val="75000"/>
                                                    </a:schemeClr>
                                                  </a:solidFill>
                                                  <a:latin typeface="Cambria Math" panose="02040503050406030204" pitchFamily="18" charset="0"/>
                                                </a:rPr>
                                                <m:t>3</m:t>
                                              </m:r>
                                            </m:sub>
                                          </m:sSub>
                                        </m:e>
                                      </m:func>
                                    </m:e>
                                  </m:d>
                                  <m:r>
                                    <a:rPr lang="en-US" altLang="zh-CN" sz="1500" b="0" i="1" dirty="0" smtClean="0">
                                      <a:solidFill>
                                        <a:schemeClr val="accent2">
                                          <a:lumMod val="75000"/>
                                        </a:schemeClr>
                                      </a:solidFill>
                                      <a:latin typeface="Cambria Math" panose="02040503050406030204" pitchFamily="18" charset="0"/>
                                    </a:rPr>
                                    <m:t> </m:t>
                                  </m:r>
                                  <m:sSub>
                                    <m:sSubPr>
                                      <m:ctrlPr>
                                        <a:rPr lang="en-US" altLang="zh-CN" sz="1500" i="1" dirty="0" smtClean="0">
                                          <a:solidFill>
                                            <a:schemeClr val="accent6">
                                              <a:lumMod val="50000"/>
                                            </a:schemeClr>
                                          </a:solidFill>
                                          <a:latin typeface="Cambria Math" panose="02040503050406030204" pitchFamily="18" charset="0"/>
                                        </a:rPr>
                                      </m:ctrlPr>
                                    </m:sSubPr>
                                    <m:e>
                                      <m:r>
                                        <a:rPr lang="en-US" altLang="zh-CN" sz="1500" i="1" dirty="0" smtClean="0">
                                          <a:solidFill>
                                            <a:schemeClr val="accent6">
                                              <a:lumMod val="50000"/>
                                            </a:schemeClr>
                                          </a:solidFill>
                                          <a:latin typeface="Cambria Math" panose="02040503050406030204" pitchFamily="18" charset="0"/>
                                        </a:rPr>
                                        <m:t>𝑓</m:t>
                                      </m:r>
                                    </m:e>
                                    <m:sub>
                                      <m:r>
                                        <a:rPr lang="en-US" altLang="zh-CN" sz="1500" b="0" i="1" dirty="0" smtClean="0">
                                          <a:solidFill>
                                            <a:schemeClr val="accent6">
                                              <a:lumMod val="50000"/>
                                            </a:schemeClr>
                                          </a:solidFill>
                                          <a:latin typeface="Cambria Math" panose="02040503050406030204" pitchFamily="18" charset="0"/>
                                        </a:rPr>
                                        <m:t>3</m:t>
                                      </m:r>
                                    </m:sub>
                                  </m:sSub>
                                  <m:r>
                                    <a:rPr lang="en-US" altLang="zh-CN" sz="1500" b="0" i="1" dirty="0" smtClean="0">
                                      <a:solidFill>
                                        <a:schemeClr val="accent6">
                                          <a:lumMod val="50000"/>
                                        </a:schemeClr>
                                      </a:solidFill>
                                      <a:latin typeface="Cambria Math" panose="02040503050406030204" pitchFamily="18" charset="0"/>
                                    </a:rPr>
                                    <m:t> </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𝐺</m:t>
                                      </m:r>
                                    </m:e>
                                    <m:sub>
                                      <m:r>
                                        <a:rPr lang="en-US" altLang="zh-CN" sz="1500" i="1" dirty="0">
                                          <a:solidFill>
                                            <a:schemeClr val="accent6">
                                              <a:lumMod val="50000"/>
                                            </a:schemeClr>
                                          </a:solidFill>
                                          <a:latin typeface="Cambria Math" panose="02040503050406030204" pitchFamily="18" charset="0"/>
                                        </a:rPr>
                                        <m:t>3</m:t>
                                      </m:r>
                                    </m:sub>
                                  </m:sSub>
                                  <m:r>
                                    <a:rPr lang="en-US" altLang="zh-CN" sz="1500" b="1" i="1" dirty="0" smtClean="0">
                                      <a:solidFill>
                                        <a:schemeClr val="accent6">
                                          <a:lumMod val="50000"/>
                                        </a:schemeClr>
                                      </a:solidFill>
                                      <a:latin typeface="Cambria Math" panose="02040503050406030204" pitchFamily="18" charset="0"/>
                                    </a:rPr>
                                    <m:t> </m:t>
                                  </m:r>
                                  <m:sSub>
                                    <m:sSubPr>
                                      <m:ctrlPr>
                                        <a:rPr lang="en-US" altLang="zh-CN" sz="1500" i="1" dirty="0">
                                          <a:solidFill>
                                            <a:srgbClr val="7030A0"/>
                                          </a:solidFill>
                                          <a:latin typeface="Cambria Math" panose="02040503050406030204" pitchFamily="18" charset="0"/>
                                        </a:rPr>
                                      </m:ctrlPr>
                                    </m:sSubPr>
                                    <m:e>
                                      <m:r>
                                        <a:rPr lang="en-US" altLang="zh-CN" sz="1500" i="1" dirty="0">
                                          <a:solidFill>
                                            <a:srgbClr val="7030A0"/>
                                          </a:solidFill>
                                          <a:latin typeface="Cambria Math" panose="02040503050406030204" pitchFamily="18" charset="0"/>
                                        </a:rPr>
                                        <m:t>𝐿</m:t>
                                      </m:r>
                                    </m:e>
                                    <m:sub>
                                      <m:r>
                                        <a:rPr lang="en-US" altLang="zh-CN" sz="1500" b="1" i="1" dirty="0">
                                          <a:solidFill>
                                            <a:srgbClr val="7030A0"/>
                                          </a:solidFill>
                                          <a:latin typeface="Cambria Math" panose="02040503050406030204" pitchFamily="18" charset="0"/>
                                        </a:rPr>
                                        <m:t>𝒆</m:t>
                                      </m:r>
                                    </m:sub>
                                  </m:sSub>
                                  <m:d>
                                    <m:dPr>
                                      <m:ctrlPr>
                                        <a:rPr lang="en-US" altLang="zh-CN" sz="1500" b="1" i="1" dirty="0">
                                          <a:solidFill>
                                            <a:srgbClr val="7030A0"/>
                                          </a:solidFill>
                                          <a:latin typeface="Cambria Math" panose="02040503050406030204" pitchFamily="18" charset="0"/>
                                        </a:rPr>
                                      </m:ctrlPr>
                                    </m:dPr>
                                    <m:e>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𝟒</m:t>
                                          </m:r>
                                        </m:sub>
                                      </m:sSub>
                                      <m:r>
                                        <a:rPr lang="en-US" altLang="zh-CN" sz="1500" b="1" i="1" dirty="0">
                                          <a:solidFill>
                                            <a:srgbClr val="7030A0"/>
                                          </a:solidFill>
                                          <a:latin typeface="Cambria Math" panose="02040503050406030204" pitchFamily="18" charset="0"/>
                                        </a:rPr>
                                        <m:t>→</m:t>
                                      </m:r>
                                      <m:sSub>
                                        <m:sSubPr>
                                          <m:ctrlPr>
                                            <a:rPr lang="en-US" altLang="zh-CN" sz="1500" b="1" i="1" dirty="0">
                                              <a:solidFill>
                                                <a:srgbClr val="7030A0"/>
                                              </a:solidFill>
                                              <a:latin typeface="Cambria Math" panose="02040503050406030204" pitchFamily="18" charset="0"/>
                                            </a:rPr>
                                          </m:ctrlPr>
                                        </m:sSubPr>
                                        <m:e>
                                          <m:r>
                                            <a:rPr lang="en-US" altLang="zh-CN" sz="1500" b="1" i="1" dirty="0">
                                              <a:solidFill>
                                                <a:srgbClr val="7030A0"/>
                                              </a:solidFill>
                                              <a:latin typeface="Cambria Math" panose="02040503050406030204" pitchFamily="18" charset="0"/>
                                            </a:rPr>
                                            <m:t>𝒑</m:t>
                                          </m:r>
                                        </m:e>
                                        <m:sub>
                                          <m:r>
                                            <a:rPr lang="en-US" altLang="zh-CN" sz="1500" b="1" i="1" dirty="0">
                                              <a:solidFill>
                                                <a:srgbClr val="7030A0"/>
                                              </a:solidFill>
                                              <a:latin typeface="Cambria Math" panose="02040503050406030204" pitchFamily="18" charset="0"/>
                                            </a:rPr>
                                            <m:t>𝟑</m:t>
                                          </m:r>
                                        </m:sub>
                                      </m:sSub>
                                    </m:e>
                                  </m:d>
                                  <m:r>
                                    <a:rPr lang="en-US" altLang="zh-CN" sz="1500" b="1" i="1" dirty="0" smtClean="0">
                                      <a:solidFill>
                                        <a:srgbClr val="7030A0"/>
                                      </a:solidFill>
                                      <a:latin typeface="Cambria Math" panose="02040503050406030204" pitchFamily="18" charset="0"/>
                                    </a:rPr>
                                    <m:t> </m:t>
                                  </m:r>
                                  <m:r>
                                    <a:rPr lang="en-US" altLang="zh-CN" sz="1500" i="1" dirty="0">
                                      <a:solidFill>
                                        <a:schemeClr val="accent6">
                                          <a:lumMod val="50000"/>
                                        </a:schemeClr>
                                      </a:solidFill>
                                      <a:latin typeface="Cambria Math" panose="02040503050406030204" pitchFamily="18" charset="0"/>
                                    </a:rPr>
                                    <m:t>𝑑𝐴</m:t>
                                  </m:r>
                                  <m:d>
                                    <m:dPr>
                                      <m:ctrlPr>
                                        <a:rPr lang="en-US" altLang="zh-CN" sz="1500" b="1" i="1" dirty="0">
                                          <a:solidFill>
                                            <a:schemeClr val="accent6">
                                              <a:lumMod val="50000"/>
                                            </a:schemeClr>
                                          </a:solidFill>
                                          <a:latin typeface="Cambria Math" panose="02040503050406030204" pitchFamily="18" charset="0"/>
                                        </a:rPr>
                                      </m:ctrlPr>
                                    </m:dPr>
                                    <m:e>
                                      <m:sSub>
                                        <m:sSubPr>
                                          <m:ctrlPr>
                                            <a:rPr lang="en-US" altLang="zh-CN" sz="1500" b="1" i="1" dirty="0">
                                              <a:solidFill>
                                                <a:schemeClr val="accent6">
                                                  <a:lumMod val="50000"/>
                                                </a:schemeClr>
                                              </a:solidFill>
                                              <a:latin typeface="Cambria Math" panose="02040503050406030204" pitchFamily="18" charset="0"/>
                                            </a:rPr>
                                          </m:ctrlPr>
                                        </m:sSubPr>
                                        <m:e>
                                          <m:r>
                                            <a:rPr lang="en-US" altLang="zh-CN" sz="1500" b="1" i="1" dirty="0">
                                              <a:solidFill>
                                                <a:schemeClr val="accent6">
                                                  <a:lumMod val="50000"/>
                                                </a:schemeClr>
                                              </a:solidFill>
                                              <a:latin typeface="Cambria Math" panose="02040503050406030204" pitchFamily="18" charset="0"/>
                                            </a:rPr>
                                            <m:t>𝒑</m:t>
                                          </m:r>
                                        </m:e>
                                        <m:sub>
                                          <m:r>
                                            <a:rPr lang="en-US" altLang="zh-CN" sz="1500" b="1" i="1" dirty="0">
                                              <a:solidFill>
                                                <a:schemeClr val="accent6">
                                                  <a:lumMod val="50000"/>
                                                </a:schemeClr>
                                              </a:solidFill>
                                              <a:latin typeface="Cambria Math" panose="02040503050406030204" pitchFamily="18" charset="0"/>
                                            </a:rPr>
                                            <m:t>𝟒</m:t>
                                          </m:r>
                                        </m:sub>
                                      </m:sSub>
                                    </m:e>
                                  </m:d>
                                </m:e>
                              </m:nary>
                              <m:r>
                                <a:rPr lang="en-US" altLang="zh-CN" sz="1500" i="1" dirty="0">
                                  <a:solidFill>
                                    <a:schemeClr val="accent2">
                                      <a:lumMod val="75000"/>
                                    </a:schemeClr>
                                  </a:solidFill>
                                  <a:latin typeface="Cambria Math" panose="02040503050406030204" pitchFamily="18" charset="0"/>
                                </a:rPr>
                                <m:t>𝑑</m:t>
                              </m:r>
                              <m:sSub>
                                <m:sSubPr>
                                  <m:ctrlPr>
                                    <a:rPr lang="en-US" altLang="zh-CN" sz="1500" b="0" i="1" dirty="0" smtClean="0">
                                      <a:solidFill>
                                        <a:schemeClr val="accent2">
                                          <a:lumMod val="75000"/>
                                        </a:schemeClr>
                                      </a:solidFill>
                                      <a:latin typeface="Cambria Math" panose="02040503050406030204" pitchFamily="18" charset="0"/>
                                    </a:rPr>
                                  </m:ctrlPr>
                                </m:sSubPr>
                                <m:e>
                                  <m:r>
                                    <a:rPr lang="en-US" altLang="zh-CN" sz="1500" b="0" i="1" dirty="0" smtClean="0">
                                      <a:solidFill>
                                        <a:schemeClr val="accent2">
                                          <a:lumMod val="75000"/>
                                        </a:schemeClr>
                                      </a:solidFill>
                                      <a:latin typeface="Cambria Math" panose="02040503050406030204" pitchFamily="18" charset="0"/>
                                    </a:rPr>
                                    <m:t>𝜔</m:t>
                                  </m:r>
                                </m:e>
                                <m:sub>
                                  <m:r>
                                    <a:rPr lang="en-US" altLang="zh-CN" sz="1500" b="0" i="1" dirty="0" smtClean="0">
                                      <a:solidFill>
                                        <a:schemeClr val="accent2">
                                          <a:lumMod val="75000"/>
                                        </a:schemeClr>
                                      </a:solidFill>
                                      <a:latin typeface="Cambria Math" panose="02040503050406030204" pitchFamily="18" charset="0"/>
                                    </a:rPr>
                                    <m:t>3</m:t>
                                  </m:r>
                                </m:sub>
                              </m:sSub>
                            </m:e>
                          </m:nary>
                          <m:r>
                            <a:rPr lang="en-US" altLang="zh-CN" sz="1500" i="1" dirty="0">
                              <a:latin typeface="Cambria Math" panose="02040503050406030204" pitchFamily="18" charset="0"/>
                            </a:rPr>
                            <m:t>𝑑</m:t>
                          </m:r>
                          <m:sSub>
                            <m:sSubPr>
                              <m:ctrlPr>
                                <a:rPr lang="en-US" altLang="zh-CN" sz="1500" b="0" i="1" dirty="0" smtClean="0">
                                  <a:latin typeface="Cambria Math" panose="02040503050406030204" pitchFamily="18" charset="0"/>
                                </a:rPr>
                              </m:ctrlPr>
                            </m:sSubPr>
                            <m:e>
                              <m:r>
                                <a:rPr lang="en-US" altLang="zh-CN" sz="1500" b="0" i="1" dirty="0" smtClean="0">
                                  <a:latin typeface="Cambria Math" panose="02040503050406030204" pitchFamily="18" charset="0"/>
                                </a:rPr>
                                <m:t>𝜔</m:t>
                              </m:r>
                            </m:e>
                            <m:sub>
                              <m:r>
                                <a:rPr lang="en-US" altLang="zh-CN" sz="1500" b="0" i="1" dirty="0" smtClean="0">
                                  <a:latin typeface="Cambria Math" panose="02040503050406030204" pitchFamily="18" charset="0"/>
                                </a:rPr>
                                <m:t>2</m:t>
                              </m:r>
                            </m:sub>
                          </m:sSub>
                        </m:e>
                      </m:nary>
                    </m:oMath>
                    <m:oMath>
                      <m:r>
                        <a:rPr lang="en-US" altLang="zh-CN" sz="1500" b="1" i="1" smtClean="0">
                          <a:latin typeface="Cambria Math" panose="02040503050406030204" pitchFamily="18" charset="0"/>
                        </a:rPr>
                        <m:t>    +</m:t>
                      </m:r>
                      <m:nary>
                        <m:naryPr>
                          <m:supHide m:val="on"/>
                          <m:ctrlPr>
                            <a:rPr lang="en-US" altLang="zh-CN" sz="1500" i="1" dirty="0">
                              <a:latin typeface="Cambria Math" panose="02040503050406030204" pitchFamily="18" charset="0"/>
                            </a:rPr>
                          </m:ctrlPr>
                        </m:naryPr>
                        <m:sub>
                          <m:sSup>
                            <m:sSupPr>
                              <m:ctrlPr>
                                <a:rPr lang="en-US" altLang="zh-CN" sz="1500" i="1" dirty="0">
                                  <a:latin typeface="Cambria Math" panose="02040503050406030204" pitchFamily="18" charset="0"/>
                                </a:rPr>
                              </m:ctrlPr>
                            </m:sSupPr>
                            <m:e>
                              <m:r>
                                <a:rPr lang="en-US" altLang="zh-CN" sz="1500" i="1" dirty="0">
                                  <a:latin typeface="Cambria Math" panose="02040503050406030204" pitchFamily="18" charset="0"/>
                                </a:rPr>
                                <m:t>𝑆</m:t>
                              </m:r>
                            </m:e>
                            <m:sup>
                              <m:r>
                                <a:rPr lang="en-US" altLang="zh-CN" sz="1500" i="1" dirty="0">
                                  <a:latin typeface="Cambria Math" panose="02040503050406030204" pitchFamily="18" charset="0"/>
                                </a:rPr>
                                <m:t>2</m:t>
                              </m:r>
                            </m:sup>
                          </m:sSup>
                        </m:sub>
                        <m:sup/>
                        <m:e>
                          <m:nary>
                            <m:naryPr>
                              <m:supHide m:val="on"/>
                              <m:ctrlPr>
                                <a:rPr lang="en-US" altLang="zh-CN" sz="1500" i="1" dirty="0">
                                  <a:solidFill>
                                    <a:schemeClr val="accent2">
                                      <a:lumMod val="75000"/>
                                    </a:schemeClr>
                                  </a:solidFill>
                                  <a:latin typeface="Cambria Math" panose="02040503050406030204" pitchFamily="18" charset="0"/>
                                </a:rPr>
                              </m:ctrlPr>
                            </m:naryPr>
                            <m:sub>
                              <m:sSup>
                                <m:sSupPr>
                                  <m:ctrlPr>
                                    <a:rPr lang="en-US" altLang="zh-CN" sz="1500" i="1" dirty="0">
                                      <a:solidFill>
                                        <a:schemeClr val="accent2">
                                          <a:lumMod val="75000"/>
                                        </a:schemeClr>
                                      </a:solidFill>
                                      <a:latin typeface="Cambria Math" panose="02040503050406030204" pitchFamily="18" charset="0"/>
                                    </a:rPr>
                                  </m:ctrlPr>
                                </m:sSupPr>
                                <m:e>
                                  <m:r>
                                    <a:rPr lang="en-US" altLang="zh-CN" sz="1500" i="1" dirty="0">
                                      <a:solidFill>
                                        <a:schemeClr val="accent2">
                                          <a:lumMod val="75000"/>
                                        </a:schemeClr>
                                      </a:solidFill>
                                      <a:latin typeface="Cambria Math" panose="02040503050406030204" pitchFamily="18" charset="0"/>
                                    </a:rPr>
                                    <m:t>𝑆</m:t>
                                  </m:r>
                                </m:e>
                                <m:sup>
                                  <m:r>
                                    <a:rPr lang="en-US" altLang="zh-CN" sz="1500" i="1" dirty="0">
                                      <a:solidFill>
                                        <a:schemeClr val="accent2">
                                          <a:lumMod val="75000"/>
                                        </a:schemeClr>
                                      </a:solidFill>
                                      <a:latin typeface="Cambria Math" panose="02040503050406030204" pitchFamily="18" charset="0"/>
                                    </a:rPr>
                                    <m:t>2</m:t>
                                  </m:r>
                                </m:sup>
                              </m:sSup>
                            </m:sub>
                            <m:sup/>
                            <m:e>
                              <m:nary>
                                <m:naryPr>
                                  <m:supHide m:val="on"/>
                                  <m:ctrlPr>
                                    <a:rPr lang="en-US" altLang="zh-CN" sz="1500" i="1" dirty="0" smtClean="0">
                                      <a:solidFill>
                                        <a:schemeClr val="accent6">
                                          <a:lumMod val="50000"/>
                                        </a:schemeClr>
                                      </a:solidFill>
                                      <a:latin typeface="Cambria Math" panose="02040503050406030204" pitchFamily="18" charset="0"/>
                                    </a:rPr>
                                  </m:ctrlPr>
                                </m:naryPr>
                                <m:sub>
                                  <m:sSup>
                                    <m:sSupPr>
                                      <m:ctrlPr>
                                        <a:rPr lang="en-US" altLang="zh-CN" sz="1500" i="1" dirty="0" smtClean="0">
                                          <a:solidFill>
                                            <a:schemeClr val="accent6">
                                              <a:lumMod val="50000"/>
                                            </a:schemeClr>
                                          </a:solidFill>
                                          <a:latin typeface="Cambria Math" panose="02040503050406030204" pitchFamily="18" charset="0"/>
                                        </a:rPr>
                                      </m:ctrlPr>
                                    </m:sSupPr>
                                    <m:e>
                                      <m:r>
                                        <a:rPr lang="en-US" altLang="zh-CN" sz="1500" i="1" dirty="0" smtClean="0">
                                          <a:solidFill>
                                            <a:schemeClr val="accent6">
                                              <a:lumMod val="50000"/>
                                            </a:schemeClr>
                                          </a:solidFill>
                                          <a:latin typeface="Cambria Math" panose="02040503050406030204" pitchFamily="18" charset="0"/>
                                        </a:rPr>
                                        <m:t>𝑆</m:t>
                                      </m:r>
                                    </m:e>
                                    <m:sup>
                                      <m:r>
                                        <a:rPr lang="en-US" altLang="zh-CN" sz="1500" b="0" i="1" dirty="0" smtClean="0">
                                          <a:solidFill>
                                            <a:schemeClr val="accent6">
                                              <a:lumMod val="50000"/>
                                            </a:schemeClr>
                                          </a:solidFill>
                                          <a:latin typeface="Cambria Math" panose="02040503050406030204" pitchFamily="18" charset="0"/>
                                        </a:rPr>
                                        <m:t>2</m:t>
                                      </m:r>
                                    </m:sup>
                                  </m:sSup>
                                </m:sub>
                                <m:sup/>
                                <m:e>
                                  <m:nary>
                                    <m:naryPr>
                                      <m:supHide m:val="on"/>
                                      <m:ctrlPr>
                                        <a:rPr lang="en-US" altLang="zh-CN" sz="1500" i="1" dirty="0">
                                          <a:solidFill>
                                            <a:srgbClr val="7030A0"/>
                                          </a:solidFill>
                                          <a:latin typeface="Cambria Math" panose="02040503050406030204" pitchFamily="18" charset="0"/>
                                        </a:rPr>
                                      </m:ctrlPr>
                                    </m:naryPr>
                                    <m:sub>
                                      <m:sSub>
                                        <m:sSubPr>
                                          <m:ctrlPr>
                                            <a:rPr lang="en-US" altLang="zh-CN" sz="1500" i="1" dirty="0">
                                              <a:solidFill>
                                                <a:srgbClr val="7030A0"/>
                                              </a:solidFill>
                                              <a:latin typeface="Cambria Math" panose="02040503050406030204" pitchFamily="18" charset="0"/>
                                            </a:rPr>
                                          </m:ctrlPr>
                                        </m:sSubPr>
                                        <m:e>
                                          <m:r>
                                            <a:rPr lang="en-US" altLang="zh-CN" sz="1500" i="1" dirty="0">
                                              <a:solidFill>
                                                <a:srgbClr val="7030A0"/>
                                              </a:solidFill>
                                              <a:latin typeface="Cambria Math" panose="02040503050406030204" pitchFamily="18" charset="0"/>
                                            </a:rPr>
                                            <m:t>𝐴</m:t>
                                          </m:r>
                                        </m:e>
                                        <m:sub>
                                          <m:r>
                                            <a:rPr lang="en-US" altLang="zh-CN" sz="1500" i="1" dirty="0">
                                              <a:solidFill>
                                                <a:srgbClr val="7030A0"/>
                                              </a:solidFill>
                                              <a:latin typeface="Cambria Math" panose="02040503050406030204" pitchFamily="18" charset="0"/>
                                            </a:rPr>
                                            <m:t>𝐸</m:t>
                                          </m:r>
                                        </m:sub>
                                      </m:sSub>
                                    </m:sub>
                                    <m:sup/>
                                    <m:e>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𝑓</m:t>
                                          </m:r>
                                        </m:e>
                                        <m:sub>
                                          <m:r>
                                            <a:rPr lang="en-US" altLang="zh-CN" sz="1500" i="1" dirty="0">
                                              <a:solidFill>
                                                <a:schemeClr val="tx1"/>
                                              </a:solidFill>
                                              <a:latin typeface="Cambria Math" panose="02040503050406030204" pitchFamily="18" charset="0"/>
                                            </a:rPr>
                                            <m:t>1</m:t>
                                          </m:r>
                                        </m:sub>
                                      </m:sSub>
                                      <m:r>
                                        <a:rPr lang="en-US" altLang="zh-CN" sz="1500" i="1" dirty="0">
                                          <a:solidFill>
                                            <a:schemeClr val="tx1"/>
                                          </a:solidFill>
                                          <a:latin typeface="Cambria Math" panose="02040503050406030204" pitchFamily="18" charset="0"/>
                                        </a:rPr>
                                        <m:t> </m:t>
                                      </m:r>
                                      <m:d>
                                        <m:dPr>
                                          <m:begChr m:val="|"/>
                                          <m:endChr m:val="|"/>
                                          <m:ctrlPr>
                                            <a:rPr lang="en-US" altLang="zh-CN" sz="1500" i="1" dirty="0">
                                              <a:solidFill>
                                                <a:schemeClr val="tx1"/>
                                              </a:solidFill>
                                              <a:latin typeface="Cambria Math" panose="02040503050406030204" pitchFamily="18" charset="0"/>
                                            </a:rPr>
                                          </m:ctrlPr>
                                        </m:dPr>
                                        <m:e>
                                          <m:func>
                                            <m:funcPr>
                                              <m:ctrlPr>
                                                <a:rPr lang="en-US" altLang="zh-CN" sz="1500"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2</m:t>
                                                  </m:r>
                                                </m:sub>
                                              </m:sSub>
                                            </m:e>
                                          </m:func>
                                        </m:e>
                                      </m:d>
                                      <m:r>
                                        <a:rPr lang="en-US" altLang="zh-CN" sz="1500" i="1" dirty="0">
                                          <a:solidFill>
                                            <a:srgbClr val="7030A0"/>
                                          </a:solidFill>
                                          <a:latin typeface="Cambria Math" panose="02040503050406030204" pitchFamily="18" charset="0"/>
                                        </a:rPr>
                                        <m:t> </m:t>
                                      </m:r>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𝑓</m:t>
                                          </m:r>
                                        </m:e>
                                        <m:sub>
                                          <m:r>
                                            <a:rPr lang="en-US" altLang="zh-CN" sz="1500" i="1" dirty="0">
                                              <a:solidFill>
                                                <a:schemeClr val="accent2">
                                                  <a:lumMod val="75000"/>
                                                </a:schemeClr>
                                              </a:solidFill>
                                              <a:latin typeface="Cambria Math" panose="02040503050406030204" pitchFamily="18" charset="0"/>
                                            </a:rPr>
                                            <m:t>2</m:t>
                                          </m:r>
                                        </m:sub>
                                      </m:sSub>
                                      <m:r>
                                        <a:rPr lang="en-US" altLang="zh-CN" sz="1500" i="1" dirty="0">
                                          <a:solidFill>
                                            <a:schemeClr val="accent2">
                                              <a:lumMod val="75000"/>
                                            </a:schemeClr>
                                          </a:solidFill>
                                          <a:latin typeface="Cambria Math" panose="02040503050406030204" pitchFamily="18" charset="0"/>
                                        </a:rPr>
                                        <m:t> </m:t>
                                      </m:r>
                                      <m:d>
                                        <m:dPr>
                                          <m:begChr m:val="|"/>
                                          <m:endChr m:val="|"/>
                                          <m:ctrlPr>
                                            <a:rPr lang="en-US" altLang="zh-CN" sz="1500" i="1" dirty="0">
                                              <a:solidFill>
                                                <a:schemeClr val="accent2">
                                                  <a:lumMod val="75000"/>
                                                </a:schemeClr>
                                              </a:solidFill>
                                              <a:latin typeface="Cambria Math" panose="02040503050406030204" pitchFamily="18" charset="0"/>
                                            </a:rPr>
                                          </m:ctrlPr>
                                        </m:dPr>
                                        <m:e>
                                          <m:func>
                                            <m:funcPr>
                                              <m:ctrlPr>
                                                <a:rPr lang="en-US" altLang="zh-CN" sz="1500" dirty="0">
                                                  <a:solidFill>
                                                    <a:schemeClr val="accent2">
                                                      <a:lumMod val="75000"/>
                                                    </a:schemeClr>
                                                  </a:solidFill>
                                                  <a:latin typeface="Cambria Math" panose="02040503050406030204" pitchFamily="18" charset="0"/>
                                                </a:rPr>
                                              </m:ctrlPr>
                                            </m:funcPr>
                                            <m:fName>
                                              <m:r>
                                                <m:rPr>
                                                  <m:sty m:val="p"/>
                                                </m:rPr>
                                                <a:rPr lang="en-US" altLang="zh-CN" sz="1500" dirty="0">
                                                  <a:solidFill>
                                                    <a:schemeClr val="accent2">
                                                      <a:lumMod val="75000"/>
                                                    </a:schemeClr>
                                                  </a:solidFill>
                                                  <a:latin typeface="Cambria Math" panose="02040503050406030204" pitchFamily="18" charset="0"/>
                                                </a:rPr>
                                                <m:t>cos</m:t>
                                              </m:r>
                                            </m:fName>
                                            <m:e>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𝜃</m:t>
                                                  </m:r>
                                                </m:e>
                                                <m:sub>
                                                  <m:r>
                                                    <a:rPr lang="en-US" altLang="zh-CN" sz="1500" i="1" dirty="0">
                                                      <a:solidFill>
                                                        <a:schemeClr val="accent2">
                                                          <a:lumMod val="75000"/>
                                                        </a:schemeClr>
                                                      </a:solidFill>
                                                      <a:latin typeface="Cambria Math" panose="02040503050406030204" pitchFamily="18" charset="0"/>
                                                    </a:rPr>
                                                    <m:t>3</m:t>
                                                  </m:r>
                                                </m:sub>
                                              </m:sSub>
                                            </m:e>
                                          </m:func>
                                        </m:e>
                                      </m:d>
                                      <m:r>
                                        <a:rPr lang="en-US" altLang="zh-CN" sz="1500" i="1" dirty="0">
                                          <a:solidFill>
                                            <a:srgbClr val="7030A0"/>
                                          </a:solidFill>
                                          <a:latin typeface="Cambria Math" panose="02040503050406030204" pitchFamily="18" charset="0"/>
                                        </a:rPr>
                                        <m:t> </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𝑓</m:t>
                                          </m:r>
                                        </m:e>
                                        <m:sub>
                                          <m:r>
                                            <a:rPr lang="en-US" altLang="zh-CN" sz="1500" i="1" dirty="0">
                                              <a:solidFill>
                                                <a:schemeClr val="accent6">
                                                  <a:lumMod val="50000"/>
                                                </a:schemeClr>
                                              </a:solidFill>
                                              <a:latin typeface="Cambria Math" panose="02040503050406030204" pitchFamily="18" charset="0"/>
                                            </a:rPr>
                                            <m:t>3</m:t>
                                          </m:r>
                                        </m:sub>
                                      </m:sSub>
                                      <m:r>
                                        <a:rPr lang="en-US" altLang="zh-CN" sz="1500" i="1" dirty="0">
                                          <a:solidFill>
                                            <a:schemeClr val="accent6">
                                              <a:lumMod val="50000"/>
                                            </a:schemeClr>
                                          </a:solidFill>
                                          <a:latin typeface="Cambria Math" panose="02040503050406030204" pitchFamily="18" charset="0"/>
                                        </a:rPr>
                                        <m:t> </m:t>
                                      </m:r>
                                      <m:d>
                                        <m:dPr>
                                          <m:begChr m:val="|"/>
                                          <m:endChr m:val="|"/>
                                          <m:ctrlPr>
                                            <a:rPr lang="en-US" altLang="zh-CN" sz="1500" b="0" i="1" dirty="0" smtClean="0">
                                              <a:solidFill>
                                                <a:schemeClr val="accent6">
                                                  <a:lumMod val="50000"/>
                                                </a:schemeClr>
                                              </a:solidFill>
                                              <a:latin typeface="Cambria Math" panose="02040503050406030204" pitchFamily="18" charset="0"/>
                                            </a:rPr>
                                          </m:ctrlPr>
                                        </m:dPr>
                                        <m:e>
                                          <m:func>
                                            <m:funcPr>
                                              <m:ctrlPr>
                                                <a:rPr lang="en-US" altLang="zh-CN" sz="1500" b="0" i="0" dirty="0" smtClean="0">
                                                  <a:solidFill>
                                                    <a:schemeClr val="accent6">
                                                      <a:lumMod val="50000"/>
                                                    </a:schemeClr>
                                                  </a:solidFill>
                                                  <a:latin typeface="Cambria Math" panose="02040503050406030204" pitchFamily="18" charset="0"/>
                                                </a:rPr>
                                              </m:ctrlPr>
                                            </m:funcPr>
                                            <m:fName>
                                              <m:r>
                                                <m:rPr>
                                                  <m:sty m:val="p"/>
                                                </m:rPr>
                                                <a:rPr lang="en-US" altLang="zh-CN" sz="1500" b="0" i="0" dirty="0" smtClean="0">
                                                  <a:solidFill>
                                                    <a:schemeClr val="accent6">
                                                      <a:lumMod val="50000"/>
                                                    </a:schemeClr>
                                                  </a:solidFill>
                                                  <a:latin typeface="Cambria Math" panose="02040503050406030204" pitchFamily="18" charset="0"/>
                                                </a:rPr>
                                                <m:t>cos</m:t>
                                              </m:r>
                                            </m:fName>
                                            <m:e>
                                              <m:sSub>
                                                <m:sSubPr>
                                                  <m:ctrlPr>
                                                    <a:rPr lang="en-US" altLang="zh-CN" sz="1500" b="0" i="1" dirty="0" smtClean="0">
                                                      <a:solidFill>
                                                        <a:schemeClr val="accent6">
                                                          <a:lumMod val="50000"/>
                                                        </a:schemeClr>
                                                      </a:solidFill>
                                                      <a:latin typeface="Cambria Math" panose="02040503050406030204" pitchFamily="18" charset="0"/>
                                                    </a:rPr>
                                                  </m:ctrlPr>
                                                </m:sSubPr>
                                                <m:e>
                                                  <m:r>
                                                    <a:rPr lang="en-US" altLang="zh-CN" sz="1500" b="0" i="1" dirty="0" smtClean="0">
                                                      <a:solidFill>
                                                        <a:schemeClr val="accent6">
                                                          <a:lumMod val="50000"/>
                                                        </a:schemeClr>
                                                      </a:solidFill>
                                                      <a:latin typeface="Cambria Math" panose="02040503050406030204" pitchFamily="18" charset="0"/>
                                                    </a:rPr>
                                                    <m:t>𝜃</m:t>
                                                  </m:r>
                                                </m:e>
                                                <m:sub>
                                                  <m:r>
                                                    <a:rPr lang="en-US" altLang="zh-CN" sz="1500" b="0" i="1" dirty="0" smtClean="0">
                                                      <a:solidFill>
                                                        <a:schemeClr val="accent6">
                                                          <a:lumMod val="50000"/>
                                                        </a:schemeClr>
                                                      </a:solidFill>
                                                      <a:latin typeface="Cambria Math" panose="02040503050406030204" pitchFamily="18" charset="0"/>
                                                    </a:rPr>
                                                    <m:t>4</m:t>
                                                  </m:r>
                                                </m:sub>
                                              </m:sSub>
                                            </m:e>
                                          </m:func>
                                        </m:e>
                                      </m:d>
                                      <m:r>
                                        <a:rPr lang="en-US" altLang="zh-CN" sz="1500" b="0" i="1" dirty="0" smtClean="0">
                                          <a:solidFill>
                                            <a:schemeClr val="accent6">
                                              <a:lumMod val="50000"/>
                                            </a:schemeClr>
                                          </a:solidFill>
                                          <a:latin typeface="Cambria Math" panose="02040503050406030204" pitchFamily="18" charset="0"/>
                                        </a:rPr>
                                        <m:t> </m:t>
                                      </m:r>
                                      <m:sSub>
                                        <m:sSubPr>
                                          <m:ctrlPr>
                                            <a:rPr lang="en-US" altLang="zh-CN" sz="1500" b="0" i="1" dirty="0" smtClean="0">
                                              <a:solidFill>
                                                <a:srgbClr val="7030A0"/>
                                              </a:solidFill>
                                              <a:latin typeface="Cambria Math" panose="02040503050406030204" pitchFamily="18" charset="0"/>
                                            </a:rPr>
                                          </m:ctrlPr>
                                        </m:sSubPr>
                                        <m:e>
                                          <m:r>
                                            <a:rPr lang="en-US" altLang="zh-CN" sz="1500" b="0" i="1" dirty="0" smtClean="0">
                                              <a:solidFill>
                                                <a:srgbClr val="7030A0"/>
                                              </a:solidFill>
                                              <a:latin typeface="Cambria Math" panose="02040503050406030204" pitchFamily="18" charset="0"/>
                                            </a:rPr>
                                            <m:t>𝑓</m:t>
                                          </m:r>
                                        </m:e>
                                        <m:sub>
                                          <m:r>
                                            <a:rPr lang="en-US" altLang="zh-CN" sz="1500" b="0" i="1" dirty="0" smtClean="0">
                                              <a:solidFill>
                                                <a:srgbClr val="7030A0"/>
                                              </a:solidFill>
                                              <a:latin typeface="Cambria Math" panose="02040503050406030204" pitchFamily="18" charset="0"/>
                                            </a:rPr>
                                            <m:t>4</m:t>
                                          </m:r>
                                        </m:sub>
                                      </m:sSub>
                                      <m:r>
                                        <a:rPr lang="en-US" altLang="zh-CN" sz="1500" b="0" i="1" dirty="0" smtClean="0">
                                          <a:solidFill>
                                            <a:srgbClr val="7030A0"/>
                                          </a:solidFill>
                                          <a:latin typeface="Cambria Math" panose="02040503050406030204" pitchFamily="18" charset="0"/>
                                        </a:rPr>
                                        <m:t> </m:t>
                                      </m:r>
                                      <m:sSub>
                                        <m:sSubPr>
                                          <m:ctrlPr>
                                            <a:rPr lang="en-US" altLang="zh-CN" sz="1500" i="1" dirty="0">
                                              <a:solidFill>
                                                <a:srgbClr val="7030A0"/>
                                              </a:solidFill>
                                              <a:latin typeface="Cambria Math" panose="02040503050406030204" pitchFamily="18" charset="0"/>
                                            </a:rPr>
                                          </m:ctrlPr>
                                        </m:sSubPr>
                                        <m:e>
                                          <m:r>
                                            <a:rPr lang="en-US" altLang="zh-CN" sz="1500" i="1" dirty="0">
                                              <a:solidFill>
                                                <a:srgbClr val="7030A0"/>
                                              </a:solidFill>
                                              <a:latin typeface="Cambria Math" panose="02040503050406030204" pitchFamily="18" charset="0"/>
                                            </a:rPr>
                                            <m:t>𝐺</m:t>
                                          </m:r>
                                        </m:e>
                                        <m:sub>
                                          <m:r>
                                            <a:rPr lang="en-US" altLang="zh-CN" sz="1500" b="0" i="1" dirty="0" smtClean="0">
                                              <a:solidFill>
                                                <a:srgbClr val="7030A0"/>
                                              </a:solidFill>
                                              <a:latin typeface="Cambria Math" panose="02040503050406030204" pitchFamily="18" charset="0"/>
                                            </a:rPr>
                                            <m:t>4</m:t>
                                          </m:r>
                                        </m:sub>
                                      </m:sSub>
                                      <m:r>
                                        <a:rPr lang="en-US" altLang="zh-CN" sz="1500" b="1" i="1" dirty="0" smtClean="0">
                                          <a:solidFill>
                                            <a:srgbClr val="7030A0"/>
                                          </a:solidFill>
                                          <a:latin typeface="Cambria Math" panose="02040503050406030204" pitchFamily="18" charset="0"/>
                                        </a:rPr>
                                        <m:t> </m:t>
                                      </m:r>
                                      <m:sSub>
                                        <m:sSubPr>
                                          <m:ctrlPr>
                                            <a:rPr lang="en-US" altLang="zh-CN" sz="1500" i="1" dirty="0">
                                              <a:solidFill>
                                                <a:srgbClr val="008000"/>
                                              </a:solidFill>
                                              <a:latin typeface="Cambria Math" panose="02040503050406030204" pitchFamily="18" charset="0"/>
                                            </a:rPr>
                                          </m:ctrlPr>
                                        </m:sSubPr>
                                        <m:e>
                                          <m:r>
                                            <a:rPr lang="en-US" altLang="zh-CN" sz="1500" i="1" dirty="0">
                                              <a:solidFill>
                                                <a:srgbClr val="008000"/>
                                              </a:solidFill>
                                              <a:latin typeface="Cambria Math" panose="02040503050406030204" pitchFamily="18" charset="0"/>
                                            </a:rPr>
                                            <m:t>𝐿</m:t>
                                          </m:r>
                                        </m:e>
                                        <m:sub>
                                          <m:r>
                                            <a:rPr lang="en-US" altLang="zh-CN" sz="1500" b="1" i="1" dirty="0">
                                              <a:solidFill>
                                                <a:srgbClr val="008000"/>
                                              </a:solidFill>
                                              <a:latin typeface="Cambria Math" panose="02040503050406030204" pitchFamily="18" charset="0"/>
                                            </a:rPr>
                                            <m:t>𝒆</m:t>
                                          </m:r>
                                        </m:sub>
                                      </m:sSub>
                                      <m:d>
                                        <m:dPr>
                                          <m:ctrlPr>
                                            <a:rPr lang="en-US" altLang="zh-CN" sz="1500" b="1" i="1" dirty="0">
                                              <a:solidFill>
                                                <a:srgbClr val="008000"/>
                                              </a:solidFill>
                                              <a:latin typeface="Cambria Math" panose="02040503050406030204" pitchFamily="18" charset="0"/>
                                            </a:rPr>
                                          </m:ctrlPr>
                                        </m:dPr>
                                        <m:e>
                                          <m:sSub>
                                            <m:sSubPr>
                                              <m:ctrlPr>
                                                <a:rPr lang="en-US" altLang="zh-CN" sz="1500" b="1" i="1" dirty="0">
                                                  <a:solidFill>
                                                    <a:srgbClr val="008000"/>
                                                  </a:solidFill>
                                                  <a:latin typeface="Cambria Math" panose="02040503050406030204" pitchFamily="18" charset="0"/>
                                                </a:rPr>
                                              </m:ctrlPr>
                                            </m:sSubPr>
                                            <m:e>
                                              <m:r>
                                                <a:rPr lang="en-US" altLang="zh-CN" sz="1500" b="1" i="1" dirty="0">
                                                  <a:solidFill>
                                                    <a:srgbClr val="008000"/>
                                                  </a:solidFill>
                                                  <a:latin typeface="Cambria Math" panose="02040503050406030204" pitchFamily="18" charset="0"/>
                                                </a:rPr>
                                                <m:t>𝒑</m:t>
                                              </m:r>
                                            </m:e>
                                            <m:sub>
                                              <m:r>
                                                <a:rPr lang="en-US" altLang="zh-CN" sz="1500" b="1" i="1" dirty="0">
                                                  <a:solidFill>
                                                    <a:srgbClr val="008000"/>
                                                  </a:solidFill>
                                                  <a:latin typeface="Cambria Math" panose="02040503050406030204" pitchFamily="18" charset="0"/>
                                                </a:rPr>
                                                <m:t>𝟓</m:t>
                                              </m:r>
                                            </m:sub>
                                          </m:sSub>
                                          <m:r>
                                            <a:rPr lang="en-US" altLang="zh-CN" sz="1500" b="1" i="1" dirty="0">
                                              <a:solidFill>
                                                <a:srgbClr val="008000"/>
                                              </a:solidFill>
                                              <a:latin typeface="Cambria Math" panose="02040503050406030204" pitchFamily="18" charset="0"/>
                                            </a:rPr>
                                            <m:t>→</m:t>
                                          </m:r>
                                          <m:sSub>
                                            <m:sSubPr>
                                              <m:ctrlPr>
                                                <a:rPr lang="en-US" altLang="zh-CN" sz="1500" b="1" i="1" dirty="0">
                                                  <a:solidFill>
                                                    <a:srgbClr val="008000"/>
                                                  </a:solidFill>
                                                  <a:latin typeface="Cambria Math" panose="02040503050406030204" pitchFamily="18" charset="0"/>
                                                </a:rPr>
                                              </m:ctrlPr>
                                            </m:sSubPr>
                                            <m:e>
                                              <m:r>
                                                <a:rPr lang="en-US" altLang="zh-CN" sz="1500" b="1" i="1" dirty="0">
                                                  <a:solidFill>
                                                    <a:srgbClr val="008000"/>
                                                  </a:solidFill>
                                                  <a:latin typeface="Cambria Math" panose="02040503050406030204" pitchFamily="18" charset="0"/>
                                                </a:rPr>
                                                <m:t>𝒑</m:t>
                                              </m:r>
                                            </m:e>
                                            <m:sub>
                                              <m:r>
                                                <a:rPr lang="en-US" altLang="zh-CN" sz="1500" b="1" i="1" dirty="0">
                                                  <a:solidFill>
                                                    <a:srgbClr val="008000"/>
                                                  </a:solidFill>
                                                  <a:latin typeface="Cambria Math" panose="02040503050406030204" pitchFamily="18" charset="0"/>
                                                </a:rPr>
                                                <m:t>𝟒</m:t>
                                              </m:r>
                                            </m:sub>
                                          </m:sSub>
                                        </m:e>
                                      </m:d>
                                      <m:r>
                                        <a:rPr lang="en-US" altLang="zh-CN" sz="1500" b="1" i="1" dirty="0" smtClean="0">
                                          <a:solidFill>
                                            <a:srgbClr val="7030A0"/>
                                          </a:solidFill>
                                          <a:latin typeface="Cambria Math" panose="02040503050406030204" pitchFamily="18" charset="0"/>
                                        </a:rPr>
                                        <m:t> </m:t>
                                      </m:r>
                                      <m:r>
                                        <a:rPr lang="en-US" altLang="zh-CN" sz="1500" i="1" dirty="0" smtClean="0">
                                          <a:solidFill>
                                            <a:srgbClr val="7030A0"/>
                                          </a:solidFill>
                                          <a:latin typeface="Cambria Math" panose="02040503050406030204" pitchFamily="18" charset="0"/>
                                        </a:rPr>
                                        <m:t>𝑑𝐴</m:t>
                                      </m:r>
                                      <m:d>
                                        <m:dPr>
                                          <m:ctrlPr>
                                            <a:rPr lang="en-US" altLang="zh-CN" sz="1500" b="1" i="1" dirty="0" smtClean="0">
                                              <a:solidFill>
                                                <a:srgbClr val="7030A0"/>
                                              </a:solidFill>
                                              <a:latin typeface="Cambria Math" panose="02040503050406030204" pitchFamily="18" charset="0"/>
                                            </a:rPr>
                                          </m:ctrlPr>
                                        </m:dPr>
                                        <m:e>
                                          <m:sSub>
                                            <m:sSubPr>
                                              <m:ctrlPr>
                                                <a:rPr lang="en-US" altLang="zh-CN" sz="1500" b="1" i="1" dirty="0" smtClean="0">
                                                  <a:solidFill>
                                                    <a:srgbClr val="7030A0"/>
                                                  </a:solidFill>
                                                  <a:latin typeface="Cambria Math" panose="02040503050406030204" pitchFamily="18" charset="0"/>
                                                </a:rPr>
                                              </m:ctrlPr>
                                            </m:sSubPr>
                                            <m:e>
                                              <m:r>
                                                <a:rPr lang="en-US" altLang="zh-CN" sz="1500" b="1" i="1" dirty="0" smtClean="0">
                                                  <a:solidFill>
                                                    <a:srgbClr val="7030A0"/>
                                                  </a:solidFill>
                                                  <a:latin typeface="Cambria Math" panose="02040503050406030204" pitchFamily="18" charset="0"/>
                                                </a:rPr>
                                                <m:t>𝒑</m:t>
                                              </m:r>
                                            </m:e>
                                            <m:sub>
                                              <m:r>
                                                <a:rPr lang="en-US" altLang="zh-CN" sz="1500" b="1" i="1" dirty="0" smtClean="0">
                                                  <a:solidFill>
                                                    <a:srgbClr val="7030A0"/>
                                                  </a:solidFill>
                                                  <a:latin typeface="Cambria Math" panose="02040503050406030204" pitchFamily="18" charset="0"/>
                                                </a:rPr>
                                                <m:t>𝟓</m:t>
                                              </m:r>
                                            </m:sub>
                                          </m:sSub>
                                        </m:e>
                                      </m:d>
                                    </m:e>
                                  </m:nary>
                                  <m:r>
                                    <a:rPr lang="en-US" altLang="zh-CN" sz="1500" i="1" dirty="0">
                                      <a:solidFill>
                                        <a:schemeClr val="accent6">
                                          <a:lumMod val="50000"/>
                                        </a:schemeClr>
                                      </a:solidFill>
                                      <a:latin typeface="Cambria Math" panose="02040503050406030204" pitchFamily="18" charset="0"/>
                                    </a:rPr>
                                    <m:t>𝑑</m:t>
                                  </m:r>
                                  <m:sSub>
                                    <m:sSubPr>
                                      <m:ctrlPr>
                                        <a:rPr lang="en-US" altLang="zh-CN" sz="1500" i="1" dirty="0">
                                          <a:solidFill>
                                            <a:schemeClr val="accent6">
                                              <a:lumMod val="50000"/>
                                            </a:schemeClr>
                                          </a:solidFill>
                                          <a:latin typeface="Cambria Math" panose="02040503050406030204" pitchFamily="18" charset="0"/>
                                        </a:rPr>
                                      </m:ctrlPr>
                                    </m:sSubPr>
                                    <m:e>
                                      <m:r>
                                        <a:rPr lang="en-US" altLang="zh-CN" sz="1500" i="1" dirty="0">
                                          <a:solidFill>
                                            <a:schemeClr val="accent6">
                                              <a:lumMod val="50000"/>
                                            </a:schemeClr>
                                          </a:solidFill>
                                          <a:latin typeface="Cambria Math" panose="02040503050406030204" pitchFamily="18" charset="0"/>
                                        </a:rPr>
                                        <m:t>𝜔</m:t>
                                      </m:r>
                                    </m:e>
                                    <m:sub>
                                      <m:r>
                                        <a:rPr lang="en-US" altLang="zh-CN" sz="1500" i="1" dirty="0">
                                          <a:solidFill>
                                            <a:schemeClr val="accent6">
                                              <a:lumMod val="50000"/>
                                            </a:schemeClr>
                                          </a:solidFill>
                                          <a:latin typeface="Cambria Math" panose="02040503050406030204" pitchFamily="18" charset="0"/>
                                        </a:rPr>
                                        <m:t>4</m:t>
                                      </m:r>
                                    </m:sub>
                                  </m:sSub>
                                </m:e>
                              </m:nary>
                              <m:r>
                                <a:rPr lang="en-US" altLang="zh-CN" sz="1500" i="1" dirty="0">
                                  <a:solidFill>
                                    <a:schemeClr val="accent2">
                                      <a:lumMod val="75000"/>
                                    </a:schemeClr>
                                  </a:solidFill>
                                  <a:latin typeface="Cambria Math" panose="02040503050406030204" pitchFamily="18" charset="0"/>
                                </a:rPr>
                                <m:t>𝑑</m:t>
                              </m:r>
                              <m:sSub>
                                <m:sSubPr>
                                  <m:ctrlPr>
                                    <a:rPr lang="en-US" altLang="zh-CN" sz="1500" i="1" dirty="0">
                                      <a:solidFill>
                                        <a:schemeClr val="accent2">
                                          <a:lumMod val="75000"/>
                                        </a:schemeClr>
                                      </a:solidFill>
                                      <a:latin typeface="Cambria Math" panose="02040503050406030204" pitchFamily="18" charset="0"/>
                                    </a:rPr>
                                  </m:ctrlPr>
                                </m:sSubPr>
                                <m:e>
                                  <m:r>
                                    <a:rPr lang="en-US" altLang="zh-CN" sz="1500" i="1" dirty="0">
                                      <a:solidFill>
                                        <a:schemeClr val="accent2">
                                          <a:lumMod val="75000"/>
                                        </a:schemeClr>
                                      </a:solidFill>
                                      <a:latin typeface="Cambria Math" panose="02040503050406030204" pitchFamily="18" charset="0"/>
                                    </a:rPr>
                                    <m:t>𝜔</m:t>
                                  </m:r>
                                </m:e>
                                <m:sub>
                                  <m:r>
                                    <a:rPr lang="en-US" altLang="zh-CN" sz="1500" i="1" dirty="0">
                                      <a:solidFill>
                                        <a:schemeClr val="accent2">
                                          <a:lumMod val="75000"/>
                                        </a:schemeClr>
                                      </a:solidFill>
                                      <a:latin typeface="Cambria Math" panose="02040503050406030204" pitchFamily="18" charset="0"/>
                                    </a:rPr>
                                    <m:t>3</m:t>
                                  </m:r>
                                </m:sub>
                              </m:sSub>
                            </m:e>
                          </m:nary>
                          <m:r>
                            <a:rPr lang="en-US" altLang="zh-CN" sz="1500" i="1" dirty="0">
                              <a:latin typeface="Cambria Math" panose="02040503050406030204" pitchFamily="18" charset="0"/>
                            </a:rPr>
                            <m:t>𝑑</m:t>
                          </m:r>
                          <m:sSub>
                            <m:sSubPr>
                              <m:ctrlPr>
                                <a:rPr lang="en-US" altLang="zh-CN" sz="1500" i="1" dirty="0">
                                  <a:latin typeface="Cambria Math" panose="02040503050406030204" pitchFamily="18" charset="0"/>
                                </a:rPr>
                              </m:ctrlPr>
                            </m:sSubPr>
                            <m:e>
                              <m:r>
                                <a:rPr lang="en-US" altLang="zh-CN" sz="1500" i="1" dirty="0">
                                  <a:latin typeface="Cambria Math" panose="02040503050406030204" pitchFamily="18" charset="0"/>
                                </a:rPr>
                                <m:t>𝜔</m:t>
                              </m:r>
                            </m:e>
                            <m:sub>
                              <m:r>
                                <a:rPr lang="en-US" altLang="zh-CN" sz="1500" i="1" dirty="0">
                                  <a:latin typeface="Cambria Math" panose="02040503050406030204" pitchFamily="18" charset="0"/>
                                </a:rPr>
                                <m:t>2</m:t>
                              </m:r>
                            </m:sub>
                          </m:sSub>
                        </m:e>
                      </m:nary>
                    </m:oMath>
                    <m:oMath>
                      <m:r>
                        <a:rPr lang="en-US" altLang="zh-CN" sz="1500" b="1" i="1" smtClean="0">
                          <a:latin typeface="Cambria Math" panose="02040503050406030204" pitchFamily="18" charset="0"/>
                        </a:rPr>
                        <m:t>    +…</m:t>
                      </m:r>
                    </m:oMath>
                  </m:oMathPara>
                </a14:m>
                <a:endParaRPr lang="en-US" altLang="zh-CN" sz="1500" b="1" i="1" dirty="0">
                  <a:latin typeface="Cambria Math" panose="02040503050406030204" pitchFamily="18" charset="0"/>
                </a:endParaRPr>
              </a:p>
            </p:txBody>
          </p:sp>
        </mc:Choice>
        <mc:Fallback xmlns="">
          <p:sp>
            <p:nvSpPr>
              <p:cNvPr id="9" name="文本框 8">
                <a:extLst>
                  <a:ext uri="{FF2B5EF4-FFF2-40B4-BE49-F238E27FC236}">
                    <a16:creationId xmlns:a16="http://schemas.microsoft.com/office/drawing/2014/main" id="{9C56308F-7497-64FE-721D-D77DF921307B}"/>
                  </a:ext>
                </a:extLst>
              </p:cNvPr>
              <p:cNvSpPr txBox="1">
                <a:spLocks noRot="1" noChangeAspect="1" noMove="1" noResize="1" noEditPoints="1" noAdjustHandles="1" noChangeArrowheads="1" noChangeShapeType="1" noTextEdit="1"/>
              </p:cNvSpPr>
              <p:nvPr/>
            </p:nvSpPr>
            <p:spPr>
              <a:xfrm>
                <a:off x="541413" y="3803446"/>
                <a:ext cx="7476186" cy="3054554"/>
              </a:xfrm>
              <a:prstGeom prst="rect">
                <a:avLst/>
              </a:prstGeom>
              <a:blipFill>
                <a:blip r:embed="rId5"/>
                <a:stretch>
                  <a:fillRect r="-3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162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0599-A4A9-7952-2825-75E42BD58CB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F013A20-0F50-B3F3-122B-7564CE1771FF}"/>
              </a:ext>
            </a:extLst>
          </p:cNvPr>
          <p:cNvSpPr>
            <a:spLocks noGrp="1"/>
          </p:cNvSpPr>
          <p:nvPr>
            <p:ph type="title" idx="1"/>
          </p:nvPr>
        </p:nvSpPr>
        <p:spPr/>
        <p:txBody>
          <a:bodyPr/>
          <a:lstStyle/>
          <a:p>
            <a:r>
              <a:rPr lang="zh-CN" altLang="en-US" dirty="0"/>
              <a:t>路径积分  </a:t>
            </a:r>
            <a:r>
              <a:rPr lang="en-US" altLang="zh-CN" dirty="0"/>
              <a:t>——  </a:t>
            </a:r>
            <a:r>
              <a:rPr lang="zh-CN" altLang="en-US" dirty="0"/>
              <a:t>路径空间</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F81C4D98-3CE2-FB15-8EDC-CB625824A516}"/>
                  </a:ext>
                </a:extLst>
              </p:cNvPr>
              <p:cNvSpPr txBox="1"/>
              <p:nvPr/>
            </p:nvSpPr>
            <p:spPr>
              <a:xfrm>
                <a:off x="273141" y="1193009"/>
                <a:ext cx="6626179" cy="2894581"/>
              </a:xfrm>
              <a:prstGeom prst="rect">
                <a:avLst/>
              </a:prstGeom>
              <a:noFill/>
            </p:spPr>
            <p:txBody>
              <a:bodyPr wrap="square">
                <a:spAutoFit/>
              </a:bodyPr>
              <a:lstStyle/>
              <a:p>
                <a:pPr/>
                <a14:m>
                  <m:oMathPara xmlns:m="http://schemas.openxmlformats.org/officeDocument/2006/math">
                    <m:oMath>
                      <m:r>
                        <a:rPr lang="en-US" altLang="zh-CN" sz="1200" b="0" i="1" dirty="0" smtClean="0">
                          <a:latin typeface="Cambria Math" panose="02040503050406030204" pitchFamily="18" charset="0"/>
                        </a:rPr>
                        <m:t>𝐿</m:t>
                      </m:r>
                      <m:d>
                        <m:dPr>
                          <m:ctrlPr>
                            <a:rPr lang="en-US" altLang="zh-CN" sz="1200" b="1" i="1" dirty="0" smtClean="0">
                              <a:latin typeface="Cambria Math" panose="02040503050406030204" pitchFamily="18" charset="0"/>
                            </a:rPr>
                          </m:ctrlPr>
                        </m:dPr>
                        <m:e>
                          <m:sSub>
                            <m:sSubPr>
                              <m:ctrlPr>
                                <a:rPr lang="en-US" altLang="zh-CN" sz="1200" b="1" i="1" dirty="0" smtClean="0">
                                  <a:latin typeface="Cambria Math" panose="02040503050406030204" pitchFamily="18" charset="0"/>
                                </a:rPr>
                              </m:ctrlPr>
                            </m:sSubPr>
                            <m:e>
                              <m:r>
                                <a:rPr lang="en-US" altLang="zh-CN" sz="1200" b="1" i="1" dirty="0" smtClean="0">
                                  <a:latin typeface="Cambria Math" panose="02040503050406030204" pitchFamily="18" charset="0"/>
                                </a:rPr>
                                <m:t>𝒑</m:t>
                              </m:r>
                            </m:e>
                            <m:sub>
                              <m:r>
                                <a:rPr lang="en-US" altLang="zh-CN" sz="1200" b="1" i="1" dirty="0" smtClean="0">
                                  <a:latin typeface="Cambria Math" panose="02040503050406030204" pitchFamily="18" charset="0"/>
                                </a:rPr>
                                <m:t>𝟏</m:t>
                              </m:r>
                            </m:sub>
                          </m:sSub>
                          <m:r>
                            <a:rPr lang="en-US" altLang="zh-CN" sz="1200" b="1" i="1" dirty="0" smtClean="0">
                              <a:latin typeface="Cambria Math" panose="02040503050406030204" pitchFamily="18" charset="0"/>
                            </a:rPr>
                            <m:t>→</m:t>
                          </m:r>
                          <m:sSub>
                            <m:sSubPr>
                              <m:ctrlPr>
                                <a:rPr lang="en-US" altLang="zh-CN" sz="1200" b="1" i="1" dirty="0" smtClean="0">
                                  <a:latin typeface="Cambria Math" panose="02040503050406030204" pitchFamily="18" charset="0"/>
                                </a:rPr>
                              </m:ctrlPr>
                            </m:sSubPr>
                            <m:e>
                              <m:r>
                                <a:rPr lang="en-US" altLang="zh-CN" sz="1200" b="1" i="1" dirty="0" smtClean="0">
                                  <a:latin typeface="Cambria Math" panose="02040503050406030204" pitchFamily="18" charset="0"/>
                                </a:rPr>
                                <m:t>𝒑</m:t>
                              </m:r>
                            </m:e>
                            <m:sub>
                              <m:r>
                                <a:rPr lang="en-US" altLang="zh-CN" sz="1200" b="1" i="1" dirty="0" smtClean="0">
                                  <a:latin typeface="Cambria Math" panose="02040503050406030204" pitchFamily="18" charset="0"/>
                                </a:rPr>
                                <m:t>𝟎</m:t>
                              </m:r>
                            </m:sub>
                          </m:sSub>
                        </m:e>
                      </m:d>
                      <m:r>
                        <a:rPr lang="en-US" altLang="zh-CN" sz="1200" b="1" i="1" smtClean="0">
                          <a:latin typeface="Cambria Math" panose="02040503050406030204" pitchFamily="18" charset="0"/>
                        </a:rPr>
                        <m:t>=</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𝐿</m:t>
                          </m:r>
                        </m:e>
                        <m:sub>
                          <m:r>
                            <a:rPr lang="en-US" altLang="zh-CN" sz="1200" i="1" dirty="0">
                              <a:latin typeface="Cambria Math" panose="02040503050406030204" pitchFamily="18" charset="0"/>
                            </a:rPr>
                            <m:t>𝑒</m:t>
                          </m:r>
                        </m:sub>
                      </m:sSub>
                      <m:d>
                        <m:dPr>
                          <m:ctrlPr>
                            <a:rPr lang="en-US" altLang="zh-CN" sz="1200" b="1" i="1" dirty="0">
                              <a:latin typeface="Cambria Math" panose="02040503050406030204" pitchFamily="18" charset="0"/>
                            </a:rPr>
                          </m:ctrlPr>
                        </m:dPr>
                        <m:e>
                          <m:sSub>
                            <m:sSubPr>
                              <m:ctrlPr>
                                <a:rPr lang="en-US" altLang="zh-CN" sz="1200" b="1" i="1" dirty="0">
                                  <a:latin typeface="Cambria Math" panose="02040503050406030204" pitchFamily="18" charset="0"/>
                                </a:rPr>
                              </m:ctrlPr>
                            </m:sSubPr>
                            <m:e>
                              <m:r>
                                <a:rPr lang="en-US" altLang="zh-CN" sz="1200" b="1" i="1" dirty="0">
                                  <a:latin typeface="Cambria Math" panose="02040503050406030204" pitchFamily="18" charset="0"/>
                                </a:rPr>
                                <m:t>𝒑</m:t>
                              </m:r>
                            </m:e>
                            <m:sub>
                              <m:r>
                                <a:rPr lang="en-US" altLang="zh-CN" sz="1200" b="1" i="1" dirty="0">
                                  <a:latin typeface="Cambria Math" panose="02040503050406030204" pitchFamily="18" charset="0"/>
                                </a:rPr>
                                <m:t>𝟏</m:t>
                              </m:r>
                            </m:sub>
                          </m:sSub>
                          <m:r>
                            <a:rPr lang="en-US" altLang="zh-CN" sz="1200" b="1" i="1" dirty="0">
                              <a:latin typeface="Cambria Math" panose="02040503050406030204" pitchFamily="18" charset="0"/>
                            </a:rPr>
                            <m:t>→</m:t>
                          </m:r>
                          <m:sSub>
                            <m:sSubPr>
                              <m:ctrlPr>
                                <a:rPr lang="en-US" altLang="zh-CN" sz="1200" b="1" i="1" dirty="0">
                                  <a:latin typeface="Cambria Math" panose="02040503050406030204" pitchFamily="18" charset="0"/>
                                </a:rPr>
                              </m:ctrlPr>
                            </m:sSubPr>
                            <m:e>
                              <m:r>
                                <a:rPr lang="en-US" altLang="zh-CN" sz="1200" b="1" i="1" dirty="0">
                                  <a:latin typeface="Cambria Math" panose="02040503050406030204" pitchFamily="18" charset="0"/>
                                </a:rPr>
                                <m:t>𝒑</m:t>
                              </m:r>
                            </m:e>
                            <m:sub>
                              <m:r>
                                <a:rPr lang="en-US" altLang="zh-CN" sz="1200" b="1" i="1" dirty="0">
                                  <a:latin typeface="Cambria Math" panose="02040503050406030204" pitchFamily="18" charset="0"/>
                                </a:rPr>
                                <m:t>𝟎</m:t>
                              </m:r>
                            </m:sub>
                          </m:sSub>
                        </m:e>
                      </m:d>
                    </m:oMath>
                    <m:oMath>
                      <m:r>
                        <a:rPr lang="en-US" altLang="zh-CN" sz="1200" b="1" i="1" dirty="0">
                          <a:latin typeface="Cambria Math" panose="02040503050406030204" pitchFamily="18" charset="0"/>
                        </a:rPr>
                        <m:t>    +</m:t>
                      </m:r>
                      <m:nary>
                        <m:naryPr>
                          <m:supHide m:val="on"/>
                          <m:ctrlPr>
                            <a:rPr lang="en-US" altLang="zh-CN" sz="1200" i="1" dirty="0">
                              <a:latin typeface="Cambria Math" panose="02040503050406030204" pitchFamily="18" charset="0"/>
                            </a:rPr>
                          </m:ctrlPr>
                        </m:naryPr>
                        <m:sub>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𝐴</m:t>
                              </m:r>
                            </m:e>
                            <m:sub>
                              <m:r>
                                <a:rPr lang="en-US" altLang="zh-CN" sz="1200" b="0" i="1" dirty="0" smtClean="0">
                                  <a:latin typeface="Cambria Math" panose="02040503050406030204" pitchFamily="18" charset="0"/>
                                </a:rPr>
                                <m:t>𝐸</m:t>
                              </m:r>
                            </m:sub>
                          </m:sSub>
                        </m:sub>
                        <m:sup/>
                        <m:e>
                          <m:limLow>
                            <m:limLowPr>
                              <m:ctrlPr>
                                <a:rPr lang="en-US" altLang="zh-CN" sz="1200" i="1" dirty="0">
                                  <a:latin typeface="Cambria Math" panose="02040503050406030204" pitchFamily="18" charset="0"/>
                                </a:rPr>
                              </m:ctrlPr>
                            </m:limLowPr>
                            <m:e>
                              <m:groupChr>
                                <m:groupChrPr>
                                  <m:chr m:val="⏟"/>
                                  <m:pos m:val="bot"/>
                                  <m:vertJc m:val="top"/>
                                  <m:ctrlPr>
                                    <a:rPr lang="en-US" altLang="zh-CN" sz="1200" i="1" dirty="0">
                                      <a:latin typeface="Cambria Math" panose="02040503050406030204" pitchFamily="18" charset="0"/>
                                    </a:rPr>
                                  </m:ctrlPr>
                                </m:groupChr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i="1" dirty="0">
                                          <a:latin typeface="Cambria Math" panose="02040503050406030204" pitchFamily="18" charset="0"/>
                                        </a:rPr>
                                        <m:t>1</m:t>
                                      </m:r>
                                    </m:sub>
                                  </m:sSub>
                                  <m:r>
                                    <a:rPr lang="en-US" altLang="zh-CN" sz="1200" i="1" dirty="0">
                                      <a:latin typeface="Cambria Math" panose="02040503050406030204" pitchFamily="18" charset="0"/>
                                    </a:rPr>
                                    <m:t> </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𝐺</m:t>
                                      </m:r>
                                    </m:e>
                                    <m:sub>
                                      <m:r>
                                        <a:rPr lang="en-US" altLang="zh-CN" sz="1200" i="1" dirty="0">
                                          <a:latin typeface="Cambria Math" panose="02040503050406030204" pitchFamily="18" charset="0"/>
                                        </a:rPr>
                                        <m:t>1</m:t>
                                      </m:r>
                                    </m:sub>
                                  </m:sSub>
                                  <m:r>
                                    <a:rPr lang="en-US" altLang="zh-CN" sz="1200" i="1" dirty="0">
                                      <a:latin typeface="Cambria Math" panose="02040503050406030204" pitchFamily="18" charset="0"/>
                                    </a:rPr>
                                    <m:t> </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𝐿</m:t>
                                      </m:r>
                                    </m:e>
                                    <m:sub>
                                      <m:r>
                                        <a:rPr lang="en-US" altLang="zh-CN" sz="1200" i="1" dirty="0">
                                          <a:latin typeface="Cambria Math" panose="02040503050406030204" pitchFamily="18" charset="0"/>
                                        </a:rPr>
                                        <m:t>𝑒</m:t>
                                      </m:r>
                                    </m:sub>
                                  </m:sSub>
                                  <m:d>
                                    <m:dPr>
                                      <m:ctrlPr>
                                        <a:rPr lang="en-US" altLang="zh-CN" sz="1200" b="1" i="1" dirty="0">
                                          <a:latin typeface="Cambria Math" panose="02040503050406030204" pitchFamily="18" charset="0"/>
                                        </a:rPr>
                                      </m:ctrlPr>
                                    </m:dPr>
                                    <m:e>
                                      <m:sSub>
                                        <m:sSubPr>
                                          <m:ctrlPr>
                                            <a:rPr lang="en-US" altLang="zh-CN" sz="1200" b="1" i="1" dirty="0">
                                              <a:latin typeface="Cambria Math" panose="02040503050406030204" pitchFamily="18" charset="0"/>
                                            </a:rPr>
                                          </m:ctrlPr>
                                        </m:sSubPr>
                                        <m:e>
                                          <m:r>
                                            <a:rPr lang="en-US" altLang="zh-CN" sz="1200" b="1" i="1" dirty="0">
                                              <a:latin typeface="Cambria Math" panose="02040503050406030204" pitchFamily="18" charset="0"/>
                                            </a:rPr>
                                            <m:t>𝒑</m:t>
                                          </m:r>
                                        </m:e>
                                        <m:sub>
                                          <m:r>
                                            <a:rPr lang="en-US" altLang="zh-CN" sz="1200" b="1" i="1" dirty="0">
                                              <a:latin typeface="Cambria Math" panose="02040503050406030204" pitchFamily="18" charset="0"/>
                                            </a:rPr>
                                            <m:t>𝟐</m:t>
                                          </m:r>
                                        </m:sub>
                                      </m:sSub>
                                      <m:r>
                                        <a:rPr lang="en-US" altLang="zh-CN" sz="1200" b="1" i="1" dirty="0">
                                          <a:latin typeface="Cambria Math" panose="02040503050406030204" pitchFamily="18" charset="0"/>
                                        </a:rPr>
                                        <m:t>→</m:t>
                                      </m:r>
                                      <m:sSub>
                                        <m:sSubPr>
                                          <m:ctrlPr>
                                            <a:rPr lang="en-US" altLang="zh-CN" sz="1200" b="1" i="1" dirty="0">
                                              <a:latin typeface="Cambria Math" panose="02040503050406030204" pitchFamily="18" charset="0"/>
                                            </a:rPr>
                                          </m:ctrlPr>
                                        </m:sSubPr>
                                        <m:e>
                                          <m:r>
                                            <a:rPr lang="en-US" altLang="zh-CN" sz="1200" b="1" i="1" dirty="0">
                                              <a:latin typeface="Cambria Math" panose="02040503050406030204" pitchFamily="18" charset="0"/>
                                            </a:rPr>
                                            <m:t>𝒑</m:t>
                                          </m:r>
                                        </m:e>
                                        <m:sub>
                                          <m:r>
                                            <a:rPr lang="en-US" altLang="zh-CN" sz="1200" b="1" i="1" dirty="0">
                                              <a:latin typeface="Cambria Math" panose="02040503050406030204" pitchFamily="18" charset="0"/>
                                            </a:rPr>
                                            <m:t>𝟏</m:t>
                                          </m:r>
                                        </m:sub>
                                      </m:sSub>
                                    </m:e>
                                  </m:d>
                                </m:e>
                              </m:groupChr>
                            </m:e>
                            <m:lim>
                              <m:eqArr>
                                <m:eqArrPr>
                                  <m:ctrlPr>
                                    <a:rPr lang="en-US" altLang="zh-CN" sz="1200" b="0" i="1" dirty="0" smtClean="0">
                                      <a:latin typeface="Cambria Math" panose="02040503050406030204" pitchFamily="18" charset="0"/>
                                    </a:rPr>
                                  </m:ctrlPr>
                                </m:eqArrPr>
                                <m:e>
                                  <m:r>
                                    <a:rPr lang="en-US" altLang="zh-CN" sz="1200" b="0" i="1" dirty="0" smtClean="0">
                                      <a:latin typeface="Cambria Math" panose="02040503050406030204" pitchFamily="18" charset="0"/>
                                    </a:rPr>
                                    <m:t> </m:t>
                                  </m:r>
                                </m:e>
                                <m:e>
                                  <m:r>
                                    <a:rPr lang="en-US" altLang="zh-CN" sz="1200" b="0" i="1" dirty="0" smtClean="0">
                                      <a:latin typeface="Cambria Math" panose="02040503050406030204" pitchFamily="18" charset="0"/>
                                    </a:rPr>
                                    <m:t> </m:t>
                                  </m:r>
                                </m:e>
                                <m:e>
                                  <m:r>
                                    <a:rPr lang="en-US" altLang="zh-CN" sz="1200" b="0" i="1" dirty="0" smtClean="0">
                                      <a:latin typeface="Cambria Math" panose="02040503050406030204" pitchFamily="18" charset="0"/>
                                    </a:rPr>
                                    <m:t> </m:t>
                                  </m:r>
                                </m:e>
                                <m:e>
                                  <m:r>
                                    <a:rPr lang="zh-CN" altLang="en-US" sz="1200" i="1" dirty="0">
                                      <a:latin typeface="Cambria Math" panose="02040503050406030204" pitchFamily="18" charset="0"/>
                                    </a:rPr>
                                    <m:t>连接光源</m:t>
                                  </m:r>
                                </m:e>
                              </m:eqArr>
                            </m:lim>
                          </m:limLow>
                          <m:r>
                            <a:rPr lang="en-US" altLang="zh-CN" sz="1200" i="1" dirty="0">
                              <a:solidFill>
                                <a:schemeClr val="accent2">
                                  <a:lumMod val="75000"/>
                                </a:schemeClr>
                              </a:solidFill>
                              <a:latin typeface="Cambria Math" panose="02040503050406030204" pitchFamily="18" charset="0"/>
                            </a:rPr>
                            <m:t> </m:t>
                          </m:r>
                          <m:r>
                            <a:rPr lang="en-US" altLang="zh-CN" sz="1200" i="1" dirty="0">
                              <a:latin typeface="Cambria Math" panose="02040503050406030204" pitchFamily="18" charset="0"/>
                            </a:rPr>
                            <m:t>𝑑𝐴</m:t>
                          </m:r>
                          <m:d>
                            <m:dPr>
                              <m:ctrlPr>
                                <a:rPr lang="en-US" altLang="zh-CN" sz="1200" b="1" i="1" dirty="0">
                                  <a:latin typeface="Cambria Math" panose="02040503050406030204" pitchFamily="18" charset="0"/>
                                </a:rPr>
                              </m:ctrlPr>
                            </m:dPr>
                            <m:e>
                              <m:sSub>
                                <m:sSubPr>
                                  <m:ctrlPr>
                                    <a:rPr lang="en-US" altLang="zh-CN" sz="1200" b="1" i="1" dirty="0">
                                      <a:latin typeface="Cambria Math" panose="02040503050406030204" pitchFamily="18" charset="0"/>
                                    </a:rPr>
                                  </m:ctrlPr>
                                </m:sSubPr>
                                <m:e>
                                  <m:r>
                                    <a:rPr lang="en-US" altLang="zh-CN" sz="1200" b="1" i="1" dirty="0">
                                      <a:latin typeface="Cambria Math" panose="02040503050406030204" pitchFamily="18" charset="0"/>
                                    </a:rPr>
                                    <m:t>𝒑</m:t>
                                  </m:r>
                                </m:e>
                                <m:sub>
                                  <m:r>
                                    <a:rPr lang="en-US" altLang="zh-CN" sz="1200" b="1" i="1" dirty="0">
                                      <a:latin typeface="Cambria Math" panose="02040503050406030204" pitchFamily="18" charset="0"/>
                                    </a:rPr>
                                    <m:t>𝟐</m:t>
                                  </m:r>
                                </m:sub>
                              </m:sSub>
                            </m:e>
                          </m:d>
                        </m:e>
                      </m:nary>
                    </m:oMath>
                    <m:oMath>
                      <m:r>
                        <a:rPr lang="en-US" altLang="zh-CN" sz="1200" b="1" i="1" dirty="0">
                          <a:latin typeface="Cambria Math" panose="02040503050406030204" pitchFamily="18" charset="0"/>
                        </a:rPr>
                        <m:t>    +</m:t>
                      </m:r>
                      <m:nary>
                        <m:naryPr>
                          <m:supHide m:val="on"/>
                          <m:ctrlPr>
                            <a:rPr lang="en-US" altLang="zh-CN" sz="1200" b="0" i="1" dirty="0" smtClean="0">
                              <a:latin typeface="Cambria Math" panose="02040503050406030204" pitchFamily="18" charset="0"/>
                            </a:rPr>
                          </m:ctrlPr>
                        </m:naryPr>
                        <m:sub>
                          <m:sSup>
                            <m:sSupPr>
                              <m:ctrlPr>
                                <a:rPr lang="en-US" altLang="zh-CN" sz="1200" b="0" i="1" dirty="0" smtClean="0">
                                  <a:latin typeface="Cambria Math" panose="02040503050406030204" pitchFamily="18" charset="0"/>
                                </a:rPr>
                              </m:ctrlPr>
                            </m:sSupPr>
                            <m:e>
                              <m:r>
                                <a:rPr lang="en-US" altLang="zh-CN" sz="1200" b="0" i="1" dirty="0" smtClean="0">
                                  <a:latin typeface="Cambria Math" panose="02040503050406030204" pitchFamily="18" charset="0"/>
                                </a:rPr>
                                <m:t>𝑆</m:t>
                              </m:r>
                            </m:e>
                            <m:sup>
                              <m:r>
                                <a:rPr lang="en-US" altLang="zh-CN" sz="1200" b="0" i="1" dirty="0" smtClean="0">
                                  <a:latin typeface="Cambria Math" panose="02040503050406030204" pitchFamily="18" charset="0"/>
                                </a:rPr>
                                <m:t>2</m:t>
                              </m:r>
                            </m:sup>
                          </m:sSup>
                        </m:sub>
                        <m:sup/>
                        <m:e>
                          <m:nary>
                            <m:naryPr>
                              <m:supHide m:val="on"/>
                              <m:ctrlPr>
                                <a:rPr lang="en-US" altLang="zh-CN" sz="1200" i="1" dirty="0">
                                  <a:solidFill>
                                    <a:schemeClr val="accent2">
                                      <a:lumMod val="75000"/>
                                    </a:schemeClr>
                                  </a:solidFill>
                                  <a:latin typeface="Cambria Math" panose="02040503050406030204" pitchFamily="18" charset="0"/>
                                </a:rPr>
                              </m:ctrlPr>
                            </m:naryPr>
                            <m:sub>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𝐴</m:t>
                                  </m:r>
                                </m:e>
                                <m:sub>
                                  <m:r>
                                    <a:rPr lang="en-US" altLang="zh-CN" sz="1200" b="0" i="1" dirty="0" smtClean="0">
                                      <a:solidFill>
                                        <a:schemeClr val="accent2">
                                          <a:lumMod val="75000"/>
                                        </a:schemeClr>
                                      </a:solidFill>
                                      <a:latin typeface="Cambria Math" panose="02040503050406030204" pitchFamily="18" charset="0"/>
                                    </a:rPr>
                                    <m:t>𝐸</m:t>
                                  </m:r>
                                </m:sub>
                              </m:sSub>
                            </m:sub>
                            <m:sup/>
                            <m:e>
                              <m:limLow>
                                <m:limLowPr>
                                  <m:ctrlPr>
                                    <a:rPr lang="en-US" altLang="zh-CN" sz="1200" i="1" dirty="0">
                                      <a:latin typeface="Cambria Math" panose="02040503050406030204" pitchFamily="18" charset="0"/>
                                    </a:rPr>
                                  </m:ctrlPr>
                                </m:limLowPr>
                                <m:e>
                                  <m:groupChr>
                                    <m:groupChrPr>
                                      <m:chr m:val="⏟"/>
                                      <m:pos m:val="bot"/>
                                      <m:vertJc m:val="top"/>
                                      <m:ctrlPr>
                                        <a:rPr lang="en-US" altLang="zh-CN" sz="1200" i="1" dirty="0">
                                          <a:latin typeface="Cambria Math" panose="02040503050406030204" pitchFamily="18" charset="0"/>
                                        </a:rPr>
                                      </m:ctrlPr>
                                    </m:groupChr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i="1" dirty="0">
                                              <a:latin typeface="Cambria Math" panose="02040503050406030204" pitchFamily="18" charset="0"/>
                                            </a:rPr>
                                            <m:t>1</m:t>
                                          </m:r>
                                        </m:sub>
                                      </m:sSub>
                                      <m:r>
                                        <a:rPr lang="en-US" altLang="zh-CN" sz="1200" i="1" dirty="0">
                                          <a:latin typeface="Cambria Math" panose="02040503050406030204" pitchFamily="18" charset="0"/>
                                        </a:rPr>
                                        <m:t> </m:t>
                                      </m:r>
                                      <m:d>
                                        <m:dPr>
                                          <m:begChr m:val="|"/>
                                          <m:endChr m:val="|"/>
                                          <m:ctrlPr>
                                            <a:rPr lang="en-US" altLang="zh-CN" sz="1200" i="1" dirty="0">
                                              <a:latin typeface="Cambria Math" panose="02040503050406030204" pitchFamily="18" charset="0"/>
                                            </a:rPr>
                                          </m:ctrlPr>
                                        </m:dPr>
                                        <m:e>
                                          <m:func>
                                            <m:funcPr>
                                              <m:ctrlPr>
                                                <a:rPr lang="en-US" altLang="zh-CN" sz="1200" dirty="0">
                                                  <a:latin typeface="Cambria Math" panose="02040503050406030204" pitchFamily="18" charset="0"/>
                                                </a:rPr>
                                              </m:ctrlPr>
                                            </m:funcPr>
                                            <m:fName>
                                              <m:r>
                                                <m:rPr>
                                                  <m:sty m:val="p"/>
                                                </m:rPr>
                                                <a:rPr lang="en-US" altLang="zh-CN" sz="1200" dirty="0">
                                                  <a:latin typeface="Cambria Math" panose="02040503050406030204" pitchFamily="18" charset="0"/>
                                                </a:rPr>
                                                <m:t>cos</m:t>
                                              </m:r>
                                            </m:fName>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𝜃</m:t>
                                                  </m:r>
                                                </m:e>
                                                <m:sub>
                                                  <m:r>
                                                    <a:rPr lang="en-US" altLang="zh-CN" sz="1200" i="1" dirty="0">
                                                      <a:latin typeface="Cambria Math" panose="02040503050406030204" pitchFamily="18" charset="0"/>
                                                    </a:rPr>
                                                    <m:t>2</m:t>
                                                  </m:r>
                                                </m:sub>
                                              </m:sSub>
                                            </m:e>
                                          </m:func>
                                        </m:e>
                                      </m:d>
                                    </m:e>
                                  </m:groupChr>
                                </m:e>
                                <m:lim>
                                  <m:eqArr>
                                    <m:eqArrPr>
                                      <m:ctrlPr>
                                        <a:rPr lang="en-US" altLang="zh-CN" sz="1200" b="0" i="1" dirty="0" smtClean="0">
                                          <a:solidFill>
                                            <a:schemeClr val="tx1"/>
                                          </a:solidFill>
                                          <a:latin typeface="Cambria Math" panose="02040503050406030204" pitchFamily="18" charset="0"/>
                                        </a:rPr>
                                      </m:ctrlPr>
                                    </m:eqArrPr>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zh-CN" altLang="en-US" sz="1200" i="1" dirty="0">
                                          <a:latin typeface="Cambria Math" panose="02040503050406030204" pitchFamily="18" charset="0"/>
                                        </a:rPr>
                                        <m:t>一次</m:t>
                                      </m:r>
                                      <m:r>
                                        <a:rPr lang="zh-CN" altLang="en-US" sz="1200" i="1" dirty="0" smtClean="0">
                                          <a:latin typeface="Cambria Math" panose="02040503050406030204" pitchFamily="18" charset="0"/>
                                        </a:rPr>
                                        <m:t>方向散射</m:t>
                                      </m:r>
                                    </m:e>
                                  </m:eqArr>
                                </m:lim>
                              </m:limLow>
                              <m:limLow>
                                <m:limLowPr>
                                  <m:ctrlPr>
                                    <a:rPr lang="en-US" altLang="zh-CN" sz="1200" i="1" dirty="0">
                                      <a:solidFill>
                                        <a:schemeClr val="accent2">
                                          <a:lumMod val="75000"/>
                                        </a:schemeClr>
                                      </a:solidFill>
                                      <a:latin typeface="Cambria Math" panose="02040503050406030204" pitchFamily="18" charset="0"/>
                                    </a:rPr>
                                  </m:ctrlPr>
                                </m:limLowPr>
                                <m:e>
                                  <m:groupChr>
                                    <m:groupChrPr>
                                      <m:chr m:val="⏟"/>
                                      <m:pos m:val="bot"/>
                                      <m:vertJc m:val="top"/>
                                      <m:ctrlPr>
                                        <a:rPr lang="en-US" altLang="zh-CN" sz="1200" i="1" dirty="0">
                                          <a:solidFill>
                                            <a:schemeClr val="accent2">
                                              <a:lumMod val="75000"/>
                                            </a:schemeClr>
                                          </a:solidFill>
                                          <a:latin typeface="Cambria Math" panose="02040503050406030204" pitchFamily="18" charset="0"/>
                                        </a:rPr>
                                      </m:ctrlPr>
                                    </m:groupChrPr>
                                    <m:e>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𝑓</m:t>
                                          </m:r>
                                        </m:e>
                                        <m:sub>
                                          <m:r>
                                            <a:rPr lang="en-US" altLang="zh-CN" sz="1200" i="1" dirty="0">
                                              <a:solidFill>
                                                <a:schemeClr val="accent2">
                                                  <a:lumMod val="75000"/>
                                                </a:schemeClr>
                                              </a:solidFill>
                                              <a:latin typeface="Cambria Math" panose="02040503050406030204" pitchFamily="18" charset="0"/>
                                            </a:rPr>
                                            <m:t>2</m:t>
                                          </m:r>
                                        </m:sub>
                                      </m:sSub>
                                      <m:r>
                                        <a:rPr lang="en-US" altLang="zh-CN" sz="1200" i="1" dirty="0">
                                          <a:solidFill>
                                            <a:schemeClr val="accent2">
                                              <a:lumMod val="75000"/>
                                            </a:schemeClr>
                                          </a:solidFill>
                                          <a:latin typeface="Cambria Math" panose="02040503050406030204" pitchFamily="18" charset="0"/>
                                        </a:rPr>
                                        <m:t> </m:t>
                                      </m:r>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𝐺</m:t>
                                          </m:r>
                                        </m:e>
                                        <m:sub>
                                          <m:r>
                                            <a:rPr lang="en-US" altLang="zh-CN" sz="1200" i="1" dirty="0">
                                              <a:solidFill>
                                                <a:schemeClr val="accent2">
                                                  <a:lumMod val="75000"/>
                                                </a:schemeClr>
                                              </a:solidFill>
                                              <a:latin typeface="Cambria Math" panose="02040503050406030204" pitchFamily="18" charset="0"/>
                                            </a:rPr>
                                            <m:t>2</m:t>
                                          </m:r>
                                        </m:sub>
                                      </m:sSub>
                                      <m:r>
                                        <a:rPr lang="en-US" altLang="zh-CN" sz="1200" i="1" dirty="0">
                                          <a:solidFill>
                                            <a:schemeClr val="accent2">
                                              <a:lumMod val="75000"/>
                                            </a:schemeClr>
                                          </a:solidFill>
                                          <a:latin typeface="Cambria Math" panose="02040503050406030204" pitchFamily="18" charset="0"/>
                                          <a:ea typeface="Cambria Math" panose="02040503050406030204" pitchFamily="18" charset="0"/>
                                        </a:rPr>
                                        <m:t> </m:t>
                                      </m:r>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𝐿</m:t>
                                          </m:r>
                                        </m:e>
                                        <m:sub>
                                          <m:r>
                                            <a:rPr lang="en-US" altLang="zh-CN" sz="1200" i="1" dirty="0">
                                              <a:solidFill>
                                                <a:schemeClr val="accent6">
                                                  <a:lumMod val="50000"/>
                                                </a:schemeClr>
                                              </a:solidFill>
                                              <a:latin typeface="Cambria Math" panose="02040503050406030204" pitchFamily="18" charset="0"/>
                                            </a:rPr>
                                            <m:t>𝑒</m:t>
                                          </m:r>
                                        </m:sub>
                                      </m:sSub>
                                      <m:d>
                                        <m:dPr>
                                          <m:ctrlPr>
                                            <a:rPr lang="en-US" altLang="zh-CN" sz="1200" b="1" i="1" dirty="0">
                                              <a:solidFill>
                                                <a:schemeClr val="accent6">
                                                  <a:lumMod val="50000"/>
                                                </a:schemeClr>
                                              </a:solidFill>
                                              <a:latin typeface="Cambria Math" panose="02040503050406030204" pitchFamily="18" charset="0"/>
                                            </a:rPr>
                                          </m:ctrlPr>
                                        </m:dPr>
                                        <m:e>
                                          <m:sSub>
                                            <m:sSubPr>
                                              <m:ctrlPr>
                                                <a:rPr lang="en-US" altLang="zh-CN" sz="1200" b="1" i="1" dirty="0">
                                                  <a:solidFill>
                                                    <a:schemeClr val="accent6">
                                                      <a:lumMod val="50000"/>
                                                    </a:schemeClr>
                                                  </a:solidFill>
                                                  <a:latin typeface="Cambria Math" panose="02040503050406030204" pitchFamily="18" charset="0"/>
                                                </a:rPr>
                                              </m:ctrlPr>
                                            </m:sSubPr>
                                            <m:e>
                                              <m:r>
                                                <a:rPr lang="en-US" altLang="zh-CN" sz="1200" b="1" i="1" dirty="0">
                                                  <a:solidFill>
                                                    <a:schemeClr val="accent6">
                                                      <a:lumMod val="50000"/>
                                                    </a:schemeClr>
                                                  </a:solidFill>
                                                  <a:latin typeface="Cambria Math" panose="02040503050406030204" pitchFamily="18" charset="0"/>
                                                </a:rPr>
                                                <m:t>𝒑</m:t>
                                              </m:r>
                                            </m:e>
                                            <m:sub>
                                              <m:r>
                                                <a:rPr lang="en-US" altLang="zh-CN" sz="1200" b="1" i="1" dirty="0">
                                                  <a:solidFill>
                                                    <a:schemeClr val="accent6">
                                                      <a:lumMod val="50000"/>
                                                    </a:schemeClr>
                                                  </a:solidFill>
                                                  <a:latin typeface="Cambria Math" panose="02040503050406030204" pitchFamily="18" charset="0"/>
                                                </a:rPr>
                                                <m:t>𝟑</m:t>
                                              </m:r>
                                            </m:sub>
                                          </m:sSub>
                                          <m:r>
                                            <a:rPr lang="en-US" altLang="zh-CN" sz="1200" b="1" i="1" dirty="0">
                                              <a:solidFill>
                                                <a:schemeClr val="accent6">
                                                  <a:lumMod val="50000"/>
                                                </a:schemeClr>
                                              </a:solidFill>
                                              <a:latin typeface="Cambria Math" panose="02040503050406030204" pitchFamily="18" charset="0"/>
                                            </a:rPr>
                                            <m:t>→</m:t>
                                          </m:r>
                                          <m:sSub>
                                            <m:sSubPr>
                                              <m:ctrlPr>
                                                <a:rPr lang="en-US" altLang="zh-CN" sz="1200" b="1" i="1" dirty="0">
                                                  <a:solidFill>
                                                    <a:schemeClr val="accent6">
                                                      <a:lumMod val="50000"/>
                                                    </a:schemeClr>
                                                  </a:solidFill>
                                                  <a:latin typeface="Cambria Math" panose="02040503050406030204" pitchFamily="18" charset="0"/>
                                                </a:rPr>
                                              </m:ctrlPr>
                                            </m:sSubPr>
                                            <m:e>
                                              <m:r>
                                                <a:rPr lang="en-US" altLang="zh-CN" sz="1200" b="1" i="1" dirty="0">
                                                  <a:solidFill>
                                                    <a:schemeClr val="accent6">
                                                      <a:lumMod val="50000"/>
                                                    </a:schemeClr>
                                                  </a:solidFill>
                                                  <a:latin typeface="Cambria Math" panose="02040503050406030204" pitchFamily="18" charset="0"/>
                                                </a:rPr>
                                                <m:t>𝒑</m:t>
                                              </m:r>
                                            </m:e>
                                            <m:sub>
                                              <m:r>
                                                <a:rPr lang="en-US" altLang="zh-CN" sz="1200" b="1" i="1" dirty="0">
                                                  <a:solidFill>
                                                    <a:schemeClr val="accent6">
                                                      <a:lumMod val="50000"/>
                                                    </a:schemeClr>
                                                  </a:solidFill>
                                                  <a:latin typeface="Cambria Math" panose="02040503050406030204" pitchFamily="18" charset="0"/>
                                                </a:rPr>
                                                <m:t>𝟐</m:t>
                                              </m:r>
                                            </m:sub>
                                          </m:sSub>
                                        </m:e>
                                      </m:d>
                                    </m:e>
                                  </m:groupChr>
                                </m:e>
                                <m:lim>
                                  <m:eqArr>
                                    <m:eqArrPr>
                                      <m:ctrlPr>
                                        <a:rPr lang="en-US" altLang="zh-CN" sz="1200" b="0" i="1" dirty="0" smtClean="0">
                                          <a:solidFill>
                                            <a:schemeClr val="tx1"/>
                                          </a:solidFill>
                                          <a:latin typeface="Cambria Math" panose="02040503050406030204" pitchFamily="18" charset="0"/>
                                        </a:rPr>
                                      </m:ctrlPr>
                                    </m:eqArrPr>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zh-CN" altLang="en-US" sz="1200" i="1" dirty="0">
                                          <a:latin typeface="Cambria Math" panose="02040503050406030204" pitchFamily="18" charset="0"/>
                                        </a:rPr>
                                        <m:t>连接光源</m:t>
                                      </m:r>
                                    </m:e>
                                  </m:eqArr>
                                </m:lim>
                              </m:limLow>
                              <m:r>
                                <a:rPr lang="en-US" altLang="zh-CN" sz="1200" i="1" dirty="0">
                                  <a:solidFill>
                                    <a:schemeClr val="accent2">
                                      <a:lumMod val="75000"/>
                                    </a:schemeClr>
                                  </a:solidFill>
                                  <a:latin typeface="Cambria Math" panose="02040503050406030204" pitchFamily="18" charset="0"/>
                                </a:rPr>
                                <m:t>𝑑𝐴</m:t>
                              </m:r>
                              <m:d>
                                <m:dPr>
                                  <m:ctrlPr>
                                    <a:rPr lang="en-US" altLang="zh-CN" sz="1200" b="1" i="1" dirty="0">
                                      <a:solidFill>
                                        <a:schemeClr val="accent2">
                                          <a:lumMod val="75000"/>
                                        </a:schemeClr>
                                      </a:solidFill>
                                      <a:latin typeface="Cambria Math" panose="02040503050406030204" pitchFamily="18" charset="0"/>
                                    </a:rPr>
                                  </m:ctrlPr>
                                </m:dPr>
                                <m:e>
                                  <m:sSub>
                                    <m:sSubPr>
                                      <m:ctrlPr>
                                        <a:rPr lang="en-US" altLang="zh-CN" sz="1200" b="1" i="1" dirty="0">
                                          <a:solidFill>
                                            <a:schemeClr val="accent2">
                                              <a:lumMod val="75000"/>
                                            </a:schemeClr>
                                          </a:solidFill>
                                          <a:latin typeface="Cambria Math" panose="02040503050406030204" pitchFamily="18" charset="0"/>
                                        </a:rPr>
                                      </m:ctrlPr>
                                    </m:sSubPr>
                                    <m:e>
                                      <m:r>
                                        <a:rPr lang="en-US" altLang="zh-CN" sz="1200" b="1" i="1" dirty="0">
                                          <a:solidFill>
                                            <a:schemeClr val="accent2">
                                              <a:lumMod val="75000"/>
                                            </a:schemeClr>
                                          </a:solidFill>
                                          <a:latin typeface="Cambria Math" panose="02040503050406030204" pitchFamily="18" charset="0"/>
                                        </a:rPr>
                                        <m:t>𝒑</m:t>
                                      </m:r>
                                    </m:e>
                                    <m:sub>
                                      <m:r>
                                        <a:rPr lang="en-US" altLang="zh-CN" sz="1200" b="1" i="1" dirty="0">
                                          <a:solidFill>
                                            <a:schemeClr val="accent2">
                                              <a:lumMod val="75000"/>
                                            </a:schemeClr>
                                          </a:solidFill>
                                          <a:latin typeface="Cambria Math" panose="02040503050406030204" pitchFamily="18" charset="0"/>
                                        </a:rPr>
                                        <m:t>𝟑</m:t>
                                      </m:r>
                                    </m:sub>
                                  </m:sSub>
                                </m:e>
                              </m:d>
                            </m:e>
                          </m:nary>
                          <m:r>
                            <a:rPr lang="en-US" altLang="zh-CN" sz="1200" i="1" dirty="0">
                              <a:latin typeface="Cambria Math" panose="02040503050406030204" pitchFamily="18" charset="0"/>
                            </a:rPr>
                            <m:t>𝑑</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𝜔</m:t>
                              </m:r>
                            </m:e>
                            <m:sub>
                              <m:r>
                                <a:rPr lang="en-US" altLang="zh-CN" sz="1200" i="1" dirty="0">
                                  <a:latin typeface="Cambria Math" panose="02040503050406030204" pitchFamily="18" charset="0"/>
                                </a:rPr>
                                <m:t>2</m:t>
                              </m:r>
                            </m:sub>
                          </m:sSub>
                        </m:e>
                      </m:nary>
                    </m:oMath>
                    <m:oMath>
                      <m:r>
                        <a:rPr lang="en-US" altLang="zh-CN" sz="1200" b="1" i="1" dirty="0" smtClean="0">
                          <a:latin typeface="Cambria Math" panose="02040503050406030204" pitchFamily="18" charset="0"/>
                        </a:rPr>
                        <m:t>    +</m:t>
                      </m:r>
                      <m:nary>
                        <m:naryPr>
                          <m:supHide m:val="on"/>
                          <m:ctrlPr>
                            <a:rPr lang="en-US" altLang="zh-CN" sz="1200" b="0" i="1" dirty="0" smtClean="0">
                              <a:latin typeface="Cambria Math" panose="02040503050406030204" pitchFamily="18" charset="0"/>
                            </a:rPr>
                          </m:ctrlPr>
                        </m:naryPr>
                        <m:sub>
                          <m:sSup>
                            <m:sSupPr>
                              <m:ctrlPr>
                                <a:rPr lang="en-US" altLang="zh-CN" sz="1200" b="0" i="1" dirty="0" smtClean="0">
                                  <a:latin typeface="Cambria Math" panose="02040503050406030204" pitchFamily="18" charset="0"/>
                                </a:rPr>
                              </m:ctrlPr>
                            </m:sSupPr>
                            <m:e>
                              <m:r>
                                <a:rPr lang="en-US" altLang="zh-CN" sz="1200" b="0" i="1" dirty="0" smtClean="0">
                                  <a:latin typeface="Cambria Math" panose="02040503050406030204" pitchFamily="18" charset="0"/>
                                </a:rPr>
                                <m:t>𝑆</m:t>
                              </m:r>
                            </m:e>
                            <m:sup>
                              <m:r>
                                <a:rPr lang="en-US" altLang="zh-CN" sz="1200" b="0" i="1" dirty="0" smtClean="0">
                                  <a:latin typeface="Cambria Math" panose="02040503050406030204" pitchFamily="18" charset="0"/>
                                </a:rPr>
                                <m:t>2</m:t>
                              </m:r>
                            </m:sup>
                          </m:sSup>
                        </m:sub>
                        <m:sup/>
                        <m:e>
                          <m:nary>
                            <m:naryPr>
                              <m:supHide m:val="on"/>
                              <m:ctrlPr>
                                <a:rPr lang="en-US" altLang="zh-CN" sz="1200" b="0" i="1" dirty="0" smtClean="0">
                                  <a:solidFill>
                                    <a:schemeClr val="accent2">
                                      <a:lumMod val="75000"/>
                                    </a:schemeClr>
                                  </a:solidFill>
                                  <a:latin typeface="Cambria Math" panose="02040503050406030204" pitchFamily="18" charset="0"/>
                                </a:rPr>
                              </m:ctrlPr>
                            </m:naryPr>
                            <m:sub>
                              <m:sSup>
                                <m:sSupPr>
                                  <m:ctrlPr>
                                    <a:rPr lang="en-US" altLang="zh-CN" sz="1200" b="0" i="1" dirty="0" smtClean="0">
                                      <a:solidFill>
                                        <a:schemeClr val="accent2">
                                          <a:lumMod val="75000"/>
                                        </a:schemeClr>
                                      </a:solidFill>
                                      <a:latin typeface="Cambria Math" panose="02040503050406030204" pitchFamily="18" charset="0"/>
                                    </a:rPr>
                                  </m:ctrlPr>
                                </m:sSupPr>
                                <m:e>
                                  <m:r>
                                    <a:rPr lang="en-US" altLang="zh-CN" sz="1200" b="0" i="1" dirty="0" smtClean="0">
                                      <a:solidFill>
                                        <a:schemeClr val="accent2">
                                          <a:lumMod val="75000"/>
                                        </a:schemeClr>
                                      </a:solidFill>
                                      <a:latin typeface="Cambria Math" panose="02040503050406030204" pitchFamily="18" charset="0"/>
                                    </a:rPr>
                                    <m:t>𝑆</m:t>
                                  </m:r>
                                </m:e>
                                <m:sup>
                                  <m:r>
                                    <a:rPr lang="en-US" altLang="zh-CN" sz="1200" b="0" i="1" dirty="0" smtClean="0">
                                      <a:solidFill>
                                        <a:schemeClr val="accent2">
                                          <a:lumMod val="75000"/>
                                        </a:schemeClr>
                                      </a:solidFill>
                                      <a:latin typeface="Cambria Math" panose="02040503050406030204" pitchFamily="18" charset="0"/>
                                    </a:rPr>
                                    <m:t>2</m:t>
                                  </m:r>
                                </m:sup>
                              </m:sSup>
                            </m:sub>
                            <m:sup/>
                            <m:e>
                              <m:nary>
                                <m:naryPr>
                                  <m:supHide m:val="on"/>
                                  <m:ctrlPr>
                                    <a:rPr lang="en-US" altLang="zh-CN" sz="1200" i="1" dirty="0">
                                      <a:solidFill>
                                        <a:schemeClr val="accent6">
                                          <a:lumMod val="50000"/>
                                        </a:schemeClr>
                                      </a:solidFill>
                                      <a:latin typeface="Cambria Math" panose="02040503050406030204" pitchFamily="18" charset="0"/>
                                    </a:rPr>
                                  </m:ctrlPr>
                                </m:naryPr>
                                <m:sub>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𝐴</m:t>
                                      </m:r>
                                    </m:e>
                                    <m:sub>
                                      <m:r>
                                        <a:rPr lang="en-US" altLang="zh-CN" sz="1200" b="0" i="1" dirty="0" smtClean="0">
                                          <a:solidFill>
                                            <a:schemeClr val="accent6">
                                              <a:lumMod val="50000"/>
                                            </a:schemeClr>
                                          </a:solidFill>
                                          <a:latin typeface="Cambria Math" panose="02040503050406030204" pitchFamily="18" charset="0"/>
                                        </a:rPr>
                                        <m:t>𝐸</m:t>
                                      </m:r>
                                    </m:sub>
                                  </m:sSub>
                                </m:sub>
                                <m:sup/>
                                <m:e>
                                  <m:limLow>
                                    <m:limLowPr>
                                      <m:ctrlPr>
                                        <a:rPr lang="en-US" altLang="zh-CN" sz="1200" i="1" dirty="0">
                                          <a:latin typeface="Cambria Math" panose="02040503050406030204" pitchFamily="18" charset="0"/>
                                        </a:rPr>
                                      </m:ctrlPr>
                                    </m:limLowPr>
                                    <m:e>
                                      <m:groupChr>
                                        <m:groupChrPr>
                                          <m:chr m:val="⏟"/>
                                          <m:pos m:val="bot"/>
                                          <m:vertJc m:val="top"/>
                                          <m:ctrlPr>
                                            <a:rPr lang="en-US" altLang="zh-CN" sz="1200" i="1" dirty="0">
                                              <a:latin typeface="Cambria Math" panose="02040503050406030204" pitchFamily="18" charset="0"/>
                                            </a:rPr>
                                          </m:ctrlPr>
                                        </m:groupChr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i="1" dirty="0">
                                                  <a:latin typeface="Cambria Math" panose="02040503050406030204" pitchFamily="18" charset="0"/>
                                                </a:rPr>
                                                <m:t>1</m:t>
                                              </m:r>
                                            </m:sub>
                                          </m:sSub>
                                          <m:r>
                                            <a:rPr lang="en-US" altLang="zh-CN" sz="1200" i="1" dirty="0">
                                              <a:latin typeface="Cambria Math" panose="02040503050406030204" pitchFamily="18" charset="0"/>
                                            </a:rPr>
                                            <m:t> </m:t>
                                          </m:r>
                                          <m:d>
                                            <m:dPr>
                                              <m:begChr m:val="|"/>
                                              <m:endChr m:val="|"/>
                                              <m:ctrlPr>
                                                <a:rPr lang="en-US" altLang="zh-CN" sz="1200" i="1" dirty="0">
                                                  <a:latin typeface="Cambria Math" panose="02040503050406030204" pitchFamily="18" charset="0"/>
                                                </a:rPr>
                                              </m:ctrlPr>
                                            </m:dPr>
                                            <m:e>
                                              <m:func>
                                                <m:funcPr>
                                                  <m:ctrlPr>
                                                    <a:rPr lang="en-US" altLang="zh-CN" sz="1200" dirty="0">
                                                      <a:latin typeface="Cambria Math" panose="02040503050406030204" pitchFamily="18" charset="0"/>
                                                    </a:rPr>
                                                  </m:ctrlPr>
                                                </m:funcPr>
                                                <m:fName>
                                                  <m:r>
                                                    <m:rPr>
                                                      <m:sty m:val="p"/>
                                                    </m:rPr>
                                                    <a:rPr lang="en-US" altLang="zh-CN" sz="1200" dirty="0">
                                                      <a:latin typeface="Cambria Math" panose="02040503050406030204" pitchFamily="18" charset="0"/>
                                                    </a:rPr>
                                                    <m:t>cos</m:t>
                                                  </m:r>
                                                </m:fName>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𝜃</m:t>
                                                      </m:r>
                                                    </m:e>
                                                    <m:sub>
                                                      <m:r>
                                                        <a:rPr lang="en-US" altLang="zh-CN" sz="1200" i="1" dirty="0">
                                                          <a:latin typeface="Cambria Math" panose="02040503050406030204" pitchFamily="18" charset="0"/>
                                                        </a:rPr>
                                                        <m:t>2</m:t>
                                                      </m:r>
                                                    </m:sub>
                                                  </m:sSub>
                                                </m:e>
                                              </m:func>
                                            </m:e>
                                          </m:d>
                                          <m:r>
                                            <a:rPr lang="en-US" altLang="zh-CN" sz="1200" i="1" dirty="0">
                                              <a:latin typeface="Cambria Math" panose="02040503050406030204" pitchFamily="18" charset="0"/>
                                            </a:rPr>
                                            <m:t> </m:t>
                                          </m:r>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𝑓</m:t>
                                              </m:r>
                                            </m:e>
                                            <m:sub>
                                              <m:r>
                                                <a:rPr lang="en-US" altLang="zh-CN" sz="1200" i="1" dirty="0">
                                                  <a:solidFill>
                                                    <a:schemeClr val="accent2">
                                                      <a:lumMod val="75000"/>
                                                    </a:schemeClr>
                                                  </a:solidFill>
                                                  <a:latin typeface="Cambria Math" panose="02040503050406030204" pitchFamily="18" charset="0"/>
                                                </a:rPr>
                                                <m:t>2</m:t>
                                              </m:r>
                                            </m:sub>
                                          </m:sSub>
                                          <m:r>
                                            <a:rPr lang="en-US" altLang="zh-CN" sz="1200" i="1" dirty="0">
                                              <a:solidFill>
                                                <a:schemeClr val="accent2">
                                                  <a:lumMod val="75000"/>
                                                </a:schemeClr>
                                              </a:solidFill>
                                              <a:latin typeface="Cambria Math" panose="02040503050406030204" pitchFamily="18" charset="0"/>
                                            </a:rPr>
                                            <m:t> </m:t>
                                          </m:r>
                                          <m:d>
                                            <m:dPr>
                                              <m:begChr m:val="|"/>
                                              <m:endChr m:val="|"/>
                                              <m:ctrlPr>
                                                <a:rPr lang="en-US" altLang="zh-CN" sz="1200" i="1" dirty="0">
                                                  <a:solidFill>
                                                    <a:schemeClr val="accent2">
                                                      <a:lumMod val="75000"/>
                                                    </a:schemeClr>
                                                  </a:solidFill>
                                                  <a:latin typeface="Cambria Math" panose="02040503050406030204" pitchFamily="18" charset="0"/>
                                                </a:rPr>
                                              </m:ctrlPr>
                                            </m:dPr>
                                            <m:e>
                                              <m:func>
                                                <m:funcPr>
                                                  <m:ctrlPr>
                                                    <a:rPr lang="en-US" altLang="zh-CN" sz="1200" dirty="0">
                                                      <a:solidFill>
                                                        <a:schemeClr val="accent2">
                                                          <a:lumMod val="75000"/>
                                                        </a:schemeClr>
                                                      </a:solidFill>
                                                      <a:latin typeface="Cambria Math" panose="02040503050406030204" pitchFamily="18" charset="0"/>
                                                    </a:rPr>
                                                  </m:ctrlPr>
                                                </m:funcPr>
                                                <m:fName>
                                                  <m:r>
                                                    <m:rPr>
                                                      <m:sty m:val="p"/>
                                                    </m:rPr>
                                                    <a:rPr lang="en-US" altLang="zh-CN" sz="1200" dirty="0">
                                                      <a:solidFill>
                                                        <a:schemeClr val="accent2">
                                                          <a:lumMod val="75000"/>
                                                        </a:schemeClr>
                                                      </a:solidFill>
                                                      <a:latin typeface="Cambria Math" panose="02040503050406030204" pitchFamily="18" charset="0"/>
                                                    </a:rPr>
                                                    <m:t>cos</m:t>
                                                  </m:r>
                                                </m:fName>
                                                <m:e>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𝜃</m:t>
                                                      </m:r>
                                                    </m:e>
                                                    <m:sub>
                                                      <m:r>
                                                        <a:rPr lang="en-US" altLang="zh-CN" sz="1200" i="1" dirty="0">
                                                          <a:solidFill>
                                                            <a:schemeClr val="accent2">
                                                              <a:lumMod val="75000"/>
                                                            </a:schemeClr>
                                                          </a:solidFill>
                                                          <a:latin typeface="Cambria Math" panose="02040503050406030204" pitchFamily="18" charset="0"/>
                                                        </a:rPr>
                                                        <m:t>3</m:t>
                                                      </m:r>
                                                    </m:sub>
                                                  </m:sSub>
                                                </m:e>
                                              </m:func>
                                            </m:e>
                                          </m:d>
                                        </m:e>
                                      </m:groupChr>
                                    </m:e>
                                    <m:lim>
                                      <m:eqArr>
                                        <m:eqArrPr>
                                          <m:ctrlPr>
                                            <a:rPr lang="en-US" altLang="zh-CN" sz="1200" b="0" i="1" dirty="0" smtClean="0">
                                              <a:latin typeface="Cambria Math" panose="02040503050406030204" pitchFamily="18" charset="0"/>
                                            </a:rPr>
                                          </m:ctrlPr>
                                        </m:eqArrPr>
                                        <m:e>
                                          <m:r>
                                            <a:rPr lang="en-US" altLang="zh-CN" sz="1200" b="0" i="1" dirty="0" smtClean="0">
                                              <a:latin typeface="Cambria Math" panose="02040503050406030204" pitchFamily="18" charset="0"/>
                                            </a:rPr>
                                            <m:t> </m:t>
                                          </m:r>
                                        </m:e>
                                        <m:e>
                                          <m:r>
                                            <a:rPr lang="en-US" altLang="zh-CN" sz="1200" b="0" i="1" dirty="0" smtClean="0">
                                              <a:latin typeface="Cambria Math" panose="02040503050406030204" pitchFamily="18" charset="0"/>
                                            </a:rPr>
                                            <m:t> </m:t>
                                          </m:r>
                                        </m:e>
                                        <m:e>
                                          <m:r>
                                            <a:rPr lang="en-US" altLang="zh-CN" sz="1200" b="0" i="1" dirty="0" smtClean="0">
                                              <a:latin typeface="Cambria Math" panose="02040503050406030204" pitchFamily="18" charset="0"/>
                                            </a:rPr>
                                            <m:t> </m:t>
                                          </m:r>
                                        </m:e>
                                        <m:e>
                                          <m:r>
                                            <a:rPr lang="zh-CN" altLang="en-US" sz="1200" i="1" dirty="0">
                                              <a:latin typeface="Cambria Math" panose="02040503050406030204" pitchFamily="18" charset="0"/>
                                            </a:rPr>
                                            <m:t>两次方向散射</m:t>
                                          </m:r>
                                        </m:e>
                                      </m:eqArr>
                                    </m:lim>
                                  </m:limLow>
                                  <m:limLow>
                                    <m:limLowPr>
                                      <m:ctrlPr>
                                        <a:rPr lang="en-US" altLang="zh-CN" sz="1200" i="1" dirty="0">
                                          <a:solidFill>
                                            <a:schemeClr val="accent6">
                                              <a:lumMod val="50000"/>
                                            </a:schemeClr>
                                          </a:solidFill>
                                          <a:latin typeface="Cambria Math" panose="02040503050406030204" pitchFamily="18" charset="0"/>
                                        </a:rPr>
                                      </m:ctrlPr>
                                    </m:limLowPr>
                                    <m:e>
                                      <m:groupChr>
                                        <m:groupChrPr>
                                          <m:chr m:val="⏟"/>
                                          <m:pos m:val="bot"/>
                                          <m:vertJc m:val="top"/>
                                          <m:ctrlPr>
                                            <a:rPr lang="en-US" altLang="zh-CN" sz="1200" i="1" dirty="0">
                                              <a:solidFill>
                                                <a:schemeClr val="accent6">
                                                  <a:lumMod val="50000"/>
                                                </a:schemeClr>
                                              </a:solidFill>
                                              <a:latin typeface="Cambria Math" panose="02040503050406030204" pitchFamily="18" charset="0"/>
                                            </a:rPr>
                                          </m:ctrlPr>
                                        </m:groupChrPr>
                                        <m:e>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𝑓</m:t>
                                              </m:r>
                                            </m:e>
                                            <m:sub>
                                              <m:r>
                                                <a:rPr lang="en-US" altLang="zh-CN" sz="1200" i="1" dirty="0">
                                                  <a:solidFill>
                                                    <a:schemeClr val="accent6">
                                                      <a:lumMod val="50000"/>
                                                    </a:schemeClr>
                                                  </a:solidFill>
                                                  <a:latin typeface="Cambria Math" panose="02040503050406030204" pitchFamily="18" charset="0"/>
                                                </a:rPr>
                                                <m:t>3</m:t>
                                              </m:r>
                                            </m:sub>
                                          </m:sSub>
                                          <m:r>
                                            <a:rPr lang="en-US" altLang="zh-CN" sz="1200" i="1" dirty="0">
                                              <a:solidFill>
                                                <a:schemeClr val="accent6">
                                                  <a:lumMod val="50000"/>
                                                </a:schemeClr>
                                              </a:solidFill>
                                              <a:latin typeface="Cambria Math" panose="02040503050406030204" pitchFamily="18" charset="0"/>
                                            </a:rPr>
                                            <m:t> </m:t>
                                          </m:r>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𝐺</m:t>
                                              </m:r>
                                            </m:e>
                                            <m:sub>
                                              <m:r>
                                                <a:rPr lang="en-US" altLang="zh-CN" sz="1200" i="1" dirty="0">
                                                  <a:solidFill>
                                                    <a:schemeClr val="accent6">
                                                      <a:lumMod val="50000"/>
                                                    </a:schemeClr>
                                                  </a:solidFill>
                                                  <a:latin typeface="Cambria Math" panose="02040503050406030204" pitchFamily="18" charset="0"/>
                                                </a:rPr>
                                                <m:t>3</m:t>
                                              </m:r>
                                            </m:sub>
                                          </m:sSub>
                                          <m:r>
                                            <a:rPr lang="en-US" altLang="zh-CN" sz="1200" b="1" i="1" dirty="0">
                                              <a:solidFill>
                                                <a:schemeClr val="accent6">
                                                  <a:lumMod val="50000"/>
                                                </a:schemeClr>
                                              </a:solidFill>
                                              <a:latin typeface="Cambria Math" panose="02040503050406030204" pitchFamily="18" charset="0"/>
                                            </a:rPr>
                                            <m:t> </m:t>
                                          </m:r>
                                          <m:sSub>
                                            <m:sSubPr>
                                              <m:ctrlPr>
                                                <a:rPr lang="en-US" altLang="zh-CN" sz="1200" i="1" dirty="0">
                                                  <a:solidFill>
                                                    <a:srgbClr val="7030A0"/>
                                                  </a:solidFill>
                                                  <a:latin typeface="Cambria Math" panose="02040503050406030204" pitchFamily="18" charset="0"/>
                                                </a:rPr>
                                              </m:ctrlPr>
                                            </m:sSubPr>
                                            <m:e>
                                              <m:r>
                                                <a:rPr lang="en-US" altLang="zh-CN" sz="1200" i="1" dirty="0">
                                                  <a:solidFill>
                                                    <a:srgbClr val="7030A0"/>
                                                  </a:solidFill>
                                                  <a:latin typeface="Cambria Math" panose="02040503050406030204" pitchFamily="18" charset="0"/>
                                                </a:rPr>
                                                <m:t>𝐿</m:t>
                                              </m:r>
                                            </m:e>
                                            <m:sub>
                                              <m:r>
                                                <a:rPr lang="en-US" altLang="zh-CN" sz="1200" b="1" i="1" dirty="0">
                                                  <a:solidFill>
                                                    <a:srgbClr val="7030A0"/>
                                                  </a:solidFill>
                                                  <a:latin typeface="Cambria Math" panose="02040503050406030204" pitchFamily="18" charset="0"/>
                                                </a:rPr>
                                                <m:t>𝒆</m:t>
                                              </m:r>
                                            </m:sub>
                                          </m:sSub>
                                          <m:d>
                                            <m:dPr>
                                              <m:ctrlPr>
                                                <a:rPr lang="en-US" altLang="zh-CN" sz="1200" b="1" i="1" dirty="0">
                                                  <a:solidFill>
                                                    <a:srgbClr val="7030A0"/>
                                                  </a:solidFill>
                                                  <a:latin typeface="Cambria Math" panose="02040503050406030204" pitchFamily="18" charset="0"/>
                                                </a:rPr>
                                              </m:ctrlPr>
                                            </m:dPr>
                                            <m:e>
                                              <m:sSub>
                                                <m:sSubPr>
                                                  <m:ctrlPr>
                                                    <a:rPr lang="en-US" altLang="zh-CN" sz="1200" b="1" i="1" dirty="0">
                                                      <a:solidFill>
                                                        <a:srgbClr val="7030A0"/>
                                                      </a:solidFill>
                                                      <a:latin typeface="Cambria Math" panose="02040503050406030204" pitchFamily="18" charset="0"/>
                                                    </a:rPr>
                                                  </m:ctrlPr>
                                                </m:sSubPr>
                                                <m:e>
                                                  <m:r>
                                                    <a:rPr lang="en-US" altLang="zh-CN" sz="1200" b="1" i="1" dirty="0">
                                                      <a:solidFill>
                                                        <a:srgbClr val="7030A0"/>
                                                      </a:solidFill>
                                                      <a:latin typeface="Cambria Math" panose="02040503050406030204" pitchFamily="18" charset="0"/>
                                                    </a:rPr>
                                                    <m:t>𝒑</m:t>
                                                  </m:r>
                                                </m:e>
                                                <m:sub>
                                                  <m:r>
                                                    <a:rPr lang="en-US" altLang="zh-CN" sz="1200" b="1" i="1" dirty="0">
                                                      <a:solidFill>
                                                        <a:srgbClr val="7030A0"/>
                                                      </a:solidFill>
                                                      <a:latin typeface="Cambria Math" panose="02040503050406030204" pitchFamily="18" charset="0"/>
                                                    </a:rPr>
                                                    <m:t>𝟒</m:t>
                                                  </m:r>
                                                </m:sub>
                                              </m:sSub>
                                              <m:r>
                                                <a:rPr lang="en-US" altLang="zh-CN" sz="1200" b="1" i="1" dirty="0">
                                                  <a:solidFill>
                                                    <a:srgbClr val="7030A0"/>
                                                  </a:solidFill>
                                                  <a:latin typeface="Cambria Math" panose="02040503050406030204" pitchFamily="18" charset="0"/>
                                                </a:rPr>
                                                <m:t>→</m:t>
                                              </m:r>
                                              <m:sSub>
                                                <m:sSubPr>
                                                  <m:ctrlPr>
                                                    <a:rPr lang="en-US" altLang="zh-CN" sz="1200" b="1" i="1" dirty="0">
                                                      <a:solidFill>
                                                        <a:srgbClr val="7030A0"/>
                                                      </a:solidFill>
                                                      <a:latin typeface="Cambria Math" panose="02040503050406030204" pitchFamily="18" charset="0"/>
                                                    </a:rPr>
                                                  </m:ctrlPr>
                                                </m:sSubPr>
                                                <m:e>
                                                  <m:r>
                                                    <a:rPr lang="en-US" altLang="zh-CN" sz="1200" b="1" i="1" dirty="0">
                                                      <a:solidFill>
                                                        <a:srgbClr val="7030A0"/>
                                                      </a:solidFill>
                                                      <a:latin typeface="Cambria Math" panose="02040503050406030204" pitchFamily="18" charset="0"/>
                                                    </a:rPr>
                                                    <m:t>𝒑</m:t>
                                                  </m:r>
                                                </m:e>
                                                <m:sub>
                                                  <m:r>
                                                    <a:rPr lang="en-US" altLang="zh-CN" sz="1200" b="1" i="1" dirty="0">
                                                      <a:solidFill>
                                                        <a:srgbClr val="7030A0"/>
                                                      </a:solidFill>
                                                      <a:latin typeface="Cambria Math" panose="02040503050406030204" pitchFamily="18" charset="0"/>
                                                    </a:rPr>
                                                    <m:t>𝟑</m:t>
                                                  </m:r>
                                                </m:sub>
                                              </m:sSub>
                                            </m:e>
                                          </m:d>
                                        </m:e>
                                      </m:groupChr>
                                    </m:e>
                                    <m:lim>
                                      <m:eqArr>
                                        <m:eqArrPr>
                                          <m:ctrlPr>
                                            <a:rPr lang="en-US" altLang="zh-CN" sz="1200" b="0" i="1" dirty="0" smtClean="0">
                                              <a:solidFill>
                                                <a:schemeClr val="tx1"/>
                                              </a:solidFill>
                                              <a:latin typeface="Cambria Math" panose="02040503050406030204" pitchFamily="18" charset="0"/>
                                            </a:rPr>
                                          </m:ctrlPr>
                                        </m:eqArrPr>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zh-CN" altLang="en-US" sz="1200" i="1" dirty="0">
                                              <a:latin typeface="Cambria Math" panose="02040503050406030204" pitchFamily="18" charset="0"/>
                                            </a:rPr>
                                            <m:t>连接光源</m:t>
                                          </m:r>
                                        </m:e>
                                      </m:eqArr>
                                    </m:lim>
                                  </m:limLow>
                                  <m:r>
                                    <a:rPr lang="en-US" altLang="zh-CN" sz="1200" i="1" dirty="0">
                                      <a:solidFill>
                                        <a:schemeClr val="accent6">
                                          <a:lumMod val="50000"/>
                                        </a:schemeClr>
                                      </a:solidFill>
                                      <a:latin typeface="Cambria Math" panose="02040503050406030204" pitchFamily="18" charset="0"/>
                                    </a:rPr>
                                    <m:t>𝑑𝐴</m:t>
                                  </m:r>
                                  <m:d>
                                    <m:dPr>
                                      <m:ctrlPr>
                                        <a:rPr lang="en-US" altLang="zh-CN" sz="1200" b="1" i="1" dirty="0">
                                          <a:solidFill>
                                            <a:schemeClr val="accent6">
                                              <a:lumMod val="50000"/>
                                            </a:schemeClr>
                                          </a:solidFill>
                                          <a:latin typeface="Cambria Math" panose="02040503050406030204" pitchFamily="18" charset="0"/>
                                        </a:rPr>
                                      </m:ctrlPr>
                                    </m:dPr>
                                    <m:e>
                                      <m:sSub>
                                        <m:sSubPr>
                                          <m:ctrlPr>
                                            <a:rPr lang="en-US" altLang="zh-CN" sz="1200" b="1" i="1" dirty="0">
                                              <a:solidFill>
                                                <a:schemeClr val="accent6">
                                                  <a:lumMod val="50000"/>
                                                </a:schemeClr>
                                              </a:solidFill>
                                              <a:latin typeface="Cambria Math" panose="02040503050406030204" pitchFamily="18" charset="0"/>
                                            </a:rPr>
                                          </m:ctrlPr>
                                        </m:sSubPr>
                                        <m:e>
                                          <m:r>
                                            <a:rPr lang="en-US" altLang="zh-CN" sz="1200" b="1" i="1" dirty="0">
                                              <a:solidFill>
                                                <a:schemeClr val="accent6">
                                                  <a:lumMod val="50000"/>
                                                </a:schemeClr>
                                              </a:solidFill>
                                              <a:latin typeface="Cambria Math" panose="02040503050406030204" pitchFamily="18" charset="0"/>
                                            </a:rPr>
                                            <m:t>𝒑</m:t>
                                          </m:r>
                                        </m:e>
                                        <m:sub>
                                          <m:r>
                                            <a:rPr lang="en-US" altLang="zh-CN" sz="1200" b="1" i="1" dirty="0">
                                              <a:solidFill>
                                                <a:schemeClr val="accent6">
                                                  <a:lumMod val="50000"/>
                                                </a:schemeClr>
                                              </a:solidFill>
                                              <a:latin typeface="Cambria Math" panose="02040503050406030204" pitchFamily="18" charset="0"/>
                                            </a:rPr>
                                            <m:t>𝟒</m:t>
                                          </m:r>
                                        </m:sub>
                                      </m:sSub>
                                    </m:e>
                                  </m:d>
                                </m:e>
                              </m:nary>
                              <m:r>
                                <a:rPr lang="en-US" altLang="zh-CN" sz="1200" i="1" dirty="0">
                                  <a:solidFill>
                                    <a:schemeClr val="accent2">
                                      <a:lumMod val="75000"/>
                                    </a:schemeClr>
                                  </a:solidFill>
                                  <a:latin typeface="Cambria Math" panose="02040503050406030204" pitchFamily="18" charset="0"/>
                                </a:rPr>
                                <m:t>𝑑</m:t>
                              </m:r>
                              <m:sSub>
                                <m:sSubPr>
                                  <m:ctrlPr>
                                    <a:rPr lang="en-US" altLang="zh-CN" sz="1200" b="0" i="1" dirty="0" smtClean="0">
                                      <a:solidFill>
                                        <a:schemeClr val="accent2">
                                          <a:lumMod val="75000"/>
                                        </a:schemeClr>
                                      </a:solidFill>
                                      <a:latin typeface="Cambria Math" panose="02040503050406030204" pitchFamily="18" charset="0"/>
                                    </a:rPr>
                                  </m:ctrlPr>
                                </m:sSubPr>
                                <m:e>
                                  <m:r>
                                    <a:rPr lang="en-US" altLang="zh-CN" sz="1200" b="0" i="1" dirty="0" smtClean="0">
                                      <a:solidFill>
                                        <a:schemeClr val="accent2">
                                          <a:lumMod val="75000"/>
                                        </a:schemeClr>
                                      </a:solidFill>
                                      <a:latin typeface="Cambria Math" panose="02040503050406030204" pitchFamily="18" charset="0"/>
                                    </a:rPr>
                                    <m:t>𝜔</m:t>
                                  </m:r>
                                </m:e>
                                <m:sub>
                                  <m:r>
                                    <a:rPr lang="en-US" altLang="zh-CN" sz="1200" b="0" i="1" dirty="0" smtClean="0">
                                      <a:solidFill>
                                        <a:schemeClr val="accent2">
                                          <a:lumMod val="75000"/>
                                        </a:schemeClr>
                                      </a:solidFill>
                                      <a:latin typeface="Cambria Math" panose="02040503050406030204" pitchFamily="18" charset="0"/>
                                    </a:rPr>
                                    <m:t>3</m:t>
                                  </m:r>
                                </m:sub>
                              </m:sSub>
                            </m:e>
                          </m:nary>
                          <m:r>
                            <a:rPr lang="en-US" altLang="zh-CN" sz="1200" i="1" dirty="0">
                              <a:latin typeface="Cambria Math" panose="02040503050406030204" pitchFamily="18" charset="0"/>
                            </a:rPr>
                            <m:t>𝑑</m:t>
                          </m:r>
                          <m:sSub>
                            <m:sSubPr>
                              <m:ctrlPr>
                                <a:rPr lang="en-US" altLang="zh-CN" sz="1200" b="0" i="1" dirty="0" smtClean="0">
                                  <a:latin typeface="Cambria Math" panose="02040503050406030204" pitchFamily="18" charset="0"/>
                                </a:rPr>
                              </m:ctrlPr>
                            </m:sSubPr>
                            <m:e>
                              <m:r>
                                <a:rPr lang="en-US" altLang="zh-CN" sz="1200" b="0" i="1" dirty="0" smtClean="0">
                                  <a:latin typeface="Cambria Math" panose="02040503050406030204" pitchFamily="18" charset="0"/>
                                </a:rPr>
                                <m:t>𝜔</m:t>
                              </m:r>
                            </m:e>
                            <m:sub>
                              <m:r>
                                <a:rPr lang="en-US" altLang="zh-CN" sz="1200" b="0" i="1" dirty="0" smtClean="0">
                                  <a:latin typeface="Cambria Math" panose="02040503050406030204" pitchFamily="18" charset="0"/>
                                </a:rPr>
                                <m:t>2</m:t>
                              </m:r>
                            </m:sub>
                          </m:sSub>
                        </m:e>
                      </m:nary>
                    </m:oMath>
                    <m:oMath>
                      <m:r>
                        <a:rPr lang="en-US" altLang="zh-CN" sz="1200" b="1" i="1" smtClean="0">
                          <a:latin typeface="Cambria Math" panose="02040503050406030204" pitchFamily="18" charset="0"/>
                        </a:rPr>
                        <m:t>    +</m:t>
                      </m:r>
                      <m:nary>
                        <m:naryPr>
                          <m:supHide m:val="on"/>
                          <m:ctrlPr>
                            <a:rPr lang="en-US" altLang="zh-CN" sz="1200" i="1" dirty="0">
                              <a:latin typeface="Cambria Math" panose="02040503050406030204" pitchFamily="18" charset="0"/>
                            </a:rPr>
                          </m:ctrlPr>
                        </m:naryPr>
                        <m:sub>
                          <m:sSup>
                            <m:sSupPr>
                              <m:ctrlPr>
                                <a:rPr lang="en-US" altLang="zh-CN" sz="1200" i="1" dirty="0">
                                  <a:latin typeface="Cambria Math" panose="02040503050406030204" pitchFamily="18" charset="0"/>
                                </a:rPr>
                              </m:ctrlPr>
                            </m:sSupPr>
                            <m:e>
                              <m:r>
                                <a:rPr lang="en-US" altLang="zh-CN" sz="1200" i="1" dirty="0">
                                  <a:latin typeface="Cambria Math" panose="02040503050406030204" pitchFamily="18" charset="0"/>
                                </a:rPr>
                                <m:t>𝑆</m:t>
                              </m:r>
                            </m:e>
                            <m:sup>
                              <m:r>
                                <a:rPr lang="en-US" altLang="zh-CN" sz="1200" i="1" dirty="0">
                                  <a:latin typeface="Cambria Math" panose="02040503050406030204" pitchFamily="18" charset="0"/>
                                </a:rPr>
                                <m:t>2</m:t>
                              </m:r>
                            </m:sup>
                          </m:sSup>
                        </m:sub>
                        <m:sup/>
                        <m:e>
                          <m:nary>
                            <m:naryPr>
                              <m:supHide m:val="on"/>
                              <m:ctrlPr>
                                <a:rPr lang="en-US" altLang="zh-CN" sz="1200" i="1" dirty="0">
                                  <a:solidFill>
                                    <a:schemeClr val="accent2">
                                      <a:lumMod val="75000"/>
                                    </a:schemeClr>
                                  </a:solidFill>
                                  <a:latin typeface="Cambria Math" panose="02040503050406030204" pitchFamily="18" charset="0"/>
                                </a:rPr>
                              </m:ctrlPr>
                            </m:naryPr>
                            <m:sub>
                              <m:sSup>
                                <m:sSupPr>
                                  <m:ctrlPr>
                                    <a:rPr lang="en-US" altLang="zh-CN" sz="1200" i="1" dirty="0">
                                      <a:solidFill>
                                        <a:schemeClr val="accent2">
                                          <a:lumMod val="75000"/>
                                        </a:schemeClr>
                                      </a:solidFill>
                                      <a:latin typeface="Cambria Math" panose="02040503050406030204" pitchFamily="18" charset="0"/>
                                    </a:rPr>
                                  </m:ctrlPr>
                                </m:sSupPr>
                                <m:e>
                                  <m:r>
                                    <a:rPr lang="en-US" altLang="zh-CN" sz="1200" i="1" dirty="0">
                                      <a:solidFill>
                                        <a:schemeClr val="accent2">
                                          <a:lumMod val="75000"/>
                                        </a:schemeClr>
                                      </a:solidFill>
                                      <a:latin typeface="Cambria Math" panose="02040503050406030204" pitchFamily="18" charset="0"/>
                                    </a:rPr>
                                    <m:t>𝑆</m:t>
                                  </m:r>
                                </m:e>
                                <m:sup>
                                  <m:r>
                                    <a:rPr lang="en-US" altLang="zh-CN" sz="1200" i="1" dirty="0">
                                      <a:solidFill>
                                        <a:schemeClr val="accent2">
                                          <a:lumMod val="75000"/>
                                        </a:schemeClr>
                                      </a:solidFill>
                                      <a:latin typeface="Cambria Math" panose="02040503050406030204" pitchFamily="18" charset="0"/>
                                    </a:rPr>
                                    <m:t>2</m:t>
                                  </m:r>
                                </m:sup>
                              </m:sSup>
                            </m:sub>
                            <m:sup/>
                            <m:e>
                              <m:nary>
                                <m:naryPr>
                                  <m:supHide m:val="on"/>
                                  <m:ctrlPr>
                                    <a:rPr lang="en-US" altLang="zh-CN" sz="1200" i="1" dirty="0" smtClean="0">
                                      <a:solidFill>
                                        <a:schemeClr val="accent6">
                                          <a:lumMod val="50000"/>
                                        </a:schemeClr>
                                      </a:solidFill>
                                      <a:latin typeface="Cambria Math" panose="02040503050406030204" pitchFamily="18" charset="0"/>
                                    </a:rPr>
                                  </m:ctrlPr>
                                </m:naryPr>
                                <m:sub>
                                  <m:sSup>
                                    <m:sSupPr>
                                      <m:ctrlPr>
                                        <a:rPr lang="en-US" altLang="zh-CN" sz="1200" i="1" dirty="0" smtClean="0">
                                          <a:solidFill>
                                            <a:schemeClr val="accent6">
                                              <a:lumMod val="50000"/>
                                            </a:schemeClr>
                                          </a:solidFill>
                                          <a:latin typeface="Cambria Math" panose="02040503050406030204" pitchFamily="18" charset="0"/>
                                        </a:rPr>
                                      </m:ctrlPr>
                                    </m:sSupPr>
                                    <m:e>
                                      <m:r>
                                        <a:rPr lang="en-US" altLang="zh-CN" sz="1200" i="1" dirty="0" smtClean="0">
                                          <a:solidFill>
                                            <a:schemeClr val="accent6">
                                              <a:lumMod val="50000"/>
                                            </a:schemeClr>
                                          </a:solidFill>
                                          <a:latin typeface="Cambria Math" panose="02040503050406030204" pitchFamily="18" charset="0"/>
                                        </a:rPr>
                                        <m:t>𝑆</m:t>
                                      </m:r>
                                    </m:e>
                                    <m:sup>
                                      <m:r>
                                        <a:rPr lang="en-US" altLang="zh-CN" sz="1200" b="0" i="1" dirty="0" smtClean="0">
                                          <a:solidFill>
                                            <a:schemeClr val="accent6">
                                              <a:lumMod val="50000"/>
                                            </a:schemeClr>
                                          </a:solidFill>
                                          <a:latin typeface="Cambria Math" panose="02040503050406030204" pitchFamily="18" charset="0"/>
                                        </a:rPr>
                                        <m:t>2</m:t>
                                      </m:r>
                                    </m:sup>
                                  </m:sSup>
                                </m:sub>
                                <m:sup/>
                                <m:e>
                                  <m:nary>
                                    <m:naryPr>
                                      <m:supHide m:val="on"/>
                                      <m:ctrlPr>
                                        <a:rPr lang="en-US" altLang="zh-CN" sz="1200" i="1" dirty="0">
                                          <a:solidFill>
                                            <a:srgbClr val="7030A0"/>
                                          </a:solidFill>
                                          <a:latin typeface="Cambria Math" panose="02040503050406030204" pitchFamily="18" charset="0"/>
                                        </a:rPr>
                                      </m:ctrlPr>
                                    </m:naryPr>
                                    <m:sub>
                                      <m:sSub>
                                        <m:sSubPr>
                                          <m:ctrlPr>
                                            <a:rPr lang="en-US" altLang="zh-CN" sz="1200" i="1" dirty="0">
                                              <a:solidFill>
                                                <a:srgbClr val="7030A0"/>
                                              </a:solidFill>
                                              <a:latin typeface="Cambria Math" panose="02040503050406030204" pitchFamily="18" charset="0"/>
                                            </a:rPr>
                                          </m:ctrlPr>
                                        </m:sSubPr>
                                        <m:e>
                                          <m:r>
                                            <a:rPr lang="en-US" altLang="zh-CN" sz="1200" i="1" dirty="0">
                                              <a:solidFill>
                                                <a:srgbClr val="7030A0"/>
                                              </a:solidFill>
                                              <a:latin typeface="Cambria Math" panose="02040503050406030204" pitchFamily="18" charset="0"/>
                                            </a:rPr>
                                            <m:t>𝐴</m:t>
                                          </m:r>
                                        </m:e>
                                        <m:sub>
                                          <m:r>
                                            <a:rPr lang="en-US" altLang="zh-CN" sz="1200" i="1" dirty="0">
                                              <a:solidFill>
                                                <a:srgbClr val="7030A0"/>
                                              </a:solidFill>
                                              <a:latin typeface="Cambria Math" panose="02040503050406030204" pitchFamily="18" charset="0"/>
                                            </a:rPr>
                                            <m:t>𝐸</m:t>
                                          </m:r>
                                        </m:sub>
                                      </m:sSub>
                                    </m:sub>
                                    <m:sup/>
                                    <m:e>
                                      <m:limLow>
                                        <m:limLowPr>
                                          <m:ctrlPr>
                                            <a:rPr lang="en-US" altLang="zh-CN" sz="1200" i="1" dirty="0">
                                              <a:latin typeface="Cambria Math" panose="02040503050406030204" pitchFamily="18" charset="0"/>
                                            </a:rPr>
                                          </m:ctrlPr>
                                        </m:limLowPr>
                                        <m:e>
                                          <m:groupChr>
                                            <m:groupChrPr>
                                              <m:chr m:val="⏟"/>
                                              <m:pos m:val="bot"/>
                                              <m:vertJc m:val="top"/>
                                              <m:ctrlPr>
                                                <a:rPr lang="en-US" altLang="zh-CN" sz="1200" i="1" dirty="0">
                                                  <a:latin typeface="Cambria Math" panose="02040503050406030204" pitchFamily="18" charset="0"/>
                                                </a:rPr>
                                              </m:ctrlPr>
                                            </m:groupChrPr>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𝑓</m:t>
                                                  </m:r>
                                                </m:e>
                                                <m:sub>
                                                  <m:r>
                                                    <a:rPr lang="en-US" altLang="zh-CN" sz="1200" i="1" dirty="0">
                                                      <a:latin typeface="Cambria Math" panose="02040503050406030204" pitchFamily="18" charset="0"/>
                                                    </a:rPr>
                                                    <m:t>1</m:t>
                                                  </m:r>
                                                </m:sub>
                                              </m:sSub>
                                              <m:r>
                                                <a:rPr lang="en-US" altLang="zh-CN" sz="1200" i="1" dirty="0">
                                                  <a:latin typeface="Cambria Math" panose="02040503050406030204" pitchFamily="18" charset="0"/>
                                                </a:rPr>
                                                <m:t> </m:t>
                                              </m:r>
                                              <m:d>
                                                <m:dPr>
                                                  <m:begChr m:val="|"/>
                                                  <m:endChr m:val="|"/>
                                                  <m:ctrlPr>
                                                    <a:rPr lang="en-US" altLang="zh-CN" sz="1200" i="1" dirty="0">
                                                      <a:latin typeface="Cambria Math" panose="02040503050406030204" pitchFamily="18" charset="0"/>
                                                    </a:rPr>
                                                  </m:ctrlPr>
                                                </m:dPr>
                                                <m:e>
                                                  <m:func>
                                                    <m:funcPr>
                                                      <m:ctrlPr>
                                                        <a:rPr lang="en-US" altLang="zh-CN" sz="1200" dirty="0">
                                                          <a:latin typeface="Cambria Math" panose="02040503050406030204" pitchFamily="18" charset="0"/>
                                                        </a:rPr>
                                                      </m:ctrlPr>
                                                    </m:funcPr>
                                                    <m:fName>
                                                      <m:r>
                                                        <m:rPr>
                                                          <m:sty m:val="p"/>
                                                        </m:rPr>
                                                        <a:rPr lang="en-US" altLang="zh-CN" sz="1200" dirty="0">
                                                          <a:latin typeface="Cambria Math" panose="02040503050406030204" pitchFamily="18" charset="0"/>
                                                        </a:rPr>
                                                        <m:t>cos</m:t>
                                                      </m:r>
                                                    </m:fName>
                                                    <m:e>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𝜃</m:t>
                                                          </m:r>
                                                        </m:e>
                                                        <m:sub>
                                                          <m:r>
                                                            <a:rPr lang="en-US" altLang="zh-CN" sz="1200" i="1" dirty="0">
                                                              <a:latin typeface="Cambria Math" panose="02040503050406030204" pitchFamily="18" charset="0"/>
                                                            </a:rPr>
                                                            <m:t>2</m:t>
                                                          </m:r>
                                                        </m:sub>
                                                      </m:sSub>
                                                    </m:e>
                                                  </m:func>
                                                </m:e>
                                              </m:d>
                                              <m:r>
                                                <a:rPr lang="en-US" altLang="zh-CN" sz="1200" i="1" dirty="0">
                                                  <a:solidFill>
                                                    <a:srgbClr val="7030A0"/>
                                                  </a:solidFill>
                                                  <a:latin typeface="Cambria Math" panose="02040503050406030204" pitchFamily="18" charset="0"/>
                                                </a:rPr>
                                                <m:t> </m:t>
                                              </m:r>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𝑓</m:t>
                                                  </m:r>
                                                </m:e>
                                                <m:sub>
                                                  <m:r>
                                                    <a:rPr lang="en-US" altLang="zh-CN" sz="1200" i="1" dirty="0">
                                                      <a:solidFill>
                                                        <a:schemeClr val="accent2">
                                                          <a:lumMod val="75000"/>
                                                        </a:schemeClr>
                                                      </a:solidFill>
                                                      <a:latin typeface="Cambria Math" panose="02040503050406030204" pitchFamily="18" charset="0"/>
                                                    </a:rPr>
                                                    <m:t>2</m:t>
                                                  </m:r>
                                                </m:sub>
                                              </m:sSub>
                                              <m:r>
                                                <a:rPr lang="en-US" altLang="zh-CN" sz="1200" i="1" dirty="0">
                                                  <a:solidFill>
                                                    <a:schemeClr val="accent2">
                                                      <a:lumMod val="75000"/>
                                                    </a:schemeClr>
                                                  </a:solidFill>
                                                  <a:latin typeface="Cambria Math" panose="02040503050406030204" pitchFamily="18" charset="0"/>
                                                </a:rPr>
                                                <m:t> </m:t>
                                              </m:r>
                                              <m:d>
                                                <m:dPr>
                                                  <m:begChr m:val="|"/>
                                                  <m:endChr m:val="|"/>
                                                  <m:ctrlPr>
                                                    <a:rPr lang="en-US" altLang="zh-CN" sz="1200" i="1" dirty="0">
                                                      <a:solidFill>
                                                        <a:schemeClr val="accent2">
                                                          <a:lumMod val="75000"/>
                                                        </a:schemeClr>
                                                      </a:solidFill>
                                                      <a:latin typeface="Cambria Math" panose="02040503050406030204" pitchFamily="18" charset="0"/>
                                                    </a:rPr>
                                                  </m:ctrlPr>
                                                </m:dPr>
                                                <m:e>
                                                  <m:func>
                                                    <m:funcPr>
                                                      <m:ctrlPr>
                                                        <a:rPr lang="en-US" altLang="zh-CN" sz="1200" dirty="0">
                                                          <a:solidFill>
                                                            <a:schemeClr val="accent2">
                                                              <a:lumMod val="75000"/>
                                                            </a:schemeClr>
                                                          </a:solidFill>
                                                          <a:latin typeface="Cambria Math" panose="02040503050406030204" pitchFamily="18" charset="0"/>
                                                        </a:rPr>
                                                      </m:ctrlPr>
                                                    </m:funcPr>
                                                    <m:fName>
                                                      <m:r>
                                                        <m:rPr>
                                                          <m:sty m:val="p"/>
                                                        </m:rPr>
                                                        <a:rPr lang="en-US" altLang="zh-CN" sz="1200" dirty="0">
                                                          <a:solidFill>
                                                            <a:schemeClr val="accent2">
                                                              <a:lumMod val="75000"/>
                                                            </a:schemeClr>
                                                          </a:solidFill>
                                                          <a:latin typeface="Cambria Math" panose="02040503050406030204" pitchFamily="18" charset="0"/>
                                                        </a:rPr>
                                                        <m:t>cos</m:t>
                                                      </m:r>
                                                    </m:fName>
                                                    <m:e>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𝜃</m:t>
                                                          </m:r>
                                                        </m:e>
                                                        <m:sub>
                                                          <m:r>
                                                            <a:rPr lang="en-US" altLang="zh-CN" sz="1200" i="1" dirty="0">
                                                              <a:solidFill>
                                                                <a:schemeClr val="accent2">
                                                                  <a:lumMod val="75000"/>
                                                                </a:schemeClr>
                                                              </a:solidFill>
                                                              <a:latin typeface="Cambria Math" panose="02040503050406030204" pitchFamily="18" charset="0"/>
                                                            </a:rPr>
                                                            <m:t>3</m:t>
                                                          </m:r>
                                                        </m:sub>
                                                      </m:sSub>
                                                    </m:e>
                                                  </m:func>
                                                </m:e>
                                              </m:d>
                                              <m:r>
                                                <a:rPr lang="en-US" altLang="zh-CN" sz="1200" i="1" dirty="0">
                                                  <a:solidFill>
                                                    <a:srgbClr val="7030A0"/>
                                                  </a:solidFill>
                                                  <a:latin typeface="Cambria Math" panose="02040503050406030204" pitchFamily="18" charset="0"/>
                                                </a:rPr>
                                                <m:t> </m:t>
                                              </m:r>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𝑓</m:t>
                                                  </m:r>
                                                </m:e>
                                                <m:sub>
                                                  <m:r>
                                                    <a:rPr lang="en-US" altLang="zh-CN" sz="1200" i="1" dirty="0">
                                                      <a:solidFill>
                                                        <a:schemeClr val="accent6">
                                                          <a:lumMod val="50000"/>
                                                        </a:schemeClr>
                                                      </a:solidFill>
                                                      <a:latin typeface="Cambria Math" panose="02040503050406030204" pitchFamily="18" charset="0"/>
                                                    </a:rPr>
                                                    <m:t>3</m:t>
                                                  </m:r>
                                                </m:sub>
                                              </m:sSub>
                                              <m:r>
                                                <a:rPr lang="en-US" altLang="zh-CN" sz="1200" i="1" dirty="0">
                                                  <a:solidFill>
                                                    <a:schemeClr val="accent6">
                                                      <a:lumMod val="50000"/>
                                                    </a:schemeClr>
                                                  </a:solidFill>
                                                  <a:latin typeface="Cambria Math" panose="02040503050406030204" pitchFamily="18" charset="0"/>
                                                </a:rPr>
                                                <m:t> </m:t>
                                              </m:r>
                                              <m:d>
                                                <m:dPr>
                                                  <m:begChr m:val="|"/>
                                                  <m:endChr m:val="|"/>
                                                  <m:ctrlPr>
                                                    <a:rPr lang="en-US" altLang="zh-CN" sz="1200" i="1" dirty="0">
                                                      <a:solidFill>
                                                        <a:schemeClr val="accent6">
                                                          <a:lumMod val="50000"/>
                                                        </a:schemeClr>
                                                      </a:solidFill>
                                                      <a:latin typeface="Cambria Math" panose="02040503050406030204" pitchFamily="18" charset="0"/>
                                                    </a:rPr>
                                                  </m:ctrlPr>
                                                </m:dPr>
                                                <m:e>
                                                  <m:func>
                                                    <m:funcPr>
                                                      <m:ctrlPr>
                                                        <a:rPr lang="en-US" altLang="zh-CN" sz="1200" dirty="0">
                                                          <a:solidFill>
                                                            <a:schemeClr val="accent6">
                                                              <a:lumMod val="50000"/>
                                                            </a:schemeClr>
                                                          </a:solidFill>
                                                          <a:latin typeface="Cambria Math" panose="02040503050406030204" pitchFamily="18" charset="0"/>
                                                        </a:rPr>
                                                      </m:ctrlPr>
                                                    </m:funcPr>
                                                    <m:fName>
                                                      <m:r>
                                                        <m:rPr>
                                                          <m:sty m:val="p"/>
                                                        </m:rPr>
                                                        <a:rPr lang="en-US" altLang="zh-CN" sz="1200" dirty="0">
                                                          <a:solidFill>
                                                            <a:schemeClr val="accent6">
                                                              <a:lumMod val="50000"/>
                                                            </a:schemeClr>
                                                          </a:solidFill>
                                                          <a:latin typeface="Cambria Math" panose="02040503050406030204" pitchFamily="18" charset="0"/>
                                                        </a:rPr>
                                                        <m:t>cos</m:t>
                                                      </m:r>
                                                    </m:fName>
                                                    <m:e>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𝜃</m:t>
                                                          </m:r>
                                                        </m:e>
                                                        <m:sub>
                                                          <m:r>
                                                            <a:rPr lang="en-US" altLang="zh-CN" sz="1200" i="1" dirty="0">
                                                              <a:solidFill>
                                                                <a:schemeClr val="accent6">
                                                                  <a:lumMod val="50000"/>
                                                                </a:schemeClr>
                                                              </a:solidFill>
                                                              <a:latin typeface="Cambria Math" panose="02040503050406030204" pitchFamily="18" charset="0"/>
                                                            </a:rPr>
                                                            <m:t>4</m:t>
                                                          </m:r>
                                                        </m:sub>
                                                      </m:sSub>
                                                    </m:e>
                                                  </m:func>
                                                </m:e>
                                              </m:d>
                                            </m:e>
                                          </m:groupChr>
                                        </m:e>
                                        <m:lim>
                                          <m:eqArr>
                                            <m:eqArrPr>
                                              <m:ctrlPr>
                                                <a:rPr lang="en-US" altLang="zh-CN" sz="1200" b="0" i="1" dirty="0" smtClean="0">
                                                  <a:latin typeface="Cambria Math" panose="02040503050406030204" pitchFamily="18" charset="0"/>
                                                </a:rPr>
                                              </m:ctrlPr>
                                            </m:eqArrPr>
                                            <m:e>
                                              <m:r>
                                                <a:rPr lang="en-US" altLang="zh-CN" sz="1200" b="0" i="1" dirty="0" smtClean="0">
                                                  <a:latin typeface="Cambria Math" panose="02040503050406030204" pitchFamily="18" charset="0"/>
                                                </a:rPr>
                                                <m:t> </m:t>
                                              </m:r>
                                            </m:e>
                                            <m:e>
                                              <m:r>
                                                <a:rPr lang="en-US" altLang="zh-CN" sz="1200" b="0" i="1" dirty="0" smtClean="0">
                                                  <a:latin typeface="Cambria Math" panose="02040503050406030204" pitchFamily="18" charset="0"/>
                                                </a:rPr>
                                                <m:t> </m:t>
                                              </m:r>
                                            </m:e>
                                            <m:e>
                                              <m:r>
                                                <a:rPr lang="en-US" altLang="zh-CN" sz="1200" b="0" i="1" dirty="0" smtClean="0">
                                                  <a:latin typeface="Cambria Math" panose="02040503050406030204" pitchFamily="18" charset="0"/>
                                                </a:rPr>
                                                <m:t> </m:t>
                                              </m:r>
                                            </m:e>
                                            <m:e>
                                              <m:r>
                                                <a:rPr lang="zh-CN" altLang="en-US" sz="1200" i="1" dirty="0">
                                                  <a:latin typeface="Cambria Math" panose="02040503050406030204" pitchFamily="18" charset="0"/>
                                                </a:rPr>
                                                <m:t>三次方向散射</m:t>
                                              </m:r>
                                            </m:e>
                                          </m:eqArr>
                                        </m:lim>
                                      </m:limLow>
                                      <m:limLow>
                                        <m:limLowPr>
                                          <m:ctrlPr>
                                            <a:rPr lang="en-US" altLang="zh-CN" sz="1200" i="1" dirty="0">
                                              <a:solidFill>
                                                <a:srgbClr val="7030A0"/>
                                              </a:solidFill>
                                              <a:latin typeface="Cambria Math" panose="02040503050406030204" pitchFamily="18" charset="0"/>
                                            </a:rPr>
                                          </m:ctrlPr>
                                        </m:limLowPr>
                                        <m:e>
                                          <m:groupChr>
                                            <m:groupChrPr>
                                              <m:chr m:val="⏟"/>
                                              <m:pos m:val="bot"/>
                                              <m:vertJc m:val="top"/>
                                              <m:ctrlPr>
                                                <a:rPr lang="en-US" altLang="zh-CN" sz="1200" i="1" dirty="0">
                                                  <a:solidFill>
                                                    <a:srgbClr val="7030A0"/>
                                                  </a:solidFill>
                                                  <a:latin typeface="Cambria Math" panose="02040503050406030204" pitchFamily="18" charset="0"/>
                                                </a:rPr>
                                              </m:ctrlPr>
                                            </m:groupChrPr>
                                            <m:e>
                                              <m:sSub>
                                                <m:sSubPr>
                                                  <m:ctrlPr>
                                                    <a:rPr lang="en-US" altLang="zh-CN" sz="1200" i="1" dirty="0">
                                                      <a:solidFill>
                                                        <a:srgbClr val="7030A0"/>
                                                      </a:solidFill>
                                                      <a:latin typeface="Cambria Math" panose="02040503050406030204" pitchFamily="18" charset="0"/>
                                                    </a:rPr>
                                                  </m:ctrlPr>
                                                </m:sSubPr>
                                                <m:e>
                                                  <m:r>
                                                    <a:rPr lang="en-US" altLang="zh-CN" sz="1200" i="1" dirty="0">
                                                      <a:solidFill>
                                                        <a:srgbClr val="7030A0"/>
                                                      </a:solidFill>
                                                      <a:latin typeface="Cambria Math" panose="02040503050406030204" pitchFamily="18" charset="0"/>
                                                    </a:rPr>
                                                    <m:t>𝑓</m:t>
                                                  </m:r>
                                                </m:e>
                                                <m:sub>
                                                  <m:r>
                                                    <a:rPr lang="en-US" altLang="zh-CN" sz="1200" i="1" dirty="0">
                                                      <a:solidFill>
                                                        <a:srgbClr val="7030A0"/>
                                                      </a:solidFill>
                                                      <a:latin typeface="Cambria Math" panose="02040503050406030204" pitchFamily="18" charset="0"/>
                                                    </a:rPr>
                                                    <m:t>4</m:t>
                                                  </m:r>
                                                </m:sub>
                                              </m:sSub>
                                              <m:r>
                                                <a:rPr lang="en-US" altLang="zh-CN" sz="1200" i="1" dirty="0">
                                                  <a:solidFill>
                                                    <a:srgbClr val="7030A0"/>
                                                  </a:solidFill>
                                                  <a:latin typeface="Cambria Math" panose="02040503050406030204" pitchFamily="18" charset="0"/>
                                                </a:rPr>
                                                <m:t> </m:t>
                                              </m:r>
                                              <m:sSub>
                                                <m:sSubPr>
                                                  <m:ctrlPr>
                                                    <a:rPr lang="en-US" altLang="zh-CN" sz="1200" i="1" dirty="0">
                                                      <a:solidFill>
                                                        <a:srgbClr val="7030A0"/>
                                                      </a:solidFill>
                                                      <a:latin typeface="Cambria Math" panose="02040503050406030204" pitchFamily="18" charset="0"/>
                                                    </a:rPr>
                                                  </m:ctrlPr>
                                                </m:sSubPr>
                                                <m:e>
                                                  <m:r>
                                                    <a:rPr lang="en-US" altLang="zh-CN" sz="1200" i="1" dirty="0">
                                                      <a:solidFill>
                                                        <a:srgbClr val="7030A0"/>
                                                      </a:solidFill>
                                                      <a:latin typeface="Cambria Math" panose="02040503050406030204" pitchFamily="18" charset="0"/>
                                                    </a:rPr>
                                                    <m:t>𝐺</m:t>
                                                  </m:r>
                                                </m:e>
                                                <m:sub>
                                                  <m:r>
                                                    <a:rPr lang="en-US" altLang="zh-CN" sz="1200" i="1" dirty="0">
                                                      <a:solidFill>
                                                        <a:srgbClr val="7030A0"/>
                                                      </a:solidFill>
                                                      <a:latin typeface="Cambria Math" panose="02040503050406030204" pitchFamily="18" charset="0"/>
                                                    </a:rPr>
                                                    <m:t>4</m:t>
                                                  </m:r>
                                                </m:sub>
                                              </m:sSub>
                                              <m:r>
                                                <a:rPr lang="en-US" altLang="zh-CN" sz="1200" i="1" dirty="0">
                                                  <a:solidFill>
                                                    <a:srgbClr val="7030A0"/>
                                                  </a:solidFill>
                                                  <a:latin typeface="Cambria Math" panose="02040503050406030204" pitchFamily="18" charset="0"/>
                                                </a:rPr>
                                                <m:t> </m:t>
                                              </m:r>
                                              <m:sSub>
                                                <m:sSubPr>
                                                  <m:ctrlPr>
                                                    <a:rPr lang="en-US" altLang="zh-CN" sz="1200" i="1" dirty="0">
                                                      <a:solidFill>
                                                        <a:srgbClr val="008000"/>
                                                      </a:solidFill>
                                                      <a:latin typeface="Cambria Math" panose="02040503050406030204" pitchFamily="18" charset="0"/>
                                                    </a:rPr>
                                                  </m:ctrlPr>
                                                </m:sSubPr>
                                                <m:e>
                                                  <m:r>
                                                    <a:rPr lang="en-US" altLang="zh-CN" sz="1200" i="1" dirty="0">
                                                      <a:solidFill>
                                                        <a:srgbClr val="008000"/>
                                                      </a:solidFill>
                                                      <a:latin typeface="Cambria Math" panose="02040503050406030204" pitchFamily="18" charset="0"/>
                                                    </a:rPr>
                                                    <m:t>𝐿</m:t>
                                                  </m:r>
                                                </m:e>
                                                <m:sub>
                                                  <m:r>
                                                    <a:rPr lang="en-US" altLang="zh-CN" sz="1200" b="1" i="1" dirty="0">
                                                      <a:solidFill>
                                                        <a:srgbClr val="008000"/>
                                                      </a:solidFill>
                                                      <a:latin typeface="Cambria Math" panose="02040503050406030204" pitchFamily="18" charset="0"/>
                                                    </a:rPr>
                                                    <m:t>𝒆</m:t>
                                                  </m:r>
                                                </m:sub>
                                              </m:sSub>
                                              <m:d>
                                                <m:dPr>
                                                  <m:ctrlPr>
                                                    <a:rPr lang="en-US" altLang="zh-CN" sz="1200" b="1" i="1" dirty="0">
                                                      <a:solidFill>
                                                        <a:srgbClr val="008000"/>
                                                      </a:solidFill>
                                                      <a:latin typeface="Cambria Math" panose="02040503050406030204" pitchFamily="18" charset="0"/>
                                                    </a:rPr>
                                                  </m:ctrlPr>
                                                </m:dPr>
                                                <m:e>
                                                  <m:sSub>
                                                    <m:sSubPr>
                                                      <m:ctrlPr>
                                                        <a:rPr lang="en-US" altLang="zh-CN" sz="1200" b="1" i="1" dirty="0">
                                                          <a:solidFill>
                                                            <a:srgbClr val="008000"/>
                                                          </a:solidFill>
                                                          <a:latin typeface="Cambria Math" panose="02040503050406030204" pitchFamily="18" charset="0"/>
                                                        </a:rPr>
                                                      </m:ctrlPr>
                                                    </m:sSubPr>
                                                    <m:e>
                                                      <m:r>
                                                        <a:rPr lang="en-US" altLang="zh-CN" sz="1200" b="1" i="1" dirty="0">
                                                          <a:solidFill>
                                                            <a:srgbClr val="008000"/>
                                                          </a:solidFill>
                                                          <a:latin typeface="Cambria Math" panose="02040503050406030204" pitchFamily="18" charset="0"/>
                                                        </a:rPr>
                                                        <m:t>𝒑</m:t>
                                                      </m:r>
                                                    </m:e>
                                                    <m:sub>
                                                      <m:r>
                                                        <a:rPr lang="en-US" altLang="zh-CN" sz="1200" b="1" i="1" dirty="0">
                                                          <a:solidFill>
                                                            <a:srgbClr val="008000"/>
                                                          </a:solidFill>
                                                          <a:latin typeface="Cambria Math" panose="02040503050406030204" pitchFamily="18" charset="0"/>
                                                        </a:rPr>
                                                        <m:t>𝟓</m:t>
                                                      </m:r>
                                                    </m:sub>
                                                  </m:sSub>
                                                  <m:r>
                                                    <a:rPr lang="en-US" altLang="zh-CN" sz="1200" b="1" i="1" dirty="0">
                                                      <a:solidFill>
                                                        <a:srgbClr val="008000"/>
                                                      </a:solidFill>
                                                      <a:latin typeface="Cambria Math" panose="02040503050406030204" pitchFamily="18" charset="0"/>
                                                    </a:rPr>
                                                    <m:t>→</m:t>
                                                  </m:r>
                                                  <m:sSub>
                                                    <m:sSubPr>
                                                      <m:ctrlPr>
                                                        <a:rPr lang="en-US" altLang="zh-CN" sz="1200" b="1" i="1" dirty="0">
                                                          <a:solidFill>
                                                            <a:srgbClr val="008000"/>
                                                          </a:solidFill>
                                                          <a:latin typeface="Cambria Math" panose="02040503050406030204" pitchFamily="18" charset="0"/>
                                                        </a:rPr>
                                                      </m:ctrlPr>
                                                    </m:sSubPr>
                                                    <m:e>
                                                      <m:r>
                                                        <a:rPr lang="en-US" altLang="zh-CN" sz="1200" b="1" i="1" dirty="0">
                                                          <a:solidFill>
                                                            <a:srgbClr val="008000"/>
                                                          </a:solidFill>
                                                          <a:latin typeface="Cambria Math" panose="02040503050406030204" pitchFamily="18" charset="0"/>
                                                        </a:rPr>
                                                        <m:t>𝒑</m:t>
                                                      </m:r>
                                                    </m:e>
                                                    <m:sub>
                                                      <m:r>
                                                        <a:rPr lang="en-US" altLang="zh-CN" sz="1200" b="1" i="1" dirty="0">
                                                          <a:solidFill>
                                                            <a:srgbClr val="008000"/>
                                                          </a:solidFill>
                                                          <a:latin typeface="Cambria Math" panose="02040503050406030204" pitchFamily="18" charset="0"/>
                                                        </a:rPr>
                                                        <m:t>𝟒</m:t>
                                                      </m:r>
                                                    </m:sub>
                                                  </m:sSub>
                                                </m:e>
                                              </m:d>
                                            </m:e>
                                          </m:groupChr>
                                        </m:e>
                                        <m:lim>
                                          <m:eqArr>
                                            <m:eqArrPr>
                                              <m:ctrlPr>
                                                <a:rPr lang="en-US" altLang="zh-CN" sz="1200" b="0" i="1" dirty="0" smtClean="0">
                                                  <a:solidFill>
                                                    <a:schemeClr val="tx1"/>
                                                  </a:solidFill>
                                                  <a:latin typeface="Cambria Math" panose="02040503050406030204" pitchFamily="18" charset="0"/>
                                                </a:rPr>
                                              </m:ctrlPr>
                                            </m:eqArrPr>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en-US" altLang="zh-CN" sz="1200" b="0" i="1" dirty="0" smtClean="0">
                                                  <a:solidFill>
                                                    <a:schemeClr val="tx1"/>
                                                  </a:solidFill>
                                                  <a:latin typeface="Cambria Math" panose="02040503050406030204" pitchFamily="18" charset="0"/>
                                                </a:rPr>
                                                <m:t> </m:t>
                                              </m:r>
                                            </m:e>
                                            <m:e>
                                              <m:r>
                                                <a:rPr lang="zh-CN" altLang="en-US" sz="1200" i="1" dirty="0">
                                                  <a:latin typeface="Cambria Math" panose="02040503050406030204" pitchFamily="18" charset="0"/>
                                                </a:rPr>
                                                <m:t>连接光源</m:t>
                                              </m:r>
                                            </m:e>
                                          </m:eqArr>
                                        </m:lim>
                                      </m:limLow>
                                      <m:r>
                                        <a:rPr lang="en-US" altLang="zh-CN" sz="1200" i="1" dirty="0" smtClean="0">
                                          <a:solidFill>
                                            <a:srgbClr val="7030A0"/>
                                          </a:solidFill>
                                          <a:latin typeface="Cambria Math" panose="02040503050406030204" pitchFamily="18" charset="0"/>
                                        </a:rPr>
                                        <m:t>𝑑𝐴</m:t>
                                      </m:r>
                                      <m:d>
                                        <m:dPr>
                                          <m:ctrlPr>
                                            <a:rPr lang="en-US" altLang="zh-CN" sz="1200" b="1" i="1" dirty="0" smtClean="0">
                                              <a:solidFill>
                                                <a:srgbClr val="7030A0"/>
                                              </a:solidFill>
                                              <a:latin typeface="Cambria Math" panose="02040503050406030204" pitchFamily="18" charset="0"/>
                                            </a:rPr>
                                          </m:ctrlPr>
                                        </m:dPr>
                                        <m:e>
                                          <m:sSub>
                                            <m:sSubPr>
                                              <m:ctrlPr>
                                                <a:rPr lang="en-US" altLang="zh-CN" sz="1200" b="1" i="1" dirty="0" smtClean="0">
                                                  <a:solidFill>
                                                    <a:srgbClr val="7030A0"/>
                                                  </a:solidFill>
                                                  <a:latin typeface="Cambria Math" panose="02040503050406030204" pitchFamily="18" charset="0"/>
                                                </a:rPr>
                                              </m:ctrlPr>
                                            </m:sSubPr>
                                            <m:e>
                                              <m:r>
                                                <a:rPr lang="en-US" altLang="zh-CN" sz="1200" b="1" i="1" dirty="0" smtClean="0">
                                                  <a:solidFill>
                                                    <a:srgbClr val="7030A0"/>
                                                  </a:solidFill>
                                                  <a:latin typeface="Cambria Math" panose="02040503050406030204" pitchFamily="18" charset="0"/>
                                                </a:rPr>
                                                <m:t>𝒑</m:t>
                                              </m:r>
                                            </m:e>
                                            <m:sub>
                                              <m:r>
                                                <a:rPr lang="en-US" altLang="zh-CN" sz="1200" b="1" i="1" dirty="0" smtClean="0">
                                                  <a:solidFill>
                                                    <a:srgbClr val="7030A0"/>
                                                  </a:solidFill>
                                                  <a:latin typeface="Cambria Math" panose="02040503050406030204" pitchFamily="18" charset="0"/>
                                                </a:rPr>
                                                <m:t>𝟓</m:t>
                                              </m:r>
                                            </m:sub>
                                          </m:sSub>
                                        </m:e>
                                      </m:d>
                                    </m:e>
                                  </m:nary>
                                  <m:r>
                                    <a:rPr lang="en-US" altLang="zh-CN" sz="1200" i="1" dirty="0">
                                      <a:solidFill>
                                        <a:schemeClr val="accent6">
                                          <a:lumMod val="50000"/>
                                        </a:schemeClr>
                                      </a:solidFill>
                                      <a:latin typeface="Cambria Math" panose="02040503050406030204" pitchFamily="18" charset="0"/>
                                    </a:rPr>
                                    <m:t>𝑑</m:t>
                                  </m:r>
                                  <m:sSub>
                                    <m:sSubPr>
                                      <m:ctrlPr>
                                        <a:rPr lang="en-US" altLang="zh-CN" sz="1200" i="1" dirty="0">
                                          <a:solidFill>
                                            <a:schemeClr val="accent6">
                                              <a:lumMod val="50000"/>
                                            </a:schemeClr>
                                          </a:solidFill>
                                          <a:latin typeface="Cambria Math" panose="02040503050406030204" pitchFamily="18" charset="0"/>
                                        </a:rPr>
                                      </m:ctrlPr>
                                    </m:sSubPr>
                                    <m:e>
                                      <m:r>
                                        <a:rPr lang="en-US" altLang="zh-CN" sz="1200" i="1" dirty="0">
                                          <a:solidFill>
                                            <a:schemeClr val="accent6">
                                              <a:lumMod val="50000"/>
                                            </a:schemeClr>
                                          </a:solidFill>
                                          <a:latin typeface="Cambria Math" panose="02040503050406030204" pitchFamily="18" charset="0"/>
                                        </a:rPr>
                                        <m:t>𝜔</m:t>
                                      </m:r>
                                    </m:e>
                                    <m:sub>
                                      <m:r>
                                        <a:rPr lang="en-US" altLang="zh-CN" sz="1200" i="1" dirty="0">
                                          <a:solidFill>
                                            <a:schemeClr val="accent6">
                                              <a:lumMod val="50000"/>
                                            </a:schemeClr>
                                          </a:solidFill>
                                          <a:latin typeface="Cambria Math" panose="02040503050406030204" pitchFamily="18" charset="0"/>
                                        </a:rPr>
                                        <m:t>4</m:t>
                                      </m:r>
                                    </m:sub>
                                  </m:sSub>
                                </m:e>
                              </m:nary>
                              <m:r>
                                <a:rPr lang="en-US" altLang="zh-CN" sz="1200" i="1" dirty="0">
                                  <a:solidFill>
                                    <a:schemeClr val="accent2">
                                      <a:lumMod val="75000"/>
                                    </a:schemeClr>
                                  </a:solidFill>
                                  <a:latin typeface="Cambria Math" panose="02040503050406030204" pitchFamily="18" charset="0"/>
                                </a:rPr>
                                <m:t>𝑑</m:t>
                              </m:r>
                              <m:sSub>
                                <m:sSubPr>
                                  <m:ctrlPr>
                                    <a:rPr lang="en-US" altLang="zh-CN" sz="1200" i="1" dirty="0">
                                      <a:solidFill>
                                        <a:schemeClr val="accent2">
                                          <a:lumMod val="75000"/>
                                        </a:schemeClr>
                                      </a:solidFill>
                                      <a:latin typeface="Cambria Math" panose="02040503050406030204" pitchFamily="18" charset="0"/>
                                    </a:rPr>
                                  </m:ctrlPr>
                                </m:sSubPr>
                                <m:e>
                                  <m:r>
                                    <a:rPr lang="en-US" altLang="zh-CN" sz="1200" i="1" dirty="0">
                                      <a:solidFill>
                                        <a:schemeClr val="accent2">
                                          <a:lumMod val="75000"/>
                                        </a:schemeClr>
                                      </a:solidFill>
                                      <a:latin typeface="Cambria Math" panose="02040503050406030204" pitchFamily="18" charset="0"/>
                                    </a:rPr>
                                    <m:t>𝜔</m:t>
                                  </m:r>
                                </m:e>
                                <m:sub>
                                  <m:r>
                                    <a:rPr lang="en-US" altLang="zh-CN" sz="1200" i="1" dirty="0">
                                      <a:solidFill>
                                        <a:schemeClr val="accent2">
                                          <a:lumMod val="75000"/>
                                        </a:schemeClr>
                                      </a:solidFill>
                                      <a:latin typeface="Cambria Math" panose="02040503050406030204" pitchFamily="18" charset="0"/>
                                    </a:rPr>
                                    <m:t>3</m:t>
                                  </m:r>
                                </m:sub>
                              </m:sSub>
                            </m:e>
                          </m:nary>
                          <m:r>
                            <a:rPr lang="en-US" altLang="zh-CN" sz="1200" i="1" dirty="0">
                              <a:latin typeface="Cambria Math" panose="02040503050406030204" pitchFamily="18" charset="0"/>
                            </a:rPr>
                            <m:t>𝑑</m:t>
                          </m:r>
                          <m:sSub>
                            <m:sSubPr>
                              <m:ctrlPr>
                                <a:rPr lang="en-US" altLang="zh-CN" sz="1200" i="1" dirty="0">
                                  <a:latin typeface="Cambria Math" panose="02040503050406030204" pitchFamily="18" charset="0"/>
                                </a:rPr>
                              </m:ctrlPr>
                            </m:sSubPr>
                            <m:e>
                              <m:r>
                                <a:rPr lang="en-US" altLang="zh-CN" sz="1200" i="1" dirty="0">
                                  <a:latin typeface="Cambria Math" panose="02040503050406030204" pitchFamily="18" charset="0"/>
                                </a:rPr>
                                <m:t>𝜔</m:t>
                              </m:r>
                            </m:e>
                            <m:sub>
                              <m:r>
                                <a:rPr lang="en-US" altLang="zh-CN" sz="1200" i="1" dirty="0">
                                  <a:latin typeface="Cambria Math" panose="02040503050406030204" pitchFamily="18" charset="0"/>
                                </a:rPr>
                                <m:t>2</m:t>
                              </m:r>
                            </m:sub>
                          </m:sSub>
                        </m:e>
                      </m:nary>
                    </m:oMath>
                    <m:oMath>
                      <m:r>
                        <a:rPr lang="en-US" altLang="zh-CN" sz="1200" b="1" i="1" smtClean="0">
                          <a:latin typeface="Cambria Math" panose="02040503050406030204" pitchFamily="18" charset="0"/>
                        </a:rPr>
                        <m:t>    +…</m:t>
                      </m:r>
                    </m:oMath>
                  </m:oMathPara>
                </a14:m>
                <a:endParaRPr lang="en-US" altLang="zh-CN" sz="1200" b="1" i="1" dirty="0">
                  <a:latin typeface="Cambria Math" panose="02040503050406030204" pitchFamily="18" charset="0"/>
                </a:endParaRPr>
              </a:p>
            </p:txBody>
          </p:sp>
        </mc:Choice>
        <mc:Fallback xmlns="">
          <p:sp>
            <p:nvSpPr>
              <p:cNvPr id="9" name="文本框 8">
                <a:extLst>
                  <a:ext uri="{FF2B5EF4-FFF2-40B4-BE49-F238E27FC236}">
                    <a16:creationId xmlns:a16="http://schemas.microsoft.com/office/drawing/2014/main" id="{F81C4D98-3CE2-FB15-8EDC-CB625824A516}"/>
                  </a:ext>
                </a:extLst>
              </p:cNvPr>
              <p:cNvSpPr txBox="1">
                <a:spLocks noRot="1" noChangeAspect="1" noMove="1" noResize="1" noEditPoints="1" noAdjustHandles="1" noChangeArrowheads="1" noChangeShapeType="1" noTextEdit="1"/>
              </p:cNvSpPr>
              <p:nvPr/>
            </p:nvSpPr>
            <p:spPr>
              <a:xfrm>
                <a:off x="273141" y="1193009"/>
                <a:ext cx="6626179" cy="2894581"/>
              </a:xfrm>
              <a:prstGeom prst="rect">
                <a:avLst/>
              </a:prstGeom>
              <a:blipFill>
                <a:blip r:embed="rId2"/>
                <a:stretch>
                  <a:fillRect t="-19789" b="-20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21BECA3-1542-85C5-6912-C81845234825}"/>
                  </a:ext>
                </a:extLst>
              </p:cNvPr>
              <p:cNvSpPr txBox="1"/>
              <p:nvPr/>
            </p:nvSpPr>
            <p:spPr>
              <a:xfrm>
                <a:off x="1846509" y="3921939"/>
                <a:ext cx="3405390" cy="2023696"/>
              </a:xfrm>
              <a:prstGeom prst="rect">
                <a:avLst/>
              </a:prstGeom>
              <a:noFill/>
            </p:spPr>
            <p:txBody>
              <a:bodyPr wrap="square">
                <a:spAutoFit/>
              </a:bodyPr>
              <a:lstStyle/>
              <a:p>
                <a:pPr>
                  <a:lnSpc>
                    <a:spcPct val="130000"/>
                  </a:lnSpc>
                </a:pPr>
                <a:r>
                  <a:rPr lang="zh-CN" altLang="en-US" sz="1400" b="1" dirty="0">
                    <a:latin typeface="Cambria Math" panose="02040503050406030204" pitchFamily="18" charset="0"/>
                  </a:rPr>
                  <a:t>积分元：</a:t>
                </a:r>
                <a:endParaRPr lang="en-US" altLang="zh-CN" sz="1400" b="1" dirty="0">
                  <a:latin typeface="Cambria Math" panose="02040503050406030204" pitchFamily="18" charset="0"/>
                </a:endParaRPr>
              </a:p>
              <a:p>
                <a:pPr>
                  <a:lnSpc>
                    <a:spcPct val="130000"/>
                  </a:lnSpc>
                </a:pPr>
                <a:r>
                  <a:rPr lang="en-US" altLang="zh-CN" sz="1400" b="0" dirty="0"/>
                  <a:t>         </a:t>
                </a:r>
                <a14:m>
                  <m:oMath xmlns:m="http://schemas.openxmlformats.org/officeDocument/2006/math">
                    <m:r>
                      <a:rPr lang="en-US" altLang="zh-CN" sz="1400" b="0" i="1" dirty="0" smtClean="0">
                        <a:latin typeface="Cambria Math" panose="02040503050406030204" pitchFamily="18" charset="0"/>
                      </a:rPr>
                      <m:t>𝑑</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𝜇</m:t>
                        </m:r>
                      </m:e>
                      <m:sub>
                        <m:r>
                          <a:rPr lang="en-US" altLang="zh-CN" sz="1400" b="0" i="1" dirty="0" smtClean="0">
                            <a:latin typeface="Cambria Math" panose="02040503050406030204" pitchFamily="18" charset="0"/>
                          </a:rPr>
                          <m:t>2</m:t>
                        </m:r>
                      </m:sub>
                    </m:sSub>
                    <m:d>
                      <m:dPr>
                        <m:ctrlPr>
                          <a:rPr lang="en-US" altLang="zh-CN" sz="1400" b="0" i="1" dirty="0" smtClean="0">
                            <a:latin typeface="Cambria Math" panose="02040503050406030204" pitchFamily="18" charset="0"/>
                          </a:rPr>
                        </m:ctrlPr>
                      </m:dPr>
                      <m:e>
                        <m:sSub>
                          <m:sSubPr>
                            <m:ctrlPr>
                              <a:rPr lang="en-US" altLang="zh-CN" sz="1400" b="0" i="1" dirty="0" smtClean="0">
                                <a:latin typeface="Cambria Math" panose="02040503050406030204" pitchFamily="18" charset="0"/>
                              </a:rPr>
                            </m:ctrlPr>
                          </m:sSubPr>
                          <m:e>
                            <m:acc>
                              <m:accPr>
                                <m:chr m:val="̅"/>
                                <m:ctrlPr>
                                  <a:rPr lang="en-US" altLang="zh-CN" sz="1400" b="0" i="1" dirty="0" smtClean="0">
                                    <a:latin typeface="Cambria Math" panose="02040503050406030204" pitchFamily="18" charset="0"/>
                                  </a:rPr>
                                </m:ctrlPr>
                              </m:accPr>
                              <m:e>
                                <m:r>
                                  <a:rPr lang="en-US" altLang="zh-CN" sz="1400" b="0" i="1" dirty="0" smtClean="0">
                                    <a:latin typeface="Cambria Math" panose="02040503050406030204" pitchFamily="18" charset="0"/>
                                  </a:rPr>
                                  <m:t>𝑝</m:t>
                                </m:r>
                              </m:e>
                            </m:acc>
                          </m:e>
                          <m:sub>
                            <m:r>
                              <a:rPr lang="en-US" altLang="zh-CN" sz="1400" b="0" i="1" dirty="0" smtClean="0">
                                <a:latin typeface="Cambria Math" panose="02040503050406030204" pitchFamily="18" charset="0"/>
                              </a:rPr>
                              <m:t>2</m:t>
                            </m:r>
                          </m:sub>
                        </m:sSub>
                      </m:e>
                    </m:d>
                    <m:r>
                      <a:rPr lang="en-US" altLang="zh-CN" sz="1400" b="0" i="1" dirty="0" smtClean="0">
                        <a:latin typeface="Cambria Math" panose="02040503050406030204" pitchFamily="18" charset="0"/>
                      </a:rPr>
                      <m:t>=</m:t>
                    </m:r>
                    <m:r>
                      <a:rPr lang="en-US" altLang="zh-CN" sz="1400" i="1" dirty="0" smtClean="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𝟐</m:t>
                            </m:r>
                          </m:sub>
                        </m:sSub>
                      </m:e>
                    </m:d>
                  </m:oMath>
                </a14:m>
                <a:endParaRPr lang="en-US" altLang="zh-CN" sz="1400" b="1" dirty="0"/>
              </a:p>
              <a:p>
                <a:pPr>
                  <a:lnSpc>
                    <a:spcPct val="130000"/>
                  </a:lnSpc>
                </a:pPr>
                <a:r>
                  <a:rPr lang="en-US" altLang="zh-CN" sz="1400" dirty="0"/>
                  <a:t>         </a:t>
                </a:r>
                <a14:m>
                  <m:oMath xmlns:m="http://schemas.openxmlformats.org/officeDocument/2006/math">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𝜇</m:t>
                        </m:r>
                      </m:e>
                      <m:sub>
                        <m:r>
                          <a:rPr lang="en-US" altLang="zh-CN" sz="1400" b="0" i="1" dirty="0" smtClean="0">
                            <a:latin typeface="Cambria Math" panose="02040503050406030204" pitchFamily="18" charset="0"/>
                          </a:rPr>
                          <m:t>3</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b="0" i="1" dirty="0" smtClean="0">
                                <a:latin typeface="Cambria Math" panose="02040503050406030204" pitchFamily="18" charset="0"/>
                              </a:rPr>
                              <m:t>3</m:t>
                            </m:r>
                          </m:sub>
                        </m:sSub>
                      </m:e>
                    </m:d>
                    <m:r>
                      <a:rPr lang="en-US" altLang="zh-CN" sz="1400" i="1" dirty="0">
                        <a:latin typeface="Cambria Math" panose="02040503050406030204" pitchFamily="18" charset="0"/>
                      </a:rPr>
                      <m:t>=</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𝟑</m:t>
                            </m:r>
                          </m:sub>
                        </m:sSub>
                      </m:e>
                    </m:d>
                    <m:r>
                      <a:rPr lang="en-US" altLang="zh-CN" sz="1400" b="0" i="1" dirty="0" smtClean="0">
                        <a:latin typeface="Cambria Math" panose="02040503050406030204" pitchFamily="18" charset="0"/>
                      </a:rPr>
                      <m:t>𝑑</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𝜔</m:t>
                        </m:r>
                      </m:e>
                      <m:sub>
                        <m:r>
                          <a:rPr lang="en-US" altLang="zh-CN" sz="1400" b="0" i="1" dirty="0" smtClean="0">
                            <a:latin typeface="Cambria Math" panose="02040503050406030204" pitchFamily="18" charset="0"/>
                          </a:rPr>
                          <m:t>2</m:t>
                        </m:r>
                      </m:sub>
                    </m:sSub>
                  </m:oMath>
                </a14:m>
                <a:endParaRPr lang="zh-CN" altLang="en-US" sz="1400" dirty="0"/>
              </a:p>
              <a:p>
                <a:pPr>
                  <a:lnSpc>
                    <a:spcPct val="130000"/>
                  </a:lnSpc>
                </a:pPr>
                <a:r>
                  <a:rPr lang="en-US" altLang="zh-CN" sz="1400" dirty="0"/>
                  <a:t>         </a:t>
                </a:r>
                <a14:m>
                  <m:oMath xmlns:m="http://schemas.openxmlformats.org/officeDocument/2006/math">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𝜇</m:t>
                        </m:r>
                      </m:e>
                      <m:sub>
                        <m:r>
                          <a:rPr lang="en-US" altLang="zh-CN" sz="1400" b="0" i="1" dirty="0" smtClean="0">
                            <a:latin typeface="Cambria Math" panose="02040503050406030204" pitchFamily="18" charset="0"/>
                          </a:rPr>
                          <m:t>4</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b="0" i="1" dirty="0" smtClean="0">
                                <a:latin typeface="Cambria Math" panose="02040503050406030204" pitchFamily="18" charset="0"/>
                              </a:rPr>
                              <m:t>4</m:t>
                            </m:r>
                          </m:sub>
                        </m:sSub>
                      </m:e>
                    </m:d>
                    <m:r>
                      <a:rPr lang="en-US" altLang="zh-CN" sz="1400" i="1" dirty="0">
                        <a:latin typeface="Cambria Math" panose="02040503050406030204" pitchFamily="18" charset="0"/>
                      </a:rPr>
                      <m:t>=</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𝟒</m:t>
                            </m:r>
                          </m:sub>
                        </m:sSub>
                      </m:e>
                    </m:d>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b="0" i="1" dirty="0" smtClean="0">
                            <a:latin typeface="Cambria Math" panose="02040503050406030204" pitchFamily="18" charset="0"/>
                          </a:rPr>
                          <m:t>3</m:t>
                        </m:r>
                      </m:sub>
                    </m:sSub>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i="1" dirty="0">
                            <a:latin typeface="Cambria Math" panose="02040503050406030204" pitchFamily="18" charset="0"/>
                          </a:rPr>
                          <m:t>2</m:t>
                        </m:r>
                      </m:sub>
                    </m:sSub>
                  </m:oMath>
                </a14:m>
                <a:endParaRPr lang="zh-CN" altLang="en-US" sz="1400" dirty="0"/>
              </a:p>
              <a:p>
                <a:pPr>
                  <a:lnSpc>
                    <a:spcPct val="130000"/>
                  </a:lnSpc>
                </a:pPr>
                <a:r>
                  <a:rPr lang="en-US" altLang="zh-CN" sz="1400" dirty="0"/>
                  <a:t>         </a:t>
                </a:r>
                <a14:m>
                  <m:oMath xmlns:m="http://schemas.openxmlformats.org/officeDocument/2006/math">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𝜇</m:t>
                        </m:r>
                      </m:e>
                      <m:sub>
                        <m:r>
                          <a:rPr lang="en-US" altLang="zh-CN" sz="1400" i="1" dirty="0">
                            <a:latin typeface="Cambria Math" panose="02040503050406030204" pitchFamily="18" charset="0"/>
                          </a:rPr>
                          <m:t>5</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5</m:t>
                            </m:r>
                          </m:sub>
                        </m:sSub>
                      </m:e>
                    </m:d>
                    <m:r>
                      <a:rPr lang="en-US" altLang="zh-CN" sz="1400" i="1" dirty="0">
                        <a:latin typeface="Cambria Math" panose="02040503050406030204" pitchFamily="18" charset="0"/>
                      </a:rPr>
                      <m:t>=</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𝟓</m:t>
                            </m:r>
                          </m:sub>
                        </m:sSub>
                      </m:e>
                    </m:d>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i="1" dirty="0">
                            <a:latin typeface="Cambria Math" panose="02040503050406030204" pitchFamily="18" charset="0"/>
                          </a:rPr>
                          <m:t>4</m:t>
                        </m:r>
                      </m:sub>
                    </m:sSub>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i="1" dirty="0">
                            <a:latin typeface="Cambria Math" panose="02040503050406030204" pitchFamily="18" charset="0"/>
                          </a:rPr>
                          <m:t>3</m:t>
                        </m:r>
                      </m:sub>
                    </m:sSub>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i="1" dirty="0">
                            <a:latin typeface="Cambria Math" panose="02040503050406030204" pitchFamily="18" charset="0"/>
                          </a:rPr>
                          <m:t>2</m:t>
                        </m:r>
                      </m:sub>
                    </m:sSub>
                  </m:oMath>
                </a14:m>
                <a:endParaRPr lang="en-US" altLang="zh-CN" sz="1400" dirty="0"/>
              </a:p>
              <a:p>
                <a:pPr>
                  <a:lnSpc>
                    <a:spcPct val="130000"/>
                  </a:lnSpc>
                </a:pPr>
                <a:r>
                  <a:rPr lang="zh-CN" altLang="en-US" sz="1400" b="1" dirty="0"/>
                  <a:t>一般形式：</a:t>
                </a:r>
                <a:endParaRPr lang="en-US" altLang="zh-CN" sz="1400" b="1" dirty="0"/>
              </a:p>
              <a:p>
                <a:pPr>
                  <a:lnSpc>
                    <a:spcPct val="130000"/>
                  </a:lnSpc>
                </a:pPr>
                <a:r>
                  <a:rPr lang="en-US" altLang="zh-CN" sz="1400" dirty="0"/>
                  <a:t>         </a:t>
                </a:r>
                <a14:m>
                  <m:oMath xmlns:m="http://schemas.openxmlformats.org/officeDocument/2006/math">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𝜇</m:t>
                        </m:r>
                      </m:e>
                      <m:sub>
                        <m:r>
                          <m:rPr>
                            <m:sty m:val="p"/>
                          </m:rPr>
                          <a:rPr lang="en-US" altLang="zh-CN" sz="1400" i="1" dirty="0">
                            <a:latin typeface="Cambria Math" panose="02040503050406030204" pitchFamily="18" charset="0"/>
                          </a:rPr>
                          <m:t>i</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b="0" i="1" dirty="0" smtClean="0">
                                <a:latin typeface="Cambria Math" panose="02040503050406030204" pitchFamily="18" charset="0"/>
                              </a:rPr>
                              <m:t>𝑖</m:t>
                            </m:r>
                          </m:sub>
                        </m:sSub>
                      </m:e>
                    </m:d>
                    <m:r>
                      <a:rPr lang="en-US" altLang="zh-CN" sz="1400" i="1" dirty="0">
                        <a:latin typeface="Cambria Math" panose="02040503050406030204" pitchFamily="18" charset="0"/>
                      </a:rPr>
                      <m:t>=</m:t>
                    </m:r>
                    <m:r>
                      <a:rPr lang="en-US" altLang="zh-CN" sz="1400" i="1" dirty="0">
                        <a:latin typeface="Cambria Math" panose="02040503050406030204" pitchFamily="18" charset="0"/>
                      </a:rPr>
                      <m:t>𝑑𝐴</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smtClean="0">
                                <a:latin typeface="Cambria Math" panose="02040503050406030204" pitchFamily="18" charset="0"/>
                              </a:rPr>
                              <m:t>𝒊</m:t>
                            </m:r>
                          </m:sub>
                        </m:sSub>
                      </m:e>
                    </m:d>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b="0" i="1" dirty="0" smtClean="0">
                            <a:latin typeface="Cambria Math" panose="02040503050406030204" pitchFamily="18" charset="0"/>
                          </a:rPr>
                          <m:t>𝑖</m:t>
                        </m:r>
                        <m:r>
                          <a:rPr lang="en-US" altLang="zh-CN" sz="1400" b="0" i="1" dirty="0" smtClean="0">
                            <a:latin typeface="Cambria Math" panose="02040503050406030204" pitchFamily="18" charset="0"/>
                          </a:rPr>
                          <m:t>−1</m:t>
                        </m:r>
                      </m:sub>
                    </m:sSub>
                    <m:r>
                      <a:rPr lang="en-US" altLang="zh-CN" sz="1400" b="0" i="1" dirty="0" smtClean="0">
                        <a:latin typeface="Cambria Math" panose="02040503050406030204" pitchFamily="18" charset="0"/>
                      </a:rPr>
                      <m:t>… </m:t>
                    </m:r>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𝜔</m:t>
                        </m:r>
                      </m:e>
                      <m:sub>
                        <m:r>
                          <a:rPr lang="en-US" altLang="zh-CN" sz="1400" i="1" dirty="0">
                            <a:latin typeface="Cambria Math" panose="02040503050406030204" pitchFamily="18" charset="0"/>
                          </a:rPr>
                          <m:t>2</m:t>
                        </m:r>
                      </m:sub>
                    </m:sSub>
                  </m:oMath>
                </a14:m>
                <a:endParaRPr lang="en-US" altLang="zh-CN" sz="1400" dirty="0"/>
              </a:p>
            </p:txBody>
          </p:sp>
        </mc:Choice>
        <mc:Fallback xmlns="">
          <p:sp>
            <p:nvSpPr>
              <p:cNvPr id="4" name="文本框 3">
                <a:extLst>
                  <a:ext uri="{FF2B5EF4-FFF2-40B4-BE49-F238E27FC236}">
                    <a16:creationId xmlns:a16="http://schemas.microsoft.com/office/drawing/2014/main" id="{121BECA3-1542-85C5-6912-C81845234825}"/>
                  </a:ext>
                </a:extLst>
              </p:cNvPr>
              <p:cNvSpPr txBox="1">
                <a:spLocks noRot="1" noChangeAspect="1" noMove="1" noResize="1" noEditPoints="1" noAdjustHandles="1" noChangeArrowheads="1" noChangeShapeType="1" noTextEdit="1"/>
              </p:cNvSpPr>
              <p:nvPr/>
            </p:nvSpPr>
            <p:spPr>
              <a:xfrm>
                <a:off x="1846509" y="3921939"/>
                <a:ext cx="3405390" cy="2023696"/>
              </a:xfrm>
              <a:prstGeom prst="rect">
                <a:avLst/>
              </a:prstGeom>
              <a:blipFill>
                <a:blip r:embed="rId3"/>
                <a:stretch>
                  <a:fillRect l="-537" b="-24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C5CFCDF-4D5C-6E81-1839-B51656C31EE0}"/>
                  </a:ext>
                </a:extLst>
              </p:cNvPr>
              <p:cNvSpPr txBox="1"/>
              <p:nvPr/>
            </p:nvSpPr>
            <p:spPr>
              <a:xfrm>
                <a:off x="6899320" y="917674"/>
                <a:ext cx="4841959" cy="5238870"/>
              </a:xfrm>
              <a:prstGeom prst="rect">
                <a:avLst/>
              </a:prstGeom>
              <a:noFill/>
            </p:spPr>
            <p:txBody>
              <a:bodyPr wrap="square">
                <a:spAutoFit/>
              </a:bodyPr>
              <a:lstStyle/>
              <a:p>
                <a:pPr>
                  <a:lnSpc>
                    <a:spcPct val="130000"/>
                  </a:lnSpc>
                </a:pPr>
                <a:r>
                  <a:rPr lang="zh-CN" altLang="en-US" sz="1400" dirty="0">
                    <a:latin typeface="Noto Sans SC" panose="020B0200000000000000" pitchFamily="34" charset="-122"/>
                    <a:ea typeface="Noto Sans SC" panose="020B0200000000000000" pitchFamily="34" charset="-122"/>
                  </a:rPr>
                  <a:t>由</a:t>
                </a:r>
                <a14:m>
                  <m:oMath xmlns:m="http://schemas.openxmlformats.org/officeDocument/2006/math">
                    <m:r>
                      <a:rPr lang="en-US" altLang="zh-CN" sz="1400" i="1" dirty="0">
                        <a:latin typeface="Cambria Math" panose="02040503050406030204" pitchFamily="18" charset="0"/>
                      </a:rPr>
                      <m:t>𝑖</m:t>
                    </m:r>
                    <m:r>
                      <a:rPr lang="en-US" altLang="zh-CN" sz="1400" i="1" dirty="0">
                        <a:latin typeface="Cambria Math" panose="02040503050406030204" pitchFamily="18" charset="0"/>
                      </a:rPr>
                      <m:t>+1</m:t>
                    </m:r>
                  </m:oMath>
                </a14:m>
                <a:r>
                  <a:rPr lang="zh-CN" altLang="en-US" sz="1400" dirty="0"/>
                  <a:t>个顶点组成的</a:t>
                </a:r>
                <a:r>
                  <a:rPr lang="zh-CN" altLang="en-US" sz="1400" b="1" dirty="0"/>
                  <a:t>具有</a:t>
                </a:r>
                <a14:m>
                  <m:oMath xmlns:m="http://schemas.openxmlformats.org/officeDocument/2006/math">
                    <m:r>
                      <a:rPr lang="en-US" altLang="zh-CN" sz="1400" b="1" i="1" dirty="0">
                        <a:latin typeface="Cambria Math" panose="02040503050406030204" pitchFamily="18" charset="0"/>
                      </a:rPr>
                      <m:t>𝒊</m:t>
                    </m:r>
                  </m:oMath>
                </a14:m>
                <a:r>
                  <a:rPr lang="zh-CN" altLang="en-US" sz="1400" b="1" dirty="0"/>
                  <a:t>条边的一条路径</a:t>
                </a:r>
                <a:r>
                  <a:rPr lang="zh-CN" altLang="en-US" sz="1400" dirty="0"/>
                  <a:t>：</a:t>
                </a:r>
                <a:endParaRPr lang="en-US" altLang="zh-CN" sz="1400" dirty="0"/>
              </a:p>
              <a:p>
                <a:pPr>
                  <a:lnSpc>
                    <a:spcPct val="130000"/>
                  </a:lnSpc>
                </a:pPr>
                <a14:m>
                  <m:oMathPara xmlns:m="http://schemas.openxmlformats.org/officeDocument/2006/math">
                    <m:oMath>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r>
                        <a:rPr lang="en-US" altLang="zh-CN" sz="1400" i="1" dirty="0">
                          <a:latin typeface="Cambria Math" panose="02040503050406030204" pitchFamily="18" charset="0"/>
                        </a:rPr>
                        <m:t>=</m:t>
                      </m:r>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𝑝</m:t>
                              </m:r>
                            </m:e>
                            <m:sub>
                              <m:r>
                                <a:rPr lang="en-US" altLang="zh-CN" sz="1400" i="1" dirty="0">
                                  <a:latin typeface="Cambria Math" panose="02040503050406030204" pitchFamily="18" charset="0"/>
                                </a:rPr>
                                <m:t>0</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𝑝</m:t>
                              </m:r>
                            </m:e>
                            <m:sub>
                              <m:r>
                                <a:rPr lang="en-US" altLang="zh-CN" sz="1400" i="1" dirty="0">
                                  <a:latin typeface="Cambria Math" panose="02040503050406030204" pitchFamily="18" charset="0"/>
                                </a:rPr>
                                <m:t>1</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𝑝</m:t>
                              </m:r>
                            </m:e>
                            <m:sub>
                              <m:r>
                                <a:rPr lang="en-US" altLang="zh-CN" sz="1400" i="1" dirty="0">
                                  <a:latin typeface="Cambria Math" panose="02040503050406030204" pitchFamily="18" charset="0"/>
                                </a:rPr>
                                <m:t>𝑖</m:t>
                              </m:r>
                            </m:sub>
                          </m:sSub>
                        </m:e>
                      </m:d>
                      <m:r>
                        <a:rPr lang="en-US" altLang="zh-CN" sz="1400" b="0" i="1" dirty="0" smtClean="0">
                          <a:latin typeface="Cambria Math" panose="02040503050406030204" pitchFamily="18" charset="0"/>
                        </a:rPr>
                        <m:t>,  </m:t>
                      </m:r>
                      <m:r>
                        <a:rPr lang="zh-CN" altLang="en-US" sz="1400" i="1" dirty="0">
                          <a:latin typeface="Cambria Math" panose="02040503050406030204" pitchFamily="18" charset="0"/>
                        </a:rPr>
                        <m:t>其中</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𝑝</m:t>
                          </m:r>
                        </m:e>
                        <m:sub>
                          <m:r>
                            <a:rPr lang="en-US" altLang="zh-CN" sz="1400" b="0" i="1" dirty="0" smtClean="0">
                              <a:latin typeface="Cambria Math" panose="02040503050406030204" pitchFamily="18" charset="0"/>
                            </a:rPr>
                            <m:t>0</m:t>
                          </m:r>
                        </m:sub>
                      </m:sSub>
                      <m:r>
                        <a:rPr lang="en-US" altLang="zh-CN" sz="1400" b="0" i="1" dirty="0" smtClean="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𝑝</m:t>
                          </m:r>
                        </m:e>
                        <m:sub>
                          <m:r>
                            <a:rPr lang="en-US" altLang="zh-CN" sz="1400" b="0" i="1" dirty="0" smtClean="0">
                              <a:latin typeface="Cambria Math" panose="02040503050406030204" pitchFamily="18" charset="0"/>
                            </a:rPr>
                            <m:t>1</m:t>
                          </m:r>
                        </m:sub>
                      </m:sSub>
                      <m:r>
                        <a:rPr lang="zh-CN" altLang="en-US" sz="1400" i="1" dirty="0">
                          <a:latin typeface="Cambria Math" panose="02040503050406030204" pitchFamily="18" charset="0"/>
                        </a:rPr>
                        <m:t>固定</m:t>
                      </m:r>
                    </m:oMath>
                  </m:oMathPara>
                </a14:m>
                <a:endParaRPr lang="en-US" altLang="zh-CN" sz="1400" dirty="0"/>
              </a:p>
              <a:p>
                <a:pPr>
                  <a:lnSpc>
                    <a:spcPct val="130000"/>
                  </a:lnSpc>
                  <a:spcBef>
                    <a:spcPts val="800"/>
                  </a:spcBef>
                </a:pPr>
                <a:r>
                  <a:rPr lang="zh-CN" altLang="en-US" sz="1400" dirty="0"/>
                  <a:t>所有长度为</a:t>
                </a:r>
                <a14:m>
                  <m:oMath xmlns:m="http://schemas.openxmlformats.org/officeDocument/2006/math">
                    <m:r>
                      <a:rPr lang="en-US" altLang="zh-CN" sz="1400" i="1" dirty="0">
                        <a:latin typeface="Cambria Math" panose="02040503050406030204" pitchFamily="18" charset="0"/>
                      </a:rPr>
                      <m:t>𝑖</m:t>
                    </m:r>
                  </m:oMath>
                </a14:m>
                <a:r>
                  <a:rPr lang="zh-CN" altLang="en-US" sz="1400" dirty="0"/>
                  <a:t>的路径组成的</a:t>
                </a:r>
                <a:r>
                  <a:rPr lang="zh-CN" altLang="en-US" sz="1400" b="1" dirty="0"/>
                  <a:t>路径空间</a:t>
                </a:r>
                <a:r>
                  <a:rPr lang="en-US" altLang="zh-CN" sz="1400" b="1" dirty="0"/>
                  <a:t>/</a:t>
                </a:r>
                <a:r>
                  <a:rPr lang="zh-CN" altLang="en-US" sz="1400" b="1" dirty="0"/>
                  <a:t>集合</a:t>
                </a:r>
                <a:r>
                  <a:rPr lang="zh-CN" altLang="en-US" sz="1400" dirty="0"/>
                  <a:t>：</a:t>
                </a:r>
                <a:endParaRPr lang="en-US" altLang="zh-CN" sz="1400" dirty="0"/>
              </a:p>
              <a:p>
                <a:pPr>
                  <a:lnSpc>
                    <a:spcPct val="130000"/>
                  </a:lnSpc>
                </a:pPr>
                <a14:m>
                  <m:oMathPara xmlns:m="http://schemas.openxmlformats.org/officeDocument/2006/math">
                    <m:oMath>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𝒫</m:t>
                          </m:r>
                        </m:e>
                        <m:sub>
                          <m:r>
                            <a:rPr lang="en-US" altLang="zh-CN" sz="1400" i="1" dirty="0">
                              <a:latin typeface="Cambria Math" panose="02040503050406030204" pitchFamily="18" charset="0"/>
                            </a:rPr>
                            <m:t>𝑖</m:t>
                          </m:r>
                        </m:sub>
                      </m:sSub>
                      <m:r>
                        <a:rPr lang="en-US" altLang="zh-CN" sz="1400" b="0" i="1" dirty="0" smtClean="0">
                          <a:latin typeface="Cambria Math" panose="02040503050406030204" pitchFamily="18" charset="0"/>
                        </a:rPr>
                        <m:t>=</m:t>
                      </m:r>
                      <m:d>
                        <m:dPr>
                          <m:begChr m:val="{"/>
                          <m:endChr m:val="}"/>
                          <m:ctrlPr>
                            <a:rPr lang="zh-CN" altLang="en-US" sz="1400" i="1" dirty="0">
                              <a:latin typeface="Cambria Math" panose="02040503050406030204" pitchFamily="18" charset="0"/>
                            </a:rPr>
                          </m:ctrlPr>
                        </m:dPr>
                        <m:e>
                          <m:r>
                            <a:rPr lang="zh-CN" altLang="en-US" sz="1400" i="1" dirty="0">
                              <a:latin typeface="Cambria Math" panose="02040503050406030204" pitchFamily="18" charset="0"/>
                            </a:rPr>
                            <m:t>长度</m:t>
                          </m:r>
                          <m:r>
                            <a:rPr lang="zh-CN" altLang="en-US" sz="1400" i="1" dirty="0" smtClean="0">
                              <a:latin typeface="Cambria Math" panose="02040503050406030204" pitchFamily="18" charset="0"/>
                            </a:rPr>
                            <m:t>为</m:t>
                          </m:r>
                          <m:r>
                            <a:rPr lang="en-US" altLang="zh-CN" sz="1400" b="0" i="1" dirty="0" smtClean="0">
                              <a:latin typeface="Cambria Math" panose="02040503050406030204" pitchFamily="18" charset="0"/>
                            </a:rPr>
                            <m:t>𝑖</m:t>
                          </m:r>
                          <m:r>
                            <a:rPr lang="zh-CN" altLang="en-US" sz="1400" i="1" dirty="0">
                              <a:latin typeface="Cambria Math" panose="02040503050406030204" pitchFamily="18" charset="0"/>
                            </a:rPr>
                            <m:t>的</m:t>
                          </m:r>
                          <m:r>
                            <a:rPr lang="zh-CN" altLang="en-US" sz="1400" i="1" dirty="0" smtClean="0">
                              <a:latin typeface="Cambria Math" panose="02040503050406030204" pitchFamily="18" charset="0"/>
                            </a:rPr>
                            <m:t>路径</m:t>
                          </m:r>
                          <m:r>
                            <a:rPr lang="en-US" altLang="zh-CN" sz="1400" b="0" i="1" dirty="0" smtClean="0">
                              <a:latin typeface="Cambria Math" panose="02040503050406030204" pitchFamily="18" charset="0"/>
                            </a:rPr>
                            <m:t>, </m:t>
                          </m:r>
                          <m:r>
                            <a:rPr lang="zh-CN" altLang="en-US" sz="1400" i="1" dirty="0">
                              <a:latin typeface="Cambria Math" panose="02040503050406030204" pitchFamily="18" charset="0"/>
                            </a:rPr>
                            <m:t>其中</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𝑝</m:t>
                              </m:r>
                            </m:e>
                            <m:sub>
                              <m:r>
                                <a:rPr lang="en-US" altLang="zh-CN" sz="1400" i="1" dirty="0">
                                  <a:latin typeface="Cambria Math" panose="02040503050406030204" pitchFamily="18" charset="0"/>
                                </a:rPr>
                                <m:t>0</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𝑝</m:t>
                              </m:r>
                            </m:e>
                            <m:sub>
                              <m:r>
                                <a:rPr lang="en-US" altLang="zh-CN" sz="1400" i="1" dirty="0">
                                  <a:latin typeface="Cambria Math" panose="02040503050406030204" pitchFamily="18" charset="0"/>
                                </a:rPr>
                                <m:t>1</m:t>
                              </m:r>
                            </m:sub>
                          </m:sSub>
                          <m:r>
                            <a:rPr lang="zh-CN" altLang="en-US" sz="1400" i="1" dirty="0">
                              <a:latin typeface="Cambria Math" panose="02040503050406030204" pitchFamily="18" charset="0"/>
                            </a:rPr>
                            <m:t>固定</m:t>
                          </m:r>
                          <m:r>
                            <m:rPr>
                              <m:nor/>
                            </m:rPr>
                            <a:rPr lang="en-US" altLang="zh-CN" sz="1400" i="0" dirty="0"/>
                            <m:t> </m:t>
                          </m:r>
                        </m:e>
                      </m:d>
                      <m:r>
                        <a:rPr lang="en-US" altLang="zh-CN" sz="1400" b="0" i="1" dirty="0" smtClean="0">
                          <a:latin typeface="Cambria Math" panose="02040503050406030204" pitchFamily="18" charset="0"/>
                        </a:rPr>
                        <m:t>,  </m:t>
                      </m:r>
                      <m:sSub>
                        <m:sSubPr>
                          <m:ctrlPr>
                            <a:rPr lang="en-US" altLang="zh-CN" sz="1400" b="0" i="1" dirty="0" smtClean="0">
                              <a:latin typeface="Cambria Math" panose="02040503050406030204" pitchFamily="18" charset="0"/>
                            </a:rPr>
                          </m:ctrlPr>
                        </m:sSubPr>
                        <m:e>
                          <m:acc>
                            <m:accPr>
                              <m:chr m:val="̅"/>
                              <m:ctrlPr>
                                <a:rPr lang="en-US" altLang="zh-CN" sz="1400" b="0" i="1" dirty="0" smtClean="0">
                                  <a:latin typeface="Cambria Math" panose="02040503050406030204" pitchFamily="18" charset="0"/>
                                </a:rPr>
                              </m:ctrlPr>
                            </m:accPr>
                            <m:e>
                              <m:r>
                                <a:rPr lang="en-US" altLang="zh-CN" sz="1400" b="0" i="1" dirty="0" smtClean="0">
                                  <a:latin typeface="Cambria Math" panose="02040503050406030204" pitchFamily="18" charset="0"/>
                                </a:rPr>
                                <m:t>𝑝</m:t>
                              </m:r>
                            </m:e>
                          </m:acc>
                        </m:e>
                        <m:sub>
                          <m:r>
                            <a:rPr lang="en-US" altLang="zh-CN" sz="1400" b="0" i="1" dirty="0" smtClean="0">
                              <a:latin typeface="Cambria Math" panose="02040503050406030204" pitchFamily="18" charset="0"/>
                            </a:rPr>
                            <m:t>𝑖</m:t>
                          </m:r>
                        </m:sub>
                      </m:sSub>
                      <m:r>
                        <a:rPr lang="en-US" altLang="zh-CN" sz="1400" b="0" i="1" dirty="0" smtClean="0">
                          <a:latin typeface="Cambria Math" panose="02040503050406030204" pitchFamily="18" charset="0"/>
                        </a:rPr>
                        <m:t>∈</m:t>
                      </m:r>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𝒫</m:t>
                          </m:r>
                        </m:e>
                        <m:sub>
                          <m:r>
                            <a:rPr lang="en-US" altLang="zh-CN" sz="1400" i="1" dirty="0">
                              <a:latin typeface="Cambria Math" panose="02040503050406030204" pitchFamily="18" charset="0"/>
                            </a:rPr>
                            <m:t>𝑖</m:t>
                          </m:r>
                        </m:sub>
                      </m:sSub>
                    </m:oMath>
                  </m:oMathPara>
                </a14:m>
                <a:endParaRPr lang="en-US" altLang="zh-CN" sz="1400" b="0" dirty="0"/>
              </a:p>
              <a:p>
                <a:pPr>
                  <a:lnSpc>
                    <a:spcPct val="130000"/>
                  </a:lnSpc>
                  <a:spcBef>
                    <a:spcPts val="800"/>
                  </a:spcBef>
                </a:pPr>
                <a:r>
                  <a:rPr lang="zh-CN" altLang="en-US" sz="1400" dirty="0"/>
                  <a:t>路径空间</a:t>
                </a:r>
                <a14:m>
                  <m:oMath xmlns:m="http://schemas.openxmlformats.org/officeDocument/2006/math">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𝒫</m:t>
                        </m:r>
                      </m:e>
                      <m:sub>
                        <m:r>
                          <a:rPr lang="en-US" altLang="zh-CN" sz="1400" i="1" dirty="0">
                            <a:latin typeface="Cambria Math" panose="02040503050406030204" pitchFamily="18" charset="0"/>
                          </a:rPr>
                          <m:t>𝑖</m:t>
                        </m:r>
                      </m:sub>
                    </m:sSub>
                  </m:oMath>
                </a14:m>
                <a:r>
                  <a:rPr lang="zh-CN" altLang="en-US" sz="1400" dirty="0"/>
                  <a:t>上的</a:t>
                </a:r>
                <a:r>
                  <a:rPr lang="zh-CN" altLang="en-US" sz="1400" b="1" dirty="0"/>
                  <a:t>测度</a:t>
                </a:r>
                <a:r>
                  <a:rPr lang="zh-CN" altLang="en-US" sz="1400" dirty="0"/>
                  <a:t>：</a:t>
                </a:r>
                <a:endParaRPr lang="en-US" altLang="zh-CN" sz="1400" b="0" i="1" dirty="0">
                  <a:latin typeface="Cambria Math" panose="02040503050406030204" pitchFamily="18" charset="0"/>
                </a:endParaRPr>
              </a:p>
              <a:p>
                <a:pPr>
                  <a:lnSpc>
                    <a:spcPct val="130000"/>
                  </a:lnSpc>
                </a:pPr>
                <a14:m>
                  <m:oMathPara xmlns:m="http://schemas.openxmlformats.org/officeDocument/2006/math">
                    <m:o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𝜇</m:t>
                          </m:r>
                        </m:e>
                        <m:sub>
                          <m:r>
                            <a:rPr lang="en-US" altLang="zh-CN" sz="1400" b="0" i="1" smtClean="0">
                              <a:latin typeface="Cambria Math" panose="02040503050406030204" pitchFamily="18" charset="0"/>
                            </a:rPr>
                            <m:t>𝑖</m:t>
                          </m:r>
                        </m:sub>
                      </m:sSub>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𝑑</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𝜇</m:t>
                          </m:r>
                        </m:e>
                        <m:sub>
                          <m:r>
                            <a:rPr lang="en-US" altLang="zh-CN" sz="1400" b="0" i="1" smtClean="0">
                              <a:latin typeface="Cambria Math" panose="02040503050406030204" pitchFamily="18" charset="0"/>
                            </a:rPr>
                            <m:t>𝑖</m:t>
                          </m:r>
                        </m:sub>
                      </m:sSub>
                      <m:d>
                        <m:dPr>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acc>
                                <m:accPr>
                                  <m:chr m:val="̅"/>
                                  <m:ctrlPr>
                                    <a:rPr lang="en-US" altLang="zh-CN" sz="1400" b="0" i="1" smtClean="0">
                                      <a:latin typeface="Cambria Math" panose="02040503050406030204" pitchFamily="18" charset="0"/>
                                    </a:rPr>
                                  </m:ctrlPr>
                                </m:accPr>
                                <m:e>
                                  <m:r>
                                    <a:rPr lang="en-US" altLang="zh-CN" sz="1400" b="0" i="1" smtClean="0">
                                      <a:latin typeface="Cambria Math" panose="02040503050406030204" pitchFamily="18" charset="0"/>
                                    </a:rPr>
                                    <m:t>𝑝</m:t>
                                  </m:r>
                                </m:e>
                              </m:acc>
                            </m:e>
                            <m:sub>
                              <m:r>
                                <a:rPr lang="en-US" altLang="zh-CN" sz="1400" b="0" i="1" dirty="0" smtClean="0">
                                  <a:latin typeface="Cambria Math" panose="02040503050406030204" pitchFamily="18" charset="0"/>
                                </a:rPr>
                                <m:t>𝑖</m:t>
                              </m:r>
                            </m:sub>
                          </m:sSub>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𝑑𝐴</m:t>
                      </m:r>
                      <m:d>
                        <m:dPr>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𝑝</m:t>
                              </m:r>
                            </m:e>
                            <m:sub>
                              <m:r>
                                <a:rPr lang="en-US" altLang="zh-CN" sz="1400" b="0" i="1" smtClean="0">
                                  <a:latin typeface="Cambria Math" panose="02040503050406030204" pitchFamily="18" charset="0"/>
                                </a:rPr>
                                <m:t>𝑖</m:t>
                              </m:r>
                            </m:sub>
                          </m:sSub>
                        </m:e>
                      </m:d>
                      <m:r>
                        <a:rPr lang="en-US" altLang="zh-CN" sz="1400" b="0" i="1" smtClean="0">
                          <a:latin typeface="Cambria Math" panose="02040503050406030204" pitchFamily="18" charset="0"/>
                        </a:rPr>
                        <m:t>𝑑</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𝜔</m:t>
                          </m:r>
                        </m:e>
                        <m:sub>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𝑑</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𝜔</m:t>
                          </m:r>
                        </m:e>
                        <m:sub>
                          <m:r>
                            <a:rPr lang="en-US" altLang="zh-CN" sz="1400" b="0" i="1" smtClean="0">
                              <a:latin typeface="Cambria Math" panose="02040503050406030204" pitchFamily="18" charset="0"/>
                            </a:rPr>
                            <m:t>2</m:t>
                          </m:r>
                        </m:sub>
                      </m:sSub>
                    </m:oMath>
                  </m:oMathPara>
                </a14:m>
                <a:endParaRPr lang="en-US" altLang="zh-CN" sz="1400" dirty="0"/>
              </a:p>
              <a:p>
                <a:pPr>
                  <a:lnSpc>
                    <a:spcPct val="130000"/>
                  </a:lnSpc>
                  <a:spcBef>
                    <a:spcPts val="800"/>
                  </a:spcBef>
                </a:pPr>
                <a:r>
                  <a:rPr lang="zh-CN" altLang="en-US" sz="1400" dirty="0"/>
                  <a:t>路径</a:t>
                </a:r>
                <a14:m>
                  <m:oMath xmlns:m="http://schemas.openxmlformats.org/officeDocument/2006/math">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oMath>
                </a14:m>
                <a:r>
                  <a:rPr lang="zh-CN" altLang="en-US" sz="1400" dirty="0"/>
                  <a:t>处的</a:t>
                </a:r>
                <a:r>
                  <a:rPr lang="zh-CN" altLang="en-US" sz="1400" b="1" dirty="0"/>
                  <a:t>光照贡献密度</a:t>
                </a:r>
                <a:r>
                  <a:rPr lang="zh-CN" altLang="en-US" sz="1400" dirty="0"/>
                  <a:t>：</a:t>
                </a:r>
                <a:endParaRPr lang="en-US" altLang="zh-CN" sz="1400" dirty="0"/>
              </a:p>
              <a:p>
                <a:pPr>
                  <a:lnSpc>
                    <a:spcPct val="130000"/>
                  </a:lnSpc>
                </a:pPr>
                <a14:m>
                  <m:oMathPara xmlns:m="http://schemas.openxmlformats.org/officeDocument/2006/math">
                    <m:oMath>
                      <m:sSub>
                        <m:sSubPr>
                          <m:ctrlPr>
                            <a:rPr lang="en-US" altLang="zh-CN" sz="1400" dirty="0">
                              <a:latin typeface="Cambria Math" panose="02040503050406030204" pitchFamily="18" charset="0"/>
                            </a:rPr>
                          </m:ctrlPr>
                        </m:sSubPr>
                        <m:e>
                          <m:r>
                            <m:rPr>
                              <m:sty m:val="p"/>
                            </m:rPr>
                            <a:rPr lang="en-US" altLang="zh-CN" sz="1400" dirty="0">
                              <a:latin typeface="Cambria Math" panose="02040503050406030204" pitchFamily="18" charset="0"/>
                            </a:rPr>
                            <m:t>Φ</m:t>
                          </m:r>
                        </m:e>
                        <m:sub>
                          <m:r>
                            <a:rPr lang="en-US" altLang="zh-CN" sz="1400" i="1" dirty="0">
                              <a:latin typeface="Cambria Math" panose="02040503050406030204" pitchFamily="18" charset="0"/>
                            </a:rPr>
                            <m:t>𝑖</m:t>
                          </m:r>
                        </m:sub>
                      </m:sSub>
                      <m:r>
                        <a:rPr lang="en-US" altLang="zh-CN" sz="1400" i="1" dirty="0">
                          <a:latin typeface="Cambria Math" panose="02040503050406030204" pitchFamily="18" charset="0"/>
                        </a:rPr>
                        <m:t> :</m:t>
                      </m:r>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𝒫</m:t>
                          </m:r>
                        </m:e>
                        <m:sub>
                          <m:r>
                            <a:rPr lang="en-US" altLang="zh-CN" sz="1400" i="1" dirty="0">
                              <a:latin typeface="Cambria Math" panose="02040503050406030204" pitchFamily="18" charset="0"/>
                            </a:rPr>
                            <m:t>𝑖</m:t>
                          </m:r>
                        </m:sub>
                      </m:sSub>
                      <m:r>
                        <a:rPr lang="en-US" altLang="zh-CN" sz="1400" i="1" dirty="0">
                          <a:latin typeface="Cambria Math" panose="02040503050406030204" pitchFamily="18" charset="0"/>
                        </a:rPr>
                        <m:t>→</m:t>
                      </m:r>
                      <m:sSub>
                        <m:sSubPr>
                          <m:ctrlPr>
                            <a:rPr lang="en-US" altLang="zh-CN" sz="1400" i="1" dirty="0">
                              <a:latin typeface="Cambria Math" panose="02040503050406030204" pitchFamily="18" charset="0"/>
                              <a:ea typeface="Cambria Math" panose="02040503050406030204" pitchFamily="18" charset="0"/>
                            </a:rPr>
                          </m:ctrlPr>
                        </m:sSubPr>
                        <m:e>
                          <m:r>
                            <a:rPr lang="en-US" altLang="zh-CN" sz="1400" i="1" dirty="0">
                              <a:latin typeface="Cambria Math" panose="02040503050406030204" pitchFamily="18" charset="0"/>
                              <a:ea typeface="Cambria Math" panose="02040503050406030204" pitchFamily="18" charset="0"/>
                            </a:rPr>
                            <m:t>ℝ</m:t>
                          </m:r>
                        </m:e>
                        <m:sub>
                          <m:r>
                            <a:rPr lang="en-US" altLang="zh-CN" sz="1400" i="1" dirty="0">
                              <a:latin typeface="Cambria Math" panose="02040503050406030204" pitchFamily="18" charset="0"/>
                              <a:ea typeface="Cambria Math" panose="02040503050406030204" pitchFamily="18" charset="0"/>
                            </a:rPr>
                            <m:t>≥0</m:t>
                          </m:r>
                        </m:sub>
                      </m:sSub>
                    </m:oMath>
                  </m:oMathPara>
                </a14:m>
                <a:endParaRPr lang="en-US" altLang="zh-CN" sz="1400" i="1" dirty="0">
                  <a:latin typeface="Cambria Math" panose="02040503050406030204" pitchFamily="18" charset="0"/>
                  <a:ea typeface="Cambria Math" panose="02040503050406030204" pitchFamily="18" charset="0"/>
                </a:endParaRPr>
              </a:p>
              <a:p>
                <a:pPr/>
                <a14:m>
                  <m:oMathPara xmlns:m="http://schemas.openxmlformats.org/officeDocument/2006/math">
                    <m:oMath>
                      <m:sSub>
                        <m:sSubPr>
                          <m:ctrlPr>
                            <a:rPr lang="en-US" altLang="zh-CN" sz="1400" dirty="0">
                              <a:latin typeface="Cambria Math" panose="02040503050406030204" pitchFamily="18" charset="0"/>
                            </a:rPr>
                          </m:ctrlPr>
                        </m:sSubPr>
                        <m:e>
                          <m:r>
                            <m:rPr>
                              <m:sty m:val="p"/>
                            </m:rPr>
                            <a:rPr lang="en-US" altLang="zh-CN" sz="1400" dirty="0">
                              <a:latin typeface="Cambria Math" panose="02040503050406030204" pitchFamily="18" charset="0"/>
                            </a:rPr>
                            <m:t>Φ</m:t>
                          </m:r>
                        </m:e>
                        <m:sub>
                          <m:r>
                            <m:rPr>
                              <m:sty m:val="p"/>
                            </m:rPr>
                            <a:rPr lang="en-US" altLang="zh-CN" sz="1400" dirty="0">
                              <a:latin typeface="Cambria Math" panose="02040503050406030204" pitchFamily="18" charset="0"/>
                            </a:rPr>
                            <m:t>i</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e>
                      </m:d>
                      <m:r>
                        <a:rPr lang="en-US" altLang="zh-CN" sz="1400" i="1" dirty="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𝑓</m:t>
                          </m:r>
                        </m:e>
                        <m:sub>
                          <m:r>
                            <a:rPr lang="en-US" altLang="zh-CN" sz="1400" b="0" i="1" dirty="0" smtClean="0">
                              <a:latin typeface="Cambria Math" panose="02040503050406030204" pitchFamily="18" charset="0"/>
                            </a:rPr>
                            <m:t>𝑖</m:t>
                          </m:r>
                          <m:r>
                            <a:rPr lang="en-US" altLang="zh-CN" sz="1400" b="0" i="1" dirty="0" smtClean="0">
                              <a:latin typeface="Cambria Math" panose="02040503050406030204" pitchFamily="18" charset="0"/>
                            </a:rPr>
                            <m:t>−1</m:t>
                          </m:r>
                        </m:sub>
                      </m:sSub>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𝐺</m:t>
                          </m:r>
                        </m:e>
                        <m:sub>
                          <m:r>
                            <a:rPr lang="en-US" altLang="zh-CN" sz="1400" b="0" i="1" dirty="0" smtClean="0">
                              <a:latin typeface="Cambria Math" panose="02040503050406030204" pitchFamily="18" charset="0"/>
                            </a:rPr>
                            <m:t>𝑖</m:t>
                          </m:r>
                          <m:r>
                            <a:rPr lang="en-US" altLang="zh-CN" sz="1400" b="0" i="1" dirty="0" smtClean="0">
                              <a:latin typeface="Cambria Math" panose="02040503050406030204" pitchFamily="18" charset="0"/>
                            </a:rPr>
                            <m:t>−1</m:t>
                          </m:r>
                        </m:sub>
                      </m:sSub>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𝐿</m:t>
                          </m:r>
                        </m:e>
                        <m:sub>
                          <m:r>
                            <a:rPr lang="en-US" altLang="zh-CN" sz="1400" i="1" dirty="0">
                              <a:latin typeface="Cambria Math" panose="02040503050406030204" pitchFamily="18" charset="0"/>
                            </a:rPr>
                            <m:t>𝑒</m:t>
                          </m:r>
                        </m:sub>
                      </m:sSub>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𝒊</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𝒊</m:t>
                              </m:r>
                              <m:r>
                                <a:rPr lang="en-US" altLang="zh-CN" sz="1400" b="1" i="1" dirty="0">
                                  <a:latin typeface="Cambria Math" panose="02040503050406030204" pitchFamily="18" charset="0"/>
                                </a:rPr>
                                <m:t>−</m:t>
                              </m:r>
                              <m:r>
                                <a:rPr lang="en-US" altLang="zh-CN" sz="1400" b="1" i="1" dirty="0">
                                  <a:latin typeface="Cambria Math" panose="02040503050406030204" pitchFamily="18" charset="0"/>
                                </a:rPr>
                                <m:t>𝟏</m:t>
                              </m:r>
                            </m:sub>
                          </m:sSub>
                        </m:e>
                      </m:d>
                      <m:nary>
                        <m:naryPr>
                          <m:chr m:val="∏"/>
                          <m:ctrlPr>
                            <a:rPr lang="en-US" altLang="zh-CN" sz="1400" i="1" dirty="0">
                              <a:latin typeface="Cambria Math" panose="02040503050406030204" pitchFamily="18" charset="0"/>
                            </a:rPr>
                          </m:ctrlPr>
                        </m:naryPr>
                        <m:sub>
                          <m:r>
                            <m:rPr>
                              <m:brk m:alnAt="23"/>
                            </m:rPr>
                            <a:rPr lang="en-US" altLang="zh-CN" sz="1400" i="1" dirty="0">
                              <a:latin typeface="Cambria Math" panose="02040503050406030204" pitchFamily="18" charset="0"/>
                            </a:rPr>
                            <m:t>𝑘</m:t>
                          </m:r>
                          <m:r>
                            <a:rPr lang="en-US" altLang="zh-CN" sz="1400" i="1" dirty="0">
                              <a:latin typeface="Cambria Math" panose="02040503050406030204" pitchFamily="18" charset="0"/>
                            </a:rPr>
                            <m:t>=1</m:t>
                          </m:r>
                        </m:sub>
                        <m:sup>
                          <m:r>
                            <a:rPr lang="en-US" altLang="zh-CN" sz="1400" i="1" dirty="0">
                              <a:latin typeface="Cambria Math" panose="02040503050406030204" pitchFamily="18" charset="0"/>
                            </a:rPr>
                            <m:t>𝑖</m:t>
                          </m:r>
                          <m:r>
                            <a:rPr lang="en-US" altLang="zh-CN" sz="1400" i="1" dirty="0">
                              <a:latin typeface="Cambria Math" panose="02040503050406030204" pitchFamily="18" charset="0"/>
                            </a:rPr>
                            <m:t>−2</m:t>
                          </m:r>
                        </m:sup>
                        <m:e>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𝑓</m:t>
                              </m:r>
                            </m:e>
                            <m:sub>
                              <m:r>
                                <a:rPr lang="en-US" altLang="zh-CN" sz="1400" i="1" dirty="0">
                                  <a:latin typeface="Cambria Math" panose="02040503050406030204" pitchFamily="18" charset="0"/>
                                </a:rPr>
                                <m:t>𝑘</m:t>
                              </m:r>
                            </m:sub>
                          </m:sSub>
                          <m:d>
                            <m:dPr>
                              <m:begChr m:val="|"/>
                              <m:endChr m:val="|"/>
                              <m:ctrlPr>
                                <a:rPr lang="en-US" altLang="zh-CN" sz="1400" i="1" dirty="0">
                                  <a:latin typeface="Cambria Math" panose="02040503050406030204" pitchFamily="18" charset="0"/>
                                </a:rPr>
                              </m:ctrlPr>
                            </m:dPr>
                            <m:e>
                              <m:func>
                                <m:funcPr>
                                  <m:ctrlPr>
                                    <a:rPr lang="en-US" altLang="zh-CN" sz="1400" dirty="0">
                                      <a:latin typeface="Cambria Math" panose="02040503050406030204" pitchFamily="18" charset="0"/>
                                    </a:rPr>
                                  </m:ctrlPr>
                                </m:funcPr>
                                <m:fName>
                                  <m:r>
                                    <m:rPr>
                                      <m:sty m:val="p"/>
                                    </m:rPr>
                                    <a:rPr lang="en-US" altLang="zh-CN" sz="1400" dirty="0">
                                      <a:latin typeface="Cambria Math" panose="02040503050406030204" pitchFamily="18" charset="0"/>
                                    </a:rPr>
                                    <m:t>cos</m:t>
                                  </m:r>
                                </m:fName>
                                <m:e>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𝜃</m:t>
                                      </m:r>
                                    </m:e>
                                    <m:sub>
                                      <m:r>
                                        <a:rPr lang="en-US" altLang="zh-CN" sz="1400" i="1" dirty="0">
                                          <a:latin typeface="Cambria Math" panose="02040503050406030204" pitchFamily="18" charset="0"/>
                                        </a:rPr>
                                        <m:t>𝑘</m:t>
                                      </m:r>
                                      <m:r>
                                        <a:rPr lang="en-US" altLang="zh-CN" sz="1400" i="1" dirty="0">
                                          <a:latin typeface="Cambria Math" panose="02040503050406030204" pitchFamily="18" charset="0"/>
                                        </a:rPr>
                                        <m:t>+1</m:t>
                                      </m:r>
                                    </m:sub>
                                  </m:sSub>
                                </m:e>
                              </m:func>
                            </m:e>
                          </m:d>
                        </m:e>
                      </m:nary>
                    </m:oMath>
                  </m:oMathPara>
                </a14:m>
                <a:endParaRPr lang="en-US" altLang="zh-CN" sz="1400" dirty="0"/>
              </a:p>
              <a:p>
                <a:pPr>
                  <a:lnSpc>
                    <a:spcPct val="130000"/>
                  </a:lnSpc>
                  <a:spcBef>
                    <a:spcPts val="800"/>
                  </a:spcBef>
                </a:pPr>
                <a:r>
                  <a:rPr lang="zh-CN" altLang="en-US" sz="1400" dirty="0"/>
                  <a:t>所有长度为</a:t>
                </a:r>
                <a14:m>
                  <m:oMath xmlns:m="http://schemas.openxmlformats.org/officeDocument/2006/math">
                    <m:r>
                      <a:rPr lang="en-US" altLang="zh-CN" sz="1400" i="1" dirty="0">
                        <a:latin typeface="Cambria Math" panose="02040503050406030204" pitchFamily="18" charset="0"/>
                      </a:rPr>
                      <m:t>𝑖</m:t>
                    </m:r>
                  </m:oMath>
                </a14:m>
                <a:r>
                  <a:rPr lang="zh-CN" altLang="en-US" sz="1400" dirty="0"/>
                  <a:t>的路径的</a:t>
                </a:r>
                <a:r>
                  <a:rPr lang="zh-CN" altLang="en-US" sz="1400" b="1" dirty="0"/>
                  <a:t>实际光照贡献量</a:t>
                </a:r>
                <a:r>
                  <a:rPr lang="zh-CN" altLang="en-US" sz="1400" dirty="0"/>
                  <a:t>：</a:t>
                </a:r>
                <a:endParaRPr lang="en-US" altLang="zh-CN" sz="1400" dirty="0"/>
              </a:p>
              <a:p>
                <a:pPr/>
                <a14:m>
                  <m:oMathPara xmlns:m="http://schemas.openxmlformats.org/officeDocument/2006/math">
                    <m:oMath>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𝐼</m:t>
                          </m:r>
                        </m:e>
                        <m:sub>
                          <m:r>
                            <a:rPr lang="en-US" altLang="zh-CN" sz="1400" b="0" i="1" dirty="0" smtClean="0">
                              <a:latin typeface="Cambria Math" panose="02040503050406030204" pitchFamily="18" charset="0"/>
                            </a:rPr>
                            <m:t>1</m:t>
                          </m:r>
                        </m:sub>
                      </m:sSub>
                      <m:r>
                        <a:rPr lang="en-US" altLang="zh-CN" sz="1400" b="0" i="1" dirty="0" smtClean="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𝐿</m:t>
                          </m:r>
                        </m:e>
                        <m:sub>
                          <m:r>
                            <a:rPr lang="en-US" altLang="zh-CN" sz="1400" b="0" i="1" dirty="0" smtClean="0">
                              <a:latin typeface="Cambria Math" panose="02040503050406030204" pitchFamily="18" charset="0"/>
                            </a:rPr>
                            <m:t>𝑒</m:t>
                          </m:r>
                        </m:sub>
                      </m:sSub>
                      <m:d>
                        <m:dPr>
                          <m:ctrlPr>
                            <a:rPr lang="en-US" altLang="zh-CN" sz="1400" b="1" i="1" dirty="0" smtClean="0">
                              <a:latin typeface="Cambria Math" panose="02040503050406030204" pitchFamily="18" charset="0"/>
                            </a:rPr>
                          </m:ctrlPr>
                        </m:dPr>
                        <m:e>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𝟏</m:t>
                              </m:r>
                            </m:sub>
                          </m:sSub>
                          <m:r>
                            <a:rPr lang="en-US" altLang="zh-CN" sz="1400" b="1" i="1" dirty="0" smtClean="0">
                              <a:latin typeface="Cambria Math" panose="02040503050406030204" pitchFamily="18" charset="0"/>
                            </a:rPr>
                            <m:t>→</m:t>
                          </m:r>
                          <m:sSub>
                            <m:sSubPr>
                              <m:ctrlPr>
                                <a:rPr lang="en-US" altLang="zh-CN" sz="1400" b="1" i="1" dirty="0" smtClean="0">
                                  <a:latin typeface="Cambria Math" panose="02040503050406030204" pitchFamily="18" charset="0"/>
                                </a:rPr>
                              </m:ctrlPr>
                            </m:sSubPr>
                            <m:e>
                              <m:r>
                                <a:rPr lang="en-US" altLang="zh-CN" sz="1400" b="1" i="1" dirty="0" smtClean="0">
                                  <a:latin typeface="Cambria Math" panose="02040503050406030204" pitchFamily="18" charset="0"/>
                                </a:rPr>
                                <m:t>𝒑</m:t>
                              </m:r>
                            </m:e>
                            <m:sub>
                              <m:r>
                                <a:rPr lang="en-US" altLang="zh-CN" sz="1400" b="1" i="1" dirty="0" smtClean="0">
                                  <a:latin typeface="Cambria Math" panose="02040503050406030204" pitchFamily="18" charset="0"/>
                                </a:rPr>
                                <m:t>𝟎</m:t>
                              </m:r>
                            </m:sub>
                          </m:sSub>
                        </m:e>
                      </m:d>
                      <m:r>
                        <a:rPr lang="en-US" altLang="zh-CN" sz="1400" b="0" i="1" dirty="0" smtClean="0">
                          <a:latin typeface="Cambria Math" panose="02040503050406030204" pitchFamily="18" charset="0"/>
                        </a:rPr>
                        <m:t>,  </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𝐼</m:t>
                          </m:r>
                        </m:e>
                        <m:sub>
                          <m:r>
                            <a:rPr lang="en-US" altLang="zh-CN" sz="1400" i="1" dirty="0">
                              <a:latin typeface="Cambria Math" panose="02040503050406030204" pitchFamily="18" charset="0"/>
                            </a:rPr>
                            <m:t>𝑖</m:t>
                          </m:r>
                        </m:sub>
                      </m:sSub>
                      <m:r>
                        <a:rPr lang="en-US" altLang="zh-CN" sz="1400" i="1" dirty="0">
                          <a:latin typeface="Cambria Math" panose="02040503050406030204" pitchFamily="18" charset="0"/>
                        </a:rPr>
                        <m:t>=</m:t>
                      </m:r>
                      <m:nary>
                        <m:naryPr>
                          <m:supHide m:val="on"/>
                          <m:ctrlPr>
                            <a:rPr lang="zh-CN" altLang="en-US" sz="1400" i="1" dirty="0">
                              <a:latin typeface="Cambria Math" panose="02040503050406030204" pitchFamily="18" charset="0"/>
                            </a:rPr>
                          </m:ctrlPr>
                        </m:naryPr>
                        <m:sub>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𝒫</m:t>
                              </m:r>
                            </m:e>
                            <m:sub>
                              <m:r>
                                <a:rPr lang="en-US" altLang="zh-CN" sz="1400" i="1" dirty="0">
                                  <a:latin typeface="Cambria Math" panose="02040503050406030204" pitchFamily="18" charset="0"/>
                                </a:rPr>
                                <m:t>𝑖</m:t>
                              </m:r>
                            </m:sub>
                          </m:sSub>
                        </m:sub>
                        <m:sup/>
                        <m:e>
                          <m:sSub>
                            <m:sSubPr>
                              <m:ctrlPr>
                                <a:rPr lang="en-US" altLang="zh-CN" sz="1400" dirty="0">
                                  <a:latin typeface="Cambria Math" panose="02040503050406030204" pitchFamily="18" charset="0"/>
                                </a:rPr>
                              </m:ctrlPr>
                            </m:sSubPr>
                            <m:e>
                              <m:r>
                                <m:rPr>
                                  <m:sty m:val="p"/>
                                </m:rPr>
                                <a:rPr lang="en-US" altLang="zh-CN" sz="1400" dirty="0">
                                  <a:latin typeface="Cambria Math" panose="02040503050406030204" pitchFamily="18" charset="0"/>
                                </a:rPr>
                                <m:t>Φ</m:t>
                              </m:r>
                            </m:e>
                            <m:sub>
                              <m:r>
                                <m:rPr>
                                  <m:sty m:val="p"/>
                                </m:rPr>
                                <a:rPr lang="en-US" altLang="zh-CN" sz="1400" dirty="0">
                                  <a:latin typeface="Cambria Math" panose="02040503050406030204" pitchFamily="18" charset="0"/>
                                </a:rPr>
                                <m:t>i</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e>
                          </m:d>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𝜇</m:t>
                              </m:r>
                            </m:e>
                            <m:sub>
                              <m:r>
                                <a:rPr lang="en-US" altLang="zh-CN" sz="1400" i="1" dirty="0">
                                  <a:latin typeface="Cambria Math" panose="02040503050406030204" pitchFamily="18" charset="0"/>
                                </a:rPr>
                                <m:t>𝑖</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e>
                          </m:d>
                        </m:e>
                      </m:nary>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𝑖</m:t>
                      </m:r>
                      <m:r>
                        <a:rPr lang="en-US" altLang="zh-CN" sz="1400" b="0" i="1" dirty="0" smtClean="0">
                          <a:latin typeface="Cambria Math" panose="02040503050406030204" pitchFamily="18" charset="0"/>
                        </a:rPr>
                        <m:t>≥2</m:t>
                      </m:r>
                    </m:oMath>
                  </m:oMathPara>
                </a14:m>
                <a:endParaRPr lang="en-US" altLang="zh-CN" sz="1400" dirty="0"/>
              </a:p>
              <a:p>
                <a:pPr>
                  <a:lnSpc>
                    <a:spcPct val="130000"/>
                  </a:lnSpc>
                  <a:spcBef>
                    <a:spcPts val="800"/>
                  </a:spcBef>
                </a:pPr>
                <a:r>
                  <a:rPr lang="zh-CN" altLang="en-US" sz="1400" dirty="0"/>
                  <a:t>最终进入摄像机的光线：</a:t>
                </a:r>
              </a:p>
              <a:p>
                <a:pPr/>
                <a14:m>
                  <m:oMathPara xmlns:m="http://schemas.openxmlformats.org/officeDocument/2006/math">
                    <m:oMath>
                      <m:r>
                        <a:rPr lang="en-US" altLang="zh-CN" sz="1400" i="1" dirty="0">
                          <a:latin typeface="Cambria Math" panose="02040503050406030204" pitchFamily="18" charset="0"/>
                        </a:rPr>
                        <m:t>𝐿</m:t>
                      </m:r>
                      <m:d>
                        <m:dPr>
                          <m:ctrlPr>
                            <a:rPr lang="en-US" altLang="zh-CN" sz="1400" b="1" i="1" dirty="0">
                              <a:latin typeface="Cambria Math" panose="02040503050406030204" pitchFamily="18" charset="0"/>
                            </a:rPr>
                          </m:ctrlPr>
                        </m:dPr>
                        <m:e>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𝟏</m:t>
                              </m:r>
                            </m:sub>
                          </m:sSub>
                          <m:r>
                            <a:rPr lang="en-US" altLang="zh-CN" sz="1400" b="1" i="1" dirty="0">
                              <a:latin typeface="Cambria Math" panose="02040503050406030204" pitchFamily="18" charset="0"/>
                            </a:rPr>
                            <m:t>→</m:t>
                          </m:r>
                          <m:sSub>
                            <m:sSubPr>
                              <m:ctrlPr>
                                <a:rPr lang="en-US" altLang="zh-CN" sz="1400" b="1" i="1" dirty="0">
                                  <a:latin typeface="Cambria Math" panose="02040503050406030204" pitchFamily="18" charset="0"/>
                                </a:rPr>
                              </m:ctrlPr>
                            </m:sSubPr>
                            <m:e>
                              <m:r>
                                <a:rPr lang="en-US" altLang="zh-CN" sz="1400" b="1" i="1" dirty="0">
                                  <a:latin typeface="Cambria Math" panose="02040503050406030204" pitchFamily="18" charset="0"/>
                                </a:rPr>
                                <m:t>𝒑</m:t>
                              </m:r>
                            </m:e>
                            <m:sub>
                              <m:r>
                                <a:rPr lang="en-US" altLang="zh-CN" sz="1400" b="1" i="1" dirty="0">
                                  <a:latin typeface="Cambria Math" panose="02040503050406030204" pitchFamily="18" charset="0"/>
                                </a:rPr>
                                <m:t>𝟎</m:t>
                              </m:r>
                            </m:sub>
                          </m:sSub>
                        </m:e>
                      </m:d>
                      <m:r>
                        <a:rPr lang="en-US" altLang="zh-CN" sz="1400" b="1" i="1" dirty="0">
                          <a:latin typeface="Cambria Math" panose="02040503050406030204" pitchFamily="18" charset="0"/>
                        </a:rPr>
                        <m:t>=</m:t>
                      </m:r>
                      <m:nary>
                        <m:naryPr>
                          <m:chr m:val="∑"/>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𝑖</m:t>
                          </m:r>
                          <m:r>
                            <a:rPr lang="en-US" altLang="zh-CN" sz="1400" i="1" dirty="0">
                              <a:latin typeface="Cambria Math" panose="02040503050406030204" pitchFamily="18" charset="0"/>
                            </a:rPr>
                            <m:t>=1</m:t>
                          </m:r>
                        </m:sub>
                        <m:sup>
                          <m:r>
                            <a:rPr lang="en-US" altLang="zh-CN" sz="1400" b="1" i="1" dirty="0">
                              <a:latin typeface="Cambria Math" panose="02040503050406030204" pitchFamily="18" charset="0"/>
                            </a:rPr>
                            <m:t>+∞</m:t>
                          </m:r>
                        </m:sup>
                        <m:e>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𝐼</m:t>
                              </m:r>
                            </m:e>
                            <m:sub>
                              <m:r>
                                <a:rPr lang="en-US" altLang="zh-CN" sz="1400" i="1" dirty="0">
                                  <a:latin typeface="Cambria Math" panose="02040503050406030204" pitchFamily="18" charset="0"/>
                                </a:rPr>
                                <m:t>𝑖</m:t>
                              </m:r>
                            </m:sub>
                          </m:sSub>
                        </m:e>
                      </m:nary>
                      <m:r>
                        <a:rPr lang="en-US" altLang="zh-CN" sz="1400" b="1" i="1" dirty="0">
                          <a:latin typeface="Cambria Math" panose="02040503050406030204" pitchFamily="18" charset="0"/>
                        </a:rPr>
                        <m:t>=</m:t>
                      </m:r>
                      <m:sSub>
                        <m:sSubPr>
                          <m:ctrlPr>
                            <a:rPr lang="en-US" altLang="zh-CN" sz="1400" b="0" i="1" dirty="0" smtClean="0">
                              <a:latin typeface="Cambria Math" panose="02040503050406030204" pitchFamily="18" charset="0"/>
                            </a:rPr>
                          </m:ctrlPr>
                        </m:sSubPr>
                        <m:e>
                          <m:r>
                            <a:rPr lang="en-US" altLang="zh-CN" sz="1400" b="0" i="1" dirty="0" smtClean="0">
                              <a:latin typeface="Cambria Math" panose="02040503050406030204" pitchFamily="18" charset="0"/>
                            </a:rPr>
                            <m:t>𝐼</m:t>
                          </m:r>
                        </m:e>
                        <m:sub>
                          <m:r>
                            <a:rPr lang="en-US" altLang="zh-CN" sz="1400" b="0" i="1" dirty="0" smtClean="0">
                              <a:latin typeface="Cambria Math" panose="02040503050406030204" pitchFamily="18" charset="0"/>
                            </a:rPr>
                            <m:t>1</m:t>
                          </m:r>
                        </m:sub>
                      </m:sSub>
                      <m:r>
                        <a:rPr lang="en-US" altLang="zh-CN" sz="1400" b="0" i="1" dirty="0" smtClean="0">
                          <a:latin typeface="Cambria Math" panose="02040503050406030204" pitchFamily="18" charset="0"/>
                        </a:rPr>
                        <m:t>+</m:t>
                      </m:r>
                      <m:nary>
                        <m:naryPr>
                          <m:chr m:val="∑"/>
                          <m:ctrlPr>
                            <a:rPr lang="en-US" altLang="zh-CN" sz="1400" i="1" dirty="0">
                              <a:latin typeface="Cambria Math" panose="02040503050406030204" pitchFamily="18" charset="0"/>
                            </a:rPr>
                          </m:ctrlPr>
                        </m:naryPr>
                        <m:sub>
                          <m:r>
                            <a:rPr lang="en-US" altLang="zh-CN" sz="1400" i="1" dirty="0">
                              <a:latin typeface="Cambria Math" panose="02040503050406030204" pitchFamily="18" charset="0"/>
                            </a:rPr>
                            <m:t>𝑖</m:t>
                          </m:r>
                          <m:r>
                            <a:rPr lang="en-US" altLang="zh-CN" sz="1400" i="1" dirty="0">
                              <a:latin typeface="Cambria Math" panose="02040503050406030204" pitchFamily="18" charset="0"/>
                            </a:rPr>
                            <m:t>=2</m:t>
                          </m:r>
                        </m:sub>
                        <m:sup>
                          <m:r>
                            <a:rPr lang="en-US" altLang="zh-CN" sz="1400" b="1" i="1" dirty="0">
                              <a:latin typeface="Cambria Math" panose="02040503050406030204" pitchFamily="18" charset="0"/>
                            </a:rPr>
                            <m:t>+∞</m:t>
                          </m:r>
                        </m:sup>
                        <m:e>
                          <m:nary>
                            <m:naryPr>
                              <m:supHide m:val="on"/>
                              <m:ctrlPr>
                                <a:rPr lang="zh-CN" altLang="en-US" sz="1400" i="1" dirty="0">
                                  <a:latin typeface="Cambria Math" panose="02040503050406030204" pitchFamily="18" charset="0"/>
                                </a:rPr>
                              </m:ctrlPr>
                            </m:naryPr>
                            <m:sub>
                              <m:sSub>
                                <m:sSubPr>
                                  <m:ctrlPr>
                                    <a:rPr lang="zh-CN" altLang="en-US" sz="1400" i="1" dirty="0">
                                      <a:latin typeface="Cambria Math" panose="02040503050406030204" pitchFamily="18" charset="0"/>
                                    </a:rPr>
                                  </m:ctrlPr>
                                </m:sSubPr>
                                <m:e>
                                  <m:r>
                                    <a:rPr lang="zh-CN" altLang="en-US" sz="1400" i="1" dirty="0">
                                      <a:latin typeface="Cambria Math" panose="02040503050406030204" pitchFamily="18" charset="0"/>
                                    </a:rPr>
                                    <m:t>𝒫</m:t>
                                  </m:r>
                                </m:e>
                                <m:sub>
                                  <m:r>
                                    <a:rPr lang="en-US" altLang="zh-CN" sz="1400" i="1" dirty="0">
                                      <a:latin typeface="Cambria Math" panose="02040503050406030204" pitchFamily="18" charset="0"/>
                                    </a:rPr>
                                    <m:t>𝑖</m:t>
                                  </m:r>
                                </m:sub>
                              </m:sSub>
                            </m:sub>
                            <m:sup/>
                            <m:e>
                              <m:sSub>
                                <m:sSubPr>
                                  <m:ctrlPr>
                                    <a:rPr lang="en-US" altLang="zh-CN" sz="1400" dirty="0">
                                      <a:latin typeface="Cambria Math" panose="02040503050406030204" pitchFamily="18" charset="0"/>
                                    </a:rPr>
                                  </m:ctrlPr>
                                </m:sSubPr>
                                <m:e>
                                  <m:r>
                                    <m:rPr>
                                      <m:sty m:val="p"/>
                                    </m:rPr>
                                    <a:rPr lang="en-US" altLang="zh-CN" sz="1400" dirty="0">
                                      <a:latin typeface="Cambria Math" panose="02040503050406030204" pitchFamily="18" charset="0"/>
                                    </a:rPr>
                                    <m:t>Φ</m:t>
                                  </m:r>
                                </m:e>
                                <m:sub>
                                  <m:r>
                                    <m:rPr>
                                      <m:sty m:val="p"/>
                                    </m:rPr>
                                    <a:rPr lang="en-US" altLang="zh-CN" sz="1400" dirty="0">
                                      <a:latin typeface="Cambria Math" panose="02040503050406030204" pitchFamily="18" charset="0"/>
                                    </a:rPr>
                                    <m:t>i</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e>
                              </m:d>
                              <m:r>
                                <a:rPr lang="en-US" altLang="zh-CN" sz="1400" i="1" dirty="0">
                                  <a:latin typeface="Cambria Math" panose="02040503050406030204" pitchFamily="18" charset="0"/>
                                </a:rPr>
                                <m:t>𝑑</m:t>
                              </m:r>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𝜇</m:t>
                                  </m:r>
                                </m:e>
                                <m:sub>
                                  <m:r>
                                    <a:rPr lang="en-US" altLang="zh-CN" sz="1400" i="1" dirty="0">
                                      <a:latin typeface="Cambria Math" panose="02040503050406030204" pitchFamily="18" charset="0"/>
                                    </a:rPr>
                                    <m:t>𝑖</m:t>
                                  </m:r>
                                </m:sub>
                              </m:sSub>
                              <m:d>
                                <m:dPr>
                                  <m:ctrlPr>
                                    <a:rPr lang="en-US" altLang="zh-CN" sz="1400" i="1" dirty="0">
                                      <a:latin typeface="Cambria Math" panose="02040503050406030204" pitchFamily="18" charset="0"/>
                                    </a:rPr>
                                  </m:ctrlPr>
                                </m:dPr>
                                <m:e>
                                  <m:sSub>
                                    <m:sSubPr>
                                      <m:ctrlPr>
                                        <a:rPr lang="en-US" altLang="zh-CN" sz="1400" i="1" dirty="0">
                                          <a:latin typeface="Cambria Math" panose="02040503050406030204" pitchFamily="18" charset="0"/>
                                        </a:rPr>
                                      </m:ctrlPr>
                                    </m:sSubPr>
                                    <m:e>
                                      <m:acc>
                                        <m:accPr>
                                          <m:chr m:val="̅"/>
                                          <m:ctrlPr>
                                            <a:rPr lang="en-US" altLang="zh-CN" sz="1400" i="1" dirty="0">
                                              <a:latin typeface="Cambria Math" panose="02040503050406030204" pitchFamily="18" charset="0"/>
                                            </a:rPr>
                                          </m:ctrlPr>
                                        </m:accPr>
                                        <m:e>
                                          <m:r>
                                            <a:rPr lang="en-US" altLang="zh-CN" sz="1400" i="1" dirty="0">
                                              <a:latin typeface="Cambria Math" panose="02040503050406030204" pitchFamily="18" charset="0"/>
                                            </a:rPr>
                                            <m:t>𝑝</m:t>
                                          </m:r>
                                        </m:e>
                                      </m:acc>
                                    </m:e>
                                    <m:sub>
                                      <m:r>
                                        <a:rPr lang="en-US" altLang="zh-CN" sz="1400" i="1" dirty="0">
                                          <a:latin typeface="Cambria Math" panose="02040503050406030204" pitchFamily="18" charset="0"/>
                                        </a:rPr>
                                        <m:t>𝑖</m:t>
                                      </m:r>
                                    </m:sub>
                                  </m:sSub>
                                </m:e>
                              </m:d>
                            </m:e>
                          </m:nary>
                        </m:e>
                      </m:nary>
                    </m:oMath>
                  </m:oMathPara>
                </a14:m>
                <a:endParaRPr lang="en-US" altLang="zh-CN" sz="1400" dirty="0"/>
              </a:p>
            </p:txBody>
          </p:sp>
        </mc:Choice>
        <mc:Fallback xmlns="">
          <p:sp>
            <p:nvSpPr>
              <p:cNvPr id="14" name="文本框 13">
                <a:extLst>
                  <a:ext uri="{FF2B5EF4-FFF2-40B4-BE49-F238E27FC236}">
                    <a16:creationId xmlns:a16="http://schemas.microsoft.com/office/drawing/2014/main" id="{EC5CFCDF-4D5C-6E81-1839-B51656C31EE0}"/>
                  </a:ext>
                </a:extLst>
              </p:cNvPr>
              <p:cNvSpPr txBox="1">
                <a:spLocks noRot="1" noChangeAspect="1" noMove="1" noResize="1" noEditPoints="1" noAdjustHandles="1" noChangeArrowheads="1" noChangeShapeType="1" noTextEdit="1"/>
              </p:cNvSpPr>
              <p:nvPr/>
            </p:nvSpPr>
            <p:spPr>
              <a:xfrm>
                <a:off x="6899320" y="917674"/>
                <a:ext cx="4841959" cy="5238870"/>
              </a:xfrm>
              <a:prstGeom prst="rect">
                <a:avLst/>
              </a:prstGeom>
              <a:blipFill>
                <a:blip r:embed="rId4"/>
                <a:stretch>
                  <a:fillRect l="-378" b="-11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A8EE559-D91B-4CAA-8B50-BD262376BC0A}"/>
                  </a:ext>
                </a:extLst>
              </p:cNvPr>
              <p:cNvSpPr txBox="1"/>
              <p:nvPr/>
            </p:nvSpPr>
            <p:spPr>
              <a:xfrm>
                <a:off x="164473" y="1448552"/>
                <a:ext cx="910729" cy="307777"/>
              </a:xfrm>
              <a:prstGeom prst="rect">
                <a:avLst/>
              </a:prstGeom>
              <a:noFill/>
            </p:spPr>
            <p:txBody>
              <a:bodyPr wrap="square">
                <a:spAutoFit/>
              </a:bodyPr>
              <a:lstStyle/>
              <a:p>
                <a14:m>
                  <m:oMath xmlns:m="http://schemas.openxmlformats.org/officeDocument/2006/math">
                    <m:sSub>
                      <m:sSubPr>
                        <m:ctrlPr>
                          <a:rPr lang="en-US" altLang="zh-CN" sz="1400" i="1" dirty="0">
                            <a:solidFill>
                              <a:schemeClr val="accent5">
                                <a:lumMod val="75000"/>
                              </a:schemeClr>
                            </a:solidFill>
                            <a:latin typeface="Cambria Math" panose="02040503050406030204" pitchFamily="18" charset="0"/>
                          </a:rPr>
                        </m:ctrlPr>
                      </m:sSubPr>
                      <m:e>
                        <m:r>
                          <a:rPr lang="en-US" altLang="zh-CN" sz="1400" i="1" dirty="0">
                            <a:solidFill>
                              <a:schemeClr val="accent5">
                                <a:lumMod val="75000"/>
                              </a:schemeClr>
                            </a:solidFill>
                            <a:latin typeface="Cambria Math" panose="02040503050406030204" pitchFamily="18" charset="0"/>
                          </a:rPr>
                          <m:t>𝐼</m:t>
                        </m:r>
                      </m:e>
                      <m:sub>
                        <m:r>
                          <a:rPr lang="en-US" altLang="zh-CN" sz="1400" b="0" i="1" dirty="0" smtClean="0">
                            <a:solidFill>
                              <a:schemeClr val="accent5">
                                <a:lumMod val="75000"/>
                              </a:schemeClr>
                            </a:solidFill>
                            <a:latin typeface="Cambria Math" panose="02040503050406030204" pitchFamily="18" charset="0"/>
                          </a:rPr>
                          <m:t>2</m:t>
                        </m:r>
                      </m:sub>
                    </m:sSub>
                  </m:oMath>
                </a14:m>
                <a:r>
                  <a:rPr lang="en-US" altLang="zh-CN" sz="1400" dirty="0">
                    <a:solidFill>
                      <a:schemeClr val="accent5">
                        <a:lumMod val="75000"/>
                      </a:schemeClr>
                    </a:solidFill>
                  </a:rPr>
                  <a:t>  &lt;=</a:t>
                </a:r>
                <a:endParaRPr lang="zh-CN" altLang="en-US" sz="1400" dirty="0">
                  <a:solidFill>
                    <a:schemeClr val="accent5">
                      <a:lumMod val="75000"/>
                    </a:schemeClr>
                  </a:solidFill>
                </a:endParaRPr>
              </a:p>
            </p:txBody>
          </p:sp>
        </mc:Choice>
        <mc:Fallback xmlns="">
          <p:sp>
            <p:nvSpPr>
              <p:cNvPr id="3" name="文本框 2">
                <a:extLst>
                  <a:ext uri="{FF2B5EF4-FFF2-40B4-BE49-F238E27FC236}">
                    <a16:creationId xmlns:a16="http://schemas.microsoft.com/office/drawing/2014/main" id="{5A8EE559-D91B-4CAA-8B50-BD262376BC0A}"/>
                  </a:ext>
                </a:extLst>
              </p:cNvPr>
              <p:cNvSpPr txBox="1">
                <a:spLocks noRot="1" noChangeAspect="1" noMove="1" noResize="1" noEditPoints="1" noAdjustHandles="1" noChangeArrowheads="1" noChangeShapeType="1" noTextEdit="1"/>
              </p:cNvSpPr>
              <p:nvPr/>
            </p:nvSpPr>
            <p:spPr>
              <a:xfrm>
                <a:off x="164473" y="1448552"/>
                <a:ext cx="910729" cy="307777"/>
              </a:xfrm>
              <a:prstGeom prst="rect">
                <a:avLst/>
              </a:prstGeom>
              <a:blipFill>
                <a:blip r:embed="rId5"/>
                <a:stretch>
                  <a:fillRect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70EF94C-07D0-0B43-F50A-A37517CB8298}"/>
                  </a:ext>
                </a:extLst>
              </p:cNvPr>
              <p:cNvSpPr txBox="1"/>
              <p:nvPr/>
            </p:nvSpPr>
            <p:spPr>
              <a:xfrm>
                <a:off x="164473" y="2046560"/>
                <a:ext cx="819150" cy="307777"/>
              </a:xfrm>
              <a:prstGeom prst="rect">
                <a:avLst/>
              </a:prstGeom>
              <a:noFill/>
            </p:spPr>
            <p:txBody>
              <a:bodyPr wrap="square">
                <a:spAutoFit/>
              </a:bodyPr>
              <a:lstStyle/>
              <a:p>
                <a14:m>
                  <m:oMath xmlns:m="http://schemas.openxmlformats.org/officeDocument/2006/math">
                    <m:sSub>
                      <m:sSubPr>
                        <m:ctrlPr>
                          <a:rPr lang="en-US" altLang="zh-CN" sz="1400" i="1" dirty="0">
                            <a:solidFill>
                              <a:schemeClr val="accent5">
                                <a:lumMod val="75000"/>
                              </a:schemeClr>
                            </a:solidFill>
                            <a:latin typeface="Cambria Math" panose="02040503050406030204" pitchFamily="18" charset="0"/>
                          </a:rPr>
                        </m:ctrlPr>
                      </m:sSubPr>
                      <m:e>
                        <m:r>
                          <a:rPr lang="en-US" altLang="zh-CN" sz="1400" i="1" dirty="0">
                            <a:solidFill>
                              <a:schemeClr val="accent5">
                                <a:lumMod val="75000"/>
                              </a:schemeClr>
                            </a:solidFill>
                            <a:latin typeface="Cambria Math" panose="02040503050406030204" pitchFamily="18" charset="0"/>
                          </a:rPr>
                          <m:t>𝐼</m:t>
                        </m:r>
                      </m:e>
                      <m:sub>
                        <m:r>
                          <a:rPr lang="en-US" altLang="zh-CN" sz="1400" b="0" i="1" dirty="0" smtClean="0">
                            <a:solidFill>
                              <a:schemeClr val="accent5">
                                <a:lumMod val="75000"/>
                              </a:schemeClr>
                            </a:solidFill>
                            <a:latin typeface="Cambria Math" panose="02040503050406030204" pitchFamily="18" charset="0"/>
                          </a:rPr>
                          <m:t>3</m:t>
                        </m:r>
                      </m:sub>
                    </m:sSub>
                  </m:oMath>
                </a14:m>
                <a:r>
                  <a:rPr lang="en-US" altLang="zh-CN" sz="1400" dirty="0">
                    <a:solidFill>
                      <a:schemeClr val="accent5">
                        <a:lumMod val="75000"/>
                      </a:schemeClr>
                    </a:solidFill>
                  </a:rPr>
                  <a:t>  &lt;=</a:t>
                </a:r>
                <a:endParaRPr lang="zh-CN" altLang="en-US" sz="1400" dirty="0">
                  <a:solidFill>
                    <a:schemeClr val="accent5">
                      <a:lumMod val="75000"/>
                    </a:schemeClr>
                  </a:solidFill>
                </a:endParaRPr>
              </a:p>
            </p:txBody>
          </p:sp>
        </mc:Choice>
        <mc:Fallback xmlns="">
          <p:sp>
            <p:nvSpPr>
              <p:cNvPr id="7" name="文本框 6">
                <a:extLst>
                  <a:ext uri="{FF2B5EF4-FFF2-40B4-BE49-F238E27FC236}">
                    <a16:creationId xmlns:a16="http://schemas.microsoft.com/office/drawing/2014/main" id="{970EF94C-07D0-0B43-F50A-A37517CB8298}"/>
                  </a:ext>
                </a:extLst>
              </p:cNvPr>
              <p:cNvSpPr txBox="1">
                <a:spLocks noRot="1" noChangeAspect="1" noMove="1" noResize="1" noEditPoints="1" noAdjustHandles="1" noChangeArrowheads="1" noChangeShapeType="1" noTextEdit="1"/>
              </p:cNvSpPr>
              <p:nvPr/>
            </p:nvSpPr>
            <p:spPr>
              <a:xfrm>
                <a:off x="164473" y="2046560"/>
                <a:ext cx="819150" cy="307777"/>
              </a:xfrm>
              <a:prstGeom prst="rect">
                <a:avLst/>
              </a:prstGeom>
              <a:blipFill>
                <a:blip r:embed="rId6"/>
                <a:stretch>
                  <a:fillRect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2E96C93-795C-23E8-57DD-5FCFF37A64E0}"/>
                  </a:ext>
                </a:extLst>
              </p:cNvPr>
              <p:cNvSpPr txBox="1"/>
              <p:nvPr/>
            </p:nvSpPr>
            <p:spPr>
              <a:xfrm>
                <a:off x="164474" y="2620681"/>
                <a:ext cx="910728" cy="307777"/>
              </a:xfrm>
              <a:prstGeom prst="rect">
                <a:avLst/>
              </a:prstGeom>
              <a:noFill/>
            </p:spPr>
            <p:txBody>
              <a:bodyPr wrap="square">
                <a:spAutoFit/>
              </a:bodyPr>
              <a:lstStyle/>
              <a:p>
                <a14:m>
                  <m:oMath xmlns:m="http://schemas.openxmlformats.org/officeDocument/2006/math">
                    <m:sSub>
                      <m:sSubPr>
                        <m:ctrlPr>
                          <a:rPr lang="en-US" altLang="zh-CN" sz="1400" i="1" dirty="0">
                            <a:solidFill>
                              <a:schemeClr val="accent5">
                                <a:lumMod val="75000"/>
                              </a:schemeClr>
                            </a:solidFill>
                            <a:latin typeface="Cambria Math" panose="02040503050406030204" pitchFamily="18" charset="0"/>
                          </a:rPr>
                        </m:ctrlPr>
                      </m:sSubPr>
                      <m:e>
                        <m:r>
                          <a:rPr lang="en-US" altLang="zh-CN" sz="1400" i="1" dirty="0">
                            <a:solidFill>
                              <a:schemeClr val="accent5">
                                <a:lumMod val="75000"/>
                              </a:schemeClr>
                            </a:solidFill>
                            <a:latin typeface="Cambria Math" panose="02040503050406030204" pitchFamily="18" charset="0"/>
                          </a:rPr>
                          <m:t>𝐼</m:t>
                        </m:r>
                      </m:e>
                      <m:sub>
                        <m:r>
                          <a:rPr lang="en-US" altLang="zh-CN" sz="1400" b="0" i="1" dirty="0" smtClean="0">
                            <a:solidFill>
                              <a:schemeClr val="accent5">
                                <a:lumMod val="75000"/>
                              </a:schemeClr>
                            </a:solidFill>
                            <a:latin typeface="Cambria Math" panose="02040503050406030204" pitchFamily="18" charset="0"/>
                          </a:rPr>
                          <m:t>4</m:t>
                        </m:r>
                      </m:sub>
                    </m:sSub>
                  </m:oMath>
                </a14:m>
                <a:r>
                  <a:rPr lang="en-US" altLang="zh-CN" sz="1400" dirty="0">
                    <a:solidFill>
                      <a:schemeClr val="accent5">
                        <a:lumMod val="75000"/>
                      </a:schemeClr>
                    </a:solidFill>
                  </a:rPr>
                  <a:t>  &lt;=</a:t>
                </a:r>
                <a:endParaRPr lang="zh-CN" altLang="en-US" sz="1400" dirty="0">
                  <a:solidFill>
                    <a:schemeClr val="accent5">
                      <a:lumMod val="75000"/>
                    </a:schemeClr>
                  </a:solidFill>
                </a:endParaRPr>
              </a:p>
            </p:txBody>
          </p:sp>
        </mc:Choice>
        <mc:Fallback xmlns="">
          <p:sp>
            <p:nvSpPr>
              <p:cNvPr id="10" name="文本框 9">
                <a:extLst>
                  <a:ext uri="{FF2B5EF4-FFF2-40B4-BE49-F238E27FC236}">
                    <a16:creationId xmlns:a16="http://schemas.microsoft.com/office/drawing/2014/main" id="{92E96C93-795C-23E8-57DD-5FCFF37A64E0}"/>
                  </a:ext>
                </a:extLst>
              </p:cNvPr>
              <p:cNvSpPr txBox="1">
                <a:spLocks noRot="1" noChangeAspect="1" noMove="1" noResize="1" noEditPoints="1" noAdjustHandles="1" noChangeArrowheads="1" noChangeShapeType="1" noTextEdit="1"/>
              </p:cNvSpPr>
              <p:nvPr/>
            </p:nvSpPr>
            <p:spPr>
              <a:xfrm>
                <a:off x="164474" y="2620681"/>
                <a:ext cx="910728" cy="307777"/>
              </a:xfrm>
              <a:prstGeom prst="rect">
                <a:avLst/>
              </a:prstGeom>
              <a:blipFill>
                <a:blip r:embed="rId7"/>
                <a:stretch>
                  <a:fillRect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9B40197-3369-1575-9DE3-9F56F8E42103}"/>
                  </a:ext>
                </a:extLst>
              </p:cNvPr>
              <p:cNvSpPr txBox="1"/>
              <p:nvPr/>
            </p:nvSpPr>
            <p:spPr>
              <a:xfrm>
                <a:off x="100749" y="3730333"/>
                <a:ext cx="1038176" cy="307777"/>
              </a:xfrm>
              <a:prstGeom prst="rect">
                <a:avLst/>
              </a:prstGeom>
              <a:noFill/>
            </p:spPr>
            <p:txBody>
              <a:bodyPr wrap="square">
                <a:spAutoFit/>
              </a:bodyPr>
              <a:lstStyle/>
              <a:p>
                <a14:m>
                  <m:oMath xmlns:m="http://schemas.openxmlformats.org/officeDocument/2006/math">
                    <m:sSub>
                      <m:sSubPr>
                        <m:ctrlPr>
                          <a:rPr lang="en-US" altLang="zh-CN" sz="1400" i="1" dirty="0">
                            <a:solidFill>
                              <a:schemeClr val="accent5">
                                <a:lumMod val="75000"/>
                              </a:schemeClr>
                            </a:solidFill>
                            <a:latin typeface="Cambria Math" panose="02040503050406030204" pitchFamily="18" charset="0"/>
                          </a:rPr>
                        </m:ctrlPr>
                      </m:sSubPr>
                      <m:e>
                        <m:r>
                          <a:rPr lang="en-US" altLang="zh-CN" sz="1400" i="1" dirty="0">
                            <a:solidFill>
                              <a:schemeClr val="accent5">
                                <a:lumMod val="75000"/>
                              </a:schemeClr>
                            </a:solidFill>
                            <a:latin typeface="Cambria Math" panose="02040503050406030204" pitchFamily="18" charset="0"/>
                          </a:rPr>
                          <m:t>𝐼</m:t>
                        </m:r>
                      </m:e>
                      <m:sub>
                        <m:r>
                          <a:rPr lang="en-US" altLang="zh-CN" sz="1400" b="0" i="1" dirty="0" smtClean="0">
                            <a:solidFill>
                              <a:schemeClr val="accent5">
                                <a:lumMod val="75000"/>
                              </a:schemeClr>
                            </a:solidFill>
                            <a:latin typeface="Cambria Math" panose="02040503050406030204" pitchFamily="18" charset="0"/>
                          </a:rPr>
                          <m:t>𝑖</m:t>
                        </m:r>
                        <m:r>
                          <a:rPr lang="en-US" altLang="zh-CN" sz="1400" b="0" i="1" dirty="0" smtClean="0">
                            <a:solidFill>
                              <a:schemeClr val="accent5">
                                <a:lumMod val="75000"/>
                              </a:schemeClr>
                            </a:solidFill>
                            <a:latin typeface="Cambria Math" panose="02040503050406030204" pitchFamily="18" charset="0"/>
                          </a:rPr>
                          <m:t>&gt;5</m:t>
                        </m:r>
                      </m:sub>
                    </m:sSub>
                  </m:oMath>
                </a14:m>
                <a:r>
                  <a:rPr lang="en-US" altLang="zh-CN" sz="1400" dirty="0">
                    <a:solidFill>
                      <a:schemeClr val="accent5">
                        <a:lumMod val="75000"/>
                      </a:schemeClr>
                    </a:solidFill>
                  </a:rPr>
                  <a:t> &lt;=</a:t>
                </a:r>
                <a:endParaRPr lang="zh-CN" altLang="en-US" sz="1400" dirty="0">
                  <a:solidFill>
                    <a:schemeClr val="accent5">
                      <a:lumMod val="75000"/>
                    </a:schemeClr>
                  </a:solidFill>
                </a:endParaRPr>
              </a:p>
            </p:txBody>
          </p:sp>
        </mc:Choice>
        <mc:Fallback xmlns="">
          <p:sp>
            <p:nvSpPr>
              <p:cNvPr id="12" name="文本框 11">
                <a:extLst>
                  <a:ext uri="{FF2B5EF4-FFF2-40B4-BE49-F238E27FC236}">
                    <a16:creationId xmlns:a16="http://schemas.microsoft.com/office/drawing/2014/main" id="{69B40197-3369-1575-9DE3-9F56F8E42103}"/>
                  </a:ext>
                </a:extLst>
              </p:cNvPr>
              <p:cNvSpPr txBox="1">
                <a:spLocks noRot="1" noChangeAspect="1" noMove="1" noResize="1" noEditPoints="1" noAdjustHandles="1" noChangeArrowheads="1" noChangeShapeType="1" noTextEdit="1"/>
              </p:cNvSpPr>
              <p:nvPr/>
            </p:nvSpPr>
            <p:spPr>
              <a:xfrm>
                <a:off x="100749" y="3730333"/>
                <a:ext cx="1038176" cy="307777"/>
              </a:xfrm>
              <a:prstGeom prst="rect">
                <a:avLst/>
              </a:prstGeom>
              <a:blipFill>
                <a:blip r:embed="rId8"/>
                <a:stretch>
                  <a:fillRect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4537A27-EAE2-3336-AFAD-3B058EC91343}"/>
                  </a:ext>
                </a:extLst>
              </p:cNvPr>
              <p:cNvSpPr txBox="1"/>
              <p:nvPr/>
            </p:nvSpPr>
            <p:spPr>
              <a:xfrm>
                <a:off x="2677282" y="1157132"/>
                <a:ext cx="796880" cy="307777"/>
              </a:xfrm>
              <a:prstGeom prst="rect">
                <a:avLst/>
              </a:prstGeom>
              <a:noFill/>
            </p:spPr>
            <p:txBody>
              <a:bodyPr wrap="square">
                <a:spAutoFit/>
              </a:bodyPr>
              <a:lstStyle/>
              <a:p>
                <a:r>
                  <a:rPr lang="en-US" altLang="zh-CN" sz="1400" dirty="0">
                    <a:solidFill>
                      <a:schemeClr val="accent5">
                        <a:lumMod val="75000"/>
                      </a:schemeClr>
                    </a:solidFill>
                  </a:rPr>
                  <a:t>=&gt;  </a:t>
                </a:r>
                <a14:m>
                  <m:oMath xmlns:m="http://schemas.openxmlformats.org/officeDocument/2006/math">
                    <m:sSub>
                      <m:sSubPr>
                        <m:ctrlPr>
                          <a:rPr lang="en-US" altLang="zh-CN" sz="1400" i="1" dirty="0">
                            <a:solidFill>
                              <a:schemeClr val="accent5">
                                <a:lumMod val="75000"/>
                              </a:schemeClr>
                            </a:solidFill>
                            <a:latin typeface="Cambria Math" panose="02040503050406030204" pitchFamily="18" charset="0"/>
                          </a:rPr>
                        </m:ctrlPr>
                      </m:sSubPr>
                      <m:e>
                        <m:r>
                          <a:rPr lang="en-US" altLang="zh-CN" sz="1400" i="1" dirty="0">
                            <a:solidFill>
                              <a:schemeClr val="accent5">
                                <a:lumMod val="75000"/>
                              </a:schemeClr>
                            </a:solidFill>
                            <a:latin typeface="Cambria Math" panose="02040503050406030204" pitchFamily="18" charset="0"/>
                          </a:rPr>
                          <m:t>𝐼</m:t>
                        </m:r>
                      </m:e>
                      <m:sub>
                        <m:r>
                          <a:rPr lang="en-US" altLang="zh-CN" sz="1400" b="0" i="1" dirty="0" smtClean="0">
                            <a:solidFill>
                              <a:schemeClr val="accent5">
                                <a:lumMod val="75000"/>
                              </a:schemeClr>
                            </a:solidFill>
                            <a:latin typeface="Cambria Math" panose="02040503050406030204" pitchFamily="18" charset="0"/>
                          </a:rPr>
                          <m:t>1</m:t>
                        </m:r>
                      </m:sub>
                    </m:sSub>
                  </m:oMath>
                </a14:m>
                <a:endParaRPr lang="zh-CN" altLang="en-US" sz="1400" dirty="0">
                  <a:solidFill>
                    <a:schemeClr val="accent5">
                      <a:lumMod val="75000"/>
                    </a:schemeClr>
                  </a:solidFill>
                </a:endParaRPr>
              </a:p>
            </p:txBody>
          </p:sp>
        </mc:Choice>
        <mc:Fallback xmlns="">
          <p:sp>
            <p:nvSpPr>
              <p:cNvPr id="15" name="文本框 14">
                <a:extLst>
                  <a:ext uri="{FF2B5EF4-FFF2-40B4-BE49-F238E27FC236}">
                    <a16:creationId xmlns:a16="http://schemas.microsoft.com/office/drawing/2014/main" id="{E4537A27-EAE2-3336-AFAD-3B058EC91343}"/>
                  </a:ext>
                </a:extLst>
              </p:cNvPr>
              <p:cNvSpPr txBox="1">
                <a:spLocks noRot="1" noChangeAspect="1" noMove="1" noResize="1" noEditPoints="1" noAdjustHandles="1" noChangeArrowheads="1" noChangeShapeType="1" noTextEdit="1"/>
              </p:cNvSpPr>
              <p:nvPr/>
            </p:nvSpPr>
            <p:spPr>
              <a:xfrm>
                <a:off x="2677282" y="1157132"/>
                <a:ext cx="796880" cy="307777"/>
              </a:xfrm>
              <a:prstGeom prst="rect">
                <a:avLst/>
              </a:prstGeom>
              <a:blipFill>
                <a:blip r:embed="rId9"/>
                <a:stretch>
                  <a:fillRect l="-2290"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F9F45C0D-2891-ECAE-F7A7-F3FDBC030C2F}"/>
                  </a:ext>
                </a:extLst>
              </p:cNvPr>
              <p:cNvSpPr txBox="1"/>
              <p:nvPr/>
            </p:nvSpPr>
            <p:spPr>
              <a:xfrm>
                <a:off x="164474" y="3194995"/>
                <a:ext cx="910728" cy="307777"/>
              </a:xfrm>
              <a:prstGeom prst="rect">
                <a:avLst/>
              </a:prstGeom>
              <a:noFill/>
            </p:spPr>
            <p:txBody>
              <a:bodyPr wrap="square">
                <a:spAutoFit/>
              </a:bodyPr>
              <a:lstStyle/>
              <a:p>
                <a14:m>
                  <m:oMath xmlns:m="http://schemas.openxmlformats.org/officeDocument/2006/math">
                    <m:sSub>
                      <m:sSubPr>
                        <m:ctrlPr>
                          <a:rPr lang="en-US" altLang="zh-CN" sz="1400" i="1" dirty="0">
                            <a:solidFill>
                              <a:schemeClr val="accent5">
                                <a:lumMod val="75000"/>
                              </a:schemeClr>
                            </a:solidFill>
                            <a:latin typeface="Cambria Math" panose="02040503050406030204" pitchFamily="18" charset="0"/>
                          </a:rPr>
                        </m:ctrlPr>
                      </m:sSubPr>
                      <m:e>
                        <m:r>
                          <a:rPr lang="en-US" altLang="zh-CN" sz="1400" i="1" dirty="0">
                            <a:solidFill>
                              <a:schemeClr val="accent5">
                                <a:lumMod val="75000"/>
                              </a:schemeClr>
                            </a:solidFill>
                            <a:latin typeface="Cambria Math" panose="02040503050406030204" pitchFamily="18" charset="0"/>
                          </a:rPr>
                          <m:t>𝐼</m:t>
                        </m:r>
                      </m:e>
                      <m:sub>
                        <m:r>
                          <a:rPr lang="en-US" altLang="zh-CN" sz="1400" b="0" i="1" dirty="0" smtClean="0">
                            <a:solidFill>
                              <a:schemeClr val="accent5">
                                <a:lumMod val="75000"/>
                              </a:schemeClr>
                            </a:solidFill>
                            <a:latin typeface="Cambria Math" panose="02040503050406030204" pitchFamily="18" charset="0"/>
                          </a:rPr>
                          <m:t>5</m:t>
                        </m:r>
                      </m:sub>
                    </m:sSub>
                  </m:oMath>
                </a14:m>
                <a:r>
                  <a:rPr lang="en-US" altLang="zh-CN" sz="1400" dirty="0">
                    <a:solidFill>
                      <a:schemeClr val="accent5">
                        <a:lumMod val="75000"/>
                      </a:schemeClr>
                    </a:solidFill>
                  </a:rPr>
                  <a:t>  &lt;=</a:t>
                </a:r>
                <a:endParaRPr lang="zh-CN" altLang="en-US" sz="1400" dirty="0">
                  <a:solidFill>
                    <a:schemeClr val="accent5">
                      <a:lumMod val="75000"/>
                    </a:schemeClr>
                  </a:solidFill>
                </a:endParaRPr>
              </a:p>
            </p:txBody>
          </p:sp>
        </mc:Choice>
        <mc:Fallback xmlns="">
          <p:sp>
            <p:nvSpPr>
              <p:cNvPr id="17" name="文本框 16">
                <a:extLst>
                  <a:ext uri="{FF2B5EF4-FFF2-40B4-BE49-F238E27FC236}">
                    <a16:creationId xmlns:a16="http://schemas.microsoft.com/office/drawing/2014/main" id="{F9F45C0D-2891-ECAE-F7A7-F3FDBC030C2F}"/>
                  </a:ext>
                </a:extLst>
              </p:cNvPr>
              <p:cNvSpPr txBox="1">
                <a:spLocks noRot="1" noChangeAspect="1" noMove="1" noResize="1" noEditPoints="1" noAdjustHandles="1" noChangeArrowheads="1" noChangeShapeType="1" noTextEdit="1"/>
              </p:cNvSpPr>
              <p:nvPr/>
            </p:nvSpPr>
            <p:spPr>
              <a:xfrm>
                <a:off x="164474" y="3194995"/>
                <a:ext cx="910728" cy="307777"/>
              </a:xfrm>
              <a:prstGeom prst="rect">
                <a:avLst/>
              </a:prstGeom>
              <a:blipFill>
                <a:blip r:embed="rId10"/>
                <a:stretch>
                  <a:fillRect t="-3922"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F4BB8CD-EE72-0FF7-BF4E-DE0C165288D7}"/>
                  </a:ext>
                </a:extLst>
              </p:cNvPr>
              <p:cNvSpPr txBox="1"/>
              <p:nvPr/>
            </p:nvSpPr>
            <p:spPr>
              <a:xfrm>
                <a:off x="961623" y="6028519"/>
                <a:ext cx="10268754" cy="338554"/>
              </a:xfrm>
              <a:prstGeom prst="rect">
                <a:avLst/>
              </a:prstGeom>
              <a:noFill/>
              <a:ln w="19050">
                <a:solidFill>
                  <a:srgbClr val="FF0000"/>
                </a:solidFill>
              </a:ln>
            </p:spPr>
            <p:txBody>
              <a:bodyPr wrap="square">
                <a:spAutoFit/>
              </a:bodyPr>
              <a:lstStyle/>
              <a:p>
                <a:pPr algn="ctr"/>
                <a:r>
                  <a:rPr lang="zh-CN" altLang="en-US" sz="1600" dirty="0">
                    <a:latin typeface="Noto Sans SC" panose="020B0200000000000000" pitchFamily="34" charset="-122"/>
                    <a:ea typeface="Noto Sans SC" panose="020B0200000000000000" pitchFamily="34" charset="-122"/>
                  </a:rPr>
                  <a:t>最终光照</a:t>
                </a:r>
                <a14:m>
                  <m:oMath xmlns:m="http://schemas.openxmlformats.org/officeDocument/2006/math">
                    <m:r>
                      <a:rPr lang="en-US" altLang="zh-CN" sz="1600" i="1" dirty="0" smtClean="0">
                        <a:latin typeface="Cambria Math" panose="02040503050406030204" pitchFamily="18" charset="0"/>
                      </a:rPr>
                      <m:t>𝐿</m:t>
                    </m:r>
                    <m:d>
                      <m:dPr>
                        <m:ctrlPr>
                          <a:rPr lang="en-US" altLang="zh-CN" sz="1600" b="1" i="1" dirty="0">
                            <a:latin typeface="Cambria Math" panose="02040503050406030204" pitchFamily="18" charset="0"/>
                          </a:rPr>
                        </m:ctrlPr>
                      </m:dPr>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𝟏</m:t>
                            </m:r>
                          </m:sub>
                        </m:sSub>
                        <m:r>
                          <a:rPr lang="en-US" altLang="zh-CN" sz="1600" b="1" i="1" dirty="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𝟎</m:t>
                            </m:r>
                          </m:sub>
                        </m:sSub>
                      </m:e>
                    </m:d>
                  </m:oMath>
                </a14:m>
                <a:r>
                  <a:rPr lang="zh-CN" altLang="en-US"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直接看见的自发光</a:t>
                </a:r>
                <a14:m>
                  <m:oMath xmlns:m="http://schemas.openxmlformats.org/officeDocument/2006/math">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𝐼</m:t>
                        </m:r>
                      </m:e>
                      <m:sub>
                        <m:r>
                          <a:rPr lang="en-US" altLang="zh-CN" sz="1600" b="0" i="1" dirty="0" smtClean="0">
                            <a:latin typeface="Cambria Math" panose="02040503050406030204" pitchFamily="18" charset="0"/>
                          </a:rPr>
                          <m:t>1</m:t>
                        </m:r>
                      </m:sub>
                    </m:sSub>
                  </m:oMath>
                </a14:m>
                <a:r>
                  <a:rPr lang="en-US" altLang="zh-CN" sz="1600" dirty="0">
                    <a:latin typeface="Noto Sans SC" panose="020B0200000000000000" pitchFamily="34" charset="-122"/>
                    <a:ea typeface="Noto Sans SC" panose="020B0200000000000000" pitchFamily="34" charset="-122"/>
                  </a:rPr>
                  <a:t>  +  </a:t>
                </a:r>
                <a:r>
                  <a:rPr lang="zh-CN" altLang="en-US" sz="1600" dirty="0">
                    <a:latin typeface="Noto Sans SC" panose="020B0200000000000000" pitchFamily="34" charset="-122"/>
                    <a:ea typeface="Noto Sans SC" panose="020B0200000000000000" pitchFamily="34" charset="-122"/>
                  </a:rPr>
                  <a:t>直接光照</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2</m:t>
                        </m:r>
                      </m:sub>
                    </m:sSub>
                  </m:oMath>
                </a14:m>
                <a:r>
                  <a:rPr lang="en-US" altLang="zh-CN" sz="1600" dirty="0">
                    <a:latin typeface="Noto Sans SC" panose="020B0200000000000000" pitchFamily="34" charset="-122"/>
                    <a:ea typeface="Noto Sans SC" panose="020B0200000000000000" pitchFamily="34" charset="-122"/>
                  </a:rPr>
                  <a:t>+  2</a:t>
                </a:r>
                <a:r>
                  <a:rPr lang="zh-CN" altLang="en-US" sz="1600" dirty="0">
                    <a:latin typeface="Noto Sans SC" panose="020B0200000000000000" pitchFamily="34" charset="-122"/>
                    <a:ea typeface="Noto Sans SC" panose="020B0200000000000000" pitchFamily="34" charset="-122"/>
                  </a:rPr>
                  <a:t>次散射间接光照</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3</m:t>
                        </m:r>
                      </m:sub>
                    </m:sSub>
                  </m:oMath>
                </a14:m>
                <a:r>
                  <a:rPr lang="en-US" altLang="zh-CN" sz="1600" dirty="0">
                    <a:latin typeface="Noto Sans SC" panose="020B0200000000000000" pitchFamily="34" charset="-122"/>
                    <a:ea typeface="Noto Sans SC" panose="020B0200000000000000" pitchFamily="34" charset="-122"/>
                  </a:rPr>
                  <a:t>+ 3</a:t>
                </a:r>
                <a:r>
                  <a:rPr lang="zh-CN" altLang="en-US" sz="1600" dirty="0">
                    <a:latin typeface="Noto Sans SC" panose="020B0200000000000000" pitchFamily="34" charset="-122"/>
                    <a:ea typeface="Noto Sans SC" panose="020B0200000000000000" pitchFamily="34" charset="-122"/>
                  </a:rPr>
                  <a:t>次散射间接光照</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4</m:t>
                        </m:r>
                      </m:sub>
                    </m:sSub>
                  </m:oMath>
                </a14:m>
                <a:r>
                  <a:rPr lang="en-US" altLang="zh-CN" sz="1600" dirty="0">
                    <a:latin typeface="Noto Sans SC" panose="020B0200000000000000" pitchFamily="34" charset="-122"/>
                    <a:ea typeface="Noto Sans SC" panose="020B0200000000000000" pitchFamily="34" charset="-122"/>
                  </a:rPr>
                  <a:t>  +  </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5</m:t>
                        </m:r>
                      </m:sub>
                    </m:sSub>
                  </m:oMath>
                </a14:m>
                <a:r>
                  <a:rPr lang="en-US" altLang="zh-CN" sz="1600" dirty="0">
                    <a:latin typeface="Noto Sans SC" panose="020B0200000000000000" pitchFamily="34" charset="-122"/>
                    <a:ea typeface="Noto Sans SC" panose="020B0200000000000000" pitchFamily="34" charset="-122"/>
                  </a:rPr>
                  <a:t>……</a:t>
                </a:r>
              </a:p>
            </p:txBody>
          </p:sp>
        </mc:Choice>
        <mc:Fallback xmlns="">
          <p:sp>
            <p:nvSpPr>
              <p:cNvPr id="19" name="文本框 18">
                <a:extLst>
                  <a:ext uri="{FF2B5EF4-FFF2-40B4-BE49-F238E27FC236}">
                    <a16:creationId xmlns:a16="http://schemas.microsoft.com/office/drawing/2014/main" id="{6F4BB8CD-EE72-0FF7-BF4E-DE0C165288D7}"/>
                  </a:ext>
                </a:extLst>
              </p:cNvPr>
              <p:cNvSpPr txBox="1">
                <a:spLocks noRot="1" noChangeAspect="1" noMove="1" noResize="1" noEditPoints="1" noAdjustHandles="1" noChangeArrowheads="1" noChangeShapeType="1" noTextEdit="1"/>
              </p:cNvSpPr>
              <p:nvPr/>
            </p:nvSpPr>
            <p:spPr>
              <a:xfrm>
                <a:off x="961623" y="6028519"/>
                <a:ext cx="10268754" cy="338554"/>
              </a:xfrm>
              <a:prstGeom prst="rect">
                <a:avLst/>
              </a:prstGeom>
              <a:blipFill>
                <a:blip r:embed="rId11"/>
                <a:stretch>
                  <a:fillRect t="-3448" b="-18966"/>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4030418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64D3-9D16-4F7E-5608-4096D0206F1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39CC61E-1E1B-89F4-3327-9AAFAA49B09A}"/>
              </a:ext>
            </a:extLst>
          </p:cNvPr>
          <p:cNvSpPr>
            <a:spLocks noGrp="1"/>
          </p:cNvSpPr>
          <p:nvPr>
            <p:ph type="title" idx="1"/>
          </p:nvPr>
        </p:nvSpPr>
        <p:spPr/>
        <p:txBody>
          <a:bodyPr/>
          <a:lstStyle/>
          <a:p>
            <a:r>
              <a:rPr lang="zh-CN" altLang="en-US" dirty="0"/>
              <a:t>路径积分  </a:t>
            </a:r>
            <a:r>
              <a:rPr lang="en-US" altLang="zh-CN" dirty="0"/>
              <a:t>——  </a:t>
            </a:r>
            <a:r>
              <a:rPr lang="zh-CN" altLang="en-US" dirty="0"/>
              <a:t>蒙特卡洛估计</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7F7B434-F4B0-A402-0E5E-2B7B6D2B3E9F}"/>
                  </a:ext>
                </a:extLst>
              </p:cNvPr>
              <p:cNvSpPr txBox="1"/>
              <p:nvPr/>
            </p:nvSpPr>
            <p:spPr>
              <a:xfrm>
                <a:off x="1517026" y="1236855"/>
                <a:ext cx="9157948" cy="4893776"/>
              </a:xfrm>
              <a:prstGeom prst="rect">
                <a:avLst/>
              </a:prstGeom>
              <a:noFill/>
            </p:spPr>
            <p:txBody>
              <a:bodyPr wrap="square">
                <a:spAutoFit/>
              </a:bodyPr>
              <a:lstStyle/>
              <a:p>
                <a:pPr/>
                <a14:m>
                  <m:oMathPara xmlns:m="http://schemas.openxmlformats.org/officeDocument/2006/math">
                    <m:o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𝐼</m:t>
                          </m:r>
                        </m:e>
                        <m:sub>
                          <m:r>
                            <a:rPr lang="en-US" altLang="zh-CN" sz="1600" b="0" i="1" smtClean="0">
                              <a:latin typeface="Cambria Math" panose="02040503050406030204" pitchFamily="18" charset="0"/>
                            </a:rPr>
                            <m:t>5</m:t>
                          </m:r>
                        </m:sub>
                      </m:sSub>
                      <m:r>
                        <a:rPr lang="en-US" altLang="zh-CN" sz="1600" b="0" i="1" smtClean="0">
                          <a:latin typeface="Cambria Math" panose="02040503050406030204" pitchFamily="18" charset="0"/>
                        </a:rPr>
                        <m:t>=</m:t>
                      </m:r>
                      <m:nary>
                        <m:naryPr>
                          <m:supHide m:val="on"/>
                          <m:ctrlPr>
                            <a:rPr lang="zh-CN" altLang="en-US" sz="1600" b="0" i="1" dirty="0">
                              <a:latin typeface="Cambria Math" panose="02040503050406030204" pitchFamily="18" charset="0"/>
                            </a:rPr>
                          </m:ctrlPr>
                        </m:naryPr>
                        <m:sub>
                          <m:sSub>
                            <m:sSubPr>
                              <m:ctrlPr>
                                <a:rPr lang="zh-CN" altLang="en-US" sz="1600" b="0" i="1" dirty="0">
                                  <a:latin typeface="Cambria Math" panose="02040503050406030204" pitchFamily="18" charset="0"/>
                                </a:rPr>
                              </m:ctrlPr>
                            </m:sSubPr>
                            <m:e>
                              <m:r>
                                <a:rPr lang="zh-CN" altLang="en-US" sz="1600" b="0" i="1" dirty="0">
                                  <a:latin typeface="Cambria Math" panose="02040503050406030204" pitchFamily="18" charset="0"/>
                                </a:rPr>
                                <m:t>𝒫</m:t>
                              </m:r>
                            </m:e>
                            <m:sub>
                              <m:r>
                                <a:rPr lang="en-US" altLang="zh-CN" sz="1600" b="0" i="1" dirty="0" smtClean="0">
                                  <a:latin typeface="Cambria Math" panose="02040503050406030204" pitchFamily="18" charset="0"/>
                                </a:rPr>
                                <m:t>5</m:t>
                              </m:r>
                            </m:sub>
                          </m:sSub>
                        </m:sub>
                        <m:sup/>
                        <m:e>
                          <m:sSub>
                            <m:sSubPr>
                              <m:ctrlPr>
                                <a:rPr lang="en-US" altLang="zh-CN" sz="1600" b="0" i="0" smtClean="0">
                                  <a:latin typeface="Cambria Math" panose="02040503050406030204" pitchFamily="18" charset="0"/>
                                </a:rPr>
                              </m:ctrlPr>
                            </m:sSubPr>
                            <m:e>
                              <m:r>
                                <m:rPr>
                                  <m:sty m:val="p"/>
                                </m:rPr>
                                <a:rPr lang="en-US" altLang="zh-CN" sz="1600" b="0" i="0" smtClean="0">
                                  <a:latin typeface="Cambria Math" panose="02040503050406030204" pitchFamily="18" charset="0"/>
                                </a:rPr>
                                <m:t>Φ</m:t>
                              </m:r>
                            </m:e>
                            <m:sub>
                              <m:r>
                                <a:rPr lang="en-US" altLang="zh-CN" sz="1600" b="0" i="0" smtClean="0">
                                  <a:latin typeface="Cambria Math" panose="02040503050406030204" pitchFamily="18" charset="0"/>
                                </a:rPr>
                                <m:t>5</m:t>
                              </m:r>
                            </m:sub>
                          </m:sSub>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𝑝</m:t>
                                      </m:r>
                                    </m:e>
                                  </m:acc>
                                </m:e>
                                <m:sub>
                                  <m:r>
                                    <a:rPr lang="en-US" altLang="zh-CN" sz="1600" b="0" i="1" smtClean="0">
                                      <a:latin typeface="Cambria Math" panose="02040503050406030204" pitchFamily="18" charset="0"/>
                                    </a:rPr>
                                    <m:t>5</m:t>
                                  </m:r>
                                </m:sub>
                              </m:sSub>
                            </m:e>
                          </m:d>
                        </m:e>
                      </m:nary>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𝜇</m:t>
                          </m:r>
                        </m:e>
                        <m:sub>
                          <m:r>
                            <a:rPr lang="en-US" altLang="zh-CN" sz="1600" b="0" i="1" smtClean="0">
                              <a:latin typeface="Cambria Math" panose="02040503050406030204" pitchFamily="18" charset="0"/>
                            </a:rPr>
                            <m:t>5</m:t>
                          </m:r>
                        </m:sub>
                      </m:sSub>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𝑝</m:t>
                                  </m:r>
                                </m:e>
                              </m:acc>
                            </m:e>
                            <m:sub>
                              <m:r>
                                <a:rPr lang="en-US" altLang="zh-CN" sz="1600" b="0" i="1" smtClean="0">
                                  <a:latin typeface="Cambria Math" panose="02040503050406030204" pitchFamily="18" charset="0"/>
                                </a:rPr>
                                <m:t>5</m:t>
                              </m:r>
                            </m:sub>
                          </m:sSub>
                        </m:e>
                      </m:d>
                    </m:oMath>
                    <m:oMath>
                      <m:r>
                        <a:rPr lang="en-US" altLang="zh-CN" sz="1600" b="1" i="1" smtClean="0">
                          <a:latin typeface="Cambria Math" panose="02040503050406030204" pitchFamily="18" charset="0"/>
                        </a:rPr>
                        <m:t>=</m:t>
                      </m:r>
                      <m:nary>
                        <m:naryPr>
                          <m:supHide m:val="on"/>
                          <m:ctrlPr>
                            <a:rPr lang="en-US" altLang="zh-CN" sz="1600" i="1" dirty="0">
                              <a:latin typeface="Cambria Math" panose="02040503050406030204" pitchFamily="18" charset="0"/>
                            </a:rPr>
                          </m:ctrlPr>
                        </m:naryPr>
                        <m:sub>
                          <m:sSup>
                            <m:sSupPr>
                              <m:ctrlPr>
                                <a:rPr lang="en-US" altLang="zh-CN" sz="1600" i="1" dirty="0">
                                  <a:latin typeface="Cambria Math" panose="02040503050406030204" pitchFamily="18" charset="0"/>
                                </a:rPr>
                              </m:ctrlPr>
                            </m:sSupPr>
                            <m:e>
                              <m:r>
                                <a:rPr lang="en-US" altLang="zh-CN" sz="1600" i="1" dirty="0">
                                  <a:latin typeface="Cambria Math" panose="02040503050406030204" pitchFamily="18" charset="0"/>
                                </a:rPr>
                                <m:t>𝑆</m:t>
                              </m:r>
                            </m:e>
                            <m:sup>
                              <m:r>
                                <a:rPr lang="en-US" altLang="zh-CN" sz="1600" i="1" dirty="0">
                                  <a:latin typeface="Cambria Math" panose="02040503050406030204" pitchFamily="18" charset="0"/>
                                </a:rPr>
                                <m:t>2</m:t>
                              </m:r>
                            </m:sup>
                          </m:sSup>
                        </m:sub>
                        <m:sup/>
                        <m:e>
                          <m:nary>
                            <m:naryPr>
                              <m:supHide m:val="on"/>
                              <m:ctrlPr>
                                <a:rPr lang="en-US" altLang="zh-CN" sz="1600" i="1" dirty="0">
                                  <a:solidFill>
                                    <a:schemeClr val="accent2">
                                      <a:lumMod val="75000"/>
                                    </a:schemeClr>
                                  </a:solidFill>
                                  <a:latin typeface="Cambria Math" panose="02040503050406030204" pitchFamily="18" charset="0"/>
                                </a:rPr>
                              </m:ctrlPr>
                            </m:naryPr>
                            <m:sub>
                              <m:sSup>
                                <m:sSupPr>
                                  <m:ctrlPr>
                                    <a:rPr lang="en-US" altLang="zh-CN" sz="1600" i="1" dirty="0">
                                      <a:solidFill>
                                        <a:schemeClr val="accent2">
                                          <a:lumMod val="75000"/>
                                        </a:schemeClr>
                                      </a:solidFill>
                                      <a:latin typeface="Cambria Math" panose="02040503050406030204" pitchFamily="18" charset="0"/>
                                    </a:rPr>
                                  </m:ctrlPr>
                                </m:sSupPr>
                                <m:e>
                                  <m:r>
                                    <a:rPr lang="en-US" altLang="zh-CN" sz="1600" i="1" dirty="0">
                                      <a:solidFill>
                                        <a:schemeClr val="accent2">
                                          <a:lumMod val="75000"/>
                                        </a:schemeClr>
                                      </a:solidFill>
                                      <a:latin typeface="Cambria Math" panose="02040503050406030204" pitchFamily="18" charset="0"/>
                                    </a:rPr>
                                    <m:t>𝑆</m:t>
                                  </m:r>
                                </m:e>
                                <m:sup>
                                  <m:r>
                                    <a:rPr lang="en-US" altLang="zh-CN" sz="1600" i="1" dirty="0">
                                      <a:solidFill>
                                        <a:schemeClr val="accent2">
                                          <a:lumMod val="75000"/>
                                        </a:schemeClr>
                                      </a:solidFill>
                                      <a:latin typeface="Cambria Math" panose="02040503050406030204" pitchFamily="18" charset="0"/>
                                    </a:rPr>
                                    <m:t>2</m:t>
                                  </m:r>
                                </m:sup>
                              </m:sSup>
                            </m:sub>
                            <m:sup/>
                            <m:e>
                              <m:nary>
                                <m:naryPr>
                                  <m:supHide m:val="on"/>
                                  <m:ctrlPr>
                                    <a:rPr lang="en-US" altLang="zh-CN" sz="1600" i="1" dirty="0" smtClean="0">
                                      <a:solidFill>
                                        <a:schemeClr val="accent6">
                                          <a:lumMod val="50000"/>
                                        </a:schemeClr>
                                      </a:solidFill>
                                      <a:latin typeface="Cambria Math" panose="02040503050406030204" pitchFamily="18" charset="0"/>
                                    </a:rPr>
                                  </m:ctrlPr>
                                </m:naryPr>
                                <m:sub>
                                  <m:sSup>
                                    <m:sSupPr>
                                      <m:ctrlPr>
                                        <a:rPr lang="en-US" altLang="zh-CN" sz="1600" i="1" dirty="0" smtClean="0">
                                          <a:solidFill>
                                            <a:schemeClr val="accent6">
                                              <a:lumMod val="50000"/>
                                            </a:schemeClr>
                                          </a:solidFill>
                                          <a:latin typeface="Cambria Math" panose="02040503050406030204" pitchFamily="18" charset="0"/>
                                        </a:rPr>
                                      </m:ctrlPr>
                                    </m:sSupPr>
                                    <m:e>
                                      <m:r>
                                        <a:rPr lang="en-US" altLang="zh-CN" sz="1600" i="1" dirty="0" smtClean="0">
                                          <a:solidFill>
                                            <a:schemeClr val="accent6">
                                              <a:lumMod val="50000"/>
                                            </a:schemeClr>
                                          </a:solidFill>
                                          <a:latin typeface="Cambria Math" panose="02040503050406030204" pitchFamily="18" charset="0"/>
                                        </a:rPr>
                                        <m:t>𝑆</m:t>
                                      </m:r>
                                    </m:e>
                                    <m:sup>
                                      <m:r>
                                        <a:rPr lang="en-US" altLang="zh-CN" sz="1600" b="0" i="1" dirty="0" smtClean="0">
                                          <a:solidFill>
                                            <a:schemeClr val="accent6">
                                              <a:lumMod val="50000"/>
                                            </a:schemeClr>
                                          </a:solidFill>
                                          <a:latin typeface="Cambria Math" panose="02040503050406030204" pitchFamily="18" charset="0"/>
                                        </a:rPr>
                                        <m:t>2</m:t>
                                      </m:r>
                                    </m:sup>
                                  </m:sSup>
                                </m:sub>
                                <m:sup/>
                                <m:e>
                                  <m:nary>
                                    <m:naryPr>
                                      <m:supHide m:val="on"/>
                                      <m:ctrlPr>
                                        <a:rPr lang="en-US" altLang="zh-CN" sz="1600" i="1" dirty="0">
                                          <a:solidFill>
                                            <a:srgbClr val="7030A0"/>
                                          </a:solidFill>
                                          <a:latin typeface="Cambria Math" panose="02040503050406030204" pitchFamily="18" charset="0"/>
                                        </a:rPr>
                                      </m:ctrlPr>
                                    </m:naryPr>
                                    <m:sub>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𝐴</m:t>
                                          </m:r>
                                        </m:e>
                                        <m:sub>
                                          <m:r>
                                            <a:rPr lang="en-US" altLang="zh-CN" sz="1600" i="1" dirty="0">
                                              <a:solidFill>
                                                <a:srgbClr val="7030A0"/>
                                              </a:solidFill>
                                              <a:latin typeface="Cambria Math" panose="02040503050406030204" pitchFamily="18" charset="0"/>
                                            </a:rPr>
                                            <m:t>𝐸</m:t>
                                          </m:r>
                                        </m:sub>
                                      </m:sSub>
                                    </m:sub>
                                    <m:sup/>
                                    <m:e>
                                      <m:limLow>
                                        <m:limLowPr>
                                          <m:ctrlPr>
                                            <a:rPr lang="en-US" altLang="zh-CN" sz="1600" i="1" dirty="0">
                                              <a:latin typeface="Cambria Math" panose="02040503050406030204" pitchFamily="18" charset="0"/>
                                            </a:rPr>
                                          </m:ctrlPr>
                                        </m:limLowPr>
                                        <m:e>
                                          <m:groupChr>
                                            <m:groupChrPr>
                                              <m:chr m:val="⏟"/>
                                              <m:pos m:val="bot"/>
                                              <m:vertJc m:val="top"/>
                                              <m:ctrlPr>
                                                <a:rPr lang="en-US" altLang="zh-CN" sz="1600" i="1" dirty="0">
                                                  <a:latin typeface="Cambria Math" panose="02040503050406030204" pitchFamily="18" charset="0"/>
                                                </a:rPr>
                                              </m:ctrlPr>
                                            </m:groupChr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𝑓</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m:t>
                                              </m:r>
                                              <m:d>
                                                <m:dPr>
                                                  <m:begChr m:val="|"/>
                                                  <m:endChr m:val="|"/>
                                                  <m:ctrlPr>
                                                    <a:rPr lang="en-US" altLang="zh-CN" sz="1600" i="1" dirty="0">
                                                      <a:latin typeface="Cambria Math" panose="02040503050406030204" pitchFamily="18" charset="0"/>
                                                    </a:rPr>
                                                  </m:ctrlPr>
                                                </m:dPr>
                                                <m:e>
                                                  <m:func>
                                                    <m:funcPr>
                                                      <m:ctrlPr>
                                                        <a:rPr lang="en-US" altLang="zh-CN" sz="1600" dirty="0">
                                                          <a:latin typeface="Cambria Math" panose="02040503050406030204" pitchFamily="18" charset="0"/>
                                                        </a:rPr>
                                                      </m:ctrlPr>
                                                    </m:funcPr>
                                                    <m:fName>
                                                      <m:r>
                                                        <m:rPr>
                                                          <m:sty m:val="p"/>
                                                        </m:rPr>
                                                        <a:rPr lang="en-US" altLang="zh-CN" sz="1600" dirty="0">
                                                          <a:latin typeface="Cambria Math" panose="02040503050406030204" pitchFamily="18" charset="0"/>
                                                        </a:rPr>
                                                        <m:t>cos</m:t>
                                                      </m:r>
                                                    </m:fName>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𝜃</m:t>
                                                          </m:r>
                                                        </m:e>
                                                        <m:sub>
                                                          <m:r>
                                                            <a:rPr lang="en-US" altLang="zh-CN" sz="1600" i="1" dirty="0">
                                                              <a:latin typeface="Cambria Math" panose="02040503050406030204" pitchFamily="18" charset="0"/>
                                                            </a:rPr>
                                                            <m:t>2</m:t>
                                                          </m:r>
                                                        </m:sub>
                                                      </m:sSub>
                                                    </m:e>
                                                  </m:func>
                                                </m:e>
                                              </m:d>
                                              <m:r>
                                                <a:rPr lang="en-US" altLang="zh-CN" sz="1600" i="1" dirty="0">
                                                  <a:solidFill>
                                                    <a:srgbClr val="7030A0"/>
                                                  </a:solidFill>
                                                  <a:latin typeface="Cambria Math" panose="02040503050406030204" pitchFamily="18" charset="0"/>
                                                </a:rPr>
                                                <m:t> </m:t>
                                              </m:r>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𝑓</m:t>
                                                  </m:r>
                                                </m:e>
                                                <m:sub>
                                                  <m:r>
                                                    <a:rPr lang="en-US" altLang="zh-CN" sz="1600" i="1" dirty="0">
                                                      <a:solidFill>
                                                        <a:schemeClr val="accent2">
                                                          <a:lumMod val="75000"/>
                                                        </a:schemeClr>
                                                      </a:solidFill>
                                                      <a:latin typeface="Cambria Math" panose="02040503050406030204" pitchFamily="18" charset="0"/>
                                                    </a:rPr>
                                                    <m:t>2</m:t>
                                                  </m:r>
                                                </m:sub>
                                              </m:sSub>
                                              <m:r>
                                                <a:rPr lang="en-US" altLang="zh-CN" sz="1600" i="1" dirty="0">
                                                  <a:solidFill>
                                                    <a:schemeClr val="accent2">
                                                      <a:lumMod val="75000"/>
                                                    </a:schemeClr>
                                                  </a:solidFill>
                                                  <a:latin typeface="Cambria Math" panose="02040503050406030204" pitchFamily="18" charset="0"/>
                                                </a:rPr>
                                                <m:t> </m:t>
                                              </m:r>
                                              <m:d>
                                                <m:dPr>
                                                  <m:begChr m:val="|"/>
                                                  <m:endChr m:val="|"/>
                                                  <m:ctrlPr>
                                                    <a:rPr lang="en-US" altLang="zh-CN" sz="1600" i="1" dirty="0">
                                                      <a:solidFill>
                                                        <a:schemeClr val="accent2">
                                                          <a:lumMod val="75000"/>
                                                        </a:schemeClr>
                                                      </a:solidFill>
                                                      <a:latin typeface="Cambria Math" panose="02040503050406030204" pitchFamily="18" charset="0"/>
                                                    </a:rPr>
                                                  </m:ctrlPr>
                                                </m:dPr>
                                                <m:e>
                                                  <m:func>
                                                    <m:funcPr>
                                                      <m:ctrlPr>
                                                        <a:rPr lang="en-US" altLang="zh-CN" sz="1600" dirty="0">
                                                          <a:solidFill>
                                                            <a:schemeClr val="accent2">
                                                              <a:lumMod val="75000"/>
                                                            </a:schemeClr>
                                                          </a:solidFill>
                                                          <a:latin typeface="Cambria Math" panose="02040503050406030204" pitchFamily="18" charset="0"/>
                                                        </a:rPr>
                                                      </m:ctrlPr>
                                                    </m:funcPr>
                                                    <m:fName>
                                                      <m:r>
                                                        <m:rPr>
                                                          <m:sty m:val="p"/>
                                                        </m:rPr>
                                                        <a:rPr lang="en-US" altLang="zh-CN" sz="1600" dirty="0">
                                                          <a:solidFill>
                                                            <a:schemeClr val="accent2">
                                                              <a:lumMod val="75000"/>
                                                            </a:schemeClr>
                                                          </a:solidFill>
                                                          <a:latin typeface="Cambria Math" panose="02040503050406030204" pitchFamily="18" charset="0"/>
                                                        </a:rPr>
                                                        <m:t>cos</m:t>
                                                      </m:r>
                                                    </m:fName>
                                                    <m:e>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𝜃</m:t>
                                                          </m:r>
                                                        </m:e>
                                                        <m:sub>
                                                          <m:r>
                                                            <a:rPr lang="en-US" altLang="zh-CN" sz="1600" i="1" dirty="0">
                                                              <a:solidFill>
                                                                <a:schemeClr val="accent2">
                                                                  <a:lumMod val="75000"/>
                                                                </a:schemeClr>
                                                              </a:solidFill>
                                                              <a:latin typeface="Cambria Math" panose="02040503050406030204" pitchFamily="18" charset="0"/>
                                                            </a:rPr>
                                                            <m:t>3</m:t>
                                                          </m:r>
                                                        </m:sub>
                                                      </m:sSub>
                                                    </m:e>
                                                  </m:func>
                                                </m:e>
                                              </m:d>
                                              <m:r>
                                                <a:rPr lang="en-US" altLang="zh-CN" sz="1600" i="1" dirty="0">
                                                  <a:solidFill>
                                                    <a:srgbClr val="7030A0"/>
                                                  </a:solidFill>
                                                  <a:latin typeface="Cambria Math" panose="02040503050406030204" pitchFamily="18" charset="0"/>
                                                </a:rPr>
                                                <m:t> </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𝑓</m:t>
                                                  </m:r>
                                                </m:e>
                                                <m:sub>
                                                  <m:r>
                                                    <a:rPr lang="en-US" altLang="zh-CN" sz="1600" i="1" dirty="0">
                                                      <a:solidFill>
                                                        <a:schemeClr val="accent6">
                                                          <a:lumMod val="50000"/>
                                                        </a:schemeClr>
                                                      </a:solidFill>
                                                      <a:latin typeface="Cambria Math" panose="02040503050406030204" pitchFamily="18" charset="0"/>
                                                    </a:rPr>
                                                    <m:t>3</m:t>
                                                  </m:r>
                                                </m:sub>
                                              </m:sSub>
                                              <m:r>
                                                <a:rPr lang="en-US" altLang="zh-CN" sz="1600" i="1" dirty="0">
                                                  <a:solidFill>
                                                    <a:schemeClr val="accent6">
                                                      <a:lumMod val="50000"/>
                                                    </a:schemeClr>
                                                  </a:solidFill>
                                                  <a:latin typeface="Cambria Math" panose="02040503050406030204" pitchFamily="18" charset="0"/>
                                                </a:rPr>
                                                <m:t> </m:t>
                                              </m:r>
                                              <m:d>
                                                <m:dPr>
                                                  <m:begChr m:val="|"/>
                                                  <m:endChr m:val="|"/>
                                                  <m:ctrlPr>
                                                    <a:rPr lang="en-US" altLang="zh-CN" sz="1600" i="1" dirty="0">
                                                      <a:solidFill>
                                                        <a:schemeClr val="accent6">
                                                          <a:lumMod val="50000"/>
                                                        </a:schemeClr>
                                                      </a:solidFill>
                                                      <a:latin typeface="Cambria Math" panose="02040503050406030204" pitchFamily="18" charset="0"/>
                                                    </a:rPr>
                                                  </m:ctrlPr>
                                                </m:dPr>
                                                <m:e>
                                                  <m:func>
                                                    <m:funcPr>
                                                      <m:ctrlPr>
                                                        <a:rPr lang="en-US" altLang="zh-CN" sz="1600" dirty="0">
                                                          <a:solidFill>
                                                            <a:schemeClr val="accent6">
                                                              <a:lumMod val="50000"/>
                                                            </a:schemeClr>
                                                          </a:solidFill>
                                                          <a:latin typeface="Cambria Math" panose="02040503050406030204" pitchFamily="18" charset="0"/>
                                                        </a:rPr>
                                                      </m:ctrlPr>
                                                    </m:funcPr>
                                                    <m:fName>
                                                      <m:r>
                                                        <m:rPr>
                                                          <m:sty m:val="p"/>
                                                        </m:rPr>
                                                        <a:rPr lang="en-US" altLang="zh-CN" sz="1600" dirty="0">
                                                          <a:solidFill>
                                                            <a:schemeClr val="accent6">
                                                              <a:lumMod val="50000"/>
                                                            </a:schemeClr>
                                                          </a:solidFill>
                                                          <a:latin typeface="Cambria Math" panose="02040503050406030204" pitchFamily="18" charset="0"/>
                                                        </a:rPr>
                                                        <m:t>cos</m:t>
                                                      </m:r>
                                                    </m:fName>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𝜃</m:t>
                                                          </m:r>
                                                        </m:e>
                                                        <m:sub>
                                                          <m:r>
                                                            <a:rPr lang="en-US" altLang="zh-CN" sz="1600" i="1" dirty="0">
                                                              <a:solidFill>
                                                                <a:schemeClr val="accent6">
                                                                  <a:lumMod val="50000"/>
                                                                </a:schemeClr>
                                                              </a:solidFill>
                                                              <a:latin typeface="Cambria Math" panose="02040503050406030204" pitchFamily="18" charset="0"/>
                                                            </a:rPr>
                                                            <m:t>4</m:t>
                                                          </m:r>
                                                        </m:sub>
                                                      </m:sSub>
                                                    </m:e>
                                                  </m:func>
                                                </m:e>
                                              </m:d>
                                            </m:e>
                                          </m:groupChr>
                                        </m:e>
                                        <m:lim>
                                          <m:eqArr>
                                            <m:eqArrPr>
                                              <m:ctrlPr>
                                                <a:rPr lang="en-US" altLang="zh-CN" sz="1600" b="0" i="1" dirty="0" smtClean="0">
                                                  <a:latin typeface="Cambria Math" panose="02040503050406030204" pitchFamily="18" charset="0"/>
                                                </a:rPr>
                                              </m:ctrlPr>
                                            </m:eqArrPr>
                                            <m:e>
                                              <m:r>
                                                <a:rPr lang="en-US" altLang="zh-CN" sz="1600" b="0" i="1" dirty="0" smtClean="0">
                                                  <a:latin typeface="Cambria Math" panose="02040503050406030204" pitchFamily="18" charset="0"/>
                                                </a:rPr>
                                                <m:t> </m:t>
                                              </m:r>
                                            </m:e>
                                            <m:e>
                                              <m:r>
                                                <a:rPr lang="en-US" altLang="zh-CN" sz="1600" b="0" i="1" dirty="0" smtClean="0">
                                                  <a:latin typeface="Cambria Math" panose="02040503050406030204" pitchFamily="18" charset="0"/>
                                                </a:rPr>
                                                <m:t> </m:t>
                                              </m:r>
                                            </m:e>
                                            <m:e>
                                              <m:r>
                                                <a:rPr lang="en-US" altLang="zh-CN" sz="1600" b="0" i="1" dirty="0" smtClean="0">
                                                  <a:latin typeface="Cambria Math" panose="02040503050406030204" pitchFamily="18" charset="0"/>
                                                </a:rPr>
                                                <m:t> </m:t>
                                              </m:r>
                                            </m:e>
                                            <m:e>
                                              <m:r>
                                                <a:rPr lang="zh-CN" altLang="en-US" sz="1600" i="1" dirty="0">
                                                  <a:latin typeface="Cambria Math" panose="02040503050406030204" pitchFamily="18" charset="0"/>
                                                </a:rPr>
                                                <m:t>三次方向散射</m:t>
                                              </m:r>
                                            </m:e>
                                          </m:eqArr>
                                        </m:lim>
                                      </m:limLow>
                                      <m:limLow>
                                        <m:limLowPr>
                                          <m:ctrlPr>
                                            <a:rPr lang="en-US" altLang="zh-CN" sz="1600" i="1" dirty="0">
                                              <a:solidFill>
                                                <a:srgbClr val="7030A0"/>
                                              </a:solidFill>
                                              <a:latin typeface="Cambria Math" panose="02040503050406030204" pitchFamily="18" charset="0"/>
                                            </a:rPr>
                                          </m:ctrlPr>
                                        </m:limLowPr>
                                        <m:e>
                                          <m:groupChr>
                                            <m:groupChrPr>
                                              <m:chr m:val="⏟"/>
                                              <m:pos m:val="bot"/>
                                              <m:vertJc m:val="top"/>
                                              <m:ctrlPr>
                                                <a:rPr lang="en-US" altLang="zh-CN" sz="1600" i="1" dirty="0">
                                                  <a:solidFill>
                                                    <a:srgbClr val="7030A0"/>
                                                  </a:solidFill>
                                                  <a:latin typeface="Cambria Math" panose="02040503050406030204" pitchFamily="18" charset="0"/>
                                                </a:rPr>
                                              </m:ctrlPr>
                                            </m:groupChrPr>
                                            <m:e>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𝑓</m:t>
                                                  </m:r>
                                                </m:e>
                                                <m:sub>
                                                  <m:r>
                                                    <a:rPr lang="en-US" altLang="zh-CN" sz="1600" i="1" dirty="0">
                                                      <a:solidFill>
                                                        <a:srgbClr val="7030A0"/>
                                                      </a:solidFill>
                                                      <a:latin typeface="Cambria Math" panose="02040503050406030204" pitchFamily="18" charset="0"/>
                                                    </a:rPr>
                                                    <m:t>4</m:t>
                                                  </m:r>
                                                </m:sub>
                                              </m:sSub>
                                              <m:r>
                                                <a:rPr lang="en-US" altLang="zh-CN" sz="1600" i="1" dirty="0">
                                                  <a:solidFill>
                                                    <a:srgbClr val="7030A0"/>
                                                  </a:solidFill>
                                                  <a:latin typeface="Cambria Math" panose="02040503050406030204" pitchFamily="18" charset="0"/>
                                                </a:rPr>
                                                <m:t> </m:t>
                                              </m:r>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𝐺</m:t>
                                                  </m:r>
                                                </m:e>
                                                <m:sub>
                                                  <m:r>
                                                    <a:rPr lang="en-US" altLang="zh-CN" sz="1600" i="1" dirty="0">
                                                      <a:solidFill>
                                                        <a:srgbClr val="7030A0"/>
                                                      </a:solidFill>
                                                      <a:latin typeface="Cambria Math" panose="02040503050406030204" pitchFamily="18" charset="0"/>
                                                    </a:rPr>
                                                    <m:t>4</m:t>
                                                  </m:r>
                                                </m:sub>
                                              </m:sSub>
                                              <m:r>
                                                <a:rPr lang="en-US" altLang="zh-CN" sz="1600" i="1" dirty="0">
                                                  <a:solidFill>
                                                    <a:srgbClr val="7030A0"/>
                                                  </a:solidFill>
                                                  <a:latin typeface="Cambria Math" panose="02040503050406030204" pitchFamily="18" charset="0"/>
                                                </a:rPr>
                                                <m:t> </m:t>
                                              </m:r>
                                              <m:sSub>
                                                <m:sSubPr>
                                                  <m:ctrlPr>
                                                    <a:rPr lang="en-US" altLang="zh-CN" sz="1600" i="1" dirty="0">
                                                      <a:solidFill>
                                                        <a:srgbClr val="008000"/>
                                                      </a:solidFill>
                                                      <a:latin typeface="Cambria Math" panose="02040503050406030204" pitchFamily="18" charset="0"/>
                                                    </a:rPr>
                                                  </m:ctrlPr>
                                                </m:sSubPr>
                                                <m:e>
                                                  <m:r>
                                                    <a:rPr lang="en-US" altLang="zh-CN" sz="1600" i="1" dirty="0">
                                                      <a:solidFill>
                                                        <a:srgbClr val="008000"/>
                                                      </a:solidFill>
                                                      <a:latin typeface="Cambria Math" panose="02040503050406030204" pitchFamily="18" charset="0"/>
                                                    </a:rPr>
                                                    <m:t>𝐿</m:t>
                                                  </m:r>
                                                </m:e>
                                                <m:sub>
                                                  <m:r>
                                                    <a:rPr lang="en-US" altLang="zh-CN" sz="1600" b="1" i="1" dirty="0">
                                                      <a:solidFill>
                                                        <a:srgbClr val="008000"/>
                                                      </a:solidFill>
                                                      <a:latin typeface="Cambria Math" panose="02040503050406030204" pitchFamily="18" charset="0"/>
                                                    </a:rPr>
                                                    <m:t>𝒆</m:t>
                                                  </m:r>
                                                </m:sub>
                                              </m:sSub>
                                              <m:d>
                                                <m:dPr>
                                                  <m:ctrlPr>
                                                    <a:rPr lang="en-US" altLang="zh-CN" sz="1600" b="1" i="1" dirty="0">
                                                      <a:solidFill>
                                                        <a:srgbClr val="008000"/>
                                                      </a:solidFill>
                                                      <a:latin typeface="Cambria Math" panose="02040503050406030204" pitchFamily="18" charset="0"/>
                                                    </a:rPr>
                                                  </m:ctrlPr>
                                                </m:dPr>
                                                <m:e>
                                                  <m:sSub>
                                                    <m:sSubPr>
                                                      <m:ctrlPr>
                                                        <a:rPr lang="en-US" altLang="zh-CN" sz="1600" b="1" i="1" dirty="0">
                                                          <a:solidFill>
                                                            <a:srgbClr val="008000"/>
                                                          </a:solidFill>
                                                          <a:latin typeface="Cambria Math" panose="02040503050406030204" pitchFamily="18" charset="0"/>
                                                        </a:rPr>
                                                      </m:ctrlPr>
                                                    </m:sSubPr>
                                                    <m:e>
                                                      <m:r>
                                                        <a:rPr lang="en-US" altLang="zh-CN" sz="1600" b="1" i="1" dirty="0">
                                                          <a:solidFill>
                                                            <a:srgbClr val="008000"/>
                                                          </a:solidFill>
                                                          <a:latin typeface="Cambria Math" panose="02040503050406030204" pitchFamily="18" charset="0"/>
                                                        </a:rPr>
                                                        <m:t>𝒑</m:t>
                                                      </m:r>
                                                    </m:e>
                                                    <m:sub>
                                                      <m:r>
                                                        <a:rPr lang="en-US" altLang="zh-CN" sz="1600" b="1" i="1" dirty="0">
                                                          <a:solidFill>
                                                            <a:srgbClr val="008000"/>
                                                          </a:solidFill>
                                                          <a:latin typeface="Cambria Math" panose="02040503050406030204" pitchFamily="18" charset="0"/>
                                                        </a:rPr>
                                                        <m:t>𝟓</m:t>
                                                      </m:r>
                                                    </m:sub>
                                                  </m:sSub>
                                                  <m:r>
                                                    <a:rPr lang="en-US" altLang="zh-CN" sz="1600" b="1" i="1" dirty="0">
                                                      <a:solidFill>
                                                        <a:srgbClr val="008000"/>
                                                      </a:solidFill>
                                                      <a:latin typeface="Cambria Math" panose="02040503050406030204" pitchFamily="18" charset="0"/>
                                                    </a:rPr>
                                                    <m:t>→</m:t>
                                                  </m:r>
                                                  <m:sSub>
                                                    <m:sSubPr>
                                                      <m:ctrlPr>
                                                        <a:rPr lang="en-US" altLang="zh-CN" sz="1600" b="1" i="1" dirty="0">
                                                          <a:solidFill>
                                                            <a:srgbClr val="008000"/>
                                                          </a:solidFill>
                                                          <a:latin typeface="Cambria Math" panose="02040503050406030204" pitchFamily="18" charset="0"/>
                                                        </a:rPr>
                                                      </m:ctrlPr>
                                                    </m:sSubPr>
                                                    <m:e>
                                                      <m:r>
                                                        <a:rPr lang="en-US" altLang="zh-CN" sz="1600" b="1" i="1" dirty="0">
                                                          <a:solidFill>
                                                            <a:srgbClr val="008000"/>
                                                          </a:solidFill>
                                                          <a:latin typeface="Cambria Math" panose="02040503050406030204" pitchFamily="18" charset="0"/>
                                                        </a:rPr>
                                                        <m:t>𝒑</m:t>
                                                      </m:r>
                                                    </m:e>
                                                    <m:sub>
                                                      <m:r>
                                                        <a:rPr lang="en-US" altLang="zh-CN" sz="1600" b="1" i="1" dirty="0">
                                                          <a:solidFill>
                                                            <a:srgbClr val="008000"/>
                                                          </a:solidFill>
                                                          <a:latin typeface="Cambria Math" panose="02040503050406030204" pitchFamily="18" charset="0"/>
                                                        </a:rPr>
                                                        <m:t>𝟒</m:t>
                                                      </m:r>
                                                    </m:sub>
                                                  </m:sSub>
                                                </m:e>
                                              </m:d>
                                            </m:e>
                                          </m:groupChr>
                                        </m:e>
                                        <m:lim>
                                          <m:eqArr>
                                            <m:eqArrPr>
                                              <m:ctrlPr>
                                                <a:rPr lang="en-US" altLang="zh-CN" sz="1600" b="0" i="1" dirty="0" smtClean="0">
                                                  <a:solidFill>
                                                    <a:schemeClr val="tx1"/>
                                                  </a:solidFill>
                                                  <a:latin typeface="Cambria Math" panose="02040503050406030204" pitchFamily="18" charset="0"/>
                                                </a:rPr>
                                              </m:ctrlPr>
                                            </m:eqArrPr>
                                            <m:e>
                                              <m:r>
                                                <a:rPr lang="en-US" altLang="zh-CN" sz="1600" b="0" i="1" dirty="0" smtClean="0">
                                                  <a:solidFill>
                                                    <a:schemeClr val="tx1"/>
                                                  </a:solidFill>
                                                  <a:latin typeface="Cambria Math" panose="02040503050406030204" pitchFamily="18" charset="0"/>
                                                </a:rPr>
                                                <m:t> </m:t>
                                              </m:r>
                                            </m:e>
                                            <m:e>
                                              <m:r>
                                                <a:rPr lang="en-US" altLang="zh-CN" sz="1600" b="0" i="1" dirty="0" smtClean="0">
                                                  <a:solidFill>
                                                    <a:schemeClr val="tx1"/>
                                                  </a:solidFill>
                                                  <a:latin typeface="Cambria Math" panose="02040503050406030204" pitchFamily="18" charset="0"/>
                                                </a:rPr>
                                                <m:t> </m:t>
                                              </m:r>
                                            </m:e>
                                            <m:e>
                                              <m:r>
                                                <a:rPr lang="en-US" altLang="zh-CN" sz="1600" b="0" i="1" dirty="0" smtClean="0">
                                                  <a:solidFill>
                                                    <a:schemeClr val="tx1"/>
                                                  </a:solidFill>
                                                  <a:latin typeface="Cambria Math" panose="02040503050406030204" pitchFamily="18" charset="0"/>
                                                </a:rPr>
                                                <m:t> </m:t>
                                              </m:r>
                                            </m:e>
                                            <m:e>
                                              <m:r>
                                                <a:rPr lang="zh-CN" altLang="en-US" sz="1600" i="1" dirty="0">
                                                  <a:latin typeface="Cambria Math" panose="02040503050406030204" pitchFamily="18" charset="0"/>
                                                </a:rPr>
                                                <m:t>连接光源</m:t>
                                              </m:r>
                                            </m:e>
                                          </m:eqArr>
                                        </m:lim>
                                      </m:limLow>
                                      <m:r>
                                        <a:rPr lang="en-US" altLang="zh-CN" sz="1600" i="1" dirty="0" smtClean="0">
                                          <a:solidFill>
                                            <a:srgbClr val="7030A0"/>
                                          </a:solidFill>
                                          <a:latin typeface="Cambria Math" panose="02040503050406030204" pitchFamily="18" charset="0"/>
                                        </a:rPr>
                                        <m:t>𝑑𝐴</m:t>
                                      </m:r>
                                      <m:d>
                                        <m:dPr>
                                          <m:ctrlPr>
                                            <a:rPr lang="en-US" altLang="zh-CN" sz="1600" b="1" i="1" dirty="0" smtClean="0">
                                              <a:solidFill>
                                                <a:srgbClr val="7030A0"/>
                                              </a:solidFill>
                                              <a:latin typeface="Cambria Math" panose="02040503050406030204" pitchFamily="18" charset="0"/>
                                            </a:rPr>
                                          </m:ctrlPr>
                                        </m:dPr>
                                        <m:e>
                                          <m:sSub>
                                            <m:sSubPr>
                                              <m:ctrlPr>
                                                <a:rPr lang="en-US" altLang="zh-CN" sz="1600" b="1" i="1" dirty="0" smtClean="0">
                                                  <a:solidFill>
                                                    <a:srgbClr val="7030A0"/>
                                                  </a:solidFill>
                                                  <a:latin typeface="Cambria Math" panose="02040503050406030204" pitchFamily="18" charset="0"/>
                                                </a:rPr>
                                              </m:ctrlPr>
                                            </m:sSubPr>
                                            <m:e>
                                              <m:r>
                                                <a:rPr lang="en-US" altLang="zh-CN" sz="1600" b="1" i="1" dirty="0" smtClean="0">
                                                  <a:solidFill>
                                                    <a:srgbClr val="7030A0"/>
                                                  </a:solidFill>
                                                  <a:latin typeface="Cambria Math" panose="02040503050406030204" pitchFamily="18" charset="0"/>
                                                </a:rPr>
                                                <m:t>𝒑</m:t>
                                              </m:r>
                                            </m:e>
                                            <m:sub>
                                              <m:r>
                                                <a:rPr lang="en-US" altLang="zh-CN" sz="1600" b="1" i="1" dirty="0" smtClean="0">
                                                  <a:solidFill>
                                                    <a:srgbClr val="7030A0"/>
                                                  </a:solidFill>
                                                  <a:latin typeface="Cambria Math" panose="02040503050406030204" pitchFamily="18" charset="0"/>
                                                </a:rPr>
                                                <m:t>𝟓</m:t>
                                              </m:r>
                                            </m:sub>
                                          </m:sSub>
                                        </m:e>
                                      </m:d>
                                    </m:e>
                                  </m:nary>
                                  <m:r>
                                    <a:rPr lang="en-US" altLang="zh-CN" sz="1600" i="1" dirty="0">
                                      <a:solidFill>
                                        <a:schemeClr val="accent6">
                                          <a:lumMod val="50000"/>
                                        </a:schemeClr>
                                      </a:solidFill>
                                      <a:latin typeface="Cambria Math" panose="02040503050406030204" pitchFamily="18" charset="0"/>
                                    </a:rPr>
                                    <m:t>𝑑</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𝜔</m:t>
                                      </m:r>
                                    </m:e>
                                    <m:sub>
                                      <m:r>
                                        <a:rPr lang="en-US" altLang="zh-CN" sz="1600" i="1" dirty="0">
                                          <a:solidFill>
                                            <a:schemeClr val="accent6">
                                              <a:lumMod val="50000"/>
                                            </a:schemeClr>
                                          </a:solidFill>
                                          <a:latin typeface="Cambria Math" panose="02040503050406030204" pitchFamily="18" charset="0"/>
                                        </a:rPr>
                                        <m:t>4</m:t>
                                      </m:r>
                                    </m:sub>
                                  </m:sSub>
                                </m:e>
                              </m:nary>
                              <m:r>
                                <a:rPr lang="en-US" altLang="zh-CN" sz="1600" i="1" dirty="0">
                                  <a:solidFill>
                                    <a:schemeClr val="accent2">
                                      <a:lumMod val="75000"/>
                                    </a:schemeClr>
                                  </a:solidFill>
                                  <a:latin typeface="Cambria Math" panose="02040503050406030204" pitchFamily="18" charset="0"/>
                                </a:rPr>
                                <m:t>𝑑</m:t>
                              </m:r>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𝜔</m:t>
                                  </m:r>
                                </m:e>
                                <m:sub>
                                  <m:r>
                                    <a:rPr lang="en-US" altLang="zh-CN" sz="1600" i="1" dirty="0">
                                      <a:solidFill>
                                        <a:schemeClr val="accent2">
                                          <a:lumMod val="75000"/>
                                        </a:schemeClr>
                                      </a:solidFill>
                                      <a:latin typeface="Cambria Math" panose="02040503050406030204" pitchFamily="18" charset="0"/>
                                    </a:rPr>
                                    <m:t>3</m:t>
                                  </m:r>
                                </m:sub>
                              </m:sSub>
                            </m:e>
                          </m:nary>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2</m:t>
                              </m:r>
                            </m:sub>
                          </m:sSub>
                        </m:e>
                      </m:nary>
                    </m:oMath>
                    <m:oMath>
                      <m:r>
                        <a:rPr lang="en-US" altLang="zh-CN" sz="1600" b="0" i="1" dirty="0" smtClean="0">
                          <a:latin typeface="Cambria Math" panose="02040503050406030204" pitchFamily="18" charset="0"/>
                        </a:rPr>
                        <m:t>=</m:t>
                      </m:r>
                      <m:nary>
                        <m:naryPr>
                          <m:supHide m:val="on"/>
                          <m:ctrlPr>
                            <a:rPr lang="en-US" altLang="zh-CN" sz="1600" i="1" dirty="0">
                              <a:latin typeface="Cambria Math" panose="02040503050406030204" pitchFamily="18" charset="0"/>
                            </a:rPr>
                          </m:ctrlPr>
                        </m:naryPr>
                        <m:sub>
                          <m:sSup>
                            <m:sSupPr>
                              <m:ctrlPr>
                                <a:rPr lang="en-US" altLang="zh-CN" sz="1600" i="1" dirty="0">
                                  <a:latin typeface="Cambria Math" panose="02040503050406030204" pitchFamily="18" charset="0"/>
                                </a:rPr>
                              </m:ctrlPr>
                            </m:sSupPr>
                            <m:e>
                              <m:r>
                                <a:rPr lang="en-US" altLang="zh-CN" sz="1600" i="1" dirty="0">
                                  <a:latin typeface="Cambria Math" panose="02040503050406030204" pitchFamily="18" charset="0"/>
                                </a:rPr>
                                <m:t>𝑆</m:t>
                              </m:r>
                            </m:e>
                            <m:sup>
                              <m:r>
                                <a:rPr lang="en-US" altLang="zh-CN" sz="1600" i="1" dirty="0">
                                  <a:latin typeface="Cambria Math" panose="02040503050406030204" pitchFamily="18" charset="0"/>
                                </a:rPr>
                                <m:t>2</m:t>
                              </m:r>
                            </m:sup>
                          </m:sSup>
                        </m:sub>
                        <m:sup/>
                        <m:e>
                          <m:nary>
                            <m:naryPr>
                              <m:supHide m:val="on"/>
                              <m:ctrlPr>
                                <a:rPr lang="en-US" altLang="zh-CN" sz="1600" i="1" dirty="0">
                                  <a:solidFill>
                                    <a:schemeClr val="accent2">
                                      <a:lumMod val="75000"/>
                                    </a:schemeClr>
                                  </a:solidFill>
                                  <a:latin typeface="Cambria Math" panose="02040503050406030204" pitchFamily="18" charset="0"/>
                                </a:rPr>
                              </m:ctrlPr>
                            </m:naryPr>
                            <m:sub>
                              <m:sSup>
                                <m:sSupPr>
                                  <m:ctrlPr>
                                    <a:rPr lang="en-US" altLang="zh-CN" sz="1600" i="1" dirty="0">
                                      <a:solidFill>
                                        <a:schemeClr val="accent2">
                                          <a:lumMod val="75000"/>
                                        </a:schemeClr>
                                      </a:solidFill>
                                      <a:latin typeface="Cambria Math" panose="02040503050406030204" pitchFamily="18" charset="0"/>
                                    </a:rPr>
                                  </m:ctrlPr>
                                </m:sSupPr>
                                <m:e>
                                  <m:r>
                                    <a:rPr lang="en-US" altLang="zh-CN" sz="1600" i="1" dirty="0">
                                      <a:solidFill>
                                        <a:schemeClr val="accent2">
                                          <a:lumMod val="75000"/>
                                        </a:schemeClr>
                                      </a:solidFill>
                                      <a:latin typeface="Cambria Math" panose="02040503050406030204" pitchFamily="18" charset="0"/>
                                    </a:rPr>
                                    <m:t>𝑆</m:t>
                                  </m:r>
                                </m:e>
                                <m:sup>
                                  <m:r>
                                    <a:rPr lang="en-US" altLang="zh-CN" sz="1600" i="1" dirty="0">
                                      <a:solidFill>
                                        <a:schemeClr val="accent2">
                                          <a:lumMod val="75000"/>
                                        </a:schemeClr>
                                      </a:solidFill>
                                      <a:latin typeface="Cambria Math" panose="02040503050406030204" pitchFamily="18" charset="0"/>
                                    </a:rPr>
                                    <m:t>2</m:t>
                                  </m:r>
                                </m:sup>
                              </m:sSup>
                            </m:sub>
                            <m:sup/>
                            <m:e>
                              <m:nary>
                                <m:naryPr>
                                  <m:supHide m:val="on"/>
                                  <m:ctrlPr>
                                    <a:rPr lang="en-US" altLang="zh-CN" sz="1600" i="1" dirty="0">
                                      <a:solidFill>
                                        <a:schemeClr val="accent6">
                                          <a:lumMod val="50000"/>
                                        </a:schemeClr>
                                      </a:solidFill>
                                      <a:latin typeface="Cambria Math" panose="02040503050406030204" pitchFamily="18" charset="0"/>
                                    </a:rPr>
                                  </m:ctrlPr>
                                </m:naryPr>
                                <m:sub>
                                  <m:sSup>
                                    <m:sSupPr>
                                      <m:ctrlPr>
                                        <a:rPr lang="en-US" altLang="zh-CN" sz="1600" i="1" dirty="0">
                                          <a:solidFill>
                                            <a:schemeClr val="accent6">
                                              <a:lumMod val="50000"/>
                                            </a:schemeClr>
                                          </a:solidFill>
                                          <a:latin typeface="Cambria Math" panose="02040503050406030204" pitchFamily="18" charset="0"/>
                                        </a:rPr>
                                      </m:ctrlPr>
                                    </m:sSupPr>
                                    <m:e>
                                      <m:r>
                                        <a:rPr lang="en-US" altLang="zh-CN" sz="1600" i="1" dirty="0">
                                          <a:solidFill>
                                            <a:schemeClr val="accent6">
                                              <a:lumMod val="50000"/>
                                            </a:schemeClr>
                                          </a:solidFill>
                                          <a:latin typeface="Cambria Math" panose="02040503050406030204" pitchFamily="18" charset="0"/>
                                        </a:rPr>
                                        <m:t>𝑆</m:t>
                                      </m:r>
                                    </m:e>
                                    <m:sup>
                                      <m:r>
                                        <a:rPr lang="en-US" altLang="zh-CN" sz="1600" i="1" dirty="0">
                                          <a:solidFill>
                                            <a:schemeClr val="accent6">
                                              <a:lumMod val="50000"/>
                                            </a:schemeClr>
                                          </a:solidFill>
                                          <a:latin typeface="Cambria Math" panose="02040503050406030204" pitchFamily="18" charset="0"/>
                                        </a:rPr>
                                        <m:t>2</m:t>
                                      </m:r>
                                    </m:sup>
                                  </m:sSup>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𝑓</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m:t>
                                  </m:r>
                                  <m:d>
                                    <m:dPr>
                                      <m:begChr m:val="|"/>
                                      <m:endChr m:val="|"/>
                                      <m:ctrlPr>
                                        <a:rPr lang="en-US" altLang="zh-CN" sz="1600" i="1" dirty="0">
                                          <a:latin typeface="Cambria Math" panose="02040503050406030204" pitchFamily="18" charset="0"/>
                                        </a:rPr>
                                      </m:ctrlPr>
                                    </m:dPr>
                                    <m:e>
                                      <m:func>
                                        <m:funcPr>
                                          <m:ctrlPr>
                                            <a:rPr lang="en-US" altLang="zh-CN" sz="1600" dirty="0">
                                              <a:latin typeface="Cambria Math" panose="02040503050406030204" pitchFamily="18" charset="0"/>
                                            </a:rPr>
                                          </m:ctrlPr>
                                        </m:funcPr>
                                        <m:fName>
                                          <m:r>
                                            <m:rPr>
                                              <m:sty m:val="p"/>
                                            </m:rPr>
                                            <a:rPr lang="en-US" altLang="zh-CN" sz="1600" dirty="0">
                                              <a:latin typeface="Cambria Math" panose="02040503050406030204" pitchFamily="18" charset="0"/>
                                            </a:rPr>
                                            <m:t>cos</m:t>
                                          </m:r>
                                        </m:fName>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𝜃</m:t>
                                              </m:r>
                                            </m:e>
                                            <m:sub>
                                              <m:r>
                                                <a:rPr lang="en-US" altLang="zh-CN" sz="1600" i="1" dirty="0">
                                                  <a:latin typeface="Cambria Math" panose="02040503050406030204" pitchFamily="18" charset="0"/>
                                                </a:rPr>
                                                <m:t>2</m:t>
                                              </m:r>
                                            </m:sub>
                                          </m:sSub>
                                        </m:e>
                                      </m:func>
                                    </m:e>
                                  </m:d>
                                  <m:r>
                                    <a:rPr lang="en-US" altLang="zh-CN" sz="1600" i="1" dirty="0">
                                      <a:solidFill>
                                        <a:srgbClr val="7030A0"/>
                                      </a:solidFill>
                                      <a:latin typeface="Cambria Math" panose="02040503050406030204" pitchFamily="18" charset="0"/>
                                    </a:rPr>
                                    <m:t> </m:t>
                                  </m:r>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𝑓</m:t>
                                      </m:r>
                                    </m:e>
                                    <m:sub>
                                      <m:r>
                                        <a:rPr lang="en-US" altLang="zh-CN" sz="1600" i="1" dirty="0">
                                          <a:solidFill>
                                            <a:schemeClr val="accent2">
                                              <a:lumMod val="75000"/>
                                            </a:schemeClr>
                                          </a:solidFill>
                                          <a:latin typeface="Cambria Math" panose="02040503050406030204" pitchFamily="18" charset="0"/>
                                        </a:rPr>
                                        <m:t>2</m:t>
                                      </m:r>
                                    </m:sub>
                                  </m:sSub>
                                  <m:r>
                                    <a:rPr lang="en-US" altLang="zh-CN" sz="1600" i="1" dirty="0">
                                      <a:solidFill>
                                        <a:schemeClr val="accent2">
                                          <a:lumMod val="75000"/>
                                        </a:schemeClr>
                                      </a:solidFill>
                                      <a:latin typeface="Cambria Math" panose="02040503050406030204" pitchFamily="18" charset="0"/>
                                    </a:rPr>
                                    <m:t> </m:t>
                                  </m:r>
                                  <m:d>
                                    <m:dPr>
                                      <m:begChr m:val="|"/>
                                      <m:endChr m:val="|"/>
                                      <m:ctrlPr>
                                        <a:rPr lang="en-US" altLang="zh-CN" sz="1600" i="1" dirty="0">
                                          <a:solidFill>
                                            <a:schemeClr val="accent2">
                                              <a:lumMod val="75000"/>
                                            </a:schemeClr>
                                          </a:solidFill>
                                          <a:latin typeface="Cambria Math" panose="02040503050406030204" pitchFamily="18" charset="0"/>
                                        </a:rPr>
                                      </m:ctrlPr>
                                    </m:dPr>
                                    <m:e>
                                      <m:func>
                                        <m:funcPr>
                                          <m:ctrlPr>
                                            <a:rPr lang="en-US" altLang="zh-CN" sz="1600" dirty="0">
                                              <a:solidFill>
                                                <a:schemeClr val="accent2">
                                                  <a:lumMod val="75000"/>
                                                </a:schemeClr>
                                              </a:solidFill>
                                              <a:latin typeface="Cambria Math" panose="02040503050406030204" pitchFamily="18" charset="0"/>
                                            </a:rPr>
                                          </m:ctrlPr>
                                        </m:funcPr>
                                        <m:fName>
                                          <m:r>
                                            <m:rPr>
                                              <m:sty m:val="p"/>
                                            </m:rPr>
                                            <a:rPr lang="en-US" altLang="zh-CN" sz="1600" dirty="0">
                                              <a:solidFill>
                                                <a:schemeClr val="accent2">
                                                  <a:lumMod val="75000"/>
                                                </a:schemeClr>
                                              </a:solidFill>
                                              <a:latin typeface="Cambria Math" panose="02040503050406030204" pitchFamily="18" charset="0"/>
                                            </a:rPr>
                                            <m:t>cos</m:t>
                                          </m:r>
                                        </m:fName>
                                        <m:e>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𝜃</m:t>
                                              </m:r>
                                            </m:e>
                                            <m:sub>
                                              <m:r>
                                                <a:rPr lang="en-US" altLang="zh-CN" sz="1600" i="1" dirty="0">
                                                  <a:solidFill>
                                                    <a:schemeClr val="accent2">
                                                      <a:lumMod val="75000"/>
                                                    </a:schemeClr>
                                                  </a:solidFill>
                                                  <a:latin typeface="Cambria Math" panose="02040503050406030204" pitchFamily="18" charset="0"/>
                                                </a:rPr>
                                                <m:t>3</m:t>
                                              </m:r>
                                            </m:sub>
                                          </m:sSub>
                                        </m:e>
                                      </m:func>
                                    </m:e>
                                  </m:d>
                                  <m:r>
                                    <a:rPr lang="en-US" altLang="zh-CN" sz="1600" i="1" dirty="0">
                                      <a:solidFill>
                                        <a:srgbClr val="7030A0"/>
                                      </a:solidFill>
                                      <a:latin typeface="Cambria Math" panose="02040503050406030204" pitchFamily="18" charset="0"/>
                                    </a:rPr>
                                    <m:t> </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𝑓</m:t>
                                      </m:r>
                                    </m:e>
                                    <m:sub>
                                      <m:r>
                                        <a:rPr lang="en-US" altLang="zh-CN" sz="1600" i="1" dirty="0">
                                          <a:solidFill>
                                            <a:schemeClr val="accent6">
                                              <a:lumMod val="50000"/>
                                            </a:schemeClr>
                                          </a:solidFill>
                                          <a:latin typeface="Cambria Math" panose="02040503050406030204" pitchFamily="18" charset="0"/>
                                        </a:rPr>
                                        <m:t>3</m:t>
                                      </m:r>
                                    </m:sub>
                                  </m:sSub>
                                  <m:r>
                                    <a:rPr lang="en-US" altLang="zh-CN" sz="1600" i="1" dirty="0">
                                      <a:solidFill>
                                        <a:schemeClr val="accent6">
                                          <a:lumMod val="50000"/>
                                        </a:schemeClr>
                                      </a:solidFill>
                                      <a:latin typeface="Cambria Math" panose="02040503050406030204" pitchFamily="18" charset="0"/>
                                    </a:rPr>
                                    <m:t> </m:t>
                                  </m:r>
                                  <m:d>
                                    <m:dPr>
                                      <m:begChr m:val="|"/>
                                      <m:endChr m:val="|"/>
                                      <m:ctrlPr>
                                        <a:rPr lang="en-US" altLang="zh-CN" sz="1600" i="1" dirty="0">
                                          <a:solidFill>
                                            <a:schemeClr val="accent6">
                                              <a:lumMod val="50000"/>
                                            </a:schemeClr>
                                          </a:solidFill>
                                          <a:latin typeface="Cambria Math" panose="02040503050406030204" pitchFamily="18" charset="0"/>
                                        </a:rPr>
                                      </m:ctrlPr>
                                    </m:dPr>
                                    <m:e>
                                      <m:func>
                                        <m:funcPr>
                                          <m:ctrlPr>
                                            <a:rPr lang="en-US" altLang="zh-CN" sz="1600" dirty="0">
                                              <a:solidFill>
                                                <a:schemeClr val="accent6">
                                                  <a:lumMod val="50000"/>
                                                </a:schemeClr>
                                              </a:solidFill>
                                              <a:latin typeface="Cambria Math" panose="02040503050406030204" pitchFamily="18" charset="0"/>
                                            </a:rPr>
                                          </m:ctrlPr>
                                        </m:funcPr>
                                        <m:fName>
                                          <m:r>
                                            <m:rPr>
                                              <m:sty m:val="p"/>
                                            </m:rPr>
                                            <a:rPr lang="en-US" altLang="zh-CN" sz="1600" dirty="0">
                                              <a:solidFill>
                                                <a:schemeClr val="accent6">
                                                  <a:lumMod val="50000"/>
                                                </a:schemeClr>
                                              </a:solidFill>
                                              <a:latin typeface="Cambria Math" panose="02040503050406030204" pitchFamily="18" charset="0"/>
                                            </a:rPr>
                                            <m:t>cos</m:t>
                                          </m:r>
                                        </m:fName>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𝜃</m:t>
                                              </m:r>
                                            </m:e>
                                            <m:sub>
                                              <m:r>
                                                <a:rPr lang="en-US" altLang="zh-CN" sz="1600" i="1" dirty="0">
                                                  <a:solidFill>
                                                    <a:schemeClr val="accent6">
                                                      <a:lumMod val="50000"/>
                                                    </a:schemeClr>
                                                  </a:solidFill>
                                                  <a:latin typeface="Cambria Math" panose="02040503050406030204" pitchFamily="18" charset="0"/>
                                                </a:rPr>
                                                <m:t>4</m:t>
                                              </m:r>
                                            </m:sub>
                                          </m:sSub>
                                        </m:e>
                                      </m:func>
                                    </m:e>
                                  </m:d>
                                  <m:nary>
                                    <m:naryPr>
                                      <m:supHide m:val="on"/>
                                      <m:ctrlPr>
                                        <a:rPr lang="en-US" altLang="zh-CN" sz="1600" i="1" dirty="0">
                                          <a:solidFill>
                                            <a:srgbClr val="7030A0"/>
                                          </a:solidFill>
                                          <a:latin typeface="Cambria Math" panose="02040503050406030204" pitchFamily="18" charset="0"/>
                                        </a:rPr>
                                      </m:ctrlPr>
                                    </m:naryPr>
                                    <m:sub>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𝐴</m:t>
                                          </m:r>
                                        </m:e>
                                        <m:sub>
                                          <m:r>
                                            <a:rPr lang="en-US" altLang="zh-CN" sz="1600" i="1" dirty="0">
                                              <a:solidFill>
                                                <a:srgbClr val="7030A0"/>
                                              </a:solidFill>
                                              <a:latin typeface="Cambria Math" panose="02040503050406030204" pitchFamily="18" charset="0"/>
                                            </a:rPr>
                                            <m:t>𝐸</m:t>
                                          </m:r>
                                        </m:sub>
                                      </m:sSub>
                                    </m:sub>
                                    <m:sup/>
                                    <m:e>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𝑓</m:t>
                                          </m:r>
                                        </m:e>
                                        <m:sub>
                                          <m:r>
                                            <a:rPr lang="en-US" altLang="zh-CN" sz="1600" i="1" dirty="0">
                                              <a:solidFill>
                                                <a:srgbClr val="7030A0"/>
                                              </a:solidFill>
                                              <a:latin typeface="Cambria Math" panose="02040503050406030204" pitchFamily="18" charset="0"/>
                                            </a:rPr>
                                            <m:t>4</m:t>
                                          </m:r>
                                        </m:sub>
                                      </m:sSub>
                                      <m:r>
                                        <a:rPr lang="en-US" altLang="zh-CN" sz="1600" i="1" dirty="0">
                                          <a:solidFill>
                                            <a:srgbClr val="7030A0"/>
                                          </a:solidFill>
                                          <a:latin typeface="Cambria Math" panose="02040503050406030204" pitchFamily="18" charset="0"/>
                                        </a:rPr>
                                        <m:t> </m:t>
                                      </m:r>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𝐺</m:t>
                                          </m:r>
                                        </m:e>
                                        <m:sub>
                                          <m:r>
                                            <a:rPr lang="en-US" altLang="zh-CN" sz="1600" i="1" dirty="0">
                                              <a:solidFill>
                                                <a:srgbClr val="7030A0"/>
                                              </a:solidFill>
                                              <a:latin typeface="Cambria Math" panose="02040503050406030204" pitchFamily="18" charset="0"/>
                                            </a:rPr>
                                            <m:t>4</m:t>
                                          </m:r>
                                        </m:sub>
                                      </m:sSub>
                                      <m:r>
                                        <a:rPr lang="en-US" altLang="zh-CN" sz="1600" i="1" dirty="0">
                                          <a:solidFill>
                                            <a:srgbClr val="7030A0"/>
                                          </a:solidFill>
                                          <a:latin typeface="Cambria Math" panose="02040503050406030204" pitchFamily="18" charset="0"/>
                                        </a:rPr>
                                        <m:t> </m:t>
                                      </m:r>
                                      <m:sSub>
                                        <m:sSubPr>
                                          <m:ctrlPr>
                                            <a:rPr lang="en-US" altLang="zh-CN" sz="1600" i="1" dirty="0">
                                              <a:solidFill>
                                                <a:srgbClr val="008000"/>
                                              </a:solidFill>
                                              <a:latin typeface="Cambria Math" panose="02040503050406030204" pitchFamily="18" charset="0"/>
                                            </a:rPr>
                                          </m:ctrlPr>
                                        </m:sSubPr>
                                        <m:e>
                                          <m:r>
                                            <a:rPr lang="en-US" altLang="zh-CN" sz="1600" i="1" dirty="0">
                                              <a:solidFill>
                                                <a:srgbClr val="008000"/>
                                              </a:solidFill>
                                              <a:latin typeface="Cambria Math" panose="02040503050406030204" pitchFamily="18" charset="0"/>
                                            </a:rPr>
                                            <m:t>𝐿</m:t>
                                          </m:r>
                                        </m:e>
                                        <m:sub>
                                          <m:r>
                                            <a:rPr lang="en-US" altLang="zh-CN" sz="1600" b="1" i="1" dirty="0">
                                              <a:solidFill>
                                                <a:srgbClr val="008000"/>
                                              </a:solidFill>
                                              <a:latin typeface="Cambria Math" panose="02040503050406030204" pitchFamily="18" charset="0"/>
                                            </a:rPr>
                                            <m:t>𝒆</m:t>
                                          </m:r>
                                        </m:sub>
                                      </m:sSub>
                                      <m:d>
                                        <m:dPr>
                                          <m:ctrlPr>
                                            <a:rPr lang="en-US" altLang="zh-CN" sz="1600" b="1" i="1" dirty="0">
                                              <a:solidFill>
                                                <a:srgbClr val="008000"/>
                                              </a:solidFill>
                                              <a:latin typeface="Cambria Math" panose="02040503050406030204" pitchFamily="18" charset="0"/>
                                            </a:rPr>
                                          </m:ctrlPr>
                                        </m:dPr>
                                        <m:e>
                                          <m:sSub>
                                            <m:sSubPr>
                                              <m:ctrlPr>
                                                <a:rPr lang="en-US" altLang="zh-CN" sz="1600" b="1" i="1" dirty="0">
                                                  <a:solidFill>
                                                    <a:srgbClr val="008000"/>
                                                  </a:solidFill>
                                                  <a:latin typeface="Cambria Math" panose="02040503050406030204" pitchFamily="18" charset="0"/>
                                                </a:rPr>
                                              </m:ctrlPr>
                                            </m:sSubPr>
                                            <m:e>
                                              <m:r>
                                                <a:rPr lang="en-US" altLang="zh-CN" sz="1600" b="1" i="1" dirty="0">
                                                  <a:solidFill>
                                                    <a:srgbClr val="008000"/>
                                                  </a:solidFill>
                                                  <a:latin typeface="Cambria Math" panose="02040503050406030204" pitchFamily="18" charset="0"/>
                                                </a:rPr>
                                                <m:t>𝒑</m:t>
                                              </m:r>
                                            </m:e>
                                            <m:sub>
                                              <m:r>
                                                <a:rPr lang="en-US" altLang="zh-CN" sz="1600" b="1" i="1" dirty="0">
                                                  <a:solidFill>
                                                    <a:srgbClr val="008000"/>
                                                  </a:solidFill>
                                                  <a:latin typeface="Cambria Math" panose="02040503050406030204" pitchFamily="18" charset="0"/>
                                                </a:rPr>
                                                <m:t>𝟓</m:t>
                                              </m:r>
                                            </m:sub>
                                          </m:sSub>
                                          <m:r>
                                            <a:rPr lang="en-US" altLang="zh-CN" sz="1600" b="1" i="1" dirty="0">
                                              <a:solidFill>
                                                <a:srgbClr val="008000"/>
                                              </a:solidFill>
                                              <a:latin typeface="Cambria Math" panose="02040503050406030204" pitchFamily="18" charset="0"/>
                                            </a:rPr>
                                            <m:t>→</m:t>
                                          </m:r>
                                          <m:sSub>
                                            <m:sSubPr>
                                              <m:ctrlPr>
                                                <a:rPr lang="en-US" altLang="zh-CN" sz="1600" b="1" i="1" dirty="0">
                                                  <a:solidFill>
                                                    <a:srgbClr val="008000"/>
                                                  </a:solidFill>
                                                  <a:latin typeface="Cambria Math" panose="02040503050406030204" pitchFamily="18" charset="0"/>
                                                </a:rPr>
                                              </m:ctrlPr>
                                            </m:sSubPr>
                                            <m:e>
                                              <m:r>
                                                <a:rPr lang="en-US" altLang="zh-CN" sz="1600" b="1" i="1" dirty="0">
                                                  <a:solidFill>
                                                    <a:srgbClr val="008000"/>
                                                  </a:solidFill>
                                                  <a:latin typeface="Cambria Math" panose="02040503050406030204" pitchFamily="18" charset="0"/>
                                                </a:rPr>
                                                <m:t>𝒑</m:t>
                                              </m:r>
                                            </m:e>
                                            <m:sub>
                                              <m:r>
                                                <a:rPr lang="en-US" altLang="zh-CN" sz="1600" b="1" i="1" dirty="0">
                                                  <a:solidFill>
                                                    <a:srgbClr val="008000"/>
                                                  </a:solidFill>
                                                  <a:latin typeface="Cambria Math" panose="02040503050406030204" pitchFamily="18" charset="0"/>
                                                </a:rPr>
                                                <m:t>𝟒</m:t>
                                              </m:r>
                                            </m:sub>
                                          </m:sSub>
                                        </m:e>
                                      </m:d>
                                      <m:r>
                                        <a:rPr lang="en-US" altLang="zh-CN" sz="1600" i="1" dirty="0">
                                          <a:solidFill>
                                            <a:srgbClr val="7030A0"/>
                                          </a:solidFill>
                                          <a:latin typeface="Cambria Math" panose="02040503050406030204" pitchFamily="18" charset="0"/>
                                        </a:rPr>
                                        <m:t>𝑑𝐴</m:t>
                                      </m:r>
                                      <m:d>
                                        <m:dPr>
                                          <m:ctrlPr>
                                            <a:rPr lang="en-US" altLang="zh-CN" sz="1600" b="1" i="1" dirty="0">
                                              <a:solidFill>
                                                <a:srgbClr val="7030A0"/>
                                              </a:solidFill>
                                              <a:latin typeface="Cambria Math" panose="02040503050406030204" pitchFamily="18" charset="0"/>
                                            </a:rPr>
                                          </m:ctrlPr>
                                        </m:dPr>
                                        <m:e>
                                          <m:sSub>
                                            <m:sSubPr>
                                              <m:ctrlPr>
                                                <a:rPr lang="en-US" altLang="zh-CN" sz="1600" b="1" i="1" dirty="0">
                                                  <a:solidFill>
                                                    <a:srgbClr val="7030A0"/>
                                                  </a:solidFill>
                                                  <a:latin typeface="Cambria Math" panose="02040503050406030204" pitchFamily="18" charset="0"/>
                                                </a:rPr>
                                              </m:ctrlPr>
                                            </m:sSubPr>
                                            <m:e>
                                              <m:r>
                                                <a:rPr lang="en-US" altLang="zh-CN" sz="1600" b="1" i="1" dirty="0">
                                                  <a:solidFill>
                                                    <a:srgbClr val="7030A0"/>
                                                  </a:solidFill>
                                                  <a:latin typeface="Cambria Math" panose="02040503050406030204" pitchFamily="18" charset="0"/>
                                                </a:rPr>
                                                <m:t>𝒑</m:t>
                                              </m:r>
                                            </m:e>
                                            <m:sub>
                                              <m:r>
                                                <a:rPr lang="en-US" altLang="zh-CN" sz="1600" b="1" i="1" dirty="0">
                                                  <a:solidFill>
                                                    <a:srgbClr val="7030A0"/>
                                                  </a:solidFill>
                                                  <a:latin typeface="Cambria Math" panose="02040503050406030204" pitchFamily="18" charset="0"/>
                                                </a:rPr>
                                                <m:t>𝟓</m:t>
                                              </m:r>
                                            </m:sub>
                                          </m:sSub>
                                        </m:e>
                                      </m:d>
                                    </m:e>
                                  </m:nary>
                                  <m:r>
                                    <a:rPr lang="en-US" altLang="zh-CN" sz="1600" i="1" dirty="0">
                                      <a:solidFill>
                                        <a:schemeClr val="accent6">
                                          <a:lumMod val="50000"/>
                                        </a:schemeClr>
                                      </a:solidFill>
                                      <a:latin typeface="Cambria Math" panose="02040503050406030204" pitchFamily="18" charset="0"/>
                                    </a:rPr>
                                    <m:t>𝑑</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𝜔</m:t>
                                      </m:r>
                                    </m:e>
                                    <m:sub>
                                      <m:r>
                                        <a:rPr lang="en-US" altLang="zh-CN" sz="1600" i="1" dirty="0">
                                          <a:solidFill>
                                            <a:schemeClr val="accent6">
                                              <a:lumMod val="50000"/>
                                            </a:schemeClr>
                                          </a:solidFill>
                                          <a:latin typeface="Cambria Math" panose="02040503050406030204" pitchFamily="18" charset="0"/>
                                        </a:rPr>
                                        <m:t>4</m:t>
                                      </m:r>
                                    </m:sub>
                                  </m:sSub>
                                </m:e>
                              </m:nary>
                              <m:r>
                                <a:rPr lang="en-US" altLang="zh-CN" sz="1600" i="1" dirty="0">
                                  <a:solidFill>
                                    <a:schemeClr val="accent2">
                                      <a:lumMod val="75000"/>
                                    </a:schemeClr>
                                  </a:solidFill>
                                  <a:latin typeface="Cambria Math" panose="02040503050406030204" pitchFamily="18" charset="0"/>
                                </a:rPr>
                                <m:t>𝑑</m:t>
                              </m:r>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𝜔</m:t>
                                  </m:r>
                                </m:e>
                                <m:sub>
                                  <m:r>
                                    <a:rPr lang="en-US" altLang="zh-CN" sz="1600" i="1" dirty="0">
                                      <a:solidFill>
                                        <a:schemeClr val="accent2">
                                          <a:lumMod val="75000"/>
                                        </a:schemeClr>
                                      </a:solidFill>
                                      <a:latin typeface="Cambria Math" panose="02040503050406030204" pitchFamily="18" charset="0"/>
                                    </a:rPr>
                                    <m:t>3</m:t>
                                  </m:r>
                                </m:sub>
                              </m:sSub>
                            </m:e>
                          </m:nary>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2</m:t>
                              </m:r>
                            </m:sub>
                          </m:sSub>
                        </m:e>
                      </m:nary>
                    </m:oMath>
                    <m:oMath>
                      <m:r>
                        <a:rPr lang="en-US" altLang="zh-CN" sz="1600" i="1" dirty="0" smtClean="0">
                          <a:latin typeface="Cambria Math" panose="02040503050406030204" pitchFamily="18" charset="0"/>
                          <a:ea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𝑓</m:t>
                              </m:r>
                            </m:e>
                            <m:sub>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 </m:t>
                          </m:r>
                          <m:d>
                            <m:dPr>
                              <m:begChr m:val="|"/>
                              <m:endChr m:val="|"/>
                              <m:ctrlPr>
                                <a:rPr lang="en-US" altLang="zh-CN" sz="1600" i="1" dirty="0">
                                  <a:latin typeface="Cambria Math" panose="02040503050406030204" pitchFamily="18" charset="0"/>
                                </a:rPr>
                              </m:ctrlPr>
                            </m:dPr>
                            <m:e>
                              <m:func>
                                <m:funcPr>
                                  <m:ctrlPr>
                                    <a:rPr lang="en-US" altLang="zh-CN" sz="1600" dirty="0">
                                      <a:latin typeface="Cambria Math" panose="02040503050406030204" pitchFamily="18" charset="0"/>
                                    </a:rPr>
                                  </m:ctrlPr>
                                </m:funcPr>
                                <m:fName>
                                  <m:r>
                                    <m:rPr>
                                      <m:sty m:val="p"/>
                                    </m:rPr>
                                    <a:rPr lang="en-US" altLang="zh-CN" sz="1600" dirty="0">
                                      <a:latin typeface="Cambria Math" panose="02040503050406030204" pitchFamily="18" charset="0"/>
                                    </a:rPr>
                                    <m:t>cos</m:t>
                                  </m:r>
                                </m:fName>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𝜃</m:t>
                                      </m:r>
                                    </m:e>
                                    <m:sub>
                                      <m:r>
                                        <a:rPr lang="en-US" altLang="zh-CN" sz="1600" i="1" dirty="0">
                                          <a:latin typeface="Cambria Math" panose="02040503050406030204" pitchFamily="18" charset="0"/>
                                        </a:rPr>
                                        <m:t>2</m:t>
                                      </m:r>
                                    </m:sub>
                                  </m:sSub>
                                </m:e>
                              </m:func>
                            </m:e>
                          </m:d>
                          <m:r>
                            <a:rPr lang="en-US" altLang="zh-CN" sz="1600" i="1" dirty="0">
                              <a:solidFill>
                                <a:srgbClr val="7030A0"/>
                              </a:solidFill>
                              <a:latin typeface="Cambria Math" panose="02040503050406030204" pitchFamily="18" charset="0"/>
                            </a:rPr>
                            <m:t> </m:t>
                          </m:r>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𝑓</m:t>
                              </m:r>
                            </m:e>
                            <m:sub>
                              <m:r>
                                <a:rPr lang="en-US" altLang="zh-CN" sz="1600" i="1" dirty="0">
                                  <a:solidFill>
                                    <a:schemeClr val="accent2">
                                      <a:lumMod val="75000"/>
                                    </a:schemeClr>
                                  </a:solidFill>
                                  <a:latin typeface="Cambria Math" panose="02040503050406030204" pitchFamily="18" charset="0"/>
                                </a:rPr>
                                <m:t>2</m:t>
                              </m:r>
                            </m:sub>
                          </m:sSub>
                          <m:r>
                            <a:rPr lang="en-US" altLang="zh-CN" sz="1600" i="1" dirty="0">
                              <a:solidFill>
                                <a:schemeClr val="accent2">
                                  <a:lumMod val="75000"/>
                                </a:schemeClr>
                              </a:solidFill>
                              <a:latin typeface="Cambria Math" panose="02040503050406030204" pitchFamily="18" charset="0"/>
                            </a:rPr>
                            <m:t> </m:t>
                          </m:r>
                          <m:d>
                            <m:dPr>
                              <m:begChr m:val="|"/>
                              <m:endChr m:val="|"/>
                              <m:ctrlPr>
                                <a:rPr lang="en-US" altLang="zh-CN" sz="1600" i="1" dirty="0">
                                  <a:solidFill>
                                    <a:schemeClr val="accent2">
                                      <a:lumMod val="75000"/>
                                    </a:schemeClr>
                                  </a:solidFill>
                                  <a:latin typeface="Cambria Math" panose="02040503050406030204" pitchFamily="18" charset="0"/>
                                </a:rPr>
                              </m:ctrlPr>
                            </m:dPr>
                            <m:e>
                              <m:func>
                                <m:funcPr>
                                  <m:ctrlPr>
                                    <a:rPr lang="en-US" altLang="zh-CN" sz="1600" dirty="0">
                                      <a:solidFill>
                                        <a:schemeClr val="accent2">
                                          <a:lumMod val="75000"/>
                                        </a:schemeClr>
                                      </a:solidFill>
                                      <a:latin typeface="Cambria Math" panose="02040503050406030204" pitchFamily="18" charset="0"/>
                                    </a:rPr>
                                  </m:ctrlPr>
                                </m:funcPr>
                                <m:fName>
                                  <m:r>
                                    <m:rPr>
                                      <m:sty m:val="p"/>
                                    </m:rPr>
                                    <a:rPr lang="en-US" altLang="zh-CN" sz="1600" dirty="0">
                                      <a:solidFill>
                                        <a:schemeClr val="accent2">
                                          <a:lumMod val="75000"/>
                                        </a:schemeClr>
                                      </a:solidFill>
                                      <a:latin typeface="Cambria Math" panose="02040503050406030204" pitchFamily="18" charset="0"/>
                                    </a:rPr>
                                    <m:t>cos</m:t>
                                  </m:r>
                                </m:fName>
                                <m:e>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𝜃</m:t>
                                      </m:r>
                                    </m:e>
                                    <m:sub>
                                      <m:r>
                                        <a:rPr lang="en-US" altLang="zh-CN" sz="1600" i="1" dirty="0">
                                          <a:solidFill>
                                            <a:schemeClr val="accent2">
                                              <a:lumMod val="75000"/>
                                            </a:schemeClr>
                                          </a:solidFill>
                                          <a:latin typeface="Cambria Math" panose="02040503050406030204" pitchFamily="18" charset="0"/>
                                        </a:rPr>
                                        <m:t>3</m:t>
                                      </m:r>
                                    </m:sub>
                                  </m:sSub>
                                </m:e>
                              </m:func>
                            </m:e>
                          </m:d>
                          <m:r>
                            <a:rPr lang="en-US" altLang="zh-CN" sz="1600" i="1" dirty="0">
                              <a:solidFill>
                                <a:srgbClr val="7030A0"/>
                              </a:solidFill>
                              <a:latin typeface="Cambria Math" panose="02040503050406030204" pitchFamily="18" charset="0"/>
                            </a:rPr>
                            <m:t> </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𝑓</m:t>
                              </m:r>
                            </m:e>
                            <m:sub>
                              <m:r>
                                <a:rPr lang="en-US" altLang="zh-CN" sz="1600" i="1" dirty="0">
                                  <a:solidFill>
                                    <a:schemeClr val="accent6">
                                      <a:lumMod val="50000"/>
                                    </a:schemeClr>
                                  </a:solidFill>
                                  <a:latin typeface="Cambria Math" panose="02040503050406030204" pitchFamily="18" charset="0"/>
                                </a:rPr>
                                <m:t>3</m:t>
                              </m:r>
                            </m:sub>
                          </m:sSub>
                          <m:r>
                            <a:rPr lang="en-US" altLang="zh-CN" sz="1600" i="1" dirty="0">
                              <a:solidFill>
                                <a:schemeClr val="accent6">
                                  <a:lumMod val="50000"/>
                                </a:schemeClr>
                              </a:solidFill>
                              <a:latin typeface="Cambria Math" panose="02040503050406030204" pitchFamily="18" charset="0"/>
                            </a:rPr>
                            <m:t> </m:t>
                          </m:r>
                          <m:d>
                            <m:dPr>
                              <m:begChr m:val="|"/>
                              <m:endChr m:val="|"/>
                              <m:ctrlPr>
                                <a:rPr lang="en-US" altLang="zh-CN" sz="1600" i="1" dirty="0">
                                  <a:solidFill>
                                    <a:schemeClr val="accent6">
                                      <a:lumMod val="50000"/>
                                    </a:schemeClr>
                                  </a:solidFill>
                                  <a:latin typeface="Cambria Math" panose="02040503050406030204" pitchFamily="18" charset="0"/>
                                </a:rPr>
                              </m:ctrlPr>
                            </m:dPr>
                            <m:e>
                              <m:func>
                                <m:funcPr>
                                  <m:ctrlPr>
                                    <a:rPr lang="en-US" altLang="zh-CN" sz="1600" dirty="0">
                                      <a:solidFill>
                                        <a:schemeClr val="accent6">
                                          <a:lumMod val="50000"/>
                                        </a:schemeClr>
                                      </a:solidFill>
                                      <a:latin typeface="Cambria Math" panose="02040503050406030204" pitchFamily="18" charset="0"/>
                                    </a:rPr>
                                  </m:ctrlPr>
                                </m:funcPr>
                                <m:fName>
                                  <m:r>
                                    <m:rPr>
                                      <m:sty m:val="p"/>
                                    </m:rPr>
                                    <a:rPr lang="en-US" altLang="zh-CN" sz="1600" dirty="0">
                                      <a:solidFill>
                                        <a:schemeClr val="accent6">
                                          <a:lumMod val="50000"/>
                                        </a:schemeClr>
                                      </a:solidFill>
                                      <a:latin typeface="Cambria Math" panose="02040503050406030204" pitchFamily="18" charset="0"/>
                                    </a:rPr>
                                    <m:t>cos</m:t>
                                  </m:r>
                                </m:fName>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𝜃</m:t>
                                      </m:r>
                                    </m:e>
                                    <m:sub>
                                      <m:r>
                                        <a:rPr lang="en-US" altLang="zh-CN" sz="1600" i="1" dirty="0">
                                          <a:solidFill>
                                            <a:schemeClr val="accent6">
                                              <a:lumMod val="50000"/>
                                            </a:schemeClr>
                                          </a:solidFill>
                                          <a:latin typeface="Cambria Math" panose="02040503050406030204" pitchFamily="18" charset="0"/>
                                        </a:rPr>
                                        <m:t>4</m:t>
                                      </m:r>
                                    </m:sub>
                                  </m:sSub>
                                </m:e>
                              </m:func>
                            </m:e>
                          </m:d>
                        </m:num>
                        <m:den>
                          <m:sSub>
                            <m:sSubPr>
                              <m:ctrlPr>
                                <a:rPr lang="en-US" altLang="zh-CN" sz="1600" i="1" dirty="0">
                                  <a:solidFill>
                                    <a:schemeClr val="tx1"/>
                                  </a:solidFill>
                                  <a:latin typeface="Cambria Math" panose="02040503050406030204" pitchFamily="18" charset="0"/>
                                </a:rPr>
                              </m:ctrlPr>
                            </m:sSubPr>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𝑝𝑑𝑓</m:t>
                                  </m:r>
                                </m:e>
                                <m:sub>
                                  <m:r>
                                    <a:rPr lang="en-US" altLang="zh-CN" sz="1600" i="1" dirty="0">
                                      <a:solidFill>
                                        <a:schemeClr val="tx1"/>
                                      </a:solidFill>
                                      <a:latin typeface="Cambria Math" panose="02040503050406030204" pitchFamily="18" charset="0"/>
                                    </a:rPr>
                                    <m:t>𝑏𝑠𝑑𝑓</m:t>
                                  </m:r>
                                </m:sub>
                              </m:sSub>
                              <m:d>
                                <m:dPr>
                                  <m:ctrlPr>
                                    <a:rPr lang="en-US" altLang="zh-CN" sz="1600" i="1" dirty="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2</m:t>
                                      </m:r>
                                    </m:sub>
                                  </m:sSub>
                                </m:e>
                              </m:d>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𝑝𝑑𝑓</m:t>
                                  </m:r>
                                </m:e>
                                <m:sub>
                                  <m:r>
                                    <a:rPr lang="en-US" altLang="zh-CN" sz="1600" i="1" dirty="0">
                                      <a:solidFill>
                                        <a:schemeClr val="accent2">
                                          <a:lumMod val="75000"/>
                                        </a:schemeClr>
                                      </a:solidFill>
                                      <a:latin typeface="Cambria Math" panose="02040503050406030204" pitchFamily="18" charset="0"/>
                                    </a:rPr>
                                    <m:t>𝑏𝑠𝑑𝑓</m:t>
                                  </m:r>
                                </m:sub>
                              </m:sSub>
                              <m:d>
                                <m:dPr>
                                  <m:ctrlPr>
                                    <a:rPr lang="en-US" altLang="zh-CN" sz="1600" i="1" dirty="0">
                                      <a:solidFill>
                                        <a:schemeClr val="accent2">
                                          <a:lumMod val="75000"/>
                                        </a:schemeClr>
                                      </a:solidFill>
                                      <a:latin typeface="Cambria Math" panose="02040503050406030204" pitchFamily="18" charset="0"/>
                                    </a:rPr>
                                  </m:ctrlPr>
                                </m:dPr>
                                <m:e>
                                  <m:sSub>
                                    <m:sSubPr>
                                      <m:ctrlPr>
                                        <a:rPr lang="en-US" altLang="zh-CN" sz="1600" i="1" dirty="0">
                                          <a:solidFill>
                                            <a:schemeClr val="accent2">
                                              <a:lumMod val="75000"/>
                                            </a:schemeClr>
                                          </a:solidFill>
                                          <a:latin typeface="Cambria Math" panose="02040503050406030204" pitchFamily="18" charset="0"/>
                                        </a:rPr>
                                      </m:ctrlPr>
                                    </m:sSubPr>
                                    <m:e>
                                      <m:r>
                                        <a:rPr lang="en-US" altLang="zh-CN" sz="1600" i="1" dirty="0">
                                          <a:solidFill>
                                            <a:schemeClr val="accent2">
                                              <a:lumMod val="75000"/>
                                            </a:schemeClr>
                                          </a:solidFill>
                                          <a:latin typeface="Cambria Math" panose="02040503050406030204" pitchFamily="18" charset="0"/>
                                        </a:rPr>
                                        <m:t>𝜔</m:t>
                                      </m:r>
                                    </m:e>
                                    <m:sub>
                                      <m:r>
                                        <a:rPr lang="en-US" altLang="zh-CN" sz="1600" b="0" i="1" dirty="0" smtClean="0">
                                          <a:solidFill>
                                            <a:schemeClr val="accent2">
                                              <a:lumMod val="75000"/>
                                            </a:schemeClr>
                                          </a:solidFill>
                                          <a:latin typeface="Cambria Math" panose="02040503050406030204" pitchFamily="18" charset="0"/>
                                        </a:rPr>
                                        <m:t>3</m:t>
                                      </m:r>
                                    </m:sub>
                                  </m:sSub>
                                </m:e>
                              </m:d>
                              <m:r>
                                <a:rPr lang="en-US" altLang="zh-CN" sz="1600" b="0" i="1" dirty="0" smtClean="0">
                                  <a:solidFill>
                                    <a:schemeClr val="accent6">
                                      <a:lumMod val="50000"/>
                                    </a:schemeClr>
                                  </a:solidFill>
                                  <a:latin typeface="Cambria Math" panose="02040503050406030204" pitchFamily="18" charset="0"/>
                                </a:rPr>
                                <m:t> </m:t>
                              </m:r>
                              <m:r>
                                <a:rPr lang="en-US" altLang="zh-CN" sz="1600" b="0" i="1" dirty="0" smtClean="0">
                                  <a:solidFill>
                                    <a:schemeClr val="accent6">
                                      <a:lumMod val="50000"/>
                                    </a:schemeClr>
                                  </a:solidFill>
                                  <a:latin typeface="Cambria Math" panose="02040503050406030204" pitchFamily="18" charset="0"/>
                                </a:rPr>
                                <m:t>𝑝𝑑𝑓</m:t>
                              </m:r>
                            </m:e>
                            <m:sub>
                              <m:r>
                                <a:rPr lang="en-US" altLang="zh-CN" sz="1600" b="0" i="1" dirty="0" smtClean="0">
                                  <a:solidFill>
                                    <a:schemeClr val="accent6">
                                      <a:lumMod val="50000"/>
                                    </a:schemeClr>
                                  </a:solidFill>
                                  <a:latin typeface="Cambria Math" panose="02040503050406030204" pitchFamily="18" charset="0"/>
                                </a:rPr>
                                <m:t>𝑏𝑠𝑑𝑓</m:t>
                              </m:r>
                            </m:sub>
                          </m:sSub>
                          <m:d>
                            <m:dPr>
                              <m:ctrlPr>
                                <a:rPr lang="en-US" altLang="zh-CN" sz="1600" b="0" i="1" dirty="0" smtClean="0">
                                  <a:solidFill>
                                    <a:schemeClr val="accent6">
                                      <a:lumMod val="50000"/>
                                    </a:schemeClr>
                                  </a:solidFill>
                                  <a:latin typeface="Cambria Math" panose="02040503050406030204" pitchFamily="18" charset="0"/>
                                </a:rPr>
                              </m:ctrlPr>
                            </m:dPr>
                            <m:e>
                              <m:sSub>
                                <m:sSubPr>
                                  <m:ctrlPr>
                                    <a:rPr lang="en-US" altLang="zh-CN" sz="1600" b="0" i="1" dirty="0" smtClean="0">
                                      <a:solidFill>
                                        <a:schemeClr val="accent6">
                                          <a:lumMod val="50000"/>
                                        </a:schemeClr>
                                      </a:solidFill>
                                      <a:latin typeface="Cambria Math" panose="02040503050406030204" pitchFamily="18" charset="0"/>
                                    </a:rPr>
                                  </m:ctrlPr>
                                </m:sSubPr>
                                <m:e>
                                  <m:r>
                                    <a:rPr lang="en-US" altLang="zh-CN" sz="1600" b="0" i="1" dirty="0" smtClean="0">
                                      <a:solidFill>
                                        <a:schemeClr val="accent6">
                                          <a:lumMod val="50000"/>
                                        </a:schemeClr>
                                      </a:solidFill>
                                      <a:latin typeface="Cambria Math" panose="02040503050406030204" pitchFamily="18" charset="0"/>
                                    </a:rPr>
                                    <m:t>𝜔</m:t>
                                  </m:r>
                                </m:e>
                                <m:sub>
                                  <m:r>
                                    <a:rPr lang="en-US" altLang="zh-CN" sz="1600" b="0" i="1" dirty="0" smtClean="0">
                                      <a:solidFill>
                                        <a:schemeClr val="accent6">
                                          <a:lumMod val="50000"/>
                                        </a:schemeClr>
                                      </a:solidFill>
                                      <a:latin typeface="Cambria Math" panose="02040503050406030204" pitchFamily="18" charset="0"/>
                                    </a:rPr>
                                    <m:t>4</m:t>
                                  </m:r>
                                </m:sub>
                              </m:sSub>
                            </m:e>
                          </m:d>
                        </m:den>
                      </m:f>
                      <m:nary>
                        <m:naryPr>
                          <m:supHide m:val="on"/>
                          <m:ctrlPr>
                            <a:rPr lang="en-US" altLang="zh-CN" sz="1600" i="1" dirty="0">
                              <a:solidFill>
                                <a:srgbClr val="7030A0"/>
                              </a:solidFill>
                              <a:latin typeface="Cambria Math" panose="02040503050406030204" pitchFamily="18" charset="0"/>
                            </a:rPr>
                          </m:ctrlPr>
                        </m:naryPr>
                        <m:sub>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𝐴</m:t>
                              </m:r>
                            </m:e>
                            <m:sub>
                              <m:r>
                                <a:rPr lang="en-US" altLang="zh-CN" sz="1600" i="1" dirty="0">
                                  <a:solidFill>
                                    <a:srgbClr val="7030A0"/>
                                  </a:solidFill>
                                  <a:latin typeface="Cambria Math" panose="02040503050406030204" pitchFamily="18" charset="0"/>
                                </a:rPr>
                                <m:t>𝐸</m:t>
                              </m:r>
                            </m:sub>
                          </m:sSub>
                        </m:sub>
                        <m:sup/>
                        <m:e>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𝑓</m:t>
                              </m:r>
                            </m:e>
                            <m:sub>
                              <m:r>
                                <a:rPr lang="en-US" altLang="zh-CN" sz="1600" i="1" dirty="0">
                                  <a:solidFill>
                                    <a:srgbClr val="7030A0"/>
                                  </a:solidFill>
                                  <a:latin typeface="Cambria Math" panose="02040503050406030204" pitchFamily="18" charset="0"/>
                                </a:rPr>
                                <m:t>4</m:t>
                              </m:r>
                            </m:sub>
                          </m:sSub>
                          <m:r>
                            <a:rPr lang="en-US" altLang="zh-CN" sz="1600" i="1" dirty="0">
                              <a:solidFill>
                                <a:srgbClr val="7030A0"/>
                              </a:solidFill>
                              <a:latin typeface="Cambria Math" panose="02040503050406030204" pitchFamily="18" charset="0"/>
                            </a:rPr>
                            <m:t> </m:t>
                          </m:r>
                          <m:sSub>
                            <m:sSubPr>
                              <m:ctrlPr>
                                <a:rPr lang="en-US" altLang="zh-CN" sz="1600" i="1" dirty="0">
                                  <a:solidFill>
                                    <a:srgbClr val="7030A0"/>
                                  </a:solidFill>
                                  <a:latin typeface="Cambria Math" panose="02040503050406030204" pitchFamily="18" charset="0"/>
                                </a:rPr>
                              </m:ctrlPr>
                            </m:sSubPr>
                            <m:e>
                              <m:r>
                                <a:rPr lang="en-US" altLang="zh-CN" sz="1600" i="1" dirty="0">
                                  <a:solidFill>
                                    <a:srgbClr val="7030A0"/>
                                  </a:solidFill>
                                  <a:latin typeface="Cambria Math" panose="02040503050406030204" pitchFamily="18" charset="0"/>
                                </a:rPr>
                                <m:t>𝐺</m:t>
                              </m:r>
                            </m:e>
                            <m:sub>
                              <m:r>
                                <a:rPr lang="en-US" altLang="zh-CN" sz="1600" i="1" dirty="0">
                                  <a:solidFill>
                                    <a:srgbClr val="7030A0"/>
                                  </a:solidFill>
                                  <a:latin typeface="Cambria Math" panose="02040503050406030204" pitchFamily="18" charset="0"/>
                                </a:rPr>
                                <m:t>4</m:t>
                              </m:r>
                            </m:sub>
                          </m:sSub>
                          <m:r>
                            <a:rPr lang="en-US" altLang="zh-CN" sz="1600" i="1" dirty="0">
                              <a:solidFill>
                                <a:srgbClr val="7030A0"/>
                              </a:solidFill>
                              <a:latin typeface="Cambria Math" panose="02040503050406030204" pitchFamily="18" charset="0"/>
                            </a:rPr>
                            <m:t> </m:t>
                          </m:r>
                          <m:sSub>
                            <m:sSubPr>
                              <m:ctrlPr>
                                <a:rPr lang="en-US" altLang="zh-CN" sz="1600" i="1" dirty="0">
                                  <a:solidFill>
                                    <a:srgbClr val="008000"/>
                                  </a:solidFill>
                                  <a:latin typeface="Cambria Math" panose="02040503050406030204" pitchFamily="18" charset="0"/>
                                </a:rPr>
                              </m:ctrlPr>
                            </m:sSubPr>
                            <m:e>
                              <m:r>
                                <a:rPr lang="en-US" altLang="zh-CN" sz="1600" i="1" dirty="0">
                                  <a:solidFill>
                                    <a:srgbClr val="008000"/>
                                  </a:solidFill>
                                  <a:latin typeface="Cambria Math" panose="02040503050406030204" pitchFamily="18" charset="0"/>
                                </a:rPr>
                                <m:t>𝐿</m:t>
                              </m:r>
                            </m:e>
                            <m:sub>
                              <m:r>
                                <a:rPr lang="en-US" altLang="zh-CN" sz="1600" b="1" i="1" dirty="0">
                                  <a:solidFill>
                                    <a:srgbClr val="008000"/>
                                  </a:solidFill>
                                  <a:latin typeface="Cambria Math" panose="02040503050406030204" pitchFamily="18" charset="0"/>
                                </a:rPr>
                                <m:t>𝒆</m:t>
                              </m:r>
                            </m:sub>
                          </m:sSub>
                          <m:d>
                            <m:dPr>
                              <m:ctrlPr>
                                <a:rPr lang="en-US" altLang="zh-CN" sz="1600" b="1" i="1" dirty="0">
                                  <a:solidFill>
                                    <a:srgbClr val="008000"/>
                                  </a:solidFill>
                                  <a:latin typeface="Cambria Math" panose="02040503050406030204" pitchFamily="18" charset="0"/>
                                </a:rPr>
                              </m:ctrlPr>
                            </m:dPr>
                            <m:e>
                              <m:sSub>
                                <m:sSubPr>
                                  <m:ctrlPr>
                                    <a:rPr lang="en-US" altLang="zh-CN" sz="1600" b="1" i="1" dirty="0">
                                      <a:solidFill>
                                        <a:srgbClr val="008000"/>
                                      </a:solidFill>
                                      <a:latin typeface="Cambria Math" panose="02040503050406030204" pitchFamily="18" charset="0"/>
                                    </a:rPr>
                                  </m:ctrlPr>
                                </m:sSubPr>
                                <m:e>
                                  <m:r>
                                    <a:rPr lang="en-US" altLang="zh-CN" sz="1600" b="1" i="1" dirty="0">
                                      <a:solidFill>
                                        <a:srgbClr val="008000"/>
                                      </a:solidFill>
                                      <a:latin typeface="Cambria Math" panose="02040503050406030204" pitchFamily="18" charset="0"/>
                                    </a:rPr>
                                    <m:t>𝒑</m:t>
                                  </m:r>
                                </m:e>
                                <m:sub>
                                  <m:r>
                                    <a:rPr lang="en-US" altLang="zh-CN" sz="1600" b="1" i="1" dirty="0">
                                      <a:solidFill>
                                        <a:srgbClr val="008000"/>
                                      </a:solidFill>
                                      <a:latin typeface="Cambria Math" panose="02040503050406030204" pitchFamily="18" charset="0"/>
                                    </a:rPr>
                                    <m:t>𝟓</m:t>
                                  </m:r>
                                </m:sub>
                              </m:sSub>
                              <m:r>
                                <a:rPr lang="en-US" altLang="zh-CN" sz="1600" b="1" i="1" dirty="0">
                                  <a:solidFill>
                                    <a:srgbClr val="008000"/>
                                  </a:solidFill>
                                  <a:latin typeface="Cambria Math" panose="02040503050406030204" pitchFamily="18" charset="0"/>
                                </a:rPr>
                                <m:t>→</m:t>
                              </m:r>
                              <m:sSub>
                                <m:sSubPr>
                                  <m:ctrlPr>
                                    <a:rPr lang="en-US" altLang="zh-CN" sz="1600" b="1" i="1" dirty="0">
                                      <a:solidFill>
                                        <a:srgbClr val="008000"/>
                                      </a:solidFill>
                                      <a:latin typeface="Cambria Math" panose="02040503050406030204" pitchFamily="18" charset="0"/>
                                    </a:rPr>
                                  </m:ctrlPr>
                                </m:sSubPr>
                                <m:e>
                                  <m:r>
                                    <a:rPr lang="en-US" altLang="zh-CN" sz="1600" b="1" i="1" dirty="0">
                                      <a:solidFill>
                                        <a:srgbClr val="008000"/>
                                      </a:solidFill>
                                      <a:latin typeface="Cambria Math" panose="02040503050406030204" pitchFamily="18" charset="0"/>
                                    </a:rPr>
                                    <m:t>𝒑</m:t>
                                  </m:r>
                                </m:e>
                                <m:sub>
                                  <m:r>
                                    <a:rPr lang="en-US" altLang="zh-CN" sz="1600" b="1" i="1" dirty="0">
                                      <a:solidFill>
                                        <a:srgbClr val="008000"/>
                                      </a:solidFill>
                                      <a:latin typeface="Cambria Math" panose="02040503050406030204" pitchFamily="18" charset="0"/>
                                    </a:rPr>
                                    <m:t>𝟒</m:t>
                                  </m:r>
                                </m:sub>
                              </m:sSub>
                            </m:e>
                          </m:d>
                          <m:r>
                            <a:rPr lang="en-US" altLang="zh-CN" sz="1600" i="1" dirty="0">
                              <a:solidFill>
                                <a:srgbClr val="7030A0"/>
                              </a:solidFill>
                              <a:latin typeface="Cambria Math" panose="02040503050406030204" pitchFamily="18" charset="0"/>
                            </a:rPr>
                            <m:t>𝑑𝐴</m:t>
                          </m:r>
                          <m:d>
                            <m:dPr>
                              <m:ctrlPr>
                                <a:rPr lang="en-US" altLang="zh-CN" sz="1600" b="1" i="1" dirty="0">
                                  <a:solidFill>
                                    <a:srgbClr val="7030A0"/>
                                  </a:solidFill>
                                  <a:latin typeface="Cambria Math" panose="02040503050406030204" pitchFamily="18" charset="0"/>
                                </a:rPr>
                              </m:ctrlPr>
                            </m:dPr>
                            <m:e>
                              <m:sSub>
                                <m:sSubPr>
                                  <m:ctrlPr>
                                    <a:rPr lang="en-US" altLang="zh-CN" sz="1600" b="1" i="1" dirty="0">
                                      <a:solidFill>
                                        <a:srgbClr val="7030A0"/>
                                      </a:solidFill>
                                      <a:latin typeface="Cambria Math" panose="02040503050406030204" pitchFamily="18" charset="0"/>
                                    </a:rPr>
                                  </m:ctrlPr>
                                </m:sSubPr>
                                <m:e>
                                  <m:r>
                                    <a:rPr lang="en-US" altLang="zh-CN" sz="1600" b="1" i="1" dirty="0">
                                      <a:solidFill>
                                        <a:srgbClr val="7030A0"/>
                                      </a:solidFill>
                                      <a:latin typeface="Cambria Math" panose="02040503050406030204" pitchFamily="18" charset="0"/>
                                    </a:rPr>
                                    <m:t>𝒑</m:t>
                                  </m:r>
                                </m:e>
                                <m:sub>
                                  <m:r>
                                    <a:rPr lang="en-US" altLang="zh-CN" sz="1600" b="1" i="1" dirty="0">
                                      <a:solidFill>
                                        <a:srgbClr val="7030A0"/>
                                      </a:solidFill>
                                      <a:latin typeface="Cambria Math" panose="02040503050406030204" pitchFamily="18" charset="0"/>
                                    </a:rPr>
                                    <m:t>𝟓</m:t>
                                  </m:r>
                                </m:sub>
                              </m:sSub>
                            </m:e>
                          </m:d>
                        </m:e>
                      </m:nary>
                    </m:oMath>
                  </m:oMathPara>
                </a14:m>
                <a:endParaRPr lang="en-US" altLang="zh-CN" sz="1600" b="1" i="1" dirty="0">
                  <a:solidFill>
                    <a:srgbClr val="7030A0"/>
                  </a:solidFill>
                  <a:latin typeface="Cambria Math" panose="02040503050406030204" pitchFamily="18" charset="0"/>
                </a:endParaRPr>
              </a:p>
              <a:p>
                <a:endParaRPr lang="en-US" altLang="zh-CN" sz="1600" b="1" i="1" dirty="0">
                  <a:solidFill>
                    <a:srgbClr val="7030A0"/>
                  </a:solidFill>
                  <a:latin typeface="Cambria Math" panose="02040503050406030204" pitchFamily="18" charset="0"/>
                </a:endParaRPr>
              </a:p>
              <a:p>
                <a:r>
                  <a:rPr lang="zh-CN" altLang="en-US" sz="1600" b="1" dirty="0">
                    <a:latin typeface="Cambria Math" panose="02040503050406030204" pitchFamily="18" charset="0"/>
                  </a:rPr>
                  <a:t>         </a:t>
                </a:r>
                <a:r>
                  <a:rPr lang="zh-CN" altLang="en-US" sz="1600" dirty="0">
                    <a:latin typeface="Cambria Math" panose="02040503050406030204" pitchFamily="18" charset="0"/>
                  </a:rPr>
                  <a:t>其中：</a:t>
                </a:r>
                <a:endParaRPr lang="en-US" altLang="zh-CN" sz="1600" dirty="0">
                  <a:latin typeface="Cambria Math" panose="02040503050406030204" pitchFamily="18" charset="0"/>
                </a:endParaRPr>
              </a:p>
              <a:p>
                <a:pPr/>
                <a14:m>
                  <m:oMathPara xmlns:m="http://schemas.openxmlformats.org/officeDocument/2006/math">
                    <m:o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4</m:t>
                          </m:r>
                        </m:sub>
                      </m:sSub>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𝑑𝐴</m:t>
                      </m:r>
                      <m:d>
                        <m:dPr>
                          <m:ctrlPr>
                            <a:rPr lang="en-US" altLang="zh-CN" sz="1600" b="1" i="1" dirty="0" smtClean="0">
                              <a:solidFill>
                                <a:schemeClr val="tx1"/>
                              </a:solidFill>
                              <a:latin typeface="Cambria Math" panose="02040503050406030204" pitchFamily="18" charset="0"/>
                            </a:rPr>
                          </m:ctrlPr>
                        </m:dPr>
                        <m:e>
                          <m:sSub>
                            <m:sSubPr>
                              <m:ctrlPr>
                                <a:rPr lang="en-US" altLang="zh-CN" sz="1600" b="1" i="1" dirty="0" smtClean="0">
                                  <a:solidFill>
                                    <a:schemeClr val="tx1"/>
                                  </a:solidFill>
                                  <a:latin typeface="Cambria Math" panose="02040503050406030204" pitchFamily="18" charset="0"/>
                                </a:rPr>
                              </m:ctrlPr>
                            </m:sSubPr>
                            <m:e>
                              <m:r>
                                <a:rPr lang="en-US" altLang="zh-CN" sz="1600" b="1" i="1" dirty="0" smtClean="0">
                                  <a:solidFill>
                                    <a:schemeClr val="tx1"/>
                                  </a:solidFill>
                                  <a:latin typeface="Cambria Math" panose="02040503050406030204" pitchFamily="18" charset="0"/>
                                </a:rPr>
                                <m:t>𝒑</m:t>
                              </m:r>
                            </m:e>
                            <m:sub>
                              <m:r>
                                <a:rPr lang="en-US" altLang="zh-CN" sz="1600" b="1" i="1" dirty="0" smtClean="0">
                                  <a:solidFill>
                                    <a:schemeClr val="tx1"/>
                                  </a:solidFill>
                                  <a:latin typeface="Cambria Math" panose="02040503050406030204" pitchFamily="18" charset="0"/>
                                </a:rPr>
                                <m:t>𝟓</m:t>
                              </m:r>
                            </m:sub>
                          </m:sSub>
                        </m:e>
                      </m:d>
                      <m:r>
                        <a:rPr lang="en-US" altLang="zh-CN" sz="1600" b="0" i="1" dirty="0" smtClean="0">
                          <a:solidFill>
                            <a:schemeClr val="tx1"/>
                          </a:solidFill>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𝑉</m:t>
                          </m:r>
                        </m:e>
                        <m:sub>
                          <m:r>
                            <a:rPr lang="en-US" altLang="zh-CN" sz="1600" i="1" dirty="0">
                              <a:latin typeface="Cambria Math" panose="02040503050406030204" pitchFamily="18" charset="0"/>
                            </a:rPr>
                            <m:t>4</m:t>
                          </m:r>
                        </m:sub>
                      </m:sSub>
                      <m:r>
                        <a:rPr lang="en-US" altLang="zh-CN" sz="1600" b="0" i="1" dirty="0" smtClean="0">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func>
                            <m:funcPr>
                              <m:ctrlPr>
                                <a:rPr lang="en-US" altLang="zh-CN" sz="1600" b="0" i="0"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cos</m:t>
                              </m:r>
                            </m:fName>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𝜃</m:t>
                                  </m:r>
                                </m:e>
                                <m:sub>
                                  <m:r>
                                    <a:rPr lang="en-US" altLang="zh-CN" sz="1600" b="0" i="1" dirty="0" smtClean="0">
                                      <a:solidFill>
                                        <a:schemeClr val="tx1"/>
                                      </a:solidFill>
                                      <a:latin typeface="Cambria Math" panose="02040503050406030204" pitchFamily="18" charset="0"/>
                                    </a:rPr>
                                    <m:t>5</m:t>
                                  </m:r>
                                </m:sub>
                              </m:sSub>
                            </m:e>
                          </m:func>
                        </m:e>
                      </m:d>
                      <m:d>
                        <m:dPr>
                          <m:begChr m:val="|"/>
                          <m:endChr m:val="|"/>
                          <m:ctrlPr>
                            <a:rPr lang="en-US" altLang="zh-CN" sz="1600" b="0" i="1" dirty="0" smtClean="0">
                              <a:solidFill>
                                <a:schemeClr val="tx1"/>
                              </a:solidFill>
                              <a:latin typeface="Cambria Math" panose="02040503050406030204" pitchFamily="18" charset="0"/>
                            </a:rPr>
                          </m:ctrlPr>
                        </m:dPr>
                        <m:e>
                          <m:func>
                            <m:funcPr>
                              <m:ctrlPr>
                                <a:rPr lang="en-US" altLang="zh-CN" sz="1600" b="0" i="0"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det</m:t>
                              </m:r>
                            </m:fName>
                            <m:e>
                              <m:d>
                                <m:dPr>
                                  <m:ctrlPr>
                                    <a:rPr lang="en-US" altLang="zh-CN" sz="1600" b="0" i="1" dirty="0" smtClean="0">
                                      <a:solidFill>
                                        <a:schemeClr val="tx1"/>
                                      </a:solidFill>
                                      <a:latin typeface="Cambria Math" panose="02040503050406030204" pitchFamily="18" charset="0"/>
                                    </a:rPr>
                                  </m:ctrlPr>
                                </m:dPr>
                                <m:e>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𝑑</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5</m:t>
                                          </m:r>
                                        </m:sub>
                                      </m:sSub>
                                    </m:num>
                                    <m:den>
                                      <m:r>
                                        <a:rPr lang="en-US" altLang="zh-CN" sz="1600" b="0" i="1" dirty="0" smtClean="0">
                                          <a:solidFill>
                                            <a:schemeClr val="tx1"/>
                                          </a:solidFill>
                                          <a:latin typeface="Cambria Math" panose="02040503050406030204" pitchFamily="18" charset="0"/>
                                        </a:rPr>
                                        <m:t>𝑑𝐴</m:t>
                                      </m:r>
                                      <m:d>
                                        <m:dPr>
                                          <m:ctrlPr>
                                            <a:rPr lang="en-US" altLang="zh-CN" sz="1600" b="1" i="1" dirty="0" smtClean="0">
                                              <a:solidFill>
                                                <a:schemeClr val="tx1"/>
                                              </a:solidFill>
                                              <a:latin typeface="Cambria Math" panose="02040503050406030204" pitchFamily="18" charset="0"/>
                                            </a:rPr>
                                          </m:ctrlPr>
                                        </m:dPr>
                                        <m:e>
                                          <m:sSub>
                                            <m:sSubPr>
                                              <m:ctrlPr>
                                                <a:rPr lang="en-US" altLang="zh-CN" sz="1600" b="1" i="1" dirty="0" smtClean="0">
                                                  <a:solidFill>
                                                    <a:schemeClr val="tx1"/>
                                                  </a:solidFill>
                                                  <a:latin typeface="Cambria Math" panose="02040503050406030204" pitchFamily="18" charset="0"/>
                                                </a:rPr>
                                              </m:ctrlPr>
                                            </m:sSubPr>
                                            <m:e>
                                              <m:r>
                                                <a:rPr lang="en-US" altLang="zh-CN" sz="1600" b="1" i="1" dirty="0" smtClean="0">
                                                  <a:solidFill>
                                                    <a:schemeClr val="tx1"/>
                                                  </a:solidFill>
                                                  <a:latin typeface="Cambria Math" panose="02040503050406030204" pitchFamily="18" charset="0"/>
                                                </a:rPr>
                                                <m:t>𝒑</m:t>
                                              </m:r>
                                            </m:e>
                                            <m:sub>
                                              <m:r>
                                                <a:rPr lang="en-US" altLang="zh-CN" sz="1600" b="1" i="1" dirty="0" smtClean="0">
                                                  <a:solidFill>
                                                    <a:schemeClr val="tx1"/>
                                                  </a:solidFill>
                                                  <a:latin typeface="Cambria Math" panose="02040503050406030204" pitchFamily="18" charset="0"/>
                                                </a:rPr>
                                                <m:t>𝟓</m:t>
                                              </m:r>
                                            </m:sub>
                                          </m:sSub>
                                        </m:e>
                                      </m:d>
                                    </m:den>
                                  </m:f>
                                </m:e>
                              </m:d>
                            </m:e>
                          </m:func>
                        </m:e>
                      </m:d>
                      <m:r>
                        <a:rPr lang="en-US" altLang="zh-CN" sz="1600" b="0" i="1" dirty="0" smtClean="0">
                          <a:solidFill>
                            <a:schemeClr val="tx1"/>
                          </a:solidFill>
                          <a:latin typeface="Cambria Math" panose="02040503050406030204" pitchFamily="18" charset="0"/>
                        </a:rPr>
                        <m:t>𝑑𝐴</m:t>
                      </m:r>
                      <m:d>
                        <m:dPr>
                          <m:ctrlPr>
                            <a:rPr lang="en-US" altLang="zh-CN" sz="1600" b="1" i="1" dirty="0" smtClean="0">
                              <a:solidFill>
                                <a:schemeClr val="tx1"/>
                              </a:solidFill>
                              <a:latin typeface="Cambria Math" panose="02040503050406030204" pitchFamily="18" charset="0"/>
                            </a:rPr>
                          </m:ctrlPr>
                        </m:dPr>
                        <m:e>
                          <m:sSub>
                            <m:sSubPr>
                              <m:ctrlPr>
                                <a:rPr lang="en-US" altLang="zh-CN" sz="1600" b="1" i="1" dirty="0" smtClean="0">
                                  <a:solidFill>
                                    <a:schemeClr val="tx1"/>
                                  </a:solidFill>
                                  <a:latin typeface="Cambria Math" panose="02040503050406030204" pitchFamily="18" charset="0"/>
                                </a:rPr>
                              </m:ctrlPr>
                            </m:sSubPr>
                            <m:e>
                              <m:r>
                                <a:rPr lang="en-US" altLang="zh-CN" sz="1600" b="1" i="1" dirty="0" smtClean="0">
                                  <a:solidFill>
                                    <a:schemeClr val="tx1"/>
                                  </a:solidFill>
                                  <a:latin typeface="Cambria Math" panose="02040503050406030204" pitchFamily="18" charset="0"/>
                                </a:rPr>
                                <m:t>𝒑</m:t>
                              </m:r>
                            </m:e>
                            <m:sub>
                              <m:r>
                                <a:rPr lang="en-US" altLang="zh-CN" sz="1600" b="1" i="1" dirty="0" smtClean="0">
                                  <a:solidFill>
                                    <a:schemeClr val="tx1"/>
                                  </a:solidFill>
                                  <a:latin typeface="Cambria Math" panose="02040503050406030204" pitchFamily="18" charset="0"/>
                                </a:rPr>
                                <m:t>𝟓</m:t>
                              </m:r>
                            </m:sub>
                          </m:sSub>
                        </m:e>
                      </m:d>
                      <m:r>
                        <a:rPr lang="en-US" altLang="zh-CN" sz="1600" b="0" i="1" dirty="0" smtClean="0">
                          <a:solidFill>
                            <a:schemeClr val="tx1"/>
                          </a:solidFill>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𝑉</m:t>
                          </m:r>
                        </m:e>
                        <m:sub>
                          <m:r>
                            <a:rPr lang="en-US" altLang="zh-CN" sz="1600" i="1" dirty="0">
                              <a:latin typeface="Cambria Math" panose="02040503050406030204" pitchFamily="18" charset="0"/>
                            </a:rPr>
                            <m:t>4</m:t>
                          </m:r>
                        </m:sub>
                      </m:sSub>
                      <m:r>
                        <a:rPr lang="en-US" altLang="zh-CN" sz="1600" b="0" i="1" dirty="0" smtClean="0">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5</m:t>
                                  </m:r>
                                </m:sub>
                              </m:sSub>
                            </m:e>
                          </m:func>
                        </m:e>
                      </m:d>
                      <m:r>
                        <a:rPr lang="en-US" altLang="zh-CN" sz="1600" b="0" i="1"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𝑑</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5</m:t>
                          </m:r>
                        </m:sub>
                      </m:sSub>
                    </m:oMath>
                  </m:oMathPara>
                </a14:m>
                <a:endParaRPr lang="en-US" altLang="zh-CN" sz="1600" dirty="0">
                  <a:solidFill>
                    <a:schemeClr val="tx1"/>
                  </a:solidFill>
                  <a:latin typeface="Cambria Math" panose="02040503050406030204" pitchFamily="18" charset="0"/>
                </a:endParaRPr>
              </a:p>
              <a:p>
                <a:r>
                  <a:rPr lang="en-US" altLang="zh-CN" sz="1600" dirty="0">
                    <a:latin typeface="Cambria Math" panose="02040503050406030204" pitchFamily="18" charset="0"/>
                  </a:rPr>
                  <a:t>         </a:t>
                </a:r>
                <a:r>
                  <a:rPr lang="zh-CN" altLang="en-US" sz="1600" dirty="0">
                    <a:latin typeface="Cambria Math" panose="02040503050406030204" pitchFamily="18" charset="0"/>
                  </a:rPr>
                  <a:t>于是：</a:t>
                </a:r>
                <a:endParaRPr lang="en-US" altLang="zh-CN" sz="1600" dirty="0">
                  <a:solidFill>
                    <a:schemeClr val="tx1"/>
                  </a:solidFill>
                  <a:latin typeface="Cambria Math" panose="02040503050406030204" pitchFamily="18" charset="0"/>
                </a:endParaRPr>
              </a:p>
              <a:p>
                <a:pPr/>
                <a14:m>
                  <m:oMathPara xmlns:m="http://schemas.openxmlformats.org/officeDocument/2006/math">
                    <m:oMath>
                      <m:nary>
                        <m:naryPr>
                          <m:supHide m:val="on"/>
                          <m:ctrlPr>
                            <a:rPr lang="en-US" altLang="zh-CN" sz="1600" i="1" dirty="0">
                              <a:solidFill>
                                <a:schemeClr val="tx1"/>
                              </a:solidFill>
                              <a:latin typeface="Cambria Math" panose="02040503050406030204" pitchFamily="18" charset="0"/>
                            </a:rPr>
                          </m:ctrlPr>
                        </m:naryPr>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𝐴</m:t>
                              </m:r>
                            </m:e>
                            <m:sub>
                              <m:r>
                                <a:rPr lang="en-US" altLang="zh-CN" sz="1600" i="1" dirty="0">
                                  <a:solidFill>
                                    <a:schemeClr val="tx1"/>
                                  </a:solidFill>
                                  <a:latin typeface="Cambria Math" panose="02040503050406030204" pitchFamily="18" charset="0"/>
                                </a:rPr>
                                <m:t>𝐸</m:t>
                              </m:r>
                            </m:sub>
                          </m:sSub>
                        </m:sub>
                        <m:sup/>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4</m:t>
                              </m:r>
                            </m:sub>
                          </m:sSub>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4</m:t>
                              </m:r>
                            </m:sub>
                          </m:sSub>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𝐿</m:t>
                              </m:r>
                            </m:e>
                            <m:sub>
                              <m:r>
                                <a:rPr lang="en-US" altLang="zh-CN" sz="1600" b="1" i="1" dirty="0">
                                  <a:solidFill>
                                    <a:schemeClr val="tx1"/>
                                  </a:solidFill>
                                  <a:latin typeface="Cambria Math" panose="02040503050406030204" pitchFamily="18" charset="0"/>
                                </a:rPr>
                                <m:t>𝒆</m:t>
                              </m:r>
                            </m:sub>
                          </m:sSub>
                          <m:d>
                            <m:dPr>
                              <m:ctrlPr>
                                <a:rPr lang="en-US" altLang="zh-CN" sz="1600" b="1"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𝒑</m:t>
                                  </m:r>
                                </m:e>
                                <m:sub>
                                  <m:r>
                                    <a:rPr lang="en-US" altLang="zh-CN" sz="1600" b="1" i="1" dirty="0">
                                      <a:solidFill>
                                        <a:schemeClr val="tx1"/>
                                      </a:solidFill>
                                      <a:latin typeface="Cambria Math" panose="02040503050406030204" pitchFamily="18" charset="0"/>
                                    </a:rPr>
                                    <m:t>𝟓</m:t>
                                  </m:r>
                                </m:sub>
                              </m:sSub>
                              <m:r>
                                <a:rPr lang="en-US" altLang="zh-CN" sz="1600" b="1"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𝒑</m:t>
                                  </m:r>
                                </m:e>
                                <m:sub>
                                  <m:r>
                                    <a:rPr lang="en-US" altLang="zh-CN" sz="1600" b="1" i="1" dirty="0">
                                      <a:solidFill>
                                        <a:schemeClr val="tx1"/>
                                      </a:solidFill>
                                      <a:latin typeface="Cambria Math" panose="02040503050406030204" pitchFamily="18" charset="0"/>
                                    </a:rPr>
                                    <m:t>𝟒</m:t>
                                  </m:r>
                                </m:sub>
                              </m:sSub>
                            </m:e>
                          </m:d>
                          <m:r>
                            <a:rPr lang="en-US" altLang="zh-CN" sz="1600" i="1" dirty="0">
                              <a:solidFill>
                                <a:schemeClr val="tx1"/>
                              </a:solidFill>
                              <a:latin typeface="Cambria Math" panose="02040503050406030204" pitchFamily="18" charset="0"/>
                            </a:rPr>
                            <m:t>𝑑𝐴</m:t>
                          </m:r>
                          <m:d>
                            <m:dPr>
                              <m:ctrlPr>
                                <a:rPr lang="en-US" altLang="zh-CN" sz="1600" b="1"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𝒑</m:t>
                                  </m:r>
                                </m:e>
                                <m:sub>
                                  <m:r>
                                    <a:rPr lang="en-US" altLang="zh-CN" sz="1600" b="1" i="1" dirty="0">
                                      <a:solidFill>
                                        <a:schemeClr val="tx1"/>
                                      </a:solidFill>
                                      <a:latin typeface="Cambria Math" panose="02040503050406030204" pitchFamily="18" charset="0"/>
                                    </a:rPr>
                                    <m:t>𝟓</m:t>
                                  </m:r>
                                </m:sub>
                              </m:sSub>
                            </m:e>
                          </m:d>
                        </m:e>
                      </m:nary>
                      <m:r>
                        <a:rPr lang="en-US" altLang="zh-CN" sz="1600" b="1" i="1" dirty="0" smtClean="0">
                          <a:solidFill>
                            <a:schemeClr val="tx1"/>
                          </a:solidFill>
                          <a:latin typeface="Cambria Math" panose="02040503050406030204" pitchFamily="18" charset="0"/>
                        </a:rPr>
                        <m:t>=</m:t>
                      </m:r>
                      <m:nary>
                        <m:naryPr>
                          <m:supHide m:val="on"/>
                          <m:ctrlPr>
                            <a:rPr lang="en-US" altLang="zh-CN" sz="1600" b="0" i="1" dirty="0" smtClean="0">
                              <a:solidFill>
                                <a:schemeClr val="tx1"/>
                              </a:solidFill>
                              <a:latin typeface="Cambria Math" panose="02040503050406030204" pitchFamily="18" charset="0"/>
                            </a:rPr>
                          </m:ctrlPr>
                        </m:naryPr>
                        <m:sub>
                          <m:sSub>
                            <m:sSubPr>
                              <m:ctrlPr>
                                <a:rPr lang="en-US" altLang="zh-CN" sz="1600" b="0" i="0" dirty="0" smtClean="0">
                                  <a:solidFill>
                                    <a:schemeClr val="tx1"/>
                                  </a:solidFill>
                                  <a:latin typeface="Cambria Math" panose="02040503050406030204" pitchFamily="18" charset="0"/>
                                </a:rPr>
                              </m:ctrlPr>
                            </m:sSubPr>
                            <m:e>
                              <m:r>
                                <m:rPr>
                                  <m:sty m:val="p"/>
                                </m:rPr>
                                <a:rPr lang="en-US" altLang="zh-CN" sz="1600" b="0" i="0" dirty="0" smtClean="0">
                                  <a:solidFill>
                                    <a:schemeClr val="tx1"/>
                                  </a:solidFill>
                                  <a:latin typeface="Cambria Math" panose="02040503050406030204" pitchFamily="18" charset="0"/>
                                </a:rPr>
                                <m:t>Ω</m:t>
                              </m:r>
                            </m:e>
                            <m:sub>
                              <m:r>
                                <a:rPr lang="en-US" altLang="zh-CN" sz="1600" i="1" dirty="0">
                                  <a:solidFill>
                                    <a:schemeClr val="tx1"/>
                                  </a:solidFill>
                                  <a:latin typeface="Cambria Math" panose="02040503050406030204" pitchFamily="18" charset="0"/>
                                </a:rPr>
                                <m:t>𝐸</m:t>
                              </m:r>
                            </m:sub>
                          </m:sSub>
                        </m:sub>
                        <m:sup/>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4</m:t>
                              </m:r>
                            </m:sub>
                          </m:sSub>
                          <m:r>
                            <a:rPr lang="en-US" altLang="zh-CN" sz="1600" i="1" dirty="0">
                              <a:solidFill>
                                <a:schemeClr val="tx1"/>
                              </a:solidFill>
                              <a:latin typeface="Cambria Math" panose="02040503050406030204" pitchFamily="18" charset="0"/>
                            </a:rPr>
                            <m:t> </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𝑉</m:t>
                              </m:r>
                            </m:e>
                            <m:sub>
                              <m:r>
                                <a:rPr lang="en-US" altLang="zh-CN" sz="1600" b="0" i="1" dirty="0" smtClean="0">
                                  <a:solidFill>
                                    <a:schemeClr val="tx1"/>
                                  </a:solidFill>
                                  <a:latin typeface="Cambria Math" panose="02040503050406030204" pitchFamily="18" charset="0"/>
                                </a:rPr>
                                <m:t>4</m:t>
                              </m:r>
                            </m:sub>
                          </m:sSub>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func>
                                <m:funcPr>
                                  <m:ctrlPr>
                                    <a:rPr lang="en-US" altLang="zh-CN" sz="1600" b="0" i="0"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cos</m:t>
                                  </m:r>
                                </m:fName>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𝜃</m:t>
                                      </m:r>
                                    </m:e>
                                    <m:sub>
                                      <m:r>
                                        <a:rPr lang="en-US" altLang="zh-CN" sz="1600" b="0" i="1" dirty="0" smtClean="0">
                                          <a:solidFill>
                                            <a:schemeClr val="tx1"/>
                                          </a:solidFill>
                                          <a:latin typeface="Cambria Math" panose="02040503050406030204" pitchFamily="18" charset="0"/>
                                        </a:rPr>
                                        <m:t>5</m:t>
                                      </m:r>
                                    </m:sub>
                                  </m:sSub>
                                </m:e>
                              </m:func>
                            </m:e>
                          </m:d>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𝐿</m:t>
                              </m:r>
                            </m:e>
                            <m:sub>
                              <m:r>
                                <a:rPr lang="en-US" altLang="zh-CN" sz="1600" b="1" i="1" dirty="0">
                                  <a:solidFill>
                                    <a:schemeClr val="tx1"/>
                                  </a:solidFill>
                                  <a:latin typeface="Cambria Math" panose="02040503050406030204" pitchFamily="18" charset="0"/>
                                </a:rPr>
                                <m:t>𝒆</m:t>
                              </m:r>
                            </m:sub>
                          </m:sSub>
                          <m:d>
                            <m:dPr>
                              <m:ctrlPr>
                                <a:rPr lang="en-US" altLang="zh-CN" sz="1600" b="1"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𝒑</m:t>
                                  </m:r>
                                </m:e>
                                <m:sub>
                                  <m:r>
                                    <a:rPr lang="en-US" altLang="zh-CN" sz="1600" b="1" i="1" dirty="0">
                                      <a:solidFill>
                                        <a:schemeClr val="tx1"/>
                                      </a:solidFill>
                                      <a:latin typeface="Cambria Math" panose="02040503050406030204" pitchFamily="18" charset="0"/>
                                    </a:rPr>
                                    <m:t>𝟓</m:t>
                                  </m:r>
                                </m:sub>
                              </m:sSub>
                              <m:r>
                                <a:rPr lang="en-US" altLang="zh-CN" sz="1600" b="1"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𝒑</m:t>
                                  </m:r>
                                </m:e>
                                <m:sub>
                                  <m:r>
                                    <a:rPr lang="en-US" altLang="zh-CN" sz="1600" b="1" i="1" dirty="0">
                                      <a:solidFill>
                                        <a:schemeClr val="tx1"/>
                                      </a:solidFill>
                                      <a:latin typeface="Cambria Math" panose="02040503050406030204" pitchFamily="18" charset="0"/>
                                    </a:rPr>
                                    <m:t>𝟒</m:t>
                                  </m:r>
                                </m:sub>
                              </m:sSub>
                            </m:e>
                          </m:d>
                          <m:r>
                            <a:rPr lang="en-US" altLang="zh-CN" sz="1600" i="1" dirty="0">
                              <a:solidFill>
                                <a:schemeClr val="tx1"/>
                              </a:solidFill>
                              <a:latin typeface="Cambria Math" panose="02040503050406030204" pitchFamily="18" charset="0"/>
                            </a:rPr>
                            <m:t>𝑑</m:t>
                          </m:r>
                          <m:sSub>
                            <m:sSubPr>
                              <m:ctrlPr>
                                <a:rPr lang="en-US" altLang="zh-CN" sz="1600" i="1" dirty="0" smtClean="0">
                                  <a:solidFill>
                                    <a:schemeClr val="tx1"/>
                                  </a:solidFill>
                                  <a:latin typeface="Cambria Math" panose="02040503050406030204" pitchFamily="18" charset="0"/>
                                </a:rPr>
                              </m:ctrlPr>
                            </m:sSubPr>
                            <m:e>
                              <m:r>
                                <a:rPr lang="en-US" altLang="zh-CN" sz="160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5</m:t>
                              </m:r>
                            </m:sub>
                          </m:sSub>
                        </m:e>
                      </m:nary>
                    </m:oMath>
                  </m:oMathPara>
                </a14:m>
                <a:endParaRPr lang="en-US" altLang="zh-CN" sz="1600" b="1" i="1" dirty="0">
                  <a:solidFill>
                    <a:schemeClr val="tx1"/>
                  </a:solidFill>
                  <a:latin typeface="Cambria Math" panose="02040503050406030204" pitchFamily="18" charset="0"/>
                </a:endParaRPr>
              </a:p>
              <a:p>
                <a:endParaRPr lang="en-US" altLang="zh-CN" sz="1600" b="1" i="1" dirty="0">
                  <a:solidFill>
                    <a:srgbClr val="7030A0"/>
                  </a:solidFill>
                  <a:latin typeface="Cambria Math" panose="02040503050406030204" pitchFamily="18" charset="0"/>
                </a:endParaRPr>
              </a:p>
              <a:p>
                <a:pPr algn="ctr"/>
                <a:r>
                  <a:rPr lang="zh-CN" altLang="en-US" sz="2000" b="1" dirty="0">
                    <a:latin typeface="Cambria Math" panose="02040503050406030204" pitchFamily="18" charset="0"/>
                  </a:rPr>
                  <a:t>向光源采样的面积积分可以写成方向积分</a:t>
                </a:r>
                <a:endParaRPr lang="en-US" altLang="zh-CN" sz="2000" b="1" dirty="0">
                  <a:latin typeface="Cambria Math" panose="02040503050406030204" pitchFamily="18" charset="0"/>
                </a:endParaRPr>
              </a:p>
            </p:txBody>
          </p:sp>
        </mc:Choice>
        <mc:Fallback xmlns="">
          <p:sp>
            <p:nvSpPr>
              <p:cNvPr id="9" name="文本框 8">
                <a:extLst>
                  <a:ext uri="{FF2B5EF4-FFF2-40B4-BE49-F238E27FC236}">
                    <a16:creationId xmlns:a16="http://schemas.microsoft.com/office/drawing/2014/main" id="{D7F7B434-F4B0-A402-0E5E-2B7B6D2B3E9F}"/>
                  </a:ext>
                </a:extLst>
              </p:cNvPr>
              <p:cNvSpPr txBox="1">
                <a:spLocks noRot="1" noChangeAspect="1" noMove="1" noResize="1" noEditPoints="1" noAdjustHandles="1" noChangeArrowheads="1" noChangeShapeType="1" noTextEdit="1"/>
              </p:cNvSpPr>
              <p:nvPr/>
            </p:nvSpPr>
            <p:spPr>
              <a:xfrm>
                <a:off x="1517026" y="1236855"/>
                <a:ext cx="9157948" cy="4893776"/>
              </a:xfrm>
              <a:prstGeom prst="rect">
                <a:avLst/>
              </a:prstGeom>
              <a:blipFill>
                <a:blip r:embed="rId2"/>
                <a:stretch>
                  <a:fillRect l="-399" t="-20423" b="-168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18370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C11-4D5A-38CE-DD88-0F505FA1105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E4204B1-E0E9-011A-F811-C5E72BAE5B02}"/>
              </a:ext>
            </a:extLst>
          </p:cNvPr>
          <p:cNvSpPr>
            <a:spLocks noGrp="1"/>
          </p:cNvSpPr>
          <p:nvPr>
            <p:ph type="title" idx="1"/>
          </p:nvPr>
        </p:nvSpPr>
        <p:spPr/>
        <p:txBody>
          <a:bodyPr/>
          <a:lstStyle/>
          <a:p>
            <a:r>
              <a:rPr lang="zh-CN" altLang="en-US" dirty="0"/>
              <a:t>路径积分  </a:t>
            </a:r>
            <a:r>
              <a:rPr lang="en-US" altLang="zh-CN" dirty="0"/>
              <a:t>——  </a:t>
            </a:r>
            <a:r>
              <a:rPr lang="zh-CN" altLang="en-US" dirty="0"/>
              <a:t>蒙特卡洛估计 一般形式</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81D4598-C190-873A-1D70-A0B915F03662}"/>
                  </a:ext>
                </a:extLst>
              </p:cNvPr>
              <p:cNvSpPr txBox="1"/>
              <p:nvPr/>
            </p:nvSpPr>
            <p:spPr>
              <a:xfrm>
                <a:off x="987379" y="1281931"/>
                <a:ext cx="10217242" cy="4871142"/>
              </a:xfrm>
              <a:prstGeom prst="rect">
                <a:avLst/>
              </a:prstGeom>
              <a:noFill/>
            </p:spPr>
            <p:txBody>
              <a:bodyPr wrap="square">
                <a:spAutoFit/>
              </a:bodyPr>
              <a:lstStyle/>
              <a:p>
                <a:pPr/>
                <a14:m>
                  <m:oMathPara xmlns:m="http://schemas.openxmlformats.org/officeDocument/2006/math">
                    <m:o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5</m:t>
                          </m:r>
                        </m:sub>
                      </m:sSub>
                      <m:r>
                        <a:rPr lang="en-US" altLang="zh-CN" b="0" i="1" smtClean="0">
                          <a:latin typeface="Cambria Math" panose="02040503050406030204" pitchFamily="18" charset="0"/>
                        </a:rPr>
                        <m:t>=</m:t>
                      </m:r>
                      <m:nary>
                        <m:naryPr>
                          <m:supHide m:val="on"/>
                          <m:ctrlPr>
                            <a:rPr lang="zh-CN" altLang="en-US" b="0" i="1" dirty="0">
                              <a:latin typeface="Cambria Math" panose="02040503050406030204" pitchFamily="18" charset="0"/>
                            </a:rPr>
                          </m:ctrlPr>
                        </m:naryPr>
                        <m:sub>
                          <m:sSub>
                            <m:sSubPr>
                              <m:ctrlPr>
                                <a:rPr lang="zh-CN" altLang="en-US" b="0" i="1" dirty="0">
                                  <a:latin typeface="Cambria Math" panose="02040503050406030204" pitchFamily="18" charset="0"/>
                                </a:rPr>
                              </m:ctrlPr>
                            </m:sSubPr>
                            <m:e>
                              <m:r>
                                <a:rPr lang="zh-CN" altLang="en-US" b="0" i="1" dirty="0">
                                  <a:latin typeface="Cambria Math" panose="02040503050406030204" pitchFamily="18" charset="0"/>
                                </a:rPr>
                                <m:t>𝒫</m:t>
                              </m:r>
                            </m:e>
                            <m:sub>
                              <m:r>
                                <a:rPr lang="en-US" altLang="zh-CN" b="0" i="1" dirty="0" smtClean="0">
                                  <a:latin typeface="Cambria Math" panose="02040503050406030204" pitchFamily="18" charset="0"/>
                                </a:rPr>
                                <m:t>5</m:t>
                              </m:r>
                            </m:sub>
                          </m:sSub>
                        </m:sub>
                        <m:sup/>
                        <m:e>
                          <m:sSub>
                            <m:sSubPr>
                              <m:ctrlPr>
                                <a:rPr lang="en-US" altLang="zh-CN" b="0" i="0" smtClean="0">
                                  <a:latin typeface="Cambria Math" panose="02040503050406030204" pitchFamily="18" charset="0"/>
                                </a:rPr>
                              </m:ctrlPr>
                            </m:sSubPr>
                            <m:e>
                              <m:r>
                                <m:rPr>
                                  <m:sty m:val="p"/>
                                </m:rPr>
                                <a:rPr lang="en-US" altLang="zh-CN" b="0" i="0" smtClean="0">
                                  <a:latin typeface="Cambria Math" panose="02040503050406030204" pitchFamily="18" charset="0"/>
                                </a:rPr>
                                <m:t>Φ</m:t>
                              </m:r>
                            </m:e>
                            <m:sub>
                              <m:r>
                                <a:rPr lang="en-US" altLang="zh-CN" b="0" i="0" smtClean="0">
                                  <a:latin typeface="Cambria Math" panose="02040503050406030204" pitchFamily="18" charset="0"/>
                                </a:rPr>
                                <m:t>5</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𝑝</m:t>
                                      </m:r>
                                    </m:e>
                                  </m:acc>
                                </m:e>
                                <m:sub>
                                  <m:r>
                                    <a:rPr lang="en-US" altLang="zh-CN" b="0" i="1" smtClean="0">
                                      <a:latin typeface="Cambria Math" panose="02040503050406030204" pitchFamily="18" charset="0"/>
                                    </a:rPr>
                                    <m:t>5</m:t>
                                  </m:r>
                                </m:sub>
                              </m:sSub>
                            </m:e>
                          </m:d>
                        </m:e>
                      </m:nary>
                      <m:r>
                        <a:rPr lang="en-US" altLang="zh-CN" b="0" i="1" smtClean="0">
                          <a:latin typeface="Cambria Math" panose="02040503050406030204" pitchFamily="18" charset="0"/>
                        </a:rPr>
                        <m:t>𝑑</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𝜇</m:t>
                          </m:r>
                        </m:e>
                        <m:sub>
                          <m:r>
                            <a:rPr lang="en-US" altLang="zh-CN" b="0" i="1" smtClean="0">
                              <a:latin typeface="Cambria Math" panose="02040503050406030204" pitchFamily="18" charset="0"/>
                            </a:rPr>
                            <m:t>5</m:t>
                          </m:r>
                        </m:sub>
                      </m:sSub>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𝑝</m:t>
                                  </m:r>
                                </m:e>
                              </m:acc>
                            </m:e>
                            <m:sub>
                              <m:r>
                                <a:rPr lang="en-US" altLang="zh-CN" b="0" i="1" smtClean="0">
                                  <a:latin typeface="Cambria Math" panose="02040503050406030204" pitchFamily="18" charset="0"/>
                                </a:rPr>
                                <m:t>5</m:t>
                              </m:r>
                            </m:sub>
                          </m:sSub>
                        </m:e>
                      </m:d>
                    </m:oMath>
                    <m:oMath>
                      <m:r>
                        <a:rPr lang="en-US" altLang="zh-CN" b="1" i="1" smtClean="0">
                          <a:latin typeface="Cambria Math" panose="02040503050406030204" pitchFamily="18" charset="0"/>
                        </a:rPr>
                        <m:t>=</m:t>
                      </m:r>
                      <m:nary>
                        <m:naryPr>
                          <m:supHide m:val="on"/>
                          <m:ctrlPr>
                            <a:rPr lang="en-US" altLang="zh-CN" i="1" dirty="0">
                              <a:latin typeface="Cambria Math" panose="02040503050406030204" pitchFamily="18" charset="0"/>
                            </a:rPr>
                          </m:ctrlPr>
                        </m:naryPr>
                        <m:sub>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𝑆</m:t>
                              </m:r>
                            </m:e>
                            <m:sup>
                              <m:r>
                                <a:rPr lang="en-US" altLang="zh-CN" i="1" dirty="0">
                                  <a:latin typeface="Cambria Math" panose="02040503050406030204" pitchFamily="18" charset="0"/>
                                </a:rPr>
                                <m:t>2</m:t>
                              </m:r>
                            </m:sup>
                          </m:sSup>
                        </m:sub>
                        <m:sup/>
                        <m:e>
                          <m:nary>
                            <m:naryPr>
                              <m:supHide m:val="on"/>
                              <m:ctrlPr>
                                <a:rPr lang="en-US" altLang="zh-CN" i="1" dirty="0">
                                  <a:solidFill>
                                    <a:schemeClr val="accent2">
                                      <a:lumMod val="75000"/>
                                    </a:schemeClr>
                                  </a:solidFill>
                                  <a:latin typeface="Cambria Math" panose="02040503050406030204" pitchFamily="18" charset="0"/>
                                </a:rPr>
                              </m:ctrlPr>
                            </m:naryPr>
                            <m:sub>
                              <m:sSup>
                                <m:sSupPr>
                                  <m:ctrlPr>
                                    <a:rPr lang="en-US" altLang="zh-CN" i="1" dirty="0">
                                      <a:solidFill>
                                        <a:schemeClr val="accent2">
                                          <a:lumMod val="75000"/>
                                        </a:schemeClr>
                                      </a:solidFill>
                                      <a:latin typeface="Cambria Math" panose="02040503050406030204" pitchFamily="18" charset="0"/>
                                    </a:rPr>
                                  </m:ctrlPr>
                                </m:sSupPr>
                                <m:e>
                                  <m:r>
                                    <a:rPr lang="en-US" altLang="zh-CN" i="1" dirty="0">
                                      <a:solidFill>
                                        <a:schemeClr val="accent2">
                                          <a:lumMod val="75000"/>
                                        </a:schemeClr>
                                      </a:solidFill>
                                      <a:latin typeface="Cambria Math" panose="02040503050406030204" pitchFamily="18" charset="0"/>
                                    </a:rPr>
                                    <m:t>𝑆</m:t>
                                  </m:r>
                                </m:e>
                                <m:sup>
                                  <m:r>
                                    <a:rPr lang="en-US" altLang="zh-CN" i="1" dirty="0">
                                      <a:solidFill>
                                        <a:schemeClr val="accent2">
                                          <a:lumMod val="75000"/>
                                        </a:schemeClr>
                                      </a:solidFill>
                                      <a:latin typeface="Cambria Math" panose="02040503050406030204" pitchFamily="18" charset="0"/>
                                    </a:rPr>
                                    <m:t>2</m:t>
                                  </m:r>
                                </m:sup>
                              </m:sSup>
                            </m:sub>
                            <m:sup/>
                            <m:e>
                              <m:nary>
                                <m:naryPr>
                                  <m:supHide m:val="on"/>
                                  <m:ctrlPr>
                                    <a:rPr lang="en-US" altLang="zh-CN" i="1" dirty="0" smtClean="0">
                                      <a:solidFill>
                                        <a:schemeClr val="accent6">
                                          <a:lumMod val="50000"/>
                                        </a:schemeClr>
                                      </a:solidFill>
                                      <a:latin typeface="Cambria Math" panose="02040503050406030204" pitchFamily="18" charset="0"/>
                                    </a:rPr>
                                  </m:ctrlPr>
                                </m:naryPr>
                                <m:sub>
                                  <m:sSup>
                                    <m:sSupPr>
                                      <m:ctrlPr>
                                        <a:rPr lang="en-US" altLang="zh-CN" i="1" dirty="0" smtClean="0">
                                          <a:solidFill>
                                            <a:schemeClr val="accent6">
                                              <a:lumMod val="50000"/>
                                            </a:schemeClr>
                                          </a:solidFill>
                                          <a:latin typeface="Cambria Math" panose="02040503050406030204" pitchFamily="18" charset="0"/>
                                        </a:rPr>
                                      </m:ctrlPr>
                                    </m:sSupPr>
                                    <m:e>
                                      <m:r>
                                        <a:rPr lang="en-US" altLang="zh-CN" i="1" dirty="0" smtClean="0">
                                          <a:solidFill>
                                            <a:schemeClr val="accent6">
                                              <a:lumMod val="50000"/>
                                            </a:schemeClr>
                                          </a:solidFill>
                                          <a:latin typeface="Cambria Math" panose="02040503050406030204" pitchFamily="18" charset="0"/>
                                        </a:rPr>
                                        <m:t>𝑆</m:t>
                                      </m:r>
                                    </m:e>
                                    <m:sup>
                                      <m:r>
                                        <a:rPr lang="en-US" altLang="zh-CN" b="0" i="1" dirty="0" smtClean="0">
                                          <a:solidFill>
                                            <a:schemeClr val="accent6">
                                              <a:lumMod val="50000"/>
                                            </a:schemeClr>
                                          </a:solidFill>
                                          <a:latin typeface="Cambria Math" panose="02040503050406030204" pitchFamily="18" charset="0"/>
                                        </a:rPr>
                                        <m:t>2</m:t>
                                      </m:r>
                                    </m:sup>
                                  </m:sSup>
                                </m:sub>
                                <m:sup/>
                                <m:e>
                                  <m:nary>
                                    <m:naryPr>
                                      <m:supHide m:val="on"/>
                                      <m:ctrlPr>
                                        <a:rPr lang="en-US" altLang="zh-CN" b="0" i="1" dirty="0" smtClean="0">
                                          <a:solidFill>
                                            <a:srgbClr val="7030A0"/>
                                          </a:solidFill>
                                          <a:latin typeface="Cambria Math" panose="02040503050406030204" pitchFamily="18" charset="0"/>
                                        </a:rPr>
                                      </m:ctrlPr>
                                    </m:naryPr>
                                    <m:sub>
                                      <m:sSub>
                                        <m:sSubPr>
                                          <m:ctrlPr>
                                            <a:rPr lang="en-US" altLang="zh-CN" b="0" i="0" dirty="0" smtClean="0">
                                              <a:solidFill>
                                                <a:srgbClr val="7030A0"/>
                                              </a:solidFill>
                                              <a:latin typeface="Cambria Math" panose="02040503050406030204" pitchFamily="18" charset="0"/>
                                            </a:rPr>
                                          </m:ctrlPr>
                                        </m:sSubPr>
                                        <m:e>
                                          <m:r>
                                            <m:rPr>
                                              <m:sty m:val="p"/>
                                            </m:rPr>
                                            <a:rPr lang="en-US" altLang="zh-CN" b="0" i="0" dirty="0" smtClean="0">
                                              <a:solidFill>
                                                <a:srgbClr val="7030A0"/>
                                              </a:solidFill>
                                              <a:latin typeface="Cambria Math" panose="02040503050406030204" pitchFamily="18" charset="0"/>
                                            </a:rPr>
                                            <m:t>Ω</m:t>
                                          </m:r>
                                        </m:e>
                                        <m:sub>
                                          <m:r>
                                            <a:rPr lang="en-US" altLang="zh-CN" i="1" dirty="0">
                                              <a:solidFill>
                                                <a:srgbClr val="7030A0"/>
                                              </a:solidFill>
                                              <a:latin typeface="Cambria Math" panose="02040503050406030204" pitchFamily="18" charset="0"/>
                                            </a:rPr>
                                            <m:t>𝐸</m:t>
                                          </m:r>
                                        </m:sub>
                                      </m:sSub>
                                    </m:sub>
                                    <m:sup/>
                                    <m:e>
                                      <m:limLow>
                                        <m:limLowPr>
                                          <m:ctrlPr>
                                            <a:rPr lang="en-US" altLang="zh-CN" i="1" dirty="0">
                                              <a:latin typeface="Cambria Math" panose="02040503050406030204" pitchFamily="18" charset="0"/>
                                            </a:rPr>
                                          </m:ctrlPr>
                                        </m:limLowPr>
                                        <m:e>
                                          <m:groupChr>
                                            <m:groupChrPr>
                                              <m:chr m:val="⏟"/>
                                              <m:pos m:val="bot"/>
                                              <m:vertJc m:val="top"/>
                                              <m:ctrlPr>
                                                <a:rPr lang="en-US" altLang="zh-CN" i="1" dirty="0">
                                                  <a:latin typeface="Cambria Math" panose="02040503050406030204" pitchFamily="18" charset="0"/>
                                                </a:rPr>
                                              </m:ctrlPr>
                                            </m:groupChr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2</m:t>
                                                          </m:r>
                                                        </m:sub>
                                                      </m:sSub>
                                                    </m:e>
                                                  </m:func>
                                                </m:e>
                                              </m:d>
                                              <m:r>
                                                <a:rPr lang="en-US" altLang="zh-CN" i="1" dirty="0">
                                                  <a:solidFill>
                                                    <a:srgbClr val="7030A0"/>
                                                  </a:solidFill>
                                                  <a:latin typeface="Cambria Math" panose="02040503050406030204" pitchFamily="18" charset="0"/>
                                                </a:rPr>
                                                <m:t> </m:t>
                                              </m:r>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𝑓</m:t>
                                                  </m:r>
                                                </m:e>
                                                <m:sub>
                                                  <m:r>
                                                    <a:rPr lang="en-US" altLang="zh-CN" i="1" dirty="0">
                                                      <a:solidFill>
                                                        <a:schemeClr val="accent2">
                                                          <a:lumMod val="75000"/>
                                                        </a:schemeClr>
                                                      </a:solidFill>
                                                      <a:latin typeface="Cambria Math" panose="02040503050406030204" pitchFamily="18" charset="0"/>
                                                    </a:rPr>
                                                    <m:t>2</m:t>
                                                  </m:r>
                                                </m:sub>
                                              </m:sSub>
                                              <m:r>
                                                <a:rPr lang="en-US" altLang="zh-CN" i="1" dirty="0">
                                                  <a:solidFill>
                                                    <a:schemeClr val="accent2">
                                                      <a:lumMod val="75000"/>
                                                    </a:schemeClr>
                                                  </a:solidFill>
                                                  <a:latin typeface="Cambria Math" panose="02040503050406030204" pitchFamily="18" charset="0"/>
                                                </a:rPr>
                                                <m:t> </m:t>
                                              </m:r>
                                              <m:d>
                                                <m:dPr>
                                                  <m:begChr m:val="|"/>
                                                  <m:endChr m:val="|"/>
                                                  <m:ctrlPr>
                                                    <a:rPr lang="en-US" altLang="zh-CN" i="1" dirty="0">
                                                      <a:solidFill>
                                                        <a:schemeClr val="accent2">
                                                          <a:lumMod val="75000"/>
                                                        </a:schemeClr>
                                                      </a:solidFill>
                                                      <a:latin typeface="Cambria Math" panose="02040503050406030204" pitchFamily="18" charset="0"/>
                                                    </a:rPr>
                                                  </m:ctrlPr>
                                                </m:dPr>
                                                <m:e>
                                                  <m:func>
                                                    <m:funcPr>
                                                      <m:ctrlPr>
                                                        <a:rPr lang="en-US" altLang="zh-CN" dirty="0">
                                                          <a:solidFill>
                                                            <a:schemeClr val="accent2">
                                                              <a:lumMod val="75000"/>
                                                            </a:schemeClr>
                                                          </a:solidFill>
                                                          <a:latin typeface="Cambria Math" panose="02040503050406030204" pitchFamily="18" charset="0"/>
                                                        </a:rPr>
                                                      </m:ctrlPr>
                                                    </m:funcPr>
                                                    <m:fName>
                                                      <m:r>
                                                        <m:rPr>
                                                          <m:sty m:val="p"/>
                                                        </m:rPr>
                                                        <a:rPr lang="en-US" altLang="zh-CN" dirty="0">
                                                          <a:solidFill>
                                                            <a:schemeClr val="accent2">
                                                              <a:lumMod val="75000"/>
                                                            </a:schemeClr>
                                                          </a:solidFill>
                                                          <a:latin typeface="Cambria Math" panose="02040503050406030204" pitchFamily="18" charset="0"/>
                                                        </a:rPr>
                                                        <m:t>cos</m:t>
                                                      </m:r>
                                                    </m:fName>
                                                    <m:e>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𝜃</m:t>
                                                          </m:r>
                                                        </m:e>
                                                        <m:sub>
                                                          <m:r>
                                                            <a:rPr lang="en-US" altLang="zh-CN" i="1" dirty="0">
                                                              <a:solidFill>
                                                                <a:schemeClr val="accent2">
                                                                  <a:lumMod val="75000"/>
                                                                </a:schemeClr>
                                                              </a:solidFill>
                                                              <a:latin typeface="Cambria Math" panose="02040503050406030204" pitchFamily="18" charset="0"/>
                                                            </a:rPr>
                                                            <m:t>3</m:t>
                                                          </m:r>
                                                        </m:sub>
                                                      </m:sSub>
                                                    </m:e>
                                                  </m:func>
                                                </m:e>
                                              </m:d>
                                              <m:r>
                                                <a:rPr lang="en-US" altLang="zh-CN" i="1" dirty="0">
                                                  <a:solidFill>
                                                    <a:srgbClr val="7030A0"/>
                                                  </a:solidFill>
                                                  <a:latin typeface="Cambria Math" panose="02040503050406030204" pitchFamily="18" charset="0"/>
                                                </a:rPr>
                                                <m:t> </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𝑓</m:t>
                                                  </m:r>
                                                </m:e>
                                                <m:sub>
                                                  <m:r>
                                                    <a:rPr lang="en-US" altLang="zh-CN" i="1" dirty="0">
                                                      <a:solidFill>
                                                        <a:schemeClr val="accent6">
                                                          <a:lumMod val="50000"/>
                                                        </a:schemeClr>
                                                      </a:solidFill>
                                                      <a:latin typeface="Cambria Math" panose="02040503050406030204" pitchFamily="18" charset="0"/>
                                                    </a:rPr>
                                                    <m:t>3</m:t>
                                                  </m:r>
                                                </m:sub>
                                              </m:sSub>
                                              <m:r>
                                                <a:rPr lang="en-US" altLang="zh-CN" i="1" dirty="0">
                                                  <a:solidFill>
                                                    <a:schemeClr val="accent6">
                                                      <a:lumMod val="50000"/>
                                                    </a:schemeClr>
                                                  </a:solidFill>
                                                  <a:latin typeface="Cambria Math" panose="02040503050406030204" pitchFamily="18" charset="0"/>
                                                </a:rPr>
                                                <m:t> </m:t>
                                              </m:r>
                                              <m:d>
                                                <m:dPr>
                                                  <m:begChr m:val="|"/>
                                                  <m:endChr m:val="|"/>
                                                  <m:ctrlPr>
                                                    <a:rPr lang="en-US" altLang="zh-CN" i="1" dirty="0">
                                                      <a:solidFill>
                                                        <a:schemeClr val="accent6">
                                                          <a:lumMod val="50000"/>
                                                        </a:schemeClr>
                                                      </a:solidFill>
                                                      <a:latin typeface="Cambria Math" panose="02040503050406030204" pitchFamily="18" charset="0"/>
                                                    </a:rPr>
                                                  </m:ctrlPr>
                                                </m:dPr>
                                                <m:e>
                                                  <m:func>
                                                    <m:funcPr>
                                                      <m:ctrlPr>
                                                        <a:rPr lang="en-US" altLang="zh-CN" dirty="0">
                                                          <a:solidFill>
                                                            <a:schemeClr val="accent6">
                                                              <a:lumMod val="50000"/>
                                                            </a:schemeClr>
                                                          </a:solidFill>
                                                          <a:latin typeface="Cambria Math" panose="02040503050406030204" pitchFamily="18" charset="0"/>
                                                        </a:rPr>
                                                      </m:ctrlPr>
                                                    </m:funcPr>
                                                    <m:fName>
                                                      <m:r>
                                                        <m:rPr>
                                                          <m:sty m:val="p"/>
                                                        </m:rPr>
                                                        <a:rPr lang="en-US" altLang="zh-CN" dirty="0">
                                                          <a:solidFill>
                                                            <a:schemeClr val="accent6">
                                                              <a:lumMod val="50000"/>
                                                            </a:schemeClr>
                                                          </a:solidFill>
                                                          <a:latin typeface="Cambria Math" panose="02040503050406030204" pitchFamily="18" charset="0"/>
                                                        </a:rPr>
                                                        <m:t>cos</m:t>
                                                      </m:r>
                                                    </m:fName>
                                                    <m:e>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𝜃</m:t>
                                                          </m:r>
                                                        </m:e>
                                                        <m:sub>
                                                          <m:r>
                                                            <a:rPr lang="en-US" altLang="zh-CN" i="1" dirty="0">
                                                              <a:solidFill>
                                                                <a:schemeClr val="accent6">
                                                                  <a:lumMod val="50000"/>
                                                                </a:schemeClr>
                                                              </a:solidFill>
                                                              <a:latin typeface="Cambria Math" panose="02040503050406030204" pitchFamily="18" charset="0"/>
                                                            </a:rPr>
                                                            <m:t>4</m:t>
                                                          </m:r>
                                                        </m:sub>
                                                      </m:sSub>
                                                    </m:e>
                                                  </m:func>
                                                </m:e>
                                              </m:d>
                                            </m:e>
                                          </m:groupChr>
                                        </m:e>
                                        <m:lim>
                                          <m:eqArr>
                                            <m:eqArrPr>
                                              <m:ctrlPr>
                                                <a:rPr lang="en-US" altLang="zh-CN" i="1" dirty="0">
                                                  <a:latin typeface="Cambria Math" panose="02040503050406030204" pitchFamily="18" charset="0"/>
                                                </a:rPr>
                                              </m:ctrlPr>
                                            </m:eqArrPr>
                                            <m:e>
                                              <m:r>
                                                <a:rPr lang="en-US" altLang="zh-CN" i="1" dirty="0">
                                                  <a:latin typeface="Cambria Math" panose="02040503050406030204" pitchFamily="18" charset="0"/>
                                                </a:rPr>
                                                <m:t> </m:t>
                                              </m:r>
                                            </m:e>
                                            <m:e>
                                              <m:r>
                                                <a:rPr lang="en-US" altLang="zh-CN" i="1" dirty="0">
                                                  <a:latin typeface="Cambria Math" panose="02040503050406030204" pitchFamily="18" charset="0"/>
                                                </a:rPr>
                                                <m:t> </m:t>
                                              </m:r>
                                            </m:e>
                                            <m:e>
                                              <m:r>
                                                <a:rPr lang="en-US" altLang="zh-CN" i="1" dirty="0">
                                                  <a:latin typeface="Cambria Math" panose="02040503050406030204" pitchFamily="18" charset="0"/>
                                                </a:rPr>
                                                <m:t> </m:t>
                                              </m:r>
                                            </m:e>
                                            <m:e>
                                              <m:r>
                                                <a:rPr lang="zh-CN" altLang="en-US" i="1" dirty="0">
                                                  <a:latin typeface="Cambria Math" panose="02040503050406030204" pitchFamily="18" charset="0"/>
                                                </a:rPr>
                                                <m:t>三次方向散射</m:t>
                                              </m:r>
                                            </m:e>
                                          </m:eqArr>
                                        </m:lim>
                                      </m:limLow>
                                      <m:limLow>
                                        <m:limLowPr>
                                          <m:ctrlPr>
                                            <a:rPr lang="en-US" altLang="zh-CN" i="1" dirty="0">
                                              <a:solidFill>
                                                <a:srgbClr val="7030A0"/>
                                              </a:solidFill>
                                              <a:latin typeface="Cambria Math" panose="02040503050406030204" pitchFamily="18" charset="0"/>
                                            </a:rPr>
                                          </m:ctrlPr>
                                        </m:limLowPr>
                                        <m:e>
                                          <m:groupChr>
                                            <m:groupChrPr>
                                              <m:chr m:val="⏟"/>
                                              <m:pos m:val="bot"/>
                                              <m:vertJc m:val="top"/>
                                              <m:ctrlPr>
                                                <a:rPr lang="en-US" altLang="zh-CN" i="1" dirty="0">
                                                  <a:solidFill>
                                                    <a:srgbClr val="7030A0"/>
                                                  </a:solidFill>
                                                  <a:latin typeface="Cambria Math" panose="02040503050406030204" pitchFamily="18" charset="0"/>
                                                </a:rPr>
                                              </m:ctrlPr>
                                            </m:groupChrPr>
                                            <m:e>
                                              <m:sSub>
                                                <m:sSubPr>
                                                  <m:ctrlPr>
                                                    <a:rPr lang="en-US" altLang="zh-CN" i="1" dirty="0">
                                                      <a:solidFill>
                                                        <a:srgbClr val="7030A0"/>
                                                      </a:solidFill>
                                                      <a:latin typeface="Cambria Math" panose="02040503050406030204" pitchFamily="18" charset="0"/>
                                                    </a:rPr>
                                                  </m:ctrlPr>
                                                </m:sSubPr>
                                                <m:e>
                                                  <m:r>
                                                    <a:rPr lang="en-US" altLang="zh-CN" i="1" dirty="0">
                                                      <a:solidFill>
                                                        <a:srgbClr val="7030A0"/>
                                                      </a:solidFill>
                                                      <a:latin typeface="Cambria Math" panose="02040503050406030204" pitchFamily="18" charset="0"/>
                                                    </a:rPr>
                                                    <m:t>𝑓</m:t>
                                                  </m:r>
                                                </m:e>
                                                <m:sub>
                                                  <m:r>
                                                    <a:rPr lang="en-US" altLang="zh-CN" i="1" dirty="0">
                                                      <a:solidFill>
                                                        <a:srgbClr val="7030A0"/>
                                                      </a:solidFill>
                                                      <a:latin typeface="Cambria Math" panose="02040503050406030204" pitchFamily="18" charset="0"/>
                                                    </a:rPr>
                                                    <m:t>4</m:t>
                                                  </m:r>
                                                </m:sub>
                                              </m:sSub>
                                              <m:r>
                                                <a:rPr lang="en-US" altLang="zh-CN" i="1" dirty="0">
                                                  <a:solidFill>
                                                    <a:srgbClr val="7030A0"/>
                                                  </a:solidFill>
                                                  <a:latin typeface="Cambria Math" panose="02040503050406030204" pitchFamily="18" charset="0"/>
                                                </a:rPr>
                                                <m:t> </m:t>
                                              </m:r>
                                              <m:sSub>
                                                <m:sSubPr>
                                                  <m:ctrlPr>
                                                    <a:rPr lang="en-US" altLang="zh-CN" i="1" dirty="0" smtClean="0">
                                                      <a:solidFill>
                                                        <a:srgbClr val="7030A0"/>
                                                      </a:solidFill>
                                                      <a:latin typeface="Cambria Math" panose="02040503050406030204" pitchFamily="18" charset="0"/>
                                                    </a:rPr>
                                                  </m:ctrlPr>
                                                </m:sSubPr>
                                                <m:e>
                                                  <m:r>
                                                    <a:rPr lang="en-US" altLang="zh-CN" i="1" dirty="0" smtClean="0">
                                                      <a:solidFill>
                                                        <a:srgbClr val="7030A0"/>
                                                      </a:solidFill>
                                                      <a:latin typeface="Cambria Math" panose="02040503050406030204" pitchFamily="18" charset="0"/>
                                                    </a:rPr>
                                                    <m:t>𝐺</m:t>
                                                  </m:r>
                                                </m:e>
                                                <m:sub>
                                                  <m:r>
                                                    <a:rPr lang="en-US" altLang="zh-CN" i="1" dirty="0">
                                                      <a:solidFill>
                                                        <a:srgbClr val="7030A0"/>
                                                      </a:solidFill>
                                                      <a:latin typeface="Cambria Math" panose="02040503050406030204" pitchFamily="18" charset="0"/>
                                                    </a:rPr>
                                                    <m:t>4</m:t>
                                                  </m:r>
                                                </m:sub>
                                              </m:sSub>
                                              <m:r>
                                                <a:rPr lang="en-US" altLang="zh-CN" i="1" dirty="0">
                                                  <a:solidFill>
                                                    <a:srgbClr val="7030A0"/>
                                                  </a:solidFill>
                                                  <a:latin typeface="Cambria Math" panose="02040503050406030204" pitchFamily="18" charset="0"/>
                                                </a:rPr>
                                                <m:t> </m:t>
                                              </m:r>
                                              <m:sSub>
                                                <m:sSubPr>
                                                  <m:ctrlPr>
                                                    <a:rPr lang="en-US" altLang="zh-CN" i="1" dirty="0">
                                                      <a:solidFill>
                                                        <a:srgbClr val="008000"/>
                                                      </a:solidFill>
                                                      <a:latin typeface="Cambria Math" panose="02040503050406030204" pitchFamily="18" charset="0"/>
                                                    </a:rPr>
                                                  </m:ctrlPr>
                                                </m:sSubPr>
                                                <m:e>
                                                  <m:r>
                                                    <a:rPr lang="en-US" altLang="zh-CN" i="1" dirty="0">
                                                      <a:solidFill>
                                                        <a:srgbClr val="008000"/>
                                                      </a:solidFill>
                                                      <a:latin typeface="Cambria Math" panose="02040503050406030204" pitchFamily="18" charset="0"/>
                                                    </a:rPr>
                                                    <m:t>𝐿</m:t>
                                                  </m:r>
                                                </m:e>
                                                <m:sub>
                                                  <m:r>
                                                    <a:rPr lang="en-US" altLang="zh-CN" b="1" i="1" dirty="0">
                                                      <a:solidFill>
                                                        <a:srgbClr val="008000"/>
                                                      </a:solidFill>
                                                      <a:latin typeface="Cambria Math" panose="02040503050406030204" pitchFamily="18" charset="0"/>
                                                    </a:rPr>
                                                    <m:t>𝒆</m:t>
                                                  </m:r>
                                                </m:sub>
                                              </m:sSub>
                                              <m:d>
                                                <m:dPr>
                                                  <m:ctrlPr>
                                                    <a:rPr lang="en-US" altLang="zh-CN" b="1" i="1" dirty="0">
                                                      <a:solidFill>
                                                        <a:srgbClr val="008000"/>
                                                      </a:solidFill>
                                                      <a:latin typeface="Cambria Math" panose="02040503050406030204" pitchFamily="18" charset="0"/>
                                                    </a:rPr>
                                                  </m:ctrlPr>
                                                </m:dPr>
                                                <m:e>
                                                  <m:sSub>
                                                    <m:sSubPr>
                                                      <m:ctrlPr>
                                                        <a:rPr lang="en-US" altLang="zh-CN" b="1" i="1" dirty="0">
                                                          <a:solidFill>
                                                            <a:srgbClr val="008000"/>
                                                          </a:solidFill>
                                                          <a:latin typeface="Cambria Math" panose="02040503050406030204" pitchFamily="18" charset="0"/>
                                                        </a:rPr>
                                                      </m:ctrlPr>
                                                    </m:sSubPr>
                                                    <m:e>
                                                      <m:r>
                                                        <a:rPr lang="en-US" altLang="zh-CN" b="1" i="1" dirty="0">
                                                          <a:solidFill>
                                                            <a:srgbClr val="008000"/>
                                                          </a:solidFill>
                                                          <a:latin typeface="Cambria Math" panose="02040503050406030204" pitchFamily="18" charset="0"/>
                                                        </a:rPr>
                                                        <m:t>𝒑</m:t>
                                                      </m:r>
                                                    </m:e>
                                                    <m:sub>
                                                      <m:r>
                                                        <a:rPr lang="en-US" altLang="zh-CN" b="1" i="1" dirty="0">
                                                          <a:solidFill>
                                                            <a:srgbClr val="008000"/>
                                                          </a:solidFill>
                                                          <a:latin typeface="Cambria Math" panose="02040503050406030204" pitchFamily="18" charset="0"/>
                                                        </a:rPr>
                                                        <m:t>𝟓</m:t>
                                                      </m:r>
                                                    </m:sub>
                                                  </m:sSub>
                                                  <m:r>
                                                    <a:rPr lang="en-US" altLang="zh-CN" b="1" i="1" dirty="0">
                                                      <a:solidFill>
                                                        <a:srgbClr val="008000"/>
                                                      </a:solidFill>
                                                      <a:latin typeface="Cambria Math" panose="02040503050406030204" pitchFamily="18" charset="0"/>
                                                    </a:rPr>
                                                    <m:t>→</m:t>
                                                  </m:r>
                                                  <m:sSub>
                                                    <m:sSubPr>
                                                      <m:ctrlPr>
                                                        <a:rPr lang="en-US" altLang="zh-CN" b="1" i="1" dirty="0">
                                                          <a:solidFill>
                                                            <a:srgbClr val="008000"/>
                                                          </a:solidFill>
                                                          <a:latin typeface="Cambria Math" panose="02040503050406030204" pitchFamily="18" charset="0"/>
                                                        </a:rPr>
                                                      </m:ctrlPr>
                                                    </m:sSubPr>
                                                    <m:e>
                                                      <m:r>
                                                        <a:rPr lang="en-US" altLang="zh-CN" b="1" i="1" dirty="0">
                                                          <a:solidFill>
                                                            <a:srgbClr val="008000"/>
                                                          </a:solidFill>
                                                          <a:latin typeface="Cambria Math" panose="02040503050406030204" pitchFamily="18" charset="0"/>
                                                        </a:rPr>
                                                        <m:t>𝒑</m:t>
                                                      </m:r>
                                                    </m:e>
                                                    <m:sub>
                                                      <m:r>
                                                        <a:rPr lang="en-US" altLang="zh-CN" b="1" i="1" dirty="0">
                                                          <a:solidFill>
                                                            <a:srgbClr val="008000"/>
                                                          </a:solidFill>
                                                          <a:latin typeface="Cambria Math" panose="02040503050406030204" pitchFamily="18" charset="0"/>
                                                        </a:rPr>
                                                        <m:t>𝟒</m:t>
                                                      </m:r>
                                                    </m:sub>
                                                  </m:sSub>
                                                </m:e>
                                              </m:d>
                                            </m:e>
                                          </m:groupChr>
                                        </m:e>
                                        <m:lim>
                                          <m:eqArr>
                                            <m:eqArrPr>
                                              <m:ctrlPr>
                                                <a:rPr lang="en-US" altLang="zh-CN" b="0" i="1" dirty="0" smtClean="0">
                                                  <a:solidFill>
                                                    <a:schemeClr val="tx1"/>
                                                  </a:solidFill>
                                                  <a:latin typeface="Cambria Math" panose="02040503050406030204" pitchFamily="18" charset="0"/>
                                                </a:rPr>
                                              </m:ctrlPr>
                                            </m:eqArrPr>
                                            <m:e>
                                              <m:r>
                                                <a:rPr lang="en-US" altLang="zh-CN" b="0" i="1" dirty="0" smtClean="0">
                                                  <a:solidFill>
                                                    <a:schemeClr val="tx1"/>
                                                  </a:solidFill>
                                                  <a:latin typeface="Cambria Math" panose="02040503050406030204" pitchFamily="18" charset="0"/>
                                                </a:rPr>
                                                <m:t> </m:t>
                                              </m:r>
                                            </m:e>
                                            <m:e>
                                              <m:r>
                                                <a:rPr lang="en-US" altLang="zh-CN" b="0" i="1" dirty="0" smtClean="0">
                                                  <a:solidFill>
                                                    <a:schemeClr val="tx1"/>
                                                  </a:solidFill>
                                                  <a:latin typeface="Cambria Math" panose="02040503050406030204" pitchFamily="18" charset="0"/>
                                                </a:rPr>
                                                <m:t> </m:t>
                                              </m:r>
                                            </m:e>
                                            <m:e>
                                              <m:r>
                                                <a:rPr lang="en-US" altLang="zh-CN" b="0" i="1" dirty="0" smtClean="0">
                                                  <a:solidFill>
                                                    <a:schemeClr val="tx1"/>
                                                  </a:solidFill>
                                                  <a:latin typeface="Cambria Math" panose="02040503050406030204" pitchFamily="18" charset="0"/>
                                                </a:rPr>
                                                <m:t> </m:t>
                                              </m:r>
                                            </m:e>
                                            <m:e>
                                              <m:r>
                                                <a:rPr lang="zh-CN" altLang="en-US" i="1" dirty="0">
                                                  <a:latin typeface="Cambria Math" panose="02040503050406030204" pitchFamily="18" charset="0"/>
                                                </a:rPr>
                                                <m:t>连接光源</m:t>
                                              </m:r>
                                            </m:e>
                                          </m:eqArr>
                                        </m:lim>
                                      </m:limLow>
                                      <m:r>
                                        <a:rPr lang="en-US" altLang="zh-CN" i="1" dirty="0" smtClean="0">
                                          <a:solidFill>
                                            <a:srgbClr val="7030A0"/>
                                          </a:solidFill>
                                          <a:latin typeface="Cambria Math" panose="02040503050406030204" pitchFamily="18" charset="0"/>
                                        </a:rPr>
                                        <m:t>𝑑𝐴</m:t>
                                      </m:r>
                                      <m:d>
                                        <m:dPr>
                                          <m:ctrlPr>
                                            <a:rPr lang="en-US" altLang="zh-CN" b="1" i="1" dirty="0" smtClean="0">
                                              <a:solidFill>
                                                <a:srgbClr val="7030A0"/>
                                              </a:solidFill>
                                              <a:latin typeface="Cambria Math" panose="02040503050406030204" pitchFamily="18" charset="0"/>
                                            </a:rPr>
                                          </m:ctrlPr>
                                        </m:dPr>
                                        <m:e>
                                          <m:sSub>
                                            <m:sSubPr>
                                              <m:ctrlPr>
                                                <a:rPr lang="en-US" altLang="zh-CN" b="1" i="1" dirty="0" smtClean="0">
                                                  <a:solidFill>
                                                    <a:srgbClr val="7030A0"/>
                                                  </a:solidFill>
                                                  <a:latin typeface="Cambria Math" panose="02040503050406030204" pitchFamily="18" charset="0"/>
                                                </a:rPr>
                                              </m:ctrlPr>
                                            </m:sSubPr>
                                            <m:e>
                                              <m:r>
                                                <a:rPr lang="en-US" altLang="zh-CN" b="1" i="1" dirty="0" smtClean="0">
                                                  <a:solidFill>
                                                    <a:srgbClr val="7030A0"/>
                                                  </a:solidFill>
                                                  <a:latin typeface="Cambria Math" panose="02040503050406030204" pitchFamily="18" charset="0"/>
                                                </a:rPr>
                                                <m:t>𝒑</m:t>
                                              </m:r>
                                            </m:e>
                                            <m:sub>
                                              <m:r>
                                                <a:rPr lang="en-US" altLang="zh-CN" b="1" i="1" dirty="0" smtClean="0">
                                                  <a:solidFill>
                                                    <a:srgbClr val="7030A0"/>
                                                  </a:solidFill>
                                                  <a:latin typeface="Cambria Math" panose="02040503050406030204" pitchFamily="18" charset="0"/>
                                                </a:rPr>
                                                <m:t>𝟓</m:t>
                                              </m:r>
                                            </m:sub>
                                          </m:sSub>
                                        </m:e>
                                      </m:d>
                                    </m:e>
                                  </m:nary>
                                  <m:r>
                                    <a:rPr lang="en-US" altLang="zh-CN" i="1" dirty="0">
                                      <a:solidFill>
                                        <a:schemeClr val="accent6">
                                          <a:lumMod val="50000"/>
                                        </a:schemeClr>
                                      </a:solidFill>
                                      <a:latin typeface="Cambria Math" panose="02040503050406030204" pitchFamily="18" charset="0"/>
                                    </a:rPr>
                                    <m:t>𝑑</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𝜔</m:t>
                                      </m:r>
                                    </m:e>
                                    <m:sub>
                                      <m:r>
                                        <a:rPr lang="en-US" altLang="zh-CN" i="1" dirty="0">
                                          <a:solidFill>
                                            <a:schemeClr val="accent6">
                                              <a:lumMod val="50000"/>
                                            </a:schemeClr>
                                          </a:solidFill>
                                          <a:latin typeface="Cambria Math" panose="02040503050406030204" pitchFamily="18" charset="0"/>
                                        </a:rPr>
                                        <m:t>4</m:t>
                                      </m:r>
                                    </m:sub>
                                  </m:sSub>
                                </m:e>
                              </m:nary>
                              <m:r>
                                <a:rPr lang="en-US" altLang="zh-CN" i="1" dirty="0">
                                  <a:solidFill>
                                    <a:schemeClr val="accent2">
                                      <a:lumMod val="75000"/>
                                    </a:schemeClr>
                                  </a:solidFill>
                                  <a:latin typeface="Cambria Math" panose="02040503050406030204" pitchFamily="18" charset="0"/>
                                </a:rPr>
                                <m:t>𝑑</m:t>
                              </m:r>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𝜔</m:t>
                                  </m:r>
                                </m:e>
                                <m:sub>
                                  <m:r>
                                    <a:rPr lang="en-US" altLang="zh-CN" i="1" dirty="0">
                                      <a:solidFill>
                                        <a:schemeClr val="accent2">
                                          <a:lumMod val="75000"/>
                                        </a:schemeClr>
                                      </a:solidFill>
                                      <a:latin typeface="Cambria Math" panose="02040503050406030204" pitchFamily="18" charset="0"/>
                                    </a:rPr>
                                    <m:t>3</m:t>
                                  </m:r>
                                </m:sub>
                              </m:sSub>
                            </m:e>
                          </m:nary>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2</m:t>
                              </m:r>
                            </m:sub>
                          </m:sSub>
                        </m:e>
                      </m:nary>
                    </m:oMath>
                    <m:oMath>
                      <m:r>
                        <a:rPr lang="en-US" altLang="zh-CN" i="1" dirty="0" smtClean="0">
                          <a:latin typeface="Cambria Math" panose="02040503050406030204" pitchFamily="18" charset="0"/>
                          <a:ea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2</m:t>
                                      </m:r>
                                    </m:sub>
                                  </m:sSub>
                                </m:e>
                              </m:func>
                            </m:e>
                          </m:d>
                          <m:r>
                            <a:rPr lang="en-US" altLang="zh-CN" i="1" dirty="0">
                              <a:solidFill>
                                <a:srgbClr val="7030A0"/>
                              </a:solidFill>
                              <a:latin typeface="Cambria Math" panose="02040503050406030204" pitchFamily="18" charset="0"/>
                            </a:rPr>
                            <m:t> </m:t>
                          </m:r>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𝑓</m:t>
                              </m:r>
                            </m:e>
                            <m:sub>
                              <m:r>
                                <a:rPr lang="en-US" altLang="zh-CN" i="1" dirty="0">
                                  <a:solidFill>
                                    <a:schemeClr val="accent2">
                                      <a:lumMod val="75000"/>
                                    </a:schemeClr>
                                  </a:solidFill>
                                  <a:latin typeface="Cambria Math" panose="02040503050406030204" pitchFamily="18" charset="0"/>
                                </a:rPr>
                                <m:t>2</m:t>
                              </m:r>
                            </m:sub>
                          </m:sSub>
                          <m:r>
                            <a:rPr lang="en-US" altLang="zh-CN" i="1" dirty="0">
                              <a:solidFill>
                                <a:schemeClr val="accent2">
                                  <a:lumMod val="75000"/>
                                </a:schemeClr>
                              </a:solidFill>
                              <a:latin typeface="Cambria Math" panose="02040503050406030204" pitchFamily="18" charset="0"/>
                            </a:rPr>
                            <m:t> </m:t>
                          </m:r>
                          <m:d>
                            <m:dPr>
                              <m:begChr m:val="|"/>
                              <m:endChr m:val="|"/>
                              <m:ctrlPr>
                                <a:rPr lang="en-US" altLang="zh-CN" i="1" dirty="0">
                                  <a:solidFill>
                                    <a:schemeClr val="accent2">
                                      <a:lumMod val="75000"/>
                                    </a:schemeClr>
                                  </a:solidFill>
                                  <a:latin typeface="Cambria Math" panose="02040503050406030204" pitchFamily="18" charset="0"/>
                                </a:rPr>
                              </m:ctrlPr>
                            </m:dPr>
                            <m:e>
                              <m:func>
                                <m:funcPr>
                                  <m:ctrlPr>
                                    <a:rPr lang="en-US" altLang="zh-CN" dirty="0">
                                      <a:solidFill>
                                        <a:schemeClr val="accent2">
                                          <a:lumMod val="75000"/>
                                        </a:schemeClr>
                                      </a:solidFill>
                                      <a:latin typeface="Cambria Math" panose="02040503050406030204" pitchFamily="18" charset="0"/>
                                    </a:rPr>
                                  </m:ctrlPr>
                                </m:funcPr>
                                <m:fName>
                                  <m:r>
                                    <m:rPr>
                                      <m:sty m:val="p"/>
                                    </m:rPr>
                                    <a:rPr lang="en-US" altLang="zh-CN" dirty="0">
                                      <a:solidFill>
                                        <a:schemeClr val="accent2">
                                          <a:lumMod val="75000"/>
                                        </a:schemeClr>
                                      </a:solidFill>
                                      <a:latin typeface="Cambria Math" panose="02040503050406030204" pitchFamily="18" charset="0"/>
                                    </a:rPr>
                                    <m:t>cos</m:t>
                                  </m:r>
                                </m:fName>
                                <m:e>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𝜃</m:t>
                                      </m:r>
                                    </m:e>
                                    <m:sub>
                                      <m:r>
                                        <a:rPr lang="en-US" altLang="zh-CN" i="1" dirty="0">
                                          <a:solidFill>
                                            <a:schemeClr val="accent2">
                                              <a:lumMod val="75000"/>
                                            </a:schemeClr>
                                          </a:solidFill>
                                          <a:latin typeface="Cambria Math" panose="02040503050406030204" pitchFamily="18" charset="0"/>
                                        </a:rPr>
                                        <m:t>3</m:t>
                                      </m:r>
                                    </m:sub>
                                  </m:sSub>
                                </m:e>
                              </m:func>
                            </m:e>
                          </m:d>
                          <m:r>
                            <a:rPr lang="en-US" altLang="zh-CN" i="1" dirty="0">
                              <a:solidFill>
                                <a:srgbClr val="7030A0"/>
                              </a:solidFill>
                              <a:latin typeface="Cambria Math" panose="02040503050406030204" pitchFamily="18" charset="0"/>
                            </a:rPr>
                            <m:t> </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𝑓</m:t>
                              </m:r>
                            </m:e>
                            <m:sub>
                              <m:r>
                                <a:rPr lang="en-US" altLang="zh-CN" i="1" dirty="0">
                                  <a:solidFill>
                                    <a:schemeClr val="accent6">
                                      <a:lumMod val="50000"/>
                                    </a:schemeClr>
                                  </a:solidFill>
                                  <a:latin typeface="Cambria Math" panose="02040503050406030204" pitchFamily="18" charset="0"/>
                                </a:rPr>
                                <m:t>3</m:t>
                              </m:r>
                            </m:sub>
                          </m:sSub>
                          <m:r>
                            <a:rPr lang="en-US" altLang="zh-CN" i="1" dirty="0">
                              <a:solidFill>
                                <a:schemeClr val="accent6">
                                  <a:lumMod val="50000"/>
                                </a:schemeClr>
                              </a:solidFill>
                              <a:latin typeface="Cambria Math" panose="02040503050406030204" pitchFamily="18" charset="0"/>
                            </a:rPr>
                            <m:t> </m:t>
                          </m:r>
                          <m:d>
                            <m:dPr>
                              <m:begChr m:val="|"/>
                              <m:endChr m:val="|"/>
                              <m:ctrlPr>
                                <a:rPr lang="en-US" altLang="zh-CN" i="1" dirty="0">
                                  <a:solidFill>
                                    <a:schemeClr val="accent6">
                                      <a:lumMod val="50000"/>
                                    </a:schemeClr>
                                  </a:solidFill>
                                  <a:latin typeface="Cambria Math" panose="02040503050406030204" pitchFamily="18" charset="0"/>
                                </a:rPr>
                              </m:ctrlPr>
                            </m:dPr>
                            <m:e>
                              <m:func>
                                <m:funcPr>
                                  <m:ctrlPr>
                                    <a:rPr lang="en-US" altLang="zh-CN" dirty="0">
                                      <a:solidFill>
                                        <a:schemeClr val="accent6">
                                          <a:lumMod val="50000"/>
                                        </a:schemeClr>
                                      </a:solidFill>
                                      <a:latin typeface="Cambria Math" panose="02040503050406030204" pitchFamily="18" charset="0"/>
                                    </a:rPr>
                                  </m:ctrlPr>
                                </m:funcPr>
                                <m:fName>
                                  <m:r>
                                    <m:rPr>
                                      <m:sty m:val="p"/>
                                    </m:rPr>
                                    <a:rPr lang="en-US" altLang="zh-CN" dirty="0">
                                      <a:solidFill>
                                        <a:schemeClr val="accent6">
                                          <a:lumMod val="50000"/>
                                        </a:schemeClr>
                                      </a:solidFill>
                                      <a:latin typeface="Cambria Math" panose="02040503050406030204" pitchFamily="18" charset="0"/>
                                    </a:rPr>
                                    <m:t>cos</m:t>
                                  </m:r>
                                </m:fName>
                                <m:e>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𝜃</m:t>
                                      </m:r>
                                    </m:e>
                                    <m:sub>
                                      <m:r>
                                        <a:rPr lang="en-US" altLang="zh-CN" i="1" dirty="0">
                                          <a:solidFill>
                                            <a:schemeClr val="accent6">
                                              <a:lumMod val="50000"/>
                                            </a:schemeClr>
                                          </a:solidFill>
                                          <a:latin typeface="Cambria Math" panose="02040503050406030204" pitchFamily="18" charset="0"/>
                                        </a:rPr>
                                        <m:t>4</m:t>
                                      </m:r>
                                    </m:sub>
                                  </m:sSub>
                                </m:e>
                              </m:func>
                            </m:e>
                          </m:d>
                        </m:num>
                        <m:den>
                          <m:sSub>
                            <m:sSubPr>
                              <m:ctrlPr>
                                <a:rPr lang="en-US" altLang="zh-CN" i="1" dirty="0">
                                  <a:solidFill>
                                    <a:schemeClr val="tx1"/>
                                  </a:solidFill>
                                  <a:latin typeface="Cambria Math" panose="02040503050406030204" pitchFamily="18" charset="0"/>
                                </a:rPr>
                              </m:ctrlPr>
                            </m:sSub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𝑝𝑑𝑓</m:t>
                                  </m:r>
                                </m:e>
                                <m:sub>
                                  <m:r>
                                    <a:rPr lang="en-US" altLang="zh-CN" i="1" dirty="0">
                                      <a:solidFill>
                                        <a:schemeClr val="tx1"/>
                                      </a:solidFill>
                                      <a:latin typeface="Cambria Math" panose="02040503050406030204" pitchFamily="18" charset="0"/>
                                    </a:rPr>
                                    <m:t>𝑏𝑠𝑑𝑓</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2</m:t>
                                      </m:r>
                                    </m:sub>
                                  </m:sSub>
                                </m:e>
                              </m:d>
                              <m:r>
                                <a:rPr lang="en-US" altLang="zh-CN" b="0" i="1" dirty="0" smtClean="0">
                                  <a:solidFill>
                                    <a:schemeClr val="tx1"/>
                                  </a:solidFill>
                                  <a:latin typeface="Cambria Math" panose="02040503050406030204" pitchFamily="18" charset="0"/>
                                </a:rPr>
                                <m:t> </m:t>
                              </m:r>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𝑝𝑑𝑓</m:t>
                                  </m:r>
                                </m:e>
                                <m:sub>
                                  <m:r>
                                    <a:rPr lang="en-US" altLang="zh-CN" i="1" dirty="0">
                                      <a:solidFill>
                                        <a:schemeClr val="accent2">
                                          <a:lumMod val="75000"/>
                                        </a:schemeClr>
                                      </a:solidFill>
                                      <a:latin typeface="Cambria Math" panose="02040503050406030204" pitchFamily="18" charset="0"/>
                                    </a:rPr>
                                    <m:t>𝑏𝑠𝑑𝑓</m:t>
                                  </m:r>
                                </m:sub>
                              </m:sSub>
                              <m:d>
                                <m:dPr>
                                  <m:ctrlPr>
                                    <a:rPr lang="en-US" altLang="zh-CN" i="1" dirty="0">
                                      <a:solidFill>
                                        <a:schemeClr val="accent2">
                                          <a:lumMod val="75000"/>
                                        </a:schemeClr>
                                      </a:solidFill>
                                      <a:latin typeface="Cambria Math" panose="02040503050406030204" pitchFamily="18" charset="0"/>
                                    </a:rPr>
                                  </m:ctrlPr>
                                </m:dPr>
                                <m:e>
                                  <m:sSub>
                                    <m:sSubPr>
                                      <m:ctrlPr>
                                        <a:rPr lang="en-US" altLang="zh-CN" i="1" dirty="0">
                                          <a:solidFill>
                                            <a:schemeClr val="accent2">
                                              <a:lumMod val="75000"/>
                                            </a:schemeClr>
                                          </a:solidFill>
                                          <a:latin typeface="Cambria Math" panose="02040503050406030204" pitchFamily="18" charset="0"/>
                                        </a:rPr>
                                      </m:ctrlPr>
                                    </m:sSubPr>
                                    <m:e>
                                      <m:r>
                                        <a:rPr lang="en-US" altLang="zh-CN" i="1" dirty="0">
                                          <a:solidFill>
                                            <a:schemeClr val="accent2">
                                              <a:lumMod val="75000"/>
                                            </a:schemeClr>
                                          </a:solidFill>
                                          <a:latin typeface="Cambria Math" panose="02040503050406030204" pitchFamily="18" charset="0"/>
                                        </a:rPr>
                                        <m:t>𝜔</m:t>
                                      </m:r>
                                    </m:e>
                                    <m:sub>
                                      <m:r>
                                        <a:rPr lang="en-US" altLang="zh-CN" b="0" i="1" dirty="0" smtClean="0">
                                          <a:solidFill>
                                            <a:schemeClr val="accent2">
                                              <a:lumMod val="75000"/>
                                            </a:schemeClr>
                                          </a:solidFill>
                                          <a:latin typeface="Cambria Math" panose="02040503050406030204" pitchFamily="18" charset="0"/>
                                        </a:rPr>
                                        <m:t>3</m:t>
                                      </m:r>
                                    </m:sub>
                                  </m:sSub>
                                </m:e>
                              </m:d>
                              <m:r>
                                <a:rPr lang="en-US" altLang="zh-CN" b="0" i="1" dirty="0" smtClean="0">
                                  <a:solidFill>
                                    <a:schemeClr val="accent6">
                                      <a:lumMod val="50000"/>
                                    </a:schemeClr>
                                  </a:solidFill>
                                  <a:latin typeface="Cambria Math" panose="02040503050406030204" pitchFamily="18" charset="0"/>
                                </a:rPr>
                                <m:t> </m:t>
                              </m:r>
                              <m:r>
                                <a:rPr lang="en-US" altLang="zh-CN" b="0" i="1" dirty="0" smtClean="0">
                                  <a:solidFill>
                                    <a:schemeClr val="accent6">
                                      <a:lumMod val="50000"/>
                                    </a:schemeClr>
                                  </a:solidFill>
                                  <a:latin typeface="Cambria Math" panose="02040503050406030204" pitchFamily="18" charset="0"/>
                                </a:rPr>
                                <m:t>𝑝𝑑𝑓</m:t>
                              </m:r>
                            </m:e>
                            <m:sub>
                              <m:r>
                                <a:rPr lang="en-US" altLang="zh-CN" b="0" i="1" dirty="0" smtClean="0">
                                  <a:solidFill>
                                    <a:schemeClr val="accent6">
                                      <a:lumMod val="50000"/>
                                    </a:schemeClr>
                                  </a:solidFill>
                                  <a:latin typeface="Cambria Math" panose="02040503050406030204" pitchFamily="18" charset="0"/>
                                </a:rPr>
                                <m:t>𝑏𝑠𝑑𝑓</m:t>
                              </m:r>
                            </m:sub>
                          </m:sSub>
                          <m:d>
                            <m:dPr>
                              <m:ctrlPr>
                                <a:rPr lang="en-US" altLang="zh-CN" b="0" i="1" dirty="0" smtClean="0">
                                  <a:solidFill>
                                    <a:schemeClr val="accent6">
                                      <a:lumMod val="50000"/>
                                    </a:schemeClr>
                                  </a:solidFill>
                                  <a:latin typeface="Cambria Math" panose="02040503050406030204" pitchFamily="18" charset="0"/>
                                </a:rPr>
                              </m:ctrlPr>
                            </m:dPr>
                            <m:e>
                              <m:sSub>
                                <m:sSubPr>
                                  <m:ctrlPr>
                                    <a:rPr lang="en-US" altLang="zh-CN" b="0" i="1" dirty="0" smtClean="0">
                                      <a:solidFill>
                                        <a:schemeClr val="accent6">
                                          <a:lumMod val="50000"/>
                                        </a:schemeClr>
                                      </a:solidFill>
                                      <a:latin typeface="Cambria Math" panose="02040503050406030204" pitchFamily="18" charset="0"/>
                                    </a:rPr>
                                  </m:ctrlPr>
                                </m:sSubPr>
                                <m:e>
                                  <m:r>
                                    <a:rPr lang="en-US" altLang="zh-CN" b="0" i="1" dirty="0" smtClean="0">
                                      <a:solidFill>
                                        <a:schemeClr val="accent6">
                                          <a:lumMod val="50000"/>
                                        </a:schemeClr>
                                      </a:solidFill>
                                      <a:latin typeface="Cambria Math" panose="02040503050406030204" pitchFamily="18" charset="0"/>
                                    </a:rPr>
                                    <m:t>𝜔</m:t>
                                  </m:r>
                                </m:e>
                                <m:sub>
                                  <m:r>
                                    <a:rPr lang="en-US" altLang="zh-CN" b="0" i="1" dirty="0" smtClean="0">
                                      <a:solidFill>
                                        <a:schemeClr val="accent6">
                                          <a:lumMod val="50000"/>
                                        </a:schemeClr>
                                      </a:solidFill>
                                      <a:latin typeface="Cambria Math" panose="02040503050406030204" pitchFamily="18" charset="0"/>
                                    </a:rPr>
                                    <m:t>4</m:t>
                                  </m:r>
                                </m:sub>
                              </m:sSub>
                            </m:e>
                          </m:d>
                        </m:den>
                      </m:f>
                      <m:nary>
                        <m:naryPr>
                          <m:supHide m:val="on"/>
                          <m:ctrlPr>
                            <a:rPr lang="en-US" altLang="zh-CN" b="0" i="1" dirty="0" smtClean="0">
                              <a:solidFill>
                                <a:srgbClr val="7030A0"/>
                              </a:solidFill>
                              <a:latin typeface="Cambria Math" panose="02040503050406030204" pitchFamily="18" charset="0"/>
                            </a:rPr>
                          </m:ctrlPr>
                        </m:naryPr>
                        <m:sub>
                          <m:sSub>
                            <m:sSubPr>
                              <m:ctrlPr>
                                <a:rPr lang="en-US" altLang="zh-CN" b="0" i="0" dirty="0" smtClean="0">
                                  <a:solidFill>
                                    <a:srgbClr val="7030A0"/>
                                  </a:solidFill>
                                  <a:latin typeface="Cambria Math" panose="02040503050406030204" pitchFamily="18" charset="0"/>
                                </a:rPr>
                              </m:ctrlPr>
                            </m:sSubPr>
                            <m:e>
                              <m:r>
                                <m:rPr>
                                  <m:sty m:val="p"/>
                                </m:rPr>
                                <a:rPr lang="en-US" altLang="zh-CN" b="0" i="0" dirty="0" smtClean="0">
                                  <a:solidFill>
                                    <a:srgbClr val="7030A0"/>
                                  </a:solidFill>
                                  <a:latin typeface="Cambria Math" panose="02040503050406030204" pitchFamily="18" charset="0"/>
                                </a:rPr>
                                <m:t>Ω</m:t>
                              </m:r>
                            </m:e>
                            <m:sub>
                              <m:r>
                                <a:rPr lang="en-US" altLang="zh-CN" i="1" dirty="0">
                                  <a:solidFill>
                                    <a:srgbClr val="7030A0"/>
                                  </a:solidFill>
                                  <a:latin typeface="Cambria Math" panose="02040503050406030204" pitchFamily="18" charset="0"/>
                                </a:rPr>
                                <m:t>𝐸</m:t>
                              </m:r>
                            </m:sub>
                          </m:sSub>
                        </m:sub>
                        <m:sup/>
                        <m:e>
                          <m:sSub>
                            <m:sSubPr>
                              <m:ctrlPr>
                                <a:rPr lang="en-US" altLang="zh-CN" i="1" dirty="0">
                                  <a:solidFill>
                                    <a:srgbClr val="7030A0"/>
                                  </a:solidFill>
                                  <a:latin typeface="Cambria Math" panose="02040503050406030204" pitchFamily="18" charset="0"/>
                                </a:rPr>
                              </m:ctrlPr>
                            </m:sSubPr>
                            <m:e>
                              <m:r>
                                <a:rPr lang="en-US" altLang="zh-CN" i="1" dirty="0">
                                  <a:solidFill>
                                    <a:srgbClr val="7030A0"/>
                                  </a:solidFill>
                                  <a:latin typeface="Cambria Math" panose="02040503050406030204" pitchFamily="18" charset="0"/>
                                </a:rPr>
                                <m:t>𝑓</m:t>
                              </m:r>
                            </m:e>
                            <m:sub>
                              <m:r>
                                <a:rPr lang="en-US" altLang="zh-CN" i="1" dirty="0">
                                  <a:solidFill>
                                    <a:srgbClr val="7030A0"/>
                                  </a:solidFill>
                                  <a:latin typeface="Cambria Math" panose="02040503050406030204" pitchFamily="18" charset="0"/>
                                </a:rPr>
                                <m:t>4</m:t>
                              </m:r>
                            </m:sub>
                          </m:sSub>
                          <m:r>
                            <a:rPr lang="en-US" altLang="zh-CN" b="0" i="1" dirty="0" smtClean="0">
                              <a:solidFill>
                                <a:srgbClr val="7030A0"/>
                              </a:solidFill>
                              <a:latin typeface="Cambria Math" panose="02040503050406030204" pitchFamily="18" charset="0"/>
                            </a:rPr>
                            <m:t> </m:t>
                          </m:r>
                          <m:sSub>
                            <m:sSubPr>
                              <m:ctrlPr>
                                <a:rPr lang="en-US" altLang="zh-CN" b="0" i="1" dirty="0" smtClean="0">
                                  <a:solidFill>
                                    <a:srgbClr val="7030A0"/>
                                  </a:solidFill>
                                  <a:latin typeface="Cambria Math" panose="02040503050406030204" pitchFamily="18" charset="0"/>
                                </a:rPr>
                              </m:ctrlPr>
                            </m:sSubPr>
                            <m:e>
                              <m:r>
                                <a:rPr lang="en-US" altLang="zh-CN" b="0" i="1" dirty="0" smtClean="0">
                                  <a:solidFill>
                                    <a:srgbClr val="7030A0"/>
                                  </a:solidFill>
                                  <a:latin typeface="Cambria Math" panose="02040503050406030204" pitchFamily="18" charset="0"/>
                                </a:rPr>
                                <m:t>𝑉</m:t>
                              </m:r>
                            </m:e>
                            <m:sub>
                              <m:r>
                                <a:rPr lang="en-US" altLang="zh-CN" b="0" i="1" dirty="0" smtClean="0">
                                  <a:solidFill>
                                    <a:srgbClr val="7030A0"/>
                                  </a:solidFill>
                                  <a:latin typeface="Cambria Math" panose="02040503050406030204" pitchFamily="18" charset="0"/>
                                </a:rPr>
                                <m:t>4</m:t>
                              </m:r>
                            </m:sub>
                          </m:sSub>
                          <m:r>
                            <a:rPr lang="en-US" altLang="zh-CN" b="0" i="1" dirty="0" smtClean="0">
                              <a:solidFill>
                                <a:srgbClr val="7030A0"/>
                              </a:solidFill>
                              <a:latin typeface="Cambria Math" panose="02040503050406030204" pitchFamily="18" charset="0"/>
                            </a:rPr>
                            <m:t> </m:t>
                          </m:r>
                          <m:d>
                            <m:dPr>
                              <m:begChr m:val="|"/>
                              <m:endChr m:val="|"/>
                              <m:ctrlPr>
                                <a:rPr lang="en-US" altLang="zh-CN" i="1" dirty="0">
                                  <a:solidFill>
                                    <a:schemeClr val="accent3">
                                      <a:lumMod val="75000"/>
                                    </a:schemeClr>
                                  </a:solidFill>
                                  <a:latin typeface="Cambria Math" panose="02040503050406030204" pitchFamily="18" charset="0"/>
                                </a:rPr>
                              </m:ctrlPr>
                            </m:dPr>
                            <m:e>
                              <m:func>
                                <m:funcPr>
                                  <m:ctrlPr>
                                    <a:rPr lang="en-US" altLang="zh-CN" dirty="0">
                                      <a:solidFill>
                                        <a:schemeClr val="accent3">
                                          <a:lumMod val="75000"/>
                                        </a:schemeClr>
                                      </a:solidFill>
                                      <a:latin typeface="Cambria Math" panose="02040503050406030204" pitchFamily="18" charset="0"/>
                                    </a:rPr>
                                  </m:ctrlPr>
                                </m:funcPr>
                                <m:fName>
                                  <m:r>
                                    <m:rPr>
                                      <m:sty m:val="p"/>
                                    </m:rPr>
                                    <a:rPr lang="en-US" altLang="zh-CN" dirty="0">
                                      <a:solidFill>
                                        <a:schemeClr val="accent3">
                                          <a:lumMod val="75000"/>
                                        </a:schemeClr>
                                      </a:solidFill>
                                      <a:latin typeface="Cambria Math" panose="02040503050406030204" pitchFamily="18" charset="0"/>
                                    </a:rPr>
                                    <m:t>cos</m:t>
                                  </m:r>
                                </m:fName>
                                <m:e>
                                  <m:sSub>
                                    <m:sSubPr>
                                      <m:ctrlPr>
                                        <a:rPr lang="en-US" altLang="zh-CN" i="1" dirty="0">
                                          <a:solidFill>
                                            <a:schemeClr val="accent3">
                                              <a:lumMod val="75000"/>
                                            </a:schemeClr>
                                          </a:solidFill>
                                          <a:latin typeface="Cambria Math" panose="02040503050406030204" pitchFamily="18" charset="0"/>
                                        </a:rPr>
                                      </m:ctrlPr>
                                    </m:sSubPr>
                                    <m:e>
                                      <m:r>
                                        <a:rPr lang="en-US" altLang="zh-CN" i="1" dirty="0">
                                          <a:solidFill>
                                            <a:schemeClr val="accent3">
                                              <a:lumMod val="75000"/>
                                            </a:schemeClr>
                                          </a:solidFill>
                                          <a:latin typeface="Cambria Math" panose="02040503050406030204" pitchFamily="18" charset="0"/>
                                        </a:rPr>
                                        <m:t>𝜃</m:t>
                                      </m:r>
                                    </m:e>
                                    <m:sub>
                                      <m:r>
                                        <a:rPr lang="en-US" altLang="zh-CN" i="1" dirty="0">
                                          <a:solidFill>
                                            <a:schemeClr val="accent3">
                                              <a:lumMod val="75000"/>
                                            </a:schemeClr>
                                          </a:solidFill>
                                          <a:latin typeface="Cambria Math" panose="02040503050406030204" pitchFamily="18" charset="0"/>
                                        </a:rPr>
                                        <m:t>5</m:t>
                                      </m:r>
                                    </m:sub>
                                  </m:sSub>
                                </m:e>
                              </m:func>
                            </m:e>
                          </m:d>
                          <m:r>
                            <a:rPr lang="en-US" altLang="zh-CN" i="1" dirty="0">
                              <a:solidFill>
                                <a:schemeClr val="accent3">
                                  <a:lumMod val="75000"/>
                                </a:schemeClr>
                              </a:solidFill>
                              <a:latin typeface="Cambria Math" panose="02040503050406030204" pitchFamily="18" charset="0"/>
                            </a:rPr>
                            <m:t> </m:t>
                          </m:r>
                          <m:sSub>
                            <m:sSubPr>
                              <m:ctrlPr>
                                <a:rPr lang="en-US" altLang="zh-CN" i="1" dirty="0">
                                  <a:solidFill>
                                    <a:srgbClr val="008000"/>
                                  </a:solidFill>
                                  <a:latin typeface="Cambria Math" panose="02040503050406030204" pitchFamily="18" charset="0"/>
                                </a:rPr>
                              </m:ctrlPr>
                            </m:sSubPr>
                            <m:e>
                              <m:r>
                                <a:rPr lang="en-US" altLang="zh-CN" i="1" dirty="0">
                                  <a:solidFill>
                                    <a:srgbClr val="008000"/>
                                  </a:solidFill>
                                  <a:latin typeface="Cambria Math" panose="02040503050406030204" pitchFamily="18" charset="0"/>
                                </a:rPr>
                                <m:t>𝐿</m:t>
                              </m:r>
                            </m:e>
                            <m:sub>
                              <m:r>
                                <a:rPr lang="en-US" altLang="zh-CN" b="1" i="1" dirty="0">
                                  <a:solidFill>
                                    <a:srgbClr val="008000"/>
                                  </a:solidFill>
                                  <a:latin typeface="Cambria Math" panose="02040503050406030204" pitchFamily="18" charset="0"/>
                                </a:rPr>
                                <m:t>𝒆</m:t>
                              </m:r>
                            </m:sub>
                          </m:sSub>
                          <m:d>
                            <m:dPr>
                              <m:ctrlPr>
                                <a:rPr lang="en-US" altLang="zh-CN" b="1" i="1" dirty="0">
                                  <a:solidFill>
                                    <a:srgbClr val="008000"/>
                                  </a:solidFill>
                                  <a:latin typeface="Cambria Math" panose="02040503050406030204" pitchFamily="18" charset="0"/>
                                </a:rPr>
                              </m:ctrlPr>
                            </m:dPr>
                            <m:e>
                              <m:sSub>
                                <m:sSubPr>
                                  <m:ctrlPr>
                                    <a:rPr lang="en-US" altLang="zh-CN" b="1" i="1" dirty="0">
                                      <a:solidFill>
                                        <a:srgbClr val="008000"/>
                                      </a:solidFill>
                                      <a:latin typeface="Cambria Math" panose="02040503050406030204" pitchFamily="18" charset="0"/>
                                    </a:rPr>
                                  </m:ctrlPr>
                                </m:sSubPr>
                                <m:e>
                                  <m:r>
                                    <a:rPr lang="en-US" altLang="zh-CN" b="1" i="1" dirty="0">
                                      <a:solidFill>
                                        <a:srgbClr val="008000"/>
                                      </a:solidFill>
                                      <a:latin typeface="Cambria Math" panose="02040503050406030204" pitchFamily="18" charset="0"/>
                                    </a:rPr>
                                    <m:t>𝒑</m:t>
                                  </m:r>
                                </m:e>
                                <m:sub>
                                  <m:r>
                                    <a:rPr lang="en-US" altLang="zh-CN" b="1" i="1" dirty="0">
                                      <a:solidFill>
                                        <a:srgbClr val="008000"/>
                                      </a:solidFill>
                                      <a:latin typeface="Cambria Math" panose="02040503050406030204" pitchFamily="18" charset="0"/>
                                    </a:rPr>
                                    <m:t>𝟓</m:t>
                                  </m:r>
                                </m:sub>
                              </m:sSub>
                              <m:r>
                                <a:rPr lang="en-US" altLang="zh-CN" b="1" i="1" dirty="0">
                                  <a:solidFill>
                                    <a:srgbClr val="008000"/>
                                  </a:solidFill>
                                  <a:latin typeface="Cambria Math" panose="02040503050406030204" pitchFamily="18" charset="0"/>
                                </a:rPr>
                                <m:t>→</m:t>
                              </m:r>
                              <m:sSub>
                                <m:sSubPr>
                                  <m:ctrlPr>
                                    <a:rPr lang="en-US" altLang="zh-CN" b="1" i="1" dirty="0">
                                      <a:solidFill>
                                        <a:srgbClr val="008000"/>
                                      </a:solidFill>
                                      <a:latin typeface="Cambria Math" panose="02040503050406030204" pitchFamily="18" charset="0"/>
                                    </a:rPr>
                                  </m:ctrlPr>
                                </m:sSubPr>
                                <m:e>
                                  <m:r>
                                    <a:rPr lang="en-US" altLang="zh-CN" b="1" i="1" dirty="0">
                                      <a:solidFill>
                                        <a:srgbClr val="008000"/>
                                      </a:solidFill>
                                      <a:latin typeface="Cambria Math" panose="02040503050406030204" pitchFamily="18" charset="0"/>
                                    </a:rPr>
                                    <m:t>𝒑</m:t>
                                  </m:r>
                                </m:e>
                                <m:sub>
                                  <m:r>
                                    <a:rPr lang="en-US" altLang="zh-CN" b="1" i="1" dirty="0">
                                      <a:solidFill>
                                        <a:srgbClr val="008000"/>
                                      </a:solidFill>
                                      <a:latin typeface="Cambria Math" panose="02040503050406030204" pitchFamily="18" charset="0"/>
                                    </a:rPr>
                                    <m:t>𝟒</m:t>
                                  </m:r>
                                </m:sub>
                              </m:sSub>
                            </m:e>
                          </m:d>
                          <m:r>
                            <a:rPr lang="en-US" altLang="zh-CN" b="0" i="1" dirty="0" smtClean="0">
                              <a:solidFill>
                                <a:srgbClr val="008000"/>
                              </a:solidFill>
                              <a:latin typeface="Cambria Math" panose="02040503050406030204" pitchFamily="18" charset="0"/>
                            </a:rPr>
                            <m:t> </m:t>
                          </m:r>
                          <m:r>
                            <a:rPr lang="en-US" altLang="zh-CN" i="1" dirty="0" smtClean="0">
                              <a:solidFill>
                                <a:srgbClr val="7030A0"/>
                              </a:solidFill>
                              <a:latin typeface="Cambria Math" panose="02040503050406030204" pitchFamily="18" charset="0"/>
                            </a:rPr>
                            <m:t>𝑑</m:t>
                          </m:r>
                          <m:sSub>
                            <m:sSubPr>
                              <m:ctrlPr>
                                <a:rPr lang="en-US" altLang="zh-CN" b="0" i="1" dirty="0" smtClean="0">
                                  <a:solidFill>
                                    <a:srgbClr val="7030A0"/>
                                  </a:solidFill>
                                  <a:latin typeface="Cambria Math" panose="02040503050406030204" pitchFamily="18" charset="0"/>
                                </a:rPr>
                              </m:ctrlPr>
                            </m:sSubPr>
                            <m:e>
                              <m:r>
                                <a:rPr lang="en-US" altLang="zh-CN" b="0" i="1" dirty="0" smtClean="0">
                                  <a:solidFill>
                                    <a:srgbClr val="7030A0"/>
                                  </a:solidFill>
                                  <a:latin typeface="Cambria Math" panose="02040503050406030204" pitchFamily="18" charset="0"/>
                                </a:rPr>
                                <m:t>𝜔</m:t>
                              </m:r>
                            </m:e>
                            <m:sub>
                              <m:r>
                                <a:rPr lang="en-US" altLang="zh-CN" b="0" i="1" dirty="0" smtClean="0">
                                  <a:solidFill>
                                    <a:srgbClr val="7030A0"/>
                                  </a:solidFill>
                                  <a:latin typeface="Cambria Math" panose="02040503050406030204" pitchFamily="18" charset="0"/>
                                </a:rPr>
                                <m:t>5</m:t>
                              </m:r>
                            </m:sub>
                          </m:sSub>
                        </m:e>
                      </m:nary>
                    </m:oMath>
                  </m:oMathPara>
                </a14:m>
                <a:endParaRPr lang="en-US" altLang="zh-CN" b="1" i="1" dirty="0">
                  <a:solidFill>
                    <a:srgbClr val="7030A0"/>
                  </a:solidFill>
                  <a:latin typeface="Cambria Math" panose="02040503050406030204" pitchFamily="18" charset="0"/>
                </a:endParaRPr>
              </a:p>
              <a:p>
                <a:endParaRPr lang="en-US" altLang="zh-CN" b="1" dirty="0">
                  <a:solidFill>
                    <a:srgbClr val="7030A0"/>
                  </a:solidFill>
                  <a:latin typeface="Cambria Math" panose="02040503050406030204" pitchFamily="18" charset="0"/>
                </a:endParaRPr>
              </a:p>
              <a:p>
                <a:pPr/>
                <a14:m>
                  <m:oMathPara xmlns:m="http://schemas.openxmlformats.org/officeDocument/2006/math">
                    <m:oMath>
                      <m:r>
                        <m:rPr>
                          <m:nor/>
                        </m:rPr>
                        <a:rPr lang="zh-CN" altLang="en-US" i="0" dirty="0">
                          <a:latin typeface="Cambria Math" panose="02040503050406030204" pitchFamily="18" charset="0"/>
                        </a:rPr>
                        <m:t>令：</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𝑝𝑑𝑓</m:t>
                          </m:r>
                        </m:e>
                        <m:sub>
                          <m:r>
                            <a:rPr lang="en-US" altLang="zh-CN" i="1" dirty="0">
                              <a:latin typeface="Cambria Math" panose="02040503050406030204" pitchFamily="18" charset="0"/>
                            </a:rPr>
                            <m:t>𝑏𝑠𝑑𝑓</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𝐵</m:t>
                          </m:r>
                        </m:sub>
                      </m:sSub>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𝑘</m:t>
                          </m:r>
                          <m:r>
                            <m:rPr>
                              <m:brk m:alnAt="23"/>
                            </m:rPr>
                            <a:rPr lang="en-US" altLang="zh-CN" b="0" i="1" dirty="0" smtClean="0">
                              <a:latin typeface="Cambria Math" panose="02040503050406030204" pitchFamily="18" charset="0"/>
                            </a:rPr>
                            <m:t>=</m:t>
                          </m:r>
                          <m:r>
                            <m:rPr>
                              <m:brk m:alnAt="23"/>
                            </m:rP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−2</m:t>
                          </m:r>
                        </m:sup>
                        <m:e>
                          <m:f>
                            <m:fPr>
                              <m:ctrlPr>
                                <a:rPr lang="en-US" altLang="zh-CN" b="0" i="1" dirty="0" smtClean="0">
                                  <a:latin typeface="Cambria Math" panose="02040503050406030204" pitchFamily="18" charset="0"/>
                                </a:rPr>
                              </m:ctrlPr>
                            </m:fPr>
                            <m:nu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𝑓</m:t>
                                  </m:r>
                                </m:e>
                                <m:sub>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 </m:t>
                              </m:r>
                              <m:d>
                                <m:dPr>
                                  <m:begChr m:val="|"/>
                                  <m:endChr m:val="|"/>
                                  <m:ctrlPr>
                                    <a:rPr lang="en-US" altLang="zh-CN" b="0" i="1" dirty="0" smtClean="0">
                                      <a:latin typeface="Cambria Math" panose="02040503050406030204" pitchFamily="18" charset="0"/>
                                    </a:rPr>
                                  </m:ctrlPr>
                                </m:dPr>
                                <m:e>
                                  <m:func>
                                    <m:funcPr>
                                      <m:ctrlPr>
                                        <a:rPr lang="en-US" altLang="zh-CN" b="0" i="0" dirty="0" smtClean="0">
                                          <a:latin typeface="Cambria Math" panose="02040503050406030204" pitchFamily="18" charset="0"/>
                                        </a:rPr>
                                      </m:ctrlPr>
                                    </m:funcPr>
                                    <m:fName>
                                      <m:r>
                                        <m:rPr>
                                          <m:sty m:val="p"/>
                                        </m:rPr>
                                        <a:rPr lang="en-US" altLang="zh-CN" b="0" i="0" dirty="0" smtClean="0">
                                          <a:latin typeface="Cambria Math" panose="02040503050406030204" pitchFamily="18" charset="0"/>
                                        </a:rPr>
                                        <m:t>cos</m:t>
                                      </m:r>
                                    </m:fNa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𝜃</m:t>
                                          </m:r>
                                        </m:e>
                                        <m:sub>
                                          <m: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+1</m:t>
                                          </m:r>
                                        </m:sub>
                                      </m:sSub>
                                    </m:e>
                                  </m:func>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b="0" i="1" dirty="0" smtClean="0">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+1</m:t>
                                      </m:r>
                                    </m:sub>
                                  </m:sSub>
                                </m:e>
                              </m:d>
                            </m:den>
                          </m:f>
                        </m:e>
                      </m:nary>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𝐹</m:t>
                          </m:r>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𝑖</m:t>
                                  </m:r>
                                </m:sub>
                              </m:sSub>
                            </m:e>
                          </m:func>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i="1" dirty="0">
                              <a:latin typeface="Cambria Math" panose="02040503050406030204" pitchFamily="18" charset="0"/>
                            </a:rPr>
                            <m:t>𝑒</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oMath>
                  </m:oMathPara>
                </a14:m>
                <a:endParaRPr lang="en-US" altLang="zh-CN" i="1" dirty="0">
                  <a:latin typeface="Cambria Math" panose="02040503050406030204" pitchFamily="18" charset="0"/>
                </a:endParaRPr>
              </a:p>
              <a:p>
                <a:pPr/>
                <a14:m>
                  <m:oMathPara xmlns:m="http://schemas.openxmlformats.org/officeDocument/2006/math">
                    <m:oMath>
                      <m:borderBox>
                        <m:borderBoxPr>
                          <m:ctrlPr>
                            <a:rPr lang="en-US" altLang="zh-CN" sz="2400" i="1" dirty="0">
                              <a:latin typeface="Cambria Math" panose="02040503050406030204" pitchFamily="18" charset="0"/>
                            </a:rPr>
                          </m:ctrlPr>
                        </m:borderBox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𝐷</m:t>
                              </m:r>
                            </m:e>
                            <m:sub>
                              <m:r>
                                <a:rPr lang="en-US" altLang="zh-CN" sz="2400" i="1" dirty="0">
                                  <a:latin typeface="Cambria Math" panose="02040503050406030204" pitchFamily="18" charset="0"/>
                                </a:rPr>
                                <m:t>𝑖</m:t>
                              </m:r>
                            </m:sub>
                          </m:sSub>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𝑝</m:t>
                                      </m:r>
                                    </m:e>
                                  </m:acc>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Sub>
                            </m:e>
                          </m:d>
                          <m:r>
                            <a:rPr lang="en-US" altLang="zh-CN" sz="2400" i="1" dirty="0">
                              <a:latin typeface="Cambria Math" panose="02040503050406030204" pitchFamily="18" charset="0"/>
                            </a:rPr>
                            <m:t>=</m:t>
                          </m:r>
                          <m:nary>
                            <m:naryPr>
                              <m:supHide m:val="on"/>
                              <m:ctrlPr>
                                <a:rPr lang="en-US" altLang="zh-CN" sz="2400" i="1" dirty="0">
                                  <a:latin typeface="Cambria Math" panose="02040503050406030204" pitchFamily="18" charset="0"/>
                                </a:rPr>
                              </m:ctrlPr>
                            </m:naryPr>
                            <m:sub>
                              <m:sSub>
                                <m:sSubPr>
                                  <m:ctrlPr>
                                    <a:rPr lang="en-US" altLang="zh-CN" sz="2400" dirty="0">
                                      <a:latin typeface="Cambria Math" panose="02040503050406030204" pitchFamily="18" charset="0"/>
                                    </a:rPr>
                                  </m:ctrlPr>
                                </m:sSubPr>
                                <m:e>
                                  <m:r>
                                    <m:rPr>
                                      <m:sty m:val="p"/>
                                    </m:rPr>
                                    <a:rPr lang="en-US" altLang="zh-CN" sz="2400" dirty="0">
                                      <a:latin typeface="Cambria Math" panose="02040503050406030204" pitchFamily="18" charset="0"/>
                                    </a:rPr>
                                    <m:t>Ω</m:t>
                                  </m:r>
                                </m:e>
                                <m:sub>
                                  <m:r>
                                    <a:rPr lang="en-US" altLang="zh-CN" sz="2400" i="1" dirty="0">
                                      <a:latin typeface="Cambria Math" panose="02040503050406030204" pitchFamily="18" charset="0"/>
                                    </a:rPr>
                                    <m:t>𝐸</m:t>
                                  </m:r>
                                </m:sub>
                              </m:sSub>
                            </m:sub>
                            <m:sup/>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𝐹</m:t>
                                  </m:r>
                                </m:e>
                                <m:sub>
                                  <m:r>
                                    <a:rPr lang="en-US" altLang="zh-CN" sz="2400" i="1" dirty="0">
                                      <a:latin typeface="Cambria Math" panose="02040503050406030204" pitchFamily="18" charset="0"/>
                                    </a:rPr>
                                    <m:t>𝑖</m:t>
                                  </m:r>
                                </m:sub>
                              </m:sSub>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𝜔</m:t>
                                      </m:r>
                                    </m:e>
                                    <m:sub>
                                      <m:r>
                                        <a:rPr lang="en-US" altLang="zh-CN" sz="2400" i="1" dirty="0">
                                          <a:latin typeface="Cambria Math" panose="02040503050406030204" pitchFamily="18" charset="0"/>
                                        </a:rPr>
                                        <m:t>𝑖</m:t>
                                      </m:r>
                                    </m:sub>
                                  </m:sSub>
                                  <m:r>
                                    <a:rPr lang="en-US" altLang="zh-CN" sz="2400" b="0" i="1" dirty="0" smtClean="0">
                                      <a:latin typeface="Cambria Math" panose="02040503050406030204" pitchFamily="18" charset="0"/>
                                    </a:rPr>
                                    <m:t>;</m:t>
                                  </m:r>
                                  <m:sSub>
                                    <m:sSubPr>
                                      <m:ctrlPr>
                                        <a:rPr lang="en-US" altLang="zh-CN" sz="2400" i="1" dirty="0">
                                          <a:latin typeface="Cambria Math" panose="02040503050406030204" pitchFamily="18" charset="0"/>
                                        </a:rPr>
                                      </m:ctrlPr>
                                    </m:sSubPr>
                                    <m:e>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𝑝</m:t>
                                          </m:r>
                                        </m:e>
                                      </m:acc>
                                    </m:e>
                                    <m:sub>
                                      <m:r>
                                        <a:rPr lang="en-US" altLang="zh-CN" sz="2400" i="1" dirty="0">
                                          <a:latin typeface="Cambria Math" panose="02040503050406030204" pitchFamily="18" charset="0"/>
                                        </a:rPr>
                                        <m:t>𝑖</m:t>
                                      </m:r>
                                      <m:r>
                                        <a:rPr lang="en-US" altLang="zh-CN" sz="2400" i="1" dirty="0">
                                          <a:latin typeface="Cambria Math" panose="02040503050406030204" pitchFamily="18" charset="0"/>
                                        </a:rPr>
                                        <m:t>−1</m:t>
                                      </m:r>
                                    </m:sub>
                                  </m:sSub>
                                </m:e>
                              </m:d>
                              <m:r>
                                <a:rPr lang="en-US" altLang="zh-CN" sz="2400" i="1" dirty="0">
                                  <a:latin typeface="Cambria Math" panose="02040503050406030204" pitchFamily="18" charset="0"/>
                                </a:rPr>
                                <m:t> </m:t>
                              </m:r>
                              <m:r>
                                <a:rPr lang="en-US" altLang="zh-CN" sz="2400" i="1" dirty="0">
                                  <a:latin typeface="Cambria Math" panose="02040503050406030204" pitchFamily="18" charset="0"/>
                                </a:rPr>
                                <m:t>𝑑</m:t>
                              </m:r>
                              <m:sSub>
                                <m:sSubPr>
                                  <m:ctrlPr>
                                    <a:rPr lang="en-US" altLang="zh-CN" sz="2400" i="1" dirty="0">
                                      <a:latin typeface="Cambria Math" panose="02040503050406030204" pitchFamily="18" charset="0"/>
                                    </a:rPr>
                                  </m:ctrlPr>
                                </m:sSubPr>
                                <m:e>
                                  <m:r>
                                    <a:rPr lang="en-US" altLang="zh-CN" sz="2400" i="1" dirty="0">
                                      <a:latin typeface="Cambria Math" panose="02040503050406030204" pitchFamily="18" charset="0"/>
                                    </a:rPr>
                                    <m:t>𝜔</m:t>
                                  </m:r>
                                </m:e>
                                <m:sub>
                                  <m:r>
                                    <a:rPr lang="en-US" altLang="zh-CN" sz="2400" i="1" dirty="0">
                                      <a:latin typeface="Cambria Math" panose="02040503050406030204" pitchFamily="18" charset="0"/>
                                    </a:rPr>
                                    <m:t>𝑖</m:t>
                                  </m:r>
                                </m:sub>
                              </m:sSub>
                            </m:e>
                          </m:nary>
                          <m:r>
                            <a:rPr lang="en-US" altLang="zh-CN" sz="2400" i="1" dirty="0">
                              <a:latin typeface="Cambria Math" panose="02040503050406030204" pitchFamily="18" charset="0"/>
                            </a:rPr>
                            <m:t>,  </m:t>
                          </m:r>
                          <m:sSub>
                            <m:sSubPr>
                              <m:ctrlPr>
                                <a:rPr lang="en-US" altLang="zh-CN" sz="2400" i="1">
                                  <a:latin typeface="Cambria Math" panose="02040503050406030204" pitchFamily="18" charset="0"/>
                                  <a:ea typeface="Cambria Math" panose="02040503050406030204" pitchFamily="18" charset="0"/>
                                </a:rPr>
                              </m:ctrlPr>
                            </m:sSubPr>
                            <m:e>
                              <m:acc>
                                <m:accPr>
                                  <m:chr m:val="̂"/>
                                  <m:ctrlPr>
                                    <a:rPr lang="en-US" altLang="zh-CN" sz="2400" i="1">
                                      <a:latin typeface="Cambria Math" panose="02040503050406030204" pitchFamily="18" charset="0"/>
                                      <a:ea typeface="Cambria Math" panose="02040503050406030204" pitchFamily="18" charset="0"/>
                                    </a:rPr>
                                  </m:ctrlPr>
                                </m:accPr>
                                <m:e>
                                  <m:r>
                                    <a:rPr lang="en-US" altLang="zh-CN" sz="2400" i="1">
                                      <a:latin typeface="Cambria Math" panose="02040503050406030204" pitchFamily="18" charset="0"/>
                                      <a:ea typeface="Cambria Math" panose="02040503050406030204" pitchFamily="18" charset="0"/>
                                    </a:rPr>
                                    <m:t>𝐼</m:t>
                                  </m:r>
                                </m:e>
                              </m:acc>
                            </m:e>
                            <m:sub>
                              <m:r>
                                <a:rPr lang="en-US" altLang="zh-CN" sz="2400" i="1">
                                  <a:latin typeface="Cambria Math" panose="02040503050406030204" pitchFamily="18" charset="0"/>
                                  <a:ea typeface="Cambria Math" panose="02040503050406030204" pitchFamily="18" charset="0"/>
                                </a:rPr>
                                <m:t>𝑖</m:t>
                              </m:r>
                            </m:sub>
                          </m:sSub>
                          <m:r>
                            <a:rPr lang="en-US" altLang="zh-CN" sz="2400" i="1">
                              <a:latin typeface="Cambria Math" panose="02040503050406030204" pitchFamily="18" charset="0"/>
                              <a:ea typeface="Cambria Math" panose="02040503050406030204" pitchFamily="18" charset="0"/>
                            </a:rPr>
                            <m:t>=</m:t>
                          </m:r>
                          <m:sSub>
                            <m:sSubPr>
                              <m:ctrlPr>
                                <a:rPr lang="en-US" altLang="zh-CN" sz="2400" i="1">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Cambria Math" panose="02040503050406030204" pitchFamily="18" charset="0"/>
                                </a:rPr>
                                <m:t>𝛽</m:t>
                              </m:r>
                            </m:e>
                            <m:sub>
                              <m:r>
                                <a:rPr lang="en-US" altLang="zh-CN" sz="2400" i="1">
                                  <a:latin typeface="Cambria Math" panose="02040503050406030204" pitchFamily="18" charset="0"/>
                                  <a:ea typeface="Cambria Math" panose="02040503050406030204" pitchFamily="18" charset="0"/>
                                </a:rPr>
                                <m:t>𝑖</m:t>
                              </m:r>
                              <m:r>
                                <a:rPr lang="en-US" altLang="zh-CN" sz="2400" i="1">
                                  <a:latin typeface="Cambria Math" panose="02040503050406030204" pitchFamily="18" charset="0"/>
                                  <a:ea typeface="Cambria Math" panose="02040503050406030204" pitchFamily="18" charset="0"/>
                                </a:rPr>
                                <m:t>−1</m:t>
                              </m:r>
                            </m:sub>
                          </m:sSub>
                          <m:r>
                            <a:rPr lang="en-US" altLang="zh-CN" sz="2400" i="1">
                              <a:latin typeface="Cambria Math" panose="02040503050406030204" pitchFamily="18" charset="0"/>
                              <a:ea typeface="Cambria Math" panose="02040503050406030204" pitchFamily="18" charset="0"/>
                            </a:rPr>
                            <m:t> </m:t>
                          </m:r>
                          <m:sSub>
                            <m:sSubPr>
                              <m:ctrlPr>
                                <a:rPr lang="en-US" altLang="zh-CN" sz="2400" i="1" dirty="0">
                                  <a:latin typeface="Cambria Math" panose="02040503050406030204" pitchFamily="18" charset="0"/>
                                </a:rPr>
                              </m:ctrlPr>
                            </m:sSubPr>
                            <m:e>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𝐷</m:t>
                                  </m:r>
                                </m:e>
                              </m:acc>
                            </m:e>
                            <m:sub>
                              <m:r>
                                <a:rPr lang="en-US" altLang="zh-CN" sz="2400" i="1" dirty="0">
                                  <a:latin typeface="Cambria Math" panose="02040503050406030204" pitchFamily="18" charset="0"/>
                                </a:rPr>
                                <m:t>𝑖</m:t>
                              </m:r>
                            </m:sub>
                          </m:sSub>
                          <m:d>
                            <m:dPr>
                              <m:ctrlPr>
                                <a:rPr lang="en-US" altLang="zh-CN" sz="2400" i="1" dirty="0">
                                  <a:latin typeface="Cambria Math" panose="02040503050406030204" pitchFamily="18" charset="0"/>
                                </a:rPr>
                              </m:ctrlPr>
                            </m:dPr>
                            <m:e>
                              <m:sSub>
                                <m:sSubPr>
                                  <m:ctrlPr>
                                    <a:rPr lang="en-US" altLang="zh-CN" sz="2400" i="1" dirty="0">
                                      <a:latin typeface="Cambria Math" panose="02040503050406030204" pitchFamily="18" charset="0"/>
                                    </a:rPr>
                                  </m:ctrlPr>
                                </m:sSubPr>
                                <m:e>
                                  <m:acc>
                                    <m:accPr>
                                      <m:chr m:val="̅"/>
                                      <m:ctrlPr>
                                        <a:rPr lang="en-US" altLang="zh-CN" sz="2400" i="1" dirty="0">
                                          <a:latin typeface="Cambria Math" panose="02040503050406030204" pitchFamily="18" charset="0"/>
                                        </a:rPr>
                                      </m:ctrlPr>
                                    </m:accPr>
                                    <m:e>
                                      <m:r>
                                        <a:rPr lang="en-US" altLang="zh-CN" sz="2400" i="1" dirty="0">
                                          <a:latin typeface="Cambria Math" panose="02040503050406030204" pitchFamily="18" charset="0"/>
                                        </a:rPr>
                                        <m:t>𝑝</m:t>
                                      </m:r>
                                    </m:e>
                                  </m:acc>
                                </m:e>
                                <m:sub>
                                  <m:r>
                                    <a:rPr lang="en-US" altLang="zh-CN" sz="2400" i="1">
                                      <a:latin typeface="Cambria Math" panose="02040503050406030204" pitchFamily="18" charset="0"/>
                                    </a:rPr>
                                    <m:t>𝑖</m:t>
                                  </m:r>
                                  <m:r>
                                    <a:rPr lang="en-US" altLang="zh-CN" sz="2400" i="1">
                                      <a:latin typeface="Cambria Math" panose="02040503050406030204" pitchFamily="18" charset="0"/>
                                    </a:rPr>
                                    <m:t>−1</m:t>
                                  </m:r>
                                </m:sub>
                              </m:sSub>
                            </m:e>
                          </m:d>
                        </m:e>
                      </m:borderBox>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b="0" i="1" smtClean="0">
                              <a:latin typeface="Cambria Math" panose="02040503050406030204" pitchFamily="18" charset="0"/>
                            </a:rPr>
                          </m:ctrlPr>
                        </m:sSub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𝐼</m:t>
                              </m:r>
                            </m:e>
                          </m:acc>
                        </m:e>
                        <m:sub>
                          <m:r>
                            <a:rPr lang="en-US" altLang="zh-CN" b="0" i="1" smtClean="0">
                              <a:latin typeface="Cambria Math" panose="02040503050406030204" pitchFamily="18" charset="0"/>
                            </a:rPr>
                            <m:t>𝑖</m:t>
                          </m:r>
                        </m:sub>
                      </m:sSub>
                      <m:r>
                        <a:rPr lang="zh-CN" altLang="en-US" i="1">
                          <a:latin typeface="Cambria Math" panose="02040503050406030204" pitchFamily="18" charset="0"/>
                        </a:rPr>
                        <m:t>为</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a:rPr lang="en-US" altLang="zh-CN" b="0" i="1" smtClean="0">
                              <a:latin typeface="Cambria Math" panose="02040503050406030204" pitchFamily="18" charset="0"/>
                            </a:rPr>
                            <m:t>𝑖</m:t>
                          </m:r>
                        </m:sub>
                      </m:sSub>
                      <m:r>
                        <a:rPr lang="zh-CN" altLang="en-US" i="1">
                          <a:latin typeface="Cambria Math" panose="02040503050406030204" pitchFamily="18" charset="0"/>
                        </a:rPr>
                        <m:t>的</m:t>
                      </m:r>
                      <m:r>
                        <a:rPr lang="zh-CN" altLang="en-US" i="1" smtClean="0">
                          <a:latin typeface="Cambria Math" panose="02040503050406030204" pitchFamily="18" charset="0"/>
                        </a:rPr>
                        <m:t>蒙特卡洛估计</m:t>
                      </m:r>
                      <m:r>
                        <a:rPr lang="zh-CN" altLang="en-US" i="1">
                          <a:latin typeface="Cambria Math" panose="02040503050406030204" pitchFamily="18" charset="0"/>
                        </a:rPr>
                        <m:t>，</m:t>
                      </m:r>
                      <m:r>
                        <a:rPr lang="en-US" altLang="zh-CN" i="1">
                          <a:latin typeface="Cambria Math" panose="02040503050406030204" pitchFamily="18" charset="0"/>
                        </a:rPr>
                        <m:t>𝐸</m:t>
                      </m:r>
                      <m:d>
                        <m:dPr>
                          <m:begChr m:val="["/>
                          <m:endChr m:val="]"/>
                          <m:ctrlPr>
                            <a:rPr lang="en-US" altLang="zh-CN" i="1">
                              <a:latin typeface="Cambria Math" panose="02040503050406030204" pitchFamily="18" charset="0"/>
                              <a:ea typeface="Cambria Math" panose="02040503050406030204" pitchFamily="18" charset="0"/>
                            </a:rPr>
                          </m:ctrlPr>
                        </m:dPr>
                        <m:e>
                          <m:sSub>
                            <m:sSubPr>
                              <m:ctrlPr>
                                <a:rPr lang="en-US" altLang="zh-CN" i="1">
                                  <a:latin typeface="Cambria Math" panose="02040503050406030204" pitchFamily="18" charset="0"/>
                                  <a:ea typeface="Cambria Math" panose="02040503050406030204" pitchFamily="18" charset="0"/>
                                </a:rPr>
                              </m:ctrlPr>
                            </m:sSubPr>
                            <m:e>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𝐼</m:t>
                                  </m:r>
                                </m:e>
                              </m:acc>
                            </m:e>
                            <m:sub>
                              <m:r>
                                <a:rPr lang="en-US" altLang="zh-CN" i="1">
                                  <a:latin typeface="Cambria Math" panose="02040503050406030204" pitchFamily="18" charset="0"/>
                                  <a:ea typeface="Cambria Math" panose="02040503050406030204" pitchFamily="18" charset="0"/>
                                </a:rPr>
                                <m:t>𝑖</m:t>
                              </m:r>
                            </m:sub>
                          </m:sSub>
                        </m:e>
                      </m:d>
                      <m:r>
                        <a:rPr lang="en-US" altLang="zh-CN" i="1">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𝐼</m:t>
                          </m:r>
                        </m:e>
                        <m:sub>
                          <m:r>
                            <a:rPr lang="en-US" altLang="zh-CN" i="1">
                              <a:latin typeface="Cambria Math" panose="02040503050406030204" pitchFamily="18" charset="0"/>
                              <a:ea typeface="Cambria Math" panose="02040503050406030204" pitchFamily="18" charset="0"/>
                            </a:rPr>
                            <m:t>𝑖</m:t>
                          </m:r>
                        </m:sub>
                      </m:sSub>
                    </m:oMath>
                  </m:oMathPara>
                </a14:m>
                <a:endParaRPr lang="en-US" altLang="zh-CN" i="1" dirty="0">
                  <a:latin typeface="Cambria Math" panose="02040503050406030204" pitchFamily="18" charset="0"/>
                  <a:ea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zh-CN" altLang="en-US" i="1">
                          <a:latin typeface="Cambria Math" panose="02040503050406030204" pitchFamily="18" charset="0"/>
                        </a:rPr>
                        <m:t>为</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zh-CN" altLang="en-US" i="1">
                          <a:latin typeface="Cambria Math" panose="02040503050406030204" pitchFamily="18" charset="0"/>
                        </a:rPr>
                        <m:t>的蒙特卡洛估计</m:t>
                      </m:r>
                      <m:r>
                        <a:rPr lang="zh-CN" altLang="en-US"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e>
                      </m:d>
                      <m:r>
                        <a:rPr lang="en-US" altLang="zh-CN" b="0" i="1"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m:oMathPara>
                </a14:m>
                <a:endParaRPr lang="en-US" altLang="zh-CN" b="0" dirty="0">
                  <a:latin typeface="Cambria Math" panose="02040503050406030204" pitchFamily="18" charset="0"/>
                </a:endParaRPr>
              </a:p>
            </p:txBody>
          </p:sp>
        </mc:Choice>
        <mc:Fallback xmlns="">
          <p:sp>
            <p:nvSpPr>
              <p:cNvPr id="9" name="文本框 8">
                <a:extLst>
                  <a:ext uri="{FF2B5EF4-FFF2-40B4-BE49-F238E27FC236}">
                    <a16:creationId xmlns:a16="http://schemas.microsoft.com/office/drawing/2014/main" id="{481D4598-C190-873A-1D70-A0B915F03662}"/>
                  </a:ext>
                </a:extLst>
              </p:cNvPr>
              <p:cNvSpPr txBox="1">
                <a:spLocks noRot="1" noChangeAspect="1" noMove="1" noResize="1" noEditPoints="1" noAdjustHandles="1" noChangeArrowheads="1" noChangeShapeType="1" noTextEdit="1"/>
              </p:cNvSpPr>
              <p:nvPr/>
            </p:nvSpPr>
            <p:spPr>
              <a:xfrm>
                <a:off x="987379" y="1281931"/>
                <a:ext cx="10217242" cy="4871142"/>
              </a:xfrm>
              <a:prstGeom prst="rect">
                <a:avLst/>
              </a:prstGeom>
              <a:blipFill>
                <a:blip r:embed="rId2"/>
                <a:stretch>
                  <a:fillRect l="-537" b="-5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55528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FC7-53A5-F403-DE56-F0842048E35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9CCD14A-1D56-53BD-524E-AC73D431B123}"/>
              </a:ext>
            </a:extLst>
          </p:cNvPr>
          <p:cNvSpPr>
            <a:spLocks noGrp="1"/>
          </p:cNvSpPr>
          <p:nvPr>
            <p:ph type="title" idx="1"/>
          </p:nvPr>
        </p:nvSpPr>
        <p:spPr/>
        <p:txBody>
          <a:bodyPr/>
          <a:lstStyle/>
          <a:p>
            <a:r>
              <a:rPr lang="zh-CN" altLang="en-US" dirty="0"/>
              <a:t>路径积分  </a:t>
            </a:r>
            <a:r>
              <a:rPr lang="en-US" altLang="zh-CN" dirty="0"/>
              <a:t>——  </a:t>
            </a:r>
            <a:r>
              <a:rPr lang="zh-CN" altLang="en-US" dirty="0"/>
              <a:t>两种采样方式</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099ACC1-E9BE-0A5C-7AD9-CE97503CB6DC}"/>
                  </a:ext>
                </a:extLst>
              </p:cNvPr>
              <p:cNvSpPr txBox="1"/>
              <p:nvPr/>
            </p:nvSpPr>
            <p:spPr>
              <a:xfrm>
                <a:off x="582756" y="1349268"/>
                <a:ext cx="5315768" cy="693010"/>
              </a:xfrm>
              <a:prstGeom prst="rect">
                <a:avLst/>
              </a:prstGeom>
              <a:noFill/>
            </p:spPr>
            <p:txBody>
              <a:bodyPr wrap="square">
                <a:spAutoFit/>
              </a:bodyPr>
              <a:lstStyle/>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en-US" altLang="zh-CN" i="1" dirty="0">
                          <a:latin typeface="Cambria Math" panose="02040503050406030204" pitchFamily="18" charset="0"/>
                        </a:rPr>
                        <m:t>=</m:t>
                      </m:r>
                      <m:nary>
                        <m:naryPr>
                          <m:supHide m:val="on"/>
                          <m:ctrlPr>
                            <a:rPr lang="en-US" altLang="zh-CN" i="1" dirty="0">
                              <a:latin typeface="Cambria Math" panose="02040503050406030204" pitchFamily="18" charset="0"/>
                            </a:rPr>
                          </m:ctrlPr>
                        </m:naryPr>
                        <m:sub>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Ω</m:t>
                              </m:r>
                            </m:e>
                            <m:sub>
                              <m:r>
                                <a:rPr lang="en-US" altLang="zh-CN" i="1" dirty="0">
                                  <a:latin typeface="Cambria Math" panose="02040503050406030204" pitchFamily="18" charset="0"/>
                                </a:rPr>
                                <m:t>𝐸</m:t>
                              </m:r>
                            </m:sub>
                          </m:sSub>
                        </m:sub>
                        <m:sup/>
                        <m:e>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𝐹</m:t>
                              </m:r>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nary>
                    </m:oMath>
                  </m:oMathPara>
                </a14:m>
                <a:endParaRPr lang="en-US" altLang="zh-CN" dirty="0">
                  <a:latin typeface="Cambria Math" panose="02040503050406030204" pitchFamily="18" charset="0"/>
                </a:endParaRPr>
              </a:p>
            </p:txBody>
          </p:sp>
        </mc:Choice>
        <mc:Fallback xmlns="">
          <p:sp>
            <p:nvSpPr>
              <p:cNvPr id="9" name="文本框 8">
                <a:extLst>
                  <a:ext uri="{FF2B5EF4-FFF2-40B4-BE49-F238E27FC236}">
                    <a16:creationId xmlns:a16="http://schemas.microsoft.com/office/drawing/2014/main" id="{A099ACC1-E9BE-0A5C-7AD9-CE97503CB6DC}"/>
                  </a:ext>
                </a:extLst>
              </p:cNvPr>
              <p:cNvSpPr txBox="1">
                <a:spLocks noRot="1" noChangeAspect="1" noMove="1" noResize="1" noEditPoints="1" noAdjustHandles="1" noChangeArrowheads="1" noChangeShapeType="1" noTextEdit="1"/>
              </p:cNvSpPr>
              <p:nvPr/>
            </p:nvSpPr>
            <p:spPr>
              <a:xfrm>
                <a:off x="582756" y="1349268"/>
                <a:ext cx="5315768" cy="69301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16950B7A-7599-F038-6BD8-A1BD0D7350A1}"/>
                  </a:ext>
                </a:extLst>
              </p:cNvPr>
              <p:cNvSpPr txBox="1"/>
              <p:nvPr/>
            </p:nvSpPr>
            <p:spPr>
              <a:xfrm>
                <a:off x="1073242" y="2311546"/>
                <a:ext cx="4481846" cy="4227311"/>
              </a:xfrm>
              <a:prstGeom prst="rect">
                <a:avLst/>
              </a:prstGeom>
              <a:ln w="38100"/>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zh-CN" altLang="en-US" b="1" dirty="0">
                    <a:latin typeface="Cambria Math" panose="02040503050406030204" pitchFamily="18" charset="0"/>
                  </a:rPr>
                  <a:t>向光源采样</a:t>
                </a:r>
                <a:endParaRPr lang="en-US" altLang="zh-CN" b="1" dirty="0">
                  <a:latin typeface="Cambria Math" panose="02040503050406030204" pitchFamily="18" charset="0"/>
                </a:endParaRPr>
              </a:p>
              <a:p>
                <a:r>
                  <a:rPr lang="zh-CN" altLang="en-US" sz="1600" dirty="0">
                    <a:latin typeface="Cambria Math" panose="02040503050406030204" pitchFamily="18" charset="0"/>
                  </a:rPr>
                  <a:t>采样面积光：</a:t>
                </a:r>
                <a:endParaRPr lang="en-US" altLang="zh-CN" sz="1600" dirty="0">
                  <a:latin typeface="Cambria Math" panose="02040503050406030204" pitchFamily="18" charset="0"/>
                </a:endParaRPr>
              </a:p>
              <a:p>
                <a:pPr/>
                <a14:m>
                  <m:oMathPara xmlns:m="http://schemas.openxmlformats.org/officeDocument/2006/math">
                    <m:oMath>
                      <m:sSubSup>
                        <m:sSubSupPr>
                          <m:ctrlPr>
                            <a:rPr lang="en-US" altLang="zh-CN" sz="1600" b="1" i="1" smtClean="0">
                              <a:latin typeface="Cambria Math" panose="02040503050406030204" pitchFamily="18" charset="0"/>
                            </a:rPr>
                          </m:ctrlPr>
                        </m:sSubSup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sub>
                        <m:sup>
                          <m:r>
                            <a:rPr lang="en-US" altLang="zh-CN" sz="1600" b="1" i="1" smtClean="0">
                              <a:latin typeface="Cambria Math" panose="02040503050406030204" pitchFamily="18" charset="0"/>
                            </a:rPr>
                            <m:t>𝑳</m:t>
                          </m:r>
                        </m:sup>
                      </m:sSubSup>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𝑝</m:t>
                          </m:r>
                        </m:e>
                        <m:sub>
                          <m:r>
                            <a:rPr lang="en-US" altLang="zh-CN" sz="1600" b="0" i="1" smtClean="0">
                              <a:latin typeface="Cambria Math" panose="02040503050406030204" pitchFamily="18" charset="0"/>
                            </a:rPr>
                            <m:t>𝐿</m:t>
                          </m:r>
                        </m:sub>
                        <m:sup>
                          <m:r>
                            <a:rPr lang="en-US" altLang="zh-CN" sz="1600" b="0" i="1" smtClean="0">
                              <a:latin typeface="Cambria Math" panose="02040503050406030204" pitchFamily="18" charset="0"/>
                            </a:rPr>
                            <m:t>𝐴</m:t>
                          </m:r>
                        </m:sup>
                      </m:sSubSup>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sub>
                          </m:sSub>
                        </m:e>
                      </m:d>
                    </m:oMath>
                  </m:oMathPara>
                </a14:m>
                <a:endParaRPr lang="en-US" altLang="zh-CN" sz="1600" b="0" i="1" dirty="0">
                  <a:latin typeface="Cambria Math" panose="02040503050406030204" pitchFamily="18" charset="0"/>
                </a:endParaRPr>
              </a:p>
              <a:p>
                <a:pPr>
                  <a:spcBef>
                    <a:spcPts val="800"/>
                  </a:spcBef>
                </a:pPr>
                <a:r>
                  <a:rPr lang="zh-CN" altLang="en-US" sz="1600" dirty="0">
                    <a:latin typeface="Cambria Math" panose="02040503050406030204" pitchFamily="18" charset="0"/>
                  </a:rPr>
                  <a:t>计算方向：</a:t>
                </a:r>
                <a:endParaRPr lang="en-US" altLang="zh-CN" sz="1600" b="0" dirty="0">
                  <a:latin typeface="Cambria Math" panose="02040503050406030204" pitchFamily="18" charset="0"/>
                </a:endParaRPr>
              </a:p>
              <a:p>
                <a:pPr/>
                <a14:m>
                  <m:oMathPara xmlns:m="http://schemas.openxmlformats.org/officeDocument/2006/math">
                    <m:oMath>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𝐿</m:t>
                          </m:r>
                        </m:sup>
                      </m:sSubSup>
                      <m:r>
                        <a:rPr lang="en-US" altLang="zh-CN" sz="1600" b="0" i="1" smtClean="0">
                          <a:latin typeface="Cambria Math" panose="02040503050406030204" pitchFamily="18" charset="0"/>
                        </a:rPr>
                        <m:t>=</m:t>
                      </m:r>
                      <m:f>
                        <m:fPr>
                          <m:ctrlPr>
                            <a:rPr lang="en-US" altLang="zh-CN" sz="1600" b="1" i="1">
                              <a:latin typeface="Cambria Math" panose="02040503050406030204" pitchFamily="18" charset="0"/>
                            </a:rPr>
                          </m:ctrlPr>
                        </m:fPr>
                        <m:num>
                          <m:sSubSup>
                            <m:sSubSupPr>
                              <m:ctrlPr>
                                <a:rPr lang="en-US" altLang="zh-CN" sz="1600" b="1" i="1">
                                  <a:latin typeface="Cambria Math" panose="02040503050406030204" pitchFamily="18" charset="0"/>
                                </a:rPr>
                              </m:ctrlPr>
                            </m:sSubSup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𝒊</m:t>
                              </m:r>
                            </m:sub>
                            <m:sup>
                              <m:r>
                                <a:rPr lang="en-US" altLang="zh-CN" sz="1600" b="1" i="1">
                                  <a:latin typeface="Cambria Math" panose="02040503050406030204" pitchFamily="18" charset="0"/>
                                </a:rPr>
                                <m:t>𝑳</m:t>
                              </m:r>
                            </m:sup>
                          </m:sSubSup>
                          <m:r>
                            <a:rPr lang="en-US" altLang="zh-CN" sz="1600" b="1"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num>
                        <m:den>
                          <m:d>
                            <m:dPr>
                              <m:begChr m:val="‖"/>
                              <m:endChr m:val="‖"/>
                              <m:ctrlPr>
                                <a:rPr lang="en-US" altLang="zh-CN" sz="1600" b="1" i="1">
                                  <a:latin typeface="Cambria Math" panose="02040503050406030204" pitchFamily="18" charset="0"/>
                                </a:rPr>
                              </m:ctrlPr>
                            </m:dPr>
                            <m:e>
                              <m:sSubSup>
                                <m:sSubSupPr>
                                  <m:ctrlPr>
                                    <a:rPr lang="en-US" altLang="zh-CN" sz="1600" b="1" i="1">
                                      <a:latin typeface="Cambria Math" panose="02040503050406030204" pitchFamily="18" charset="0"/>
                                    </a:rPr>
                                  </m:ctrlPr>
                                </m:sSubSup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𝒊</m:t>
                                  </m:r>
                                </m:sub>
                                <m:sup>
                                  <m:r>
                                    <a:rPr lang="en-US" altLang="zh-CN" sz="1600" b="1" i="1">
                                      <a:latin typeface="Cambria Math" panose="02040503050406030204" pitchFamily="18" charset="0"/>
                                    </a:rPr>
                                    <m:t>𝑳</m:t>
                                  </m:r>
                                </m:sup>
                              </m:sSubSup>
                              <m:r>
                                <a:rPr lang="en-US" altLang="zh-CN" sz="1600" b="1"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𝒊</m:t>
                                  </m:r>
                                  <m:r>
                                    <a:rPr lang="en-US" altLang="zh-CN" sz="1600" b="1" i="1">
                                      <a:latin typeface="Cambria Math" panose="02040503050406030204" pitchFamily="18" charset="0"/>
                                    </a:rPr>
                                    <m:t>−</m:t>
                                  </m:r>
                                  <m:r>
                                    <a:rPr lang="en-US" altLang="zh-CN" sz="1600" b="1" i="1">
                                      <a:latin typeface="Cambria Math" panose="02040503050406030204" pitchFamily="18" charset="0"/>
                                    </a:rPr>
                                    <m:t>𝟏</m:t>
                                  </m:r>
                                </m:sub>
                              </m:sSub>
                            </m:e>
                          </m:d>
                        </m:den>
                      </m:f>
                    </m:oMath>
                  </m:oMathPara>
                </a14:m>
                <a:endParaRPr lang="en-US" altLang="zh-CN" sz="1600" b="1" dirty="0">
                  <a:latin typeface="Cambria Math" panose="02040503050406030204" pitchFamily="18" charset="0"/>
                </a:endParaRPr>
              </a:p>
              <a:p>
                <a:pPr>
                  <a:spcBef>
                    <a:spcPts val="800"/>
                  </a:spcBef>
                </a:pPr>
                <a:r>
                  <a:rPr lang="zh-CN" altLang="en-US" sz="1600" dirty="0">
                    <a:latin typeface="Cambria Math" panose="02040503050406030204" pitchFamily="18" charset="0"/>
                  </a:rPr>
                  <a:t>概率密度转换：</a:t>
                </a:r>
                <a:endParaRPr lang="en-US" altLang="zh-CN" sz="1600" dirty="0">
                  <a:latin typeface="Cambria Math" panose="02040503050406030204" pitchFamily="18" charset="0"/>
                </a:endParaRPr>
              </a:p>
              <a:p>
                <a:pPr/>
                <a14:m>
                  <m:oMathPara xmlns:m="http://schemas.openxmlformats.org/officeDocument/2006/math">
                    <m:o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b="0" i="1" smtClean="0">
                              <a:latin typeface="Cambria Math" panose="02040503050406030204" pitchFamily="18" charset="0"/>
                            </a:rPr>
                            <m:t>𝐿</m:t>
                          </m:r>
                        </m:sub>
                        <m:sup>
                          <m:r>
                            <a:rPr lang="en-US" altLang="zh-CN" sz="1600" b="0" i="1" smtClean="0">
                              <a:latin typeface="Cambria Math" panose="02040503050406030204" pitchFamily="18" charset="0"/>
                            </a:rPr>
                            <m:t>𝜔</m:t>
                          </m:r>
                        </m:sup>
                      </m:sSubSup>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Sub>
                        </m:e>
                      </m:d>
                      <m:r>
                        <a:rPr lang="en-US" altLang="zh-CN" sz="1600" b="0" i="1" smtClean="0">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b="0" i="1" smtClean="0">
                              <a:latin typeface="Cambria Math" panose="02040503050406030204" pitchFamily="18" charset="0"/>
                            </a:rPr>
                            <m:t>𝐿</m:t>
                          </m:r>
                        </m:sub>
                        <m:sup>
                          <m:r>
                            <a:rPr lang="en-US" altLang="zh-CN" sz="1600" i="1">
                              <a:latin typeface="Cambria Math" panose="02040503050406030204" pitchFamily="18" charset="0"/>
                            </a:rPr>
                            <m:t>𝐴</m:t>
                          </m:r>
                        </m:sup>
                      </m:sSubSup>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𝒊</m:t>
                              </m:r>
                            </m:sub>
                          </m:sSub>
                        </m:e>
                      </m:d>
                      <m:d>
                        <m:dPr>
                          <m:begChr m:val="|"/>
                          <m:endChr m:val="|"/>
                          <m:ctrlPr>
                            <a:rPr lang="en-US" altLang="zh-CN" sz="1600" b="0" i="1" smtClean="0">
                              <a:latin typeface="Cambria Math" panose="02040503050406030204" pitchFamily="18" charset="0"/>
                            </a:rPr>
                          </m:ctrlPr>
                        </m:dPr>
                        <m:e>
                          <m:func>
                            <m:funcPr>
                              <m:ctrlPr>
                                <a:rPr lang="en-US" altLang="zh-CN" sz="1600" b="0" i="0" smtClean="0">
                                  <a:latin typeface="Cambria Math" panose="02040503050406030204" pitchFamily="18" charset="0"/>
                                </a:rPr>
                              </m:ctrlPr>
                            </m:funcPr>
                            <m:fName>
                              <m:r>
                                <m:rPr>
                                  <m:sty m:val="p"/>
                                </m:rPr>
                                <a:rPr lang="en-US" altLang="zh-CN" sz="1600" b="0" i="0" smtClean="0">
                                  <a:latin typeface="Cambria Math" panose="02040503050406030204" pitchFamily="18" charset="0"/>
                                </a:rPr>
                                <m:t>det</m:t>
                              </m:r>
                            </m:fName>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𝑑𝐴</m:t>
                                      </m:r>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sub>
                                          </m:sSub>
                                        </m:e>
                                      </m:d>
                                    </m:num>
                                    <m:den>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Sub>
                                    </m:den>
                                  </m:f>
                                </m:e>
                              </m:d>
                            </m:e>
                          </m:func>
                        </m:e>
                      </m:d>
                    </m:oMath>
                    <m:oMath>
                      <m:r>
                        <a:rPr lang="en-US" altLang="zh-CN" sz="1600" b="0" i="1" smtClean="0">
                          <a:latin typeface="Cambria Math" panose="02040503050406030204" pitchFamily="18" charset="0"/>
                        </a:rPr>
                        <m:t>               =</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b="0" i="1" smtClean="0">
                              <a:latin typeface="Cambria Math" panose="02040503050406030204" pitchFamily="18" charset="0"/>
                            </a:rPr>
                            <m:t>𝐿</m:t>
                          </m:r>
                        </m:sub>
                        <m:sup>
                          <m:r>
                            <a:rPr lang="en-US" altLang="zh-CN" sz="1600" i="1">
                              <a:latin typeface="Cambria Math" panose="02040503050406030204" pitchFamily="18" charset="0"/>
                            </a:rPr>
                            <m:t>𝐴</m:t>
                          </m:r>
                        </m:sup>
                      </m:sSubSup>
                      <m:d>
                        <m:dPr>
                          <m:ctrlPr>
                            <a:rPr lang="en-US" altLang="zh-CN" sz="1600" b="1" i="1">
                              <a:latin typeface="Cambria Math" panose="02040503050406030204" pitchFamily="18" charset="0"/>
                            </a:rPr>
                          </m:ctrlPr>
                        </m:dPr>
                        <m:e>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𝒊</m:t>
                              </m:r>
                            </m:sub>
                          </m:sSub>
                        </m:e>
                      </m:d>
                      <m:f>
                        <m:fPr>
                          <m:ctrlPr>
                            <a:rPr lang="en-US" altLang="zh-CN" sz="1600" b="1" i="1" smtClean="0">
                              <a:latin typeface="Cambria Math" panose="02040503050406030204" pitchFamily="18" charset="0"/>
                            </a:rPr>
                          </m:ctrlPr>
                        </m:fPr>
                        <m:num>
                          <m:d>
                            <m:dPr>
                              <m:begChr m:val="‖"/>
                              <m:endChr m:val="‖"/>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sub>
                              </m:sSub>
                              <m:r>
                                <a:rPr lang="en-US" altLang="zh-CN" sz="1600" i="1">
                                  <a:latin typeface="Cambria Math" panose="02040503050406030204" pitchFamily="18" charset="0"/>
                                </a:rPr>
                                <m:t>−</m:t>
                              </m:r>
                              <m:sSub>
                                <m:sSubPr>
                                  <m:ctrlPr>
                                    <a:rPr lang="en-US" altLang="zh-CN" sz="1600" b="1" i="1">
                                      <a:latin typeface="Cambria Math" panose="02040503050406030204" pitchFamily="18" charset="0"/>
                                    </a:rPr>
                                  </m:ctrlPr>
                                </m:sSubPr>
                                <m:e>
                                  <m:r>
                                    <a:rPr lang="en-US" altLang="zh-CN" sz="1600" b="1" i="1">
                                      <a:latin typeface="Cambria Math" panose="02040503050406030204" pitchFamily="18" charset="0"/>
                                    </a:rPr>
                                    <m:t>𝒑</m:t>
                                  </m:r>
                                </m:e>
                                <m:sub>
                                  <m:r>
                                    <a:rPr lang="en-US" altLang="zh-CN" sz="1600" b="1" i="1">
                                      <a:latin typeface="Cambria Math" panose="02040503050406030204" pitchFamily="18" charset="0"/>
                                    </a:rPr>
                                    <m:t>𝒊</m:t>
                                  </m:r>
                                  <m:r>
                                    <a:rPr lang="en-US" altLang="zh-CN" sz="1600" b="1" i="1">
                                      <a:latin typeface="Cambria Math" panose="02040503050406030204" pitchFamily="18" charset="0"/>
                                    </a:rPr>
                                    <m:t>−</m:t>
                                  </m:r>
                                  <m:r>
                                    <a:rPr lang="en-US" altLang="zh-CN" sz="1600" b="1" i="1">
                                      <a:latin typeface="Cambria Math" panose="02040503050406030204" pitchFamily="18" charset="0"/>
                                    </a:rPr>
                                    <m:t>𝟏</m:t>
                                  </m:r>
                                </m:sub>
                              </m:sSub>
                            </m:e>
                          </m:d>
                        </m:num>
                        <m:den>
                          <m:d>
                            <m:dPr>
                              <m:begChr m:val="|"/>
                              <m:endChr m:val="|"/>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𝒏</m:t>
                                  </m:r>
                                </m:e>
                                <m:sub>
                                  <m:r>
                                    <a:rPr lang="en-US" altLang="zh-CN" sz="1600" b="1" i="1" smtClean="0">
                                      <a:latin typeface="Cambria Math" panose="02040503050406030204" pitchFamily="18" charset="0"/>
                                    </a:rPr>
                                    <m:t>𝒊</m:t>
                                  </m:r>
                                </m:sub>
                              </m:sSub>
                              <m:r>
                                <a:rPr lang="en-US" altLang="zh-CN" sz="1600" b="1" i="1" smtClean="0">
                                  <a:latin typeface="Cambria Math" panose="02040503050406030204" pitchFamily="18" charset="0"/>
                                  <a:ea typeface="Cambria Math" panose="02040503050406030204" pitchFamily="18" charset="0"/>
                                </a:rPr>
                                <m:t>∙</m:t>
                              </m:r>
                              <m:d>
                                <m:dPr>
                                  <m:ctrlPr>
                                    <a:rPr lang="en-US" altLang="zh-CN" sz="1600" b="0" i="1" smtClean="0">
                                      <a:latin typeface="Cambria Math" panose="02040503050406030204" pitchFamily="18" charset="0"/>
                                      <a:ea typeface="Cambria Math" panose="02040503050406030204" pitchFamily="18" charset="0"/>
                                    </a:rPr>
                                  </m:ctrlPr>
                                </m:dPr>
                                <m:e>
                                  <m:r>
                                    <a:rPr lang="en-US" altLang="zh-CN" sz="1600" b="0" i="1" smtClean="0">
                                      <a:latin typeface="Cambria Math" panose="02040503050406030204" pitchFamily="18" charset="0"/>
                                      <a:ea typeface="Cambria Math" panose="02040503050406030204" pitchFamily="18" charset="0"/>
                                    </a:rPr>
                                    <m:t>−</m:t>
                                  </m:r>
                                  <m:sSub>
                                    <m:sSubPr>
                                      <m:ctrlPr>
                                        <a:rPr lang="en-US" altLang="zh-CN" sz="1600" b="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𝜔</m:t>
                                      </m:r>
                                    </m:e>
                                    <m:sub>
                                      <m:r>
                                        <a:rPr lang="en-US" altLang="zh-CN" sz="1600" b="0" i="1" smtClean="0">
                                          <a:latin typeface="Cambria Math" panose="02040503050406030204" pitchFamily="18" charset="0"/>
                                          <a:ea typeface="Cambria Math" panose="02040503050406030204" pitchFamily="18" charset="0"/>
                                        </a:rPr>
                                        <m:t>𝑖</m:t>
                                      </m:r>
                                    </m:sub>
                                  </m:sSub>
                                </m:e>
                              </m:d>
                            </m:e>
                          </m:d>
                        </m:den>
                      </m:f>
                    </m:oMath>
                  </m:oMathPara>
                </a14:m>
                <a:endParaRPr lang="en-US" altLang="zh-CN" sz="1600" b="0" i="1" dirty="0">
                  <a:latin typeface="Cambria Math" panose="02040503050406030204" pitchFamily="18" charset="0"/>
                </a:endParaRPr>
              </a:p>
              <a:p>
                <a:pPr>
                  <a:spcBef>
                    <a:spcPts val="800"/>
                  </a:spcBef>
                </a:pPr>
                <a:r>
                  <a:rPr lang="zh-CN" altLang="en-US" sz="1600" b="0" dirty="0">
                    <a:latin typeface="Cambria Math" panose="02040503050406030204" pitchFamily="18" charset="0"/>
                  </a:rPr>
                  <a:t>蒙特卡洛估计：</a:t>
                </a:r>
                <a:endParaRPr lang="en-US" altLang="zh-CN" sz="1600" b="0" dirty="0">
                  <a:latin typeface="Cambria Math" panose="02040503050406030204" pitchFamily="18" charset="0"/>
                </a:endParaRPr>
              </a:p>
              <a:p>
                <a:pPr/>
                <a14:m>
                  <m:oMathPara xmlns:m="http://schemas.openxmlformats.org/officeDocument/2006/math">
                    <m:oMath>
                      <m:sSubSup>
                        <m:sSubSupPr>
                          <m:ctrlPr>
                            <a:rPr lang="en-US" altLang="zh-CN" sz="1600" i="1" dirty="0">
                              <a:latin typeface="Cambria Math" panose="02040503050406030204" pitchFamily="18" charset="0"/>
                            </a:rPr>
                          </m:ctrlPr>
                        </m:sSubSup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𝐷</m:t>
                              </m:r>
                            </m:e>
                          </m:acc>
                        </m:e>
                        <m:sub>
                          <m:r>
                            <a:rPr lang="en-US" altLang="zh-CN" sz="1600" i="1" dirty="0">
                              <a:latin typeface="Cambria Math" panose="02040503050406030204" pitchFamily="18" charset="0"/>
                            </a:rPr>
                            <m:t>𝑖</m:t>
                          </m:r>
                        </m:sub>
                        <m:sup>
                          <m:r>
                            <a:rPr lang="en-US" altLang="zh-CN" sz="1600" b="0" i="1" dirty="0" smtClean="0">
                              <a:latin typeface="Cambria Math" panose="02040503050406030204" pitchFamily="18" charset="0"/>
                            </a:rPr>
                            <m:t>𝐿</m:t>
                          </m:r>
                        </m:sup>
                      </m:sSubSup>
                      <m:r>
                        <a:rPr lang="en-US" altLang="zh-CN" sz="1600" b="0" i="1" smtClean="0">
                          <a:latin typeface="Cambria Math" panose="02040503050406030204" pitchFamily="18" charset="0"/>
                        </a:rPr>
                        <m:t>=</m:t>
                      </m:r>
                      <m:f>
                        <m:fPr>
                          <m:ctrlPr>
                            <a:rPr lang="en-US" altLang="zh-CN" sz="1600" i="1" dirty="0" smtClean="0">
                              <a:latin typeface="Cambria Math" panose="02040503050406030204" pitchFamily="18" charset="0"/>
                            </a:rPr>
                          </m:ctrlPr>
                        </m:fPr>
                        <m:num>
                          <m:sSub>
                            <m:sSubPr>
                              <m:ctrlPr>
                                <a:rPr lang="en-US" altLang="zh-CN" sz="1600" i="1" dirty="0" smtClean="0">
                                  <a:latin typeface="Cambria Math" panose="02040503050406030204" pitchFamily="18" charset="0"/>
                                </a:rPr>
                              </m:ctrlPr>
                            </m:sSubPr>
                            <m:e>
                              <m:r>
                                <a:rPr lang="en-US" altLang="zh-CN" sz="1600" i="1" dirty="0" smtClean="0">
                                  <a:latin typeface="Cambria Math" panose="02040503050406030204" pitchFamily="18" charset="0"/>
                                </a:rPr>
                                <m:t>𝐹</m:t>
                              </m:r>
                            </m:e>
                            <m:sub>
                              <m:r>
                                <a:rPr lang="en-US" altLang="zh-CN" sz="1600" b="0" i="1" dirty="0" smtClean="0">
                                  <a:latin typeface="Cambria Math" panose="02040503050406030204" pitchFamily="18" charset="0"/>
                                </a:rPr>
                                <m:t>𝑖</m:t>
                              </m:r>
                            </m:sub>
                          </m:sSub>
                          <m:d>
                            <m:dPr>
                              <m:ctrlPr>
                                <a:rPr lang="en-US" altLang="zh-CN" sz="1600" i="1" dirty="0">
                                  <a:latin typeface="Cambria Math" panose="02040503050406030204" pitchFamily="18" charset="0"/>
                                </a:rPr>
                              </m:ctrlPr>
                            </m:dPr>
                            <m:e>
                              <m:sSubSup>
                                <m:sSubSupPr>
                                  <m:ctrlPr>
                                    <a:rPr lang="en-US" altLang="zh-CN" sz="1600" i="1" dirty="0">
                                      <a:latin typeface="Cambria Math" panose="02040503050406030204" pitchFamily="18" charset="0"/>
                                    </a:rPr>
                                  </m:ctrlPr>
                                </m:sSubSup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up>
                                  <m:r>
                                    <a:rPr lang="en-US" altLang="zh-CN" sz="1600" i="1" dirty="0">
                                      <a:latin typeface="Cambria Math" panose="02040503050406030204" pitchFamily="18" charset="0"/>
                                    </a:rPr>
                                    <m:t>𝐿</m:t>
                                  </m:r>
                                </m:sup>
                              </m:sSubSup>
                            </m:e>
                          </m:d>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b="0" i="1" smtClean="0">
                                  <a:latin typeface="Cambria Math" panose="02040503050406030204" pitchFamily="18" charset="0"/>
                                </a:rPr>
                                <m:t>𝐿</m:t>
                              </m:r>
                            </m:sub>
                            <m:sup>
                              <m:r>
                                <a:rPr lang="en-US" altLang="zh-CN" sz="1600" i="1">
                                  <a:latin typeface="Cambria Math" panose="02040503050406030204" pitchFamily="18" charset="0"/>
                                </a:rPr>
                                <m:t>𝜔</m:t>
                              </m:r>
                            </m:sup>
                          </m:sSubSup>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𝐿</m:t>
                                  </m:r>
                                </m:sup>
                              </m:sSubSup>
                            </m:e>
                          </m:d>
                        </m:den>
                      </m:f>
                    </m:oMath>
                  </m:oMathPara>
                </a14:m>
                <a:endParaRPr lang="en-US" altLang="zh-CN" sz="1600" b="0" dirty="0">
                  <a:latin typeface="Cambria Math" panose="02040503050406030204" pitchFamily="18" charset="0"/>
                </a:endParaRPr>
              </a:p>
            </p:txBody>
          </p:sp>
        </mc:Choice>
        <mc:Fallback xmlns="">
          <p:sp>
            <p:nvSpPr>
              <p:cNvPr id="11" name="文本框 10">
                <a:extLst>
                  <a:ext uri="{FF2B5EF4-FFF2-40B4-BE49-F238E27FC236}">
                    <a16:creationId xmlns:a16="http://schemas.microsoft.com/office/drawing/2014/main" id="{16950B7A-7599-F038-6BD8-A1BD0D7350A1}"/>
                  </a:ext>
                </a:extLst>
              </p:cNvPr>
              <p:cNvSpPr txBox="1">
                <a:spLocks noRot="1" noChangeAspect="1" noMove="1" noResize="1" noEditPoints="1" noAdjustHandles="1" noChangeArrowheads="1" noChangeShapeType="1" noTextEdit="1"/>
              </p:cNvSpPr>
              <p:nvPr/>
            </p:nvSpPr>
            <p:spPr>
              <a:xfrm>
                <a:off x="1073242" y="2311546"/>
                <a:ext cx="4481846" cy="4227311"/>
              </a:xfrm>
              <a:prstGeom prst="rect">
                <a:avLst/>
              </a:prstGeom>
              <a:blipFill>
                <a:blip r:embed="rId3"/>
                <a:stretch>
                  <a:fillRect l="-270" t="-429"/>
                </a:stretch>
              </a:blipFill>
              <a:ln w="381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CC360C8-F3D5-64E1-AFA2-C4E3B1DF6BFC}"/>
                  </a:ext>
                </a:extLst>
              </p:cNvPr>
              <p:cNvSpPr txBox="1"/>
              <p:nvPr/>
            </p:nvSpPr>
            <p:spPr>
              <a:xfrm>
                <a:off x="7277517" y="1249730"/>
                <a:ext cx="4179193" cy="2472408"/>
              </a:xfrm>
              <a:prstGeom prst="rect">
                <a:avLst/>
              </a:prstGeom>
              <a:ln w="38100"/>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zh-CN" altLang="en-US" b="1" dirty="0">
                    <a:latin typeface="Cambria Math" panose="02040503050406030204" pitchFamily="18" charset="0"/>
                  </a:rPr>
                  <a:t>向</a:t>
                </a:r>
                <a:r>
                  <a:rPr lang="en-US" altLang="zh-CN" b="1" dirty="0">
                    <a:latin typeface="Cambria Math" panose="02040503050406030204" pitchFamily="18" charset="0"/>
                  </a:rPr>
                  <a:t>BSDF</a:t>
                </a:r>
                <a:r>
                  <a:rPr lang="zh-CN" altLang="en-US" b="1" dirty="0">
                    <a:latin typeface="Cambria Math" panose="02040503050406030204" pitchFamily="18" charset="0"/>
                  </a:rPr>
                  <a:t>采样</a:t>
                </a:r>
                <a:endParaRPr lang="en-US" altLang="zh-CN" b="1" dirty="0">
                  <a:latin typeface="Cambria Math" panose="02040503050406030204" pitchFamily="18" charset="0"/>
                </a:endParaRPr>
              </a:p>
              <a:p>
                <a:r>
                  <a:rPr lang="zh-CN" altLang="en-US" sz="1600" dirty="0">
                    <a:latin typeface="Cambria Math" panose="02040503050406030204" pitchFamily="18" charset="0"/>
                  </a:rPr>
                  <a:t>采样</a:t>
                </a:r>
                <a:r>
                  <a:rPr lang="en-US" altLang="zh-CN" sz="1600" dirty="0">
                    <a:latin typeface="Cambria Math" panose="02040503050406030204" pitchFamily="18" charset="0"/>
                  </a:rPr>
                  <a:t>BSDF</a:t>
                </a:r>
                <a:r>
                  <a:rPr lang="zh-CN" altLang="en-US" sz="1600" dirty="0">
                    <a:latin typeface="Cambria Math" panose="02040503050406030204" pitchFamily="18" charset="0"/>
                  </a:rPr>
                  <a:t>：</a:t>
                </a:r>
                <a:endParaRPr lang="en-US" altLang="zh-CN" sz="1600" dirty="0">
                  <a:latin typeface="Cambria Math" panose="02040503050406030204" pitchFamily="18" charset="0"/>
                </a:endParaRPr>
              </a:p>
              <a:p>
                <a:pPr/>
                <a14:m>
                  <m:oMathPara xmlns:m="http://schemas.openxmlformats.org/officeDocument/2006/math">
                    <m:oMath>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𝐵</m:t>
                          </m:r>
                        </m:sup>
                      </m:sSubSup>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𝑝</m:t>
                          </m:r>
                        </m:e>
                        <m:sub>
                          <m:r>
                            <a:rPr lang="en-US" altLang="zh-CN" sz="1600" b="0" i="1" smtClean="0">
                              <a:latin typeface="Cambria Math" panose="02040503050406030204" pitchFamily="18" charset="0"/>
                            </a:rPr>
                            <m:t>𝐵</m:t>
                          </m:r>
                        </m:sub>
                        <m:sup>
                          <m:r>
                            <a:rPr lang="en-US" altLang="zh-CN" sz="1600" b="0" i="1" smtClean="0">
                              <a:latin typeface="Cambria Math" panose="02040503050406030204" pitchFamily="18" charset="0"/>
                            </a:rPr>
                            <m:t>𝜔</m:t>
                          </m:r>
                        </m:sup>
                      </m:sSubSup>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Sub>
                        </m:e>
                      </m:d>
                    </m:oMath>
                  </m:oMathPara>
                </a14:m>
                <a:endParaRPr lang="en-US" altLang="zh-CN" sz="1600" b="0" i="1" dirty="0">
                  <a:latin typeface="Cambria Math" panose="02040503050406030204" pitchFamily="18" charset="0"/>
                </a:endParaRPr>
              </a:p>
              <a:p>
                <a:pPr>
                  <a:spcBef>
                    <a:spcPts val="800"/>
                  </a:spcBef>
                </a:pPr>
                <a:r>
                  <a:rPr lang="zh-CN" altLang="en-US" sz="1600" dirty="0">
                    <a:latin typeface="Cambria Math" panose="02040503050406030204" pitchFamily="18" charset="0"/>
                  </a:rPr>
                  <a:t>沿该方向找到交点：</a:t>
                </a:r>
                <a:endParaRPr lang="en-US" altLang="zh-CN" sz="1600" dirty="0">
                  <a:latin typeface="Cambria Math" panose="02040503050406030204" pitchFamily="18" charset="0"/>
                </a:endParaRPr>
              </a:p>
              <a:p>
                <a:pPr/>
                <a14:m>
                  <m:oMathPara xmlns:m="http://schemas.openxmlformats.org/officeDocument/2006/math">
                    <m:oMath>
                      <m:sSubSup>
                        <m:sSubSupPr>
                          <m:ctrlPr>
                            <a:rPr lang="en-US" altLang="zh-CN" sz="1600" b="1" i="1" smtClean="0">
                              <a:latin typeface="Cambria Math" panose="02040503050406030204" pitchFamily="18" charset="0"/>
                            </a:rPr>
                          </m:ctrlPr>
                        </m:sSubSup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sub>
                        <m:sup>
                          <m:r>
                            <a:rPr lang="en-US" altLang="zh-CN" sz="1600" b="1" i="1" smtClean="0">
                              <a:latin typeface="Cambria Math" panose="02040503050406030204" pitchFamily="18" charset="0"/>
                            </a:rPr>
                            <m:t>𝑩</m:t>
                          </m:r>
                        </m:sup>
                      </m:sSub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𝑖𝑛𝑡𝑒𝑟𝑠𝑒𝑐𝑡</m:t>
                      </m:r>
                      <m:r>
                        <a:rPr lang="en-US" altLang="zh-CN" sz="1600" b="0" i="1" smtClean="0">
                          <a:latin typeface="Cambria Math" panose="02040503050406030204" pitchFamily="18" charset="0"/>
                        </a:rPr>
                        <m:t>(</m:t>
                      </m:r>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𝒊</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sub>
                      </m:sSub>
                      <m:r>
                        <a:rPr lang="en-US" altLang="zh-CN" sz="1600" b="0" i="1" smtClean="0">
                          <a:latin typeface="Cambria Math" panose="02040503050406030204" pitchFamily="18" charset="0"/>
                        </a:rPr>
                        <m:t>, </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𝐵</m:t>
                          </m:r>
                        </m:sup>
                      </m:sSubSup>
                      <m:r>
                        <a:rPr lang="en-US" altLang="zh-CN" sz="1600" b="0" i="1" smtClean="0">
                          <a:latin typeface="Cambria Math" panose="02040503050406030204" pitchFamily="18" charset="0"/>
                        </a:rPr>
                        <m:t>)</m:t>
                      </m:r>
                    </m:oMath>
                  </m:oMathPara>
                </a14:m>
                <a:endParaRPr lang="en-US" altLang="zh-CN" sz="1600" dirty="0">
                  <a:latin typeface="Cambria Math" panose="02040503050406030204" pitchFamily="18" charset="0"/>
                </a:endParaRPr>
              </a:p>
              <a:p>
                <a:pPr>
                  <a:spcBef>
                    <a:spcPts val="800"/>
                  </a:spcBef>
                </a:pPr>
                <a:r>
                  <a:rPr lang="zh-CN" altLang="en-US" sz="1600" b="0" dirty="0">
                    <a:latin typeface="Cambria Math" panose="02040503050406030204" pitchFamily="18" charset="0"/>
                  </a:rPr>
                  <a:t>蒙特卡洛估计：</a:t>
                </a:r>
                <a:endParaRPr lang="en-US" altLang="zh-CN" sz="1600" b="0" dirty="0">
                  <a:latin typeface="Cambria Math" panose="02040503050406030204" pitchFamily="18" charset="0"/>
                </a:endParaRPr>
              </a:p>
              <a:p>
                <a:pPr/>
                <a14:m>
                  <m:oMathPara xmlns:m="http://schemas.openxmlformats.org/officeDocument/2006/math">
                    <m:oMath>
                      <m:sSubSup>
                        <m:sSubSupPr>
                          <m:ctrlPr>
                            <a:rPr lang="en-US" altLang="zh-CN" sz="1600" i="1" dirty="0">
                              <a:latin typeface="Cambria Math" panose="02040503050406030204" pitchFamily="18" charset="0"/>
                            </a:rPr>
                          </m:ctrlPr>
                        </m:sSubSup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𝐷</m:t>
                              </m:r>
                            </m:e>
                          </m:acc>
                        </m:e>
                        <m:sub>
                          <m:r>
                            <a:rPr lang="en-US" altLang="zh-CN" sz="1600" i="1" dirty="0">
                              <a:latin typeface="Cambria Math" panose="02040503050406030204" pitchFamily="18" charset="0"/>
                            </a:rPr>
                            <m:t>𝑖</m:t>
                          </m:r>
                        </m:sub>
                        <m:sup>
                          <m:r>
                            <a:rPr lang="en-US" altLang="zh-CN" sz="1600" b="0" i="1" dirty="0" smtClean="0">
                              <a:latin typeface="Cambria Math" panose="02040503050406030204" pitchFamily="18" charset="0"/>
                            </a:rPr>
                            <m:t>𝐵</m:t>
                          </m:r>
                        </m:sup>
                      </m:sSubSup>
                      <m:r>
                        <a:rPr lang="en-US" altLang="zh-CN" sz="1600" b="0" i="1" smtClean="0">
                          <a:latin typeface="Cambria Math" panose="02040503050406030204" pitchFamily="18" charset="0"/>
                        </a:rPr>
                        <m:t>=</m:t>
                      </m:r>
                      <m:f>
                        <m:fPr>
                          <m:ctrlPr>
                            <a:rPr lang="en-US" altLang="zh-CN" sz="1600" b="0" i="1" dirty="0" smtClean="0">
                              <a:latin typeface="Cambria Math" panose="02040503050406030204" pitchFamily="18" charset="0"/>
                            </a:rPr>
                          </m:ctrlPr>
                        </m:fPr>
                        <m:num>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𝐹</m:t>
                              </m:r>
                            </m:e>
                            <m:sub>
                              <m:r>
                                <a:rPr lang="en-US" altLang="zh-CN" sz="1600" b="0" i="1" dirty="0" smtClean="0">
                                  <a:latin typeface="Cambria Math" panose="02040503050406030204" pitchFamily="18" charset="0"/>
                                </a:rPr>
                                <m:t>𝑖</m:t>
                              </m:r>
                            </m:sub>
                          </m:sSub>
                          <m:d>
                            <m:dPr>
                              <m:ctrlPr>
                                <a:rPr lang="en-US" altLang="zh-CN" sz="1600" i="1" dirty="0">
                                  <a:latin typeface="Cambria Math" panose="02040503050406030204" pitchFamily="18" charset="0"/>
                                </a:rPr>
                              </m:ctrlPr>
                            </m:dPr>
                            <m:e>
                              <m:sSubSup>
                                <m:sSubSupPr>
                                  <m:ctrlPr>
                                    <a:rPr lang="en-US" altLang="zh-CN" sz="1600" i="1" dirty="0">
                                      <a:latin typeface="Cambria Math" panose="02040503050406030204" pitchFamily="18" charset="0"/>
                                    </a:rPr>
                                  </m:ctrlPr>
                                </m:sSubSup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up>
                                  <m:r>
                                    <a:rPr lang="en-US" altLang="zh-CN" sz="1600" b="0" i="1" dirty="0" smtClean="0">
                                      <a:latin typeface="Cambria Math" panose="02040503050406030204" pitchFamily="18" charset="0"/>
                                    </a:rPr>
                                    <m:t>𝐵</m:t>
                                  </m:r>
                                </m:sup>
                              </m:sSubSup>
                            </m:e>
                          </m:d>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b="0" i="1" smtClean="0">
                                  <a:latin typeface="Cambria Math" panose="02040503050406030204" pitchFamily="18" charset="0"/>
                                </a:rPr>
                                <m:t>𝐵</m:t>
                              </m:r>
                            </m:sub>
                            <m:sup>
                              <m:r>
                                <a:rPr lang="en-US" altLang="zh-CN" sz="1600" i="1">
                                  <a:latin typeface="Cambria Math" panose="02040503050406030204" pitchFamily="18" charset="0"/>
                                </a:rPr>
                                <m:t>𝜔</m:t>
                              </m:r>
                            </m:sup>
                          </m:sSubSup>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𝐵</m:t>
                                  </m:r>
                                </m:sup>
                              </m:sSubSup>
                            </m:e>
                          </m:d>
                        </m:den>
                      </m:f>
                    </m:oMath>
                  </m:oMathPara>
                </a14:m>
                <a:endParaRPr lang="en-US" altLang="zh-CN" sz="1600" b="0" dirty="0">
                  <a:latin typeface="Cambria Math" panose="02040503050406030204" pitchFamily="18" charset="0"/>
                </a:endParaRPr>
              </a:p>
            </p:txBody>
          </p:sp>
        </mc:Choice>
        <mc:Fallback xmlns="">
          <p:sp>
            <p:nvSpPr>
              <p:cNvPr id="16" name="文本框 15">
                <a:extLst>
                  <a:ext uri="{FF2B5EF4-FFF2-40B4-BE49-F238E27FC236}">
                    <a16:creationId xmlns:a16="http://schemas.microsoft.com/office/drawing/2014/main" id="{ECC360C8-F3D5-64E1-AFA2-C4E3B1DF6BFC}"/>
                  </a:ext>
                </a:extLst>
              </p:cNvPr>
              <p:cNvSpPr txBox="1">
                <a:spLocks noRot="1" noChangeAspect="1" noMove="1" noResize="1" noEditPoints="1" noAdjustHandles="1" noChangeArrowheads="1" noChangeShapeType="1" noTextEdit="1"/>
              </p:cNvSpPr>
              <p:nvPr/>
            </p:nvSpPr>
            <p:spPr>
              <a:xfrm>
                <a:off x="7277517" y="1249730"/>
                <a:ext cx="4179193" cy="2472408"/>
              </a:xfrm>
              <a:prstGeom prst="rect">
                <a:avLst/>
              </a:prstGeom>
              <a:blipFill>
                <a:blip r:embed="rId4"/>
                <a:stretch>
                  <a:fillRect l="-434" t="-728"/>
                </a:stretch>
              </a:blipFill>
              <a:ln w="38100"/>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A73216DA-666C-07C4-D524-3FAD56DF9CF6}"/>
              </a:ext>
            </a:extLst>
          </p:cNvPr>
          <p:cNvGrpSpPr/>
          <p:nvPr/>
        </p:nvGrpSpPr>
        <p:grpSpPr>
          <a:xfrm>
            <a:off x="6447626" y="3929761"/>
            <a:ext cx="5485326" cy="2742104"/>
            <a:chOff x="310861" y="3497222"/>
            <a:chExt cx="6094926" cy="3000778"/>
          </a:xfrm>
        </p:grpSpPr>
        <p:sp>
          <p:nvSpPr>
            <p:cNvPr id="20" name="流程图: 可选过程 19">
              <a:extLst>
                <a:ext uri="{FF2B5EF4-FFF2-40B4-BE49-F238E27FC236}">
                  <a16:creationId xmlns:a16="http://schemas.microsoft.com/office/drawing/2014/main" id="{256DE099-D96A-C4E6-98C7-0D1806E1BCFC}"/>
                </a:ext>
              </a:extLst>
            </p:cNvPr>
            <p:cNvSpPr/>
            <p:nvPr/>
          </p:nvSpPr>
          <p:spPr>
            <a:xfrm>
              <a:off x="310861" y="3497222"/>
              <a:ext cx="6094926" cy="3000778"/>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连接符 20">
              <a:extLst>
                <a:ext uri="{FF2B5EF4-FFF2-40B4-BE49-F238E27FC236}">
                  <a16:creationId xmlns:a16="http://schemas.microsoft.com/office/drawing/2014/main" id="{DDC3A902-1D0B-0B8C-C48F-B048BDA5B203}"/>
                </a:ext>
              </a:extLst>
            </p:cNvPr>
            <p:cNvCxnSpPr/>
            <p:nvPr/>
          </p:nvCxnSpPr>
          <p:spPr>
            <a:xfrm>
              <a:off x="1616880" y="4413303"/>
              <a:ext cx="754402" cy="298252"/>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7961CAB0-3CA2-357C-0AE7-FAB0D437D0FA}"/>
                </a:ext>
              </a:extLst>
            </p:cNvPr>
            <p:cNvCxnSpPr/>
            <p:nvPr/>
          </p:nvCxnSpPr>
          <p:spPr>
            <a:xfrm>
              <a:off x="2371282" y="4711554"/>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294F906A-A4B0-B6C5-8C28-16FAAC6ADAC8}"/>
                </a:ext>
              </a:extLst>
            </p:cNvPr>
            <p:cNvCxnSpPr>
              <a:cxnSpLocks/>
            </p:cNvCxnSpPr>
            <p:nvPr/>
          </p:nvCxnSpPr>
          <p:spPr>
            <a:xfrm flipV="1">
              <a:off x="2371282" y="4465029"/>
              <a:ext cx="752580" cy="246524"/>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7C25B54F-BD4B-5EA8-8DB6-25106BAD50AD}"/>
                </a:ext>
              </a:extLst>
            </p:cNvPr>
            <p:cNvCxnSpPr/>
            <p:nvPr/>
          </p:nvCxnSpPr>
          <p:spPr>
            <a:xfrm>
              <a:off x="3125685" y="5009806"/>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0D83D6C2-A3E6-AFC5-0E3F-B201DA680842}"/>
                </a:ext>
              </a:extLst>
            </p:cNvPr>
            <p:cNvCxnSpPr>
              <a:cxnSpLocks/>
            </p:cNvCxnSpPr>
            <p:nvPr/>
          </p:nvCxnSpPr>
          <p:spPr>
            <a:xfrm flipV="1">
              <a:off x="3125685" y="4763280"/>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576FA20A-51DD-5487-0CDF-ABEFAC8042E9}"/>
                </a:ext>
              </a:extLst>
            </p:cNvPr>
            <p:cNvCxnSpPr/>
            <p:nvPr/>
          </p:nvCxnSpPr>
          <p:spPr>
            <a:xfrm>
              <a:off x="3880087" y="5308058"/>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E8BAA137-CE16-9327-DA32-056923E88F08}"/>
                </a:ext>
              </a:extLst>
            </p:cNvPr>
            <p:cNvCxnSpPr>
              <a:cxnSpLocks/>
            </p:cNvCxnSpPr>
            <p:nvPr/>
          </p:nvCxnSpPr>
          <p:spPr>
            <a:xfrm flipV="1">
              <a:off x="3880087" y="5061532"/>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F1426F72-6CA1-6D7C-7746-D446E340F8A4}"/>
                </a:ext>
              </a:extLst>
            </p:cNvPr>
            <p:cNvCxnSpPr/>
            <p:nvPr/>
          </p:nvCxnSpPr>
          <p:spPr>
            <a:xfrm>
              <a:off x="4634489" y="5601434"/>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9F5EAB5-45CF-FB5C-9091-81BEE26ABBE7}"/>
                </a:ext>
              </a:extLst>
            </p:cNvPr>
            <p:cNvCxnSpPr>
              <a:cxnSpLocks/>
            </p:cNvCxnSpPr>
            <p:nvPr/>
          </p:nvCxnSpPr>
          <p:spPr>
            <a:xfrm flipV="1">
              <a:off x="4634489" y="5354907"/>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E95F1D55-E446-B31F-81B7-5B76DC1BBD93}"/>
                    </a:ext>
                  </a:extLst>
                </p:cNvPr>
                <p:cNvSpPr txBox="1"/>
                <p:nvPr/>
              </p:nvSpPr>
              <p:spPr>
                <a:xfrm>
                  <a:off x="1180325" y="4186192"/>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0</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DCE7F767-9850-A768-12C5-3EBDA3F36E68}"/>
                    </a:ext>
                  </a:extLst>
                </p:cNvPr>
                <p:cNvSpPr txBox="1">
                  <a:spLocks noRot="1" noChangeAspect="1" noMove="1" noResize="1" noEditPoints="1" noAdjustHandles="1" noChangeArrowheads="1" noChangeShapeType="1" noTextEdit="1"/>
                </p:cNvSpPr>
                <p:nvPr/>
              </p:nvSpPr>
              <p:spPr>
                <a:xfrm>
                  <a:off x="1180325" y="4186192"/>
                  <a:ext cx="542504" cy="359036"/>
                </a:xfrm>
                <a:prstGeom prst="rect">
                  <a:avLst/>
                </a:prstGeom>
                <a:blipFill>
                  <a:blip r:embed="rId6"/>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C069F0A-22C8-5464-B012-6FEDA419C808}"/>
                    </a:ext>
                  </a:extLst>
                </p:cNvPr>
                <p:cNvSpPr txBox="1"/>
                <p:nvPr/>
              </p:nvSpPr>
              <p:spPr>
                <a:xfrm>
                  <a:off x="2008740" y="4650771"/>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1</m:t>
                            </m:r>
                          </m:sub>
                        </m:sSub>
                      </m:oMath>
                    </m:oMathPara>
                  </a14:m>
                  <a:endParaRPr lang="zh-CN" altLang="en-US" dirty="0"/>
                </a:p>
              </p:txBody>
            </p:sp>
          </mc:Choice>
          <mc:Fallback xmlns="">
            <p:sp>
              <p:nvSpPr>
                <p:cNvPr id="23" name="文本框 22">
                  <a:extLst>
                    <a:ext uri="{FF2B5EF4-FFF2-40B4-BE49-F238E27FC236}">
                      <a16:creationId xmlns:a16="http://schemas.microsoft.com/office/drawing/2014/main" id="{341F5753-C250-8F15-2C23-AF3335F5A5C9}"/>
                    </a:ext>
                  </a:extLst>
                </p:cNvPr>
                <p:cNvSpPr txBox="1">
                  <a:spLocks noRot="1" noChangeAspect="1" noMove="1" noResize="1" noEditPoints="1" noAdjustHandles="1" noChangeArrowheads="1" noChangeShapeType="1" noTextEdit="1"/>
                </p:cNvSpPr>
                <p:nvPr/>
              </p:nvSpPr>
              <p:spPr>
                <a:xfrm>
                  <a:off x="2008740" y="4650771"/>
                  <a:ext cx="542504" cy="359036"/>
                </a:xfrm>
                <a:prstGeom prst="rect">
                  <a:avLst/>
                </a:prstGeom>
                <a:blipFill>
                  <a:blip r:embed="rId7"/>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897A400A-2E06-EB34-F803-2BBC29D406BB}"/>
                    </a:ext>
                  </a:extLst>
                </p:cNvPr>
                <p:cNvSpPr txBox="1"/>
                <p:nvPr/>
              </p:nvSpPr>
              <p:spPr>
                <a:xfrm>
                  <a:off x="2808787" y="4031383"/>
                  <a:ext cx="542504" cy="408383"/>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32" name="文本框 31">
                  <a:extLst>
                    <a:ext uri="{FF2B5EF4-FFF2-40B4-BE49-F238E27FC236}">
                      <a16:creationId xmlns:a16="http://schemas.microsoft.com/office/drawing/2014/main" id="{897A400A-2E06-EB34-F803-2BBC29D406BB}"/>
                    </a:ext>
                  </a:extLst>
                </p:cNvPr>
                <p:cNvSpPr txBox="1">
                  <a:spLocks noRot="1" noChangeAspect="1" noMove="1" noResize="1" noEditPoints="1" noAdjustHandles="1" noChangeArrowheads="1" noChangeShapeType="1" noTextEdit="1"/>
                </p:cNvSpPr>
                <p:nvPr/>
              </p:nvSpPr>
              <p:spPr>
                <a:xfrm>
                  <a:off x="2808787" y="4031383"/>
                  <a:ext cx="542504" cy="408383"/>
                </a:xfrm>
                <a:prstGeom prst="rect">
                  <a:avLst/>
                </a:prstGeom>
                <a:blipFill>
                  <a:blip r:embed="rId8"/>
                  <a:stretch>
                    <a:fillRect t="-8197" r="-17284"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B74316F-D211-0873-16EA-59B0469C6707}"/>
                    </a:ext>
                  </a:extLst>
                </p:cNvPr>
                <p:cNvSpPr txBox="1"/>
                <p:nvPr/>
              </p:nvSpPr>
              <p:spPr>
                <a:xfrm>
                  <a:off x="2266780" y="4949021"/>
                  <a:ext cx="1483324" cy="628312"/>
                </a:xfrm>
                <a:prstGeom prst="rect">
                  <a:avLst/>
                </a:prstGeom>
                <a:noFill/>
              </p:spPr>
              <p:txBody>
                <a:bodyPr wrap="square">
                  <a:spAutoFit/>
                </a:bodyPr>
                <a:lstStyle/>
                <a:p>
                  <a:pPr algn="ct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2</m:t>
                            </m:r>
                          </m:sub>
                        </m:sSub>
                      </m:oMath>
                    </m:oMathPara>
                  </a14:m>
                  <a:endParaRPr lang="en-US" altLang="zh-CN" dirty="0"/>
                </a:p>
                <a:p>
                  <a:pPr algn="ctr"/>
                  <a:r>
                    <a:rPr lang="en-US" altLang="zh-CN" dirty="0"/>
                    <a:t>(</a:t>
                  </a:r>
                  <a:r>
                    <a:rPr lang="en-US" altLang="zh-CN" dirty="0">
                      <a:solidFill>
                        <a:srgbClr val="00B050"/>
                      </a:solidFill>
                    </a:rPr>
                    <a:t>specular</a:t>
                  </a:r>
                  <a:r>
                    <a:rPr lang="en-US" altLang="zh-CN" dirty="0"/>
                    <a:t>)</a:t>
                  </a:r>
                  <a:endParaRPr lang="zh-CN" altLang="en-US" dirty="0"/>
                </a:p>
              </p:txBody>
            </p:sp>
          </mc:Choice>
          <mc:Fallback xmlns="">
            <p:sp>
              <p:nvSpPr>
                <p:cNvPr id="25" name="文本框 24">
                  <a:extLst>
                    <a:ext uri="{FF2B5EF4-FFF2-40B4-BE49-F238E27FC236}">
                      <a16:creationId xmlns:a16="http://schemas.microsoft.com/office/drawing/2014/main" id="{5197048D-5A3B-8D70-8823-01163689FDE6}"/>
                    </a:ext>
                  </a:extLst>
                </p:cNvPr>
                <p:cNvSpPr txBox="1">
                  <a:spLocks noRot="1" noChangeAspect="1" noMove="1" noResize="1" noEditPoints="1" noAdjustHandles="1" noChangeArrowheads="1" noChangeShapeType="1" noTextEdit="1"/>
                </p:cNvSpPr>
                <p:nvPr/>
              </p:nvSpPr>
              <p:spPr>
                <a:xfrm>
                  <a:off x="2266780" y="4949021"/>
                  <a:ext cx="1483324" cy="628312"/>
                </a:xfrm>
                <a:prstGeom prst="rect">
                  <a:avLst/>
                </a:prstGeom>
                <a:blipFill>
                  <a:blip r:embed="rId9"/>
                  <a:stretch>
                    <a:fillRect b="-174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3FDCAF05-B3EB-C2A7-3142-458F341EB3D5}"/>
                    </a:ext>
                  </a:extLst>
                </p:cNvPr>
                <p:cNvSpPr txBox="1"/>
                <p:nvPr/>
              </p:nvSpPr>
              <p:spPr>
                <a:xfrm>
                  <a:off x="3749607" y="4381757"/>
                  <a:ext cx="542504" cy="409927"/>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34" name="文本框 33">
                  <a:extLst>
                    <a:ext uri="{FF2B5EF4-FFF2-40B4-BE49-F238E27FC236}">
                      <a16:creationId xmlns:a16="http://schemas.microsoft.com/office/drawing/2014/main" id="{3FDCAF05-B3EB-C2A7-3142-458F341EB3D5}"/>
                    </a:ext>
                  </a:extLst>
                </p:cNvPr>
                <p:cNvSpPr txBox="1">
                  <a:spLocks noRot="1" noChangeAspect="1" noMove="1" noResize="1" noEditPoints="1" noAdjustHandles="1" noChangeArrowheads="1" noChangeShapeType="1" noTextEdit="1"/>
                </p:cNvSpPr>
                <p:nvPr/>
              </p:nvSpPr>
              <p:spPr>
                <a:xfrm>
                  <a:off x="3749607" y="4381757"/>
                  <a:ext cx="542504" cy="409927"/>
                </a:xfrm>
                <a:prstGeom prst="rect">
                  <a:avLst/>
                </a:prstGeom>
                <a:blipFill>
                  <a:blip r:embed="rId10"/>
                  <a:stretch>
                    <a:fillRect t="-6452" r="-18750"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6ED72EE-DBD1-ADB2-1F1D-3452938E82D9}"/>
                    </a:ext>
                  </a:extLst>
                </p:cNvPr>
                <p:cNvSpPr txBox="1"/>
                <p:nvPr/>
              </p:nvSpPr>
              <p:spPr>
                <a:xfrm>
                  <a:off x="3649316" y="5231988"/>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27" name="文本框 26">
                  <a:extLst>
                    <a:ext uri="{FF2B5EF4-FFF2-40B4-BE49-F238E27FC236}">
                      <a16:creationId xmlns:a16="http://schemas.microsoft.com/office/drawing/2014/main" id="{6FEF8028-F791-BADC-60AD-64D148AB3E6C}"/>
                    </a:ext>
                  </a:extLst>
                </p:cNvPr>
                <p:cNvSpPr txBox="1">
                  <a:spLocks noRot="1" noChangeAspect="1" noMove="1" noResize="1" noEditPoints="1" noAdjustHandles="1" noChangeArrowheads="1" noChangeShapeType="1" noTextEdit="1"/>
                </p:cNvSpPr>
                <p:nvPr/>
              </p:nvSpPr>
              <p:spPr>
                <a:xfrm>
                  <a:off x="3649316" y="5231988"/>
                  <a:ext cx="542504" cy="359036"/>
                </a:xfrm>
                <a:prstGeom prst="rect">
                  <a:avLst/>
                </a:prstGeom>
                <a:blipFill>
                  <a:blip r:embed="rId11"/>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1BFA5A8A-331B-E8DD-DB0E-9AF1F1894D27}"/>
                    </a:ext>
                  </a:extLst>
                </p:cNvPr>
                <p:cNvSpPr txBox="1"/>
                <p:nvPr/>
              </p:nvSpPr>
              <p:spPr>
                <a:xfrm>
                  <a:off x="4527668" y="4711553"/>
                  <a:ext cx="542504" cy="407541"/>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4</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36" name="文本框 35">
                  <a:extLst>
                    <a:ext uri="{FF2B5EF4-FFF2-40B4-BE49-F238E27FC236}">
                      <a16:creationId xmlns:a16="http://schemas.microsoft.com/office/drawing/2014/main" id="{1BFA5A8A-331B-E8DD-DB0E-9AF1F1894D27}"/>
                    </a:ext>
                  </a:extLst>
                </p:cNvPr>
                <p:cNvSpPr txBox="1">
                  <a:spLocks noRot="1" noChangeAspect="1" noMove="1" noResize="1" noEditPoints="1" noAdjustHandles="1" noChangeArrowheads="1" noChangeShapeType="1" noTextEdit="1"/>
                </p:cNvSpPr>
                <p:nvPr/>
              </p:nvSpPr>
              <p:spPr>
                <a:xfrm>
                  <a:off x="4527668" y="4711553"/>
                  <a:ext cx="542504" cy="407541"/>
                </a:xfrm>
                <a:prstGeom prst="rect">
                  <a:avLst/>
                </a:prstGeom>
                <a:blipFill>
                  <a:blip r:embed="rId12"/>
                  <a:stretch>
                    <a:fillRect t="-8197" r="-187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DC9CE5BB-0BF4-AF0E-B8AB-5847D81B5619}"/>
                    </a:ext>
                  </a:extLst>
                </p:cNvPr>
                <p:cNvSpPr txBox="1"/>
                <p:nvPr/>
              </p:nvSpPr>
              <p:spPr>
                <a:xfrm>
                  <a:off x="4370547" y="5601433"/>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29" name="文本框 28">
                  <a:extLst>
                    <a:ext uri="{FF2B5EF4-FFF2-40B4-BE49-F238E27FC236}">
                      <a16:creationId xmlns:a16="http://schemas.microsoft.com/office/drawing/2014/main" id="{1A358138-FAD7-E8B4-79BC-0C5F42239BC8}"/>
                    </a:ext>
                  </a:extLst>
                </p:cNvPr>
                <p:cNvSpPr txBox="1">
                  <a:spLocks noRot="1" noChangeAspect="1" noMove="1" noResize="1" noEditPoints="1" noAdjustHandles="1" noChangeArrowheads="1" noChangeShapeType="1" noTextEdit="1"/>
                </p:cNvSpPr>
                <p:nvPr/>
              </p:nvSpPr>
              <p:spPr>
                <a:xfrm>
                  <a:off x="4370547" y="5601433"/>
                  <a:ext cx="542504" cy="359036"/>
                </a:xfrm>
                <a:prstGeom prst="rect">
                  <a:avLst/>
                </a:prstGeom>
                <a:blipFill>
                  <a:blip r:embed="rId13"/>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D1206129-CEBC-4C70-D209-5A87ACFE207E}"/>
                    </a:ext>
                  </a:extLst>
                </p:cNvPr>
                <p:cNvSpPr txBox="1"/>
                <p:nvPr/>
              </p:nvSpPr>
              <p:spPr>
                <a:xfrm>
                  <a:off x="5334115" y="5015652"/>
                  <a:ext cx="542504" cy="414558"/>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5</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38" name="文本框 37">
                  <a:extLst>
                    <a:ext uri="{FF2B5EF4-FFF2-40B4-BE49-F238E27FC236}">
                      <a16:creationId xmlns:a16="http://schemas.microsoft.com/office/drawing/2014/main" id="{D1206129-CEBC-4C70-D209-5A87ACFE207E}"/>
                    </a:ext>
                  </a:extLst>
                </p:cNvPr>
                <p:cNvSpPr txBox="1">
                  <a:spLocks noRot="1" noChangeAspect="1" noMove="1" noResize="1" noEditPoints="1" noAdjustHandles="1" noChangeArrowheads="1" noChangeShapeType="1" noTextEdit="1"/>
                </p:cNvSpPr>
                <p:nvPr/>
              </p:nvSpPr>
              <p:spPr>
                <a:xfrm>
                  <a:off x="5334115" y="5015652"/>
                  <a:ext cx="542504" cy="414558"/>
                </a:xfrm>
                <a:prstGeom prst="rect">
                  <a:avLst/>
                </a:prstGeom>
                <a:blipFill>
                  <a:blip r:embed="rId14"/>
                  <a:stretch>
                    <a:fillRect t="-4839" r="-18750"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6CE3DA70-1EF4-73F1-910D-86348C5A8550}"/>
                    </a:ext>
                  </a:extLst>
                </p:cNvPr>
                <p:cNvSpPr txBox="1"/>
                <p:nvPr/>
              </p:nvSpPr>
              <p:spPr>
                <a:xfrm>
                  <a:off x="5246690" y="5842110"/>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31" name="文本框 30">
                  <a:extLst>
                    <a:ext uri="{FF2B5EF4-FFF2-40B4-BE49-F238E27FC236}">
                      <a16:creationId xmlns:a16="http://schemas.microsoft.com/office/drawing/2014/main" id="{CD739FF0-F0DB-ABBB-A71F-7E498596EF26}"/>
                    </a:ext>
                  </a:extLst>
                </p:cNvPr>
                <p:cNvSpPr txBox="1">
                  <a:spLocks noRot="1" noChangeAspect="1" noMove="1" noResize="1" noEditPoints="1" noAdjustHandles="1" noChangeArrowheads="1" noChangeShapeType="1" noTextEdit="1"/>
                </p:cNvSpPr>
                <p:nvPr/>
              </p:nvSpPr>
              <p:spPr>
                <a:xfrm>
                  <a:off x="5246690" y="5842110"/>
                  <a:ext cx="542504" cy="359036"/>
                </a:xfrm>
                <a:prstGeom prst="rect">
                  <a:avLst/>
                </a:prstGeom>
                <a:blipFill>
                  <a:blip r:embed="rId15"/>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D9D5B7A-87C6-8BBA-779C-3929C69993A0}"/>
                    </a:ext>
                  </a:extLst>
                </p:cNvPr>
                <p:cNvSpPr txBox="1"/>
                <p:nvPr/>
              </p:nvSpPr>
              <p:spPr>
                <a:xfrm>
                  <a:off x="5652835" y="5627164"/>
                  <a:ext cx="542504" cy="359036"/>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oMath>
                    </m:oMathPara>
                  </a14:m>
                  <a:endParaRPr lang="zh-CN" altLang="en-US" dirty="0"/>
                </a:p>
              </p:txBody>
            </p:sp>
          </mc:Choice>
          <mc:Fallback xmlns="">
            <p:sp>
              <p:nvSpPr>
                <p:cNvPr id="32" name="文本框 31">
                  <a:extLst>
                    <a:ext uri="{FF2B5EF4-FFF2-40B4-BE49-F238E27FC236}">
                      <a16:creationId xmlns:a16="http://schemas.microsoft.com/office/drawing/2014/main" id="{F74130D8-B74D-7AB7-ED51-76415B832F27}"/>
                    </a:ext>
                  </a:extLst>
                </p:cNvPr>
                <p:cNvSpPr txBox="1">
                  <a:spLocks noRot="1" noChangeAspect="1" noMove="1" noResize="1" noEditPoints="1" noAdjustHandles="1" noChangeArrowheads="1" noChangeShapeType="1" noTextEdit="1"/>
                </p:cNvSpPr>
                <p:nvPr/>
              </p:nvSpPr>
              <p:spPr>
                <a:xfrm>
                  <a:off x="5652835" y="5627164"/>
                  <a:ext cx="542504" cy="35903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D3E496E7-BDE2-1F4B-0037-87D85FE80008}"/>
                    </a:ext>
                  </a:extLst>
                </p:cNvPr>
                <p:cNvSpPr txBox="1"/>
                <p:nvPr/>
              </p:nvSpPr>
              <p:spPr>
                <a:xfrm>
                  <a:off x="479857" y="3708407"/>
                  <a:ext cx="198753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𝐿</m:t>
                        </m:r>
                        <m:r>
                          <a:rPr lang="en-US" altLang="zh-CN" b="0" i="1" dirty="0" smtClean="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𝐼</m:t>
                                </m:r>
                              </m:e>
                            </m:acc>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m:oMathPara>
                  </a14:m>
                  <a:endParaRPr lang="zh-CN" altLang="en-US" dirty="0"/>
                </a:p>
              </p:txBody>
            </p:sp>
          </mc:Choice>
          <mc:Fallback xmlns="">
            <p:sp>
              <p:nvSpPr>
                <p:cNvPr id="41" name="文本框 40">
                  <a:extLst>
                    <a:ext uri="{FF2B5EF4-FFF2-40B4-BE49-F238E27FC236}">
                      <a16:creationId xmlns:a16="http://schemas.microsoft.com/office/drawing/2014/main" id="{D3E496E7-BDE2-1F4B-0037-87D85FE80008}"/>
                    </a:ext>
                  </a:extLst>
                </p:cNvPr>
                <p:cNvSpPr txBox="1">
                  <a:spLocks noRot="1" noChangeAspect="1" noMove="1" noResize="1" noEditPoints="1" noAdjustHandles="1" noChangeArrowheads="1" noChangeShapeType="1" noTextEdit="1"/>
                </p:cNvSpPr>
                <p:nvPr/>
              </p:nvSpPr>
              <p:spPr>
                <a:xfrm>
                  <a:off x="479857" y="3708407"/>
                  <a:ext cx="1987530" cy="412452"/>
                </a:xfrm>
                <a:prstGeom prst="rect">
                  <a:avLst/>
                </a:prstGeom>
                <a:blipFill>
                  <a:blip r:embed="rId17"/>
                  <a:stretch>
                    <a:fillRect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DD6DD332-2CF0-269B-90D2-F3BF794875A3}"/>
                    </a:ext>
                  </a:extLst>
                </p:cNvPr>
                <p:cNvSpPr txBox="1"/>
                <p:nvPr/>
              </p:nvSpPr>
              <p:spPr>
                <a:xfrm>
                  <a:off x="2837307" y="3695734"/>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42" name="文本框 41">
                  <a:extLst>
                    <a:ext uri="{FF2B5EF4-FFF2-40B4-BE49-F238E27FC236}">
                      <a16:creationId xmlns:a16="http://schemas.microsoft.com/office/drawing/2014/main" id="{DD6DD332-2CF0-269B-90D2-F3BF794875A3}"/>
                    </a:ext>
                  </a:extLst>
                </p:cNvPr>
                <p:cNvSpPr txBox="1">
                  <a:spLocks noRot="1" noChangeAspect="1" noMove="1" noResize="1" noEditPoints="1" noAdjustHandles="1" noChangeArrowheads="1" noChangeShapeType="1" noTextEdit="1"/>
                </p:cNvSpPr>
                <p:nvPr/>
              </p:nvSpPr>
              <p:spPr>
                <a:xfrm>
                  <a:off x="2837307" y="3695734"/>
                  <a:ext cx="912300" cy="412452"/>
                </a:xfrm>
                <a:prstGeom prst="rect">
                  <a:avLst/>
                </a:prstGeom>
                <a:blipFill>
                  <a:blip r:embed="rId18"/>
                  <a:stretch>
                    <a:fillRect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CE5EAFF4-0F47-B875-45F1-6B6F6A700325}"/>
                    </a:ext>
                  </a:extLst>
                </p:cNvPr>
                <p:cNvSpPr txBox="1"/>
                <p:nvPr/>
              </p:nvSpPr>
              <p:spPr>
                <a:xfrm>
                  <a:off x="1908695" y="5652107"/>
                  <a:ext cx="2545089" cy="71558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3</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𝑖𝑓</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𝑖𝑠</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𝑙𝑖𝑔ℎ𝑡</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𝑠𝑜𝑢𝑟𝑐𝑒</m:t>
                        </m:r>
                      </m:oMath>
                    </m:oMathPara>
                  </a14:m>
                  <a:endParaRPr lang="zh-CN" altLang="en-US" dirty="0"/>
                </a:p>
              </p:txBody>
            </p:sp>
          </mc:Choice>
          <mc:Fallback xmlns="">
            <p:sp>
              <p:nvSpPr>
                <p:cNvPr id="43" name="文本框 42">
                  <a:extLst>
                    <a:ext uri="{FF2B5EF4-FFF2-40B4-BE49-F238E27FC236}">
                      <a16:creationId xmlns:a16="http://schemas.microsoft.com/office/drawing/2014/main" id="{CE5EAFF4-0F47-B875-45F1-6B6F6A700325}"/>
                    </a:ext>
                  </a:extLst>
                </p:cNvPr>
                <p:cNvSpPr txBox="1">
                  <a:spLocks noRot="1" noChangeAspect="1" noMove="1" noResize="1" noEditPoints="1" noAdjustHandles="1" noChangeArrowheads="1" noChangeShapeType="1" noTextEdit="1"/>
                </p:cNvSpPr>
                <p:nvPr/>
              </p:nvSpPr>
              <p:spPr>
                <a:xfrm>
                  <a:off x="1908695" y="5652107"/>
                  <a:ext cx="2545089" cy="715582"/>
                </a:xfrm>
                <a:prstGeom prst="rect">
                  <a:avLst/>
                </a:prstGeom>
                <a:blipFill>
                  <a:blip r:embed="rId19"/>
                  <a:stretch>
                    <a:fillRect t="-2804" r="-3200" b="-149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5C7444D-53AF-A5A7-99E7-8AA16EF07B3D}"/>
                    </a:ext>
                  </a:extLst>
                </p:cNvPr>
                <p:cNvSpPr txBox="1"/>
                <p:nvPr/>
              </p:nvSpPr>
              <p:spPr>
                <a:xfrm>
                  <a:off x="4527668" y="4353351"/>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44" name="文本框 43">
                  <a:extLst>
                    <a:ext uri="{FF2B5EF4-FFF2-40B4-BE49-F238E27FC236}">
                      <a16:creationId xmlns:a16="http://schemas.microsoft.com/office/drawing/2014/main" id="{85C7444D-53AF-A5A7-99E7-8AA16EF07B3D}"/>
                    </a:ext>
                  </a:extLst>
                </p:cNvPr>
                <p:cNvSpPr txBox="1">
                  <a:spLocks noRot="1" noChangeAspect="1" noMove="1" noResize="1" noEditPoints="1" noAdjustHandles="1" noChangeArrowheads="1" noChangeShapeType="1" noTextEdit="1"/>
                </p:cNvSpPr>
                <p:nvPr/>
              </p:nvSpPr>
              <p:spPr>
                <a:xfrm>
                  <a:off x="4527668" y="4353351"/>
                  <a:ext cx="912300" cy="412452"/>
                </a:xfrm>
                <a:prstGeom prst="rect">
                  <a:avLst/>
                </a:prstGeom>
                <a:blipFill>
                  <a:blip r:embed="rId20"/>
                  <a:stretch>
                    <a:fillRect t="-6452"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56D50E4-1238-74E0-E8FA-893DE4E8888D}"/>
                    </a:ext>
                  </a:extLst>
                </p:cNvPr>
                <p:cNvSpPr txBox="1"/>
                <p:nvPr/>
              </p:nvSpPr>
              <p:spPr>
                <a:xfrm>
                  <a:off x="5305729" y="4713786"/>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45" name="文本框 44">
                  <a:extLst>
                    <a:ext uri="{FF2B5EF4-FFF2-40B4-BE49-F238E27FC236}">
                      <a16:creationId xmlns:a16="http://schemas.microsoft.com/office/drawing/2014/main" id="{356D50E4-1238-74E0-E8FA-893DE4E8888D}"/>
                    </a:ext>
                  </a:extLst>
                </p:cNvPr>
                <p:cNvSpPr txBox="1">
                  <a:spLocks noRot="1" noChangeAspect="1" noMove="1" noResize="1" noEditPoints="1" noAdjustHandles="1" noChangeArrowheads="1" noChangeShapeType="1" noTextEdit="1"/>
                </p:cNvSpPr>
                <p:nvPr/>
              </p:nvSpPr>
              <p:spPr>
                <a:xfrm>
                  <a:off x="5305729" y="4713786"/>
                  <a:ext cx="912300" cy="412452"/>
                </a:xfrm>
                <a:prstGeom prst="rect">
                  <a:avLst/>
                </a:prstGeom>
                <a:blipFill>
                  <a:blip r:embed="rId21"/>
                  <a:stretch>
                    <a:fillRect t="-4839" b="-25806"/>
                  </a:stretch>
                </a:blipFill>
              </p:spPr>
              <p:txBody>
                <a:bodyPr/>
                <a:lstStyle/>
                <a:p>
                  <a:r>
                    <a:rPr lang="zh-CN" altLang="en-US">
                      <a:noFill/>
                    </a:rPr>
                    <a:t> </a:t>
                  </a:r>
                </a:p>
              </p:txBody>
            </p:sp>
          </mc:Fallback>
        </mc:AlternateContent>
        <p:cxnSp>
          <p:nvCxnSpPr>
            <p:cNvPr id="46" name="直接连接符 45">
              <a:extLst>
                <a:ext uri="{FF2B5EF4-FFF2-40B4-BE49-F238E27FC236}">
                  <a16:creationId xmlns:a16="http://schemas.microsoft.com/office/drawing/2014/main" id="{D156513A-C095-00C3-5E9F-491FD9C90E0F}"/>
                </a:ext>
              </a:extLst>
            </p:cNvPr>
            <p:cNvCxnSpPr/>
            <p:nvPr/>
          </p:nvCxnSpPr>
          <p:spPr>
            <a:xfrm>
              <a:off x="3351292" y="4740793"/>
              <a:ext cx="298024" cy="3207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11CC70E6-E08C-C0BB-73A2-92CD52622918}"/>
                </a:ext>
              </a:extLst>
            </p:cNvPr>
            <p:cNvCxnSpPr>
              <a:cxnSpLocks/>
            </p:cNvCxnSpPr>
            <p:nvPr/>
          </p:nvCxnSpPr>
          <p:spPr>
            <a:xfrm flipH="1">
              <a:off x="3344377" y="4724984"/>
              <a:ext cx="298024" cy="3207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4DDE85F4-4801-ECDA-DA47-53602FC6A173}"/>
                    </a:ext>
                  </a:extLst>
                </p:cNvPr>
                <p:cNvSpPr txBox="1"/>
                <p:nvPr/>
              </p:nvSpPr>
              <p:spPr>
                <a:xfrm>
                  <a:off x="2361846" y="4696127"/>
                  <a:ext cx="542504" cy="404173"/>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48" name="文本框 47">
                  <a:extLst>
                    <a:ext uri="{FF2B5EF4-FFF2-40B4-BE49-F238E27FC236}">
                      <a16:creationId xmlns:a16="http://schemas.microsoft.com/office/drawing/2014/main" id="{4DDE85F4-4801-ECDA-DA47-53602FC6A173}"/>
                    </a:ext>
                  </a:extLst>
                </p:cNvPr>
                <p:cNvSpPr txBox="1">
                  <a:spLocks noRot="1" noChangeAspect="1" noMove="1" noResize="1" noEditPoints="1" noAdjustHandles="1" noChangeArrowheads="1" noChangeShapeType="1" noTextEdit="1"/>
                </p:cNvSpPr>
                <p:nvPr/>
              </p:nvSpPr>
              <p:spPr>
                <a:xfrm>
                  <a:off x="2361846" y="4696127"/>
                  <a:ext cx="542504" cy="404173"/>
                </a:xfrm>
                <a:prstGeom prst="rect">
                  <a:avLst/>
                </a:prstGeom>
                <a:blipFill>
                  <a:blip r:embed="rId22"/>
                  <a:stretch>
                    <a:fillRect t="-8197" r="-20988"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48219918-B02E-0766-5AB2-BF254EAA45DE}"/>
                    </a:ext>
                  </a:extLst>
                </p:cNvPr>
                <p:cNvSpPr txBox="1"/>
                <p:nvPr/>
              </p:nvSpPr>
              <p:spPr>
                <a:xfrm>
                  <a:off x="3116242" y="4993385"/>
                  <a:ext cx="542504" cy="433863"/>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41" name="文本框 40">
                  <a:extLst>
                    <a:ext uri="{FF2B5EF4-FFF2-40B4-BE49-F238E27FC236}">
                      <a16:creationId xmlns:a16="http://schemas.microsoft.com/office/drawing/2014/main" id="{8B85582B-F76C-8BB1-9F55-8C6D81633CB3}"/>
                    </a:ext>
                  </a:extLst>
                </p:cNvPr>
                <p:cNvSpPr txBox="1">
                  <a:spLocks noRot="1" noChangeAspect="1" noMove="1" noResize="1" noEditPoints="1" noAdjustHandles="1" noChangeArrowheads="1" noChangeShapeType="1" noTextEdit="1"/>
                </p:cNvSpPr>
                <p:nvPr/>
              </p:nvSpPr>
              <p:spPr>
                <a:xfrm>
                  <a:off x="3116242" y="4993385"/>
                  <a:ext cx="542504" cy="433863"/>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74BB593F-6D69-1CF0-77CC-3606A037D92B}"/>
                    </a:ext>
                  </a:extLst>
                </p:cNvPr>
                <p:cNvSpPr txBox="1"/>
                <p:nvPr/>
              </p:nvSpPr>
              <p:spPr>
                <a:xfrm>
                  <a:off x="3945103" y="5334721"/>
                  <a:ext cx="542504" cy="369332"/>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42" name="文本框 41">
                  <a:extLst>
                    <a:ext uri="{FF2B5EF4-FFF2-40B4-BE49-F238E27FC236}">
                      <a16:creationId xmlns:a16="http://schemas.microsoft.com/office/drawing/2014/main" id="{821FF589-0C92-E797-F9A8-572CBDD80E67}"/>
                    </a:ext>
                  </a:extLst>
                </p:cNvPr>
                <p:cNvSpPr txBox="1">
                  <a:spLocks noRot="1" noChangeAspect="1" noMove="1" noResize="1" noEditPoints="1" noAdjustHandles="1" noChangeArrowheads="1" noChangeShapeType="1" noTextEdit="1"/>
                </p:cNvSpPr>
                <p:nvPr/>
              </p:nvSpPr>
              <p:spPr>
                <a:xfrm>
                  <a:off x="3945103" y="5334721"/>
                  <a:ext cx="542504" cy="36933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A251E1FE-9344-7F01-4EE0-9AA9809B86F6}"/>
                    </a:ext>
                  </a:extLst>
                </p:cNvPr>
                <p:cNvSpPr txBox="1"/>
                <p:nvPr/>
              </p:nvSpPr>
              <p:spPr>
                <a:xfrm>
                  <a:off x="4699505" y="5639482"/>
                  <a:ext cx="542504" cy="369332"/>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43" name="文本框 42">
                  <a:extLst>
                    <a:ext uri="{FF2B5EF4-FFF2-40B4-BE49-F238E27FC236}">
                      <a16:creationId xmlns:a16="http://schemas.microsoft.com/office/drawing/2014/main" id="{315A583C-1510-AD2C-6179-56C28DF751DD}"/>
                    </a:ext>
                  </a:extLst>
                </p:cNvPr>
                <p:cNvSpPr txBox="1">
                  <a:spLocks noRot="1" noChangeAspect="1" noMove="1" noResize="1" noEditPoints="1" noAdjustHandles="1" noChangeArrowheads="1" noChangeShapeType="1" noTextEdit="1"/>
                </p:cNvSpPr>
                <p:nvPr/>
              </p:nvSpPr>
              <p:spPr>
                <a:xfrm>
                  <a:off x="4699505" y="5639482"/>
                  <a:ext cx="542504" cy="369332"/>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B62BDA1D-E48C-FAE7-2764-78B6DFF2F5D4}"/>
                    </a:ext>
                  </a:extLst>
                </p:cNvPr>
                <p:cNvSpPr txBox="1"/>
                <p:nvPr/>
              </p:nvSpPr>
              <p:spPr>
                <a:xfrm>
                  <a:off x="2247321" y="4220643"/>
                  <a:ext cx="542504" cy="408383"/>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52" name="文本框 51">
                  <a:extLst>
                    <a:ext uri="{FF2B5EF4-FFF2-40B4-BE49-F238E27FC236}">
                      <a16:creationId xmlns:a16="http://schemas.microsoft.com/office/drawing/2014/main" id="{B62BDA1D-E48C-FAE7-2764-78B6DFF2F5D4}"/>
                    </a:ext>
                  </a:extLst>
                </p:cNvPr>
                <p:cNvSpPr txBox="1">
                  <a:spLocks noRot="1" noChangeAspect="1" noMove="1" noResize="1" noEditPoints="1" noAdjustHandles="1" noChangeArrowheads="1" noChangeShapeType="1" noTextEdit="1"/>
                </p:cNvSpPr>
                <p:nvPr/>
              </p:nvSpPr>
              <p:spPr>
                <a:xfrm>
                  <a:off x="2247321" y="4220643"/>
                  <a:ext cx="542504" cy="408383"/>
                </a:xfrm>
                <a:prstGeom prst="rect">
                  <a:avLst/>
                </a:prstGeom>
                <a:blipFill>
                  <a:blip r:embed="rId26"/>
                  <a:stretch>
                    <a:fillRect t="-6557" r="-2000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CDAA5EAA-CE6D-8576-87CB-4EE0879BC024}"/>
                    </a:ext>
                  </a:extLst>
                </p:cNvPr>
                <p:cNvSpPr txBox="1"/>
                <p:nvPr/>
              </p:nvSpPr>
              <p:spPr>
                <a:xfrm>
                  <a:off x="2957799" y="4568938"/>
                  <a:ext cx="542504" cy="409927"/>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𝐿</m:t>
                            </m:r>
                          </m:sup>
                        </m:sSubSup>
                      </m:oMath>
                    </m:oMathPara>
                  </a14:m>
                  <a:endParaRPr lang="en-US" altLang="zh-CN" b="0" dirty="0"/>
                </a:p>
              </p:txBody>
            </p:sp>
          </mc:Choice>
          <mc:Fallback xmlns="">
            <p:sp>
              <p:nvSpPr>
                <p:cNvPr id="53" name="文本框 52">
                  <a:extLst>
                    <a:ext uri="{FF2B5EF4-FFF2-40B4-BE49-F238E27FC236}">
                      <a16:creationId xmlns:a16="http://schemas.microsoft.com/office/drawing/2014/main" id="{CDAA5EAA-CE6D-8576-87CB-4EE0879BC024}"/>
                    </a:ext>
                  </a:extLst>
                </p:cNvPr>
                <p:cNvSpPr txBox="1">
                  <a:spLocks noRot="1" noChangeAspect="1" noMove="1" noResize="1" noEditPoints="1" noAdjustHandles="1" noChangeArrowheads="1" noChangeShapeType="1" noTextEdit="1"/>
                </p:cNvSpPr>
                <p:nvPr/>
              </p:nvSpPr>
              <p:spPr>
                <a:xfrm>
                  <a:off x="2957799" y="4568938"/>
                  <a:ext cx="542504" cy="409927"/>
                </a:xfrm>
                <a:prstGeom prst="rect">
                  <a:avLst/>
                </a:prstGeom>
                <a:blipFill>
                  <a:blip r:embed="rId27"/>
                  <a:stretch>
                    <a:fillRect t="-6452" r="-19753"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56078A1-269B-5B56-B34C-9F6BFC7D8081}"/>
                    </a:ext>
                  </a:extLst>
                </p:cNvPr>
                <p:cNvSpPr txBox="1"/>
                <p:nvPr/>
              </p:nvSpPr>
              <p:spPr>
                <a:xfrm>
                  <a:off x="3830578" y="4859237"/>
                  <a:ext cx="542504" cy="407541"/>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4</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54" name="文本框 53">
                  <a:extLst>
                    <a:ext uri="{FF2B5EF4-FFF2-40B4-BE49-F238E27FC236}">
                      <a16:creationId xmlns:a16="http://schemas.microsoft.com/office/drawing/2014/main" id="{E56078A1-269B-5B56-B34C-9F6BFC7D8081}"/>
                    </a:ext>
                  </a:extLst>
                </p:cNvPr>
                <p:cNvSpPr txBox="1">
                  <a:spLocks noRot="1" noChangeAspect="1" noMove="1" noResize="1" noEditPoints="1" noAdjustHandles="1" noChangeArrowheads="1" noChangeShapeType="1" noTextEdit="1"/>
                </p:cNvSpPr>
                <p:nvPr/>
              </p:nvSpPr>
              <p:spPr>
                <a:xfrm>
                  <a:off x="3830578" y="4859237"/>
                  <a:ext cx="542504" cy="407541"/>
                </a:xfrm>
                <a:prstGeom prst="rect">
                  <a:avLst/>
                </a:prstGeom>
                <a:blipFill>
                  <a:blip r:embed="rId28"/>
                  <a:stretch>
                    <a:fillRect t="-8197" r="-212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0EB1CC2D-3213-0E83-FF6D-33ED0E40F980}"/>
                    </a:ext>
                  </a:extLst>
                </p:cNvPr>
                <p:cNvSpPr txBox="1"/>
                <p:nvPr/>
              </p:nvSpPr>
              <p:spPr>
                <a:xfrm>
                  <a:off x="4584980" y="5163998"/>
                  <a:ext cx="542504" cy="369332"/>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5</m:t>
                            </m:r>
                          </m:sub>
                          <m:sup>
                            <m:r>
                              <a:rPr lang="en-US" altLang="zh-CN" b="0" i="1" dirty="0" smtClean="0">
                                <a:latin typeface="Cambria Math" panose="02040503050406030204" pitchFamily="18" charset="0"/>
                              </a:rPr>
                              <m:t>′</m:t>
                            </m:r>
                          </m:sup>
                        </m:sSubSup>
                      </m:oMath>
                    </m:oMathPara>
                  </a14:m>
                  <a:endParaRPr lang="zh-CN" altLang="en-US" dirty="0"/>
                </a:p>
              </p:txBody>
            </p:sp>
          </mc:Choice>
          <mc:Fallback xmlns="">
            <p:sp>
              <p:nvSpPr>
                <p:cNvPr id="47" name="文本框 46">
                  <a:extLst>
                    <a:ext uri="{FF2B5EF4-FFF2-40B4-BE49-F238E27FC236}">
                      <a16:creationId xmlns:a16="http://schemas.microsoft.com/office/drawing/2014/main" id="{CD6B2AD4-C3B4-BF4F-B02B-B9EC8CB64C85}"/>
                    </a:ext>
                  </a:extLst>
                </p:cNvPr>
                <p:cNvSpPr txBox="1">
                  <a:spLocks noRot="1" noChangeAspect="1" noMove="1" noResize="1" noEditPoints="1" noAdjustHandles="1" noChangeArrowheads="1" noChangeShapeType="1" noTextEdit="1"/>
                </p:cNvSpPr>
                <p:nvPr/>
              </p:nvSpPr>
              <p:spPr>
                <a:xfrm>
                  <a:off x="4584980" y="5163998"/>
                  <a:ext cx="542504" cy="369332"/>
                </a:xfrm>
                <a:prstGeom prst="rect">
                  <a:avLst/>
                </a:prstGeom>
                <a:blipFill>
                  <a:blip r:embed="rId29"/>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845319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51291-EDDC-53A8-CFDB-6263F38BFD1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622793F-1B72-3505-89D7-6CE34CD53C9E}"/>
              </a:ext>
            </a:extLst>
          </p:cNvPr>
          <p:cNvSpPr>
            <a:spLocks noGrp="1"/>
          </p:cNvSpPr>
          <p:nvPr>
            <p:ph type="title" idx="1"/>
          </p:nvPr>
        </p:nvSpPr>
        <p:spPr/>
        <p:txBody>
          <a:bodyPr/>
          <a:lstStyle/>
          <a:p>
            <a:r>
              <a:rPr lang="zh-CN" altLang="en-US" dirty="0"/>
              <a:t>回顾多重重要性采样</a:t>
            </a: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9A2076FA-8542-2E4F-0390-49B7C956891B}"/>
                  </a:ext>
                </a:extLst>
              </p:cNvPr>
              <p:cNvSpPr txBox="1"/>
              <p:nvPr/>
            </p:nvSpPr>
            <p:spPr>
              <a:xfrm>
                <a:off x="304160" y="1327160"/>
                <a:ext cx="6032245" cy="4620047"/>
              </a:xfrm>
              <a:prstGeom prst="rect">
                <a:avLst/>
              </a:prstGeom>
              <a:noFill/>
            </p:spPr>
            <p:txBody>
              <a:bodyPr wrap="square">
                <a:spAutoFit/>
              </a:bodyPr>
              <a:lstStyle/>
              <a:p>
                <a:r>
                  <a:rPr lang="zh-CN" altLang="en-US" sz="1800" b="0" dirty="0">
                    <a:latin typeface="Noto Sans SC" panose="020B0200000000000000" pitchFamily="34" charset="-122"/>
                    <a:ea typeface="Noto Sans SC" panose="020B0200000000000000" pitchFamily="34" charset="-122"/>
                  </a:rPr>
                  <a:t>         多重重要采样</a:t>
                </a:r>
                <a:r>
                  <a:rPr lang="zh-CN" altLang="en-US" dirty="0">
                    <a:latin typeface="Noto Sans SC" panose="020B0200000000000000" pitchFamily="34" charset="-122"/>
                    <a:ea typeface="Noto Sans SC" panose="020B0200000000000000" pitchFamily="34" charset="-122"/>
                  </a:rPr>
                  <a:t>：</a:t>
                </a:r>
                <a:r>
                  <a:rPr lang="zh-CN" altLang="en-US" sz="1800" b="0" dirty="0">
                    <a:latin typeface="Noto Sans SC" panose="020B0200000000000000" pitchFamily="34" charset="-122"/>
                    <a:ea typeface="Noto Sans SC" panose="020B0200000000000000" pitchFamily="34" charset="-122"/>
                  </a:rPr>
                  <a:t>从不同分布中采样得到</a:t>
                </a:r>
                <a:r>
                  <a:rPr lang="zh-CN" altLang="en-US" dirty="0">
                    <a:latin typeface="Noto Sans SC" panose="020B0200000000000000" pitchFamily="34" charset="-122"/>
                    <a:ea typeface="Noto Sans SC" panose="020B0200000000000000" pitchFamily="34" charset="-122"/>
                  </a:rPr>
                  <a:t>样本</a:t>
                </a:r>
                <a:r>
                  <a:rPr lang="zh-CN" altLang="en-US" sz="1800" b="0" dirty="0">
                    <a:latin typeface="Noto Sans SC" panose="020B0200000000000000" pitchFamily="34" charset="-122"/>
                    <a:ea typeface="Noto Sans SC" panose="020B0200000000000000" pitchFamily="34" charset="-122"/>
                  </a:rPr>
                  <a:t>，每个样本</a:t>
                </a:r>
                <a:r>
                  <a:rPr lang="zh-CN" altLang="en-US" dirty="0">
                    <a:latin typeface="Noto Sans SC" panose="020B0200000000000000" pitchFamily="34" charset="-122"/>
                    <a:ea typeface="Noto Sans SC" panose="020B0200000000000000" pitchFamily="34" charset="-122"/>
                  </a:rPr>
                  <a:t>应用</a:t>
                </a:r>
                <a:r>
                  <a:rPr lang="zh-CN" altLang="en-US" sz="1800" b="0" dirty="0">
                    <a:latin typeface="Noto Sans SC" panose="020B0200000000000000" pitchFamily="34" charset="-122"/>
                    <a:ea typeface="Noto Sans SC" panose="020B0200000000000000" pitchFamily="34" charset="-122"/>
                  </a:rPr>
                  <a:t>蒙特卡洛估计后，要</a:t>
                </a:r>
                <a:r>
                  <a:rPr lang="zh-CN" altLang="en-US" dirty="0">
                    <a:latin typeface="Noto Sans SC" panose="020B0200000000000000" pitchFamily="34" charset="-122"/>
                    <a:ea typeface="Noto Sans SC" panose="020B0200000000000000" pitchFamily="34" charset="-122"/>
                  </a:rPr>
                  <a:t>乘上</a:t>
                </a:r>
                <a:r>
                  <a:rPr lang="zh-CN" altLang="en-US" sz="1800" b="0" dirty="0">
                    <a:latin typeface="Noto Sans SC" panose="020B0200000000000000" pitchFamily="34" charset="-122"/>
                    <a:ea typeface="Noto Sans SC" panose="020B0200000000000000" pitchFamily="34" charset="-122"/>
                  </a:rPr>
                  <a:t>对应分布的权重系数</a:t>
                </a:r>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pPr>
                  <a:spcBef>
                    <a:spcPts val="800"/>
                  </a:spcBef>
                </a:pPr>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以路径追踪</a:t>
                </a:r>
                <a:r>
                  <a:rPr lang="en-US" altLang="zh-CN" dirty="0">
                    <a:latin typeface="Noto Sans SC" panose="020B0200000000000000" pitchFamily="34" charset="-122"/>
                    <a:ea typeface="Noto Sans SC" panose="020B0200000000000000" pitchFamily="34" charset="-122"/>
                  </a:rPr>
                  <a:t>MIS</a:t>
                </a:r>
                <a:r>
                  <a:rPr lang="zh-CN" altLang="en-US" dirty="0">
                    <a:latin typeface="Noto Sans SC" panose="020B0200000000000000" pitchFamily="34" charset="-122"/>
                    <a:ea typeface="Noto Sans SC" panose="020B0200000000000000" pitchFamily="34" charset="-122"/>
                  </a:rPr>
                  <a:t>为例，样本会从 </a:t>
                </a:r>
                <a:r>
                  <a:rPr lang="zh-CN" altLang="en-US" b="1" dirty="0">
                    <a:latin typeface="Noto Sans SC" panose="020B0200000000000000" pitchFamily="34" charset="-122"/>
                    <a:ea typeface="Noto Sans SC" panose="020B0200000000000000" pitchFamily="34" charset="-122"/>
                  </a:rPr>
                  <a:t>向光源采样 </a:t>
                </a:r>
                <a:r>
                  <a:rPr lang="zh-CN" altLang="en-US" dirty="0">
                    <a:latin typeface="Noto Sans SC" panose="020B0200000000000000" pitchFamily="34" charset="-122"/>
                    <a:ea typeface="Noto Sans SC" panose="020B0200000000000000" pitchFamily="34" charset="-122"/>
                  </a:rPr>
                  <a:t>以及 </a:t>
                </a:r>
                <a:r>
                  <a:rPr lang="zh-CN" altLang="en-US" b="1" dirty="0">
                    <a:latin typeface="Noto Sans SC" panose="020B0200000000000000" pitchFamily="34" charset="-122"/>
                    <a:ea typeface="Noto Sans SC" panose="020B0200000000000000" pitchFamily="34" charset="-122"/>
                  </a:rPr>
                  <a:t>向</a:t>
                </a:r>
                <a:r>
                  <a:rPr lang="en-US" altLang="zh-CN" b="1" dirty="0">
                    <a:latin typeface="Noto Sans SC" panose="020B0200000000000000" pitchFamily="34" charset="-122"/>
                    <a:ea typeface="Noto Sans SC" panose="020B0200000000000000" pitchFamily="34" charset="-122"/>
                  </a:rPr>
                  <a:t>BSDF</a:t>
                </a:r>
                <a:r>
                  <a:rPr lang="zh-CN" altLang="en-US" b="1" dirty="0">
                    <a:latin typeface="Noto Sans SC" panose="020B0200000000000000" pitchFamily="34" charset="-122"/>
                    <a:ea typeface="Noto Sans SC" panose="020B0200000000000000" pitchFamily="34" charset="-122"/>
                  </a:rPr>
                  <a:t>采样</a:t>
                </a:r>
                <a:r>
                  <a:rPr lang="zh-CN" altLang="en-US" dirty="0">
                    <a:latin typeface="Noto Sans SC" panose="020B0200000000000000" pitchFamily="34" charset="-122"/>
                    <a:ea typeface="Noto Sans SC" panose="020B0200000000000000" pitchFamily="34" charset="-122"/>
                  </a:rPr>
                  <a:t> 这两个分布中采样得到：</a:t>
                </a:r>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
                      <m:r>
                        <a:rPr lang="zh-CN" altLang="en-US" i="1" dirty="0">
                          <a:latin typeface="Cambria Math" panose="02040503050406030204" pitchFamily="18" charset="0"/>
                        </a:rPr>
                        <m:t>向光源</m:t>
                      </m:r>
                      <m:r>
                        <a:rPr lang="zh-CN" altLang="en-US" i="1" dirty="0" smtClean="0">
                          <a:latin typeface="Cambria Math" panose="02040503050406030204" pitchFamily="18" charset="0"/>
                        </a:rPr>
                        <m:t>采样</m:t>
                      </m:r>
                      <m:r>
                        <a:rPr lang="zh-CN" altLang="en-US" i="1" dirty="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latin typeface="Cambria Math" panose="02040503050406030204" pitchFamily="18" charset="0"/>
                            </a:rPr>
                            <m:t>𝐿</m:t>
                          </m:r>
                        </m:sup>
                      </m:sSubSup>
                      <m:r>
                        <a:rPr lang="en-US" altLang="zh-CN" b="0" i="1" smtClean="0">
                          <a:latin typeface="Cambria Math" panose="02040503050406030204" pitchFamily="18" charset="0"/>
                        </a:rPr>
                        <m:t>,  </m:t>
                      </m:r>
                      <m:r>
                        <a:rPr lang="zh-CN" altLang="en-US" i="1" smtClean="0">
                          <a:latin typeface="Cambria Math" panose="02040503050406030204" pitchFamily="18" charset="0"/>
                        </a:rPr>
                        <m:t>向</m:t>
                      </m:r>
                      <m:r>
                        <m:rPr>
                          <m:sty m:val="p"/>
                        </m:rPr>
                        <a:rPr lang="en-US" altLang="zh-CN" i="1">
                          <a:latin typeface="Cambria Math" panose="02040503050406030204" pitchFamily="18" charset="0"/>
                        </a:rPr>
                        <m:t>BSDF</m:t>
                      </m:r>
                      <m:r>
                        <a:rPr lang="zh-CN" altLang="en-US" i="1" smtClean="0">
                          <a:latin typeface="Cambria Math" panose="02040503050406030204" pitchFamily="18" charset="0"/>
                        </a:rPr>
                        <m:t>采样</m:t>
                      </m:r>
                      <m:r>
                        <a:rPr lang="zh-CN" altLang="en-US"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latin typeface="Cambria Math" panose="02040503050406030204" pitchFamily="18" charset="0"/>
                            </a:rPr>
                            <m:t>𝐵</m:t>
                          </m:r>
                        </m:sup>
                      </m:sSubSup>
                    </m:oMath>
                  </m:oMathPara>
                </a14:m>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pPr>
                  <a:spcBef>
                    <a:spcPts val="800"/>
                  </a:spcBef>
                </a:pPr>
                <a:r>
                  <a:rPr lang="zh-CN" altLang="en-US" dirty="0">
                    <a:latin typeface="Noto Sans SC" panose="020B0200000000000000" pitchFamily="34" charset="-122"/>
                    <a:ea typeface="Noto Sans SC" panose="020B0200000000000000" pitchFamily="34" charset="-122"/>
                  </a:rPr>
                  <a:t>         每个分布中的样本应用蒙特卡洛估计：</a:t>
                </a:r>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center"/>
                    </m:oMathParaPr>
                    <m:oMath>
                      <m:r>
                        <a:rPr lang="zh-CN" altLang="en-US" sz="1600" i="1" dirty="0">
                          <a:latin typeface="Cambria Math" panose="02040503050406030204" pitchFamily="18" charset="0"/>
                        </a:rPr>
                        <m:t>向光源采样：</m:t>
                      </m:r>
                      <m:sSubSup>
                        <m:sSubSupPr>
                          <m:ctrlPr>
                            <a:rPr lang="en-US" altLang="zh-CN" sz="1600" i="1" dirty="0">
                              <a:latin typeface="Cambria Math" panose="02040503050406030204" pitchFamily="18" charset="0"/>
                            </a:rPr>
                          </m:ctrlPr>
                        </m:sSubSup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𝐷</m:t>
                              </m:r>
                            </m:e>
                          </m:acc>
                        </m:e>
                        <m:sub>
                          <m:r>
                            <a:rPr lang="en-US" altLang="zh-CN" sz="1600" i="1" dirty="0">
                              <a:latin typeface="Cambria Math" panose="02040503050406030204" pitchFamily="18" charset="0"/>
                            </a:rPr>
                            <m:t>𝑖</m:t>
                          </m:r>
                        </m:sub>
                        <m:sup>
                          <m:r>
                            <a:rPr lang="en-US" altLang="zh-CN" sz="1600" i="1" dirty="0">
                              <a:latin typeface="Cambria Math" panose="02040503050406030204" pitchFamily="18" charset="0"/>
                            </a:rPr>
                            <m:t>𝐿</m:t>
                          </m:r>
                        </m:sup>
                      </m:sSubSup>
                      <m:r>
                        <a:rPr lang="en-US" altLang="zh-CN" sz="1600" i="1">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𝐹</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Sup>
                                <m:sSubSupPr>
                                  <m:ctrlPr>
                                    <a:rPr lang="en-US" altLang="zh-CN" sz="1600" i="1" dirty="0">
                                      <a:latin typeface="Cambria Math" panose="02040503050406030204" pitchFamily="18" charset="0"/>
                                    </a:rPr>
                                  </m:ctrlPr>
                                </m:sSubSup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up>
                                  <m:r>
                                    <a:rPr lang="en-US" altLang="zh-CN" sz="1600" b="0" i="1" dirty="0" smtClean="0">
                                      <a:latin typeface="Cambria Math" panose="02040503050406030204" pitchFamily="18" charset="0"/>
                                    </a:rPr>
                                    <m:t>𝐿</m:t>
                                  </m:r>
                                </m:sup>
                              </m:sSubSup>
                            </m:e>
                          </m:d>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i="1">
                                  <a:latin typeface="Cambria Math" panose="02040503050406030204" pitchFamily="18" charset="0"/>
                                </a:rPr>
                                <m:t>𝐿</m:t>
                              </m:r>
                            </m:sub>
                            <m:sup>
                              <m:r>
                                <a:rPr lang="en-US" altLang="zh-CN" sz="1600" i="1">
                                  <a:latin typeface="Cambria Math" panose="02040503050406030204" pitchFamily="18" charset="0"/>
                                </a:rPr>
                                <m:t>𝜔</m:t>
                              </m:r>
                            </m:sup>
                          </m:sSubSup>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𝐿</m:t>
                                  </m:r>
                                </m:sup>
                              </m:sSubSup>
                            </m:e>
                          </m:d>
                        </m:den>
                      </m:f>
                    </m:oMath>
                  </m:oMathPara>
                </a14:m>
                <a:endParaRPr lang="en-US" altLang="zh-CN" sz="1600" dirty="0"/>
              </a:p>
              <a:p>
                <a:pPr/>
                <a14:m>
                  <m:oMathPara xmlns:m="http://schemas.openxmlformats.org/officeDocument/2006/math">
                    <m:oMathParaPr>
                      <m:jc m:val="center"/>
                    </m:oMathParaPr>
                    <m:oMath>
                      <m:r>
                        <a:rPr lang="zh-CN" altLang="en-US" sz="1600" i="1" dirty="0">
                          <a:latin typeface="Cambria Math" panose="02040503050406030204" pitchFamily="18" charset="0"/>
                        </a:rPr>
                        <m:t>向</m:t>
                      </m:r>
                      <m:r>
                        <m:rPr>
                          <m:sty m:val="p"/>
                        </m:rPr>
                        <a:rPr lang="en-US" altLang="zh-CN" sz="1600" i="1" dirty="0">
                          <a:latin typeface="Cambria Math" panose="02040503050406030204" pitchFamily="18" charset="0"/>
                        </a:rPr>
                        <m:t>BSDF</m:t>
                      </m:r>
                      <m:r>
                        <a:rPr lang="zh-CN" altLang="en-US" sz="1600" i="1" dirty="0">
                          <a:latin typeface="Cambria Math" panose="02040503050406030204" pitchFamily="18" charset="0"/>
                        </a:rPr>
                        <m:t>采样：</m:t>
                      </m:r>
                      <m:sSubSup>
                        <m:sSubSupPr>
                          <m:ctrlPr>
                            <a:rPr lang="en-US" altLang="zh-CN" sz="1600" i="1" dirty="0">
                              <a:latin typeface="Cambria Math" panose="02040503050406030204" pitchFamily="18" charset="0"/>
                            </a:rPr>
                          </m:ctrlPr>
                        </m:sSubSup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𝐷</m:t>
                              </m:r>
                            </m:e>
                          </m:acc>
                        </m:e>
                        <m:sub>
                          <m:r>
                            <a:rPr lang="en-US" altLang="zh-CN" sz="1600" i="1" dirty="0">
                              <a:latin typeface="Cambria Math" panose="02040503050406030204" pitchFamily="18" charset="0"/>
                            </a:rPr>
                            <m:t>𝑖</m:t>
                          </m:r>
                        </m:sub>
                        <m:sup>
                          <m:r>
                            <a:rPr lang="en-US" altLang="zh-CN" sz="1600" i="1" dirty="0">
                              <a:latin typeface="Cambria Math" panose="02040503050406030204" pitchFamily="18" charset="0"/>
                            </a:rPr>
                            <m:t>𝐵</m:t>
                          </m:r>
                        </m:sup>
                      </m:sSubSup>
                      <m:r>
                        <a:rPr lang="en-US" altLang="zh-CN" sz="1600" i="1">
                          <a:latin typeface="Cambria Math" panose="02040503050406030204" pitchFamily="18" charset="0"/>
                        </a:rPr>
                        <m:t>=</m:t>
                      </m:r>
                      <m:f>
                        <m:fPr>
                          <m:ctrlPr>
                            <a:rPr lang="en-US" altLang="zh-CN" sz="1600" i="1" dirty="0">
                              <a:latin typeface="Cambria Math" panose="02040503050406030204" pitchFamily="18" charset="0"/>
                            </a:rPr>
                          </m:ctrlPr>
                        </m:fPr>
                        <m:num>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𝐹</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Sup>
                                <m:sSubSupPr>
                                  <m:ctrlPr>
                                    <a:rPr lang="en-US" altLang="zh-CN" sz="1600" i="1" dirty="0">
                                      <a:latin typeface="Cambria Math" panose="02040503050406030204" pitchFamily="18" charset="0"/>
                                    </a:rPr>
                                  </m:ctrlPr>
                                </m:sSubSup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up>
                                  <m:r>
                                    <a:rPr lang="en-US" altLang="zh-CN" sz="1600" b="0" i="1" dirty="0" smtClean="0">
                                      <a:latin typeface="Cambria Math" panose="02040503050406030204" pitchFamily="18" charset="0"/>
                                    </a:rPr>
                                    <m:t>𝐵</m:t>
                                  </m:r>
                                </m:sup>
                              </m:sSubSup>
                            </m:e>
                          </m:d>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i="1">
                                  <a:latin typeface="Cambria Math" panose="02040503050406030204" pitchFamily="18" charset="0"/>
                                </a:rPr>
                                <m:t>𝐵</m:t>
                              </m:r>
                            </m:sub>
                            <m:sup>
                              <m:r>
                                <a:rPr lang="en-US" altLang="zh-CN" sz="1600" i="1">
                                  <a:latin typeface="Cambria Math" panose="02040503050406030204" pitchFamily="18" charset="0"/>
                                </a:rPr>
                                <m:t>𝜔</m:t>
                              </m:r>
                            </m:sup>
                          </m:sSubSup>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𝐵</m:t>
                                  </m:r>
                                </m:sup>
                              </m:sSubSup>
                            </m:e>
                          </m:d>
                        </m:den>
                      </m:f>
                    </m:oMath>
                  </m:oMathPara>
                </a14:m>
                <a:endParaRPr lang="en-US" altLang="zh-CN" dirty="0">
                  <a:latin typeface="Noto Sans SC" panose="020B0200000000000000" pitchFamily="34" charset="-122"/>
                  <a:ea typeface="Noto Sans SC" panose="020B0200000000000000" pitchFamily="34" charset="-122"/>
                </a:endParaRPr>
              </a:p>
              <a:p>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最后再乘上对应的权重：</a:t>
                </a:r>
                <a:endParaRPr lang="en-US" altLang="zh-CN" dirty="0">
                  <a:latin typeface="Noto Sans SC" panose="020B0200000000000000" pitchFamily="34" charset="-122"/>
                  <a:ea typeface="Noto Sans SC" panose="020B0200000000000000" pitchFamily="34" charset="-122"/>
                </a:endParaRPr>
              </a:p>
              <a:p>
                <a:pPr/>
                <a14:m>
                  <m:oMathPara xmlns:m="http://schemas.openxmlformats.org/officeDocument/2006/math">
                    <m:oMathParaPr>
                      <m:jc m:val="center"/>
                    </m:oMathParaPr>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𝐿</m:t>
                          </m:r>
                        </m:sub>
                      </m:sSub>
                      <m:d>
                        <m:dPr>
                          <m:ctrlPr>
                            <a:rPr lang="en-US" altLang="zh-CN" b="0" i="1" dirty="0" smtClean="0">
                              <a:latin typeface="Cambria Math" panose="02040503050406030204" pitchFamily="18" charset="0"/>
                            </a:rPr>
                          </m:ctrlPr>
                        </m:dPr>
                        <m:e>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𝐿</m:t>
                              </m:r>
                            </m:sup>
                          </m:sSubSup>
                        </m:e>
                      </m:d>
                      <m:r>
                        <a:rPr lang="en-US" altLang="zh-CN" b="0" i="1" dirty="0" smtClean="0">
                          <a:latin typeface="Cambria Math" panose="02040503050406030204" pitchFamily="18" charset="0"/>
                          <a:ea typeface="Cambria Math" panose="02040503050406030204" pitchFamily="18" charset="0"/>
                        </a:rPr>
                        <m:t>∙</m:t>
                      </m:r>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b="0" i="1"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sup>
                          </m:sSubSup>
                        </m:e>
                      </m:d>
                      <m:r>
                        <a:rPr lang="en-US" altLang="zh-CN" i="1" dirty="0">
                          <a:latin typeface="Cambria Math" panose="02040503050406030204" pitchFamily="18" charset="0"/>
                          <a:ea typeface="Cambria Math" panose="02040503050406030204" pitchFamily="18" charset="0"/>
                        </a:rPr>
                        <m:t>∙</m:t>
                      </m:r>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oMath>
                  </m:oMathPara>
                </a14:m>
                <a:endParaRPr lang="en-US" altLang="zh-CN" dirty="0">
                  <a:latin typeface="Noto Sans SC" panose="020B0200000000000000" pitchFamily="34" charset="-122"/>
                  <a:ea typeface="Noto Sans SC" panose="020B0200000000000000" pitchFamily="34" charset="-122"/>
                </a:endParaRPr>
              </a:p>
            </p:txBody>
          </p:sp>
        </mc:Choice>
        <mc:Fallback xmlns="">
          <p:sp>
            <p:nvSpPr>
              <p:cNvPr id="45" name="文本框 44">
                <a:extLst>
                  <a:ext uri="{FF2B5EF4-FFF2-40B4-BE49-F238E27FC236}">
                    <a16:creationId xmlns:a16="http://schemas.microsoft.com/office/drawing/2014/main" id="{9A2076FA-8542-2E4F-0390-49B7C956891B}"/>
                  </a:ext>
                </a:extLst>
              </p:cNvPr>
              <p:cNvSpPr txBox="1">
                <a:spLocks noRot="1" noChangeAspect="1" noMove="1" noResize="1" noEditPoints="1" noAdjustHandles="1" noChangeArrowheads="1" noChangeShapeType="1" noTextEdit="1"/>
              </p:cNvSpPr>
              <p:nvPr/>
            </p:nvSpPr>
            <p:spPr>
              <a:xfrm>
                <a:off x="304160" y="1327160"/>
                <a:ext cx="6032245" cy="4620047"/>
              </a:xfrm>
              <a:prstGeom prst="rect">
                <a:avLst/>
              </a:prstGeom>
              <a:blipFill>
                <a:blip r:embed="rId2"/>
                <a:stretch>
                  <a:fillRect l="-910" t="-792"/>
                </a:stretch>
              </a:blipFill>
            </p:spPr>
            <p:txBody>
              <a:bodyPr/>
              <a:lstStyle/>
              <a:p>
                <a:r>
                  <a:rPr lang="zh-CN" altLang="en-US">
                    <a:noFill/>
                  </a:rPr>
                  <a:t> </a:t>
                </a:r>
              </a:p>
            </p:txBody>
          </p:sp>
        </mc:Fallback>
      </mc:AlternateContent>
      <p:pic>
        <p:nvPicPr>
          <p:cNvPr id="50" name="图片 49">
            <a:extLst>
              <a:ext uri="{FF2B5EF4-FFF2-40B4-BE49-F238E27FC236}">
                <a16:creationId xmlns:a16="http://schemas.microsoft.com/office/drawing/2014/main" id="{00328D6C-B7CD-E51A-55FC-EB43C8252F22}"/>
              </a:ext>
            </a:extLst>
          </p:cNvPr>
          <p:cNvPicPr>
            <a:picLocks noChangeAspect="1"/>
          </p:cNvPicPr>
          <p:nvPr/>
        </p:nvPicPr>
        <p:blipFill>
          <a:blip r:embed="rId3"/>
          <a:stretch>
            <a:fillRect/>
          </a:stretch>
        </p:blipFill>
        <p:spPr>
          <a:xfrm>
            <a:off x="6845262" y="1327160"/>
            <a:ext cx="4915153" cy="28322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文本框 2">
            <a:extLst>
              <a:ext uri="{FF2B5EF4-FFF2-40B4-BE49-F238E27FC236}">
                <a16:creationId xmlns:a16="http://schemas.microsoft.com/office/drawing/2014/main" id="{917F2603-09F0-61B2-2BA0-499FFF2D6226}"/>
              </a:ext>
            </a:extLst>
          </p:cNvPr>
          <p:cNvSpPr txBox="1"/>
          <p:nvPr/>
        </p:nvSpPr>
        <p:spPr>
          <a:xfrm>
            <a:off x="6579740" y="4665526"/>
            <a:ext cx="5308100" cy="1200329"/>
          </a:xfrm>
          <a:prstGeom prst="rect">
            <a:avLst/>
          </a:prstGeom>
          <a:noFill/>
        </p:spPr>
        <p:txBody>
          <a:bodyPr wrap="square">
            <a:spAutoFit/>
          </a:bodyPr>
          <a:lstStyle/>
          <a:p>
            <a:r>
              <a:rPr lang="en-US" altLang="zh-CN"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每个分布都会对应一个权重函数</a:t>
            </a:r>
            <a:r>
              <a:rPr lang="zh-CN" altLang="en-US" dirty="0">
                <a:latin typeface="Noto Sans SC" panose="020B0200000000000000" pitchFamily="34" charset="-122"/>
                <a:ea typeface="Noto Sans SC" panose="020B0200000000000000" pitchFamily="34" charset="-122"/>
              </a:rPr>
              <a:t>，权重函数的参数是一个样本</a:t>
            </a:r>
            <a:r>
              <a:rPr lang="zh-CN" altLang="en-US" sz="1800" dirty="0">
                <a:latin typeface="Noto Sans SC" panose="020B0200000000000000" pitchFamily="34" charset="-122"/>
                <a:ea typeface="Noto Sans SC" panose="020B0200000000000000" pitchFamily="34" charset="-122"/>
              </a:rPr>
              <a:t>。对于这个样本，不管他是从哪个分布采样得到的，所有分布的权重函数在该样本处的数值和为</a:t>
            </a:r>
            <a:r>
              <a:rPr lang="en-US" altLang="zh-CN" sz="1800" dirty="0">
                <a:latin typeface="Noto Sans SC" panose="020B0200000000000000" pitchFamily="34" charset="-122"/>
                <a:ea typeface="Noto Sans SC" panose="020B0200000000000000" pitchFamily="34" charset="-122"/>
              </a:rPr>
              <a:t>1</a:t>
            </a:r>
            <a:r>
              <a:rPr lang="zh-CN" altLang="en-US" sz="1800" dirty="0">
                <a:latin typeface="Noto Sans SC" panose="020B0200000000000000" pitchFamily="34" charset="-122"/>
                <a:ea typeface="Noto Sans SC" panose="020B0200000000000000" pitchFamily="34" charset="-122"/>
              </a:rPr>
              <a:t>。</a:t>
            </a:r>
            <a:endParaRPr lang="zh-CN" altLang="en-US" dirty="0"/>
          </a:p>
        </p:txBody>
      </p:sp>
    </p:spTree>
    <p:extLst>
      <p:ext uri="{BB962C8B-B14F-4D97-AF65-F5344CB8AC3E}">
        <p14:creationId xmlns:p14="http://schemas.microsoft.com/office/powerpoint/2010/main" val="4270638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EF987-2AC6-5C7D-DC91-923B138E648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E3FD823-E01E-2C83-5B59-7A11E2F7A07D}"/>
              </a:ext>
            </a:extLst>
          </p:cNvPr>
          <p:cNvSpPr>
            <a:spLocks noGrp="1"/>
          </p:cNvSpPr>
          <p:nvPr>
            <p:ph type="title" idx="1"/>
          </p:nvPr>
        </p:nvSpPr>
        <p:spPr/>
        <p:txBody>
          <a:bodyPr/>
          <a:lstStyle/>
          <a:p>
            <a:r>
              <a:rPr lang="zh-CN" altLang="en-US" dirty="0"/>
              <a:t>回顾多重重要性采样权重</a:t>
            </a:r>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FC4E9FE8-9C6D-0FEB-D327-CD549E1BC039}"/>
                  </a:ext>
                </a:extLst>
              </p:cNvPr>
              <p:cNvSpPr txBox="1"/>
              <p:nvPr/>
            </p:nvSpPr>
            <p:spPr>
              <a:xfrm>
                <a:off x="864389" y="1438165"/>
                <a:ext cx="5684517" cy="2330638"/>
              </a:xfrm>
              <a:prstGeom prst="rect">
                <a:avLst/>
              </a:prstGeom>
              <a:noFill/>
            </p:spPr>
            <p:txBody>
              <a:bodyPr wrap="square">
                <a:spAutoFit/>
              </a:bodyPr>
              <a:lstStyle/>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以幂启发式为例，假设从</a:t>
                </a:r>
                <a:r>
                  <a:rPr lang="en-US" altLang="zh-CN" dirty="0">
                    <a:latin typeface="Noto Sans SC" panose="020B0200000000000000" pitchFamily="34" charset="-122"/>
                    <a:ea typeface="Noto Sans SC" panose="020B0200000000000000" pitchFamily="34" charset="-122"/>
                  </a:rPr>
                  <a:t>M</a:t>
                </a:r>
                <a:r>
                  <a:rPr lang="zh-CN" altLang="en-US" dirty="0">
                    <a:latin typeface="Noto Sans SC" panose="020B0200000000000000" pitchFamily="34" charset="-122"/>
                    <a:ea typeface="Noto Sans SC" panose="020B0200000000000000" pitchFamily="34" charset="-122"/>
                  </a:rPr>
                  <a:t>个分布中各采样了一个样本，其中从第</a:t>
                </a:r>
                <a14:m>
                  <m:oMath xmlns:m="http://schemas.openxmlformats.org/officeDocument/2006/math">
                    <m:r>
                      <a:rPr lang="en-US" altLang="zh-CN" b="0" i="1" dirty="0" smtClean="0">
                        <a:latin typeface="Cambria Math" panose="02040503050406030204" pitchFamily="18" charset="0"/>
                      </a:rPr>
                      <m:t>𝑗</m:t>
                    </m:r>
                  </m:oMath>
                </a14:m>
                <a:r>
                  <a:rPr lang="zh-CN" altLang="en-US" dirty="0">
                    <a:latin typeface="Noto Sans SC" panose="020B0200000000000000" pitchFamily="34" charset="-122"/>
                    <a:ea typeface="Noto Sans SC" panose="020B0200000000000000" pitchFamily="34" charset="-122"/>
                  </a:rPr>
                  <a:t>个分布中采样得到的一个样本为</a:t>
                </a:r>
                <a14:m>
                  <m:oMath xmlns:m="http://schemas.openxmlformats.org/officeDocument/2006/math">
                    <m:r>
                      <a:rPr lang="en-US" altLang="zh-CN" i="1" dirty="0">
                        <a:latin typeface="Cambria Math" panose="02040503050406030204" pitchFamily="18" charset="0"/>
                      </a:rPr>
                      <m:t>𝑥</m:t>
                    </m:r>
                  </m:oMath>
                </a14:m>
                <a:r>
                  <a:rPr lang="zh-CN" altLang="en-US" dirty="0">
                    <a:latin typeface="Noto Sans SC" panose="020B0200000000000000" pitchFamily="34" charset="-122"/>
                    <a:ea typeface="Noto Sans SC" panose="020B0200000000000000" pitchFamily="34" charset="-122"/>
                  </a:rPr>
                  <a:t>，为了计算</a:t>
                </a:r>
                <a14:m>
                  <m:oMath xmlns:m="http://schemas.openxmlformats.org/officeDocument/2006/math">
                    <m:r>
                      <a:rPr lang="en-US" altLang="zh-CN" i="1" dirty="0">
                        <a:latin typeface="Cambria Math" panose="02040503050406030204" pitchFamily="18" charset="0"/>
                      </a:rPr>
                      <m:t>𝑥</m:t>
                    </m:r>
                  </m:oMath>
                </a14:m>
                <a:r>
                  <a:rPr lang="zh-CN" altLang="en-US" dirty="0">
                    <a:latin typeface="Noto Sans SC" panose="020B0200000000000000" pitchFamily="34" charset="-122"/>
                    <a:ea typeface="Noto Sans SC" panose="020B0200000000000000" pitchFamily="34" charset="-122"/>
                  </a:rPr>
                  <a:t>的权重，需要遍历所有</a:t>
                </a:r>
                <a:r>
                  <a:rPr lang="en-US" altLang="zh-CN" dirty="0">
                    <a:latin typeface="Noto Sans SC" panose="020B0200000000000000" pitchFamily="34" charset="-122"/>
                    <a:ea typeface="Noto Sans SC" panose="020B0200000000000000" pitchFamily="34" charset="-122"/>
                  </a:rPr>
                  <a:t>M</a:t>
                </a:r>
                <a:r>
                  <a:rPr lang="zh-CN" altLang="en-US" dirty="0">
                    <a:latin typeface="Noto Sans SC" panose="020B0200000000000000" pitchFamily="34" charset="-122"/>
                    <a:ea typeface="Noto Sans SC" panose="020B0200000000000000" pitchFamily="34" charset="-122"/>
                  </a:rPr>
                  <a:t>个分布，并假设：如果这个样本</a:t>
                </a:r>
                <a14:m>
                  <m:oMath xmlns:m="http://schemas.openxmlformats.org/officeDocument/2006/math">
                    <m:r>
                      <a:rPr lang="en-US" altLang="zh-CN" i="1" dirty="0">
                        <a:latin typeface="Cambria Math" panose="02040503050406030204" pitchFamily="18" charset="0"/>
                      </a:rPr>
                      <m:t>𝑥</m:t>
                    </m:r>
                  </m:oMath>
                </a14:m>
                <a:r>
                  <a:rPr lang="zh-CN" altLang="en-US" dirty="0">
                    <a:latin typeface="Noto Sans SC" panose="020B0200000000000000" pitchFamily="34" charset="-122"/>
                    <a:ea typeface="Noto Sans SC" panose="020B0200000000000000" pitchFamily="34" charset="-122"/>
                  </a:rPr>
                  <a:t>就是从该分布中采样得到的，那么它的概率密度是多少。</a:t>
                </a:r>
                <a:endParaRPr lang="en-US" altLang="zh-CN" dirty="0">
                  <a:latin typeface="Noto Sans SC" panose="020B0200000000000000" pitchFamily="34" charset="-122"/>
                  <a:ea typeface="Noto Sans SC" panose="020B0200000000000000" pitchFamily="34" charset="-122"/>
                </a:endParaRPr>
              </a:p>
              <a:p>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这种假设方式得到的概率密度，也叫做</a:t>
                </a:r>
                <a:r>
                  <a:rPr lang="zh-CN" altLang="en-US" b="1" dirty="0">
                    <a:latin typeface="Noto Sans SC" panose="020B0200000000000000" pitchFamily="34" charset="-122"/>
                    <a:ea typeface="Noto Sans SC" panose="020B0200000000000000" pitchFamily="34" charset="-122"/>
                  </a:rPr>
                  <a:t>反事实概率密度</a:t>
                </a:r>
                <a:r>
                  <a:rPr lang="zh-CN" altLang="en-US" dirty="0">
                    <a:latin typeface="Noto Sans SC" panose="020B0200000000000000" pitchFamily="34" charset="-122"/>
                    <a:ea typeface="Noto Sans SC" panose="020B0200000000000000" pitchFamily="34" charset="-122"/>
                  </a:rPr>
                  <a:t>，对应着启发式分母中的</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𝑝𝑑𝑓</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𝑥</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𝑗</m:t>
                    </m:r>
                  </m:oMath>
                </a14:m>
                <a:r>
                  <a:rPr lang="zh-CN" altLang="en-US" dirty="0">
                    <a:latin typeface="Noto Sans SC" panose="020B0200000000000000" pitchFamily="34" charset="-122"/>
                    <a:ea typeface="Noto Sans SC" panose="020B0200000000000000" pitchFamily="34" charset="-122"/>
                  </a:rPr>
                  <a:t>，而实际采样</a:t>
                </a:r>
                <a14:m>
                  <m:oMath xmlns:m="http://schemas.openxmlformats.org/officeDocument/2006/math">
                    <m:r>
                      <a:rPr lang="en-US" altLang="zh-CN" i="1" dirty="0">
                        <a:latin typeface="Cambria Math" panose="02040503050406030204" pitchFamily="18" charset="0"/>
                      </a:rPr>
                      <m:t>𝑥</m:t>
                    </m:r>
                  </m:oMath>
                </a14:m>
                <a:r>
                  <a:rPr lang="zh-CN" altLang="en-US" dirty="0">
                    <a:latin typeface="Noto Sans SC" panose="020B0200000000000000" pitchFamily="34" charset="-122"/>
                    <a:ea typeface="Noto Sans SC" panose="020B0200000000000000" pitchFamily="34" charset="-122"/>
                  </a:rPr>
                  <a:t>的概率密度则为</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𝑝𝑑𝑓</m:t>
                        </m:r>
                      </m:e>
                      <m:sub>
                        <m:r>
                          <a:rPr lang="en-US" altLang="zh-CN" b="0" i="1" dirty="0" smtClean="0">
                            <a:latin typeface="Cambria Math" panose="02040503050406030204" pitchFamily="18" charset="0"/>
                          </a:rPr>
                          <m:t>𝑗</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𝑥</m:t>
                        </m:r>
                      </m:e>
                    </m:d>
                  </m:oMath>
                </a14:m>
                <a:r>
                  <a:rPr lang="zh-CN" altLang="en-US" dirty="0">
                    <a:latin typeface="Noto Sans SC" panose="020B0200000000000000" pitchFamily="34" charset="-122"/>
                    <a:ea typeface="Noto Sans SC" panose="020B0200000000000000" pitchFamily="34" charset="-122"/>
                  </a:rPr>
                  <a:t>。</a:t>
                </a:r>
                <a:endParaRPr lang="en-US" altLang="zh-CN" dirty="0">
                  <a:latin typeface="Noto Sans SC" panose="020B0200000000000000" pitchFamily="34" charset="-122"/>
                  <a:ea typeface="Noto Sans SC" panose="020B0200000000000000" pitchFamily="34" charset="-122"/>
                </a:endParaRPr>
              </a:p>
            </p:txBody>
          </p:sp>
        </mc:Choice>
        <mc:Fallback xmlns="">
          <p:sp>
            <p:nvSpPr>
              <p:cNvPr id="45" name="文本框 44">
                <a:extLst>
                  <a:ext uri="{FF2B5EF4-FFF2-40B4-BE49-F238E27FC236}">
                    <a16:creationId xmlns:a16="http://schemas.microsoft.com/office/drawing/2014/main" id="{FC4E9FE8-9C6D-0FEB-D327-CD549E1BC039}"/>
                  </a:ext>
                </a:extLst>
              </p:cNvPr>
              <p:cNvSpPr txBox="1">
                <a:spLocks noRot="1" noChangeAspect="1" noMove="1" noResize="1" noEditPoints="1" noAdjustHandles="1" noChangeArrowheads="1" noChangeShapeType="1" noTextEdit="1"/>
              </p:cNvSpPr>
              <p:nvPr/>
            </p:nvSpPr>
            <p:spPr>
              <a:xfrm>
                <a:off x="864389" y="1438165"/>
                <a:ext cx="5684517" cy="2330638"/>
              </a:xfrm>
              <a:prstGeom prst="rect">
                <a:avLst/>
              </a:prstGeom>
              <a:blipFill>
                <a:blip r:embed="rId2"/>
                <a:stretch>
                  <a:fillRect l="-966" t="-1571" r="-858" b="-23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F7F94A23-217F-FF41-A110-BBBB4DCE11B0}"/>
                  </a:ext>
                </a:extLst>
              </p:cNvPr>
              <p:cNvSpPr txBox="1"/>
              <p:nvPr/>
            </p:nvSpPr>
            <p:spPr>
              <a:xfrm>
                <a:off x="758949" y="4126968"/>
                <a:ext cx="10674101" cy="2057551"/>
              </a:xfrm>
              <a:prstGeom prst="rect">
                <a:avLst/>
              </a:prstGeom>
              <a:noFill/>
            </p:spPr>
            <p:txBody>
              <a:bodyPr wrap="square">
                <a:spAutoFit/>
              </a:bodyPr>
              <a:lstStyle/>
              <a:p>
                <a:r>
                  <a:rPr lang="zh-CN" altLang="en-US" dirty="0">
                    <a:latin typeface="+mn-ea"/>
                  </a:rPr>
                  <a:t>         可以看到，权重函数由样本数、生成样本</a:t>
                </a:r>
                <a14:m>
                  <m:oMath xmlns:m="http://schemas.openxmlformats.org/officeDocument/2006/math">
                    <m:r>
                      <a:rPr lang="en-US" altLang="zh-CN" i="1" dirty="0">
                        <a:latin typeface="Cambria Math" panose="02040503050406030204" pitchFamily="18" charset="0"/>
                      </a:rPr>
                      <m:t>𝑥</m:t>
                    </m:r>
                  </m:oMath>
                </a14:m>
                <a:r>
                  <a:rPr lang="zh-CN" altLang="en-US" dirty="0">
                    <a:latin typeface="+mn-ea"/>
                  </a:rPr>
                  <a:t>的概率密度 以及 该样本对于其他分布的反事实概率密度得到，于是我们可以将不同启发式的权重函数写成以下这种通用形式：</a:t>
                </a:r>
                <a:endParaRPr lang="en-US" altLang="zh-CN" dirty="0">
                  <a:latin typeface="+mn-ea"/>
                </a:endParaRPr>
              </a:p>
              <a:p>
                <a:pPr/>
                <a14:m>
                  <m:oMathPara xmlns:m="http://schemas.openxmlformats.org/officeDocument/2006/math">
                    <m:oMath>
                      <m:r>
                        <a:rPr lang="en-US" altLang="zh-CN" b="0" i="1" dirty="0" smtClean="0">
                          <a:latin typeface="Cambria Math" panose="02040503050406030204" pitchFamily="18" charset="0"/>
                        </a:rPr>
                        <m:t>ℋ</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𝑗</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𝑎</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𝑎</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𝑎</m:t>
                              </m:r>
                            </m:e>
                            <m:sub>
                              <m:r>
                                <a:rPr lang="en-US" altLang="zh-CN" b="0" i="1" dirty="0" smtClean="0">
                                  <a:latin typeface="Cambria Math" panose="02040503050406030204" pitchFamily="18" charset="0"/>
                                </a:rPr>
                                <m:t>𝑀</m:t>
                              </m:r>
                            </m:sub>
                          </m:sSub>
                        </m:e>
                      </m:d>
                    </m:oMath>
                  </m:oMathPara>
                </a14:m>
                <a:endParaRPr lang="en-US" altLang="zh-CN" b="0" dirty="0">
                  <a:latin typeface="+mn-ea"/>
                </a:endParaRPr>
              </a:p>
              <a:p>
                <a:r>
                  <a:rPr lang="zh-CN" altLang="en-US" dirty="0">
                    <a:latin typeface="+mn-ea"/>
                  </a:rPr>
                  <a:t>         其中</a:t>
                </a:r>
                <a14:m>
                  <m:oMath xmlns:m="http://schemas.openxmlformats.org/officeDocument/2006/math">
                    <m:r>
                      <a:rPr lang="en-US" altLang="zh-CN" i="1" dirty="0">
                        <a:latin typeface="Cambria Math" panose="02040503050406030204" pitchFamily="18" charset="0"/>
                      </a:rPr>
                      <m:t>ℋ</m:t>
                    </m:r>
                  </m:oMath>
                </a14:m>
                <a:r>
                  <a:rPr lang="zh-CN" altLang="en-US" dirty="0">
                    <a:latin typeface="+mn-ea"/>
                  </a:rPr>
                  <a:t>为任意启发式的权重函数，参数</a:t>
                </a:r>
                <a14:m>
                  <m:oMath xmlns:m="http://schemas.openxmlformats.org/officeDocument/2006/math">
                    <m:r>
                      <a:rPr lang="en-US" altLang="zh-CN" b="0" i="1" dirty="0" smtClean="0">
                        <a:latin typeface="Cambria Math" panose="02040503050406030204" pitchFamily="18" charset="0"/>
                      </a:rPr>
                      <m:t>“</m:t>
                    </m:r>
                    <m:r>
                      <a:rPr lang="en-US" altLang="zh-CN" i="1" dirty="0">
                        <a:latin typeface="Cambria Math" panose="02040503050406030204" pitchFamily="18" charset="0"/>
                      </a:rPr>
                      <m:t>𝑗</m:t>
                    </m:r>
                    <m:r>
                      <a:rPr lang="en-US" altLang="zh-CN" b="0" i="1" dirty="0" smtClean="0">
                        <a:latin typeface="Cambria Math" panose="02040503050406030204" pitchFamily="18" charset="0"/>
                      </a:rPr>
                      <m:t>”</m:t>
                    </m:r>
                  </m:oMath>
                </a14:m>
                <a:r>
                  <a:rPr lang="zh-CN" altLang="en-US" dirty="0">
                    <a:latin typeface="+mn-ea"/>
                  </a:rPr>
                  <a:t>代表第</a:t>
                </a:r>
                <a14:m>
                  <m:oMath xmlns:m="http://schemas.openxmlformats.org/officeDocument/2006/math">
                    <m:r>
                      <a:rPr lang="en-US" altLang="zh-CN" i="1" dirty="0">
                        <a:latin typeface="Cambria Math" panose="02040503050406030204" pitchFamily="18" charset="0"/>
                      </a:rPr>
                      <m:t>𝑗</m:t>
                    </m:r>
                  </m:oMath>
                </a14:m>
                <a:r>
                  <a:rPr lang="zh-CN" altLang="en-US" dirty="0">
                    <a:latin typeface="+mn-ea"/>
                  </a:rPr>
                  <a:t>个概率密度</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𝑝𝑑𝑓</m:t>
                        </m:r>
                      </m:e>
                      <m:sub>
                        <m:r>
                          <a:rPr lang="en-US" altLang="zh-CN" b="0" i="1" dirty="0" smtClean="0">
                            <a:latin typeface="Cambria Math" panose="02040503050406030204" pitchFamily="18" charset="0"/>
                          </a:rPr>
                          <m:t>𝑗</m:t>
                        </m:r>
                      </m:sub>
                    </m:sSub>
                  </m:oMath>
                </a14:m>
                <a:r>
                  <a:rPr lang="zh-CN" altLang="en-US" dirty="0">
                    <a:latin typeface="+mn-ea"/>
                  </a:rPr>
                  <a:t>为实际生成样本的概率密度，其余的</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𝑝𝑑𝑓</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 </m:t>
                    </m:r>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𝑝𝑑𝑓</m:t>
                        </m:r>
                      </m:e>
                      <m:sub>
                        <m:r>
                          <a:rPr lang="en-US" altLang="zh-CN" i="1" dirty="0">
                            <a:latin typeface="Cambria Math" panose="02040503050406030204" pitchFamily="18" charset="0"/>
                          </a:rPr>
                          <m:t>𝑀</m:t>
                        </m:r>
                      </m:sub>
                    </m:sSub>
                  </m:oMath>
                </a14:m>
                <a:r>
                  <a:rPr lang="zh-CN" altLang="en-US" dirty="0">
                    <a:latin typeface="+mn-ea"/>
                  </a:rPr>
                  <a:t>均为反事实概率密度。</a:t>
                </a:r>
                <a:endParaRPr lang="en-US" altLang="zh-CN" b="0" i="1" dirty="0">
                  <a:latin typeface="+mn-ea"/>
                </a:endParaRPr>
              </a:p>
              <a:p>
                <a:r>
                  <a:rPr lang="en-US" altLang="zh-CN" b="0" dirty="0">
                    <a:latin typeface="+mn-ea"/>
                  </a:rPr>
                  <a:t>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b="0" i="1" dirty="0" smtClean="0">
                            <a:latin typeface="Cambria Math" panose="02040503050406030204" pitchFamily="18" charset="0"/>
                          </a:rPr>
                          <m:t>𝑘</m:t>
                        </m:r>
                      </m:sub>
                    </m:sSub>
                  </m:oMath>
                </a14:m>
                <a:r>
                  <a:rPr lang="zh-CN" altLang="en-US" dirty="0">
                    <a:latin typeface="+mn-ea"/>
                  </a:rPr>
                  <a:t>表示有效密度，即 样本数</a:t>
                </a:r>
                <a:r>
                  <a:rPr lang="en-US" altLang="zh-CN" dirty="0">
                    <a:latin typeface="+mn-ea"/>
                  </a:rPr>
                  <a:t>×</a:t>
                </a:r>
                <a:r>
                  <a:rPr lang="zh-CN" altLang="en-US" dirty="0">
                    <a:latin typeface="+mn-ea"/>
                  </a:rPr>
                  <a:t>概率密度，因为从第</a:t>
                </a:r>
                <a14:m>
                  <m:oMath xmlns:m="http://schemas.openxmlformats.org/officeDocument/2006/math">
                    <m:r>
                      <a:rPr lang="en-US" altLang="zh-CN" b="0" i="1" dirty="0" smtClean="0">
                        <a:latin typeface="Cambria Math" panose="02040503050406030204" pitchFamily="18" charset="0"/>
                      </a:rPr>
                      <m:t>𝑘</m:t>
                    </m:r>
                  </m:oMath>
                </a14:m>
                <a:r>
                  <a:rPr lang="zh-CN" altLang="en-US" dirty="0">
                    <a:latin typeface="+mn-ea"/>
                  </a:rPr>
                  <a:t>个分布中采样了</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𝑘</m:t>
                        </m:r>
                      </m:sub>
                    </m:sSub>
                  </m:oMath>
                </a14:m>
                <a:r>
                  <a:rPr lang="zh-CN" altLang="en-US" dirty="0">
                    <a:latin typeface="+mn-ea"/>
                  </a:rPr>
                  <a:t>个样本，所以从第</a:t>
                </a:r>
                <a14:m>
                  <m:oMath xmlns:m="http://schemas.openxmlformats.org/officeDocument/2006/math">
                    <m:r>
                      <a:rPr lang="en-US" altLang="zh-CN" b="0" i="1" dirty="0" smtClean="0">
                        <a:latin typeface="Cambria Math" panose="02040503050406030204" pitchFamily="18" charset="0"/>
                      </a:rPr>
                      <m:t>𝑘</m:t>
                    </m:r>
                  </m:oMath>
                </a14:m>
                <a:r>
                  <a:rPr lang="zh-CN" altLang="en-US" dirty="0">
                    <a:latin typeface="+mn-ea"/>
                  </a:rPr>
                  <a:t>个分布得到样本</a:t>
                </a:r>
                <a14:m>
                  <m:oMath xmlns:m="http://schemas.openxmlformats.org/officeDocument/2006/math">
                    <m:r>
                      <a:rPr lang="en-US" altLang="zh-CN" b="0" i="1" dirty="0" smtClean="0">
                        <a:latin typeface="Cambria Math" panose="02040503050406030204" pitchFamily="18" charset="0"/>
                      </a:rPr>
                      <m:t>𝑥</m:t>
                    </m:r>
                  </m:oMath>
                </a14:m>
                <a:r>
                  <a:rPr lang="zh-CN" altLang="en-US" dirty="0">
                    <a:latin typeface="+mn-ea"/>
                  </a:rPr>
                  <a:t>的有效密度为</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𝑎</m:t>
                        </m:r>
                      </m:e>
                      <m:sub>
                        <m:r>
                          <a:rPr lang="en-US" altLang="zh-CN" i="1" dirty="0">
                            <a:latin typeface="Cambria Math" panose="02040503050406030204" pitchFamily="18" charset="0"/>
                          </a:rPr>
                          <m:t>𝑘</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𝑝𝑑𝑓</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𝑥</m:t>
                        </m:r>
                      </m:e>
                    </m:d>
                  </m:oMath>
                </a14:m>
                <a:r>
                  <a:rPr lang="zh-CN" altLang="en-US" dirty="0">
                    <a:latin typeface="+mn-ea"/>
                  </a:rPr>
                  <a:t>。</a:t>
                </a:r>
              </a:p>
            </p:txBody>
          </p:sp>
        </mc:Choice>
        <mc:Fallback xmlns="">
          <p:sp>
            <p:nvSpPr>
              <p:cNvPr id="6" name="文本框 5">
                <a:extLst>
                  <a:ext uri="{FF2B5EF4-FFF2-40B4-BE49-F238E27FC236}">
                    <a16:creationId xmlns:a16="http://schemas.microsoft.com/office/drawing/2014/main" id="{F7F94A23-217F-FF41-A110-BBBB4DCE11B0}"/>
                  </a:ext>
                </a:extLst>
              </p:cNvPr>
              <p:cNvSpPr txBox="1">
                <a:spLocks noRot="1" noChangeAspect="1" noMove="1" noResize="1" noEditPoints="1" noAdjustHandles="1" noChangeArrowheads="1" noChangeShapeType="1" noTextEdit="1"/>
              </p:cNvSpPr>
              <p:nvPr/>
            </p:nvSpPr>
            <p:spPr>
              <a:xfrm>
                <a:off x="758949" y="4126968"/>
                <a:ext cx="10674101" cy="2057551"/>
              </a:xfrm>
              <a:prstGeom prst="rect">
                <a:avLst/>
              </a:prstGeom>
              <a:blipFill>
                <a:blip r:embed="rId3"/>
                <a:stretch>
                  <a:fillRect l="-457" t="-1775" b="-35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CA04A58-6528-D043-9A4A-5D21FCC91197}"/>
                  </a:ext>
                </a:extLst>
              </p:cNvPr>
              <p:cNvSpPr txBox="1"/>
              <p:nvPr/>
            </p:nvSpPr>
            <p:spPr>
              <a:xfrm>
                <a:off x="6976058" y="1052417"/>
                <a:ext cx="4409404" cy="2815066"/>
              </a:xfrm>
              <a:prstGeom prst="rect">
                <a:avLst/>
              </a:prstGeom>
              <a:noFill/>
            </p:spPr>
            <p:txBody>
              <a:bodyPr wrap="square">
                <a:spAutoFit/>
              </a:bodyPr>
              <a:lstStyle/>
              <a:p>
                <a:pPr/>
                <a14:m>
                  <m:oMathPara xmlns:m="http://schemas.openxmlformats.org/officeDocument/2006/math">
                    <m:oMath>
                      <m:r>
                        <m:rPr>
                          <m:nor/>
                        </m:rPr>
                        <a:rPr lang="zh-CN" altLang="en-US" sz="1800" i="0" dirty="0" smtClean="0"/>
                        <m:t>平衡启发式</m:t>
                      </m:r>
                      <m:r>
                        <m:rPr>
                          <m:nor/>
                        </m:rPr>
                        <a:rPr lang="en-US" altLang="zh-CN" sz="1800" b="0" i="0" dirty="0" smtClean="0"/>
                        <m:t>(</m:t>
                      </m:r>
                      <m:r>
                        <m:rPr>
                          <m:nor/>
                        </m:rPr>
                        <a:rPr lang="en-US" altLang="zh-CN" sz="1800" i="0" dirty="0" smtClean="0"/>
                        <m:t>Balance Heuristic</m:t>
                      </m:r>
                      <m:r>
                        <a:rPr lang="en-US" altLang="zh-CN" sz="1800" b="0" i="1" dirty="0" smtClean="0">
                          <a:latin typeface="Cambria Math" panose="02040503050406030204" pitchFamily="18" charset="0"/>
                        </a:rPr>
                        <m:t>)</m:t>
                      </m:r>
                    </m:oMath>
                  </m:oMathPara>
                </a14:m>
                <a:endParaRPr lang="en-US" altLang="zh-CN" sz="1800" i="1" dirty="0">
                  <a:latin typeface="Cambria Math" panose="02040503050406030204" pitchFamily="18" charset="0"/>
                </a:endParaRPr>
              </a:p>
              <a:p>
                <a:pPr/>
                <a14:m>
                  <m:oMathPara xmlns:m="http://schemas.openxmlformats.org/officeDocument/2006/math">
                    <m:oMath>
                      <m:sSub>
                        <m:sSubPr>
                          <m:ctrlPr>
                            <a:rPr lang="en-US" altLang="zh-CN" sz="2000" i="1" dirty="0">
                              <a:latin typeface="Cambria Math" panose="02040503050406030204" pitchFamily="18" charset="0"/>
                            </a:rPr>
                          </m:ctrlPr>
                        </m:sSubPr>
                        <m:e>
                          <m:r>
                            <m:rPr>
                              <m:sty m:val="p"/>
                            </m:rPr>
                            <a:rPr lang="en-US" altLang="zh-CN" sz="2000" i="1" dirty="0">
                              <a:latin typeface="Cambria Math" panose="02040503050406030204" pitchFamily="18" charset="0"/>
                            </a:rPr>
                            <m:t>w</m:t>
                          </m:r>
                        </m:e>
                        <m:sub>
                          <m:r>
                            <a:rPr lang="en-US" altLang="zh-CN" sz="2000" i="1" dirty="0">
                              <a:latin typeface="Cambria Math" panose="02040503050406030204" pitchFamily="18" charset="0"/>
                            </a:rPr>
                            <m:t>𝑗</m:t>
                          </m:r>
                        </m:sub>
                      </m:sSub>
                      <m:d>
                        <m:dPr>
                          <m:ctrlPr>
                            <a:rPr lang="en-US" altLang="zh-CN" sz="2000" i="1" dirty="0">
                              <a:latin typeface="Cambria Math" panose="02040503050406030204" pitchFamily="18" charset="0"/>
                            </a:rPr>
                          </m:ctrlPr>
                        </m:dPr>
                        <m:e>
                          <m:r>
                            <a:rPr lang="en-US" altLang="zh-CN" sz="2000" i="1" dirty="0">
                              <a:latin typeface="Cambria Math" panose="02040503050406030204" pitchFamily="18" charset="0"/>
                            </a:rPr>
                            <m:t>𝑥</m:t>
                          </m:r>
                        </m:e>
                      </m:d>
                      <m:r>
                        <a:rPr lang="en-US" altLang="zh-CN" sz="2000" i="1" dirty="0">
                          <a:latin typeface="Cambria Math" panose="02040503050406030204" pitchFamily="18" charset="0"/>
                        </a:rPr>
                        <m:t>=</m:t>
                      </m:r>
                      <m:f>
                        <m:fPr>
                          <m:ctrlPr>
                            <a:rPr lang="en-US" altLang="zh-CN" sz="2000" b="0" i="1" dirty="0" smtClean="0">
                              <a:latin typeface="Cambria Math" panose="02040503050406030204" pitchFamily="18" charset="0"/>
                            </a:rPr>
                          </m:ctrlPr>
                        </m:fPr>
                        <m:num>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𝑁</m:t>
                              </m:r>
                            </m:e>
                            <m:sub>
                              <m:r>
                                <a:rPr lang="en-US" altLang="zh-CN" sz="2000" b="0" i="1" dirty="0" smtClean="0">
                                  <a:latin typeface="Cambria Math" panose="02040503050406030204" pitchFamily="18" charset="0"/>
                                </a:rPr>
                                <m:t>𝑗</m:t>
                              </m:r>
                            </m:sub>
                          </m:sSub>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𝑝𝑑𝑓</m:t>
                              </m:r>
                            </m:e>
                            <m:sub>
                              <m:r>
                                <a:rPr lang="en-US" altLang="zh-CN" sz="2000" b="0" i="1" dirty="0" smtClean="0">
                                  <a:latin typeface="Cambria Math" panose="02040503050406030204" pitchFamily="18" charset="0"/>
                                </a:rPr>
                                <m:t>𝑗</m:t>
                              </m:r>
                            </m:sub>
                          </m:sSub>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𝑥</m:t>
                              </m:r>
                            </m:e>
                          </m:d>
                        </m:num>
                        <m:den>
                          <m:nary>
                            <m:naryPr>
                              <m:chr m:val="∑"/>
                              <m:ctrlPr>
                                <a:rPr lang="en-US" altLang="zh-CN" sz="2000" b="0" i="1" dirty="0" smtClean="0">
                                  <a:latin typeface="Cambria Math" panose="02040503050406030204" pitchFamily="18" charset="0"/>
                                </a:rPr>
                              </m:ctrlPr>
                            </m:naryPr>
                            <m:sub>
                              <m:r>
                                <m:rPr>
                                  <m:brk m:alnAt="23"/>
                                </m:rPr>
                                <a:rPr lang="en-US" altLang="zh-CN" sz="2000" b="0" i="1" dirty="0" smtClean="0">
                                  <a:latin typeface="Cambria Math" panose="02040503050406030204" pitchFamily="18" charset="0"/>
                                </a:rPr>
                                <m:t>𝑘</m:t>
                              </m:r>
                              <m:r>
                                <a:rPr lang="en-US" altLang="zh-CN" sz="2000" b="0" i="1" dirty="0" smtClean="0">
                                  <a:latin typeface="Cambria Math" panose="02040503050406030204" pitchFamily="18" charset="0"/>
                                </a:rPr>
                                <m:t>=1</m:t>
                              </m:r>
                            </m:sub>
                            <m:sup>
                              <m:r>
                                <a:rPr lang="en-US" altLang="zh-CN" sz="2000" b="0" i="1" dirty="0" smtClean="0">
                                  <a:latin typeface="Cambria Math" panose="02040503050406030204" pitchFamily="18" charset="0"/>
                                </a:rPr>
                                <m:t>𝑀</m:t>
                              </m:r>
                            </m:sup>
                            <m:e>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𝑁</m:t>
                                  </m:r>
                                </m:e>
                                <m:sub>
                                  <m:r>
                                    <a:rPr lang="en-US" altLang="zh-CN" sz="2000" b="0" i="1" dirty="0" smtClean="0">
                                      <a:latin typeface="Cambria Math" panose="02040503050406030204" pitchFamily="18" charset="0"/>
                                    </a:rPr>
                                    <m:t>𝑘</m:t>
                                  </m:r>
                                </m:sub>
                              </m:sSub>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𝑝𝑑𝑓</m:t>
                                  </m:r>
                                </m:e>
                                <m:sub>
                                  <m:r>
                                    <a:rPr lang="en-US" altLang="zh-CN" sz="2000" b="0" i="1" dirty="0" smtClean="0">
                                      <a:latin typeface="Cambria Math" panose="02040503050406030204" pitchFamily="18" charset="0"/>
                                    </a:rPr>
                                    <m:t>𝑘</m:t>
                                  </m:r>
                                </m:sub>
                              </m:sSub>
                              <m:d>
                                <m:dPr>
                                  <m:ctrlPr>
                                    <a:rPr lang="en-US" altLang="zh-CN" sz="2000" b="0" i="1" dirty="0" smtClean="0">
                                      <a:latin typeface="Cambria Math" panose="02040503050406030204" pitchFamily="18" charset="0"/>
                                    </a:rPr>
                                  </m:ctrlPr>
                                </m:dPr>
                                <m:e>
                                  <m:r>
                                    <a:rPr lang="en-US" altLang="zh-CN" sz="2000" b="0" i="1" dirty="0" smtClean="0">
                                      <a:latin typeface="Cambria Math" panose="02040503050406030204" pitchFamily="18" charset="0"/>
                                    </a:rPr>
                                    <m:t>𝑥</m:t>
                                  </m:r>
                                </m:e>
                              </m:d>
                            </m:e>
                          </m:nary>
                        </m:den>
                      </m:f>
                    </m:oMath>
                  </m:oMathPara>
                </a14:m>
                <a:endParaRPr lang="en-US" altLang="zh-CN" sz="1800" b="0" dirty="0"/>
              </a:p>
              <a:p>
                <a:endParaRPr lang="en-US" altLang="zh-CN" dirty="0"/>
              </a:p>
              <a:p>
                <a:endParaRPr lang="en-US" altLang="zh-CN" dirty="0"/>
              </a:p>
              <a:p>
                <a:pPr/>
                <a14:m>
                  <m:oMathPara xmlns:m="http://schemas.openxmlformats.org/officeDocument/2006/math">
                    <m:oMath>
                      <m:r>
                        <a:rPr lang="zh-CN" altLang="en-US" i="1" dirty="0">
                          <a:latin typeface="Cambria Math" panose="02040503050406030204" pitchFamily="18" charset="0"/>
                        </a:rPr>
                        <m:t>幂</m:t>
                      </m:r>
                      <m:r>
                        <m:rPr>
                          <m:nor/>
                        </m:rPr>
                        <a:rPr lang="zh-CN" altLang="en-US" i="0" dirty="0"/>
                        <m:t>启发式</m:t>
                      </m:r>
                      <m:r>
                        <m:rPr>
                          <m:nor/>
                        </m:rPr>
                        <a:rPr lang="en-US" altLang="zh-CN" i="0" dirty="0"/>
                        <m:t>(Power Heuristic</m:t>
                      </m:r>
                      <m:r>
                        <a:rPr lang="en-US" altLang="zh-CN" i="1" dirty="0">
                          <a:latin typeface="Cambria Math" panose="02040503050406030204" pitchFamily="18" charset="0"/>
                        </a:rPr>
                        <m:t>)</m:t>
                      </m:r>
                    </m:oMath>
                  </m:oMathPara>
                </a14:m>
                <a:endParaRPr lang="en-US" altLang="zh-CN" dirty="0"/>
              </a:p>
              <a:p>
                <a:pPr/>
                <a14:m>
                  <m:oMathPara xmlns:m="http://schemas.openxmlformats.org/officeDocument/2006/math">
                    <m:oMath>
                      <m:sSub>
                        <m:sSubPr>
                          <m:ctrlPr>
                            <a:rPr lang="en-US" altLang="zh-CN" sz="2000" i="1" dirty="0">
                              <a:latin typeface="Cambria Math" panose="02040503050406030204" pitchFamily="18" charset="0"/>
                            </a:rPr>
                          </m:ctrlPr>
                        </m:sSubPr>
                        <m:e>
                          <m:r>
                            <m:rPr>
                              <m:sty m:val="p"/>
                            </m:rPr>
                            <a:rPr lang="en-US" altLang="zh-CN" sz="2000" i="1" dirty="0">
                              <a:latin typeface="Cambria Math" panose="02040503050406030204" pitchFamily="18" charset="0"/>
                            </a:rPr>
                            <m:t>w</m:t>
                          </m:r>
                        </m:e>
                        <m:sub>
                          <m:r>
                            <a:rPr lang="en-US" altLang="zh-CN" sz="2000" i="1" dirty="0">
                              <a:latin typeface="Cambria Math" panose="02040503050406030204" pitchFamily="18" charset="0"/>
                            </a:rPr>
                            <m:t>𝑗</m:t>
                          </m:r>
                        </m:sub>
                      </m:sSub>
                      <m:d>
                        <m:dPr>
                          <m:ctrlPr>
                            <a:rPr lang="en-US" altLang="zh-CN" sz="2000" i="1" dirty="0">
                              <a:latin typeface="Cambria Math" panose="02040503050406030204" pitchFamily="18" charset="0"/>
                            </a:rPr>
                          </m:ctrlPr>
                        </m:dPr>
                        <m:e>
                          <m:r>
                            <a:rPr lang="en-US" altLang="zh-CN" sz="2000" i="1" dirty="0">
                              <a:latin typeface="Cambria Math" panose="02040503050406030204" pitchFamily="18" charset="0"/>
                            </a:rPr>
                            <m:t>𝑥</m:t>
                          </m:r>
                        </m:e>
                      </m:d>
                      <m:r>
                        <a:rPr lang="en-US" altLang="zh-CN" sz="2000" i="1" dirty="0">
                          <a:latin typeface="Cambria Math" panose="02040503050406030204" pitchFamily="18" charset="0"/>
                        </a:rPr>
                        <m:t>=</m:t>
                      </m:r>
                      <m:f>
                        <m:fPr>
                          <m:ctrlPr>
                            <a:rPr lang="en-US" altLang="zh-CN" sz="2000" i="1" dirty="0">
                              <a:latin typeface="Cambria Math" panose="02040503050406030204" pitchFamily="18" charset="0"/>
                            </a:rPr>
                          </m:ctrlPr>
                        </m:fPr>
                        <m:num>
                          <m:sSup>
                            <m:sSupPr>
                              <m:ctrlPr>
                                <a:rPr lang="en-US" altLang="zh-CN" sz="2000" i="1" dirty="0">
                                  <a:latin typeface="Cambria Math" panose="02040503050406030204" pitchFamily="18" charset="0"/>
                                </a:rPr>
                              </m:ctrlPr>
                            </m:sSupPr>
                            <m:e>
                              <m:d>
                                <m:dPr>
                                  <m:ctrlPr>
                                    <a:rPr lang="en-US" altLang="zh-CN" sz="2000" i="1" dirty="0">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𝑁</m:t>
                                      </m:r>
                                    </m:e>
                                    <m:sub>
                                      <m:r>
                                        <a:rPr lang="en-US" altLang="zh-CN" sz="2000" i="1" dirty="0">
                                          <a:latin typeface="Cambria Math" panose="02040503050406030204" pitchFamily="18" charset="0"/>
                                        </a:rPr>
                                        <m:t>𝑗</m:t>
                                      </m:r>
                                    </m:sub>
                                  </m:sSub>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𝑝𝑑</m:t>
                                      </m:r>
                                      <m:r>
                                        <a:rPr lang="en-US" altLang="zh-CN" sz="2000" i="1" dirty="0">
                                          <a:latin typeface="Cambria Math" panose="02040503050406030204" pitchFamily="18" charset="0"/>
                                        </a:rPr>
                                        <m:t>𝑓</m:t>
                                      </m:r>
                                    </m:e>
                                    <m:sub>
                                      <m:r>
                                        <a:rPr lang="en-US" altLang="zh-CN" sz="2000" i="1" dirty="0">
                                          <a:latin typeface="Cambria Math" panose="02040503050406030204" pitchFamily="18" charset="0"/>
                                        </a:rPr>
                                        <m:t>𝑗</m:t>
                                      </m:r>
                                    </m:sub>
                                  </m:sSub>
                                  <m:d>
                                    <m:dPr>
                                      <m:ctrlPr>
                                        <a:rPr lang="en-US" altLang="zh-CN" sz="2000" i="1" dirty="0">
                                          <a:latin typeface="Cambria Math" panose="02040503050406030204" pitchFamily="18" charset="0"/>
                                        </a:rPr>
                                      </m:ctrlPr>
                                    </m:dPr>
                                    <m:e>
                                      <m:r>
                                        <a:rPr lang="en-US" altLang="zh-CN" sz="2000" i="1" dirty="0">
                                          <a:latin typeface="Cambria Math" panose="02040503050406030204" pitchFamily="18" charset="0"/>
                                        </a:rPr>
                                        <m:t>𝑥</m:t>
                                      </m:r>
                                    </m:e>
                                  </m:d>
                                </m:e>
                              </m:d>
                            </m:e>
                            <m:sup>
                              <m:r>
                                <a:rPr lang="en-US" altLang="zh-CN" sz="2000" b="0" i="1" dirty="0" smtClean="0">
                                  <a:latin typeface="Cambria Math" panose="02040503050406030204" pitchFamily="18" charset="0"/>
                                </a:rPr>
                                <m:t>𝛾</m:t>
                              </m:r>
                            </m:sup>
                          </m:sSup>
                        </m:num>
                        <m:den>
                          <m:nary>
                            <m:naryPr>
                              <m:chr m:val="∑"/>
                              <m:ctrlPr>
                                <a:rPr lang="en-US" altLang="zh-CN" sz="2000" i="1" dirty="0">
                                  <a:latin typeface="Cambria Math" panose="02040503050406030204" pitchFamily="18" charset="0"/>
                                </a:rPr>
                              </m:ctrlPr>
                            </m:naryPr>
                            <m:sub>
                              <m:r>
                                <m:rPr>
                                  <m:brk m:alnAt="23"/>
                                </m:rPr>
                                <a:rPr lang="en-US" altLang="zh-CN" sz="2000" i="1" dirty="0">
                                  <a:latin typeface="Cambria Math" panose="02040503050406030204" pitchFamily="18" charset="0"/>
                                </a:rPr>
                                <m:t>𝑘</m:t>
                              </m:r>
                              <m:r>
                                <a:rPr lang="en-US" altLang="zh-CN" sz="2000" i="1" dirty="0">
                                  <a:latin typeface="Cambria Math" panose="02040503050406030204" pitchFamily="18" charset="0"/>
                                </a:rPr>
                                <m:t>=1</m:t>
                              </m:r>
                            </m:sub>
                            <m:sup>
                              <m:r>
                                <a:rPr lang="en-US" altLang="zh-CN" sz="2000" i="1" dirty="0">
                                  <a:latin typeface="Cambria Math" panose="02040503050406030204" pitchFamily="18" charset="0"/>
                                </a:rPr>
                                <m:t>𝑀</m:t>
                              </m:r>
                            </m:sup>
                            <m:e>
                              <m:sSup>
                                <m:sSupPr>
                                  <m:ctrlPr>
                                    <a:rPr lang="en-US" altLang="zh-CN" sz="2000" i="1" dirty="0">
                                      <a:latin typeface="Cambria Math" panose="02040503050406030204" pitchFamily="18" charset="0"/>
                                    </a:rPr>
                                  </m:ctrlPr>
                                </m:sSupPr>
                                <m:e>
                                  <m:d>
                                    <m:dPr>
                                      <m:ctrlPr>
                                        <a:rPr lang="en-US" altLang="zh-CN" sz="2000" i="1" dirty="0">
                                          <a:latin typeface="Cambria Math" panose="02040503050406030204" pitchFamily="18" charset="0"/>
                                        </a:rPr>
                                      </m:ctrlPr>
                                    </m:dPr>
                                    <m:e>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𝑁</m:t>
                                          </m:r>
                                        </m:e>
                                        <m:sub>
                                          <m:r>
                                            <a:rPr lang="en-US" altLang="zh-CN" sz="2000" i="1" dirty="0">
                                              <a:latin typeface="Cambria Math" panose="02040503050406030204" pitchFamily="18" charset="0"/>
                                            </a:rPr>
                                            <m:t>𝑘</m:t>
                                          </m:r>
                                        </m:sub>
                                      </m:sSub>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𝑝𝑑</m:t>
                                          </m:r>
                                          <m:r>
                                            <a:rPr lang="en-US" altLang="zh-CN" sz="2000" i="1" dirty="0">
                                              <a:latin typeface="Cambria Math" panose="02040503050406030204" pitchFamily="18" charset="0"/>
                                            </a:rPr>
                                            <m:t>𝑓</m:t>
                                          </m:r>
                                        </m:e>
                                        <m:sub>
                                          <m:r>
                                            <a:rPr lang="en-US" altLang="zh-CN" sz="2000" i="1" dirty="0">
                                              <a:latin typeface="Cambria Math" panose="02040503050406030204" pitchFamily="18" charset="0"/>
                                            </a:rPr>
                                            <m:t>𝑘</m:t>
                                          </m:r>
                                        </m:sub>
                                      </m:sSub>
                                      <m:d>
                                        <m:dPr>
                                          <m:ctrlPr>
                                            <a:rPr lang="en-US" altLang="zh-CN" sz="2000" i="1" dirty="0">
                                              <a:latin typeface="Cambria Math" panose="02040503050406030204" pitchFamily="18" charset="0"/>
                                            </a:rPr>
                                          </m:ctrlPr>
                                        </m:dPr>
                                        <m:e>
                                          <m:r>
                                            <a:rPr lang="en-US" altLang="zh-CN" sz="2000" i="1" dirty="0">
                                              <a:latin typeface="Cambria Math" panose="02040503050406030204" pitchFamily="18" charset="0"/>
                                            </a:rPr>
                                            <m:t>𝑥</m:t>
                                          </m:r>
                                        </m:e>
                                      </m:d>
                                    </m:e>
                                  </m:d>
                                </m:e>
                                <m:sup>
                                  <m:r>
                                    <a:rPr lang="en-US" altLang="zh-CN" sz="2000" b="0" i="1" dirty="0" smtClean="0">
                                      <a:latin typeface="Cambria Math" panose="02040503050406030204" pitchFamily="18" charset="0"/>
                                    </a:rPr>
                                    <m:t>𝛾</m:t>
                                  </m:r>
                                </m:sup>
                              </m:sSup>
                            </m:e>
                          </m:nary>
                        </m:den>
                      </m:f>
                    </m:oMath>
                  </m:oMathPara>
                </a14:m>
                <a:endParaRPr lang="zh-CN" altLang="en-US" sz="2000" dirty="0"/>
              </a:p>
            </p:txBody>
          </p:sp>
        </mc:Choice>
        <mc:Fallback xmlns="">
          <p:sp>
            <p:nvSpPr>
              <p:cNvPr id="3" name="文本框 2">
                <a:extLst>
                  <a:ext uri="{FF2B5EF4-FFF2-40B4-BE49-F238E27FC236}">
                    <a16:creationId xmlns:a16="http://schemas.microsoft.com/office/drawing/2014/main" id="{2CA04A58-6528-D043-9A4A-5D21FCC91197}"/>
                  </a:ext>
                </a:extLst>
              </p:cNvPr>
              <p:cNvSpPr txBox="1">
                <a:spLocks noRot="1" noChangeAspect="1" noMove="1" noResize="1" noEditPoints="1" noAdjustHandles="1" noChangeArrowheads="1" noChangeShapeType="1" noTextEdit="1"/>
              </p:cNvSpPr>
              <p:nvPr/>
            </p:nvSpPr>
            <p:spPr>
              <a:xfrm>
                <a:off x="6976058" y="1052417"/>
                <a:ext cx="4409404" cy="2815066"/>
              </a:xfrm>
              <a:prstGeom prst="rect">
                <a:avLst/>
              </a:prstGeom>
              <a:blipFill>
                <a:blip r:embed="rId4"/>
                <a:stretch>
                  <a:fillRect l="-1105" t="-130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9235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89ED4-9A61-E671-A04F-3C7E0F66D71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8CD135C-2C84-C631-BA42-2501E0B0185E}"/>
              </a:ext>
            </a:extLst>
          </p:cNvPr>
          <p:cNvSpPr>
            <a:spLocks noGrp="1"/>
          </p:cNvSpPr>
          <p:nvPr>
            <p:ph type="title" idx="1"/>
          </p:nvPr>
        </p:nvSpPr>
        <p:spPr/>
        <p:txBody>
          <a:bodyPr/>
          <a:lstStyle/>
          <a:p>
            <a:r>
              <a:rPr lang="zh-CN" altLang="en-US" dirty="0"/>
              <a:t>路径积分  </a:t>
            </a:r>
            <a:r>
              <a:rPr lang="en-US" altLang="zh-CN" dirty="0"/>
              <a:t>——  </a:t>
            </a:r>
            <a:r>
              <a:rPr lang="zh-CN" altLang="en-US" dirty="0"/>
              <a:t>多重重要性采样</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0026C44-3722-1811-EB3C-F44922B814DD}"/>
                  </a:ext>
                </a:extLst>
              </p:cNvPr>
              <p:cNvSpPr txBox="1"/>
              <p:nvPr/>
            </p:nvSpPr>
            <p:spPr>
              <a:xfrm>
                <a:off x="298360" y="1217732"/>
                <a:ext cx="11595280" cy="5311454"/>
              </a:xfrm>
              <a:prstGeom prst="rect">
                <a:avLst/>
              </a:prstGeom>
              <a:noFill/>
            </p:spPr>
            <p:txBody>
              <a:bodyPr wrap="square">
                <a:spAutoFit/>
              </a:bodyPr>
              <a:lstStyle/>
              <a:p>
                <a:pPr/>
                <a14:m>
                  <m:oMathPara xmlns:m="http://schemas.openxmlformats.org/officeDocument/2006/math">
                    <m:oMath>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𝛽</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−1</m:t>
                          </m:r>
                        </m:sub>
                      </m:sSub>
                      <m:r>
                        <a:rPr lang="en-US" altLang="zh-CN" sz="1800" b="0" i="1" dirty="0" smtClean="0">
                          <a:latin typeface="Cambria Math" panose="02040503050406030204" pitchFamily="18" charset="0"/>
                        </a:rPr>
                        <m:t>=</m:t>
                      </m:r>
                      <m:nary>
                        <m:naryPr>
                          <m:chr m:val="∏"/>
                          <m:ctrlPr>
                            <a:rPr lang="en-US" altLang="zh-CN" sz="1800" b="0" i="1" dirty="0" smtClean="0">
                              <a:latin typeface="Cambria Math" panose="02040503050406030204" pitchFamily="18" charset="0"/>
                            </a:rPr>
                          </m:ctrlPr>
                        </m:naryPr>
                        <m:sub>
                          <m:r>
                            <m:rPr>
                              <m:brk m:alnAt="23"/>
                            </m:rPr>
                            <a:rPr lang="en-US" altLang="zh-CN" sz="1800" b="0" i="1" dirty="0" smtClean="0">
                              <a:latin typeface="Cambria Math" panose="02040503050406030204" pitchFamily="18" charset="0"/>
                            </a:rPr>
                            <m:t>𝑘</m:t>
                          </m:r>
                          <m:r>
                            <m:rPr>
                              <m:brk m:alnAt="23"/>
                            </m:rPr>
                            <a:rPr lang="en-US" altLang="zh-CN" sz="1800" b="0" i="1" dirty="0" smtClean="0">
                              <a:latin typeface="Cambria Math" panose="02040503050406030204" pitchFamily="18" charset="0"/>
                            </a:rPr>
                            <m:t>=</m:t>
                          </m:r>
                          <m:r>
                            <m:rPr>
                              <m:brk m:alnAt="23"/>
                            </m:rPr>
                            <a:rPr lang="en-US" altLang="zh-CN" sz="1800" b="0" i="1" dirty="0" smtClean="0">
                              <a:latin typeface="Cambria Math" panose="02040503050406030204" pitchFamily="18" charset="0"/>
                            </a:rPr>
                            <m:t>1</m:t>
                          </m:r>
                        </m:sub>
                        <m:sup>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−2</m:t>
                          </m:r>
                        </m:sup>
                        <m:e>
                          <m:f>
                            <m:fPr>
                              <m:ctrlPr>
                                <a:rPr lang="en-US" altLang="zh-CN" sz="1800" b="0" i="1" dirty="0" smtClean="0">
                                  <a:latin typeface="Cambria Math" panose="02040503050406030204" pitchFamily="18" charset="0"/>
                                </a:rPr>
                              </m:ctrlPr>
                            </m:fPr>
                            <m:num>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𝑓</m:t>
                                  </m:r>
                                </m:e>
                                <m:sub>
                                  <m:r>
                                    <a:rPr lang="en-US" altLang="zh-CN" sz="1800" b="0" i="1" dirty="0" smtClean="0">
                                      <a:latin typeface="Cambria Math" panose="02040503050406030204" pitchFamily="18" charset="0"/>
                                    </a:rPr>
                                    <m:t>𝑘</m:t>
                                  </m:r>
                                </m:sub>
                              </m:sSub>
                              <m:r>
                                <a:rPr lang="en-US" altLang="zh-CN" sz="1800" b="0" i="1" dirty="0" smtClean="0">
                                  <a:latin typeface="Cambria Math" panose="02040503050406030204" pitchFamily="18" charset="0"/>
                                </a:rPr>
                                <m:t> </m:t>
                              </m:r>
                              <m:d>
                                <m:dPr>
                                  <m:begChr m:val="|"/>
                                  <m:endChr m:val="|"/>
                                  <m:ctrlPr>
                                    <a:rPr lang="en-US" altLang="zh-CN" sz="1800" b="0" i="1" dirty="0" smtClean="0">
                                      <a:latin typeface="Cambria Math" panose="02040503050406030204" pitchFamily="18" charset="0"/>
                                    </a:rPr>
                                  </m:ctrlPr>
                                </m:dPr>
                                <m:e>
                                  <m:func>
                                    <m:funcPr>
                                      <m:ctrlPr>
                                        <a:rPr lang="en-US" altLang="zh-CN" sz="1800" b="0" i="0" dirty="0" smtClean="0">
                                          <a:latin typeface="Cambria Math" panose="02040503050406030204" pitchFamily="18" charset="0"/>
                                        </a:rPr>
                                      </m:ctrlPr>
                                    </m:funcPr>
                                    <m:fName>
                                      <m:r>
                                        <m:rPr>
                                          <m:sty m:val="p"/>
                                        </m:rPr>
                                        <a:rPr lang="en-US" altLang="zh-CN" sz="1800" b="0" i="0" dirty="0" smtClean="0">
                                          <a:latin typeface="Cambria Math" panose="02040503050406030204" pitchFamily="18" charset="0"/>
                                        </a:rPr>
                                        <m:t>cos</m:t>
                                      </m:r>
                                    </m:fName>
                                    <m:e>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𝜃</m:t>
                                          </m:r>
                                        </m:e>
                                        <m:sub>
                                          <m:r>
                                            <a:rPr lang="en-US" altLang="zh-CN" sz="1800" b="0" i="1" dirty="0" smtClean="0">
                                              <a:latin typeface="Cambria Math" panose="02040503050406030204" pitchFamily="18" charset="0"/>
                                            </a:rPr>
                                            <m:t>𝑘</m:t>
                                          </m:r>
                                          <m:r>
                                            <a:rPr lang="en-US" altLang="zh-CN" sz="1800" b="0" i="1" dirty="0" smtClean="0">
                                              <a:latin typeface="Cambria Math" panose="02040503050406030204" pitchFamily="18" charset="0"/>
                                            </a:rPr>
                                            <m:t>+1</m:t>
                                          </m:r>
                                        </m:sub>
                                      </m:sSub>
                                    </m:e>
                                  </m:func>
                                </m:e>
                              </m:d>
                            </m:num>
                            <m:den>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𝐵</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b="0" i="1" dirty="0" smtClean="0">
                                          <a:latin typeface="Cambria Math" panose="02040503050406030204" pitchFamily="18" charset="0"/>
                                        </a:rPr>
                                        <m:t>𝑘</m:t>
                                      </m:r>
                                      <m:r>
                                        <a:rPr lang="en-US" altLang="zh-CN" sz="1800" b="0" i="1" dirty="0" smtClean="0">
                                          <a:latin typeface="Cambria Math" panose="02040503050406030204" pitchFamily="18" charset="0"/>
                                        </a:rPr>
                                        <m:t>+1</m:t>
                                      </m:r>
                                    </m:sub>
                                  </m:sSub>
                                </m:e>
                              </m:d>
                            </m:den>
                          </m:f>
                        </m:e>
                      </m:nary>
                      <m:r>
                        <a:rPr lang="en-US" altLang="zh-CN" sz="1800"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𝑖</m:t>
                                  </m:r>
                                </m:sub>
                              </m:sSub>
                            </m:e>
                          </m:func>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i="1" dirty="0">
                              <a:latin typeface="Cambria Math" panose="02040503050406030204" pitchFamily="18" charset="0"/>
                            </a:rPr>
                            <m:t>𝑒</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sz="1800" b="0" i="1" dirty="0" smtClean="0">
                              <a:solidFill>
                                <a:schemeClr val="accent6">
                                  <a:lumMod val="50000"/>
                                </a:schemeClr>
                              </a:solidFill>
                              <a:latin typeface="Cambria Math" panose="02040503050406030204" pitchFamily="18" charset="0"/>
                            </a:rPr>
                          </m:ctrlPr>
                        </m:sSubPr>
                        <m:e>
                          <m:r>
                            <a:rPr lang="en-US" altLang="zh-CN" sz="1800" b="0" i="1" dirty="0" smtClean="0">
                              <a:solidFill>
                                <a:schemeClr val="accent6">
                                  <a:lumMod val="50000"/>
                                </a:schemeClr>
                              </a:solidFill>
                              <a:latin typeface="Cambria Math" panose="02040503050406030204" pitchFamily="18" charset="0"/>
                            </a:rPr>
                            <m:t>𝐷</m:t>
                          </m:r>
                        </m:e>
                        <m:sub>
                          <m:r>
                            <a:rPr lang="en-US" altLang="zh-CN" sz="1800" b="0" i="1" dirty="0" smtClean="0">
                              <a:solidFill>
                                <a:schemeClr val="accent6">
                                  <a:lumMod val="50000"/>
                                </a:schemeClr>
                              </a:solidFill>
                              <a:latin typeface="Cambria Math" panose="02040503050406030204" pitchFamily="18" charset="0"/>
                            </a:rPr>
                            <m:t>𝑖</m:t>
                          </m:r>
                        </m:sub>
                      </m:sSub>
                      <m:d>
                        <m:dPr>
                          <m:ctrlPr>
                            <a:rPr lang="en-US" altLang="zh-CN" sz="1800" b="0" i="1" dirty="0" smtClean="0">
                              <a:solidFill>
                                <a:schemeClr val="accent6">
                                  <a:lumMod val="50000"/>
                                </a:schemeClr>
                              </a:solidFill>
                              <a:latin typeface="Cambria Math" panose="02040503050406030204" pitchFamily="18" charset="0"/>
                            </a:rPr>
                          </m:ctrlPr>
                        </m:dPr>
                        <m:e>
                          <m:sSub>
                            <m:sSubPr>
                              <m:ctrlPr>
                                <a:rPr lang="en-US" altLang="zh-CN" sz="1800" b="0" i="1" dirty="0" smtClean="0">
                                  <a:solidFill>
                                    <a:schemeClr val="accent6">
                                      <a:lumMod val="50000"/>
                                    </a:schemeClr>
                                  </a:solidFill>
                                  <a:latin typeface="Cambria Math" panose="02040503050406030204" pitchFamily="18" charset="0"/>
                                </a:rPr>
                              </m:ctrlPr>
                            </m:sSubPr>
                            <m:e>
                              <m:acc>
                                <m:accPr>
                                  <m:chr m:val="̅"/>
                                  <m:ctrlPr>
                                    <a:rPr lang="en-US" altLang="zh-CN" sz="1800" b="0" i="1" dirty="0" smtClean="0">
                                      <a:solidFill>
                                        <a:schemeClr val="accent6">
                                          <a:lumMod val="50000"/>
                                        </a:schemeClr>
                                      </a:solidFill>
                                      <a:latin typeface="Cambria Math" panose="02040503050406030204" pitchFamily="18" charset="0"/>
                                    </a:rPr>
                                  </m:ctrlPr>
                                </m:accPr>
                                <m:e>
                                  <m:r>
                                    <a:rPr lang="en-US" altLang="zh-CN" sz="1800" b="0" i="1" dirty="0" smtClean="0">
                                      <a:solidFill>
                                        <a:schemeClr val="accent6">
                                          <a:lumMod val="50000"/>
                                        </a:schemeClr>
                                      </a:solidFill>
                                      <a:latin typeface="Cambria Math" panose="02040503050406030204" pitchFamily="18" charset="0"/>
                                    </a:rPr>
                                    <m:t>𝑝</m:t>
                                  </m:r>
                                </m:e>
                              </m:acc>
                            </m:e>
                            <m:sub>
                              <m:r>
                                <a:rPr lang="en-US" altLang="zh-CN" sz="1800" b="0" i="1" smtClean="0">
                                  <a:solidFill>
                                    <a:schemeClr val="accent6">
                                      <a:lumMod val="50000"/>
                                    </a:schemeClr>
                                  </a:solidFill>
                                  <a:latin typeface="Cambria Math" panose="02040503050406030204" pitchFamily="18" charset="0"/>
                                </a:rPr>
                                <m:t>𝑖</m:t>
                              </m:r>
                              <m:r>
                                <a:rPr lang="en-US" altLang="zh-CN" sz="1800" b="0" i="1" smtClean="0">
                                  <a:solidFill>
                                    <a:schemeClr val="accent6">
                                      <a:lumMod val="50000"/>
                                    </a:schemeClr>
                                  </a:solidFill>
                                  <a:latin typeface="Cambria Math" panose="02040503050406030204" pitchFamily="18" charset="0"/>
                                </a:rPr>
                                <m:t>−1</m:t>
                              </m:r>
                            </m:sub>
                          </m:sSub>
                        </m:e>
                      </m:d>
                      <m:r>
                        <a:rPr lang="en-US" altLang="zh-CN" sz="1800" b="0" i="1" dirty="0" smtClean="0">
                          <a:latin typeface="Cambria Math" panose="02040503050406030204" pitchFamily="18" charset="0"/>
                        </a:rPr>
                        <m:t>=</m:t>
                      </m:r>
                      <m:nary>
                        <m:naryPr>
                          <m:supHide m:val="on"/>
                          <m:ctrlPr>
                            <a:rPr lang="en-US" altLang="zh-CN" sz="1800" b="0" i="1" dirty="0" smtClean="0">
                              <a:latin typeface="Cambria Math" panose="02040503050406030204" pitchFamily="18" charset="0"/>
                            </a:rPr>
                          </m:ctrlPr>
                        </m:naryPr>
                        <m:sub>
                          <m:sSub>
                            <m:sSubPr>
                              <m:ctrlPr>
                                <a:rPr lang="en-US" altLang="zh-CN" sz="1800" b="0" i="0" dirty="0" smtClean="0">
                                  <a:latin typeface="Cambria Math" panose="02040503050406030204" pitchFamily="18" charset="0"/>
                                </a:rPr>
                              </m:ctrlPr>
                            </m:sSubPr>
                            <m:e>
                              <m:r>
                                <m:rPr>
                                  <m:sty m:val="p"/>
                                </m:rPr>
                                <a:rPr lang="en-US" altLang="zh-CN" sz="1800" b="0" i="0" dirty="0" smtClean="0">
                                  <a:latin typeface="Cambria Math" panose="02040503050406030204" pitchFamily="18" charset="0"/>
                                </a:rPr>
                                <m:t>Ω</m:t>
                              </m:r>
                            </m:e>
                            <m:sub>
                              <m:r>
                                <a:rPr lang="en-US" altLang="zh-CN" sz="1800" b="0" i="1" dirty="0" smtClean="0">
                                  <a:latin typeface="Cambria Math" panose="02040503050406030204" pitchFamily="18" charset="0"/>
                                </a:rPr>
                                <m:t>𝐸</m:t>
                              </m:r>
                            </m:sub>
                          </m:sSub>
                        </m:sub>
                        <m:sup/>
                        <m:e>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𝐹</m:t>
                              </m:r>
                            </m:e>
                            <m:sub>
                              <m:r>
                                <a:rPr lang="en-US" altLang="zh-CN" sz="1800" b="0" i="1" dirty="0" smtClean="0">
                                  <a:latin typeface="Cambria Math" panose="02040503050406030204" pitchFamily="18" charset="0"/>
                                </a:rPr>
                                <m:t>𝑖</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−1</m:t>
                                  </m:r>
                                </m:sub>
                              </m:sSub>
                            </m:e>
                          </m:d>
                          <m:r>
                            <a:rPr lang="en-US" altLang="zh-CN" sz="1800" i="1" dirty="0">
                              <a:latin typeface="Cambria Math" panose="02040503050406030204" pitchFamily="18" charset="0"/>
                            </a:rPr>
                            <m:t>𝑑</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Sub>
                        </m:e>
                      </m:nary>
                      <m:r>
                        <a:rPr lang="en-US" altLang="zh-CN" sz="1800" b="0" i="1" dirty="0" smtClean="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𝐼</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nary>
                        <m:naryPr>
                          <m:supHide m:val="on"/>
                          <m:ctrlPr>
                            <a:rPr lang="zh-CN" altLang="en-US" sz="2000" i="1" dirty="0">
                              <a:latin typeface="Cambria Math" panose="02040503050406030204" pitchFamily="18" charset="0"/>
                            </a:rPr>
                          </m:ctrlPr>
                        </m:naryPr>
                        <m:sub>
                          <m:sSub>
                            <m:sSubPr>
                              <m:ctrlPr>
                                <a:rPr lang="zh-CN" altLang="en-US" sz="2000" i="1" dirty="0">
                                  <a:latin typeface="Cambria Math" panose="02040503050406030204" pitchFamily="18" charset="0"/>
                                </a:rPr>
                              </m:ctrlPr>
                            </m:sSubPr>
                            <m:e>
                              <m:r>
                                <a:rPr lang="zh-CN" altLang="en-US" sz="2000" i="1" dirty="0">
                                  <a:latin typeface="Cambria Math" panose="02040503050406030204" pitchFamily="18" charset="0"/>
                                </a:rPr>
                                <m:t>𝒫</m:t>
                              </m:r>
                            </m:e>
                            <m:sub>
                              <m:r>
                                <a:rPr lang="en-US" altLang="zh-CN" sz="2000" i="1" dirty="0">
                                  <a:latin typeface="Cambria Math" panose="02040503050406030204" pitchFamily="18" charset="0"/>
                                </a:rPr>
                                <m:t>𝑖</m:t>
                              </m:r>
                            </m:sub>
                          </m:sSub>
                        </m:sub>
                        <m:sup/>
                        <m:e>
                          <m:sSub>
                            <m:sSubPr>
                              <m:ctrlPr>
                                <a:rPr lang="en-US" altLang="zh-CN" sz="2000" dirty="0">
                                  <a:latin typeface="Cambria Math" panose="02040503050406030204" pitchFamily="18" charset="0"/>
                                </a:rPr>
                              </m:ctrlPr>
                            </m:sSubPr>
                            <m:e>
                              <m:r>
                                <m:rPr>
                                  <m:sty m:val="p"/>
                                </m:rPr>
                                <a:rPr lang="en-US" altLang="zh-CN" sz="2000" dirty="0">
                                  <a:latin typeface="Cambria Math" panose="02040503050406030204" pitchFamily="18" charset="0"/>
                                </a:rPr>
                                <m:t>Φ</m:t>
                              </m:r>
                            </m:e>
                            <m:sub>
                              <m:r>
                                <m:rPr>
                                  <m:sty m:val="p"/>
                                </m:rPr>
                                <a:rPr lang="en-US" altLang="zh-CN" sz="2000" dirty="0">
                                  <a:latin typeface="Cambria Math" panose="02040503050406030204" pitchFamily="18" charset="0"/>
                                </a:rPr>
                                <m:t>i</m:t>
                              </m:r>
                            </m:sub>
                          </m:sSub>
                          <m:d>
                            <m:dPr>
                              <m:ctrlPr>
                                <a:rPr lang="en-US" altLang="zh-CN" sz="2000" i="1" dirty="0">
                                  <a:latin typeface="Cambria Math" panose="02040503050406030204" pitchFamily="18" charset="0"/>
                                </a:rPr>
                              </m:ctrlPr>
                            </m:dPr>
                            <m:e>
                              <m:sSub>
                                <m:sSubPr>
                                  <m:ctrlPr>
                                    <a:rPr lang="en-US" altLang="zh-CN" sz="2000" i="1" dirty="0">
                                      <a:latin typeface="Cambria Math" panose="02040503050406030204" pitchFamily="18" charset="0"/>
                                    </a:rPr>
                                  </m:ctrlPr>
                                </m:sSubPr>
                                <m:e>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𝑝</m:t>
                                      </m:r>
                                    </m:e>
                                  </m:acc>
                                </m:e>
                                <m:sub>
                                  <m:r>
                                    <a:rPr lang="en-US" altLang="zh-CN" sz="2000" i="1" dirty="0">
                                      <a:latin typeface="Cambria Math" panose="02040503050406030204" pitchFamily="18" charset="0"/>
                                    </a:rPr>
                                    <m:t>𝑖</m:t>
                                  </m:r>
                                </m:sub>
                              </m:sSub>
                            </m:e>
                          </m:d>
                          <m:r>
                            <a:rPr lang="en-US" altLang="zh-CN" sz="2000" i="1" dirty="0">
                              <a:latin typeface="Cambria Math" panose="02040503050406030204" pitchFamily="18" charset="0"/>
                            </a:rPr>
                            <m:t>𝑑</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𝜇</m:t>
                              </m:r>
                            </m:e>
                            <m:sub>
                              <m:r>
                                <a:rPr lang="en-US" altLang="zh-CN" sz="2000" i="1" dirty="0">
                                  <a:latin typeface="Cambria Math" panose="02040503050406030204" pitchFamily="18" charset="0"/>
                                </a:rPr>
                                <m:t>𝑖</m:t>
                              </m:r>
                            </m:sub>
                          </m:sSub>
                          <m:d>
                            <m:dPr>
                              <m:ctrlPr>
                                <a:rPr lang="en-US" altLang="zh-CN" sz="2000" i="1" dirty="0">
                                  <a:latin typeface="Cambria Math" panose="02040503050406030204" pitchFamily="18" charset="0"/>
                                </a:rPr>
                              </m:ctrlPr>
                            </m:dPr>
                            <m:e>
                              <m:sSub>
                                <m:sSubPr>
                                  <m:ctrlPr>
                                    <a:rPr lang="en-US" altLang="zh-CN" sz="2000" i="1" dirty="0">
                                      <a:latin typeface="Cambria Math" panose="02040503050406030204" pitchFamily="18" charset="0"/>
                                    </a:rPr>
                                  </m:ctrlPr>
                                </m:sSubPr>
                                <m:e>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𝑝</m:t>
                                      </m:r>
                                    </m:e>
                                  </m:acc>
                                </m:e>
                                <m:sub>
                                  <m:r>
                                    <a:rPr lang="en-US" altLang="zh-CN" sz="2000" i="1" dirty="0">
                                      <a:latin typeface="Cambria Math" panose="02040503050406030204" pitchFamily="18" charset="0"/>
                                    </a:rPr>
                                    <m:t>𝑖</m:t>
                                  </m:r>
                                </m:sub>
                              </m:sSub>
                            </m:e>
                          </m:d>
                        </m:e>
                      </m:nary>
                      <m:r>
                        <a:rPr lang="en-US" altLang="zh-CN" sz="2000" b="0" i="1" smtClean="0">
                          <a:latin typeface="Cambria Math" panose="02040503050406030204" pitchFamily="18" charset="0"/>
                          <a:ea typeface="Cambria Math" panose="02040503050406030204" pitchFamily="18" charset="0"/>
                        </a:rPr>
                        <m:t>,  </m:t>
                      </m:r>
                      <m:sSub>
                        <m:sSubPr>
                          <m:ctrlPr>
                            <a:rPr lang="en-US" altLang="zh-CN" sz="2000" b="0" i="1" smtClean="0">
                              <a:latin typeface="Cambria Math" panose="02040503050406030204" pitchFamily="18" charset="0"/>
                              <a:ea typeface="Cambria Math" panose="02040503050406030204" pitchFamily="18" charset="0"/>
                            </a:rPr>
                          </m:ctrlPr>
                        </m:sSubPr>
                        <m:e>
                          <m:acc>
                            <m:accPr>
                              <m:chr m:val="̂"/>
                              <m:ctrlPr>
                                <a:rPr lang="en-US" altLang="zh-CN" sz="2000" b="0" i="1" smtClean="0">
                                  <a:latin typeface="Cambria Math" panose="02040503050406030204" pitchFamily="18" charset="0"/>
                                  <a:ea typeface="Cambria Math" panose="02040503050406030204" pitchFamily="18" charset="0"/>
                                </a:rPr>
                              </m:ctrlPr>
                            </m:accPr>
                            <m:e>
                              <m:r>
                                <a:rPr lang="en-US" altLang="zh-CN" sz="2000" b="0" i="1" smtClean="0">
                                  <a:latin typeface="Cambria Math" panose="02040503050406030204" pitchFamily="18" charset="0"/>
                                  <a:ea typeface="Cambria Math" panose="02040503050406030204" pitchFamily="18" charset="0"/>
                                </a:rPr>
                                <m:t>𝐼</m:t>
                              </m:r>
                            </m:e>
                          </m:acc>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 </m:t>
                      </m:r>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𝐷</m:t>
                              </m:r>
                            </m:e>
                          </m:acc>
                        </m:e>
                        <m:sub>
                          <m:r>
                            <a:rPr lang="en-US" altLang="zh-CN" sz="2000" i="1" dirty="0">
                              <a:solidFill>
                                <a:schemeClr val="accent6">
                                  <a:lumMod val="50000"/>
                                </a:schemeClr>
                              </a:solidFill>
                              <a:latin typeface="Cambria Math" panose="02040503050406030204" pitchFamily="18" charset="0"/>
                            </a:rPr>
                            <m:t>𝑖</m:t>
                          </m:r>
                        </m:sub>
                      </m:sSub>
                      <m:d>
                        <m:dPr>
                          <m:ctrlPr>
                            <a:rPr lang="en-US" altLang="zh-CN" sz="2000" i="1" dirty="0">
                              <a:solidFill>
                                <a:schemeClr val="accent6">
                                  <a:lumMod val="50000"/>
                                </a:schemeClr>
                              </a:solidFill>
                              <a:latin typeface="Cambria Math" panose="02040503050406030204" pitchFamily="18" charset="0"/>
                            </a:rPr>
                          </m:ctrlPr>
                        </m:dPr>
                        <m:e>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𝑝</m:t>
                                  </m:r>
                                </m:e>
                              </m:acc>
                            </m:e>
                            <m:sub>
                              <m:r>
                                <a:rPr lang="en-US" altLang="zh-CN" sz="2000" i="1">
                                  <a:solidFill>
                                    <a:schemeClr val="accent6">
                                      <a:lumMod val="50000"/>
                                    </a:schemeClr>
                                  </a:solidFill>
                                  <a:latin typeface="Cambria Math" panose="02040503050406030204" pitchFamily="18" charset="0"/>
                                </a:rPr>
                                <m:t>𝑖</m:t>
                              </m:r>
                              <m:r>
                                <a:rPr lang="en-US" altLang="zh-CN" sz="2000" i="1">
                                  <a:solidFill>
                                    <a:schemeClr val="accent6">
                                      <a:lumMod val="50000"/>
                                    </a:schemeClr>
                                  </a:solidFill>
                                  <a:latin typeface="Cambria Math" panose="02040503050406030204" pitchFamily="18" charset="0"/>
                                </a:rPr>
                                <m:t>−1</m:t>
                              </m:r>
                            </m:sub>
                          </m:sSub>
                        </m:e>
                      </m:d>
                    </m:oMath>
                  </m:oMathPara>
                </a14:m>
                <a:endParaRPr lang="en-US" altLang="zh-CN" sz="2000" dirty="0"/>
              </a:p>
              <a:p>
                <a:pPr>
                  <a:lnSpc>
                    <a:spcPct val="150000"/>
                  </a:lnSpc>
                </a:pPr>
                <a:endParaRPr lang="en-US" altLang="zh-CN" sz="2000" dirty="0"/>
              </a:p>
              <a:p>
                <a:pPr/>
                <a14:m>
                  <m:oMathPara xmlns:m="http://schemas.openxmlformats.org/officeDocument/2006/math">
                    <m:oMathParaPr>
                      <m:jc m:val="center"/>
                    </m:oMathParaPr>
                    <m:oMath>
                      <m:r>
                        <a:rPr lang="zh-CN" altLang="en-US" sz="2000" i="1" dirty="0">
                          <a:latin typeface="Cambria Math" panose="02040503050406030204" pitchFamily="18" charset="0"/>
                        </a:rPr>
                        <m:t>分布</m:t>
                      </m:r>
                      <m:r>
                        <a:rPr lang="en-US" altLang="zh-CN" sz="2000" i="1" dirty="0">
                          <a:latin typeface="Cambria Math" panose="02040503050406030204" pitchFamily="18" charset="0"/>
                        </a:rPr>
                        <m:t>1 </m:t>
                      </m:r>
                      <m:r>
                        <a:rPr lang="zh-CN" altLang="en-US" sz="2000" i="1" dirty="0">
                          <a:latin typeface="Cambria Math" panose="02040503050406030204" pitchFamily="18" charset="0"/>
                        </a:rPr>
                        <m:t>向光源采样：</m:t>
                      </m:r>
                      <m:sSubSup>
                        <m:sSubSupPr>
                          <m:ctrlPr>
                            <a:rPr lang="en-US" altLang="zh-CN" sz="2000" i="1" dirty="0">
                              <a:solidFill>
                                <a:srgbClr val="F76409"/>
                              </a:solidFill>
                              <a:latin typeface="Cambria Math" panose="02040503050406030204" pitchFamily="18" charset="0"/>
                            </a:rPr>
                          </m:ctrlPr>
                        </m:sSubSupPr>
                        <m:e>
                          <m:acc>
                            <m:accPr>
                              <m:chr m:val="̂"/>
                              <m:ctrlPr>
                                <a:rPr lang="en-US" altLang="zh-CN" sz="2000" i="1" dirty="0">
                                  <a:solidFill>
                                    <a:srgbClr val="F76409"/>
                                  </a:solidFill>
                                  <a:latin typeface="Cambria Math" panose="02040503050406030204" pitchFamily="18" charset="0"/>
                                </a:rPr>
                              </m:ctrlPr>
                            </m:accPr>
                            <m:e>
                              <m:r>
                                <a:rPr lang="en-US" altLang="zh-CN" sz="2000" i="1" dirty="0">
                                  <a:solidFill>
                                    <a:srgbClr val="F76409"/>
                                  </a:solidFill>
                                  <a:latin typeface="Cambria Math" panose="02040503050406030204" pitchFamily="18" charset="0"/>
                                </a:rPr>
                                <m:t>𝐷</m:t>
                              </m:r>
                            </m:e>
                          </m:acc>
                        </m:e>
                        <m:sub>
                          <m:r>
                            <a:rPr lang="en-US" altLang="zh-CN" sz="2000" i="1" dirty="0">
                              <a:solidFill>
                                <a:srgbClr val="F76409"/>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r>
                        <a:rPr lang="en-US" altLang="zh-CN" sz="2000" i="1">
                          <a:latin typeface="Cambria Math" panose="02040503050406030204" pitchFamily="18" charset="0"/>
                        </a:rPr>
                        <m:t>=</m:t>
                      </m:r>
                      <m:f>
                        <m:fPr>
                          <m:ctrlPr>
                            <a:rPr lang="en-US" altLang="zh-CN" sz="2000" i="1" dirty="0">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𝐹</m:t>
                              </m:r>
                            </m:e>
                            <m:sub>
                              <m:r>
                                <a:rPr lang="en-US" altLang="zh-CN" sz="2000" i="1" dirty="0">
                                  <a:latin typeface="Cambria Math" panose="02040503050406030204" pitchFamily="18" charset="0"/>
                                </a:rPr>
                                <m:t>𝑖</m:t>
                              </m:r>
                            </m:sub>
                          </m:sSub>
                          <m:d>
                            <m:dPr>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𝜔</m:t>
                                  </m:r>
                                </m:e>
                                <m:sub>
                                  <m:r>
                                    <a:rPr lang="en-US" altLang="zh-CN" sz="2000" i="1" dirty="0">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e>
                          </m:d>
                        </m:num>
                        <m:den>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𝑝</m:t>
                              </m:r>
                            </m:e>
                            <m:sub>
                              <m:r>
                                <a:rPr lang="en-US" altLang="zh-CN" sz="2000" i="1" dirty="0">
                                  <a:solidFill>
                                    <a:srgbClr val="F76409"/>
                                  </a:solidFill>
                                  <a:latin typeface="Cambria Math" panose="02040503050406030204" pitchFamily="18" charset="0"/>
                                </a:rPr>
                                <m:t>𝐿</m:t>
                              </m:r>
                            </m:sub>
                            <m:sup>
                              <m:r>
                                <a:rPr lang="en-US" altLang="zh-CN" sz="2000" i="1">
                                  <a:latin typeface="Cambria Math" panose="02040503050406030204" pitchFamily="18" charset="0"/>
                                </a:rPr>
                                <m:t>𝜔</m:t>
                              </m:r>
                            </m:sup>
                          </m:sSubSup>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e>
                          </m:d>
                        </m:den>
                      </m:f>
                      <m:r>
                        <a:rPr lang="en-US" altLang="zh-CN" sz="2000" b="0" i="1" smtClean="0">
                          <a:latin typeface="Cambria Math" panose="02040503050406030204" pitchFamily="18" charset="0"/>
                        </a:rPr>
                        <m:t>,  </m:t>
                      </m:r>
                      <m:r>
                        <a:rPr lang="zh-CN" altLang="en-US" sz="2000" i="1">
                          <a:latin typeface="Cambria Math" panose="02040503050406030204" pitchFamily="18" charset="0"/>
                        </a:rPr>
                        <m:t>权重</m:t>
                      </m:r>
                      <m:r>
                        <a:rPr lang="zh-CN" altLang="en-US" sz="200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i="1" dirty="0">
                              <a:solidFill>
                                <a:srgbClr val="F76409"/>
                              </a:solidFill>
                              <a:latin typeface="Cambria Math" panose="02040503050406030204" pitchFamily="18" charset="0"/>
                              <a:ea typeface="Cambria Math" panose="02040503050406030204" pitchFamily="18" charset="0"/>
                            </a:rPr>
                            <m:t>𝐿</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r>
                        <a:rPr lang="en-US" altLang="zh-CN" sz="2000" b="0" i="1" smtClean="0">
                          <a:latin typeface="Cambria Math" panose="02040503050406030204" pitchFamily="18" charset="0"/>
                        </a:rPr>
                        <m:t>=</m:t>
                      </m:r>
                      <m:sSub>
                        <m:sSubPr>
                          <m:ctrlPr>
                            <a:rPr lang="en-US" altLang="zh-CN" sz="2000" i="1" dirty="0">
                              <a:solidFill>
                                <a:schemeClr val="tx1"/>
                              </a:solidFill>
                              <a:latin typeface="Cambria Math" panose="02040503050406030204" pitchFamily="18" charset="0"/>
                              <a:ea typeface="Cambria Math" panose="02040503050406030204" pitchFamily="18" charset="0"/>
                            </a:rPr>
                          </m:ctrlPr>
                        </m:sSubPr>
                        <m:e>
                          <m:r>
                            <a:rPr lang="en-US" altLang="zh-CN" sz="2000" i="1" dirty="0">
                              <a:solidFill>
                                <a:schemeClr val="tx1"/>
                              </a:solidFill>
                              <a:latin typeface="Cambria Math" panose="02040503050406030204" pitchFamily="18" charset="0"/>
                              <a:ea typeface="Cambria Math" panose="02040503050406030204" pitchFamily="18" charset="0"/>
                            </a:rPr>
                            <m:t>ℋ</m:t>
                          </m:r>
                        </m:e>
                        <m:sub>
                          <m:r>
                            <a:rPr lang="en-US" altLang="zh-CN" sz="2000" i="1" dirty="0">
                              <a:solidFill>
                                <a:schemeClr val="tx1"/>
                              </a:solidFill>
                              <a:latin typeface="Cambria Math" panose="02040503050406030204" pitchFamily="18" charset="0"/>
                              <a:ea typeface="Cambria Math" panose="02040503050406030204" pitchFamily="18" charset="0"/>
                            </a:rPr>
                            <m:t>𝑃</m:t>
                          </m:r>
                        </m:sub>
                      </m:sSub>
                      <m:d>
                        <m:dPr>
                          <m:ctrlPr>
                            <a:rPr lang="en-US" altLang="zh-CN" sz="2000" i="1" dirty="0">
                              <a:solidFill>
                                <a:srgbClr val="F76409"/>
                              </a:solidFill>
                              <a:latin typeface="Cambria Math" panose="02040503050406030204" pitchFamily="18" charset="0"/>
                              <a:ea typeface="Cambria Math" panose="02040503050406030204" pitchFamily="18" charset="0"/>
                            </a:rPr>
                          </m:ctrlPr>
                        </m:dPr>
                        <m:e>
                          <m:r>
                            <a:rPr lang="en-US" altLang="zh-CN" sz="2000" i="1" dirty="0">
                              <a:solidFill>
                                <a:srgbClr val="F76409"/>
                              </a:solidFill>
                              <a:latin typeface="Cambria Math" panose="02040503050406030204" pitchFamily="18" charset="0"/>
                              <a:ea typeface="Cambria Math" panose="02040503050406030204" pitchFamily="18" charset="0"/>
                            </a:rPr>
                            <m:t>𝐿</m:t>
                          </m:r>
                          <m:r>
                            <a:rPr lang="en-US" altLang="zh-CN" sz="2000" i="1" dirty="0">
                              <a:solidFill>
                                <a:schemeClr val="tx1"/>
                              </a:solidFill>
                              <a:latin typeface="Cambria Math" panose="02040503050406030204" pitchFamily="18" charset="0"/>
                              <a:ea typeface="Cambria Math" panose="02040503050406030204" pitchFamily="18" charset="0"/>
                            </a:rPr>
                            <m:t>;  </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a:solidFill>
                                    <a:srgbClr val="F76409"/>
                                  </a:solidFill>
                                  <a:latin typeface="Cambria Math" panose="02040503050406030204" pitchFamily="18" charset="0"/>
                                  <a:ea typeface="Cambria Math" panose="02040503050406030204" pitchFamily="18" charset="0"/>
                                </a:rPr>
                                <m:t>𝐿</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r>
                            <a:rPr lang="en-US" altLang="zh-CN" sz="2000" i="1">
                              <a:solidFill>
                                <a:schemeClr val="tx1"/>
                              </a:solidFill>
                              <a:latin typeface="Cambria Math" panose="02040503050406030204" pitchFamily="18" charset="0"/>
                            </a:rPr>
                            <m:t>,</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smtClean="0">
                                  <a:solidFill>
                                    <a:schemeClr val="accent2">
                                      <a:lumMod val="75000"/>
                                    </a:schemeClr>
                                  </a:solidFill>
                                  <a:latin typeface="Cambria Math" panose="02040503050406030204" pitchFamily="18" charset="0"/>
                                </a:rPr>
                                <m:t>𝐵</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e>
                      </m:d>
                    </m:oMath>
                  </m:oMathPara>
                </a14:m>
                <a:endParaRPr lang="en-US" altLang="zh-CN" sz="2000" b="0" i="1" dirty="0">
                  <a:latin typeface="Cambria Math" panose="02040503050406030204" pitchFamily="18" charset="0"/>
                </a:endParaRPr>
              </a:p>
              <a:p>
                <a:pPr/>
                <a14:m>
                  <m:oMathPara xmlns:m="http://schemas.openxmlformats.org/officeDocument/2006/math">
                    <m:oMathParaPr>
                      <m:jc m:val="center"/>
                    </m:oMathParaPr>
                    <m:oMath>
                      <m:r>
                        <a:rPr lang="zh-CN" altLang="en-US" sz="2000" i="1" dirty="0">
                          <a:latin typeface="Cambria Math" panose="02040503050406030204" pitchFamily="18" charset="0"/>
                        </a:rPr>
                        <m:t>分布</m:t>
                      </m:r>
                      <m:r>
                        <a:rPr lang="en-US" altLang="zh-CN" sz="2000" i="1" dirty="0">
                          <a:latin typeface="Cambria Math" panose="02040503050406030204" pitchFamily="18" charset="0"/>
                        </a:rPr>
                        <m:t>2 </m:t>
                      </m:r>
                      <m:r>
                        <a:rPr lang="zh-CN" altLang="en-US" sz="2000" i="1" dirty="0">
                          <a:latin typeface="Cambria Math" panose="02040503050406030204" pitchFamily="18" charset="0"/>
                        </a:rPr>
                        <m:t>向</m:t>
                      </m:r>
                      <m:r>
                        <m:rPr>
                          <m:sty m:val="p"/>
                        </m:rPr>
                        <a:rPr lang="en-US" altLang="zh-CN" sz="2000" i="1" dirty="0">
                          <a:latin typeface="Cambria Math" panose="02040503050406030204" pitchFamily="18" charset="0"/>
                        </a:rPr>
                        <m:t>BSDF</m:t>
                      </m:r>
                      <m:r>
                        <a:rPr lang="zh-CN" altLang="en-US" sz="2000" i="1" dirty="0">
                          <a:latin typeface="Cambria Math" panose="02040503050406030204" pitchFamily="18" charset="0"/>
                        </a:rPr>
                        <m:t>采样：</m:t>
                      </m:r>
                      <m:sSubSup>
                        <m:sSubSupPr>
                          <m:ctrlPr>
                            <a:rPr lang="en-US" altLang="zh-CN" sz="2000" i="1" dirty="0">
                              <a:solidFill>
                                <a:schemeClr val="accent2">
                                  <a:lumMod val="75000"/>
                                </a:schemeClr>
                              </a:solidFill>
                              <a:latin typeface="Cambria Math" panose="02040503050406030204" pitchFamily="18" charset="0"/>
                            </a:rPr>
                          </m:ctrlPr>
                        </m:sSubSupPr>
                        <m:e>
                          <m:acc>
                            <m:accPr>
                              <m:chr m:val="̂"/>
                              <m:ctrlPr>
                                <a:rPr lang="en-US" altLang="zh-CN" sz="2000" i="1" dirty="0">
                                  <a:solidFill>
                                    <a:schemeClr val="accent2">
                                      <a:lumMod val="75000"/>
                                    </a:schemeClr>
                                  </a:solidFill>
                                  <a:latin typeface="Cambria Math" panose="02040503050406030204" pitchFamily="18" charset="0"/>
                                </a:rPr>
                              </m:ctrlPr>
                            </m:accPr>
                            <m:e>
                              <m:r>
                                <a:rPr lang="en-US" altLang="zh-CN" sz="2000" i="1" dirty="0">
                                  <a:solidFill>
                                    <a:schemeClr val="accent2">
                                      <a:lumMod val="75000"/>
                                    </a:schemeClr>
                                  </a:solidFill>
                                  <a:latin typeface="Cambria Math" panose="02040503050406030204" pitchFamily="18" charset="0"/>
                                </a:rPr>
                                <m:t>𝐷</m:t>
                              </m:r>
                            </m:e>
                          </m:acc>
                        </m:e>
                        <m:sub>
                          <m:r>
                            <a:rPr lang="en-US" altLang="zh-CN" sz="2000" i="1" dirty="0">
                              <a:solidFill>
                                <a:schemeClr val="accent2">
                                  <a:lumMod val="75000"/>
                                </a:schemeClr>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r>
                        <a:rPr lang="en-US" altLang="zh-CN" sz="2000" i="1">
                          <a:latin typeface="Cambria Math" panose="02040503050406030204" pitchFamily="18" charset="0"/>
                        </a:rPr>
                        <m:t>=</m:t>
                      </m:r>
                      <m:f>
                        <m:fPr>
                          <m:ctrlPr>
                            <a:rPr lang="en-US" altLang="zh-CN" sz="2000" i="1" dirty="0">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𝐹</m:t>
                              </m:r>
                            </m:e>
                            <m:sub>
                              <m:r>
                                <a:rPr lang="en-US" altLang="zh-CN" sz="2000" i="1" dirty="0">
                                  <a:latin typeface="Cambria Math" panose="02040503050406030204" pitchFamily="18" charset="0"/>
                                </a:rPr>
                                <m:t>𝑖</m:t>
                              </m:r>
                            </m:sub>
                          </m:sSub>
                          <m:d>
                            <m:dPr>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𝜔</m:t>
                                  </m:r>
                                </m:e>
                                <m:sub>
                                  <m:r>
                                    <a:rPr lang="en-US" altLang="zh-CN" sz="2000" i="1" dirty="0">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num>
                        <m:den>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𝑝</m:t>
                              </m:r>
                            </m:e>
                            <m:sub>
                              <m:r>
                                <a:rPr lang="en-US" altLang="zh-CN" sz="2000" i="1">
                                  <a:latin typeface="Cambria Math" panose="02040503050406030204" pitchFamily="18" charset="0"/>
                                </a:rPr>
                                <m:t>𝐵</m:t>
                              </m:r>
                            </m:sub>
                            <m:sup>
                              <m:r>
                                <a:rPr lang="en-US" altLang="zh-CN" sz="2000" i="1">
                                  <a:latin typeface="Cambria Math" panose="02040503050406030204" pitchFamily="18" charset="0"/>
                                </a:rPr>
                                <m:t>𝜔</m:t>
                              </m:r>
                            </m:sup>
                          </m:sSubSup>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den>
                      </m:f>
                      <m:r>
                        <a:rPr lang="en-US" altLang="zh-CN" sz="2000" b="0" i="1" smtClean="0">
                          <a:latin typeface="Cambria Math" panose="02040503050406030204" pitchFamily="18" charset="0"/>
                        </a:rPr>
                        <m:t>,  </m:t>
                      </m:r>
                      <m:r>
                        <a:rPr lang="zh-CN" altLang="en-US" sz="2000" i="1">
                          <a:latin typeface="Cambria Math" panose="02040503050406030204" pitchFamily="18" charset="0"/>
                        </a:rPr>
                        <m:t>权重</m:t>
                      </m:r>
                      <m:r>
                        <a:rPr lang="zh-CN" altLang="en-US" sz="200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i="1" dirty="0">
                              <a:solidFill>
                                <a:schemeClr val="accent2">
                                  <a:lumMod val="75000"/>
                                </a:schemeClr>
                              </a:solidFill>
                              <a:latin typeface="Cambria Math" panose="02040503050406030204" pitchFamily="18" charset="0"/>
                            </a:rPr>
                            <m:t>𝐵</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a:solidFill>
                                    <a:schemeClr val="accent2">
                                      <a:lumMod val="75000"/>
                                    </a:schemeClr>
                                  </a:solidFill>
                                  <a:latin typeface="Cambria Math" panose="02040503050406030204" pitchFamily="18" charset="0"/>
                                </a:rPr>
                                <m:t>𝐵</m:t>
                              </m:r>
                            </m:sup>
                          </m:sSubSup>
                        </m:e>
                      </m:d>
                      <m:r>
                        <a:rPr lang="en-US" altLang="zh-CN" sz="2000" b="0" i="1" smtClean="0">
                          <a:latin typeface="Cambria Math" panose="02040503050406030204" pitchFamily="18" charset="0"/>
                        </a:rPr>
                        <m:t>=</m:t>
                      </m:r>
                      <m:sSub>
                        <m:sSubPr>
                          <m:ctrlPr>
                            <a:rPr lang="en-US" altLang="zh-CN" sz="2000" i="1" dirty="0">
                              <a:solidFill>
                                <a:schemeClr val="tx1"/>
                              </a:solidFill>
                              <a:latin typeface="Cambria Math" panose="02040503050406030204" pitchFamily="18" charset="0"/>
                              <a:ea typeface="Cambria Math" panose="02040503050406030204" pitchFamily="18" charset="0"/>
                            </a:rPr>
                          </m:ctrlPr>
                        </m:sSubPr>
                        <m:e>
                          <m:r>
                            <a:rPr lang="en-US" altLang="zh-CN" sz="2000" i="1" dirty="0">
                              <a:solidFill>
                                <a:schemeClr val="tx1"/>
                              </a:solidFill>
                              <a:latin typeface="Cambria Math" panose="02040503050406030204" pitchFamily="18" charset="0"/>
                              <a:ea typeface="Cambria Math" panose="02040503050406030204" pitchFamily="18" charset="0"/>
                            </a:rPr>
                            <m:t>ℋ</m:t>
                          </m:r>
                        </m:e>
                        <m:sub>
                          <m:r>
                            <a:rPr lang="en-US" altLang="zh-CN" sz="2000" i="1" dirty="0">
                              <a:solidFill>
                                <a:schemeClr val="tx1"/>
                              </a:solidFill>
                              <a:latin typeface="Cambria Math" panose="02040503050406030204" pitchFamily="18" charset="0"/>
                              <a:ea typeface="Cambria Math" panose="02040503050406030204" pitchFamily="18" charset="0"/>
                            </a:rPr>
                            <m:t>𝑃</m:t>
                          </m:r>
                        </m:sub>
                      </m:sSub>
                      <m:d>
                        <m:dPr>
                          <m:ctrlPr>
                            <a:rPr lang="en-US" altLang="zh-CN" sz="2000" i="1" dirty="0">
                              <a:solidFill>
                                <a:schemeClr val="accent2">
                                  <a:lumMod val="75000"/>
                                </a:schemeClr>
                              </a:solidFill>
                              <a:latin typeface="Cambria Math" panose="02040503050406030204" pitchFamily="18" charset="0"/>
                            </a:rPr>
                          </m:ctrlPr>
                        </m:dPr>
                        <m:e>
                          <m:r>
                            <a:rPr lang="en-US" altLang="zh-CN" sz="2000" i="1" dirty="0">
                              <a:solidFill>
                                <a:schemeClr val="accent2">
                                  <a:lumMod val="75000"/>
                                </a:schemeClr>
                              </a:solidFill>
                              <a:latin typeface="Cambria Math" panose="02040503050406030204" pitchFamily="18" charset="0"/>
                            </a:rPr>
                            <m:t>𝐵</m:t>
                          </m:r>
                          <m:r>
                            <a:rPr lang="en-US" altLang="zh-CN" sz="2000" i="1" dirty="0">
                              <a:solidFill>
                                <a:schemeClr val="tx1"/>
                              </a:solidFill>
                              <a:latin typeface="Cambria Math" panose="02040503050406030204" pitchFamily="18" charset="0"/>
                              <a:ea typeface="Cambria Math" panose="02040503050406030204" pitchFamily="18" charset="0"/>
                            </a:rPr>
                            <m:t>;  </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a:solidFill>
                                    <a:srgbClr val="F76409"/>
                                  </a:solidFill>
                                  <a:latin typeface="Cambria Math" panose="02040503050406030204" pitchFamily="18" charset="0"/>
                                  <a:ea typeface="Cambria Math" panose="02040503050406030204" pitchFamily="18" charset="0"/>
                                </a:rPr>
                                <m:t>𝐿</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r>
                            <a:rPr lang="en-US" altLang="zh-CN" sz="2000" i="1">
                              <a:solidFill>
                                <a:schemeClr val="tx1"/>
                              </a:solidFill>
                              <a:latin typeface="Cambria Math" panose="02040503050406030204" pitchFamily="18" charset="0"/>
                            </a:rPr>
                            <m:t>,</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a:solidFill>
                                    <a:schemeClr val="accent2">
                                      <a:lumMod val="75000"/>
                                    </a:schemeClr>
                                  </a:solidFill>
                                  <a:latin typeface="Cambria Math" panose="02040503050406030204" pitchFamily="18" charset="0"/>
                                </a:rPr>
                                <m:t>𝐵</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e>
                      </m:d>
                    </m:oMath>
                  </m:oMathPara>
                </a14:m>
                <a:endParaRPr lang="en-US" altLang="zh-CN" sz="2000" dirty="0"/>
              </a:p>
              <a:p>
                <a:pPr/>
                <a14:m>
                  <m:oMathPara xmlns:m="http://schemas.openxmlformats.org/officeDocument/2006/math">
                    <m:oMathParaPr>
                      <m:jc m:val="center"/>
                    </m:oMathParaPr>
                    <m:oMath>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𝐷</m:t>
                              </m:r>
                            </m:e>
                          </m:acc>
                        </m:e>
                        <m:sub>
                          <m:r>
                            <a:rPr lang="en-US" altLang="zh-CN" sz="2000" i="1" dirty="0">
                              <a:solidFill>
                                <a:schemeClr val="accent6">
                                  <a:lumMod val="50000"/>
                                </a:schemeClr>
                              </a:solidFill>
                              <a:latin typeface="Cambria Math" panose="02040503050406030204" pitchFamily="18" charset="0"/>
                            </a:rPr>
                            <m:t>𝑖</m:t>
                          </m:r>
                        </m:sub>
                      </m:sSub>
                      <m:d>
                        <m:dPr>
                          <m:ctrlPr>
                            <a:rPr lang="en-US" altLang="zh-CN" sz="2000" i="1" dirty="0">
                              <a:solidFill>
                                <a:schemeClr val="accent6">
                                  <a:lumMod val="50000"/>
                                </a:schemeClr>
                              </a:solidFill>
                              <a:latin typeface="Cambria Math" panose="02040503050406030204" pitchFamily="18" charset="0"/>
                            </a:rPr>
                          </m:ctrlPr>
                        </m:dPr>
                        <m:e>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𝑝</m:t>
                                  </m:r>
                                </m:e>
                              </m:acc>
                            </m:e>
                            <m:sub>
                              <m:r>
                                <a:rPr lang="en-US" altLang="zh-CN" sz="2000" i="1">
                                  <a:solidFill>
                                    <a:schemeClr val="accent6">
                                      <a:lumMod val="50000"/>
                                    </a:schemeClr>
                                  </a:solidFill>
                                  <a:latin typeface="Cambria Math" panose="02040503050406030204" pitchFamily="18" charset="0"/>
                                </a:rPr>
                                <m:t>𝑖</m:t>
                              </m:r>
                              <m:r>
                                <a:rPr lang="en-US" altLang="zh-CN" sz="2000" i="1">
                                  <a:solidFill>
                                    <a:schemeClr val="accent6">
                                      <a:lumMod val="50000"/>
                                    </a:schemeClr>
                                  </a:solidFill>
                                  <a:latin typeface="Cambria Math" panose="02040503050406030204" pitchFamily="18" charset="0"/>
                                </a:rPr>
                                <m:t>−1</m:t>
                              </m:r>
                            </m:sub>
                          </m:sSub>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dirty="0">
                              <a:solidFill>
                                <a:srgbClr val="F76409"/>
                              </a:solidFill>
                              <a:latin typeface="Cambria Math" panose="02040503050406030204" pitchFamily="18" charset="0"/>
                              <a:ea typeface="Cambria Math" panose="02040503050406030204" pitchFamily="18" charset="0"/>
                            </a:rPr>
                            <m:t>𝐿</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r>
                        <a:rPr lang="en-US" altLang="zh-CN" sz="2000" i="1" dirty="0">
                          <a:solidFill>
                            <a:srgbClr val="F76409"/>
                          </a:solidFill>
                          <a:latin typeface="Cambria Math" panose="02040503050406030204" pitchFamily="18" charset="0"/>
                          <a:ea typeface="Cambria Math" panose="02040503050406030204" pitchFamily="18" charset="0"/>
                        </a:rPr>
                        <m:t> </m:t>
                      </m:r>
                      <m:sSubSup>
                        <m:sSubSupPr>
                          <m:ctrlPr>
                            <a:rPr lang="en-US" altLang="zh-CN" sz="2000" i="1" dirty="0">
                              <a:solidFill>
                                <a:srgbClr val="F76409"/>
                              </a:solidFill>
                              <a:latin typeface="Cambria Math" panose="02040503050406030204" pitchFamily="18" charset="0"/>
                            </a:rPr>
                          </m:ctrlPr>
                        </m:sSubSupPr>
                        <m:e>
                          <m:acc>
                            <m:accPr>
                              <m:chr m:val="̂"/>
                              <m:ctrlPr>
                                <a:rPr lang="en-US" altLang="zh-CN" sz="2000" i="1" dirty="0">
                                  <a:solidFill>
                                    <a:srgbClr val="F76409"/>
                                  </a:solidFill>
                                  <a:latin typeface="Cambria Math" panose="02040503050406030204" pitchFamily="18" charset="0"/>
                                </a:rPr>
                              </m:ctrlPr>
                            </m:accPr>
                            <m:e>
                              <m:r>
                                <a:rPr lang="en-US" altLang="zh-CN" sz="2000" i="1" dirty="0">
                                  <a:solidFill>
                                    <a:srgbClr val="F76409"/>
                                  </a:solidFill>
                                  <a:latin typeface="Cambria Math" panose="02040503050406030204" pitchFamily="18" charset="0"/>
                                </a:rPr>
                                <m:t>𝐷</m:t>
                              </m:r>
                            </m:e>
                          </m:acc>
                        </m:e>
                        <m:sub>
                          <m:r>
                            <a:rPr lang="en-US" altLang="zh-CN" sz="2000" i="1" dirty="0">
                              <a:solidFill>
                                <a:srgbClr val="F76409"/>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dirty="0">
                              <a:solidFill>
                                <a:schemeClr val="accent2">
                                  <a:lumMod val="75000"/>
                                </a:schemeClr>
                              </a:solidFill>
                              <a:latin typeface="Cambria Math" panose="02040503050406030204" pitchFamily="18" charset="0"/>
                            </a:rPr>
                            <m:t>𝐵</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a:solidFill>
                                    <a:schemeClr val="accent2">
                                      <a:lumMod val="75000"/>
                                    </a:schemeClr>
                                  </a:solidFill>
                                  <a:latin typeface="Cambria Math" panose="02040503050406030204" pitchFamily="18" charset="0"/>
                                </a:rPr>
                                <m:t>𝐵</m:t>
                              </m:r>
                            </m:sup>
                          </m:sSubSup>
                        </m:e>
                      </m:d>
                      <m:r>
                        <a:rPr lang="en-US" altLang="zh-CN" sz="2000" i="1">
                          <a:solidFill>
                            <a:schemeClr val="accent2">
                              <a:lumMod val="75000"/>
                            </a:schemeClr>
                          </a:solidFill>
                          <a:latin typeface="Cambria Math" panose="02040503050406030204" pitchFamily="18" charset="0"/>
                        </a:rPr>
                        <m:t> </m:t>
                      </m:r>
                      <m:sSubSup>
                        <m:sSubSupPr>
                          <m:ctrlPr>
                            <a:rPr lang="en-US" altLang="zh-CN" sz="2000" i="1" dirty="0">
                              <a:solidFill>
                                <a:schemeClr val="accent2">
                                  <a:lumMod val="75000"/>
                                </a:schemeClr>
                              </a:solidFill>
                              <a:latin typeface="Cambria Math" panose="02040503050406030204" pitchFamily="18" charset="0"/>
                            </a:rPr>
                          </m:ctrlPr>
                        </m:sSubSupPr>
                        <m:e>
                          <m:acc>
                            <m:accPr>
                              <m:chr m:val="̂"/>
                              <m:ctrlPr>
                                <a:rPr lang="en-US" altLang="zh-CN" sz="2000" i="1" dirty="0">
                                  <a:solidFill>
                                    <a:schemeClr val="accent2">
                                      <a:lumMod val="75000"/>
                                    </a:schemeClr>
                                  </a:solidFill>
                                  <a:latin typeface="Cambria Math" panose="02040503050406030204" pitchFamily="18" charset="0"/>
                                </a:rPr>
                              </m:ctrlPr>
                            </m:accPr>
                            <m:e>
                              <m:r>
                                <a:rPr lang="en-US" altLang="zh-CN" sz="2000" i="1" dirty="0">
                                  <a:solidFill>
                                    <a:schemeClr val="accent2">
                                      <a:lumMod val="75000"/>
                                    </a:schemeClr>
                                  </a:solidFill>
                                  <a:latin typeface="Cambria Math" panose="02040503050406030204" pitchFamily="18" charset="0"/>
                                </a:rPr>
                                <m:t>𝐷</m:t>
                              </m:r>
                            </m:e>
                          </m:acc>
                        </m:e>
                        <m:sub>
                          <m:r>
                            <a:rPr lang="en-US" altLang="zh-CN" sz="2000" i="1" dirty="0">
                              <a:solidFill>
                                <a:schemeClr val="accent2">
                                  <a:lumMod val="75000"/>
                                </a:schemeClr>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oMath>
                  </m:oMathPara>
                </a14:m>
                <a:endParaRPr lang="en-US" altLang="zh-CN" sz="2000" dirty="0"/>
              </a:p>
              <a:p>
                <a:pPr/>
                <a14:m>
                  <m:oMathPara xmlns:m="http://schemas.openxmlformats.org/officeDocument/2006/math">
                    <m:oMath>
                      <m:borderBox>
                        <m:borderBoxPr>
                          <m:ctrlPr>
                            <a:rPr lang="en-US" altLang="zh-CN" i="1">
                              <a:latin typeface="Cambria Math" panose="02040503050406030204" pitchFamily="18" charset="0"/>
                              <a:ea typeface="Cambria Math" panose="02040503050406030204" pitchFamily="18" charset="0"/>
                            </a:rPr>
                          </m:ctrlPr>
                        </m:borderBoxPr>
                        <m:e>
                          <m:sSub>
                            <m:sSubPr>
                              <m:ctrlPr>
                                <a:rPr lang="en-US" altLang="zh-CN" i="1">
                                  <a:latin typeface="Cambria Math" panose="02040503050406030204" pitchFamily="18" charset="0"/>
                                  <a:ea typeface="Cambria Math" panose="02040503050406030204" pitchFamily="18" charset="0"/>
                                </a:rPr>
                              </m:ctrlPr>
                            </m:sSubPr>
                            <m:e>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𝐼</m:t>
                                  </m:r>
                                </m:e>
                              </m:acc>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rPr>
                            <m:t>=</m:t>
                          </m:r>
                          <m:limLow>
                            <m:limLowPr>
                              <m:ctrlPr>
                                <a:rPr lang="en-US" altLang="zh-CN" i="1" dirty="0">
                                  <a:latin typeface="Cambria Math" panose="02040503050406030204" pitchFamily="18" charset="0"/>
                                </a:rPr>
                              </m:ctrlPr>
                            </m:limLowPr>
                            <m:e>
                              <m:groupChr>
                                <m:groupChrPr>
                                  <m:chr m:val="⏟"/>
                                  <m:pos m:val="bot"/>
                                  <m:vertJc m:val="top"/>
                                  <m:ctrlPr>
                                    <a:rPr lang="en-US" altLang="zh-CN" i="1" dirty="0">
                                      <a:latin typeface="Cambria Math" panose="02040503050406030204" pitchFamily="18" charset="0"/>
                                    </a:rPr>
                                  </m:ctrlPr>
                                </m:groupChrPr>
                                <m:e>
                                  <m:d>
                                    <m:dPr>
                                      <m:ctrlPr>
                                        <a:rPr lang="en-US" altLang="zh-CN" i="1" dirty="0">
                                          <a:latin typeface="Cambria Math" panose="02040503050406030204" pitchFamily="18" charset="0"/>
                                        </a:rPr>
                                      </m:ctrlPr>
                                    </m:dPr>
                                    <m:e>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𝑘</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e>
                                                  </m:func>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e>
                                              </m:d>
                                            </m:den>
                                          </m:f>
                                        </m:e>
                                      </m:nary>
                                    </m:e>
                                  </m:d>
                                </m:e>
                              </m:groupChr>
                            </m:e>
                            <m:lim>
                              <m:eqArr>
                                <m:eqArrPr>
                                  <m:ctrlPr>
                                    <a:rPr lang="en-US" altLang="zh-CN" b="0" i="1" dirty="0" smtClean="0">
                                      <a:latin typeface="Cambria Math" panose="02040503050406030204" pitchFamily="18" charset="0"/>
                                    </a:rPr>
                                  </m:ctrlPr>
                                </m:eqArrPr>
                                <m:e>
                                  <m:r>
                                    <a:rPr lang="en-US" altLang="zh-CN" b="0" i="1" dirty="0" smtClean="0">
                                      <a:latin typeface="Cambria Math" panose="02040503050406030204" pitchFamily="18" charset="0"/>
                                    </a:rPr>
                                    <m:t> </m:t>
                                  </m:r>
                                </m:e>
                                <m:e>
                                  <m:r>
                                    <a:rPr lang="en-US" altLang="zh-CN" b="0" i="1" dirty="0" smtClean="0">
                                      <a:latin typeface="Cambria Math" panose="02040503050406030204" pitchFamily="18" charset="0"/>
                                    </a:rPr>
                                    <m:t> </m:t>
                                  </m:r>
                                </m:e>
                                <m:e>
                                  <m:r>
                                    <a:rPr lang="en-US" altLang="zh-CN" b="0" i="1" dirty="0" smtClean="0">
                                      <a:latin typeface="Cambria Math" panose="02040503050406030204" pitchFamily="18" charset="0"/>
                                    </a:rPr>
                                    <m:t> </m:t>
                                  </m:r>
                                </m:e>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𝛽</m:t>
                                      </m:r>
                                    </m:e>
                                    <m:sub>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−1</m:t>
                                      </m:r>
                                    </m:sub>
                                  </m:sSub>
                                </m:e>
                              </m:eqArr>
                            </m:lim>
                          </m:limLow>
                          <m:limLow>
                            <m:limLowPr>
                              <m:ctrlPr>
                                <a:rPr lang="en-US" altLang="zh-CN" i="1" dirty="0">
                                  <a:latin typeface="Cambria Math" panose="02040503050406030204" pitchFamily="18" charset="0"/>
                                  <a:ea typeface="Cambria Math" panose="02040503050406030204" pitchFamily="18" charset="0"/>
                                </a:rPr>
                              </m:ctrlPr>
                            </m:limLowPr>
                            <m:e>
                              <m:groupChr>
                                <m:groupChrPr>
                                  <m:chr m:val="⏟"/>
                                  <m:pos m:val="bot"/>
                                  <m:vertJc m:val="top"/>
                                  <m:ctrlPr>
                                    <a:rPr lang="en-US" altLang="zh-CN" i="1" dirty="0">
                                      <a:latin typeface="Cambria Math" panose="02040503050406030204" pitchFamily="18" charset="0"/>
                                      <a:ea typeface="Cambria Math" panose="02040503050406030204" pitchFamily="18" charset="0"/>
                                    </a:rPr>
                                  </m:ctrlPr>
                                </m:groupChrPr>
                                <m:e>
                                  <m:d>
                                    <m:dPr>
                                      <m:begChr m:val="["/>
                                      <m:endChr m:val="]"/>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rgbClr val="F76409"/>
                                              </a:solidFill>
                                              <a:latin typeface="Cambria Math" panose="02040503050406030204" pitchFamily="18" charset="0"/>
                                              <a:ea typeface="Cambria Math" panose="02040503050406030204" pitchFamily="18" charset="0"/>
                                            </a:rPr>
                                          </m:ctrlPr>
                                        </m:dPr>
                                        <m:e>
                                          <m:r>
                                            <a:rPr lang="en-US" altLang="zh-CN" i="1" dirty="0">
                                              <a:solidFill>
                                                <a:srgbClr val="F76409"/>
                                              </a:solidFill>
                                              <a:latin typeface="Cambria Math" panose="02040503050406030204" pitchFamily="18" charset="0"/>
                                              <a:ea typeface="Cambria Math" panose="02040503050406030204" pitchFamily="18" charset="0"/>
                                            </a:rPr>
                                            <m:t>𝐿</m:t>
                                          </m:r>
                                          <m:r>
                                            <a:rPr lang="en-US" altLang="zh-CN" i="1" dirty="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smtClean="0">
                                                  <a:solidFill>
                                                    <a:srgbClr val="F76409"/>
                                                  </a:solidFill>
                                                  <a:latin typeface="Cambria Math" panose="02040503050406030204" pitchFamily="18" charset="0"/>
                                                </a:rPr>
                                                <m:t>𝐿</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smtClean="0">
                                                  <a:solidFill>
                                                    <a:schemeClr val="accent2">
                                                      <a:lumMod val="75000"/>
                                                    </a:schemeClr>
                                                  </a:solidFill>
                                                  <a:latin typeface="Cambria Math" panose="02040503050406030204" pitchFamily="18" charset="0"/>
                                                </a:rPr>
                                                <m:t>𝐵</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e>
                                      </m:d>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𝐿</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den>
                                      </m:f>
                                      <m:r>
                                        <a:rPr lang="en-US" altLang="zh-CN" i="1">
                                          <a:latin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chemeClr val="accent2">
                                                  <a:lumMod val="75000"/>
                                                </a:schemeClr>
                                              </a:solidFill>
                                              <a:latin typeface="Cambria Math" panose="02040503050406030204" pitchFamily="18" charset="0"/>
                                              <a:ea typeface="Cambria Math" panose="02040503050406030204" pitchFamily="18" charset="0"/>
                                            </a:rPr>
                                          </m:ctrlPr>
                                        </m:dPr>
                                        <m:e>
                                          <m:r>
                                            <a:rPr lang="en-US" altLang="zh-CN" i="1" dirty="0">
                                              <a:solidFill>
                                                <a:schemeClr val="accent2">
                                                  <a:lumMod val="75000"/>
                                                </a:schemeClr>
                                              </a:solidFill>
                                              <a:latin typeface="Cambria Math" panose="02040503050406030204" pitchFamily="18" charset="0"/>
                                              <a:ea typeface="Cambria Math" panose="02040503050406030204" pitchFamily="18" charset="0"/>
                                            </a:rPr>
                                            <m:t>𝐵</m:t>
                                          </m:r>
                                          <m:r>
                                            <a:rPr lang="en-US" altLang="zh-CN" i="1" dirty="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solidFill>
                                                    <a:srgbClr val="F76409"/>
                                                  </a:solidFill>
                                                  <a:latin typeface="Cambria Math" panose="02040503050406030204" pitchFamily="18" charset="0"/>
                                                </a:rPr>
                                                <m:t>𝐿</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solidFill>
                                                    <a:schemeClr val="accent2">
                                                      <a:lumMod val="75000"/>
                                                    </a:schemeClr>
                                                  </a:solidFill>
                                                  <a:latin typeface="Cambria Math" panose="02040503050406030204" pitchFamily="18" charset="0"/>
                                                </a:rPr>
                                                <m:t>𝐵</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e>
                                      </m:d>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𝐵</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den>
                                      </m:f>
                                    </m:e>
                                  </m:d>
                                </m:e>
                              </m:groupChr>
                            </m:e>
                            <m:lim>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 </m:t>
                                  </m:r>
                                </m:e>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𝐷</m:t>
                                          </m:r>
                                        </m:e>
                                      </m:acc>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e>
                                  </m:d>
                                </m:e>
                              </m:eqArr>
                            </m:lim>
                          </m:limLow>
                        </m:e>
                      </m:borderBox>
                    </m:oMath>
                  </m:oMathPara>
                </a14:m>
                <a:endParaRPr lang="en-US" altLang="zh-CN" dirty="0">
                  <a:solidFill>
                    <a:schemeClr val="tx1"/>
                  </a:solidFill>
                </a:endParaRPr>
              </a:p>
            </p:txBody>
          </p:sp>
        </mc:Choice>
        <mc:Fallback xmlns="">
          <p:sp>
            <p:nvSpPr>
              <p:cNvPr id="12" name="文本框 11">
                <a:extLst>
                  <a:ext uri="{FF2B5EF4-FFF2-40B4-BE49-F238E27FC236}">
                    <a16:creationId xmlns:a16="http://schemas.microsoft.com/office/drawing/2014/main" id="{E0026C44-3722-1811-EB3C-F44922B814DD}"/>
                  </a:ext>
                </a:extLst>
              </p:cNvPr>
              <p:cNvSpPr txBox="1">
                <a:spLocks noRot="1" noChangeAspect="1" noMove="1" noResize="1" noEditPoints="1" noAdjustHandles="1" noChangeArrowheads="1" noChangeShapeType="1" noTextEdit="1"/>
              </p:cNvSpPr>
              <p:nvPr/>
            </p:nvSpPr>
            <p:spPr>
              <a:xfrm>
                <a:off x="298360" y="1217732"/>
                <a:ext cx="11595280" cy="5311454"/>
              </a:xfrm>
              <a:prstGeom prst="rect">
                <a:avLst/>
              </a:prstGeom>
              <a:blipFill>
                <a:blip r:embed="rId2"/>
                <a:stretch>
                  <a:fillRect l="-578"/>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FF23EE3F-524B-AD30-320A-16CA3EE2F3FC}"/>
              </a:ext>
            </a:extLst>
          </p:cNvPr>
          <p:cNvCxnSpPr>
            <a:cxnSpLocks/>
          </p:cNvCxnSpPr>
          <p:nvPr/>
        </p:nvCxnSpPr>
        <p:spPr>
          <a:xfrm>
            <a:off x="532327" y="2955701"/>
            <a:ext cx="11243256" cy="0"/>
          </a:xfrm>
          <a:prstGeom prst="line">
            <a:avLst/>
          </a:prstGeom>
          <a:ln w="38100"/>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46517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D5E90-CBF6-539F-8764-095D49C8B41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642C05E-1AAA-823A-9856-A7F136D4FAD7}"/>
              </a:ext>
            </a:extLst>
          </p:cNvPr>
          <p:cNvSpPr>
            <a:spLocks noGrp="1"/>
          </p:cNvSpPr>
          <p:nvPr>
            <p:ph type="title" idx="1"/>
          </p:nvPr>
        </p:nvSpPr>
        <p:spPr/>
        <p:txBody>
          <a:bodyPr/>
          <a:lstStyle/>
          <a:p>
            <a:r>
              <a:rPr lang="zh-CN" altLang="en-US" dirty="0"/>
              <a:t>路径积分  </a:t>
            </a:r>
            <a:r>
              <a:rPr lang="en-US" altLang="zh-CN" dirty="0"/>
              <a:t>——  </a:t>
            </a:r>
            <a:r>
              <a:rPr lang="zh-CN" altLang="en-US" dirty="0"/>
              <a:t>测度的改变</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343BB75-A694-DE20-ECAC-CF8C26052BCE}"/>
                  </a:ext>
                </a:extLst>
              </p:cNvPr>
              <p:cNvSpPr txBox="1"/>
              <p:nvPr/>
            </p:nvSpPr>
            <p:spPr>
              <a:xfrm>
                <a:off x="250320" y="1262432"/>
                <a:ext cx="6386847" cy="2155334"/>
              </a:xfrm>
              <a:prstGeom prst="rect">
                <a:avLst/>
              </a:prstGeom>
              <a:noFill/>
            </p:spPr>
            <p:txBody>
              <a:bodyPr wrap="square">
                <a:spAutoFit/>
              </a:bodyPr>
              <a:lstStyle/>
              <a:p>
                <a:pPr/>
                <a14:m>
                  <m:oMathPara xmlns:m="http://schemas.openxmlformats.org/officeDocument/2006/math">
                    <m:oMath>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𝐼</m:t>
                          </m:r>
                        </m:e>
                        <m:sub>
                          <m:r>
                            <a:rPr lang="en-US" altLang="zh-CN" sz="1600" b="0" i="1" smtClean="0">
                              <a:solidFill>
                                <a:schemeClr val="tx1"/>
                              </a:solidFill>
                              <a:latin typeface="Cambria Math" panose="02040503050406030204" pitchFamily="18" charset="0"/>
                            </a:rPr>
                            <m:t>4</m:t>
                          </m:r>
                        </m:sub>
                      </m:sSub>
                      <m:r>
                        <a:rPr lang="en-US" altLang="zh-CN" sz="1600" b="0" i="1" smtClean="0">
                          <a:solidFill>
                            <a:schemeClr val="tx1"/>
                          </a:solidFill>
                          <a:latin typeface="Cambria Math" panose="02040503050406030204" pitchFamily="18" charset="0"/>
                        </a:rPr>
                        <m:t>=</m:t>
                      </m:r>
                      <m:nary>
                        <m:naryPr>
                          <m:supHide m:val="on"/>
                          <m:ctrlPr>
                            <a:rPr lang="zh-CN" altLang="en-US" sz="1600" b="0" i="1" dirty="0">
                              <a:solidFill>
                                <a:schemeClr val="tx1"/>
                              </a:solidFill>
                              <a:latin typeface="Cambria Math" panose="02040503050406030204" pitchFamily="18" charset="0"/>
                            </a:rPr>
                          </m:ctrlPr>
                        </m:naryPr>
                        <m:sub>
                          <m:sSub>
                            <m:sSubPr>
                              <m:ctrlPr>
                                <a:rPr lang="zh-CN" altLang="en-US" sz="1600" b="0" i="1" dirty="0">
                                  <a:solidFill>
                                    <a:schemeClr val="tx1"/>
                                  </a:solidFill>
                                  <a:latin typeface="Cambria Math" panose="02040503050406030204" pitchFamily="18" charset="0"/>
                                </a:rPr>
                              </m:ctrlPr>
                            </m:sSubPr>
                            <m:e>
                              <m:r>
                                <a:rPr lang="zh-CN" altLang="en-US" sz="1600" b="0" i="1" dirty="0">
                                  <a:solidFill>
                                    <a:schemeClr val="tx1"/>
                                  </a:solidFill>
                                  <a:latin typeface="Cambria Math" panose="02040503050406030204" pitchFamily="18" charset="0"/>
                                </a:rPr>
                                <m:t>𝒫</m:t>
                              </m:r>
                            </m:e>
                            <m:sub>
                              <m:r>
                                <a:rPr lang="en-US" altLang="zh-CN" sz="1600" b="0" i="1" dirty="0" smtClean="0">
                                  <a:solidFill>
                                    <a:schemeClr val="tx1"/>
                                  </a:solidFill>
                                  <a:latin typeface="Cambria Math" panose="02040503050406030204" pitchFamily="18" charset="0"/>
                                </a:rPr>
                                <m:t>4</m:t>
                              </m:r>
                            </m:sub>
                          </m:sSub>
                        </m:sub>
                        <m:sup/>
                        <m:e>
                          <m:sSub>
                            <m:sSubPr>
                              <m:ctrlPr>
                                <a:rPr lang="en-US" altLang="zh-CN" sz="1600" b="0" i="0" smtClean="0">
                                  <a:solidFill>
                                    <a:schemeClr val="tx1"/>
                                  </a:solidFill>
                                  <a:latin typeface="Cambria Math" panose="02040503050406030204" pitchFamily="18" charset="0"/>
                                </a:rPr>
                              </m:ctrlPr>
                            </m:sSubPr>
                            <m:e>
                              <m:r>
                                <m:rPr>
                                  <m:sty m:val="p"/>
                                </m:rPr>
                                <a:rPr lang="en-US" altLang="zh-CN" sz="1600" b="0" i="0" smtClean="0">
                                  <a:solidFill>
                                    <a:schemeClr val="tx1"/>
                                  </a:solidFill>
                                  <a:latin typeface="Cambria Math" panose="02040503050406030204" pitchFamily="18" charset="0"/>
                                </a:rPr>
                                <m:t>Φ</m:t>
                              </m:r>
                            </m:e>
                            <m:sub>
                              <m:r>
                                <a:rPr lang="en-US" altLang="zh-CN" sz="1600" b="0" i="0" smtClean="0">
                                  <a:solidFill>
                                    <a:schemeClr val="tx1"/>
                                  </a:solidFill>
                                  <a:latin typeface="Cambria Math" panose="02040503050406030204" pitchFamily="18" charset="0"/>
                                </a:rPr>
                                <m:t>4</m:t>
                              </m:r>
                            </m:sub>
                          </m:sSub>
                          <m:d>
                            <m:dPr>
                              <m:ctrlPr>
                                <a:rPr lang="en-US" altLang="zh-CN" sz="1600" b="0" i="1" smtClean="0">
                                  <a:solidFill>
                                    <a:schemeClr val="tx1"/>
                                  </a:solidFill>
                                  <a:latin typeface="Cambria Math" panose="02040503050406030204" pitchFamily="18" charset="0"/>
                                </a:rPr>
                              </m:ctrlPr>
                            </m:dPr>
                            <m:e>
                              <m:sSub>
                                <m:sSubPr>
                                  <m:ctrlPr>
                                    <a:rPr lang="en-US" altLang="zh-CN" sz="1600" b="0" i="1" smtClean="0">
                                      <a:solidFill>
                                        <a:schemeClr val="tx1"/>
                                      </a:solidFill>
                                      <a:latin typeface="Cambria Math" panose="02040503050406030204" pitchFamily="18" charset="0"/>
                                    </a:rPr>
                                  </m:ctrlPr>
                                </m:sSubPr>
                                <m:e>
                                  <m:acc>
                                    <m:accPr>
                                      <m:chr m:val="̅"/>
                                      <m:ctrlPr>
                                        <a:rPr lang="en-US" altLang="zh-CN" sz="1600" b="0" i="1" smtClean="0">
                                          <a:solidFill>
                                            <a:schemeClr val="tx1"/>
                                          </a:solidFill>
                                          <a:latin typeface="Cambria Math" panose="02040503050406030204" pitchFamily="18" charset="0"/>
                                        </a:rPr>
                                      </m:ctrlPr>
                                    </m:accPr>
                                    <m:e>
                                      <m:r>
                                        <a:rPr lang="en-US" altLang="zh-CN" sz="1600" b="0" i="1" smtClean="0">
                                          <a:solidFill>
                                            <a:schemeClr val="tx1"/>
                                          </a:solidFill>
                                          <a:latin typeface="Cambria Math" panose="02040503050406030204" pitchFamily="18" charset="0"/>
                                        </a:rPr>
                                        <m:t>𝑝</m:t>
                                      </m:r>
                                    </m:e>
                                  </m:acc>
                                </m:e>
                                <m:sub>
                                  <m:r>
                                    <a:rPr lang="en-US" altLang="zh-CN" sz="1600" b="0" i="1" smtClean="0">
                                      <a:solidFill>
                                        <a:schemeClr val="tx1"/>
                                      </a:solidFill>
                                      <a:latin typeface="Cambria Math" panose="02040503050406030204" pitchFamily="18" charset="0"/>
                                    </a:rPr>
                                    <m:t>4</m:t>
                                  </m:r>
                                </m:sub>
                              </m:sSub>
                            </m:e>
                          </m:d>
                        </m:e>
                      </m:nary>
                      <m:r>
                        <a:rPr lang="en-US" altLang="zh-CN" sz="1600" b="0" i="1" smtClean="0">
                          <a:solidFill>
                            <a:schemeClr val="tx1"/>
                          </a:solidFill>
                          <a:latin typeface="Cambria Math" panose="02040503050406030204" pitchFamily="18" charset="0"/>
                        </a:rPr>
                        <m:t>𝑑</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𝜇</m:t>
                          </m:r>
                        </m:e>
                        <m:sub>
                          <m:r>
                            <a:rPr lang="en-US" altLang="zh-CN" sz="1600" b="0" i="1" smtClean="0">
                              <a:solidFill>
                                <a:schemeClr val="tx1"/>
                              </a:solidFill>
                              <a:latin typeface="Cambria Math" panose="02040503050406030204" pitchFamily="18" charset="0"/>
                            </a:rPr>
                            <m:t>4</m:t>
                          </m:r>
                        </m:sub>
                      </m:sSub>
                      <m:d>
                        <m:dPr>
                          <m:ctrlPr>
                            <a:rPr lang="en-US" altLang="zh-CN" sz="1600" b="0" i="1" smtClean="0">
                              <a:solidFill>
                                <a:schemeClr val="tx1"/>
                              </a:solidFill>
                              <a:latin typeface="Cambria Math" panose="02040503050406030204" pitchFamily="18" charset="0"/>
                            </a:rPr>
                          </m:ctrlPr>
                        </m:dPr>
                        <m:e>
                          <m:sSub>
                            <m:sSubPr>
                              <m:ctrlPr>
                                <a:rPr lang="en-US" altLang="zh-CN" sz="1600" b="0" i="1" smtClean="0">
                                  <a:solidFill>
                                    <a:schemeClr val="tx1"/>
                                  </a:solidFill>
                                  <a:latin typeface="Cambria Math" panose="02040503050406030204" pitchFamily="18" charset="0"/>
                                </a:rPr>
                              </m:ctrlPr>
                            </m:sSubPr>
                            <m:e>
                              <m:acc>
                                <m:accPr>
                                  <m:chr m:val="̅"/>
                                  <m:ctrlPr>
                                    <a:rPr lang="en-US" altLang="zh-CN" sz="1600" b="0" i="1" smtClean="0">
                                      <a:solidFill>
                                        <a:schemeClr val="tx1"/>
                                      </a:solidFill>
                                      <a:latin typeface="Cambria Math" panose="02040503050406030204" pitchFamily="18" charset="0"/>
                                    </a:rPr>
                                  </m:ctrlPr>
                                </m:accPr>
                                <m:e>
                                  <m:r>
                                    <a:rPr lang="en-US" altLang="zh-CN" sz="1600" b="0" i="1" smtClean="0">
                                      <a:solidFill>
                                        <a:schemeClr val="tx1"/>
                                      </a:solidFill>
                                      <a:latin typeface="Cambria Math" panose="02040503050406030204" pitchFamily="18" charset="0"/>
                                    </a:rPr>
                                    <m:t>𝑝</m:t>
                                  </m:r>
                                </m:e>
                              </m:acc>
                            </m:e>
                            <m:sub>
                              <m:r>
                                <a:rPr lang="en-US" altLang="zh-CN" sz="1600" b="0" i="1" smtClean="0">
                                  <a:solidFill>
                                    <a:schemeClr val="tx1"/>
                                  </a:solidFill>
                                  <a:latin typeface="Cambria Math" panose="02040503050406030204" pitchFamily="18" charset="0"/>
                                </a:rPr>
                                <m:t>4</m:t>
                              </m:r>
                            </m:sub>
                          </m:sSub>
                        </m:e>
                      </m:d>
                    </m:oMath>
                    <m:oMath>
                      <m:r>
                        <a:rPr lang="en-US" altLang="zh-CN" sz="1600" b="0" i="1" smtClean="0">
                          <a:solidFill>
                            <a:schemeClr val="tx1"/>
                          </a:solidFill>
                          <a:latin typeface="Cambria Math" panose="02040503050406030204" pitchFamily="18" charset="0"/>
                        </a:rPr>
                        <m:t>     </m:t>
                      </m:r>
                      <m:r>
                        <a:rPr lang="en-US" altLang="zh-CN" sz="1600" b="1" i="1" smtClean="0">
                          <a:solidFill>
                            <a:schemeClr val="tx1"/>
                          </a:solidFill>
                          <a:latin typeface="Cambria Math" panose="02040503050406030204" pitchFamily="18" charset="0"/>
                        </a:rPr>
                        <m:t>=</m:t>
                      </m:r>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𝑆</m:t>
                              </m:r>
                            </m:e>
                            <m:sup>
                              <m:r>
                                <a:rPr lang="en-US" altLang="zh-CN" sz="1600" i="1" dirty="0">
                                  <a:solidFill>
                                    <a:schemeClr val="tx1"/>
                                  </a:solidFill>
                                  <a:latin typeface="Cambria Math" panose="02040503050406030204" pitchFamily="18" charset="0"/>
                                </a:rPr>
                                <m:t>2</m:t>
                              </m:r>
                            </m:sup>
                          </m:sSup>
                        </m:sub>
                        <m:sup/>
                        <m:e>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𝑆</m:t>
                                  </m:r>
                                </m:e>
                                <m:sup>
                                  <m:r>
                                    <a:rPr lang="en-US" altLang="zh-CN" sz="1600" i="1" dirty="0">
                                      <a:solidFill>
                                        <a:schemeClr val="tx1"/>
                                      </a:solidFill>
                                      <a:latin typeface="Cambria Math" panose="02040503050406030204" pitchFamily="18" charset="0"/>
                                    </a:rPr>
                                    <m:t>2</m:t>
                                  </m:r>
                                </m:sup>
                              </m:sSup>
                            </m:sub>
                            <m:sup/>
                            <m:e>
                              <m:nary>
                                <m:naryPr>
                                  <m:supHide m:val="on"/>
                                  <m:ctrlPr>
                                    <a:rPr lang="en-US" altLang="zh-CN" sz="1600" i="1" dirty="0">
                                      <a:solidFill>
                                        <a:srgbClr val="FF0000"/>
                                      </a:solidFill>
                                      <a:latin typeface="Cambria Math" panose="02040503050406030204" pitchFamily="18" charset="0"/>
                                    </a:rPr>
                                  </m:ctrlPr>
                                </m:naryPr>
                                <m:sub>
                                  <m:sSub>
                                    <m:sSubPr>
                                      <m:ctrlPr>
                                        <a:rPr lang="en-US" altLang="zh-CN" sz="1600" i="1" dirty="0">
                                          <a:solidFill>
                                            <a:srgbClr val="FF0000"/>
                                          </a:solidFill>
                                          <a:latin typeface="Cambria Math" panose="02040503050406030204" pitchFamily="18" charset="0"/>
                                        </a:rPr>
                                      </m:ctrlPr>
                                    </m:sSubPr>
                                    <m:e>
                                      <m:r>
                                        <a:rPr lang="en-US" altLang="zh-CN" sz="1600" i="1" dirty="0">
                                          <a:solidFill>
                                            <a:srgbClr val="FF0000"/>
                                          </a:solidFill>
                                          <a:latin typeface="Cambria Math" panose="02040503050406030204" pitchFamily="18" charset="0"/>
                                        </a:rPr>
                                        <m:t>𝐴</m:t>
                                      </m:r>
                                    </m:e>
                                    <m:sub>
                                      <m:r>
                                        <a:rPr lang="en-US" altLang="zh-CN" sz="1600" i="1" dirty="0">
                                          <a:solidFill>
                                            <a:srgbClr val="FF0000"/>
                                          </a:solidFill>
                                          <a:latin typeface="Cambria Math" panose="02040503050406030204" pitchFamily="18" charset="0"/>
                                        </a:rPr>
                                        <m:t>𝐸</m:t>
                                      </m:r>
                                    </m:sub>
                                  </m:sSub>
                                </m:sub>
                                <m:sup/>
                                <m:e>
                                  <m:limLow>
                                    <m:limLowPr>
                                      <m:ctrlPr>
                                        <a:rPr lang="en-US" altLang="zh-CN" sz="1600" i="1" dirty="0">
                                          <a:solidFill>
                                            <a:schemeClr val="tx1"/>
                                          </a:solidFill>
                                          <a:latin typeface="Cambria Math" panose="02040503050406030204" pitchFamily="18" charset="0"/>
                                        </a:rPr>
                                      </m:ctrlPr>
                                    </m:limLowPr>
                                    <m:e>
                                      <m:groupChr>
                                        <m:groupChrPr>
                                          <m:chr m:val="⏟"/>
                                          <m:pos m:val="bot"/>
                                          <m:vertJc m:val="top"/>
                                          <m:ctrlPr>
                                            <a:rPr lang="en-US" altLang="zh-CN" sz="1600" i="1" dirty="0">
                                              <a:solidFill>
                                                <a:schemeClr val="tx1"/>
                                              </a:solidFill>
                                              <a:latin typeface="Cambria Math" panose="02040503050406030204" pitchFamily="18" charset="0"/>
                                            </a:rPr>
                                          </m:ctrlPr>
                                        </m:groupChrPr>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1</m:t>
                                              </m:r>
                                            </m:sub>
                                          </m:sSub>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2</m:t>
                                                      </m:r>
                                                    </m:sub>
                                                  </m:sSub>
                                                </m:e>
                                              </m:func>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2</m:t>
                                              </m:r>
                                            </m:sub>
                                          </m:sSub>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3</m:t>
                                                      </m:r>
                                                    </m:sub>
                                                  </m:sSub>
                                                </m:e>
                                              </m:func>
                                            </m:e>
                                          </m:d>
                                        </m:e>
                                      </m:groupChr>
                                    </m:e>
                                    <m:lim>
                                      <m:eqArr>
                                        <m:eqArrPr>
                                          <m:ctrlPr>
                                            <a:rPr lang="en-US" altLang="zh-CN" sz="1600" i="1" dirty="0">
                                              <a:solidFill>
                                                <a:schemeClr val="tx1"/>
                                              </a:solidFill>
                                              <a:latin typeface="Cambria Math" panose="02040503050406030204" pitchFamily="18" charset="0"/>
                                            </a:rPr>
                                          </m:ctrlPr>
                                        </m:eqArrPr>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zh-CN" altLang="en-US" sz="1600" i="1" dirty="0">
                                              <a:solidFill>
                                                <a:schemeClr val="tx1"/>
                                              </a:solidFill>
                                              <a:latin typeface="Cambria Math" panose="02040503050406030204" pitchFamily="18" charset="0"/>
                                            </a:rPr>
                                            <m:t>两次方向散射</m:t>
                                          </m:r>
                                        </m:e>
                                      </m:eqArr>
                                    </m:lim>
                                  </m:limLow>
                                  <m:limLow>
                                    <m:limLowPr>
                                      <m:ctrlPr>
                                        <a:rPr lang="en-US" altLang="zh-CN" sz="1600" i="1" dirty="0">
                                          <a:solidFill>
                                            <a:srgbClr val="FF0000"/>
                                          </a:solidFill>
                                          <a:latin typeface="Cambria Math" panose="02040503050406030204" pitchFamily="18" charset="0"/>
                                        </a:rPr>
                                      </m:ctrlPr>
                                    </m:limLowPr>
                                    <m:e>
                                      <m:groupChr>
                                        <m:groupChrPr>
                                          <m:chr m:val="⏟"/>
                                          <m:pos m:val="bot"/>
                                          <m:vertJc m:val="top"/>
                                          <m:ctrlPr>
                                            <a:rPr lang="en-US" altLang="zh-CN" sz="1600" i="1" dirty="0">
                                              <a:solidFill>
                                                <a:srgbClr val="FF0000"/>
                                              </a:solidFill>
                                              <a:latin typeface="Cambria Math" panose="02040503050406030204" pitchFamily="18" charset="0"/>
                                            </a:rPr>
                                          </m:ctrlPr>
                                        </m:groupChrPr>
                                        <m:e>
                                          <m:sSub>
                                            <m:sSubPr>
                                              <m:ctrlPr>
                                                <a:rPr lang="en-US" altLang="zh-CN" sz="1600" i="1" dirty="0">
                                                  <a:solidFill>
                                                    <a:srgbClr val="FF0000"/>
                                                  </a:solidFill>
                                                  <a:latin typeface="Cambria Math" panose="02040503050406030204" pitchFamily="18" charset="0"/>
                                                </a:rPr>
                                              </m:ctrlPr>
                                            </m:sSubPr>
                                            <m:e>
                                              <m:r>
                                                <a:rPr lang="en-US" altLang="zh-CN" sz="1600" i="1" dirty="0">
                                                  <a:solidFill>
                                                    <a:srgbClr val="FF0000"/>
                                                  </a:solidFill>
                                                  <a:latin typeface="Cambria Math" panose="02040503050406030204" pitchFamily="18" charset="0"/>
                                                </a:rPr>
                                                <m:t>𝑓</m:t>
                                              </m:r>
                                            </m:e>
                                            <m:sub>
                                              <m:r>
                                                <a:rPr lang="en-US" altLang="zh-CN" sz="1600" i="1" dirty="0">
                                                  <a:solidFill>
                                                    <a:srgbClr val="FF0000"/>
                                                  </a:solidFill>
                                                  <a:latin typeface="Cambria Math" panose="02040503050406030204" pitchFamily="18" charset="0"/>
                                                </a:rPr>
                                                <m:t>3</m:t>
                                              </m:r>
                                            </m:sub>
                                          </m:sSub>
                                          <m:r>
                                            <a:rPr lang="en-US" altLang="zh-CN" sz="1600" i="1" dirty="0">
                                              <a:solidFill>
                                                <a:srgbClr val="FF0000"/>
                                              </a:solidFill>
                                              <a:latin typeface="Cambria Math" panose="02040503050406030204" pitchFamily="18" charset="0"/>
                                            </a:rPr>
                                            <m:t> </m:t>
                                          </m:r>
                                          <m:sSub>
                                            <m:sSubPr>
                                              <m:ctrlPr>
                                                <a:rPr lang="en-US" altLang="zh-CN" sz="1600" i="1" dirty="0">
                                                  <a:solidFill>
                                                    <a:srgbClr val="FF0000"/>
                                                  </a:solidFill>
                                                  <a:latin typeface="Cambria Math" panose="02040503050406030204" pitchFamily="18" charset="0"/>
                                                </a:rPr>
                                              </m:ctrlPr>
                                            </m:sSubPr>
                                            <m:e>
                                              <m:r>
                                                <a:rPr lang="en-US" altLang="zh-CN" sz="1600" i="1" dirty="0">
                                                  <a:solidFill>
                                                    <a:srgbClr val="FF0000"/>
                                                  </a:solidFill>
                                                  <a:latin typeface="Cambria Math" panose="02040503050406030204" pitchFamily="18" charset="0"/>
                                                </a:rPr>
                                                <m:t>𝐺</m:t>
                                              </m:r>
                                            </m:e>
                                            <m:sub>
                                              <m:r>
                                                <a:rPr lang="en-US" altLang="zh-CN" sz="1600" i="1" dirty="0">
                                                  <a:solidFill>
                                                    <a:srgbClr val="FF0000"/>
                                                  </a:solidFill>
                                                  <a:latin typeface="Cambria Math" panose="02040503050406030204" pitchFamily="18" charset="0"/>
                                                </a:rPr>
                                                <m:t>3</m:t>
                                              </m:r>
                                            </m:sub>
                                          </m:sSub>
                                          <m:r>
                                            <a:rPr lang="en-US" altLang="zh-CN" sz="1600" b="1" i="1" dirty="0">
                                              <a:solidFill>
                                                <a:srgbClr val="FF0000"/>
                                              </a:solidFill>
                                              <a:latin typeface="Cambria Math" panose="02040503050406030204" pitchFamily="18" charset="0"/>
                                            </a:rPr>
                                            <m:t> </m:t>
                                          </m:r>
                                          <m:sSub>
                                            <m:sSubPr>
                                              <m:ctrlPr>
                                                <a:rPr lang="en-US" altLang="zh-CN" sz="1600" b="0" i="1" dirty="0">
                                                  <a:solidFill>
                                                    <a:srgbClr val="FF0000"/>
                                                  </a:solidFill>
                                                  <a:latin typeface="Cambria Math" panose="02040503050406030204" pitchFamily="18" charset="0"/>
                                                </a:rPr>
                                              </m:ctrlPr>
                                            </m:sSubPr>
                                            <m:e>
                                              <m:r>
                                                <a:rPr lang="en-US" altLang="zh-CN" sz="1600" b="0" i="1" dirty="0">
                                                  <a:solidFill>
                                                    <a:srgbClr val="FF0000"/>
                                                  </a:solidFill>
                                                  <a:latin typeface="Cambria Math" panose="02040503050406030204" pitchFamily="18" charset="0"/>
                                                </a:rPr>
                                                <m:t>𝐿</m:t>
                                              </m:r>
                                            </m:e>
                                            <m:sub>
                                              <m:r>
                                                <a:rPr lang="en-US" altLang="zh-CN" sz="1600" b="0" i="1" dirty="0">
                                                  <a:solidFill>
                                                    <a:srgbClr val="FF0000"/>
                                                  </a:solidFill>
                                                  <a:latin typeface="Cambria Math" panose="02040503050406030204" pitchFamily="18" charset="0"/>
                                                </a:rPr>
                                                <m:t>𝑒</m:t>
                                              </m:r>
                                            </m:sub>
                                          </m:sSub>
                                          <m:d>
                                            <m:dPr>
                                              <m:ctrlPr>
                                                <a:rPr lang="en-US" altLang="zh-CN" sz="1600" b="1" i="1" dirty="0">
                                                  <a:solidFill>
                                                    <a:srgbClr val="FF0000"/>
                                                  </a:solidFill>
                                                  <a:latin typeface="Cambria Math" panose="02040503050406030204" pitchFamily="18" charset="0"/>
                                                </a:rPr>
                                              </m:ctrlPr>
                                            </m:dPr>
                                            <m:e>
                                              <m:sSub>
                                                <m:sSubPr>
                                                  <m:ctrlPr>
                                                    <a:rPr lang="en-US" altLang="zh-CN" sz="1600" b="1" i="1" dirty="0">
                                                      <a:solidFill>
                                                        <a:srgbClr val="FF0000"/>
                                                      </a:solidFill>
                                                      <a:latin typeface="Cambria Math" panose="02040503050406030204" pitchFamily="18" charset="0"/>
                                                    </a:rPr>
                                                  </m:ctrlPr>
                                                </m:sSubPr>
                                                <m:e>
                                                  <m:r>
                                                    <a:rPr lang="en-US" altLang="zh-CN" sz="1600" b="1" i="1" dirty="0">
                                                      <a:solidFill>
                                                        <a:srgbClr val="FF0000"/>
                                                      </a:solidFill>
                                                      <a:latin typeface="Cambria Math" panose="02040503050406030204" pitchFamily="18" charset="0"/>
                                                    </a:rPr>
                                                    <m:t>𝒑</m:t>
                                                  </m:r>
                                                </m:e>
                                                <m:sub>
                                                  <m:r>
                                                    <a:rPr lang="en-US" altLang="zh-CN" sz="1600" b="1" i="1" dirty="0">
                                                      <a:solidFill>
                                                        <a:srgbClr val="FF0000"/>
                                                      </a:solidFill>
                                                      <a:latin typeface="Cambria Math" panose="02040503050406030204" pitchFamily="18" charset="0"/>
                                                    </a:rPr>
                                                    <m:t>𝟒</m:t>
                                                  </m:r>
                                                </m:sub>
                                              </m:sSub>
                                              <m:r>
                                                <a:rPr lang="en-US" altLang="zh-CN" sz="1600" b="1" i="1" dirty="0">
                                                  <a:solidFill>
                                                    <a:srgbClr val="FF0000"/>
                                                  </a:solidFill>
                                                  <a:latin typeface="Cambria Math" panose="02040503050406030204" pitchFamily="18" charset="0"/>
                                                </a:rPr>
                                                <m:t>→</m:t>
                                              </m:r>
                                              <m:sSub>
                                                <m:sSubPr>
                                                  <m:ctrlPr>
                                                    <a:rPr lang="en-US" altLang="zh-CN" sz="1600" b="1" i="1" dirty="0">
                                                      <a:solidFill>
                                                        <a:srgbClr val="FF0000"/>
                                                      </a:solidFill>
                                                      <a:latin typeface="Cambria Math" panose="02040503050406030204" pitchFamily="18" charset="0"/>
                                                    </a:rPr>
                                                  </m:ctrlPr>
                                                </m:sSubPr>
                                                <m:e>
                                                  <m:r>
                                                    <a:rPr lang="en-US" altLang="zh-CN" sz="1600" b="1" i="1" dirty="0">
                                                      <a:solidFill>
                                                        <a:srgbClr val="FF0000"/>
                                                      </a:solidFill>
                                                      <a:latin typeface="Cambria Math" panose="02040503050406030204" pitchFamily="18" charset="0"/>
                                                    </a:rPr>
                                                    <m:t>𝒑</m:t>
                                                  </m:r>
                                                </m:e>
                                                <m:sub>
                                                  <m:r>
                                                    <a:rPr lang="en-US" altLang="zh-CN" sz="1600" b="1" i="1" dirty="0">
                                                      <a:solidFill>
                                                        <a:srgbClr val="FF0000"/>
                                                      </a:solidFill>
                                                      <a:latin typeface="Cambria Math" panose="02040503050406030204" pitchFamily="18" charset="0"/>
                                                    </a:rPr>
                                                    <m:t>𝟑</m:t>
                                                  </m:r>
                                                </m:sub>
                                              </m:sSub>
                                            </m:e>
                                          </m:d>
                                        </m:e>
                                      </m:groupChr>
                                    </m:e>
                                    <m:lim>
                                      <m:eqArr>
                                        <m:eqArrPr>
                                          <m:ctrlPr>
                                            <a:rPr lang="en-US" altLang="zh-CN" sz="1600" i="1" dirty="0">
                                              <a:solidFill>
                                                <a:schemeClr val="tx1"/>
                                              </a:solidFill>
                                              <a:latin typeface="Cambria Math" panose="02040503050406030204" pitchFamily="18" charset="0"/>
                                            </a:rPr>
                                          </m:ctrlPr>
                                        </m:eqArrPr>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zh-CN" altLang="en-US" sz="1600" i="1" dirty="0">
                                              <a:solidFill>
                                                <a:schemeClr val="tx1"/>
                                              </a:solidFill>
                                              <a:latin typeface="Cambria Math" panose="02040503050406030204" pitchFamily="18" charset="0"/>
                                            </a:rPr>
                                            <m:t>连接光源</m:t>
                                          </m:r>
                                        </m:e>
                                      </m:eqArr>
                                    </m:lim>
                                  </m:limLow>
                                  <m:r>
                                    <a:rPr lang="en-US" altLang="zh-CN" sz="1600" i="1" dirty="0" smtClean="0">
                                      <a:solidFill>
                                        <a:srgbClr val="FF0000"/>
                                      </a:solidFill>
                                      <a:latin typeface="Cambria Math" panose="02040503050406030204" pitchFamily="18" charset="0"/>
                                    </a:rPr>
                                    <m:t>𝑑𝐴</m:t>
                                  </m:r>
                                  <m:d>
                                    <m:dPr>
                                      <m:ctrlPr>
                                        <a:rPr lang="en-US" altLang="zh-CN" sz="1600" b="1" i="1" dirty="0">
                                          <a:solidFill>
                                            <a:srgbClr val="FF0000"/>
                                          </a:solidFill>
                                          <a:latin typeface="Cambria Math" panose="02040503050406030204" pitchFamily="18" charset="0"/>
                                        </a:rPr>
                                      </m:ctrlPr>
                                    </m:dPr>
                                    <m:e>
                                      <m:sSub>
                                        <m:sSubPr>
                                          <m:ctrlPr>
                                            <a:rPr lang="en-US" altLang="zh-CN" sz="1600" b="1" i="1" dirty="0">
                                              <a:solidFill>
                                                <a:srgbClr val="FF0000"/>
                                              </a:solidFill>
                                              <a:latin typeface="Cambria Math" panose="02040503050406030204" pitchFamily="18" charset="0"/>
                                            </a:rPr>
                                          </m:ctrlPr>
                                        </m:sSubPr>
                                        <m:e>
                                          <m:r>
                                            <a:rPr lang="en-US" altLang="zh-CN" sz="1600" b="1" i="1" dirty="0">
                                              <a:solidFill>
                                                <a:srgbClr val="FF0000"/>
                                              </a:solidFill>
                                              <a:latin typeface="Cambria Math" panose="02040503050406030204" pitchFamily="18" charset="0"/>
                                            </a:rPr>
                                            <m:t>𝒑</m:t>
                                          </m:r>
                                        </m:e>
                                        <m:sub>
                                          <m:r>
                                            <a:rPr lang="en-US" altLang="zh-CN" sz="1600" b="1" i="1" dirty="0">
                                              <a:solidFill>
                                                <a:srgbClr val="FF0000"/>
                                              </a:solidFill>
                                              <a:latin typeface="Cambria Math" panose="02040503050406030204" pitchFamily="18" charset="0"/>
                                            </a:rPr>
                                            <m:t>𝟒</m:t>
                                          </m:r>
                                        </m:sub>
                                      </m:sSub>
                                    </m:e>
                                  </m:d>
                                </m:e>
                              </m:nary>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3</m:t>
                                  </m:r>
                                </m:sub>
                              </m:sSub>
                            </m:e>
                          </m:nary>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2</m:t>
                              </m:r>
                            </m:sub>
                          </m:sSub>
                        </m:e>
                      </m:nary>
                    </m:oMath>
                  </m:oMathPara>
                </a14:m>
                <a:endParaRPr lang="en-US" altLang="zh-CN" sz="1600" dirty="0">
                  <a:solidFill>
                    <a:schemeClr val="tx1"/>
                  </a:solidFill>
                </a:endParaRPr>
              </a:p>
              <a:p>
                <a:endParaRPr lang="en-US" altLang="zh-CN" sz="1600" dirty="0">
                  <a:latin typeface="+mn-ea"/>
                </a:endParaRPr>
              </a:p>
              <a:p>
                <a:r>
                  <a:rPr lang="zh-CN" altLang="en-US" sz="1600" dirty="0">
                    <a:latin typeface="+mn-ea"/>
                  </a:rPr>
                  <a:t>以路径空间</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4</m:t>
                        </m:r>
                      </m:sub>
                    </m:sSub>
                  </m:oMath>
                </a14:m>
                <a:r>
                  <a:rPr lang="zh-CN" altLang="en-US" sz="1600" dirty="0">
                    <a:latin typeface="+mn-ea"/>
                  </a:rPr>
                  <a:t>为例，我们之前对该路径空间的测度做了如下定义：</a:t>
                </a:r>
                <a:endParaRPr lang="en-US" altLang="zh-CN" sz="1600" dirty="0">
                  <a:latin typeface="+mn-ea"/>
                </a:endParaRPr>
              </a:p>
              <a:p>
                <a:pPr/>
                <a14:m>
                  <m:oMathPara xmlns:m="http://schemas.openxmlformats.org/officeDocument/2006/math">
                    <m:oMath>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𝜇</m:t>
                          </m:r>
                        </m:e>
                        <m:sub>
                          <m:r>
                            <a:rPr lang="en-US" altLang="zh-CN" sz="1600" i="1">
                              <a:latin typeface="Cambria Math" panose="02040503050406030204" pitchFamily="18" charset="0"/>
                            </a:rPr>
                            <m:t>4</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4</m:t>
                              </m:r>
                            </m:sub>
                          </m:sSub>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𝑑𝐴</m:t>
                      </m:r>
                      <m:d>
                        <m:dPr>
                          <m:ctrlPr>
                            <a:rPr lang="en-US" altLang="zh-CN" sz="1600" b="1" i="1" smtClean="0">
                              <a:latin typeface="Cambria Math" panose="02040503050406030204" pitchFamily="18" charset="0"/>
                            </a:rPr>
                          </m:ctrlPr>
                        </m:dPr>
                        <m:e>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𝒑</m:t>
                              </m:r>
                            </m:e>
                            <m:sub>
                              <m:r>
                                <a:rPr lang="en-US" altLang="zh-CN" sz="1600" b="1" i="1" smtClean="0">
                                  <a:latin typeface="Cambria Math" panose="02040503050406030204" pitchFamily="18" charset="0"/>
                                </a:rPr>
                                <m:t>𝟒</m:t>
                              </m:r>
                            </m:sub>
                          </m:sSub>
                        </m:e>
                      </m:d>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3</m:t>
                          </m:r>
                        </m:sub>
                      </m:sSub>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2</m:t>
                          </m:r>
                        </m:sub>
                      </m:sSub>
                    </m:oMath>
                  </m:oMathPara>
                </a14:m>
                <a:endParaRPr lang="zh-CN" altLang="en-US" sz="1600" dirty="0">
                  <a:latin typeface="+mn-ea"/>
                </a:endParaRPr>
              </a:p>
            </p:txBody>
          </p:sp>
        </mc:Choice>
        <mc:Fallback xmlns="">
          <p:sp>
            <p:nvSpPr>
              <p:cNvPr id="3" name="文本框 2">
                <a:extLst>
                  <a:ext uri="{FF2B5EF4-FFF2-40B4-BE49-F238E27FC236}">
                    <a16:creationId xmlns:a16="http://schemas.microsoft.com/office/drawing/2014/main" id="{1343BB75-A694-DE20-ECAC-CF8C26052BCE}"/>
                  </a:ext>
                </a:extLst>
              </p:cNvPr>
              <p:cNvSpPr txBox="1">
                <a:spLocks noRot="1" noChangeAspect="1" noMove="1" noResize="1" noEditPoints="1" noAdjustHandles="1" noChangeArrowheads="1" noChangeShapeType="1" noTextEdit="1"/>
              </p:cNvSpPr>
              <p:nvPr/>
            </p:nvSpPr>
            <p:spPr>
              <a:xfrm>
                <a:off x="250320" y="1262432"/>
                <a:ext cx="6386847" cy="2155334"/>
              </a:xfrm>
              <a:prstGeom prst="rect">
                <a:avLst/>
              </a:prstGeom>
              <a:blipFill>
                <a:blip r:embed="rId2"/>
                <a:stretch>
                  <a:fillRect l="-5344" t="-46328" r="-1240" b="-2542"/>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D664E533-3A26-1ED1-B9E8-E10072D36A0D}"/>
              </a:ext>
            </a:extLst>
          </p:cNvPr>
          <p:cNvPicPr>
            <a:picLocks noChangeAspect="1"/>
          </p:cNvPicPr>
          <p:nvPr/>
        </p:nvPicPr>
        <p:blipFill>
          <a:blip r:embed="rId3"/>
          <a:stretch>
            <a:fillRect/>
          </a:stretch>
        </p:blipFill>
        <p:spPr>
          <a:xfrm>
            <a:off x="7235217" y="1080000"/>
            <a:ext cx="4508732" cy="51501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图片 7">
            <a:extLst>
              <a:ext uri="{FF2B5EF4-FFF2-40B4-BE49-F238E27FC236}">
                <a16:creationId xmlns:a16="http://schemas.microsoft.com/office/drawing/2014/main" id="{714F1AF2-3537-184D-DF2D-FAEA48F18ECE}"/>
              </a:ext>
            </a:extLst>
          </p:cNvPr>
          <p:cNvPicPr>
            <a:picLocks noChangeAspect="1"/>
          </p:cNvPicPr>
          <p:nvPr/>
        </p:nvPicPr>
        <p:blipFill>
          <a:blip r:embed="rId4"/>
          <a:stretch>
            <a:fillRect/>
          </a:stretch>
        </p:blipFill>
        <p:spPr>
          <a:xfrm>
            <a:off x="1021160" y="3519284"/>
            <a:ext cx="4845166" cy="10877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E6607D7E-C617-820C-2A16-108967D4B833}"/>
                  </a:ext>
                </a:extLst>
              </p:cNvPr>
              <p:cNvSpPr txBox="1"/>
              <p:nvPr/>
            </p:nvSpPr>
            <p:spPr>
              <a:xfrm>
                <a:off x="250320" y="4760112"/>
                <a:ext cx="6152882" cy="1443729"/>
              </a:xfrm>
              <a:prstGeom prst="rect">
                <a:avLst/>
              </a:prstGeom>
              <a:noFill/>
            </p:spPr>
            <p:txBody>
              <a:bodyPr wrap="square">
                <a:spAutoFit/>
              </a:bodyPr>
              <a:lstStyle/>
              <a:p>
                <a:r>
                  <a:rPr lang="zh-CN" altLang="en-US" sz="1600" dirty="0">
                    <a:latin typeface="+mn-ea"/>
                  </a:rPr>
                  <a:t>         同时，最后一个向光源采样的面积积分可以写成方向积分。为了适应这种改变，我们需要定义新的测度。</a:t>
                </a:r>
                <a:endParaRPr lang="en-US" altLang="zh-CN" sz="1600" dirty="0">
                  <a:latin typeface="+mn-ea"/>
                </a:endParaRPr>
              </a:p>
              <a:p>
                <a:pPr>
                  <a:spcBef>
                    <a:spcPts val="800"/>
                  </a:spcBef>
                </a:pPr>
                <a:r>
                  <a:rPr lang="zh-CN" altLang="en-US" sz="1600" dirty="0">
                    <a:latin typeface="+mn-ea"/>
                  </a:rPr>
                  <a:t>         对于路径空间</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b="0" i="1" dirty="0" smtClean="0">
                            <a:latin typeface="Cambria Math" panose="02040503050406030204" pitchFamily="18" charset="0"/>
                          </a:rPr>
                          <m:t>𝑖</m:t>
                        </m:r>
                      </m:sub>
                    </m:sSub>
                  </m:oMath>
                </a14:m>
                <a:r>
                  <a:rPr lang="zh-CN" altLang="en-US" sz="1600" dirty="0">
                    <a:latin typeface="+mn-ea"/>
                  </a:rPr>
                  <a:t>，我们将其原来的测度</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𝜇</m:t>
                        </m:r>
                      </m:e>
                      <m:sub>
                        <m:r>
                          <a:rPr lang="en-US" altLang="zh-CN" sz="1600" b="0" i="1" smtClean="0">
                            <a:latin typeface="Cambria Math" panose="02040503050406030204" pitchFamily="18" charset="0"/>
                          </a:rPr>
                          <m:t>𝑖</m:t>
                        </m:r>
                      </m:sub>
                    </m:sSub>
                  </m:oMath>
                </a14:m>
                <a:r>
                  <a:rPr lang="zh-CN" altLang="en-US" sz="1600" dirty="0">
                    <a:latin typeface="+mn-ea"/>
                  </a:rPr>
                  <a:t>改名为</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𝜇</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𝜔</m:t>
                        </m:r>
                      </m:sup>
                    </m:sSubSup>
                  </m:oMath>
                </a14:m>
                <a:r>
                  <a:rPr lang="zh-CN" altLang="en-US" sz="1600" dirty="0">
                    <a:latin typeface="+mn-ea"/>
                  </a:rPr>
                  <a:t>，新的测度为</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𝜇</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𝜔</m:t>
                        </m:r>
                      </m:sup>
                    </m:sSubSup>
                  </m:oMath>
                </a14:m>
                <a:r>
                  <a:rPr lang="zh-CN" altLang="en-US" sz="1600" dirty="0">
                    <a:latin typeface="+mn-ea"/>
                  </a:rPr>
                  <a:t>，并且为了符号简便，后续所有的</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𝜇</m:t>
                        </m:r>
                      </m:e>
                      <m:sub>
                        <m:r>
                          <a:rPr lang="en-US" altLang="zh-CN" sz="1600" b="0" i="1" smtClean="0">
                            <a:latin typeface="Cambria Math" panose="02040503050406030204" pitchFamily="18" charset="0"/>
                          </a:rPr>
                          <m:t>𝑖</m:t>
                        </m:r>
                      </m:sub>
                    </m:sSub>
                  </m:oMath>
                </a14:m>
                <a:r>
                  <a:rPr lang="zh-CN" altLang="en-US" sz="1600" dirty="0">
                    <a:latin typeface="+mn-ea"/>
                  </a:rPr>
                  <a:t>均指的是</a:t>
                </a:r>
                <a14:m>
                  <m:oMath xmlns:m="http://schemas.openxmlformats.org/officeDocument/2006/math">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𝜇</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𝜔</m:t>
                        </m:r>
                      </m:sup>
                    </m:sSubSup>
                  </m:oMath>
                </a14:m>
                <a:r>
                  <a:rPr lang="zh-CN" altLang="en-US" sz="1600" dirty="0">
                    <a:latin typeface="+mn-ea"/>
                  </a:rPr>
                  <a:t>，并且：</a:t>
                </a:r>
                <a:endParaRPr lang="en-US" altLang="zh-CN" sz="1600" dirty="0">
                  <a:latin typeface="+mn-ea"/>
                </a:endParaRPr>
              </a:p>
              <a:p>
                <a:pPr/>
                <a14:m>
                  <m:oMathPara xmlns:m="http://schemas.openxmlformats.org/officeDocument/2006/math">
                    <m:oMath>
                      <m:r>
                        <a:rPr lang="en-US" altLang="zh-CN" sz="1600" i="1" dirty="0" smtClean="0">
                          <a:latin typeface="Cambria Math" panose="02040503050406030204" pitchFamily="18" charset="0"/>
                        </a:rPr>
                        <m:t>𝑑</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𝜇</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𝜔</m:t>
                          </m:r>
                        </m:sup>
                      </m:sSubSup>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𝑝</m:t>
                                  </m:r>
                                </m:e>
                              </m:acc>
                            </m:e>
                            <m:sub>
                              <m:r>
                                <a:rPr lang="en-US" altLang="zh-CN" sz="1600" b="0" i="1" smtClean="0">
                                  <a:latin typeface="Cambria Math" panose="02040503050406030204" pitchFamily="18" charset="0"/>
                                </a:rPr>
                                <m:t>𝑖</m:t>
                              </m:r>
                            </m:sub>
                          </m:sSub>
                        </m:e>
                      </m:d>
                      <m:r>
                        <a:rPr lang="en-US" altLang="zh-CN" sz="1600" b="0" i="1" smtClean="0">
                          <a:latin typeface="Cambria Math" panose="02040503050406030204" pitchFamily="18" charset="0"/>
                        </a:rPr>
                        <m:t>=</m:t>
                      </m:r>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 </m:t>
                      </m:r>
                      <m:r>
                        <a:rPr lang="en-US" altLang="zh-CN" sz="1600" i="1">
                          <a:latin typeface="Cambria Math" panose="02040503050406030204" pitchFamily="18" charset="0"/>
                        </a:rPr>
                        <m:t>𝑑</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𝜔</m:t>
                          </m:r>
                        </m:e>
                        <m:sub>
                          <m:r>
                            <a:rPr lang="en-US" altLang="zh-CN" sz="1600" b="0" i="1" smtClean="0">
                              <a:latin typeface="Cambria Math" panose="02040503050406030204" pitchFamily="18" charset="0"/>
                            </a:rPr>
                            <m:t>2</m:t>
                          </m:r>
                        </m:sub>
                      </m:sSub>
                    </m:oMath>
                  </m:oMathPara>
                </a14:m>
                <a:endParaRPr lang="en-US" altLang="zh-CN" sz="1600" dirty="0">
                  <a:latin typeface="+mn-ea"/>
                </a:endParaRPr>
              </a:p>
            </p:txBody>
          </p:sp>
        </mc:Choice>
        <mc:Fallback xmlns="">
          <p:sp>
            <p:nvSpPr>
              <p:cNvPr id="10" name="文本框 9">
                <a:extLst>
                  <a:ext uri="{FF2B5EF4-FFF2-40B4-BE49-F238E27FC236}">
                    <a16:creationId xmlns:a16="http://schemas.microsoft.com/office/drawing/2014/main" id="{E6607D7E-C617-820C-2A16-108967D4B833}"/>
                  </a:ext>
                </a:extLst>
              </p:cNvPr>
              <p:cNvSpPr txBox="1">
                <a:spLocks noRot="1" noChangeAspect="1" noMove="1" noResize="1" noEditPoints="1" noAdjustHandles="1" noChangeArrowheads="1" noChangeShapeType="1" noTextEdit="1"/>
              </p:cNvSpPr>
              <p:nvPr/>
            </p:nvSpPr>
            <p:spPr>
              <a:xfrm>
                <a:off x="250320" y="4760112"/>
                <a:ext cx="6152882" cy="1443729"/>
              </a:xfrm>
              <a:prstGeom prst="rect">
                <a:avLst/>
              </a:prstGeom>
              <a:blipFill>
                <a:blip r:embed="rId5"/>
                <a:stretch>
                  <a:fillRect l="-496" t="-1266" b="-4219"/>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EEC2CE40-5D8E-1E23-48E6-37B20F310F49}"/>
              </a:ext>
            </a:extLst>
          </p:cNvPr>
          <p:cNvSpPr/>
          <p:nvPr/>
        </p:nvSpPr>
        <p:spPr>
          <a:xfrm>
            <a:off x="7347397" y="2550017"/>
            <a:ext cx="3928057" cy="650383"/>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09203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F624D-A57E-9495-9F8D-DF2F5552BF1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3AF5759-F850-92AC-CDA0-BB688CA3A871}"/>
              </a:ext>
            </a:extLst>
          </p:cNvPr>
          <p:cNvSpPr>
            <a:spLocks noGrp="1"/>
          </p:cNvSpPr>
          <p:nvPr>
            <p:ph type="title" idx="1"/>
          </p:nvPr>
        </p:nvSpPr>
        <p:spPr/>
        <p:txBody>
          <a:bodyPr/>
          <a:lstStyle/>
          <a:p>
            <a:r>
              <a:rPr lang="zh-CN" altLang="en-US" dirty="0"/>
              <a:t>路径积分  </a:t>
            </a:r>
            <a:r>
              <a:rPr lang="en-US" altLang="zh-CN" dirty="0"/>
              <a:t>——  </a:t>
            </a:r>
            <a:r>
              <a:rPr lang="zh-CN" altLang="en-US" dirty="0"/>
              <a:t>测度的改变</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05243F0-DFB7-D39C-5568-92104C7D66A7}"/>
                  </a:ext>
                </a:extLst>
              </p:cNvPr>
              <p:cNvSpPr txBox="1"/>
              <p:nvPr/>
            </p:nvSpPr>
            <p:spPr>
              <a:xfrm>
                <a:off x="127126" y="1255993"/>
                <a:ext cx="7052001" cy="1416670"/>
              </a:xfrm>
              <a:prstGeom prst="rect">
                <a:avLst/>
              </a:prstGeom>
              <a:noFill/>
            </p:spPr>
            <p:txBody>
              <a:bodyPr wrap="square">
                <a:spAutoFit/>
              </a:bodyPr>
              <a:lstStyle/>
              <a:p>
                <a:pPr/>
                <a14:m>
                  <m:oMathPara xmlns:m="http://schemas.openxmlformats.org/officeDocument/2006/math">
                    <m:o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𝐼</m:t>
                          </m:r>
                        </m:e>
                        <m:sub>
                          <m:r>
                            <a:rPr lang="en-US" altLang="zh-CN" sz="1600" b="0" i="1" smtClean="0">
                              <a:latin typeface="Cambria Math" panose="02040503050406030204" pitchFamily="18" charset="0"/>
                            </a:rPr>
                            <m:t>4</m:t>
                          </m:r>
                        </m:sub>
                      </m:sSub>
                      <m:r>
                        <a:rPr lang="en-US" altLang="zh-CN" sz="1600" b="0" i="1" smtClean="0">
                          <a:latin typeface="Cambria Math" panose="02040503050406030204" pitchFamily="18" charset="0"/>
                        </a:rPr>
                        <m:t>=</m:t>
                      </m:r>
                      <m:nary>
                        <m:naryPr>
                          <m:supHide m:val="on"/>
                          <m:ctrlPr>
                            <a:rPr lang="zh-CN" altLang="en-US" sz="1600" b="0" i="1" dirty="0">
                              <a:latin typeface="Cambria Math" panose="02040503050406030204" pitchFamily="18" charset="0"/>
                            </a:rPr>
                          </m:ctrlPr>
                        </m:naryPr>
                        <m:sub>
                          <m:sSub>
                            <m:sSubPr>
                              <m:ctrlPr>
                                <a:rPr lang="zh-CN" altLang="en-US" sz="1600" b="0" i="1" dirty="0">
                                  <a:latin typeface="Cambria Math" panose="02040503050406030204" pitchFamily="18" charset="0"/>
                                </a:rPr>
                              </m:ctrlPr>
                            </m:sSubPr>
                            <m:e>
                              <m:r>
                                <a:rPr lang="zh-CN" altLang="en-US" sz="1600" b="0" i="1" dirty="0">
                                  <a:latin typeface="Cambria Math" panose="02040503050406030204" pitchFamily="18" charset="0"/>
                                </a:rPr>
                                <m:t>𝒫</m:t>
                              </m:r>
                            </m:e>
                            <m:sub>
                              <m:r>
                                <a:rPr lang="en-US" altLang="zh-CN" sz="1600" b="0" i="1" dirty="0" smtClean="0">
                                  <a:latin typeface="Cambria Math" panose="02040503050406030204" pitchFamily="18" charset="0"/>
                                </a:rPr>
                                <m:t>4</m:t>
                              </m:r>
                            </m:sub>
                          </m:sSub>
                        </m:sub>
                        <m:sup/>
                        <m:e>
                          <m:sSub>
                            <m:sSubPr>
                              <m:ctrlPr>
                                <a:rPr lang="en-US" altLang="zh-CN" sz="1600" b="0" i="0" smtClean="0">
                                  <a:latin typeface="Cambria Math" panose="02040503050406030204" pitchFamily="18" charset="0"/>
                                </a:rPr>
                              </m:ctrlPr>
                            </m:sSubPr>
                            <m:e>
                              <m:r>
                                <m:rPr>
                                  <m:sty m:val="p"/>
                                </m:rPr>
                                <a:rPr lang="en-US" altLang="zh-CN" sz="1600" b="0" i="0" smtClean="0">
                                  <a:latin typeface="Cambria Math" panose="02040503050406030204" pitchFamily="18" charset="0"/>
                                </a:rPr>
                                <m:t>Φ</m:t>
                              </m:r>
                            </m:e>
                            <m:sub>
                              <m:r>
                                <a:rPr lang="en-US" altLang="zh-CN" sz="1600" b="0" i="0" smtClean="0">
                                  <a:latin typeface="Cambria Math" panose="02040503050406030204" pitchFamily="18" charset="0"/>
                                </a:rPr>
                                <m:t>4</m:t>
                              </m:r>
                            </m:sub>
                          </m:sSub>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𝑝</m:t>
                                      </m:r>
                                    </m:e>
                                  </m:acc>
                                </m:e>
                                <m:sub>
                                  <m:r>
                                    <a:rPr lang="en-US" altLang="zh-CN" sz="1600" b="0" i="1" smtClean="0">
                                      <a:latin typeface="Cambria Math" panose="02040503050406030204" pitchFamily="18" charset="0"/>
                                    </a:rPr>
                                    <m:t>4</m:t>
                                  </m:r>
                                </m:sub>
                              </m:sSub>
                            </m:e>
                          </m:d>
                        </m:e>
                      </m:nary>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𝜇</m:t>
                          </m:r>
                        </m:e>
                        <m:sub>
                          <m:r>
                            <a:rPr lang="en-US" altLang="zh-CN" sz="1600" b="0" i="1" smtClean="0">
                              <a:latin typeface="Cambria Math" panose="02040503050406030204" pitchFamily="18" charset="0"/>
                            </a:rPr>
                            <m:t>4</m:t>
                          </m:r>
                        </m:sub>
                      </m:sSub>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𝑝</m:t>
                                  </m:r>
                                </m:e>
                              </m:acc>
                            </m:e>
                            <m:sub>
                              <m:r>
                                <a:rPr lang="en-US" altLang="zh-CN" sz="1600" b="0" i="1" smtClean="0">
                                  <a:latin typeface="Cambria Math" panose="02040503050406030204" pitchFamily="18" charset="0"/>
                                </a:rPr>
                                <m:t>4</m:t>
                              </m:r>
                            </m:sub>
                          </m:sSub>
                        </m:e>
                      </m:d>
                    </m:oMath>
                    <m:oMath>
                      <m:r>
                        <a:rPr lang="en-US" altLang="zh-CN" sz="1600" b="0" i="1" smtClean="0">
                          <a:solidFill>
                            <a:schemeClr val="tx1"/>
                          </a:solidFill>
                          <a:latin typeface="Cambria Math" panose="02040503050406030204" pitchFamily="18" charset="0"/>
                        </a:rPr>
                        <m:t>     </m:t>
                      </m:r>
                      <m:r>
                        <a:rPr lang="en-US" altLang="zh-CN" sz="1600" b="1" i="1" smtClean="0">
                          <a:solidFill>
                            <a:schemeClr val="tx1"/>
                          </a:solidFill>
                          <a:latin typeface="Cambria Math" panose="02040503050406030204" pitchFamily="18" charset="0"/>
                        </a:rPr>
                        <m:t>=</m:t>
                      </m:r>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𝑆</m:t>
                              </m:r>
                            </m:e>
                            <m:sup>
                              <m:r>
                                <a:rPr lang="en-US" altLang="zh-CN" sz="1600" i="1" dirty="0">
                                  <a:solidFill>
                                    <a:schemeClr val="tx1"/>
                                  </a:solidFill>
                                  <a:latin typeface="Cambria Math" panose="02040503050406030204" pitchFamily="18" charset="0"/>
                                </a:rPr>
                                <m:t>2</m:t>
                              </m:r>
                            </m:sup>
                          </m:sSup>
                        </m:sub>
                        <m:sup/>
                        <m:e>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𝑆</m:t>
                                  </m:r>
                                </m:e>
                                <m:sup>
                                  <m:r>
                                    <a:rPr lang="en-US" altLang="zh-CN" sz="1600" i="1" dirty="0">
                                      <a:solidFill>
                                        <a:schemeClr val="tx1"/>
                                      </a:solidFill>
                                      <a:latin typeface="Cambria Math" panose="02040503050406030204" pitchFamily="18" charset="0"/>
                                    </a:rPr>
                                    <m:t>2</m:t>
                                  </m:r>
                                </m:sup>
                              </m:sSup>
                            </m:sub>
                            <m:sup/>
                            <m:e>
                              <m:nary>
                                <m:naryPr>
                                  <m:supHide m:val="on"/>
                                  <m:ctrlPr>
                                    <a:rPr lang="en-US" altLang="zh-CN" sz="1600" b="0" i="1" dirty="0" smtClean="0">
                                      <a:solidFill>
                                        <a:schemeClr val="accent6">
                                          <a:lumMod val="75000"/>
                                        </a:schemeClr>
                                      </a:solidFill>
                                      <a:latin typeface="Cambria Math" panose="02040503050406030204" pitchFamily="18" charset="0"/>
                                    </a:rPr>
                                  </m:ctrlPr>
                                </m:naryPr>
                                <m:sub>
                                  <m:sSub>
                                    <m:sSubPr>
                                      <m:ctrlPr>
                                        <a:rPr lang="en-US" altLang="zh-CN" sz="1600" b="0" i="0" dirty="0" smtClean="0">
                                          <a:solidFill>
                                            <a:schemeClr val="accent6">
                                              <a:lumMod val="75000"/>
                                            </a:schemeClr>
                                          </a:solidFill>
                                          <a:latin typeface="Cambria Math" panose="02040503050406030204" pitchFamily="18" charset="0"/>
                                        </a:rPr>
                                      </m:ctrlPr>
                                    </m:sSubPr>
                                    <m:e>
                                      <m:r>
                                        <m:rPr>
                                          <m:sty m:val="p"/>
                                        </m:rPr>
                                        <a:rPr lang="en-US" altLang="zh-CN" sz="1600" b="0" i="0" dirty="0" smtClean="0">
                                          <a:solidFill>
                                            <a:schemeClr val="accent6">
                                              <a:lumMod val="75000"/>
                                            </a:schemeClr>
                                          </a:solidFill>
                                          <a:latin typeface="Cambria Math" panose="02040503050406030204" pitchFamily="18" charset="0"/>
                                        </a:rPr>
                                        <m:t>Ω</m:t>
                                      </m:r>
                                    </m:e>
                                    <m:sub>
                                      <m:r>
                                        <a:rPr lang="en-US" altLang="zh-CN" sz="1600" i="1" dirty="0">
                                          <a:solidFill>
                                            <a:schemeClr val="accent6">
                                              <a:lumMod val="75000"/>
                                            </a:schemeClr>
                                          </a:solidFill>
                                          <a:latin typeface="Cambria Math" panose="02040503050406030204" pitchFamily="18" charset="0"/>
                                        </a:rPr>
                                        <m:t>𝐸</m:t>
                                      </m:r>
                                    </m:sub>
                                  </m:sSub>
                                </m:sub>
                                <m:sup/>
                                <m:e>
                                  <m:limLow>
                                    <m:limLowPr>
                                      <m:ctrlPr>
                                        <a:rPr lang="en-US" altLang="zh-CN" sz="1600" i="1" dirty="0">
                                          <a:solidFill>
                                            <a:schemeClr val="tx1"/>
                                          </a:solidFill>
                                          <a:latin typeface="Cambria Math" panose="02040503050406030204" pitchFamily="18" charset="0"/>
                                        </a:rPr>
                                      </m:ctrlPr>
                                    </m:limLowPr>
                                    <m:e>
                                      <m:groupChr>
                                        <m:groupChrPr>
                                          <m:chr m:val="⏟"/>
                                          <m:pos m:val="bot"/>
                                          <m:vertJc m:val="top"/>
                                          <m:ctrlPr>
                                            <a:rPr lang="en-US" altLang="zh-CN" sz="1600" i="1" dirty="0">
                                              <a:solidFill>
                                                <a:schemeClr val="tx1"/>
                                              </a:solidFill>
                                              <a:latin typeface="Cambria Math" panose="02040503050406030204" pitchFamily="18" charset="0"/>
                                            </a:rPr>
                                          </m:ctrlPr>
                                        </m:groupChrPr>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1</m:t>
                                              </m:r>
                                            </m:sub>
                                          </m:sSub>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2</m:t>
                                                      </m:r>
                                                    </m:sub>
                                                  </m:sSub>
                                                </m:e>
                                              </m:func>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2</m:t>
                                              </m:r>
                                            </m:sub>
                                          </m:sSub>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3</m:t>
                                                      </m:r>
                                                    </m:sub>
                                                  </m:sSub>
                                                </m:e>
                                              </m:func>
                                            </m:e>
                                          </m:d>
                                        </m:e>
                                      </m:groupChr>
                                    </m:e>
                                    <m:lim>
                                      <m:eqArr>
                                        <m:eqArrPr>
                                          <m:ctrlPr>
                                            <a:rPr lang="en-US" altLang="zh-CN" sz="1600" i="1" dirty="0">
                                              <a:solidFill>
                                                <a:schemeClr val="tx1"/>
                                              </a:solidFill>
                                              <a:latin typeface="Cambria Math" panose="02040503050406030204" pitchFamily="18" charset="0"/>
                                            </a:rPr>
                                          </m:ctrlPr>
                                        </m:eqArrPr>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zh-CN" altLang="en-US" sz="1600" i="1" dirty="0">
                                              <a:solidFill>
                                                <a:schemeClr val="tx1"/>
                                              </a:solidFill>
                                              <a:latin typeface="Cambria Math" panose="02040503050406030204" pitchFamily="18" charset="0"/>
                                            </a:rPr>
                                            <m:t>两次方向散射</m:t>
                                          </m:r>
                                        </m:e>
                                      </m:eqArr>
                                    </m:lim>
                                  </m:limLow>
                                  <m:limLow>
                                    <m:limLowPr>
                                      <m:ctrlPr>
                                        <a:rPr lang="en-US" altLang="zh-CN" sz="1600" i="1" dirty="0">
                                          <a:solidFill>
                                            <a:schemeClr val="accent6">
                                              <a:lumMod val="75000"/>
                                            </a:schemeClr>
                                          </a:solidFill>
                                          <a:latin typeface="Cambria Math" panose="02040503050406030204" pitchFamily="18" charset="0"/>
                                        </a:rPr>
                                      </m:ctrlPr>
                                    </m:limLowPr>
                                    <m:e>
                                      <m:groupChr>
                                        <m:groupChrPr>
                                          <m:chr m:val="⏟"/>
                                          <m:pos m:val="bot"/>
                                          <m:vertJc m:val="top"/>
                                          <m:ctrlPr>
                                            <a:rPr lang="en-US" altLang="zh-CN" sz="1600" i="1" dirty="0">
                                              <a:solidFill>
                                                <a:schemeClr val="accent6">
                                                  <a:lumMod val="75000"/>
                                                </a:schemeClr>
                                              </a:solidFill>
                                              <a:latin typeface="Cambria Math" panose="02040503050406030204" pitchFamily="18" charset="0"/>
                                            </a:rPr>
                                          </m:ctrlPr>
                                        </m:groupChrPr>
                                        <m:e>
                                          <m:sSub>
                                            <m:sSubPr>
                                              <m:ctrlPr>
                                                <a:rPr lang="en-US" altLang="zh-CN" sz="1600" i="1" dirty="0">
                                                  <a:solidFill>
                                                    <a:schemeClr val="accent6">
                                                      <a:lumMod val="75000"/>
                                                    </a:schemeClr>
                                                  </a:solidFill>
                                                  <a:latin typeface="Cambria Math" panose="02040503050406030204" pitchFamily="18" charset="0"/>
                                                </a:rPr>
                                              </m:ctrlPr>
                                            </m:sSubPr>
                                            <m:e>
                                              <m:r>
                                                <a:rPr lang="en-US" altLang="zh-CN" sz="1600" i="1" dirty="0">
                                                  <a:solidFill>
                                                    <a:schemeClr val="accent6">
                                                      <a:lumMod val="75000"/>
                                                    </a:schemeClr>
                                                  </a:solidFill>
                                                  <a:latin typeface="Cambria Math" panose="02040503050406030204" pitchFamily="18" charset="0"/>
                                                </a:rPr>
                                                <m:t>𝑓</m:t>
                                              </m:r>
                                            </m:e>
                                            <m:sub>
                                              <m:r>
                                                <a:rPr lang="en-US" altLang="zh-CN" sz="1600" i="1" dirty="0">
                                                  <a:solidFill>
                                                    <a:schemeClr val="accent6">
                                                      <a:lumMod val="75000"/>
                                                    </a:schemeClr>
                                                  </a:solidFill>
                                                  <a:latin typeface="Cambria Math" panose="02040503050406030204" pitchFamily="18" charset="0"/>
                                                </a:rPr>
                                                <m:t>3</m:t>
                                              </m:r>
                                            </m:sub>
                                          </m:sSub>
                                          <m:r>
                                            <a:rPr lang="en-US" altLang="zh-CN" sz="1600" i="1" dirty="0">
                                              <a:solidFill>
                                                <a:schemeClr val="accent6">
                                                  <a:lumMod val="75000"/>
                                                </a:schemeClr>
                                              </a:solidFill>
                                              <a:latin typeface="Cambria Math" panose="02040503050406030204" pitchFamily="18" charset="0"/>
                                            </a:rPr>
                                            <m:t> </m:t>
                                          </m:r>
                                          <m:sSub>
                                            <m:sSubPr>
                                              <m:ctrlPr>
                                                <a:rPr lang="en-US" altLang="zh-CN" sz="1600" b="0" i="1" dirty="0" smtClean="0">
                                                  <a:solidFill>
                                                    <a:schemeClr val="accent6">
                                                      <a:lumMod val="75000"/>
                                                    </a:schemeClr>
                                                  </a:solidFill>
                                                  <a:latin typeface="Cambria Math" panose="02040503050406030204" pitchFamily="18" charset="0"/>
                                                </a:rPr>
                                              </m:ctrlPr>
                                            </m:sSubPr>
                                            <m:e>
                                              <m:r>
                                                <a:rPr lang="en-US" altLang="zh-CN" sz="1600" b="0" i="1" dirty="0" smtClean="0">
                                                  <a:solidFill>
                                                    <a:schemeClr val="accent6">
                                                      <a:lumMod val="75000"/>
                                                    </a:schemeClr>
                                                  </a:solidFill>
                                                  <a:latin typeface="Cambria Math" panose="02040503050406030204" pitchFamily="18" charset="0"/>
                                                </a:rPr>
                                                <m:t>𝑉</m:t>
                                              </m:r>
                                            </m:e>
                                            <m:sub>
                                              <m:r>
                                                <a:rPr lang="en-US" altLang="zh-CN" sz="1600" i="1" dirty="0">
                                                  <a:solidFill>
                                                    <a:schemeClr val="accent6">
                                                      <a:lumMod val="75000"/>
                                                    </a:schemeClr>
                                                  </a:solidFill>
                                                  <a:latin typeface="Cambria Math" panose="02040503050406030204" pitchFamily="18" charset="0"/>
                                                </a:rPr>
                                                <m:t>3</m:t>
                                              </m:r>
                                            </m:sub>
                                          </m:sSub>
                                          <m:r>
                                            <a:rPr lang="en-US" altLang="zh-CN" sz="1600" b="0" i="1" dirty="0" smtClean="0">
                                              <a:solidFill>
                                                <a:schemeClr val="accent6">
                                                  <a:lumMod val="75000"/>
                                                </a:schemeClr>
                                              </a:solidFill>
                                              <a:latin typeface="Cambria Math" panose="02040503050406030204" pitchFamily="18" charset="0"/>
                                            </a:rPr>
                                            <m:t> </m:t>
                                          </m:r>
                                          <m:d>
                                            <m:dPr>
                                              <m:begChr m:val="|"/>
                                              <m:endChr m:val="|"/>
                                              <m:ctrlPr>
                                                <a:rPr lang="en-US" altLang="zh-CN" sz="1600" b="0" i="1" dirty="0" smtClean="0">
                                                  <a:solidFill>
                                                    <a:schemeClr val="accent6">
                                                      <a:lumMod val="75000"/>
                                                    </a:schemeClr>
                                                  </a:solidFill>
                                                  <a:latin typeface="Cambria Math" panose="02040503050406030204" pitchFamily="18" charset="0"/>
                                                </a:rPr>
                                              </m:ctrlPr>
                                            </m:dPr>
                                            <m:e>
                                              <m:func>
                                                <m:funcPr>
                                                  <m:ctrlPr>
                                                    <a:rPr lang="en-US" altLang="zh-CN" sz="1600" b="0" i="0" dirty="0" smtClean="0">
                                                      <a:solidFill>
                                                        <a:schemeClr val="accent6">
                                                          <a:lumMod val="75000"/>
                                                        </a:schemeClr>
                                                      </a:solidFill>
                                                      <a:latin typeface="Cambria Math" panose="02040503050406030204" pitchFamily="18" charset="0"/>
                                                    </a:rPr>
                                                  </m:ctrlPr>
                                                </m:funcPr>
                                                <m:fName>
                                                  <m:r>
                                                    <m:rPr>
                                                      <m:sty m:val="p"/>
                                                    </m:rPr>
                                                    <a:rPr lang="en-US" altLang="zh-CN" sz="1600" b="0" i="0" dirty="0" smtClean="0">
                                                      <a:solidFill>
                                                        <a:schemeClr val="accent6">
                                                          <a:lumMod val="75000"/>
                                                        </a:schemeClr>
                                                      </a:solidFill>
                                                      <a:latin typeface="Cambria Math" panose="02040503050406030204" pitchFamily="18" charset="0"/>
                                                    </a:rPr>
                                                    <m:t>cos</m:t>
                                                  </m:r>
                                                </m:fName>
                                                <m:e>
                                                  <m:sSub>
                                                    <m:sSubPr>
                                                      <m:ctrlPr>
                                                        <a:rPr lang="en-US" altLang="zh-CN" sz="1600" b="0" i="1" dirty="0" smtClean="0">
                                                          <a:solidFill>
                                                            <a:schemeClr val="accent6">
                                                              <a:lumMod val="75000"/>
                                                            </a:schemeClr>
                                                          </a:solidFill>
                                                          <a:latin typeface="Cambria Math" panose="02040503050406030204" pitchFamily="18" charset="0"/>
                                                        </a:rPr>
                                                      </m:ctrlPr>
                                                    </m:sSubPr>
                                                    <m:e>
                                                      <m:r>
                                                        <a:rPr lang="en-US" altLang="zh-CN" sz="1600" b="0" i="1" dirty="0" smtClean="0">
                                                          <a:solidFill>
                                                            <a:schemeClr val="accent6">
                                                              <a:lumMod val="75000"/>
                                                            </a:schemeClr>
                                                          </a:solidFill>
                                                          <a:latin typeface="Cambria Math" panose="02040503050406030204" pitchFamily="18" charset="0"/>
                                                        </a:rPr>
                                                        <m:t>𝜃</m:t>
                                                      </m:r>
                                                    </m:e>
                                                    <m:sub>
                                                      <m:r>
                                                        <a:rPr lang="en-US" altLang="zh-CN" sz="1600" b="0" i="1" dirty="0" smtClean="0">
                                                          <a:solidFill>
                                                            <a:schemeClr val="accent6">
                                                              <a:lumMod val="75000"/>
                                                            </a:schemeClr>
                                                          </a:solidFill>
                                                          <a:latin typeface="Cambria Math" panose="02040503050406030204" pitchFamily="18" charset="0"/>
                                                        </a:rPr>
                                                        <m:t>4</m:t>
                                                      </m:r>
                                                    </m:sub>
                                                  </m:sSub>
                                                </m:e>
                                              </m:func>
                                            </m:e>
                                          </m:d>
                                          <m:r>
                                            <a:rPr lang="en-US" altLang="zh-CN" sz="1600" b="1" i="1" dirty="0">
                                              <a:solidFill>
                                                <a:schemeClr val="accent6">
                                                  <a:lumMod val="75000"/>
                                                </a:schemeClr>
                                              </a:solidFill>
                                              <a:latin typeface="Cambria Math" panose="02040503050406030204" pitchFamily="18" charset="0"/>
                                            </a:rPr>
                                            <m:t> </m:t>
                                          </m:r>
                                          <m:sSub>
                                            <m:sSubPr>
                                              <m:ctrlPr>
                                                <a:rPr lang="en-US" altLang="zh-CN" sz="1600" b="0" i="1" dirty="0">
                                                  <a:solidFill>
                                                    <a:schemeClr val="accent6">
                                                      <a:lumMod val="75000"/>
                                                    </a:schemeClr>
                                                  </a:solidFill>
                                                  <a:latin typeface="Cambria Math" panose="02040503050406030204" pitchFamily="18" charset="0"/>
                                                </a:rPr>
                                              </m:ctrlPr>
                                            </m:sSubPr>
                                            <m:e>
                                              <m:r>
                                                <a:rPr lang="en-US" altLang="zh-CN" sz="1600" b="0" i="1" dirty="0">
                                                  <a:solidFill>
                                                    <a:schemeClr val="accent6">
                                                      <a:lumMod val="75000"/>
                                                    </a:schemeClr>
                                                  </a:solidFill>
                                                  <a:latin typeface="Cambria Math" panose="02040503050406030204" pitchFamily="18" charset="0"/>
                                                </a:rPr>
                                                <m:t>𝐿</m:t>
                                              </m:r>
                                            </m:e>
                                            <m:sub>
                                              <m:r>
                                                <a:rPr lang="en-US" altLang="zh-CN" sz="1600" b="0" i="1" dirty="0">
                                                  <a:solidFill>
                                                    <a:schemeClr val="accent6">
                                                      <a:lumMod val="75000"/>
                                                    </a:schemeClr>
                                                  </a:solidFill>
                                                  <a:latin typeface="Cambria Math" panose="02040503050406030204" pitchFamily="18" charset="0"/>
                                                </a:rPr>
                                                <m:t>𝑒</m:t>
                                              </m:r>
                                            </m:sub>
                                          </m:sSub>
                                          <m:d>
                                            <m:dPr>
                                              <m:ctrlPr>
                                                <a:rPr lang="en-US" altLang="zh-CN" sz="1600" b="1" i="1" dirty="0">
                                                  <a:solidFill>
                                                    <a:schemeClr val="accent6">
                                                      <a:lumMod val="75000"/>
                                                    </a:schemeClr>
                                                  </a:solidFill>
                                                  <a:latin typeface="Cambria Math" panose="02040503050406030204" pitchFamily="18" charset="0"/>
                                                </a:rPr>
                                              </m:ctrlPr>
                                            </m:dPr>
                                            <m:e>
                                              <m:sSub>
                                                <m:sSubPr>
                                                  <m:ctrlPr>
                                                    <a:rPr lang="en-US" altLang="zh-CN" sz="1600" b="1" i="1" dirty="0">
                                                      <a:solidFill>
                                                        <a:schemeClr val="accent6">
                                                          <a:lumMod val="75000"/>
                                                        </a:schemeClr>
                                                      </a:solidFill>
                                                      <a:latin typeface="Cambria Math" panose="02040503050406030204" pitchFamily="18" charset="0"/>
                                                    </a:rPr>
                                                  </m:ctrlPr>
                                                </m:sSubPr>
                                                <m:e>
                                                  <m:r>
                                                    <a:rPr lang="en-US" altLang="zh-CN" sz="1600" b="1" i="1" dirty="0">
                                                      <a:solidFill>
                                                        <a:schemeClr val="accent6">
                                                          <a:lumMod val="75000"/>
                                                        </a:schemeClr>
                                                      </a:solidFill>
                                                      <a:latin typeface="Cambria Math" panose="02040503050406030204" pitchFamily="18" charset="0"/>
                                                    </a:rPr>
                                                    <m:t>𝒑</m:t>
                                                  </m:r>
                                                </m:e>
                                                <m:sub>
                                                  <m:r>
                                                    <a:rPr lang="en-US" altLang="zh-CN" sz="1600" b="1" i="1" dirty="0">
                                                      <a:solidFill>
                                                        <a:schemeClr val="accent6">
                                                          <a:lumMod val="75000"/>
                                                        </a:schemeClr>
                                                      </a:solidFill>
                                                      <a:latin typeface="Cambria Math" panose="02040503050406030204" pitchFamily="18" charset="0"/>
                                                    </a:rPr>
                                                    <m:t>𝟒</m:t>
                                                  </m:r>
                                                </m:sub>
                                              </m:sSub>
                                              <m:r>
                                                <a:rPr lang="en-US" altLang="zh-CN" sz="1600" b="1" i="1" dirty="0">
                                                  <a:solidFill>
                                                    <a:schemeClr val="accent6">
                                                      <a:lumMod val="75000"/>
                                                    </a:schemeClr>
                                                  </a:solidFill>
                                                  <a:latin typeface="Cambria Math" panose="02040503050406030204" pitchFamily="18" charset="0"/>
                                                </a:rPr>
                                                <m:t>→</m:t>
                                              </m:r>
                                              <m:sSub>
                                                <m:sSubPr>
                                                  <m:ctrlPr>
                                                    <a:rPr lang="en-US" altLang="zh-CN" sz="1600" b="1" i="1" dirty="0">
                                                      <a:solidFill>
                                                        <a:schemeClr val="accent6">
                                                          <a:lumMod val="75000"/>
                                                        </a:schemeClr>
                                                      </a:solidFill>
                                                      <a:latin typeface="Cambria Math" panose="02040503050406030204" pitchFamily="18" charset="0"/>
                                                    </a:rPr>
                                                  </m:ctrlPr>
                                                </m:sSubPr>
                                                <m:e>
                                                  <m:r>
                                                    <a:rPr lang="en-US" altLang="zh-CN" sz="1600" b="1" i="1" dirty="0">
                                                      <a:solidFill>
                                                        <a:schemeClr val="accent6">
                                                          <a:lumMod val="75000"/>
                                                        </a:schemeClr>
                                                      </a:solidFill>
                                                      <a:latin typeface="Cambria Math" panose="02040503050406030204" pitchFamily="18" charset="0"/>
                                                    </a:rPr>
                                                    <m:t>𝒑</m:t>
                                                  </m:r>
                                                </m:e>
                                                <m:sub>
                                                  <m:r>
                                                    <a:rPr lang="en-US" altLang="zh-CN" sz="1600" b="1" i="1" dirty="0">
                                                      <a:solidFill>
                                                        <a:schemeClr val="accent6">
                                                          <a:lumMod val="75000"/>
                                                        </a:schemeClr>
                                                      </a:solidFill>
                                                      <a:latin typeface="Cambria Math" panose="02040503050406030204" pitchFamily="18" charset="0"/>
                                                    </a:rPr>
                                                    <m:t>𝟑</m:t>
                                                  </m:r>
                                                </m:sub>
                                              </m:sSub>
                                            </m:e>
                                          </m:d>
                                        </m:e>
                                      </m:groupChr>
                                    </m:e>
                                    <m:lim>
                                      <m:eqArr>
                                        <m:eqArrPr>
                                          <m:ctrlPr>
                                            <a:rPr lang="en-US" altLang="zh-CN" sz="1600" i="1" dirty="0">
                                              <a:solidFill>
                                                <a:schemeClr val="tx1"/>
                                              </a:solidFill>
                                              <a:latin typeface="Cambria Math" panose="02040503050406030204" pitchFamily="18" charset="0"/>
                                            </a:rPr>
                                          </m:ctrlPr>
                                        </m:eqArrPr>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en-US" altLang="zh-CN" sz="1600" i="1" dirty="0">
                                              <a:solidFill>
                                                <a:schemeClr val="tx1"/>
                                              </a:solidFill>
                                              <a:latin typeface="Cambria Math" panose="02040503050406030204" pitchFamily="18" charset="0"/>
                                            </a:rPr>
                                            <m:t> </m:t>
                                          </m:r>
                                        </m:e>
                                        <m:e>
                                          <m:r>
                                            <a:rPr lang="zh-CN" altLang="en-US" sz="1600" i="1" dirty="0">
                                              <a:solidFill>
                                                <a:schemeClr val="tx1"/>
                                              </a:solidFill>
                                              <a:latin typeface="Cambria Math" panose="02040503050406030204" pitchFamily="18" charset="0"/>
                                            </a:rPr>
                                            <m:t>连接光源</m:t>
                                          </m:r>
                                        </m:e>
                                      </m:eqArr>
                                    </m:lim>
                                  </m:limLow>
                                  <m:r>
                                    <a:rPr lang="en-US" altLang="zh-CN" sz="1600" i="1" dirty="0" smtClean="0">
                                      <a:solidFill>
                                        <a:schemeClr val="accent6">
                                          <a:lumMod val="75000"/>
                                        </a:schemeClr>
                                      </a:solidFill>
                                      <a:latin typeface="Cambria Math" panose="02040503050406030204" pitchFamily="18" charset="0"/>
                                    </a:rPr>
                                    <m:t>𝑑</m:t>
                                  </m:r>
                                  <m:sSub>
                                    <m:sSubPr>
                                      <m:ctrlPr>
                                        <a:rPr lang="en-US" altLang="zh-CN" sz="1600" b="0" i="1" dirty="0" smtClean="0">
                                          <a:solidFill>
                                            <a:schemeClr val="accent6">
                                              <a:lumMod val="75000"/>
                                            </a:schemeClr>
                                          </a:solidFill>
                                          <a:latin typeface="Cambria Math" panose="02040503050406030204" pitchFamily="18" charset="0"/>
                                        </a:rPr>
                                      </m:ctrlPr>
                                    </m:sSubPr>
                                    <m:e>
                                      <m:r>
                                        <a:rPr lang="en-US" altLang="zh-CN" sz="1600" b="0" i="1" dirty="0" smtClean="0">
                                          <a:solidFill>
                                            <a:schemeClr val="accent6">
                                              <a:lumMod val="75000"/>
                                            </a:schemeClr>
                                          </a:solidFill>
                                          <a:latin typeface="Cambria Math" panose="02040503050406030204" pitchFamily="18" charset="0"/>
                                        </a:rPr>
                                        <m:t>𝜔</m:t>
                                      </m:r>
                                    </m:e>
                                    <m:sub>
                                      <m:r>
                                        <a:rPr lang="en-US" altLang="zh-CN" sz="1600" b="0" i="1" dirty="0" smtClean="0">
                                          <a:solidFill>
                                            <a:schemeClr val="accent6">
                                              <a:lumMod val="75000"/>
                                            </a:schemeClr>
                                          </a:solidFill>
                                          <a:latin typeface="Cambria Math" panose="02040503050406030204" pitchFamily="18" charset="0"/>
                                        </a:rPr>
                                        <m:t>4</m:t>
                                      </m:r>
                                    </m:sub>
                                  </m:sSub>
                                </m:e>
                              </m:nary>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3</m:t>
                                  </m:r>
                                </m:sub>
                              </m:sSub>
                            </m:e>
                          </m:nary>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2</m:t>
                              </m:r>
                            </m:sub>
                          </m:sSub>
                        </m:e>
                      </m:nary>
                    </m:oMath>
                  </m:oMathPara>
                </a14:m>
                <a:endParaRPr lang="en-US" altLang="zh-CN" sz="1600" dirty="0"/>
              </a:p>
            </p:txBody>
          </p:sp>
        </mc:Choice>
        <mc:Fallback xmlns="">
          <p:sp>
            <p:nvSpPr>
              <p:cNvPr id="3" name="文本框 2">
                <a:extLst>
                  <a:ext uri="{FF2B5EF4-FFF2-40B4-BE49-F238E27FC236}">
                    <a16:creationId xmlns:a16="http://schemas.microsoft.com/office/drawing/2014/main" id="{605243F0-DFB7-D39C-5568-92104C7D66A7}"/>
                  </a:ext>
                </a:extLst>
              </p:cNvPr>
              <p:cNvSpPr txBox="1">
                <a:spLocks noRot="1" noChangeAspect="1" noMove="1" noResize="1" noEditPoints="1" noAdjustHandles="1" noChangeArrowheads="1" noChangeShapeType="1" noTextEdit="1"/>
              </p:cNvSpPr>
              <p:nvPr/>
            </p:nvSpPr>
            <p:spPr>
              <a:xfrm>
                <a:off x="127126" y="1255993"/>
                <a:ext cx="7052001" cy="1416670"/>
              </a:xfrm>
              <a:prstGeom prst="rect">
                <a:avLst/>
              </a:prstGeom>
              <a:blipFill>
                <a:blip r:embed="rId2"/>
                <a:stretch>
                  <a:fillRect l="-3025" t="-70690" b="-43966"/>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F498D203-EF11-390E-EE18-2ACA7645D0FF}"/>
              </a:ext>
            </a:extLst>
          </p:cNvPr>
          <p:cNvPicPr>
            <a:picLocks noChangeAspect="1"/>
          </p:cNvPicPr>
          <p:nvPr/>
        </p:nvPicPr>
        <p:blipFill>
          <a:blip r:embed="rId3"/>
          <a:stretch>
            <a:fillRect/>
          </a:stretch>
        </p:blipFill>
        <p:spPr>
          <a:xfrm>
            <a:off x="7235217" y="1080000"/>
            <a:ext cx="4508732" cy="51501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4384C82-4082-F479-CD35-2342E13BDA09}"/>
                  </a:ext>
                </a:extLst>
              </p:cNvPr>
              <p:cNvSpPr txBox="1"/>
              <p:nvPr/>
            </p:nvSpPr>
            <p:spPr>
              <a:xfrm>
                <a:off x="288112" y="2979697"/>
                <a:ext cx="6499054" cy="2939907"/>
              </a:xfrm>
              <a:prstGeom prst="rect">
                <a:avLst/>
              </a:prstGeom>
              <a:noFill/>
            </p:spPr>
            <p:txBody>
              <a:bodyPr wrap="square">
                <a:spAutoFit/>
              </a:bodyPr>
              <a:lstStyle/>
              <a:p>
                <a:r>
                  <a:rPr lang="zh-CN" altLang="en-US" dirty="0">
                    <a:latin typeface="Cambria Math" panose="02040503050406030204" pitchFamily="18" charset="0"/>
                  </a:rPr>
                  <a:t>         新的测度定义：</a:t>
                </a:r>
                <a:endParaRPr lang="en-US" altLang="zh-CN" dirty="0">
                  <a:latin typeface="Cambria Math" panose="02040503050406030204" pitchFamily="18" charset="0"/>
                </a:endParaRPr>
              </a:p>
              <a:p>
                <a:pPr/>
                <a14:m>
                  <m:oMathPara xmlns:m="http://schemas.openxmlformats.org/officeDocument/2006/math">
                    <m:oMath>
                      <m:r>
                        <a:rPr lang="en-US" altLang="zh-CN" i="1" dirty="0" smtClean="0">
                          <a:latin typeface="Cambria Math" panose="02040503050406030204" pitchFamily="18" charset="0"/>
                        </a:rPr>
                        <m:t>𝑑</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𝜇</m:t>
                          </m:r>
                        </m:e>
                        <m:sub>
                          <m:r>
                            <a:rPr lang="en-US" altLang="zh-CN" i="1">
                              <a:latin typeface="Cambria Math" panose="02040503050406030204" pitchFamily="18" charset="0"/>
                            </a:rPr>
                            <m:t>𝑖</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i="1">
                          <a:latin typeface="Cambria Math" panose="02040503050406030204" pitchFamily="18" charset="0"/>
                        </a:rPr>
                        <m:t>=</m:t>
                      </m:r>
                      <m:r>
                        <a:rPr lang="en-US" altLang="zh-CN" i="1">
                          <a:latin typeface="Cambria Math" panose="02040503050406030204" pitchFamily="18" charset="0"/>
                        </a:rPr>
                        <m:t>𝑑</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𝑑</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 </m:t>
                      </m:r>
                      <m:r>
                        <a:rPr lang="en-US" altLang="zh-CN" i="1">
                          <a:latin typeface="Cambria Math" panose="02040503050406030204" pitchFamily="18" charset="0"/>
                        </a:rPr>
                        <m:t>𝑑</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2</m:t>
                          </m:r>
                        </m:sub>
                      </m:sSub>
                    </m:oMath>
                  </m:oMathPara>
                </a14:m>
                <a:endParaRPr lang="en-US" altLang="zh-CN" dirty="0">
                  <a:latin typeface="+mn-ea"/>
                </a:endParaRPr>
              </a:p>
              <a:p>
                <a:endParaRPr lang="en-US" altLang="zh-CN" dirty="0">
                  <a:latin typeface="+mn-ea"/>
                </a:endParaRPr>
              </a:p>
              <a:p>
                <a:r>
                  <a:rPr lang="en-US" altLang="zh-CN" dirty="0">
                    <a:latin typeface="+mn-ea"/>
                  </a:rPr>
                  <a:t>         </a:t>
                </a:r>
                <a:r>
                  <a:rPr lang="zh-CN" altLang="en-US" dirty="0">
                    <a:latin typeface="+mn-ea"/>
                  </a:rPr>
                  <a:t>同样的，对于路径空间</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oMath>
                </a14:m>
                <a:r>
                  <a:rPr lang="zh-CN" altLang="en-US" dirty="0">
                    <a:latin typeface="+mn-ea"/>
                  </a:rPr>
                  <a:t>，我们将其原来的测度</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𝜇</m:t>
                        </m:r>
                      </m:e>
                      <m:sub>
                        <m:r>
                          <a:rPr lang="en-US" altLang="zh-CN" i="1">
                            <a:latin typeface="Cambria Math" panose="02040503050406030204" pitchFamily="18" charset="0"/>
                          </a:rPr>
                          <m:t>𝑖</m:t>
                        </m:r>
                      </m:sub>
                      <m:sup>
                        <m:r>
                          <a:rPr lang="en-US" altLang="zh-CN" i="1">
                            <a:latin typeface="Cambria Math" panose="02040503050406030204" pitchFamily="18" charset="0"/>
                          </a:rPr>
                          <m:t>𝐴</m:t>
                        </m:r>
                        <m:r>
                          <a:rPr lang="en-US" altLang="zh-CN" i="1">
                            <a:latin typeface="Cambria Math" panose="02040503050406030204" pitchFamily="18" charset="0"/>
                          </a:rPr>
                          <m:t>𝜔</m:t>
                        </m:r>
                      </m:sup>
                    </m:sSubSup>
                  </m:oMath>
                </a14:m>
                <a:r>
                  <a:rPr lang="zh-CN" altLang="en-US" dirty="0">
                    <a:latin typeface="+mn-ea"/>
                  </a:rPr>
                  <a:t>对应的光照贡献密度</a:t>
                </a:r>
                <a14:m>
                  <m:oMath xmlns:m="http://schemas.openxmlformats.org/officeDocument/2006/math">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m:rPr>
                            <m:sty m:val="p"/>
                          </m:rPr>
                          <a:rPr lang="en-US" altLang="zh-CN">
                            <a:latin typeface="Cambria Math" panose="02040503050406030204" pitchFamily="18" charset="0"/>
                          </a:rPr>
                          <m:t>i</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oMath>
                </a14:m>
                <a:r>
                  <a:rPr lang="zh-CN" altLang="en-US" dirty="0">
                    <a:latin typeface="+mn-ea"/>
                  </a:rPr>
                  <a:t>改名为</a:t>
                </a:r>
                <a14:m>
                  <m:oMath xmlns:m="http://schemas.openxmlformats.org/officeDocument/2006/math">
                    <m:sSubSup>
                      <m:sSubSupPr>
                        <m:ctrlPr>
                          <a:rPr lang="en-US" altLang="zh-CN">
                            <a:latin typeface="Cambria Math" panose="02040503050406030204" pitchFamily="18" charset="0"/>
                          </a:rPr>
                        </m:ctrlPr>
                      </m:sSubSupPr>
                      <m:e>
                        <m:r>
                          <m:rPr>
                            <m:sty m:val="p"/>
                          </m:rPr>
                          <a:rPr lang="en-US" altLang="zh-CN">
                            <a:latin typeface="Cambria Math" panose="02040503050406030204" pitchFamily="18" charset="0"/>
                          </a:rPr>
                          <m:t>Φ</m:t>
                        </m:r>
                      </m:e>
                      <m:sub>
                        <m:r>
                          <m:rPr>
                            <m:sty m:val="p"/>
                          </m:rPr>
                          <a:rPr lang="en-US" altLang="zh-CN">
                            <a:latin typeface="Cambria Math" panose="02040503050406030204" pitchFamily="18" charset="0"/>
                          </a:rPr>
                          <m:t>i</m:t>
                        </m:r>
                      </m:sub>
                      <m:sup>
                        <m:r>
                          <a:rPr lang="en-US" altLang="zh-CN" b="0" i="1" smtClean="0">
                            <a:latin typeface="Cambria Math" panose="02040503050406030204" pitchFamily="18" charset="0"/>
                          </a:rPr>
                          <m:t>𝐴</m:t>
                        </m:r>
                        <m:r>
                          <a:rPr lang="en-US" altLang="zh-CN" b="0" i="1" smtClean="0">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oMath>
                </a14:m>
                <a:r>
                  <a:rPr lang="zh-CN" altLang="en-US" dirty="0">
                    <a:latin typeface="+mn-ea"/>
                  </a:rPr>
                  <a:t>，而新的测度</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𝜇</m:t>
                        </m:r>
                      </m:e>
                      <m:sub>
                        <m:r>
                          <a:rPr lang="en-US" altLang="zh-CN" i="1">
                            <a:latin typeface="Cambria Math" panose="02040503050406030204" pitchFamily="18" charset="0"/>
                          </a:rPr>
                          <m:t>𝑖</m:t>
                        </m:r>
                      </m:sub>
                      <m:sup>
                        <m:r>
                          <a:rPr lang="en-US" altLang="zh-CN" i="1">
                            <a:latin typeface="Cambria Math" panose="02040503050406030204" pitchFamily="18" charset="0"/>
                          </a:rPr>
                          <m:t>𝜔</m:t>
                        </m:r>
                      </m:sup>
                    </m:sSubSup>
                  </m:oMath>
                </a14:m>
                <a:r>
                  <a:rPr lang="zh-CN" altLang="en-US" dirty="0">
                    <a:latin typeface="+mn-ea"/>
                  </a:rPr>
                  <a:t>对应的光照贡献密度为：</a:t>
                </a:r>
                <a:endParaRPr lang="en-US" altLang="zh-CN" i="1" dirty="0">
                  <a:latin typeface="Cambria Math" panose="02040503050406030204" pitchFamily="18" charset="0"/>
                </a:endParaRPr>
              </a:p>
              <a:p>
                <a:pPr/>
                <a14:m>
                  <m:oMathPara xmlns:m="http://schemas.openxmlformats.org/officeDocument/2006/math">
                    <m:oMath>
                      <m:sSubSup>
                        <m:sSubSupPr>
                          <m:ctrlPr>
                            <a:rPr lang="en-US" altLang="zh-CN">
                              <a:latin typeface="Cambria Math" panose="02040503050406030204" pitchFamily="18" charset="0"/>
                            </a:rPr>
                          </m:ctrlPr>
                        </m:sSubSupPr>
                        <m:e>
                          <m:r>
                            <m:rPr>
                              <m:sty m:val="p"/>
                            </m:rPr>
                            <a:rPr lang="en-US" altLang="zh-CN">
                              <a:latin typeface="Cambria Math" panose="02040503050406030204" pitchFamily="18" charset="0"/>
                            </a:rPr>
                            <m:t>Φ</m:t>
                          </m:r>
                        </m:e>
                        <m:sub>
                          <m:r>
                            <m:rPr>
                              <m:sty m:val="p"/>
                            </m:rPr>
                            <a:rPr lang="en-US" altLang="zh-CN" b="0" i="0" smtClean="0">
                              <a:latin typeface="Cambria Math" panose="02040503050406030204" pitchFamily="18" charset="0"/>
                            </a:rPr>
                            <m:t>i</m:t>
                          </m:r>
                        </m:sub>
                        <m:sup>
                          <m:r>
                            <a:rPr lang="en-US" altLang="zh-CN" b="0" i="1" smtClean="0">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b="0" i="1" smtClean="0">
                                  <a:latin typeface="Cambria Math" panose="02040503050406030204" pitchFamily="18" charset="0"/>
                                </a:rPr>
                                <m:t>𝑖</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𝑒</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𝒑</m:t>
                              </m:r>
                            </m:e>
                            <m:sub>
                              <m:r>
                                <a:rPr lang="en-US" altLang="zh-CN" b="1" i="1" smtClean="0">
                                  <a:latin typeface="Cambria Math" panose="02040503050406030204" pitchFamily="18" charset="0"/>
                                </a:rPr>
                                <m:t>𝒊</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𝒑</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m:rPr>
                              <m:brk m:alnAt="23"/>
                            </m:rPr>
                            <a:rPr lang="en-US" altLang="zh-CN" b="0" i="1" smtClean="0">
                              <a:latin typeface="Cambria Math" panose="02040503050406030204" pitchFamily="18" charset="0"/>
                            </a:rPr>
                            <m:t>=</m:t>
                          </m:r>
                          <m:r>
                            <m:rPr>
                              <m:brk m:alnAt="23"/>
                            </m:rPr>
                            <a:rPr lang="en-US" altLang="zh-CN" b="0" i="1" smtClean="0">
                              <a:latin typeface="Cambria Math" panose="02040503050406030204" pitchFamily="18" charset="0"/>
                            </a:rPr>
                            <m:t>1</m:t>
                          </m:r>
                        </m:sub>
                        <m:sup>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𝑘</m:t>
                              </m:r>
                            </m:sub>
                          </m:sSub>
                          <m:d>
                            <m:dPr>
                              <m:begChr m:val="|"/>
                              <m:endChr m:val="|"/>
                              <m:ctrlPr>
                                <a:rPr lang="en-US" altLang="zh-CN" b="0" i="1" smtClean="0">
                                  <a:latin typeface="Cambria Math" panose="02040503050406030204" pitchFamily="18" charset="0"/>
                                </a:rPr>
                              </m:ctrlPr>
                            </m:dPr>
                            <m:e>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cos</m:t>
                                  </m:r>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e>
                              </m:func>
                            </m:e>
                          </m:d>
                        </m:e>
                      </m:nary>
                    </m:oMath>
                  </m:oMathPara>
                </a14:m>
                <a:endParaRPr lang="en-US" altLang="zh-CN" dirty="0">
                  <a:latin typeface="+mn-ea"/>
                </a:endParaRPr>
              </a:p>
              <a:p>
                <a:pPr>
                  <a:spcBef>
                    <a:spcPts val="800"/>
                  </a:spcBef>
                </a:pPr>
                <a:r>
                  <a:rPr lang="zh-CN" altLang="en-US" dirty="0">
                    <a:latin typeface="+mn-ea"/>
                  </a:rPr>
                  <a:t>         并且为了符号简便，后续所有的</a:t>
                </a:r>
                <a14:m>
                  <m:oMath xmlns:m="http://schemas.openxmlformats.org/officeDocument/2006/math">
                    <m:sSub>
                      <m:sSubPr>
                        <m:ctrlPr>
                          <a:rPr lang="en-US" altLang="zh-CN" i="0" dirty="0" smtClean="0">
                            <a:latin typeface="Cambria Math" panose="02040503050406030204" pitchFamily="18" charset="0"/>
                          </a:rPr>
                        </m:ctrlPr>
                      </m:sSubPr>
                      <m:e>
                        <m:r>
                          <m:rPr>
                            <m:sty m:val="p"/>
                          </m:rPr>
                          <a:rPr lang="en-US" altLang="zh-CN" i="0" dirty="0" smtClean="0">
                            <a:latin typeface="Cambria Math" panose="02040503050406030204" pitchFamily="18" charset="0"/>
                          </a:rPr>
                          <m:t>Φ</m:t>
                        </m:r>
                      </m:e>
                      <m:sub>
                        <m:r>
                          <a:rPr lang="en-US" altLang="zh-CN" b="0" i="1" dirty="0" smtClean="0">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oMath>
                </a14:m>
                <a:r>
                  <a:rPr lang="zh-CN" altLang="en-US" dirty="0">
                    <a:latin typeface="+mn-ea"/>
                  </a:rPr>
                  <a:t>指的都是</a:t>
                </a:r>
                <a14:m>
                  <m:oMath xmlns:m="http://schemas.openxmlformats.org/officeDocument/2006/math">
                    <m:sSubSup>
                      <m:sSubSupPr>
                        <m:ctrlPr>
                          <a:rPr lang="en-US" altLang="zh-CN">
                            <a:latin typeface="Cambria Math" panose="02040503050406030204" pitchFamily="18" charset="0"/>
                          </a:rPr>
                        </m:ctrlPr>
                      </m:sSubSupPr>
                      <m:e>
                        <m:r>
                          <m:rPr>
                            <m:sty m:val="p"/>
                          </m:rPr>
                          <a:rPr lang="en-US" altLang="zh-CN">
                            <a:latin typeface="Cambria Math" panose="02040503050406030204" pitchFamily="18" charset="0"/>
                          </a:rPr>
                          <m:t>Φ</m:t>
                        </m:r>
                      </m:e>
                      <m:sub>
                        <m:r>
                          <m:rPr>
                            <m:sty m:val="p"/>
                          </m:rPr>
                          <a:rPr lang="en-US" altLang="zh-CN">
                            <a:latin typeface="Cambria Math" panose="02040503050406030204" pitchFamily="18" charset="0"/>
                          </a:rPr>
                          <m:t>i</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oMath>
                </a14:m>
                <a:r>
                  <a:rPr lang="zh-CN" altLang="en-US" dirty="0">
                    <a:latin typeface="+mn-ea"/>
                  </a:rPr>
                  <a:t>。</a:t>
                </a:r>
                <a:endParaRPr lang="en-US" altLang="zh-CN" dirty="0">
                  <a:latin typeface="+mn-ea"/>
                </a:endParaRPr>
              </a:p>
            </p:txBody>
          </p:sp>
        </mc:Choice>
        <mc:Fallback xmlns="">
          <p:sp>
            <p:nvSpPr>
              <p:cNvPr id="10" name="文本框 9">
                <a:extLst>
                  <a:ext uri="{FF2B5EF4-FFF2-40B4-BE49-F238E27FC236}">
                    <a16:creationId xmlns:a16="http://schemas.microsoft.com/office/drawing/2014/main" id="{C4384C82-4082-F479-CD35-2342E13BDA09}"/>
                  </a:ext>
                </a:extLst>
              </p:cNvPr>
              <p:cNvSpPr txBox="1">
                <a:spLocks noRot="1" noChangeAspect="1" noMove="1" noResize="1" noEditPoints="1" noAdjustHandles="1" noChangeArrowheads="1" noChangeShapeType="1" noTextEdit="1"/>
              </p:cNvSpPr>
              <p:nvPr/>
            </p:nvSpPr>
            <p:spPr>
              <a:xfrm>
                <a:off x="288112" y="2979697"/>
                <a:ext cx="6499054" cy="2939907"/>
              </a:xfrm>
              <a:prstGeom prst="rect">
                <a:avLst/>
              </a:prstGeom>
              <a:blipFill>
                <a:blip r:embed="rId4"/>
                <a:stretch>
                  <a:fillRect l="-750" t="-1452" r="-844" b="-2905"/>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11025177-8CDC-AD6D-ADDD-56AD2DB8CFDE}"/>
              </a:ext>
            </a:extLst>
          </p:cNvPr>
          <p:cNvSpPr/>
          <p:nvPr/>
        </p:nvSpPr>
        <p:spPr>
          <a:xfrm>
            <a:off x="7347397" y="2550017"/>
            <a:ext cx="4256468" cy="189963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657005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6D910-D54F-A08D-0BB1-2AF0FF89F54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E7CF197-8CA4-EDA0-B775-415576DC1FEA}"/>
              </a:ext>
            </a:extLst>
          </p:cNvPr>
          <p:cNvSpPr>
            <a:spLocks noGrp="1"/>
          </p:cNvSpPr>
          <p:nvPr>
            <p:ph type="title" idx="1"/>
          </p:nvPr>
        </p:nvSpPr>
        <p:spPr/>
        <p:txBody>
          <a:bodyPr/>
          <a:lstStyle/>
          <a:p>
            <a:r>
              <a:rPr lang="zh-CN" altLang="en-US" dirty="0"/>
              <a:t>路径积分  </a:t>
            </a:r>
            <a:r>
              <a:rPr lang="en-US" altLang="zh-CN" dirty="0"/>
              <a:t>——  </a:t>
            </a:r>
            <a:r>
              <a:rPr lang="zh-CN" altLang="en-US" dirty="0"/>
              <a:t>多重重要性采样</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A54D47D-DC4C-7644-3A4E-BBB1D5627FC2}"/>
                  </a:ext>
                </a:extLst>
              </p:cNvPr>
              <p:cNvSpPr txBox="1"/>
              <p:nvPr/>
            </p:nvSpPr>
            <p:spPr>
              <a:xfrm>
                <a:off x="298360" y="1217732"/>
                <a:ext cx="11595280" cy="5311454"/>
              </a:xfrm>
              <a:prstGeom prst="rect">
                <a:avLst/>
              </a:prstGeom>
              <a:noFill/>
            </p:spPr>
            <p:txBody>
              <a:bodyPr wrap="square">
                <a:spAutoFit/>
              </a:bodyPr>
              <a:lstStyle/>
              <a:p>
                <a:pPr/>
                <a14:m>
                  <m:oMathPara xmlns:m="http://schemas.openxmlformats.org/officeDocument/2006/math">
                    <m:oMath>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𝛽</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−1</m:t>
                          </m:r>
                        </m:sub>
                      </m:sSub>
                      <m:r>
                        <a:rPr lang="en-US" altLang="zh-CN" sz="1800" b="0" i="1" dirty="0" smtClean="0">
                          <a:latin typeface="Cambria Math" panose="02040503050406030204" pitchFamily="18" charset="0"/>
                        </a:rPr>
                        <m:t>=</m:t>
                      </m:r>
                      <m:nary>
                        <m:naryPr>
                          <m:chr m:val="∏"/>
                          <m:ctrlPr>
                            <a:rPr lang="en-US" altLang="zh-CN" sz="1800" b="0" i="1" dirty="0" smtClean="0">
                              <a:latin typeface="Cambria Math" panose="02040503050406030204" pitchFamily="18" charset="0"/>
                            </a:rPr>
                          </m:ctrlPr>
                        </m:naryPr>
                        <m:sub>
                          <m:r>
                            <m:rPr>
                              <m:brk m:alnAt="23"/>
                            </m:rPr>
                            <a:rPr lang="en-US" altLang="zh-CN" sz="1800" b="0" i="1" dirty="0" smtClean="0">
                              <a:latin typeface="Cambria Math" panose="02040503050406030204" pitchFamily="18" charset="0"/>
                            </a:rPr>
                            <m:t>𝑘</m:t>
                          </m:r>
                          <m:r>
                            <m:rPr>
                              <m:brk m:alnAt="23"/>
                            </m:rPr>
                            <a:rPr lang="en-US" altLang="zh-CN" sz="1800" b="0" i="1" dirty="0" smtClean="0">
                              <a:latin typeface="Cambria Math" panose="02040503050406030204" pitchFamily="18" charset="0"/>
                            </a:rPr>
                            <m:t>=</m:t>
                          </m:r>
                          <m:r>
                            <m:rPr>
                              <m:brk m:alnAt="23"/>
                            </m:rPr>
                            <a:rPr lang="en-US" altLang="zh-CN" sz="1800" b="0" i="1" dirty="0" smtClean="0">
                              <a:latin typeface="Cambria Math" panose="02040503050406030204" pitchFamily="18" charset="0"/>
                            </a:rPr>
                            <m:t>1</m:t>
                          </m:r>
                        </m:sub>
                        <m:sup>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−2</m:t>
                          </m:r>
                        </m:sup>
                        <m:e>
                          <m:f>
                            <m:fPr>
                              <m:ctrlPr>
                                <a:rPr lang="en-US" altLang="zh-CN" sz="1800" b="0" i="1" dirty="0" smtClean="0">
                                  <a:latin typeface="Cambria Math" panose="02040503050406030204" pitchFamily="18" charset="0"/>
                                </a:rPr>
                              </m:ctrlPr>
                            </m:fPr>
                            <m:num>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𝑓</m:t>
                                  </m:r>
                                </m:e>
                                <m:sub>
                                  <m:r>
                                    <a:rPr lang="en-US" altLang="zh-CN" sz="1800" b="0" i="1" dirty="0" smtClean="0">
                                      <a:latin typeface="Cambria Math" panose="02040503050406030204" pitchFamily="18" charset="0"/>
                                    </a:rPr>
                                    <m:t>𝑘</m:t>
                                  </m:r>
                                </m:sub>
                              </m:sSub>
                              <m:r>
                                <a:rPr lang="en-US" altLang="zh-CN" sz="1800" b="0" i="1" dirty="0" smtClean="0">
                                  <a:latin typeface="Cambria Math" panose="02040503050406030204" pitchFamily="18" charset="0"/>
                                </a:rPr>
                                <m:t> </m:t>
                              </m:r>
                              <m:d>
                                <m:dPr>
                                  <m:begChr m:val="|"/>
                                  <m:endChr m:val="|"/>
                                  <m:ctrlPr>
                                    <a:rPr lang="en-US" altLang="zh-CN" sz="1800" b="0" i="1" dirty="0" smtClean="0">
                                      <a:latin typeface="Cambria Math" panose="02040503050406030204" pitchFamily="18" charset="0"/>
                                    </a:rPr>
                                  </m:ctrlPr>
                                </m:dPr>
                                <m:e>
                                  <m:func>
                                    <m:funcPr>
                                      <m:ctrlPr>
                                        <a:rPr lang="en-US" altLang="zh-CN" sz="1800" b="0" i="0" dirty="0" smtClean="0">
                                          <a:latin typeface="Cambria Math" panose="02040503050406030204" pitchFamily="18" charset="0"/>
                                        </a:rPr>
                                      </m:ctrlPr>
                                    </m:funcPr>
                                    <m:fName>
                                      <m:r>
                                        <m:rPr>
                                          <m:sty m:val="p"/>
                                        </m:rPr>
                                        <a:rPr lang="en-US" altLang="zh-CN" sz="1800" b="0" i="0" dirty="0" smtClean="0">
                                          <a:latin typeface="Cambria Math" panose="02040503050406030204" pitchFamily="18" charset="0"/>
                                        </a:rPr>
                                        <m:t>cos</m:t>
                                      </m:r>
                                    </m:fName>
                                    <m:e>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𝜃</m:t>
                                          </m:r>
                                        </m:e>
                                        <m:sub>
                                          <m:r>
                                            <a:rPr lang="en-US" altLang="zh-CN" sz="1800" b="0" i="1" dirty="0" smtClean="0">
                                              <a:latin typeface="Cambria Math" panose="02040503050406030204" pitchFamily="18" charset="0"/>
                                            </a:rPr>
                                            <m:t>𝑘</m:t>
                                          </m:r>
                                          <m:r>
                                            <a:rPr lang="en-US" altLang="zh-CN" sz="1800" b="0" i="1" dirty="0" smtClean="0">
                                              <a:latin typeface="Cambria Math" panose="02040503050406030204" pitchFamily="18" charset="0"/>
                                            </a:rPr>
                                            <m:t>+1</m:t>
                                          </m:r>
                                        </m:sub>
                                      </m:sSub>
                                    </m:e>
                                  </m:func>
                                </m:e>
                              </m:d>
                            </m:num>
                            <m:den>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𝐵</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b="0" i="1" dirty="0" smtClean="0">
                                          <a:latin typeface="Cambria Math" panose="02040503050406030204" pitchFamily="18" charset="0"/>
                                        </a:rPr>
                                        <m:t>𝑘</m:t>
                                      </m:r>
                                      <m:r>
                                        <a:rPr lang="en-US" altLang="zh-CN" sz="1800" b="0" i="1" dirty="0" smtClean="0">
                                          <a:latin typeface="Cambria Math" panose="02040503050406030204" pitchFamily="18" charset="0"/>
                                        </a:rPr>
                                        <m:t>+1</m:t>
                                      </m:r>
                                    </m:sub>
                                  </m:sSub>
                                </m:e>
                              </m:d>
                            </m:den>
                          </m:f>
                        </m:e>
                      </m:nary>
                      <m:r>
                        <a:rPr lang="en-US" altLang="zh-CN" sz="1800"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𝑖</m:t>
                                  </m:r>
                                </m:sub>
                              </m:sSub>
                            </m:e>
                          </m:func>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i="1" dirty="0">
                              <a:latin typeface="Cambria Math" panose="02040503050406030204" pitchFamily="18" charset="0"/>
                            </a:rPr>
                            <m:t>𝑒</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sz="1800" b="0" i="1" dirty="0" smtClean="0">
                              <a:solidFill>
                                <a:schemeClr val="accent6">
                                  <a:lumMod val="50000"/>
                                </a:schemeClr>
                              </a:solidFill>
                              <a:latin typeface="Cambria Math" panose="02040503050406030204" pitchFamily="18" charset="0"/>
                            </a:rPr>
                          </m:ctrlPr>
                        </m:sSubPr>
                        <m:e>
                          <m:r>
                            <a:rPr lang="en-US" altLang="zh-CN" sz="1800" b="0" i="1" dirty="0" smtClean="0">
                              <a:solidFill>
                                <a:schemeClr val="accent6">
                                  <a:lumMod val="50000"/>
                                </a:schemeClr>
                              </a:solidFill>
                              <a:latin typeface="Cambria Math" panose="02040503050406030204" pitchFamily="18" charset="0"/>
                            </a:rPr>
                            <m:t>𝐷</m:t>
                          </m:r>
                        </m:e>
                        <m:sub>
                          <m:r>
                            <a:rPr lang="en-US" altLang="zh-CN" sz="1800" b="0" i="1" dirty="0" smtClean="0">
                              <a:solidFill>
                                <a:schemeClr val="accent6">
                                  <a:lumMod val="50000"/>
                                </a:schemeClr>
                              </a:solidFill>
                              <a:latin typeface="Cambria Math" panose="02040503050406030204" pitchFamily="18" charset="0"/>
                            </a:rPr>
                            <m:t>𝑖</m:t>
                          </m:r>
                        </m:sub>
                      </m:sSub>
                      <m:d>
                        <m:dPr>
                          <m:ctrlPr>
                            <a:rPr lang="en-US" altLang="zh-CN" sz="1800" b="0" i="1" dirty="0" smtClean="0">
                              <a:solidFill>
                                <a:schemeClr val="accent6">
                                  <a:lumMod val="50000"/>
                                </a:schemeClr>
                              </a:solidFill>
                              <a:latin typeface="Cambria Math" panose="02040503050406030204" pitchFamily="18" charset="0"/>
                            </a:rPr>
                          </m:ctrlPr>
                        </m:dPr>
                        <m:e>
                          <m:sSub>
                            <m:sSubPr>
                              <m:ctrlPr>
                                <a:rPr lang="en-US" altLang="zh-CN" sz="1800" b="0" i="1" dirty="0" smtClean="0">
                                  <a:solidFill>
                                    <a:schemeClr val="accent6">
                                      <a:lumMod val="50000"/>
                                    </a:schemeClr>
                                  </a:solidFill>
                                  <a:latin typeface="Cambria Math" panose="02040503050406030204" pitchFamily="18" charset="0"/>
                                </a:rPr>
                              </m:ctrlPr>
                            </m:sSubPr>
                            <m:e>
                              <m:acc>
                                <m:accPr>
                                  <m:chr m:val="̅"/>
                                  <m:ctrlPr>
                                    <a:rPr lang="en-US" altLang="zh-CN" sz="1800" b="0" i="1" dirty="0" smtClean="0">
                                      <a:solidFill>
                                        <a:schemeClr val="accent6">
                                          <a:lumMod val="50000"/>
                                        </a:schemeClr>
                                      </a:solidFill>
                                      <a:latin typeface="Cambria Math" panose="02040503050406030204" pitchFamily="18" charset="0"/>
                                    </a:rPr>
                                  </m:ctrlPr>
                                </m:accPr>
                                <m:e>
                                  <m:r>
                                    <a:rPr lang="en-US" altLang="zh-CN" sz="1800" b="0" i="1" dirty="0" smtClean="0">
                                      <a:solidFill>
                                        <a:schemeClr val="accent6">
                                          <a:lumMod val="50000"/>
                                        </a:schemeClr>
                                      </a:solidFill>
                                      <a:latin typeface="Cambria Math" panose="02040503050406030204" pitchFamily="18" charset="0"/>
                                    </a:rPr>
                                    <m:t>𝑝</m:t>
                                  </m:r>
                                </m:e>
                              </m:acc>
                            </m:e>
                            <m:sub>
                              <m:r>
                                <a:rPr lang="en-US" altLang="zh-CN" sz="1800" b="0" i="1" smtClean="0">
                                  <a:solidFill>
                                    <a:schemeClr val="accent6">
                                      <a:lumMod val="50000"/>
                                    </a:schemeClr>
                                  </a:solidFill>
                                  <a:latin typeface="Cambria Math" panose="02040503050406030204" pitchFamily="18" charset="0"/>
                                </a:rPr>
                                <m:t>𝑖</m:t>
                              </m:r>
                              <m:r>
                                <a:rPr lang="en-US" altLang="zh-CN" sz="1800" b="0" i="1" smtClean="0">
                                  <a:solidFill>
                                    <a:schemeClr val="accent6">
                                      <a:lumMod val="50000"/>
                                    </a:schemeClr>
                                  </a:solidFill>
                                  <a:latin typeface="Cambria Math" panose="02040503050406030204" pitchFamily="18" charset="0"/>
                                </a:rPr>
                                <m:t>−1</m:t>
                              </m:r>
                            </m:sub>
                          </m:sSub>
                        </m:e>
                      </m:d>
                      <m:r>
                        <a:rPr lang="en-US" altLang="zh-CN" sz="1800" b="0" i="1" dirty="0" smtClean="0">
                          <a:latin typeface="Cambria Math" panose="02040503050406030204" pitchFamily="18" charset="0"/>
                        </a:rPr>
                        <m:t>=</m:t>
                      </m:r>
                      <m:nary>
                        <m:naryPr>
                          <m:supHide m:val="on"/>
                          <m:ctrlPr>
                            <a:rPr lang="en-US" altLang="zh-CN" sz="1800" b="0" i="1" dirty="0" smtClean="0">
                              <a:latin typeface="Cambria Math" panose="02040503050406030204" pitchFamily="18" charset="0"/>
                            </a:rPr>
                          </m:ctrlPr>
                        </m:naryPr>
                        <m:sub>
                          <m:sSub>
                            <m:sSubPr>
                              <m:ctrlPr>
                                <a:rPr lang="en-US" altLang="zh-CN" sz="1800" b="0" i="0" dirty="0" smtClean="0">
                                  <a:latin typeface="Cambria Math" panose="02040503050406030204" pitchFamily="18" charset="0"/>
                                </a:rPr>
                              </m:ctrlPr>
                            </m:sSubPr>
                            <m:e>
                              <m:r>
                                <m:rPr>
                                  <m:sty m:val="p"/>
                                </m:rPr>
                                <a:rPr lang="en-US" altLang="zh-CN" sz="1800" b="0" i="0" dirty="0" smtClean="0">
                                  <a:latin typeface="Cambria Math" panose="02040503050406030204" pitchFamily="18" charset="0"/>
                                </a:rPr>
                                <m:t>Ω</m:t>
                              </m:r>
                            </m:e>
                            <m:sub>
                              <m:r>
                                <a:rPr lang="en-US" altLang="zh-CN" sz="1800" b="0" i="1" dirty="0" smtClean="0">
                                  <a:latin typeface="Cambria Math" panose="02040503050406030204" pitchFamily="18" charset="0"/>
                                </a:rPr>
                                <m:t>𝐸</m:t>
                              </m:r>
                            </m:sub>
                          </m:sSub>
                        </m:sub>
                        <m:sup/>
                        <m:e>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𝐹</m:t>
                              </m:r>
                            </m:e>
                            <m:sub>
                              <m:r>
                                <a:rPr lang="en-US" altLang="zh-CN" sz="1800" b="0" i="1" dirty="0" smtClean="0">
                                  <a:latin typeface="Cambria Math" panose="02040503050406030204" pitchFamily="18" charset="0"/>
                                </a:rPr>
                                <m:t>𝑖</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−1</m:t>
                                  </m:r>
                                </m:sub>
                              </m:sSub>
                            </m:e>
                          </m:d>
                          <m:r>
                            <a:rPr lang="en-US" altLang="zh-CN" sz="1800" i="1" dirty="0">
                              <a:latin typeface="Cambria Math" panose="02040503050406030204" pitchFamily="18" charset="0"/>
                            </a:rPr>
                            <m:t>𝑑</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Sub>
                        </m:e>
                      </m:nary>
                      <m:r>
                        <a:rPr lang="en-US" altLang="zh-CN" sz="1800" b="0" i="1" dirty="0" smtClean="0">
                          <a:latin typeface="Cambria Math" panose="02040503050406030204" pitchFamily="18" charset="0"/>
                        </a:rPr>
                        <m:t>,  </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𝐼</m:t>
                          </m:r>
                        </m:e>
                        <m:sub>
                          <m:r>
                            <a:rPr lang="en-US" altLang="zh-CN" sz="2000" b="0" i="1" smtClean="0">
                              <a:latin typeface="Cambria Math" panose="02040503050406030204" pitchFamily="18" charset="0"/>
                            </a:rPr>
                            <m:t>𝑖</m:t>
                          </m:r>
                        </m:sub>
                      </m:sSub>
                      <m:r>
                        <a:rPr lang="en-US" altLang="zh-CN" sz="2000" b="0" i="1" smtClean="0">
                          <a:latin typeface="Cambria Math" panose="02040503050406030204" pitchFamily="18" charset="0"/>
                        </a:rPr>
                        <m:t>=</m:t>
                      </m:r>
                      <m:nary>
                        <m:naryPr>
                          <m:supHide m:val="on"/>
                          <m:ctrlPr>
                            <a:rPr lang="zh-CN" altLang="en-US" sz="2000" i="1" dirty="0">
                              <a:latin typeface="Cambria Math" panose="02040503050406030204" pitchFamily="18" charset="0"/>
                            </a:rPr>
                          </m:ctrlPr>
                        </m:naryPr>
                        <m:sub>
                          <m:sSub>
                            <m:sSubPr>
                              <m:ctrlPr>
                                <a:rPr lang="zh-CN" altLang="en-US" sz="2000" i="1" dirty="0">
                                  <a:latin typeface="Cambria Math" panose="02040503050406030204" pitchFamily="18" charset="0"/>
                                </a:rPr>
                              </m:ctrlPr>
                            </m:sSubPr>
                            <m:e>
                              <m:r>
                                <a:rPr lang="zh-CN" altLang="en-US" sz="2000" i="1" dirty="0">
                                  <a:latin typeface="Cambria Math" panose="02040503050406030204" pitchFamily="18" charset="0"/>
                                </a:rPr>
                                <m:t>𝒫</m:t>
                              </m:r>
                            </m:e>
                            <m:sub>
                              <m:r>
                                <a:rPr lang="en-US" altLang="zh-CN" sz="2000" i="1" dirty="0">
                                  <a:latin typeface="Cambria Math" panose="02040503050406030204" pitchFamily="18" charset="0"/>
                                </a:rPr>
                                <m:t>𝑖</m:t>
                              </m:r>
                            </m:sub>
                          </m:sSub>
                        </m:sub>
                        <m:sup/>
                        <m:e>
                          <m:sSub>
                            <m:sSubPr>
                              <m:ctrlPr>
                                <a:rPr lang="en-US" altLang="zh-CN" sz="2000" dirty="0">
                                  <a:latin typeface="Cambria Math" panose="02040503050406030204" pitchFamily="18" charset="0"/>
                                </a:rPr>
                              </m:ctrlPr>
                            </m:sSubPr>
                            <m:e>
                              <m:r>
                                <m:rPr>
                                  <m:sty m:val="p"/>
                                </m:rPr>
                                <a:rPr lang="en-US" altLang="zh-CN" sz="2000" dirty="0">
                                  <a:latin typeface="Cambria Math" panose="02040503050406030204" pitchFamily="18" charset="0"/>
                                </a:rPr>
                                <m:t>Φ</m:t>
                              </m:r>
                            </m:e>
                            <m:sub>
                              <m:r>
                                <m:rPr>
                                  <m:sty m:val="p"/>
                                </m:rPr>
                                <a:rPr lang="en-US" altLang="zh-CN" sz="2000" dirty="0">
                                  <a:latin typeface="Cambria Math" panose="02040503050406030204" pitchFamily="18" charset="0"/>
                                </a:rPr>
                                <m:t>i</m:t>
                              </m:r>
                            </m:sub>
                          </m:sSub>
                          <m:d>
                            <m:dPr>
                              <m:ctrlPr>
                                <a:rPr lang="en-US" altLang="zh-CN" sz="2000" i="1" dirty="0">
                                  <a:latin typeface="Cambria Math" panose="02040503050406030204" pitchFamily="18" charset="0"/>
                                </a:rPr>
                              </m:ctrlPr>
                            </m:dPr>
                            <m:e>
                              <m:sSub>
                                <m:sSubPr>
                                  <m:ctrlPr>
                                    <a:rPr lang="en-US" altLang="zh-CN" sz="2000" i="1" dirty="0">
                                      <a:latin typeface="Cambria Math" panose="02040503050406030204" pitchFamily="18" charset="0"/>
                                    </a:rPr>
                                  </m:ctrlPr>
                                </m:sSubPr>
                                <m:e>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𝑝</m:t>
                                      </m:r>
                                    </m:e>
                                  </m:acc>
                                </m:e>
                                <m:sub>
                                  <m:r>
                                    <a:rPr lang="en-US" altLang="zh-CN" sz="2000" i="1" dirty="0">
                                      <a:latin typeface="Cambria Math" panose="02040503050406030204" pitchFamily="18" charset="0"/>
                                    </a:rPr>
                                    <m:t>𝑖</m:t>
                                  </m:r>
                                </m:sub>
                              </m:sSub>
                            </m:e>
                          </m:d>
                          <m:r>
                            <a:rPr lang="en-US" altLang="zh-CN" sz="2000" i="1" dirty="0">
                              <a:latin typeface="Cambria Math" panose="02040503050406030204" pitchFamily="18" charset="0"/>
                            </a:rPr>
                            <m:t>𝑑</m:t>
                          </m:r>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𝜇</m:t>
                              </m:r>
                            </m:e>
                            <m:sub>
                              <m:r>
                                <a:rPr lang="en-US" altLang="zh-CN" sz="2000" i="1" dirty="0">
                                  <a:latin typeface="Cambria Math" panose="02040503050406030204" pitchFamily="18" charset="0"/>
                                </a:rPr>
                                <m:t>𝑖</m:t>
                              </m:r>
                            </m:sub>
                          </m:sSub>
                          <m:d>
                            <m:dPr>
                              <m:ctrlPr>
                                <a:rPr lang="en-US" altLang="zh-CN" sz="2000" i="1" dirty="0">
                                  <a:latin typeface="Cambria Math" panose="02040503050406030204" pitchFamily="18" charset="0"/>
                                </a:rPr>
                              </m:ctrlPr>
                            </m:dPr>
                            <m:e>
                              <m:sSub>
                                <m:sSubPr>
                                  <m:ctrlPr>
                                    <a:rPr lang="en-US" altLang="zh-CN" sz="2000" i="1" dirty="0">
                                      <a:latin typeface="Cambria Math" panose="02040503050406030204" pitchFamily="18" charset="0"/>
                                    </a:rPr>
                                  </m:ctrlPr>
                                </m:sSubPr>
                                <m:e>
                                  <m:acc>
                                    <m:accPr>
                                      <m:chr m:val="̅"/>
                                      <m:ctrlPr>
                                        <a:rPr lang="en-US" altLang="zh-CN" sz="2000" i="1" dirty="0">
                                          <a:latin typeface="Cambria Math" panose="02040503050406030204" pitchFamily="18" charset="0"/>
                                        </a:rPr>
                                      </m:ctrlPr>
                                    </m:accPr>
                                    <m:e>
                                      <m:r>
                                        <a:rPr lang="en-US" altLang="zh-CN" sz="2000" i="1" dirty="0">
                                          <a:latin typeface="Cambria Math" panose="02040503050406030204" pitchFamily="18" charset="0"/>
                                        </a:rPr>
                                        <m:t>𝑝</m:t>
                                      </m:r>
                                    </m:e>
                                  </m:acc>
                                </m:e>
                                <m:sub>
                                  <m:r>
                                    <a:rPr lang="en-US" altLang="zh-CN" sz="2000" i="1" dirty="0">
                                      <a:latin typeface="Cambria Math" panose="02040503050406030204" pitchFamily="18" charset="0"/>
                                    </a:rPr>
                                    <m:t>𝑖</m:t>
                                  </m:r>
                                </m:sub>
                              </m:sSub>
                            </m:e>
                          </m:d>
                        </m:e>
                      </m:nary>
                      <m:r>
                        <a:rPr lang="en-US" altLang="zh-CN" sz="2000" b="0" i="1" smtClean="0">
                          <a:latin typeface="Cambria Math" panose="02040503050406030204" pitchFamily="18" charset="0"/>
                          <a:ea typeface="Cambria Math" panose="02040503050406030204" pitchFamily="18" charset="0"/>
                        </a:rPr>
                        <m:t>,  </m:t>
                      </m:r>
                      <m:sSub>
                        <m:sSubPr>
                          <m:ctrlPr>
                            <a:rPr lang="en-US" altLang="zh-CN" sz="2000" b="0" i="1" smtClean="0">
                              <a:latin typeface="Cambria Math" panose="02040503050406030204" pitchFamily="18" charset="0"/>
                              <a:ea typeface="Cambria Math" panose="02040503050406030204" pitchFamily="18" charset="0"/>
                            </a:rPr>
                          </m:ctrlPr>
                        </m:sSubPr>
                        <m:e>
                          <m:acc>
                            <m:accPr>
                              <m:chr m:val="̂"/>
                              <m:ctrlPr>
                                <a:rPr lang="en-US" altLang="zh-CN" sz="2000" b="0" i="1" smtClean="0">
                                  <a:latin typeface="Cambria Math" panose="02040503050406030204" pitchFamily="18" charset="0"/>
                                  <a:ea typeface="Cambria Math" panose="02040503050406030204" pitchFamily="18" charset="0"/>
                                </a:rPr>
                              </m:ctrlPr>
                            </m:accPr>
                            <m:e>
                              <m:r>
                                <a:rPr lang="en-US" altLang="zh-CN" sz="2000" b="0" i="1" smtClean="0">
                                  <a:latin typeface="Cambria Math" panose="02040503050406030204" pitchFamily="18" charset="0"/>
                                  <a:ea typeface="Cambria Math" panose="02040503050406030204" pitchFamily="18" charset="0"/>
                                </a:rPr>
                                <m:t>𝐼</m:t>
                              </m:r>
                            </m:e>
                          </m:acc>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𝛽</m:t>
                          </m:r>
                        </m:e>
                        <m:sub>
                          <m:r>
                            <a:rPr lang="en-US" altLang="zh-CN" sz="2000" i="1">
                              <a:latin typeface="Cambria Math" panose="02040503050406030204" pitchFamily="18" charset="0"/>
                              <a:ea typeface="Cambria Math" panose="02040503050406030204" pitchFamily="18" charset="0"/>
                            </a:rPr>
                            <m:t>𝑖</m:t>
                          </m:r>
                          <m:r>
                            <a:rPr lang="en-US" altLang="zh-CN" sz="2000" b="0" i="1" smtClean="0">
                              <a:latin typeface="Cambria Math" panose="02040503050406030204" pitchFamily="18" charset="0"/>
                              <a:ea typeface="Cambria Math" panose="02040503050406030204" pitchFamily="18" charset="0"/>
                            </a:rPr>
                            <m:t>−1</m:t>
                          </m:r>
                        </m:sub>
                      </m:sSub>
                      <m:r>
                        <a:rPr lang="en-US" altLang="zh-CN" sz="2000" i="1">
                          <a:latin typeface="Cambria Math" panose="02040503050406030204" pitchFamily="18" charset="0"/>
                          <a:ea typeface="Cambria Math" panose="02040503050406030204" pitchFamily="18" charset="0"/>
                        </a:rPr>
                        <m:t> </m:t>
                      </m:r>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𝐷</m:t>
                              </m:r>
                            </m:e>
                          </m:acc>
                        </m:e>
                        <m:sub>
                          <m:r>
                            <a:rPr lang="en-US" altLang="zh-CN" sz="2000" i="1" dirty="0">
                              <a:solidFill>
                                <a:schemeClr val="accent6">
                                  <a:lumMod val="50000"/>
                                </a:schemeClr>
                              </a:solidFill>
                              <a:latin typeface="Cambria Math" panose="02040503050406030204" pitchFamily="18" charset="0"/>
                            </a:rPr>
                            <m:t>𝑖</m:t>
                          </m:r>
                        </m:sub>
                      </m:sSub>
                      <m:d>
                        <m:dPr>
                          <m:ctrlPr>
                            <a:rPr lang="en-US" altLang="zh-CN" sz="2000" i="1" dirty="0">
                              <a:solidFill>
                                <a:schemeClr val="accent6">
                                  <a:lumMod val="50000"/>
                                </a:schemeClr>
                              </a:solidFill>
                              <a:latin typeface="Cambria Math" panose="02040503050406030204" pitchFamily="18" charset="0"/>
                            </a:rPr>
                          </m:ctrlPr>
                        </m:dPr>
                        <m:e>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𝑝</m:t>
                                  </m:r>
                                </m:e>
                              </m:acc>
                            </m:e>
                            <m:sub>
                              <m:r>
                                <a:rPr lang="en-US" altLang="zh-CN" sz="2000" i="1">
                                  <a:solidFill>
                                    <a:schemeClr val="accent6">
                                      <a:lumMod val="50000"/>
                                    </a:schemeClr>
                                  </a:solidFill>
                                  <a:latin typeface="Cambria Math" panose="02040503050406030204" pitchFamily="18" charset="0"/>
                                </a:rPr>
                                <m:t>𝑖</m:t>
                              </m:r>
                              <m:r>
                                <a:rPr lang="en-US" altLang="zh-CN" sz="2000" i="1">
                                  <a:solidFill>
                                    <a:schemeClr val="accent6">
                                      <a:lumMod val="50000"/>
                                    </a:schemeClr>
                                  </a:solidFill>
                                  <a:latin typeface="Cambria Math" panose="02040503050406030204" pitchFamily="18" charset="0"/>
                                </a:rPr>
                                <m:t>−1</m:t>
                              </m:r>
                            </m:sub>
                          </m:sSub>
                        </m:e>
                      </m:d>
                    </m:oMath>
                  </m:oMathPara>
                </a14:m>
                <a:endParaRPr lang="en-US" altLang="zh-CN" sz="2000" dirty="0"/>
              </a:p>
              <a:p>
                <a:pPr>
                  <a:lnSpc>
                    <a:spcPct val="150000"/>
                  </a:lnSpc>
                </a:pPr>
                <a:endParaRPr lang="en-US" altLang="zh-CN" sz="2000" dirty="0"/>
              </a:p>
              <a:p>
                <a:pPr/>
                <a14:m>
                  <m:oMathPara xmlns:m="http://schemas.openxmlformats.org/officeDocument/2006/math">
                    <m:oMathParaPr>
                      <m:jc m:val="center"/>
                    </m:oMathParaPr>
                    <m:oMath>
                      <m:r>
                        <a:rPr lang="zh-CN" altLang="en-US" sz="2000" i="1" dirty="0">
                          <a:latin typeface="Cambria Math" panose="02040503050406030204" pitchFamily="18" charset="0"/>
                        </a:rPr>
                        <m:t>分布</m:t>
                      </m:r>
                      <m:r>
                        <a:rPr lang="en-US" altLang="zh-CN" sz="2000" i="1" dirty="0">
                          <a:latin typeface="Cambria Math" panose="02040503050406030204" pitchFamily="18" charset="0"/>
                        </a:rPr>
                        <m:t>1 </m:t>
                      </m:r>
                      <m:r>
                        <a:rPr lang="zh-CN" altLang="en-US" sz="2000" i="1" dirty="0">
                          <a:latin typeface="Cambria Math" panose="02040503050406030204" pitchFamily="18" charset="0"/>
                        </a:rPr>
                        <m:t>向光源采样：</m:t>
                      </m:r>
                      <m:sSubSup>
                        <m:sSubSupPr>
                          <m:ctrlPr>
                            <a:rPr lang="en-US" altLang="zh-CN" sz="2000" i="1" dirty="0">
                              <a:solidFill>
                                <a:srgbClr val="F76409"/>
                              </a:solidFill>
                              <a:latin typeface="Cambria Math" panose="02040503050406030204" pitchFamily="18" charset="0"/>
                            </a:rPr>
                          </m:ctrlPr>
                        </m:sSubSupPr>
                        <m:e>
                          <m:acc>
                            <m:accPr>
                              <m:chr m:val="̂"/>
                              <m:ctrlPr>
                                <a:rPr lang="en-US" altLang="zh-CN" sz="2000" i="1" dirty="0">
                                  <a:solidFill>
                                    <a:srgbClr val="F76409"/>
                                  </a:solidFill>
                                  <a:latin typeface="Cambria Math" panose="02040503050406030204" pitchFamily="18" charset="0"/>
                                </a:rPr>
                              </m:ctrlPr>
                            </m:accPr>
                            <m:e>
                              <m:r>
                                <a:rPr lang="en-US" altLang="zh-CN" sz="2000" i="1" dirty="0">
                                  <a:solidFill>
                                    <a:srgbClr val="F76409"/>
                                  </a:solidFill>
                                  <a:latin typeface="Cambria Math" panose="02040503050406030204" pitchFamily="18" charset="0"/>
                                </a:rPr>
                                <m:t>𝐷</m:t>
                              </m:r>
                            </m:e>
                          </m:acc>
                        </m:e>
                        <m:sub>
                          <m:r>
                            <a:rPr lang="en-US" altLang="zh-CN" sz="2000" i="1" dirty="0">
                              <a:solidFill>
                                <a:srgbClr val="F76409"/>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r>
                        <a:rPr lang="en-US" altLang="zh-CN" sz="2000" i="1">
                          <a:latin typeface="Cambria Math" panose="02040503050406030204" pitchFamily="18" charset="0"/>
                        </a:rPr>
                        <m:t>=</m:t>
                      </m:r>
                      <m:f>
                        <m:fPr>
                          <m:ctrlPr>
                            <a:rPr lang="en-US" altLang="zh-CN" sz="2000" i="1" dirty="0">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𝐹</m:t>
                              </m:r>
                            </m:e>
                            <m:sub>
                              <m:r>
                                <a:rPr lang="en-US" altLang="zh-CN" sz="2000" i="1" dirty="0">
                                  <a:latin typeface="Cambria Math" panose="02040503050406030204" pitchFamily="18" charset="0"/>
                                </a:rPr>
                                <m:t>𝑖</m:t>
                              </m:r>
                            </m:sub>
                          </m:sSub>
                          <m:d>
                            <m:dPr>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𝜔</m:t>
                                  </m:r>
                                </m:e>
                                <m:sub>
                                  <m:r>
                                    <a:rPr lang="en-US" altLang="zh-CN" sz="2000" i="1" dirty="0">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e>
                          </m:d>
                        </m:num>
                        <m:den>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𝑝</m:t>
                              </m:r>
                            </m:e>
                            <m:sub>
                              <m:r>
                                <a:rPr lang="en-US" altLang="zh-CN" sz="2000" i="1" dirty="0">
                                  <a:solidFill>
                                    <a:srgbClr val="F76409"/>
                                  </a:solidFill>
                                  <a:latin typeface="Cambria Math" panose="02040503050406030204" pitchFamily="18" charset="0"/>
                                </a:rPr>
                                <m:t>𝐿</m:t>
                              </m:r>
                            </m:sub>
                            <m:sup>
                              <m:r>
                                <a:rPr lang="en-US" altLang="zh-CN" sz="2000" i="1">
                                  <a:latin typeface="Cambria Math" panose="02040503050406030204" pitchFamily="18" charset="0"/>
                                </a:rPr>
                                <m:t>𝜔</m:t>
                              </m:r>
                            </m:sup>
                          </m:sSubSup>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e>
                          </m:d>
                        </m:den>
                      </m:f>
                      <m:r>
                        <a:rPr lang="en-US" altLang="zh-CN" sz="2000" b="0" i="1" smtClean="0">
                          <a:latin typeface="Cambria Math" panose="02040503050406030204" pitchFamily="18" charset="0"/>
                        </a:rPr>
                        <m:t>,  </m:t>
                      </m:r>
                      <m:r>
                        <a:rPr lang="zh-CN" altLang="en-US" sz="2000" i="1">
                          <a:latin typeface="Cambria Math" panose="02040503050406030204" pitchFamily="18" charset="0"/>
                        </a:rPr>
                        <m:t>权重</m:t>
                      </m:r>
                      <m:r>
                        <a:rPr lang="zh-CN" altLang="en-US" sz="200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i="1" dirty="0">
                              <a:solidFill>
                                <a:srgbClr val="F76409"/>
                              </a:solidFill>
                              <a:latin typeface="Cambria Math" panose="02040503050406030204" pitchFamily="18" charset="0"/>
                              <a:ea typeface="Cambria Math" panose="02040503050406030204" pitchFamily="18" charset="0"/>
                            </a:rPr>
                            <m:t>𝐿</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r>
                        <a:rPr lang="en-US" altLang="zh-CN" sz="2000" b="0" i="1" smtClean="0">
                          <a:latin typeface="Cambria Math" panose="02040503050406030204" pitchFamily="18" charset="0"/>
                        </a:rPr>
                        <m:t>=</m:t>
                      </m:r>
                      <m:sSub>
                        <m:sSubPr>
                          <m:ctrlPr>
                            <a:rPr lang="en-US" altLang="zh-CN" sz="2000" i="1" dirty="0">
                              <a:solidFill>
                                <a:schemeClr val="tx1"/>
                              </a:solidFill>
                              <a:latin typeface="Cambria Math" panose="02040503050406030204" pitchFamily="18" charset="0"/>
                              <a:ea typeface="Cambria Math" panose="02040503050406030204" pitchFamily="18" charset="0"/>
                            </a:rPr>
                          </m:ctrlPr>
                        </m:sSubPr>
                        <m:e>
                          <m:r>
                            <a:rPr lang="en-US" altLang="zh-CN" sz="2000" i="1" dirty="0">
                              <a:solidFill>
                                <a:schemeClr val="tx1"/>
                              </a:solidFill>
                              <a:latin typeface="Cambria Math" panose="02040503050406030204" pitchFamily="18" charset="0"/>
                              <a:ea typeface="Cambria Math" panose="02040503050406030204" pitchFamily="18" charset="0"/>
                            </a:rPr>
                            <m:t>ℋ</m:t>
                          </m:r>
                        </m:e>
                        <m:sub>
                          <m:r>
                            <a:rPr lang="en-US" altLang="zh-CN" sz="2000" i="1" dirty="0">
                              <a:solidFill>
                                <a:schemeClr val="tx1"/>
                              </a:solidFill>
                              <a:latin typeface="Cambria Math" panose="02040503050406030204" pitchFamily="18" charset="0"/>
                              <a:ea typeface="Cambria Math" panose="02040503050406030204" pitchFamily="18" charset="0"/>
                            </a:rPr>
                            <m:t>𝑃</m:t>
                          </m:r>
                        </m:sub>
                      </m:sSub>
                      <m:d>
                        <m:dPr>
                          <m:ctrlPr>
                            <a:rPr lang="en-US" altLang="zh-CN" sz="2000" i="1" dirty="0">
                              <a:solidFill>
                                <a:srgbClr val="F76409"/>
                              </a:solidFill>
                              <a:latin typeface="Cambria Math" panose="02040503050406030204" pitchFamily="18" charset="0"/>
                              <a:ea typeface="Cambria Math" panose="02040503050406030204" pitchFamily="18" charset="0"/>
                            </a:rPr>
                          </m:ctrlPr>
                        </m:dPr>
                        <m:e>
                          <m:r>
                            <a:rPr lang="en-US" altLang="zh-CN" sz="2000" i="1" dirty="0">
                              <a:solidFill>
                                <a:srgbClr val="F76409"/>
                              </a:solidFill>
                              <a:latin typeface="Cambria Math" panose="02040503050406030204" pitchFamily="18" charset="0"/>
                              <a:ea typeface="Cambria Math" panose="02040503050406030204" pitchFamily="18" charset="0"/>
                            </a:rPr>
                            <m:t>𝐿</m:t>
                          </m:r>
                          <m:r>
                            <a:rPr lang="en-US" altLang="zh-CN" sz="2000" i="1" dirty="0">
                              <a:solidFill>
                                <a:schemeClr val="tx1"/>
                              </a:solidFill>
                              <a:latin typeface="Cambria Math" panose="02040503050406030204" pitchFamily="18" charset="0"/>
                              <a:ea typeface="Cambria Math" panose="02040503050406030204" pitchFamily="18" charset="0"/>
                            </a:rPr>
                            <m:t>;  </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a:solidFill>
                                    <a:srgbClr val="F76409"/>
                                  </a:solidFill>
                                  <a:latin typeface="Cambria Math" panose="02040503050406030204" pitchFamily="18" charset="0"/>
                                  <a:ea typeface="Cambria Math" panose="02040503050406030204" pitchFamily="18" charset="0"/>
                                </a:rPr>
                                <m:t>𝐿</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r>
                            <a:rPr lang="en-US" altLang="zh-CN" sz="2000" i="1">
                              <a:solidFill>
                                <a:schemeClr val="tx1"/>
                              </a:solidFill>
                              <a:latin typeface="Cambria Math" panose="02040503050406030204" pitchFamily="18" charset="0"/>
                            </a:rPr>
                            <m:t>,</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smtClean="0">
                                  <a:solidFill>
                                    <a:schemeClr val="accent2">
                                      <a:lumMod val="75000"/>
                                    </a:schemeClr>
                                  </a:solidFill>
                                  <a:latin typeface="Cambria Math" panose="02040503050406030204" pitchFamily="18" charset="0"/>
                                </a:rPr>
                                <m:t>𝐵</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e>
                      </m:d>
                    </m:oMath>
                  </m:oMathPara>
                </a14:m>
                <a:endParaRPr lang="en-US" altLang="zh-CN" sz="2000" b="0" i="1" dirty="0">
                  <a:latin typeface="Cambria Math" panose="02040503050406030204" pitchFamily="18" charset="0"/>
                </a:endParaRPr>
              </a:p>
              <a:p>
                <a:pPr/>
                <a14:m>
                  <m:oMathPara xmlns:m="http://schemas.openxmlformats.org/officeDocument/2006/math">
                    <m:oMathParaPr>
                      <m:jc m:val="center"/>
                    </m:oMathParaPr>
                    <m:oMath>
                      <m:r>
                        <a:rPr lang="zh-CN" altLang="en-US" sz="2000" i="1" dirty="0">
                          <a:latin typeface="Cambria Math" panose="02040503050406030204" pitchFamily="18" charset="0"/>
                        </a:rPr>
                        <m:t>分布</m:t>
                      </m:r>
                      <m:r>
                        <a:rPr lang="en-US" altLang="zh-CN" sz="2000" i="1" dirty="0">
                          <a:latin typeface="Cambria Math" panose="02040503050406030204" pitchFamily="18" charset="0"/>
                        </a:rPr>
                        <m:t>2 </m:t>
                      </m:r>
                      <m:r>
                        <a:rPr lang="zh-CN" altLang="en-US" sz="2000" i="1" dirty="0">
                          <a:latin typeface="Cambria Math" panose="02040503050406030204" pitchFamily="18" charset="0"/>
                        </a:rPr>
                        <m:t>向</m:t>
                      </m:r>
                      <m:r>
                        <m:rPr>
                          <m:sty m:val="p"/>
                        </m:rPr>
                        <a:rPr lang="en-US" altLang="zh-CN" sz="2000" i="1" dirty="0">
                          <a:latin typeface="Cambria Math" panose="02040503050406030204" pitchFamily="18" charset="0"/>
                        </a:rPr>
                        <m:t>BSDF</m:t>
                      </m:r>
                      <m:r>
                        <a:rPr lang="zh-CN" altLang="en-US" sz="2000" i="1" dirty="0">
                          <a:latin typeface="Cambria Math" panose="02040503050406030204" pitchFamily="18" charset="0"/>
                        </a:rPr>
                        <m:t>采样：</m:t>
                      </m:r>
                      <m:sSubSup>
                        <m:sSubSupPr>
                          <m:ctrlPr>
                            <a:rPr lang="en-US" altLang="zh-CN" sz="2000" i="1" dirty="0">
                              <a:solidFill>
                                <a:schemeClr val="accent2">
                                  <a:lumMod val="75000"/>
                                </a:schemeClr>
                              </a:solidFill>
                              <a:latin typeface="Cambria Math" panose="02040503050406030204" pitchFamily="18" charset="0"/>
                            </a:rPr>
                          </m:ctrlPr>
                        </m:sSubSupPr>
                        <m:e>
                          <m:acc>
                            <m:accPr>
                              <m:chr m:val="̂"/>
                              <m:ctrlPr>
                                <a:rPr lang="en-US" altLang="zh-CN" sz="2000" i="1" dirty="0">
                                  <a:solidFill>
                                    <a:schemeClr val="accent2">
                                      <a:lumMod val="75000"/>
                                    </a:schemeClr>
                                  </a:solidFill>
                                  <a:latin typeface="Cambria Math" panose="02040503050406030204" pitchFamily="18" charset="0"/>
                                </a:rPr>
                              </m:ctrlPr>
                            </m:accPr>
                            <m:e>
                              <m:r>
                                <a:rPr lang="en-US" altLang="zh-CN" sz="2000" i="1" dirty="0">
                                  <a:solidFill>
                                    <a:schemeClr val="accent2">
                                      <a:lumMod val="75000"/>
                                    </a:schemeClr>
                                  </a:solidFill>
                                  <a:latin typeface="Cambria Math" panose="02040503050406030204" pitchFamily="18" charset="0"/>
                                </a:rPr>
                                <m:t>𝐷</m:t>
                              </m:r>
                            </m:e>
                          </m:acc>
                        </m:e>
                        <m:sub>
                          <m:r>
                            <a:rPr lang="en-US" altLang="zh-CN" sz="2000" i="1" dirty="0">
                              <a:solidFill>
                                <a:schemeClr val="accent2">
                                  <a:lumMod val="75000"/>
                                </a:schemeClr>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r>
                        <a:rPr lang="en-US" altLang="zh-CN" sz="2000" i="1">
                          <a:latin typeface="Cambria Math" panose="02040503050406030204" pitchFamily="18" charset="0"/>
                        </a:rPr>
                        <m:t>=</m:t>
                      </m:r>
                      <m:f>
                        <m:fPr>
                          <m:ctrlPr>
                            <a:rPr lang="en-US" altLang="zh-CN" sz="2000" i="1" dirty="0">
                              <a:latin typeface="Cambria Math" panose="02040503050406030204" pitchFamily="18" charset="0"/>
                            </a:rPr>
                          </m:ctrlPr>
                        </m:fPr>
                        <m:num>
                          <m:sSub>
                            <m:sSubPr>
                              <m:ctrlPr>
                                <a:rPr lang="en-US" altLang="zh-CN" sz="2000" i="1" dirty="0">
                                  <a:latin typeface="Cambria Math" panose="02040503050406030204" pitchFamily="18" charset="0"/>
                                </a:rPr>
                              </m:ctrlPr>
                            </m:sSubPr>
                            <m:e>
                              <m:r>
                                <a:rPr lang="en-US" altLang="zh-CN" sz="2000" i="1" dirty="0">
                                  <a:latin typeface="Cambria Math" panose="02040503050406030204" pitchFamily="18" charset="0"/>
                                </a:rPr>
                                <m:t>𝐹</m:t>
                              </m:r>
                            </m:e>
                            <m:sub>
                              <m:r>
                                <a:rPr lang="en-US" altLang="zh-CN" sz="2000" i="1" dirty="0">
                                  <a:latin typeface="Cambria Math" panose="02040503050406030204" pitchFamily="18" charset="0"/>
                                </a:rPr>
                                <m:t>𝑖</m:t>
                              </m:r>
                            </m:sub>
                          </m:sSub>
                          <m:d>
                            <m:dPr>
                              <m:ctrlPr>
                                <a:rPr lang="en-US" altLang="zh-CN" sz="2000" i="1" dirty="0">
                                  <a:latin typeface="Cambria Math" panose="02040503050406030204" pitchFamily="18" charset="0"/>
                                </a:rPr>
                              </m:ctrlPr>
                            </m:dPr>
                            <m:e>
                              <m:sSubSup>
                                <m:sSubSupPr>
                                  <m:ctrlPr>
                                    <a:rPr lang="en-US" altLang="zh-CN" sz="2000" i="1" dirty="0">
                                      <a:latin typeface="Cambria Math" panose="02040503050406030204" pitchFamily="18" charset="0"/>
                                    </a:rPr>
                                  </m:ctrlPr>
                                </m:sSubSupPr>
                                <m:e>
                                  <m:r>
                                    <a:rPr lang="en-US" altLang="zh-CN" sz="2000" i="1" dirty="0">
                                      <a:latin typeface="Cambria Math" panose="02040503050406030204" pitchFamily="18" charset="0"/>
                                    </a:rPr>
                                    <m:t>𝜔</m:t>
                                  </m:r>
                                </m:e>
                                <m:sub>
                                  <m:r>
                                    <a:rPr lang="en-US" altLang="zh-CN" sz="2000" i="1" dirty="0">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num>
                        <m:den>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𝑝</m:t>
                              </m:r>
                            </m:e>
                            <m:sub>
                              <m:r>
                                <a:rPr lang="en-US" altLang="zh-CN" sz="2000" i="1">
                                  <a:latin typeface="Cambria Math" panose="02040503050406030204" pitchFamily="18" charset="0"/>
                                </a:rPr>
                                <m:t>𝐵</m:t>
                              </m:r>
                            </m:sub>
                            <m:sup>
                              <m:r>
                                <a:rPr lang="en-US" altLang="zh-CN" sz="2000" i="1">
                                  <a:latin typeface="Cambria Math" panose="02040503050406030204" pitchFamily="18" charset="0"/>
                                </a:rPr>
                                <m:t>𝜔</m:t>
                              </m:r>
                            </m:sup>
                          </m:sSubSup>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den>
                      </m:f>
                      <m:r>
                        <a:rPr lang="en-US" altLang="zh-CN" sz="2000" b="0" i="1" smtClean="0">
                          <a:latin typeface="Cambria Math" panose="02040503050406030204" pitchFamily="18" charset="0"/>
                        </a:rPr>
                        <m:t>,  </m:t>
                      </m:r>
                      <m:r>
                        <a:rPr lang="zh-CN" altLang="en-US" sz="2000" i="1">
                          <a:latin typeface="Cambria Math" panose="02040503050406030204" pitchFamily="18" charset="0"/>
                        </a:rPr>
                        <m:t>权重</m:t>
                      </m:r>
                      <m:r>
                        <a:rPr lang="zh-CN" altLang="en-US" sz="200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𝑤</m:t>
                          </m:r>
                        </m:e>
                        <m:sub>
                          <m:r>
                            <a:rPr lang="en-US" altLang="zh-CN" sz="2000" i="1" dirty="0">
                              <a:solidFill>
                                <a:schemeClr val="accent2">
                                  <a:lumMod val="75000"/>
                                </a:schemeClr>
                              </a:solidFill>
                              <a:latin typeface="Cambria Math" panose="02040503050406030204" pitchFamily="18" charset="0"/>
                            </a:rPr>
                            <m:t>𝐵</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a:solidFill>
                                    <a:schemeClr val="accent2">
                                      <a:lumMod val="75000"/>
                                    </a:schemeClr>
                                  </a:solidFill>
                                  <a:latin typeface="Cambria Math" panose="02040503050406030204" pitchFamily="18" charset="0"/>
                                </a:rPr>
                                <m:t>𝐵</m:t>
                              </m:r>
                            </m:sup>
                          </m:sSubSup>
                        </m:e>
                      </m:d>
                      <m:r>
                        <a:rPr lang="en-US" altLang="zh-CN" sz="2000" b="0" i="1" smtClean="0">
                          <a:latin typeface="Cambria Math" panose="02040503050406030204" pitchFamily="18" charset="0"/>
                        </a:rPr>
                        <m:t>=</m:t>
                      </m:r>
                      <m:sSub>
                        <m:sSubPr>
                          <m:ctrlPr>
                            <a:rPr lang="en-US" altLang="zh-CN" sz="2000" i="1" dirty="0">
                              <a:solidFill>
                                <a:schemeClr val="tx1"/>
                              </a:solidFill>
                              <a:latin typeface="Cambria Math" panose="02040503050406030204" pitchFamily="18" charset="0"/>
                              <a:ea typeface="Cambria Math" panose="02040503050406030204" pitchFamily="18" charset="0"/>
                            </a:rPr>
                          </m:ctrlPr>
                        </m:sSubPr>
                        <m:e>
                          <m:r>
                            <a:rPr lang="en-US" altLang="zh-CN" sz="2000" i="1" dirty="0">
                              <a:solidFill>
                                <a:schemeClr val="tx1"/>
                              </a:solidFill>
                              <a:latin typeface="Cambria Math" panose="02040503050406030204" pitchFamily="18" charset="0"/>
                              <a:ea typeface="Cambria Math" panose="02040503050406030204" pitchFamily="18" charset="0"/>
                            </a:rPr>
                            <m:t>ℋ</m:t>
                          </m:r>
                        </m:e>
                        <m:sub>
                          <m:r>
                            <a:rPr lang="en-US" altLang="zh-CN" sz="2000" i="1" dirty="0">
                              <a:solidFill>
                                <a:schemeClr val="tx1"/>
                              </a:solidFill>
                              <a:latin typeface="Cambria Math" panose="02040503050406030204" pitchFamily="18" charset="0"/>
                              <a:ea typeface="Cambria Math" panose="02040503050406030204" pitchFamily="18" charset="0"/>
                            </a:rPr>
                            <m:t>𝑃</m:t>
                          </m:r>
                        </m:sub>
                      </m:sSub>
                      <m:d>
                        <m:dPr>
                          <m:ctrlPr>
                            <a:rPr lang="en-US" altLang="zh-CN" sz="2000" i="1" dirty="0">
                              <a:solidFill>
                                <a:schemeClr val="accent2">
                                  <a:lumMod val="75000"/>
                                </a:schemeClr>
                              </a:solidFill>
                              <a:latin typeface="Cambria Math" panose="02040503050406030204" pitchFamily="18" charset="0"/>
                            </a:rPr>
                          </m:ctrlPr>
                        </m:dPr>
                        <m:e>
                          <m:r>
                            <a:rPr lang="en-US" altLang="zh-CN" sz="2000" i="1" dirty="0">
                              <a:solidFill>
                                <a:schemeClr val="accent2">
                                  <a:lumMod val="75000"/>
                                </a:schemeClr>
                              </a:solidFill>
                              <a:latin typeface="Cambria Math" panose="02040503050406030204" pitchFamily="18" charset="0"/>
                            </a:rPr>
                            <m:t>𝐵</m:t>
                          </m:r>
                          <m:r>
                            <a:rPr lang="en-US" altLang="zh-CN" sz="2000" i="1" dirty="0">
                              <a:solidFill>
                                <a:schemeClr val="tx1"/>
                              </a:solidFill>
                              <a:latin typeface="Cambria Math" panose="02040503050406030204" pitchFamily="18" charset="0"/>
                              <a:ea typeface="Cambria Math" panose="02040503050406030204" pitchFamily="18" charset="0"/>
                            </a:rPr>
                            <m:t>;  </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a:solidFill>
                                    <a:srgbClr val="F76409"/>
                                  </a:solidFill>
                                  <a:latin typeface="Cambria Math" panose="02040503050406030204" pitchFamily="18" charset="0"/>
                                  <a:ea typeface="Cambria Math" panose="02040503050406030204" pitchFamily="18" charset="0"/>
                                </a:rPr>
                                <m:t>𝐿</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r>
                            <a:rPr lang="en-US" altLang="zh-CN" sz="2000" i="1">
                              <a:solidFill>
                                <a:schemeClr val="tx1"/>
                              </a:solidFill>
                              <a:latin typeface="Cambria Math" panose="02040503050406030204" pitchFamily="18" charset="0"/>
                            </a:rPr>
                            <m:t>,</m:t>
                          </m:r>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𝑝</m:t>
                              </m:r>
                            </m:e>
                            <m:sub>
                              <m:r>
                                <a:rPr lang="en-US" altLang="zh-CN" sz="2000" i="1" dirty="0">
                                  <a:solidFill>
                                    <a:schemeClr val="accent2">
                                      <a:lumMod val="75000"/>
                                    </a:schemeClr>
                                  </a:solidFill>
                                  <a:latin typeface="Cambria Math" panose="02040503050406030204" pitchFamily="18" charset="0"/>
                                </a:rPr>
                                <m:t>𝐵</m:t>
                              </m:r>
                            </m:sub>
                            <m:sup>
                              <m:r>
                                <a:rPr lang="en-US" altLang="zh-CN" sz="2000" i="1">
                                  <a:solidFill>
                                    <a:schemeClr val="tx1"/>
                                  </a:solidFill>
                                  <a:latin typeface="Cambria Math" panose="02040503050406030204" pitchFamily="18" charset="0"/>
                                </a:rPr>
                                <m:t>𝜔</m:t>
                              </m:r>
                            </m:sup>
                          </m:sSubSup>
                          <m:d>
                            <m:dPr>
                              <m:ctrlPr>
                                <a:rPr lang="en-US" altLang="zh-CN" sz="2000" i="1">
                                  <a:solidFill>
                                    <a:schemeClr val="tx1"/>
                                  </a:solidFill>
                                  <a:latin typeface="Cambria Math" panose="02040503050406030204" pitchFamily="18" charset="0"/>
                                </a:rPr>
                              </m:ctrlPr>
                            </m:dPr>
                            <m:e>
                              <m:sSubSup>
                                <m:sSubSupPr>
                                  <m:ctrlPr>
                                    <a:rPr lang="en-US" altLang="zh-CN" sz="2000" i="1">
                                      <a:solidFill>
                                        <a:schemeClr val="tx1"/>
                                      </a:solidFill>
                                      <a:latin typeface="Cambria Math" panose="02040503050406030204" pitchFamily="18" charset="0"/>
                                    </a:rPr>
                                  </m:ctrlPr>
                                </m:sSubSupPr>
                                <m:e>
                                  <m:r>
                                    <a:rPr lang="en-US" altLang="zh-CN" sz="2000" i="1">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e>
                          </m:d>
                        </m:e>
                      </m:d>
                    </m:oMath>
                  </m:oMathPara>
                </a14:m>
                <a:endParaRPr lang="en-US" altLang="zh-CN" sz="2000" dirty="0"/>
              </a:p>
              <a:p>
                <a:pPr/>
                <a14:m>
                  <m:oMathPara xmlns:m="http://schemas.openxmlformats.org/officeDocument/2006/math">
                    <m:oMathParaPr>
                      <m:jc m:val="center"/>
                    </m:oMathParaPr>
                    <m:oMath>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𝐷</m:t>
                              </m:r>
                            </m:e>
                          </m:acc>
                        </m:e>
                        <m:sub>
                          <m:r>
                            <a:rPr lang="en-US" altLang="zh-CN" sz="2000" i="1" dirty="0">
                              <a:solidFill>
                                <a:schemeClr val="accent6">
                                  <a:lumMod val="50000"/>
                                </a:schemeClr>
                              </a:solidFill>
                              <a:latin typeface="Cambria Math" panose="02040503050406030204" pitchFamily="18" charset="0"/>
                            </a:rPr>
                            <m:t>𝑖</m:t>
                          </m:r>
                        </m:sub>
                      </m:sSub>
                      <m:d>
                        <m:dPr>
                          <m:ctrlPr>
                            <a:rPr lang="en-US" altLang="zh-CN" sz="2000" i="1" dirty="0">
                              <a:solidFill>
                                <a:schemeClr val="accent6">
                                  <a:lumMod val="50000"/>
                                </a:schemeClr>
                              </a:solidFill>
                              <a:latin typeface="Cambria Math" panose="02040503050406030204" pitchFamily="18" charset="0"/>
                            </a:rPr>
                          </m:ctrlPr>
                        </m:dPr>
                        <m:e>
                          <m:sSub>
                            <m:sSubPr>
                              <m:ctrlPr>
                                <a:rPr lang="en-US" altLang="zh-CN" sz="2000" i="1" dirty="0">
                                  <a:solidFill>
                                    <a:schemeClr val="accent6">
                                      <a:lumMod val="50000"/>
                                    </a:schemeClr>
                                  </a:solidFill>
                                  <a:latin typeface="Cambria Math" panose="02040503050406030204" pitchFamily="18" charset="0"/>
                                </a:rPr>
                              </m:ctrlPr>
                            </m:sSubPr>
                            <m:e>
                              <m:acc>
                                <m:accPr>
                                  <m:chr m:val="̅"/>
                                  <m:ctrlPr>
                                    <a:rPr lang="en-US" altLang="zh-CN" sz="2000" i="1" dirty="0">
                                      <a:solidFill>
                                        <a:schemeClr val="accent6">
                                          <a:lumMod val="50000"/>
                                        </a:schemeClr>
                                      </a:solidFill>
                                      <a:latin typeface="Cambria Math" panose="02040503050406030204" pitchFamily="18" charset="0"/>
                                    </a:rPr>
                                  </m:ctrlPr>
                                </m:accPr>
                                <m:e>
                                  <m:r>
                                    <a:rPr lang="en-US" altLang="zh-CN" sz="2000" i="1" dirty="0">
                                      <a:solidFill>
                                        <a:schemeClr val="accent6">
                                          <a:lumMod val="50000"/>
                                        </a:schemeClr>
                                      </a:solidFill>
                                      <a:latin typeface="Cambria Math" panose="02040503050406030204" pitchFamily="18" charset="0"/>
                                    </a:rPr>
                                    <m:t>𝑝</m:t>
                                  </m:r>
                                </m:e>
                              </m:acc>
                            </m:e>
                            <m:sub>
                              <m:r>
                                <a:rPr lang="en-US" altLang="zh-CN" sz="2000" i="1">
                                  <a:solidFill>
                                    <a:schemeClr val="accent6">
                                      <a:lumMod val="50000"/>
                                    </a:schemeClr>
                                  </a:solidFill>
                                  <a:latin typeface="Cambria Math" panose="02040503050406030204" pitchFamily="18" charset="0"/>
                                </a:rPr>
                                <m:t>𝑖</m:t>
                              </m:r>
                              <m:r>
                                <a:rPr lang="en-US" altLang="zh-CN" sz="2000" i="1">
                                  <a:solidFill>
                                    <a:schemeClr val="accent6">
                                      <a:lumMod val="50000"/>
                                    </a:schemeClr>
                                  </a:solidFill>
                                  <a:latin typeface="Cambria Math" panose="02040503050406030204" pitchFamily="18" charset="0"/>
                                </a:rPr>
                                <m:t>−1</m:t>
                              </m:r>
                            </m:sub>
                          </m:sSub>
                        </m:e>
                      </m:d>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dirty="0">
                              <a:solidFill>
                                <a:srgbClr val="F76409"/>
                              </a:solidFill>
                              <a:latin typeface="Cambria Math" panose="02040503050406030204" pitchFamily="18" charset="0"/>
                              <a:ea typeface="Cambria Math" panose="02040503050406030204" pitchFamily="18" charset="0"/>
                            </a:rPr>
                            <m:t>𝐿</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dirty="0">
                                  <a:solidFill>
                                    <a:srgbClr val="F76409"/>
                                  </a:solidFill>
                                  <a:latin typeface="Cambria Math" panose="02040503050406030204" pitchFamily="18" charset="0"/>
                                  <a:ea typeface="Cambria Math" panose="02040503050406030204" pitchFamily="18" charset="0"/>
                                </a:rPr>
                                <m:t>𝐿</m:t>
                              </m:r>
                            </m:sup>
                          </m:sSubSup>
                        </m:e>
                      </m:d>
                      <m:r>
                        <a:rPr lang="en-US" altLang="zh-CN" sz="2000" i="1" dirty="0">
                          <a:solidFill>
                            <a:srgbClr val="F76409"/>
                          </a:solidFill>
                          <a:latin typeface="Cambria Math" panose="02040503050406030204" pitchFamily="18" charset="0"/>
                          <a:ea typeface="Cambria Math" panose="02040503050406030204" pitchFamily="18" charset="0"/>
                        </a:rPr>
                        <m:t> </m:t>
                      </m:r>
                      <m:sSubSup>
                        <m:sSubSupPr>
                          <m:ctrlPr>
                            <a:rPr lang="en-US" altLang="zh-CN" sz="2000" i="1" dirty="0">
                              <a:solidFill>
                                <a:srgbClr val="F76409"/>
                              </a:solidFill>
                              <a:latin typeface="Cambria Math" panose="02040503050406030204" pitchFamily="18" charset="0"/>
                            </a:rPr>
                          </m:ctrlPr>
                        </m:sSubSupPr>
                        <m:e>
                          <m:acc>
                            <m:accPr>
                              <m:chr m:val="̂"/>
                              <m:ctrlPr>
                                <a:rPr lang="en-US" altLang="zh-CN" sz="2000" i="1" dirty="0">
                                  <a:solidFill>
                                    <a:srgbClr val="F76409"/>
                                  </a:solidFill>
                                  <a:latin typeface="Cambria Math" panose="02040503050406030204" pitchFamily="18" charset="0"/>
                                </a:rPr>
                              </m:ctrlPr>
                            </m:accPr>
                            <m:e>
                              <m:r>
                                <a:rPr lang="en-US" altLang="zh-CN" sz="2000" i="1" dirty="0">
                                  <a:solidFill>
                                    <a:srgbClr val="F76409"/>
                                  </a:solidFill>
                                  <a:latin typeface="Cambria Math" panose="02040503050406030204" pitchFamily="18" charset="0"/>
                                </a:rPr>
                                <m:t>𝐷</m:t>
                              </m:r>
                            </m:e>
                          </m:acc>
                        </m:e>
                        <m:sub>
                          <m:r>
                            <a:rPr lang="en-US" altLang="zh-CN" sz="2000" i="1" dirty="0">
                              <a:solidFill>
                                <a:srgbClr val="F76409"/>
                              </a:solidFill>
                              <a:latin typeface="Cambria Math" panose="02040503050406030204" pitchFamily="18" charset="0"/>
                            </a:rPr>
                            <m:t>𝑖</m:t>
                          </m:r>
                        </m:sub>
                        <m:sup>
                          <m:r>
                            <a:rPr lang="en-US" altLang="zh-CN" sz="2000" i="1" dirty="0">
                              <a:solidFill>
                                <a:srgbClr val="F76409"/>
                              </a:solidFill>
                              <a:latin typeface="Cambria Math" panose="02040503050406030204" pitchFamily="18" charset="0"/>
                            </a:rPr>
                            <m:t>𝐿</m:t>
                          </m:r>
                        </m:sup>
                      </m:sSubSup>
                      <m:r>
                        <a:rPr lang="en-US" altLang="zh-CN" sz="2000" i="1">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𝑤</m:t>
                          </m:r>
                        </m:e>
                        <m:sub>
                          <m:r>
                            <a:rPr lang="en-US" altLang="zh-CN" sz="2000" i="1" dirty="0">
                              <a:solidFill>
                                <a:schemeClr val="accent2">
                                  <a:lumMod val="75000"/>
                                </a:schemeClr>
                              </a:solidFill>
                              <a:latin typeface="Cambria Math" panose="02040503050406030204" pitchFamily="18" charset="0"/>
                            </a:rPr>
                            <m:t>𝐵</m:t>
                          </m:r>
                        </m:sub>
                      </m:sSub>
                      <m:d>
                        <m:dPr>
                          <m:ctrlPr>
                            <a:rPr lang="en-US" altLang="zh-CN" sz="2000" i="1">
                              <a:latin typeface="Cambria Math" panose="02040503050406030204" pitchFamily="18" charset="0"/>
                            </a:rPr>
                          </m:ctrlPr>
                        </m:dPr>
                        <m:e>
                          <m:sSubSup>
                            <m:sSubSupPr>
                              <m:ctrlPr>
                                <a:rPr lang="en-US" altLang="zh-CN" sz="2000" i="1">
                                  <a:latin typeface="Cambria Math" panose="02040503050406030204" pitchFamily="18" charset="0"/>
                                </a:rPr>
                              </m:ctrlPr>
                            </m:sSubSupPr>
                            <m:e>
                              <m:r>
                                <a:rPr lang="en-US" altLang="zh-CN" sz="2000" i="1">
                                  <a:latin typeface="Cambria Math" panose="02040503050406030204" pitchFamily="18" charset="0"/>
                                </a:rPr>
                                <m:t>𝜔</m:t>
                              </m:r>
                            </m:e>
                            <m:sub>
                              <m:r>
                                <a:rPr lang="en-US" altLang="zh-CN" sz="2000" i="1">
                                  <a:latin typeface="Cambria Math" panose="02040503050406030204" pitchFamily="18" charset="0"/>
                                </a:rPr>
                                <m:t>𝑖</m:t>
                              </m:r>
                            </m:sub>
                            <m:sup>
                              <m:r>
                                <a:rPr lang="en-US" altLang="zh-CN" sz="2000" i="1">
                                  <a:solidFill>
                                    <a:schemeClr val="accent2">
                                      <a:lumMod val="75000"/>
                                    </a:schemeClr>
                                  </a:solidFill>
                                  <a:latin typeface="Cambria Math" panose="02040503050406030204" pitchFamily="18" charset="0"/>
                                </a:rPr>
                                <m:t>𝐵</m:t>
                              </m:r>
                            </m:sup>
                          </m:sSubSup>
                        </m:e>
                      </m:d>
                      <m:r>
                        <a:rPr lang="en-US" altLang="zh-CN" sz="2000" i="1">
                          <a:solidFill>
                            <a:schemeClr val="accent2">
                              <a:lumMod val="75000"/>
                            </a:schemeClr>
                          </a:solidFill>
                          <a:latin typeface="Cambria Math" panose="02040503050406030204" pitchFamily="18" charset="0"/>
                        </a:rPr>
                        <m:t> </m:t>
                      </m:r>
                      <m:sSubSup>
                        <m:sSubSupPr>
                          <m:ctrlPr>
                            <a:rPr lang="en-US" altLang="zh-CN" sz="2000" i="1" dirty="0">
                              <a:solidFill>
                                <a:schemeClr val="accent2">
                                  <a:lumMod val="75000"/>
                                </a:schemeClr>
                              </a:solidFill>
                              <a:latin typeface="Cambria Math" panose="02040503050406030204" pitchFamily="18" charset="0"/>
                            </a:rPr>
                          </m:ctrlPr>
                        </m:sSubSupPr>
                        <m:e>
                          <m:acc>
                            <m:accPr>
                              <m:chr m:val="̂"/>
                              <m:ctrlPr>
                                <a:rPr lang="en-US" altLang="zh-CN" sz="2000" i="1" dirty="0">
                                  <a:solidFill>
                                    <a:schemeClr val="accent2">
                                      <a:lumMod val="75000"/>
                                    </a:schemeClr>
                                  </a:solidFill>
                                  <a:latin typeface="Cambria Math" panose="02040503050406030204" pitchFamily="18" charset="0"/>
                                </a:rPr>
                              </m:ctrlPr>
                            </m:accPr>
                            <m:e>
                              <m:r>
                                <a:rPr lang="en-US" altLang="zh-CN" sz="2000" i="1" dirty="0">
                                  <a:solidFill>
                                    <a:schemeClr val="accent2">
                                      <a:lumMod val="75000"/>
                                    </a:schemeClr>
                                  </a:solidFill>
                                  <a:latin typeface="Cambria Math" panose="02040503050406030204" pitchFamily="18" charset="0"/>
                                </a:rPr>
                                <m:t>𝐷</m:t>
                              </m:r>
                            </m:e>
                          </m:acc>
                        </m:e>
                        <m:sub>
                          <m:r>
                            <a:rPr lang="en-US" altLang="zh-CN" sz="2000" i="1" dirty="0">
                              <a:solidFill>
                                <a:schemeClr val="accent2">
                                  <a:lumMod val="75000"/>
                                </a:schemeClr>
                              </a:solidFill>
                              <a:latin typeface="Cambria Math" panose="02040503050406030204" pitchFamily="18" charset="0"/>
                            </a:rPr>
                            <m:t>𝑖</m:t>
                          </m:r>
                        </m:sub>
                        <m:sup>
                          <m:r>
                            <a:rPr lang="en-US" altLang="zh-CN" sz="2000" i="1" dirty="0">
                              <a:solidFill>
                                <a:schemeClr val="accent2">
                                  <a:lumMod val="75000"/>
                                </a:schemeClr>
                              </a:solidFill>
                              <a:latin typeface="Cambria Math" panose="02040503050406030204" pitchFamily="18" charset="0"/>
                            </a:rPr>
                            <m:t>𝐵</m:t>
                          </m:r>
                        </m:sup>
                      </m:sSubSup>
                    </m:oMath>
                  </m:oMathPara>
                </a14:m>
                <a:endParaRPr lang="en-US" altLang="zh-CN" sz="2000" dirty="0"/>
              </a:p>
              <a:p>
                <a:pPr/>
                <a14:m>
                  <m:oMathPara xmlns:m="http://schemas.openxmlformats.org/officeDocument/2006/math">
                    <m:oMath>
                      <m:borderBox>
                        <m:borderBoxPr>
                          <m:ctrlPr>
                            <a:rPr lang="en-US" altLang="zh-CN" i="1">
                              <a:latin typeface="Cambria Math" panose="02040503050406030204" pitchFamily="18" charset="0"/>
                              <a:ea typeface="Cambria Math" panose="02040503050406030204" pitchFamily="18" charset="0"/>
                            </a:rPr>
                          </m:ctrlPr>
                        </m:borderBoxPr>
                        <m:e>
                          <m:sSub>
                            <m:sSubPr>
                              <m:ctrlPr>
                                <a:rPr lang="en-US" altLang="zh-CN" i="1">
                                  <a:latin typeface="Cambria Math" panose="02040503050406030204" pitchFamily="18" charset="0"/>
                                  <a:ea typeface="Cambria Math" panose="02040503050406030204" pitchFamily="18" charset="0"/>
                                </a:rPr>
                              </m:ctrlPr>
                            </m:sSubPr>
                            <m:e>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𝐼</m:t>
                                  </m:r>
                                </m:e>
                              </m:acc>
                            </m:e>
                            <m:sub>
                              <m:r>
                                <a:rPr lang="en-US" altLang="zh-CN" i="1">
                                  <a:latin typeface="Cambria Math" panose="02040503050406030204" pitchFamily="18" charset="0"/>
                                  <a:ea typeface="Cambria Math" panose="02040503050406030204" pitchFamily="18" charset="0"/>
                                </a:rPr>
                                <m:t>𝑖</m:t>
                              </m:r>
                            </m:sub>
                          </m:sSub>
                          <m:r>
                            <a:rPr lang="en-US" altLang="zh-CN" i="1">
                              <a:latin typeface="Cambria Math" panose="02040503050406030204" pitchFamily="18" charset="0"/>
                            </a:rPr>
                            <m:t>=</m:t>
                          </m:r>
                          <m:limLow>
                            <m:limLowPr>
                              <m:ctrlPr>
                                <a:rPr lang="en-US" altLang="zh-CN" i="1" dirty="0">
                                  <a:latin typeface="Cambria Math" panose="02040503050406030204" pitchFamily="18" charset="0"/>
                                </a:rPr>
                              </m:ctrlPr>
                            </m:limLowPr>
                            <m:e>
                              <m:groupChr>
                                <m:groupChrPr>
                                  <m:chr m:val="⏟"/>
                                  <m:pos m:val="bot"/>
                                  <m:vertJc m:val="top"/>
                                  <m:ctrlPr>
                                    <a:rPr lang="en-US" altLang="zh-CN" i="1" dirty="0">
                                      <a:latin typeface="Cambria Math" panose="02040503050406030204" pitchFamily="18" charset="0"/>
                                    </a:rPr>
                                  </m:ctrlPr>
                                </m:groupChrPr>
                                <m:e>
                                  <m:d>
                                    <m:dPr>
                                      <m:ctrlPr>
                                        <a:rPr lang="en-US" altLang="zh-CN" i="1" dirty="0">
                                          <a:latin typeface="Cambria Math" panose="02040503050406030204" pitchFamily="18" charset="0"/>
                                        </a:rPr>
                                      </m:ctrlPr>
                                    </m:dPr>
                                    <m:e>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𝑘</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e>
                                                  </m:func>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e>
                                              </m:d>
                                            </m:den>
                                          </m:f>
                                        </m:e>
                                      </m:nary>
                                    </m:e>
                                  </m:d>
                                </m:e>
                              </m:groupChr>
                            </m:e>
                            <m:lim>
                              <m:eqArr>
                                <m:eqArrPr>
                                  <m:ctrlPr>
                                    <a:rPr lang="en-US" altLang="zh-CN" b="0" i="1" dirty="0" smtClean="0">
                                      <a:latin typeface="Cambria Math" panose="02040503050406030204" pitchFamily="18" charset="0"/>
                                    </a:rPr>
                                  </m:ctrlPr>
                                </m:eqArrPr>
                                <m:e>
                                  <m:r>
                                    <a:rPr lang="en-US" altLang="zh-CN" b="0" i="1" dirty="0" smtClean="0">
                                      <a:latin typeface="Cambria Math" panose="02040503050406030204" pitchFamily="18" charset="0"/>
                                    </a:rPr>
                                    <m:t> </m:t>
                                  </m:r>
                                </m:e>
                                <m:e>
                                  <m:r>
                                    <a:rPr lang="en-US" altLang="zh-CN" b="0" i="1" dirty="0" smtClean="0">
                                      <a:latin typeface="Cambria Math" panose="02040503050406030204" pitchFamily="18" charset="0"/>
                                    </a:rPr>
                                    <m:t> </m:t>
                                  </m:r>
                                </m:e>
                                <m:e>
                                  <m:r>
                                    <a:rPr lang="en-US" altLang="zh-CN" b="0" i="1" dirty="0" smtClean="0">
                                      <a:latin typeface="Cambria Math" panose="02040503050406030204" pitchFamily="18" charset="0"/>
                                    </a:rPr>
                                    <m:t> </m:t>
                                  </m:r>
                                </m:e>
                                <m:e>
                                  <m:sSub>
                                    <m:sSubPr>
                                      <m:ctrlPr>
                                        <a:rPr lang="en-US" altLang="zh-CN" i="1">
                                          <a:latin typeface="Cambria Math" panose="02040503050406030204" pitchFamily="18" charset="0"/>
                                          <a:ea typeface="Cambria Math" panose="02040503050406030204" pitchFamily="18" charset="0"/>
                                        </a:rPr>
                                      </m:ctrlPr>
                                    </m:sSubPr>
                                    <m:e>
                                      <m:r>
                                        <a:rPr lang="en-US" altLang="zh-CN" i="1">
                                          <a:latin typeface="Cambria Math" panose="02040503050406030204" pitchFamily="18" charset="0"/>
                                          <a:ea typeface="Cambria Math" panose="02040503050406030204" pitchFamily="18" charset="0"/>
                                        </a:rPr>
                                        <m:t>𝛽</m:t>
                                      </m:r>
                                    </m:e>
                                    <m:sub>
                                      <m:r>
                                        <a:rPr lang="en-US" altLang="zh-CN" i="1">
                                          <a:latin typeface="Cambria Math" panose="02040503050406030204" pitchFamily="18" charset="0"/>
                                          <a:ea typeface="Cambria Math" panose="02040503050406030204" pitchFamily="18" charset="0"/>
                                        </a:rPr>
                                        <m:t>𝑖</m:t>
                                      </m:r>
                                      <m:r>
                                        <a:rPr lang="en-US" altLang="zh-CN" i="1">
                                          <a:latin typeface="Cambria Math" panose="02040503050406030204" pitchFamily="18" charset="0"/>
                                          <a:ea typeface="Cambria Math" panose="02040503050406030204" pitchFamily="18" charset="0"/>
                                        </a:rPr>
                                        <m:t>−1</m:t>
                                      </m:r>
                                    </m:sub>
                                  </m:sSub>
                                </m:e>
                              </m:eqArr>
                            </m:lim>
                          </m:limLow>
                          <m:limLow>
                            <m:limLowPr>
                              <m:ctrlPr>
                                <a:rPr lang="en-US" altLang="zh-CN" i="1" dirty="0">
                                  <a:latin typeface="Cambria Math" panose="02040503050406030204" pitchFamily="18" charset="0"/>
                                  <a:ea typeface="Cambria Math" panose="02040503050406030204" pitchFamily="18" charset="0"/>
                                </a:rPr>
                              </m:ctrlPr>
                            </m:limLowPr>
                            <m:e>
                              <m:groupChr>
                                <m:groupChrPr>
                                  <m:chr m:val="⏟"/>
                                  <m:pos m:val="bot"/>
                                  <m:vertJc m:val="top"/>
                                  <m:ctrlPr>
                                    <a:rPr lang="en-US" altLang="zh-CN" i="1" dirty="0">
                                      <a:latin typeface="Cambria Math" panose="02040503050406030204" pitchFamily="18" charset="0"/>
                                      <a:ea typeface="Cambria Math" panose="02040503050406030204" pitchFamily="18" charset="0"/>
                                    </a:rPr>
                                  </m:ctrlPr>
                                </m:groupChrPr>
                                <m:e>
                                  <m:d>
                                    <m:dPr>
                                      <m:begChr m:val="["/>
                                      <m:endChr m:val="]"/>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rgbClr val="F76409"/>
                                              </a:solidFill>
                                              <a:latin typeface="Cambria Math" panose="02040503050406030204" pitchFamily="18" charset="0"/>
                                              <a:ea typeface="Cambria Math" panose="02040503050406030204" pitchFamily="18" charset="0"/>
                                            </a:rPr>
                                          </m:ctrlPr>
                                        </m:dPr>
                                        <m:e>
                                          <m:r>
                                            <a:rPr lang="en-US" altLang="zh-CN" i="1" dirty="0">
                                              <a:solidFill>
                                                <a:srgbClr val="F76409"/>
                                              </a:solidFill>
                                              <a:latin typeface="Cambria Math" panose="02040503050406030204" pitchFamily="18" charset="0"/>
                                              <a:ea typeface="Cambria Math" panose="02040503050406030204" pitchFamily="18" charset="0"/>
                                            </a:rPr>
                                            <m:t>𝐿</m:t>
                                          </m:r>
                                          <m:r>
                                            <a:rPr lang="en-US" altLang="zh-CN" i="1" dirty="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smtClean="0">
                                                  <a:solidFill>
                                                    <a:srgbClr val="F76409"/>
                                                  </a:solidFill>
                                                  <a:latin typeface="Cambria Math" panose="02040503050406030204" pitchFamily="18" charset="0"/>
                                                </a:rPr>
                                                <m:t>𝐿</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smtClean="0">
                                                  <a:solidFill>
                                                    <a:schemeClr val="accent2">
                                                      <a:lumMod val="75000"/>
                                                    </a:schemeClr>
                                                  </a:solidFill>
                                                  <a:latin typeface="Cambria Math" panose="02040503050406030204" pitchFamily="18" charset="0"/>
                                                </a:rPr>
                                                <m:t>𝐵</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e>
                                      </m:d>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𝐿</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e>
                                          </m:d>
                                        </m:den>
                                      </m:f>
                                      <m:r>
                                        <a:rPr lang="en-US" altLang="zh-CN" i="1">
                                          <a:latin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chemeClr val="accent2">
                                                  <a:lumMod val="75000"/>
                                                </a:schemeClr>
                                              </a:solidFill>
                                              <a:latin typeface="Cambria Math" panose="02040503050406030204" pitchFamily="18" charset="0"/>
                                              <a:ea typeface="Cambria Math" panose="02040503050406030204" pitchFamily="18" charset="0"/>
                                            </a:rPr>
                                          </m:ctrlPr>
                                        </m:dPr>
                                        <m:e>
                                          <m:r>
                                            <a:rPr lang="en-US" altLang="zh-CN" i="1" dirty="0">
                                              <a:solidFill>
                                                <a:schemeClr val="accent2">
                                                  <a:lumMod val="75000"/>
                                                </a:schemeClr>
                                              </a:solidFill>
                                              <a:latin typeface="Cambria Math" panose="02040503050406030204" pitchFamily="18" charset="0"/>
                                              <a:ea typeface="Cambria Math" panose="02040503050406030204" pitchFamily="18" charset="0"/>
                                            </a:rPr>
                                            <m:t>𝐵</m:t>
                                          </m:r>
                                          <m:r>
                                            <a:rPr lang="en-US" altLang="zh-CN" i="1" dirty="0">
                                              <a:latin typeface="Cambria Math" panose="02040503050406030204" pitchFamily="18" charset="0"/>
                                              <a:ea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solidFill>
                                                    <a:srgbClr val="F76409"/>
                                                  </a:solidFill>
                                                  <a:latin typeface="Cambria Math" panose="02040503050406030204" pitchFamily="18" charset="0"/>
                                                </a:rPr>
                                                <m:t>𝐿</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solidFill>
                                                    <a:schemeClr val="accent2">
                                                      <a:lumMod val="75000"/>
                                                    </a:schemeClr>
                                                  </a:solidFill>
                                                  <a:latin typeface="Cambria Math" panose="02040503050406030204" pitchFamily="18" charset="0"/>
                                                </a:rPr>
                                                <m:t>𝐵</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e>
                                      </m:d>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𝐵</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a:solidFill>
                                                        <a:schemeClr val="accent2">
                                                          <a:lumMod val="75000"/>
                                                        </a:schemeClr>
                                                      </a:solidFill>
                                                      <a:latin typeface="Cambria Math" panose="02040503050406030204" pitchFamily="18" charset="0"/>
                                                    </a:rPr>
                                                    <m:t>𝐵</m:t>
                                                  </m:r>
                                                </m:sup>
                                              </m:sSubSup>
                                            </m:e>
                                          </m:d>
                                        </m:den>
                                      </m:f>
                                    </m:e>
                                  </m:d>
                                </m:e>
                              </m:groupChr>
                            </m:e>
                            <m:lim>
                              <m:eqArr>
                                <m:eqArrPr>
                                  <m:ctrlPr>
                                    <a:rPr lang="en-US" altLang="zh-CN" b="0" i="1" smtClean="0">
                                      <a:latin typeface="Cambria Math" panose="02040503050406030204" pitchFamily="18" charset="0"/>
                                    </a:rPr>
                                  </m:ctrlPr>
                                </m:eqArrPr>
                                <m:e>
                                  <m:r>
                                    <a:rPr lang="en-US" altLang="zh-CN" b="0" i="1" smtClean="0">
                                      <a:latin typeface="Cambria Math" panose="02040503050406030204" pitchFamily="18" charset="0"/>
                                    </a:rPr>
                                    <m:t> </m:t>
                                  </m:r>
                                </m:e>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𝐷</m:t>
                                          </m:r>
                                        </m:e>
                                      </m:acc>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e>
                                  </m:d>
                                </m:e>
                              </m:eqArr>
                            </m:lim>
                          </m:limLow>
                        </m:e>
                      </m:borderBox>
                    </m:oMath>
                  </m:oMathPara>
                </a14:m>
                <a:endParaRPr lang="en-US" altLang="zh-CN" dirty="0">
                  <a:solidFill>
                    <a:schemeClr val="tx1"/>
                  </a:solidFill>
                </a:endParaRPr>
              </a:p>
            </p:txBody>
          </p:sp>
        </mc:Choice>
        <mc:Fallback xmlns="">
          <p:sp>
            <p:nvSpPr>
              <p:cNvPr id="12" name="文本框 11">
                <a:extLst>
                  <a:ext uri="{FF2B5EF4-FFF2-40B4-BE49-F238E27FC236}">
                    <a16:creationId xmlns:a16="http://schemas.microsoft.com/office/drawing/2014/main" id="{4A54D47D-DC4C-7644-3A4E-BBB1D5627FC2}"/>
                  </a:ext>
                </a:extLst>
              </p:cNvPr>
              <p:cNvSpPr txBox="1">
                <a:spLocks noRot="1" noChangeAspect="1" noMove="1" noResize="1" noEditPoints="1" noAdjustHandles="1" noChangeArrowheads="1" noChangeShapeType="1" noTextEdit="1"/>
              </p:cNvSpPr>
              <p:nvPr/>
            </p:nvSpPr>
            <p:spPr>
              <a:xfrm>
                <a:off x="298360" y="1217732"/>
                <a:ext cx="11595280" cy="5311454"/>
              </a:xfrm>
              <a:prstGeom prst="rect">
                <a:avLst/>
              </a:prstGeom>
              <a:blipFill>
                <a:blip r:embed="rId2"/>
                <a:stretch>
                  <a:fillRect l="-578"/>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E68A37D0-CD0B-0D27-AAAB-900408280FAD}"/>
              </a:ext>
            </a:extLst>
          </p:cNvPr>
          <p:cNvCxnSpPr>
            <a:cxnSpLocks/>
          </p:cNvCxnSpPr>
          <p:nvPr/>
        </p:nvCxnSpPr>
        <p:spPr>
          <a:xfrm>
            <a:off x="532327" y="2955701"/>
            <a:ext cx="11243256" cy="0"/>
          </a:xfrm>
          <a:prstGeom prst="line">
            <a:avLst/>
          </a:prstGeom>
          <a:ln w="38100"/>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3579222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BD1A1-E566-256C-F30A-EC0709C347E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3AACBC6-30FD-1BFC-E099-C23B619D46D1}"/>
              </a:ext>
            </a:extLst>
          </p:cNvPr>
          <p:cNvSpPr>
            <a:spLocks noGrp="1"/>
          </p:cNvSpPr>
          <p:nvPr>
            <p:ph type="title" idx="1"/>
          </p:nvPr>
        </p:nvSpPr>
        <p:spPr/>
        <p:txBody>
          <a:bodyPr/>
          <a:lstStyle/>
          <a:p>
            <a:r>
              <a:rPr lang="zh-CN" altLang="en-US" dirty="0"/>
              <a:t>路径追踪流程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016CEEE6-60EF-9D0F-58F4-7E5E3DB3A54B}"/>
                  </a:ext>
                </a:extLst>
              </p:cNvPr>
              <p:cNvSpPr txBox="1"/>
              <p:nvPr/>
            </p:nvSpPr>
            <p:spPr>
              <a:xfrm>
                <a:off x="186518" y="1420090"/>
                <a:ext cx="5858275" cy="2323457"/>
              </a:xfrm>
              <a:prstGeom prst="rect">
                <a:avLst/>
              </a:prstGeom>
              <a:noFill/>
            </p:spPr>
            <p:txBody>
              <a:bodyPr wrap="square">
                <a:spAutoFit/>
              </a:bodyPr>
              <a:lstStyle/>
              <a:p>
                <a:r>
                  <a:rPr lang="zh-CN" altLang="en-US" sz="1800" b="0" dirty="0">
                    <a:latin typeface="+mn-ea"/>
                  </a:rPr>
                  <a:t>         我们再来审视一下路径追踪的流程：</a:t>
                </a:r>
                <a:endParaRPr lang="en-US" altLang="zh-CN" sz="1800" b="0" dirty="0">
                  <a:latin typeface="+mn-ea"/>
                </a:endParaRPr>
              </a:p>
              <a:p>
                <a:r>
                  <a:rPr lang="zh-CN" altLang="en-US" dirty="0">
                    <a:latin typeface="+mn-ea"/>
                  </a:rPr>
                  <a:t>         路径追踪算法最终要计算的是：</a:t>
                </a:r>
                <a14:m>
                  <m:oMath xmlns:m="http://schemas.openxmlformats.org/officeDocument/2006/math">
                    <m:r>
                      <a:rPr lang="en-US" altLang="zh-CN" i="1" dirty="0">
                        <a:latin typeface="Cambria Math" panose="02040503050406030204" pitchFamily="18" charset="0"/>
                      </a:rPr>
                      <m:t>𝐿</m:t>
                    </m:r>
                    <m:d>
                      <m:dPr>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𝟏</m:t>
                            </m:r>
                          </m:sub>
                        </m:sSub>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𝟎</m:t>
                            </m:r>
                          </m:sub>
                        </m:sSub>
                      </m:e>
                    </m:d>
                    <m:r>
                      <a:rPr lang="en-US" altLang="zh-CN" b="1" i="1" dirty="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e>
                    </m:nary>
                  </m:oMath>
                </a14:m>
                <a:r>
                  <a:rPr lang="zh-CN" altLang="en-US" dirty="0">
                    <a:latin typeface="+mn-ea"/>
                  </a:rPr>
                  <a:t>，而计算的方法就是不断构建长度为</a:t>
                </a:r>
                <a14:m>
                  <m:oMath xmlns:m="http://schemas.openxmlformats.org/officeDocument/2006/math">
                    <m:r>
                      <a:rPr lang="en-US" altLang="zh-CN" b="0" i="1" dirty="0" smtClean="0">
                        <a:latin typeface="Cambria Math" panose="02040503050406030204" pitchFamily="18" charset="0"/>
                      </a:rPr>
                      <m:t>𝑖</m:t>
                    </m:r>
                  </m:oMath>
                </a14:m>
                <a:r>
                  <a:rPr lang="zh-CN" altLang="en-US" dirty="0">
                    <a:latin typeface="+mn-ea"/>
                  </a:rPr>
                  <a:t>的路径</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oMath>
                </a14:m>
                <a:r>
                  <a:rPr lang="zh-CN" altLang="en-US" dirty="0">
                    <a:latin typeface="+mn-ea"/>
                  </a:rPr>
                  <a:t>，然后使用这条路径计算</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oMath>
                </a14:m>
                <a:r>
                  <a:rPr lang="zh-CN" altLang="en-US" dirty="0">
                    <a:latin typeface="+mn-ea"/>
                  </a:rPr>
                  <a:t>的估计</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i="1" dirty="0">
                            <a:latin typeface="Cambria Math" panose="02040503050406030204" pitchFamily="18" charset="0"/>
                          </a:rPr>
                          <m:t>𝑖</m:t>
                        </m:r>
                      </m:sub>
                    </m:sSub>
                  </m:oMath>
                </a14:m>
                <a:r>
                  <a:rPr lang="zh-CN" altLang="en-US" dirty="0">
                    <a:latin typeface="+mn-ea"/>
                  </a:rPr>
                  <a:t>，而计算方法则用到了</a:t>
                </a:r>
                <a:r>
                  <a:rPr lang="en-US" altLang="zh-CN" dirty="0">
                    <a:latin typeface="+mn-ea"/>
                  </a:rPr>
                  <a:t>MIS</a:t>
                </a:r>
                <a:r>
                  <a:rPr lang="zh-CN" altLang="en-US" dirty="0">
                    <a:latin typeface="+mn-ea"/>
                  </a:rPr>
                  <a:t>。</a:t>
                </a:r>
                <a:endParaRPr lang="en-US" altLang="zh-CN" dirty="0">
                  <a:latin typeface="+mn-ea"/>
                </a:endParaRPr>
              </a:p>
              <a:p>
                <a:endParaRPr lang="en-US" altLang="zh-CN" dirty="0">
                  <a:latin typeface="+mn-ea"/>
                </a:endParaRPr>
              </a:p>
              <a:p>
                <a:r>
                  <a:rPr lang="en-US" altLang="zh-CN" dirty="0">
                    <a:latin typeface="+mn-ea"/>
                  </a:rPr>
                  <a:t>         </a:t>
                </a:r>
                <a:r>
                  <a:rPr lang="zh-CN" altLang="en-US" dirty="0">
                    <a:latin typeface="+mn-ea"/>
                  </a:rPr>
                  <a:t>假设光线目前到达了顶点</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a:latin typeface="Cambria Math" panose="02040503050406030204" pitchFamily="18" charset="0"/>
                          </a:rPr>
                          <m:t>𝒊</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sub>
                    </m:sSub>
                  </m:oMath>
                </a14:m>
                <a:r>
                  <a:rPr lang="en-US" altLang="zh-CN" dirty="0">
                    <a:latin typeface="+mn-ea"/>
                  </a:rPr>
                  <a:t>,</a:t>
                </a:r>
                <a:r>
                  <a:rPr lang="zh-CN" altLang="en-US" dirty="0">
                    <a:latin typeface="+mn-ea"/>
                  </a:rPr>
                  <a:t>那么路径追踪算法实际是在解决两个问题：</a:t>
                </a:r>
                <a:endParaRPr lang="en-US" altLang="zh-CN" dirty="0">
                  <a:latin typeface="+mn-ea"/>
                </a:endParaRPr>
              </a:p>
            </p:txBody>
          </p:sp>
        </mc:Choice>
        <mc:Fallback xmlns="">
          <p:sp>
            <p:nvSpPr>
              <p:cNvPr id="12" name="文本框 11">
                <a:extLst>
                  <a:ext uri="{FF2B5EF4-FFF2-40B4-BE49-F238E27FC236}">
                    <a16:creationId xmlns:a16="http://schemas.microsoft.com/office/drawing/2014/main" id="{016CEEE6-60EF-9D0F-58F4-7E5E3DB3A54B}"/>
                  </a:ext>
                </a:extLst>
              </p:cNvPr>
              <p:cNvSpPr txBox="1">
                <a:spLocks noRot="1" noChangeAspect="1" noMove="1" noResize="1" noEditPoints="1" noAdjustHandles="1" noChangeArrowheads="1" noChangeShapeType="1" noTextEdit="1"/>
              </p:cNvSpPr>
              <p:nvPr/>
            </p:nvSpPr>
            <p:spPr>
              <a:xfrm>
                <a:off x="186518" y="1420090"/>
                <a:ext cx="5858275" cy="2323457"/>
              </a:xfrm>
              <a:prstGeom prst="rect">
                <a:avLst/>
              </a:prstGeom>
              <a:blipFill>
                <a:blip r:embed="rId2"/>
                <a:stretch>
                  <a:fillRect l="-5827" t="-1575" b="-3412"/>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1F1C4515-699E-AA27-51FA-1DC33C347056}"/>
              </a:ext>
            </a:extLst>
          </p:cNvPr>
          <p:cNvGrpSpPr/>
          <p:nvPr/>
        </p:nvGrpSpPr>
        <p:grpSpPr>
          <a:xfrm>
            <a:off x="6410686" y="1210766"/>
            <a:ext cx="5485326" cy="2742104"/>
            <a:chOff x="310861" y="3497222"/>
            <a:chExt cx="6094926" cy="3000778"/>
          </a:xfrm>
        </p:grpSpPr>
        <p:sp>
          <p:nvSpPr>
            <p:cNvPr id="6" name="流程图: 可选过程 5">
              <a:extLst>
                <a:ext uri="{FF2B5EF4-FFF2-40B4-BE49-F238E27FC236}">
                  <a16:creationId xmlns:a16="http://schemas.microsoft.com/office/drawing/2014/main" id="{C315C7E6-0361-5E12-8560-B4AAD1408E8E}"/>
                </a:ext>
              </a:extLst>
            </p:cNvPr>
            <p:cNvSpPr/>
            <p:nvPr/>
          </p:nvSpPr>
          <p:spPr>
            <a:xfrm>
              <a:off x="310861" y="3497222"/>
              <a:ext cx="6094926" cy="3000778"/>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EF70C024-10A6-8D9B-1B3A-BFC0F384D8AE}"/>
                </a:ext>
              </a:extLst>
            </p:cNvPr>
            <p:cNvCxnSpPr/>
            <p:nvPr/>
          </p:nvCxnSpPr>
          <p:spPr>
            <a:xfrm>
              <a:off x="1616880" y="4413303"/>
              <a:ext cx="754402" cy="298252"/>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4E3FB0A-14F2-055D-D5CF-B6A8E483B9DE}"/>
                </a:ext>
              </a:extLst>
            </p:cNvPr>
            <p:cNvCxnSpPr/>
            <p:nvPr/>
          </p:nvCxnSpPr>
          <p:spPr>
            <a:xfrm>
              <a:off x="2371282" y="4711554"/>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4A21BEA4-B8D6-E6B8-B1CB-1F0B5C871C04}"/>
                </a:ext>
              </a:extLst>
            </p:cNvPr>
            <p:cNvCxnSpPr>
              <a:cxnSpLocks/>
            </p:cNvCxnSpPr>
            <p:nvPr/>
          </p:nvCxnSpPr>
          <p:spPr>
            <a:xfrm flipV="1">
              <a:off x="2371282" y="4465029"/>
              <a:ext cx="752580" cy="246524"/>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5F2D3E41-0016-8983-A49C-15EF3AA6293F}"/>
                </a:ext>
              </a:extLst>
            </p:cNvPr>
            <p:cNvCxnSpPr/>
            <p:nvPr/>
          </p:nvCxnSpPr>
          <p:spPr>
            <a:xfrm>
              <a:off x="3125685" y="5009806"/>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9C1D6DB-4211-CCAD-A43C-1208A29F683D}"/>
                </a:ext>
              </a:extLst>
            </p:cNvPr>
            <p:cNvCxnSpPr>
              <a:cxnSpLocks/>
            </p:cNvCxnSpPr>
            <p:nvPr/>
          </p:nvCxnSpPr>
          <p:spPr>
            <a:xfrm flipV="1">
              <a:off x="3125685" y="4763280"/>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B9BDC60-CF77-7ED1-0B9B-4144951A6FD3}"/>
                </a:ext>
              </a:extLst>
            </p:cNvPr>
            <p:cNvCxnSpPr/>
            <p:nvPr/>
          </p:nvCxnSpPr>
          <p:spPr>
            <a:xfrm>
              <a:off x="3880087" y="5308058"/>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8CE0F6F-9076-B829-AC03-E8EB8405AEC4}"/>
                </a:ext>
              </a:extLst>
            </p:cNvPr>
            <p:cNvCxnSpPr>
              <a:cxnSpLocks/>
            </p:cNvCxnSpPr>
            <p:nvPr/>
          </p:nvCxnSpPr>
          <p:spPr>
            <a:xfrm flipV="1">
              <a:off x="3880087" y="5061532"/>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2CA5F4B3-961F-12A2-FDB3-332C0EE5375F}"/>
                </a:ext>
              </a:extLst>
            </p:cNvPr>
            <p:cNvCxnSpPr/>
            <p:nvPr/>
          </p:nvCxnSpPr>
          <p:spPr>
            <a:xfrm>
              <a:off x="4634489" y="5601434"/>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29E586E9-B325-715C-495C-E0F0D13983FD}"/>
                </a:ext>
              </a:extLst>
            </p:cNvPr>
            <p:cNvCxnSpPr>
              <a:cxnSpLocks/>
            </p:cNvCxnSpPr>
            <p:nvPr/>
          </p:nvCxnSpPr>
          <p:spPr>
            <a:xfrm flipV="1">
              <a:off x="4634489" y="5354907"/>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AF43AF5A-F6A3-6C00-A7C2-0B75BC93B839}"/>
                    </a:ext>
                  </a:extLst>
                </p:cNvPr>
                <p:cNvSpPr txBox="1"/>
                <p:nvPr/>
              </p:nvSpPr>
              <p:spPr>
                <a:xfrm>
                  <a:off x="1180325" y="4186192"/>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0</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DCE7F767-9850-A768-12C5-3EBDA3F36E68}"/>
                    </a:ext>
                  </a:extLst>
                </p:cNvPr>
                <p:cNvSpPr txBox="1">
                  <a:spLocks noRot="1" noChangeAspect="1" noMove="1" noResize="1" noEditPoints="1" noAdjustHandles="1" noChangeArrowheads="1" noChangeShapeType="1" noTextEdit="1"/>
                </p:cNvSpPr>
                <p:nvPr/>
              </p:nvSpPr>
              <p:spPr>
                <a:xfrm>
                  <a:off x="1180325" y="4186192"/>
                  <a:ext cx="542504" cy="359036"/>
                </a:xfrm>
                <a:prstGeom prst="rect">
                  <a:avLst/>
                </a:prstGeom>
                <a:blipFill>
                  <a:blip r:embed="rId6"/>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121E31B0-ABC7-8655-B857-28CE8032A39E}"/>
                    </a:ext>
                  </a:extLst>
                </p:cNvPr>
                <p:cNvSpPr txBox="1"/>
                <p:nvPr/>
              </p:nvSpPr>
              <p:spPr>
                <a:xfrm>
                  <a:off x="2008740" y="4650771"/>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1</m:t>
                            </m:r>
                          </m:sub>
                        </m:sSub>
                      </m:oMath>
                    </m:oMathPara>
                  </a14:m>
                  <a:endParaRPr lang="zh-CN" altLang="en-US" dirty="0"/>
                </a:p>
              </p:txBody>
            </p:sp>
          </mc:Choice>
          <mc:Fallback xmlns="">
            <p:sp>
              <p:nvSpPr>
                <p:cNvPr id="23" name="文本框 22">
                  <a:extLst>
                    <a:ext uri="{FF2B5EF4-FFF2-40B4-BE49-F238E27FC236}">
                      <a16:creationId xmlns:a16="http://schemas.microsoft.com/office/drawing/2014/main" id="{341F5753-C250-8F15-2C23-AF3335F5A5C9}"/>
                    </a:ext>
                  </a:extLst>
                </p:cNvPr>
                <p:cNvSpPr txBox="1">
                  <a:spLocks noRot="1" noChangeAspect="1" noMove="1" noResize="1" noEditPoints="1" noAdjustHandles="1" noChangeArrowheads="1" noChangeShapeType="1" noTextEdit="1"/>
                </p:cNvSpPr>
                <p:nvPr/>
              </p:nvSpPr>
              <p:spPr>
                <a:xfrm>
                  <a:off x="2008740" y="4650771"/>
                  <a:ext cx="542504" cy="359036"/>
                </a:xfrm>
                <a:prstGeom prst="rect">
                  <a:avLst/>
                </a:prstGeom>
                <a:blipFill>
                  <a:blip r:embed="rId7"/>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BB8107C0-25A9-5FC2-5B72-969483860B20}"/>
                    </a:ext>
                  </a:extLst>
                </p:cNvPr>
                <p:cNvSpPr txBox="1"/>
                <p:nvPr/>
              </p:nvSpPr>
              <p:spPr>
                <a:xfrm>
                  <a:off x="2808787" y="4031383"/>
                  <a:ext cx="542504" cy="408383"/>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0" name="文本框 19">
                  <a:extLst>
                    <a:ext uri="{FF2B5EF4-FFF2-40B4-BE49-F238E27FC236}">
                      <a16:creationId xmlns:a16="http://schemas.microsoft.com/office/drawing/2014/main" id="{BB8107C0-25A9-5FC2-5B72-969483860B20}"/>
                    </a:ext>
                  </a:extLst>
                </p:cNvPr>
                <p:cNvSpPr txBox="1">
                  <a:spLocks noRot="1" noChangeAspect="1" noMove="1" noResize="1" noEditPoints="1" noAdjustHandles="1" noChangeArrowheads="1" noChangeShapeType="1" noTextEdit="1"/>
                </p:cNvSpPr>
                <p:nvPr/>
              </p:nvSpPr>
              <p:spPr>
                <a:xfrm>
                  <a:off x="2808787" y="4031383"/>
                  <a:ext cx="542504" cy="408383"/>
                </a:xfrm>
                <a:prstGeom prst="rect">
                  <a:avLst/>
                </a:prstGeom>
                <a:blipFill>
                  <a:blip r:embed="rId8"/>
                  <a:stretch>
                    <a:fillRect t="-8197" r="-187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DADE81E-EBAD-005A-E08B-49F19D74876C}"/>
                    </a:ext>
                  </a:extLst>
                </p:cNvPr>
                <p:cNvSpPr txBox="1"/>
                <p:nvPr/>
              </p:nvSpPr>
              <p:spPr>
                <a:xfrm>
                  <a:off x="2266780" y="4949021"/>
                  <a:ext cx="1483324" cy="628312"/>
                </a:xfrm>
                <a:prstGeom prst="rect">
                  <a:avLst/>
                </a:prstGeom>
                <a:noFill/>
              </p:spPr>
              <p:txBody>
                <a:bodyPr wrap="square">
                  <a:spAutoFit/>
                </a:bodyPr>
                <a:lstStyle/>
                <a:p>
                  <a:pPr algn="ct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2</m:t>
                            </m:r>
                          </m:sub>
                        </m:sSub>
                      </m:oMath>
                    </m:oMathPara>
                  </a14:m>
                  <a:endParaRPr lang="en-US" altLang="zh-CN" dirty="0"/>
                </a:p>
                <a:p>
                  <a:pPr algn="ctr"/>
                  <a:r>
                    <a:rPr lang="en-US" altLang="zh-CN" dirty="0"/>
                    <a:t>(</a:t>
                  </a:r>
                  <a:r>
                    <a:rPr lang="en-US" altLang="zh-CN" dirty="0">
                      <a:solidFill>
                        <a:srgbClr val="00B050"/>
                      </a:solidFill>
                    </a:rPr>
                    <a:t>specular</a:t>
                  </a:r>
                  <a:r>
                    <a:rPr lang="en-US" altLang="zh-CN" dirty="0"/>
                    <a:t>)</a:t>
                  </a:r>
                  <a:endParaRPr lang="zh-CN" altLang="en-US" dirty="0"/>
                </a:p>
              </p:txBody>
            </p:sp>
          </mc:Choice>
          <mc:Fallback xmlns="">
            <p:sp>
              <p:nvSpPr>
                <p:cNvPr id="25" name="文本框 24">
                  <a:extLst>
                    <a:ext uri="{FF2B5EF4-FFF2-40B4-BE49-F238E27FC236}">
                      <a16:creationId xmlns:a16="http://schemas.microsoft.com/office/drawing/2014/main" id="{5197048D-5A3B-8D70-8823-01163689FDE6}"/>
                    </a:ext>
                  </a:extLst>
                </p:cNvPr>
                <p:cNvSpPr txBox="1">
                  <a:spLocks noRot="1" noChangeAspect="1" noMove="1" noResize="1" noEditPoints="1" noAdjustHandles="1" noChangeArrowheads="1" noChangeShapeType="1" noTextEdit="1"/>
                </p:cNvSpPr>
                <p:nvPr/>
              </p:nvSpPr>
              <p:spPr>
                <a:xfrm>
                  <a:off x="2266780" y="4949021"/>
                  <a:ext cx="1483324" cy="628312"/>
                </a:xfrm>
                <a:prstGeom prst="rect">
                  <a:avLst/>
                </a:prstGeom>
                <a:blipFill>
                  <a:blip r:embed="rId9"/>
                  <a:stretch>
                    <a:fillRect b="-174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51A4869-EBEE-2059-BF30-37D9B664BCCA}"/>
                    </a:ext>
                  </a:extLst>
                </p:cNvPr>
                <p:cNvSpPr txBox="1"/>
                <p:nvPr/>
              </p:nvSpPr>
              <p:spPr>
                <a:xfrm>
                  <a:off x="3749607" y="4381757"/>
                  <a:ext cx="542504" cy="409927"/>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2" name="文本框 21">
                  <a:extLst>
                    <a:ext uri="{FF2B5EF4-FFF2-40B4-BE49-F238E27FC236}">
                      <a16:creationId xmlns:a16="http://schemas.microsoft.com/office/drawing/2014/main" id="{B51A4869-EBEE-2059-BF30-37D9B664BCCA}"/>
                    </a:ext>
                  </a:extLst>
                </p:cNvPr>
                <p:cNvSpPr txBox="1">
                  <a:spLocks noRot="1" noChangeAspect="1" noMove="1" noResize="1" noEditPoints="1" noAdjustHandles="1" noChangeArrowheads="1" noChangeShapeType="1" noTextEdit="1"/>
                </p:cNvSpPr>
                <p:nvPr/>
              </p:nvSpPr>
              <p:spPr>
                <a:xfrm>
                  <a:off x="3749607" y="4381757"/>
                  <a:ext cx="542504" cy="409927"/>
                </a:xfrm>
                <a:prstGeom prst="rect">
                  <a:avLst/>
                </a:prstGeom>
                <a:blipFill>
                  <a:blip r:embed="rId10"/>
                  <a:stretch>
                    <a:fillRect t="-6452" r="-18750"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DD375517-3599-5AE3-800A-7C957198BD75}"/>
                    </a:ext>
                  </a:extLst>
                </p:cNvPr>
                <p:cNvSpPr txBox="1"/>
                <p:nvPr/>
              </p:nvSpPr>
              <p:spPr>
                <a:xfrm>
                  <a:off x="3649316" y="5231988"/>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27" name="文本框 26">
                  <a:extLst>
                    <a:ext uri="{FF2B5EF4-FFF2-40B4-BE49-F238E27FC236}">
                      <a16:creationId xmlns:a16="http://schemas.microsoft.com/office/drawing/2014/main" id="{6FEF8028-F791-BADC-60AD-64D148AB3E6C}"/>
                    </a:ext>
                  </a:extLst>
                </p:cNvPr>
                <p:cNvSpPr txBox="1">
                  <a:spLocks noRot="1" noChangeAspect="1" noMove="1" noResize="1" noEditPoints="1" noAdjustHandles="1" noChangeArrowheads="1" noChangeShapeType="1" noTextEdit="1"/>
                </p:cNvSpPr>
                <p:nvPr/>
              </p:nvSpPr>
              <p:spPr>
                <a:xfrm>
                  <a:off x="3649316" y="5231988"/>
                  <a:ext cx="542504" cy="359036"/>
                </a:xfrm>
                <a:prstGeom prst="rect">
                  <a:avLst/>
                </a:prstGeom>
                <a:blipFill>
                  <a:blip r:embed="rId11"/>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093376D-E1C9-2C1A-AD13-7E9C462AEEE5}"/>
                    </a:ext>
                  </a:extLst>
                </p:cNvPr>
                <p:cNvSpPr txBox="1"/>
                <p:nvPr/>
              </p:nvSpPr>
              <p:spPr>
                <a:xfrm>
                  <a:off x="4527668" y="4711553"/>
                  <a:ext cx="542504" cy="407541"/>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4</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4" name="文本框 23">
                  <a:extLst>
                    <a:ext uri="{FF2B5EF4-FFF2-40B4-BE49-F238E27FC236}">
                      <a16:creationId xmlns:a16="http://schemas.microsoft.com/office/drawing/2014/main" id="{C093376D-E1C9-2C1A-AD13-7E9C462AEEE5}"/>
                    </a:ext>
                  </a:extLst>
                </p:cNvPr>
                <p:cNvSpPr txBox="1">
                  <a:spLocks noRot="1" noChangeAspect="1" noMove="1" noResize="1" noEditPoints="1" noAdjustHandles="1" noChangeArrowheads="1" noChangeShapeType="1" noTextEdit="1"/>
                </p:cNvSpPr>
                <p:nvPr/>
              </p:nvSpPr>
              <p:spPr>
                <a:xfrm>
                  <a:off x="4527668" y="4711553"/>
                  <a:ext cx="542504" cy="407541"/>
                </a:xfrm>
                <a:prstGeom prst="rect">
                  <a:avLst/>
                </a:prstGeom>
                <a:blipFill>
                  <a:blip r:embed="rId12"/>
                  <a:stretch>
                    <a:fillRect t="-8197" r="-1750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1711BF9-CB6B-1D1A-019D-8B93DB75C301}"/>
                    </a:ext>
                  </a:extLst>
                </p:cNvPr>
                <p:cNvSpPr txBox="1"/>
                <p:nvPr/>
              </p:nvSpPr>
              <p:spPr>
                <a:xfrm>
                  <a:off x="4370547" y="5601433"/>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29" name="文本框 28">
                  <a:extLst>
                    <a:ext uri="{FF2B5EF4-FFF2-40B4-BE49-F238E27FC236}">
                      <a16:creationId xmlns:a16="http://schemas.microsoft.com/office/drawing/2014/main" id="{1A358138-FAD7-E8B4-79BC-0C5F42239BC8}"/>
                    </a:ext>
                  </a:extLst>
                </p:cNvPr>
                <p:cNvSpPr txBox="1">
                  <a:spLocks noRot="1" noChangeAspect="1" noMove="1" noResize="1" noEditPoints="1" noAdjustHandles="1" noChangeArrowheads="1" noChangeShapeType="1" noTextEdit="1"/>
                </p:cNvSpPr>
                <p:nvPr/>
              </p:nvSpPr>
              <p:spPr>
                <a:xfrm>
                  <a:off x="4370547" y="5601433"/>
                  <a:ext cx="542504" cy="359036"/>
                </a:xfrm>
                <a:prstGeom prst="rect">
                  <a:avLst/>
                </a:prstGeom>
                <a:blipFill>
                  <a:blip r:embed="rId13"/>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2635389B-85A6-019E-3DB0-9BBD72373A23}"/>
                    </a:ext>
                  </a:extLst>
                </p:cNvPr>
                <p:cNvSpPr txBox="1"/>
                <p:nvPr/>
              </p:nvSpPr>
              <p:spPr>
                <a:xfrm>
                  <a:off x="5334115" y="5015652"/>
                  <a:ext cx="542504" cy="414558"/>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5</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6" name="文本框 25">
                  <a:extLst>
                    <a:ext uri="{FF2B5EF4-FFF2-40B4-BE49-F238E27FC236}">
                      <a16:creationId xmlns:a16="http://schemas.microsoft.com/office/drawing/2014/main" id="{2635389B-85A6-019E-3DB0-9BBD72373A23}"/>
                    </a:ext>
                  </a:extLst>
                </p:cNvPr>
                <p:cNvSpPr txBox="1">
                  <a:spLocks noRot="1" noChangeAspect="1" noMove="1" noResize="1" noEditPoints="1" noAdjustHandles="1" noChangeArrowheads="1" noChangeShapeType="1" noTextEdit="1"/>
                </p:cNvSpPr>
                <p:nvPr/>
              </p:nvSpPr>
              <p:spPr>
                <a:xfrm>
                  <a:off x="5334115" y="5015652"/>
                  <a:ext cx="542504" cy="414558"/>
                </a:xfrm>
                <a:prstGeom prst="rect">
                  <a:avLst/>
                </a:prstGeom>
                <a:blipFill>
                  <a:blip r:embed="rId14"/>
                  <a:stretch>
                    <a:fillRect t="-4839" r="-17500"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CE9765E-1B7E-FFF1-F6D5-402BBC69D79F}"/>
                    </a:ext>
                  </a:extLst>
                </p:cNvPr>
                <p:cNvSpPr txBox="1"/>
                <p:nvPr/>
              </p:nvSpPr>
              <p:spPr>
                <a:xfrm>
                  <a:off x="5246690" y="5842110"/>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31" name="文本框 30">
                  <a:extLst>
                    <a:ext uri="{FF2B5EF4-FFF2-40B4-BE49-F238E27FC236}">
                      <a16:creationId xmlns:a16="http://schemas.microsoft.com/office/drawing/2014/main" id="{CD739FF0-F0DB-ABBB-A71F-7E498596EF26}"/>
                    </a:ext>
                  </a:extLst>
                </p:cNvPr>
                <p:cNvSpPr txBox="1">
                  <a:spLocks noRot="1" noChangeAspect="1" noMove="1" noResize="1" noEditPoints="1" noAdjustHandles="1" noChangeArrowheads="1" noChangeShapeType="1" noTextEdit="1"/>
                </p:cNvSpPr>
                <p:nvPr/>
              </p:nvSpPr>
              <p:spPr>
                <a:xfrm>
                  <a:off x="5246690" y="5842110"/>
                  <a:ext cx="542504" cy="359036"/>
                </a:xfrm>
                <a:prstGeom prst="rect">
                  <a:avLst/>
                </a:prstGeom>
                <a:blipFill>
                  <a:blip r:embed="rId15"/>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47DCC4C8-C1D5-A11B-F3D5-ADDED7F156DF}"/>
                    </a:ext>
                  </a:extLst>
                </p:cNvPr>
                <p:cNvSpPr txBox="1"/>
                <p:nvPr/>
              </p:nvSpPr>
              <p:spPr>
                <a:xfrm>
                  <a:off x="5652835" y="5627164"/>
                  <a:ext cx="542504" cy="359036"/>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oMath>
                    </m:oMathPara>
                  </a14:m>
                  <a:endParaRPr lang="zh-CN" altLang="en-US" dirty="0"/>
                </a:p>
              </p:txBody>
            </p:sp>
          </mc:Choice>
          <mc:Fallback xmlns="">
            <p:sp>
              <p:nvSpPr>
                <p:cNvPr id="32" name="文本框 31">
                  <a:extLst>
                    <a:ext uri="{FF2B5EF4-FFF2-40B4-BE49-F238E27FC236}">
                      <a16:creationId xmlns:a16="http://schemas.microsoft.com/office/drawing/2014/main" id="{F74130D8-B74D-7AB7-ED51-76415B832F27}"/>
                    </a:ext>
                  </a:extLst>
                </p:cNvPr>
                <p:cNvSpPr txBox="1">
                  <a:spLocks noRot="1" noChangeAspect="1" noMove="1" noResize="1" noEditPoints="1" noAdjustHandles="1" noChangeArrowheads="1" noChangeShapeType="1" noTextEdit="1"/>
                </p:cNvSpPr>
                <p:nvPr/>
              </p:nvSpPr>
              <p:spPr>
                <a:xfrm>
                  <a:off x="5652835" y="5627164"/>
                  <a:ext cx="542504" cy="35903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55037D19-C896-12FC-9674-2DB5C4867875}"/>
                    </a:ext>
                  </a:extLst>
                </p:cNvPr>
                <p:cNvSpPr txBox="1"/>
                <p:nvPr/>
              </p:nvSpPr>
              <p:spPr>
                <a:xfrm>
                  <a:off x="479857" y="3708407"/>
                  <a:ext cx="198753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𝐿</m:t>
                        </m:r>
                        <m:r>
                          <a:rPr lang="en-US" altLang="zh-CN" b="0" i="1" dirty="0" smtClean="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𝐼</m:t>
                                </m:r>
                              </m:e>
                            </m:acc>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m:oMathPara>
                  </a14:m>
                  <a:endParaRPr lang="zh-CN" altLang="en-US" dirty="0"/>
                </a:p>
              </p:txBody>
            </p:sp>
          </mc:Choice>
          <mc:Fallback xmlns="">
            <p:sp>
              <p:nvSpPr>
                <p:cNvPr id="29" name="文本框 28">
                  <a:extLst>
                    <a:ext uri="{FF2B5EF4-FFF2-40B4-BE49-F238E27FC236}">
                      <a16:creationId xmlns:a16="http://schemas.microsoft.com/office/drawing/2014/main" id="{55037D19-C896-12FC-9674-2DB5C4867875}"/>
                    </a:ext>
                  </a:extLst>
                </p:cNvPr>
                <p:cNvSpPr txBox="1">
                  <a:spLocks noRot="1" noChangeAspect="1" noMove="1" noResize="1" noEditPoints="1" noAdjustHandles="1" noChangeArrowheads="1" noChangeShapeType="1" noTextEdit="1"/>
                </p:cNvSpPr>
                <p:nvPr/>
              </p:nvSpPr>
              <p:spPr>
                <a:xfrm>
                  <a:off x="479857" y="3708407"/>
                  <a:ext cx="1987530" cy="412452"/>
                </a:xfrm>
                <a:prstGeom prst="rect">
                  <a:avLst/>
                </a:prstGeom>
                <a:blipFill>
                  <a:blip r:embed="rId17"/>
                  <a:stretch>
                    <a:fillRect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488041DE-8BBE-773F-1E7D-ED69ABD67069}"/>
                    </a:ext>
                  </a:extLst>
                </p:cNvPr>
                <p:cNvSpPr txBox="1"/>
                <p:nvPr/>
              </p:nvSpPr>
              <p:spPr>
                <a:xfrm>
                  <a:off x="2837307" y="3695734"/>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30" name="文本框 29">
                  <a:extLst>
                    <a:ext uri="{FF2B5EF4-FFF2-40B4-BE49-F238E27FC236}">
                      <a16:creationId xmlns:a16="http://schemas.microsoft.com/office/drawing/2014/main" id="{488041DE-8BBE-773F-1E7D-ED69ABD67069}"/>
                    </a:ext>
                  </a:extLst>
                </p:cNvPr>
                <p:cNvSpPr txBox="1">
                  <a:spLocks noRot="1" noChangeAspect="1" noMove="1" noResize="1" noEditPoints="1" noAdjustHandles="1" noChangeArrowheads="1" noChangeShapeType="1" noTextEdit="1"/>
                </p:cNvSpPr>
                <p:nvPr/>
              </p:nvSpPr>
              <p:spPr>
                <a:xfrm>
                  <a:off x="2837307" y="3695734"/>
                  <a:ext cx="912300" cy="412452"/>
                </a:xfrm>
                <a:prstGeom prst="rect">
                  <a:avLst/>
                </a:prstGeom>
                <a:blipFill>
                  <a:blip r:embed="rId18"/>
                  <a:stretch>
                    <a:fillRect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F7CA372D-0395-04C2-A548-CCE5125D2A2D}"/>
                    </a:ext>
                  </a:extLst>
                </p:cNvPr>
                <p:cNvSpPr txBox="1"/>
                <p:nvPr/>
              </p:nvSpPr>
              <p:spPr>
                <a:xfrm>
                  <a:off x="1908695" y="5652107"/>
                  <a:ext cx="2545089" cy="71558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3</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𝑖𝑓</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𝑖𝑠</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𝑙𝑖𝑔ℎ𝑡</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𝑠𝑜𝑢𝑟𝑐𝑒</m:t>
                        </m:r>
                      </m:oMath>
                    </m:oMathPara>
                  </a14:m>
                  <a:endParaRPr lang="zh-CN" altLang="en-US" dirty="0"/>
                </a:p>
              </p:txBody>
            </p:sp>
          </mc:Choice>
          <mc:Fallback xmlns="">
            <p:sp>
              <p:nvSpPr>
                <p:cNvPr id="31" name="文本框 30">
                  <a:extLst>
                    <a:ext uri="{FF2B5EF4-FFF2-40B4-BE49-F238E27FC236}">
                      <a16:creationId xmlns:a16="http://schemas.microsoft.com/office/drawing/2014/main" id="{F7CA372D-0395-04C2-A548-CCE5125D2A2D}"/>
                    </a:ext>
                  </a:extLst>
                </p:cNvPr>
                <p:cNvSpPr txBox="1">
                  <a:spLocks noRot="1" noChangeAspect="1" noMove="1" noResize="1" noEditPoints="1" noAdjustHandles="1" noChangeArrowheads="1" noChangeShapeType="1" noTextEdit="1"/>
                </p:cNvSpPr>
                <p:nvPr/>
              </p:nvSpPr>
              <p:spPr>
                <a:xfrm>
                  <a:off x="1908695" y="5652107"/>
                  <a:ext cx="2545089" cy="715582"/>
                </a:xfrm>
                <a:prstGeom prst="rect">
                  <a:avLst/>
                </a:prstGeom>
                <a:blipFill>
                  <a:blip r:embed="rId19"/>
                  <a:stretch>
                    <a:fillRect t="-2804" r="-3191" b="-149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43289335-4D5F-366E-0D6A-54C76453240F}"/>
                    </a:ext>
                  </a:extLst>
                </p:cNvPr>
                <p:cNvSpPr txBox="1"/>
                <p:nvPr/>
              </p:nvSpPr>
              <p:spPr>
                <a:xfrm>
                  <a:off x="4527668" y="4353351"/>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32" name="文本框 31">
                  <a:extLst>
                    <a:ext uri="{FF2B5EF4-FFF2-40B4-BE49-F238E27FC236}">
                      <a16:creationId xmlns:a16="http://schemas.microsoft.com/office/drawing/2014/main" id="{43289335-4D5F-366E-0D6A-54C76453240F}"/>
                    </a:ext>
                  </a:extLst>
                </p:cNvPr>
                <p:cNvSpPr txBox="1">
                  <a:spLocks noRot="1" noChangeAspect="1" noMove="1" noResize="1" noEditPoints="1" noAdjustHandles="1" noChangeArrowheads="1" noChangeShapeType="1" noTextEdit="1"/>
                </p:cNvSpPr>
                <p:nvPr/>
              </p:nvSpPr>
              <p:spPr>
                <a:xfrm>
                  <a:off x="4527668" y="4353351"/>
                  <a:ext cx="912300" cy="412452"/>
                </a:xfrm>
                <a:prstGeom prst="rect">
                  <a:avLst/>
                </a:prstGeom>
                <a:blipFill>
                  <a:blip r:embed="rId20"/>
                  <a:stretch>
                    <a:fillRect t="-6452"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690737A6-5D9E-9292-6539-0A663EE6A136}"/>
                    </a:ext>
                  </a:extLst>
                </p:cNvPr>
                <p:cNvSpPr txBox="1"/>
                <p:nvPr/>
              </p:nvSpPr>
              <p:spPr>
                <a:xfrm>
                  <a:off x="5305729" y="4713786"/>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33" name="文本框 32">
                  <a:extLst>
                    <a:ext uri="{FF2B5EF4-FFF2-40B4-BE49-F238E27FC236}">
                      <a16:creationId xmlns:a16="http://schemas.microsoft.com/office/drawing/2014/main" id="{690737A6-5D9E-9292-6539-0A663EE6A136}"/>
                    </a:ext>
                  </a:extLst>
                </p:cNvPr>
                <p:cNvSpPr txBox="1">
                  <a:spLocks noRot="1" noChangeAspect="1" noMove="1" noResize="1" noEditPoints="1" noAdjustHandles="1" noChangeArrowheads="1" noChangeShapeType="1" noTextEdit="1"/>
                </p:cNvSpPr>
                <p:nvPr/>
              </p:nvSpPr>
              <p:spPr>
                <a:xfrm>
                  <a:off x="5305729" y="4713786"/>
                  <a:ext cx="912300" cy="412452"/>
                </a:xfrm>
                <a:prstGeom prst="rect">
                  <a:avLst/>
                </a:prstGeom>
                <a:blipFill>
                  <a:blip r:embed="rId21"/>
                  <a:stretch>
                    <a:fillRect t="-4839" b="-25806"/>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BFFBDD16-8198-FF12-92B4-85A524FF1847}"/>
                </a:ext>
              </a:extLst>
            </p:cNvPr>
            <p:cNvCxnSpPr/>
            <p:nvPr/>
          </p:nvCxnSpPr>
          <p:spPr>
            <a:xfrm>
              <a:off x="3351292" y="4740793"/>
              <a:ext cx="298024" cy="3207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8E325510-1344-C532-8F6E-4A3F4ADF0CEE}"/>
                </a:ext>
              </a:extLst>
            </p:cNvPr>
            <p:cNvCxnSpPr>
              <a:cxnSpLocks/>
            </p:cNvCxnSpPr>
            <p:nvPr/>
          </p:nvCxnSpPr>
          <p:spPr>
            <a:xfrm flipH="1">
              <a:off x="3344377" y="4724984"/>
              <a:ext cx="298024" cy="3207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6BFDA3AB-7D37-4812-51D7-7D69327CD158}"/>
                    </a:ext>
                  </a:extLst>
                </p:cNvPr>
                <p:cNvSpPr txBox="1"/>
                <p:nvPr/>
              </p:nvSpPr>
              <p:spPr>
                <a:xfrm>
                  <a:off x="2361846" y="4696127"/>
                  <a:ext cx="542504" cy="404173"/>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36" name="文本框 35">
                  <a:extLst>
                    <a:ext uri="{FF2B5EF4-FFF2-40B4-BE49-F238E27FC236}">
                      <a16:creationId xmlns:a16="http://schemas.microsoft.com/office/drawing/2014/main" id="{6BFDA3AB-7D37-4812-51D7-7D69327CD158}"/>
                    </a:ext>
                  </a:extLst>
                </p:cNvPr>
                <p:cNvSpPr txBox="1">
                  <a:spLocks noRot="1" noChangeAspect="1" noMove="1" noResize="1" noEditPoints="1" noAdjustHandles="1" noChangeArrowheads="1" noChangeShapeType="1" noTextEdit="1"/>
                </p:cNvSpPr>
                <p:nvPr/>
              </p:nvSpPr>
              <p:spPr>
                <a:xfrm>
                  <a:off x="2361846" y="4696127"/>
                  <a:ext cx="542504" cy="404173"/>
                </a:xfrm>
                <a:prstGeom prst="rect">
                  <a:avLst/>
                </a:prstGeom>
                <a:blipFill>
                  <a:blip r:embed="rId22"/>
                  <a:stretch>
                    <a:fillRect t="-8197" r="-22500"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665275C-D76F-4EA2-40D8-331F0A3F0F9E}"/>
                    </a:ext>
                  </a:extLst>
                </p:cNvPr>
                <p:cNvSpPr txBox="1"/>
                <p:nvPr/>
              </p:nvSpPr>
              <p:spPr>
                <a:xfrm>
                  <a:off x="3116242" y="4993385"/>
                  <a:ext cx="542504" cy="433863"/>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41" name="文本框 40">
                  <a:extLst>
                    <a:ext uri="{FF2B5EF4-FFF2-40B4-BE49-F238E27FC236}">
                      <a16:creationId xmlns:a16="http://schemas.microsoft.com/office/drawing/2014/main" id="{8B85582B-F76C-8BB1-9F55-8C6D81633CB3}"/>
                    </a:ext>
                  </a:extLst>
                </p:cNvPr>
                <p:cNvSpPr txBox="1">
                  <a:spLocks noRot="1" noChangeAspect="1" noMove="1" noResize="1" noEditPoints="1" noAdjustHandles="1" noChangeArrowheads="1" noChangeShapeType="1" noTextEdit="1"/>
                </p:cNvSpPr>
                <p:nvPr/>
              </p:nvSpPr>
              <p:spPr>
                <a:xfrm>
                  <a:off x="3116242" y="4993385"/>
                  <a:ext cx="542504" cy="433863"/>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3504B8EF-E548-1799-6B54-76480A06698E}"/>
                    </a:ext>
                  </a:extLst>
                </p:cNvPr>
                <p:cNvSpPr txBox="1"/>
                <p:nvPr/>
              </p:nvSpPr>
              <p:spPr>
                <a:xfrm>
                  <a:off x="3945103" y="5334721"/>
                  <a:ext cx="542504" cy="369332"/>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42" name="文本框 41">
                  <a:extLst>
                    <a:ext uri="{FF2B5EF4-FFF2-40B4-BE49-F238E27FC236}">
                      <a16:creationId xmlns:a16="http://schemas.microsoft.com/office/drawing/2014/main" id="{821FF589-0C92-E797-F9A8-572CBDD80E67}"/>
                    </a:ext>
                  </a:extLst>
                </p:cNvPr>
                <p:cNvSpPr txBox="1">
                  <a:spLocks noRot="1" noChangeAspect="1" noMove="1" noResize="1" noEditPoints="1" noAdjustHandles="1" noChangeArrowheads="1" noChangeShapeType="1" noTextEdit="1"/>
                </p:cNvSpPr>
                <p:nvPr/>
              </p:nvSpPr>
              <p:spPr>
                <a:xfrm>
                  <a:off x="3945103" y="5334721"/>
                  <a:ext cx="542504" cy="36933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B57229EF-E4DA-66D0-5825-3C8B48200F27}"/>
                    </a:ext>
                  </a:extLst>
                </p:cNvPr>
                <p:cNvSpPr txBox="1"/>
                <p:nvPr/>
              </p:nvSpPr>
              <p:spPr>
                <a:xfrm>
                  <a:off x="4699505" y="5639482"/>
                  <a:ext cx="542504" cy="369332"/>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43" name="文本框 42">
                  <a:extLst>
                    <a:ext uri="{FF2B5EF4-FFF2-40B4-BE49-F238E27FC236}">
                      <a16:creationId xmlns:a16="http://schemas.microsoft.com/office/drawing/2014/main" id="{315A583C-1510-AD2C-6179-56C28DF751DD}"/>
                    </a:ext>
                  </a:extLst>
                </p:cNvPr>
                <p:cNvSpPr txBox="1">
                  <a:spLocks noRot="1" noChangeAspect="1" noMove="1" noResize="1" noEditPoints="1" noAdjustHandles="1" noChangeArrowheads="1" noChangeShapeType="1" noTextEdit="1"/>
                </p:cNvSpPr>
                <p:nvPr/>
              </p:nvSpPr>
              <p:spPr>
                <a:xfrm>
                  <a:off x="4699505" y="5639482"/>
                  <a:ext cx="542504" cy="369332"/>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EA6E526-A74A-580E-AD1D-80441723FDFF}"/>
                    </a:ext>
                  </a:extLst>
                </p:cNvPr>
                <p:cNvSpPr txBox="1"/>
                <p:nvPr/>
              </p:nvSpPr>
              <p:spPr>
                <a:xfrm>
                  <a:off x="2247321" y="4220643"/>
                  <a:ext cx="542504" cy="408383"/>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40" name="文本框 39">
                  <a:extLst>
                    <a:ext uri="{FF2B5EF4-FFF2-40B4-BE49-F238E27FC236}">
                      <a16:creationId xmlns:a16="http://schemas.microsoft.com/office/drawing/2014/main" id="{EEA6E526-A74A-580E-AD1D-80441723FDFF}"/>
                    </a:ext>
                  </a:extLst>
                </p:cNvPr>
                <p:cNvSpPr txBox="1">
                  <a:spLocks noRot="1" noChangeAspect="1" noMove="1" noResize="1" noEditPoints="1" noAdjustHandles="1" noChangeArrowheads="1" noChangeShapeType="1" noTextEdit="1"/>
                </p:cNvSpPr>
                <p:nvPr/>
              </p:nvSpPr>
              <p:spPr>
                <a:xfrm>
                  <a:off x="2247321" y="4220643"/>
                  <a:ext cx="542504" cy="408383"/>
                </a:xfrm>
                <a:prstGeom prst="rect">
                  <a:avLst/>
                </a:prstGeom>
                <a:blipFill>
                  <a:blip r:embed="rId26"/>
                  <a:stretch>
                    <a:fillRect t="-6557" r="-212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7C66049A-5A99-6352-AE48-F5944EE27393}"/>
                    </a:ext>
                  </a:extLst>
                </p:cNvPr>
                <p:cNvSpPr txBox="1"/>
                <p:nvPr/>
              </p:nvSpPr>
              <p:spPr>
                <a:xfrm>
                  <a:off x="2957799" y="4568938"/>
                  <a:ext cx="542504" cy="409927"/>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𝐿</m:t>
                            </m:r>
                          </m:sup>
                        </m:sSubSup>
                      </m:oMath>
                    </m:oMathPara>
                  </a14:m>
                  <a:endParaRPr lang="en-US" altLang="zh-CN" b="0" dirty="0"/>
                </a:p>
              </p:txBody>
            </p:sp>
          </mc:Choice>
          <mc:Fallback xmlns="">
            <p:sp>
              <p:nvSpPr>
                <p:cNvPr id="41" name="文本框 40">
                  <a:extLst>
                    <a:ext uri="{FF2B5EF4-FFF2-40B4-BE49-F238E27FC236}">
                      <a16:creationId xmlns:a16="http://schemas.microsoft.com/office/drawing/2014/main" id="{7C66049A-5A99-6352-AE48-F5944EE27393}"/>
                    </a:ext>
                  </a:extLst>
                </p:cNvPr>
                <p:cNvSpPr txBox="1">
                  <a:spLocks noRot="1" noChangeAspect="1" noMove="1" noResize="1" noEditPoints="1" noAdjustHandles="1" noChangeArrowheads="1" noChangeShapeType="1" noTextEdit="1"/>
                </p:cNvSpPr>
                <p:nvPr/>
              </p:nvSpPr>
              <p:spPr>
                <a:xfrm>
                  <a:off x="2957799" y="4568938"/>
                  <a:ext cx="542504" cy="409927"/>
                </a:xfrm>
                <a:prstGeom prst="rect">
                  <a:avLst/>
                </a:prstGeom>
                <a:blipFill>
                  <a:blip r:embed="rId27"/>
                  <a:stretch>
                    <a:fillRect t="-6452" r="-21250"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B6A9A6B9-84AD-E0F6-1CCA-A7DC489F1736}"/>
                    </a:ext>
                  </a:extLst>
                </p:cNvPr>
                <p:cNvSpPr txBox="1"/>
                <p:nvPr/>
              </p:nvSpPr>
              <p:spPr>
                <a:xfrm>
                  <a:off x="3830578" y="4859237"/>
                  <a:ext cx="542504" cy="407541"/>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4</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42" name="文本框 41">
                  <a:extLst>
                    <a:ext uri="{FF2B5EF4-FFF2-40B4-BE49-F238E27FC236}">
                      <a16:creationId xmlns:a16="http://schemas.microsoft.com/office/drawing/2014/main" id="{B6A9A6B9-84AD-E0F6-1CCA-A7DC489F1736}"/>
                    </a:ext>
                  </a:extLst>
                </p:cNvPr>
                <p:cNvSpPr txBox="1">
                  <a:spLocks noRot="1" noChangeAspect="1" noMove="1" noResize="1" noEditPoints="1" noAdjustHandles="1" noChangeArrowheads="1" noChangeShapeType="1" noTextEdit="1"/>
                </p:cNvSpPr>
                <p:nvPr/>
              </p:nvSpPr>
              <p:spPr>
                <a:xfrm>
                  <a:off x="3830578" y="4859237"/>
                  <a:ext cx="542504" cy="407541"/>
                </a:xfrm>
                <a:prstGeom prst="rect">
                  <a:avLst/>
                </a:prstGeom>
                <a:blipFill>
                  <a:blip r:embed="rId28"/>
                  <a:stretch>
                    <a:fillRect t="-8197" r="-212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CC152734-F04B-7A50-FF91-F9F541700B85}"/>
                    </a:ext>
                  </a:extLst>
                </p:cNvPr>
                <p:cNvSpPr txBox="1"/>
                <p:nvPr/>
              </p:nvSpPr>
              <p:spPr>
                <a:xfrm>
                  <a:off x="4584980" y="5163998"/>
                  <a:ext cx="542504" cy="369332"/>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5</m:t>
                            </m:r>
                          </m:sub>
                          <m:sup>
                            <m:r>
                              <a:rPr lang="en-US" altLang="zh-CN" b="0" i="1" dirty="0" smtClean="0">
                                <a:latin typeface="Cambria Math" panose="02040503050406030204" pitchFamily="18" charset="0"/>
                              </a:rPr>
                              <m:t>′</m:t>
                            </m:r>
                          </m:sup>
                        </m:sSubSup>
                      </m:oMath>
                    </m:oMathPara>
                  </a14:m>
                  <a:endParaRPr lang="zh-CN" altLang="en-US" dirty="0"/>
                </a:p>
              </p:txBody>
            </p:sp>
          </mc:Choice>
          <mc:Fallback xmlns="">
            <p:sp>
              <p:nvSpPr>
                <p:cNvPr id="47" name="文本框 46">
                  <a:extLst>
                    <a:ext uri="{FF2B5EF4-FFF2-40B4-BE49-F238E27FC236}">
                      <a16:creationId xmlns:a16="http://schemas.microsoft.com/office/drawing/2014/main" id="{CD6B2AD4-C3B4-BF4F-B02B-B9EC8CB64C85}"/>
                    </a:ext>
                  </a:extLst>
                </p:cNvPr>
                <p:cNvSpPr txBox="1">
                  <a:spLocks noRot="1" noChangeAspect="1" noMove="1" noResize="1" noEditPoints="1" noAdjustHandles="1" noChangeArrowheads="1" noChangeShapeType="1" noTextEdit="1"/>
                </p:cNvSpPr>
                <p:nvPr/>
              </p:nvSpPr>
              <p:spPr>
                <a:xfrm>
                  <a:off x="4584980" y="5163998"/>
                  <a:ext cx="542504" cy="369332"/>
                </a:xfrm>
                <a:prstGeom prst="rect">
                  <a:avLst/>
                </a:prstGeom>
                <a:blipFill>
                  <a:blip r:embed="rId29"/>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DF053F43-7EEE-E6D9-1AD6-E17B19ADB4F5}"/>
                  </a:ext>
                </a:extLst>
              </p:cNvPr>
              <p:cNvSpPr txBox="1"/>
              <p:nvPr/>
            </p:nvSpPr>
            <p:spPr>
              <a:xfrm>
                <a:off x="186517" y="4232119"/>
                <a:ext cx="5858275" cy="1871538"/>
              </a:xfrm>
              <a:prstGeom prst="rect">
                <a:avLst/>
              </a:prstGeom>
              <a:noFill/>
            </p:spPr>
            <p:txBody>
              <a:bodyPr wrap="square">
                <a:spAutoFit/>
              </a:bodyPr>
              <a:lstStyle/>
              <a:p>
                <a:pPr>
                  <a:spcBef>
                    <a:spcPts val="800"/>
                  </a:spcBef>
                </a:pPr>
                <a:r>
                  <a:rPr lang="en-US" altLang="zh-CN" dirty="0">
                    <a:latin typeface="+mn-ea"/>
                  </a:rPr>
                  <a:t>         </a:t>
                </a:r>
                <a:r>
                  <a:rPr lang="zh-CN" altLang="en-US" sz="1800" b="1" dirty="0">
                    <a:latin typeface="+mn-ea"/>
                  </a:rPr>
                  <a:t>问题一：如何计算</a:t>
                </a:r>
                <a14:m>
                  <m:oMath xmlns:m="http://schemas.openxmlformats.org/officeDocument/2006/math">
                    <m:sSub>
                      <m:sSubPr>
                        <m:ctrlPr>
                          <a:rPr lang="en-US" altLang="zh-CN" sz="1800" b="1" i="1" dirty="0">
                            <a:latin typeface="Cambria Math" panose="02040503050406030204" pitchFamily="18" charset="0"/>
                          </a:rPr>
                        </m:ctrlPr>
                      </m:sSubPr>
                      <m:e>
                        <m:acc>
                          <m:accPr>
                            <m:chr m:val="̂"/>
                            <m:ctrlPr>
                              <a:rPr lang="en-US" altLang="zh-CN" sz="1800" b="1" i="1" dirty="0">
                                <a:latin typeface="Cambria Math" panose="02040503050406030204" pitchFamily="18" charset="0"/>
                              </a:rPr>
                            </m:ctrlPr>
                          </m:accPr>
                          <m:e>
                            <m:r>
                              <a:rPr lang="en-US" altLang="zh-CN" sz="1800" b="1" i="1" dirty="0">
                                <a:latin typeface="Cambria Math" panose="02040503050406030204" pitchFamily="18" charset="0"/>
                              </a:rPr>
                              <m:t>𝑰</m:t>
                            </m:r>
                          </m:e>
                        </m:acc>
                      </m:e>
                      <m:sub>
                        <m:r>
                          <a:rPr lang="en-US" altLang="zh-CN" sz="1800" b="1" i="1" dirty="0">
                            <a:latin typeface="Cambria Math" panose="02040503050406030204" pitchFamily="18" charset="0"/>
                          </a:rPr>
                          <m:t>𝒊</m:t>
                        </m:r>
                      </m:sub>
                    </m:sSub>
                  </m:oMath>
                </a14:m>
                <a:r>
                  <a:rPr lang="zh-CN" altLang="en-US" sz="1800" b="1" dirty="0">
                    <a:latin typeface="+mn-ea"/>
                  </a:rPr>
                  <a:t>？</a:t>
                </a:r>
                <a:endParaRPr lang="en-US" altLang="zh-CN" sz="1800" b="1" dirty="0">
                  <a:latin typeface="+mn-ea"/>
                </a:endParaRPr>
              </a:p>
              <a:p>
                <a:r>
                  <a:rPr lang="en-US" altLang="zh-CN" sz="1800" b="1" dirty="0">
                    <a:latin typeface="+mn-ea"/>
                  </a:rPr>
                  <a:t>         </a:t>
                </a:r>
                <a:r>
                  <a:rPr lang="zh-CN" altLang="en-US" sz="1800" dirty="0">
                    <a:latin typeface="+mn-ea"/>
                  </a:rPr>
                  <a:t>为了计算</a:t>
                </a:r>
                <a14:m>
                  <m:oMath xmlns:m="http://schemas.openxmlformats.org/officeDocument/2006/math">
                    <m:sSub>
                      <m:sSubPr>
                        <m:ctrlPr>
                          <a:rPr lang="en-US" altLang="zh-CN" sz="1800" b="0" i="1" dirty="0">
                            <a:latin typeface="Cambria Math" panose="02040503050406030204" pitchFamily="18" charset="0"/>
                          </a:rPr>
                        </m:ctrlPr>
                      </m:sSubPr>
                      <m:e>
                        <m:acc>
                          <m:accPr>
                            <m:chr m:val="̂"/>
                            <m:ctrlPr>
                              <a:rPr lang="en-US" altLang="zh-CN" sz="1800" b="0" i="1" dirty="0">
                                <a:latin typeface="Cambria Math" panose="02040503050406030204" pitchFamily="18" charset="0"/>
                              </a:rPr>
                            </m:ctrlPr>
                          </m:accPr>
                          <m:e>
                            <m:r>
                              <a:rPr lang="en-US" altLang="zh-CN" sz="1800" b="0" i="1" dirty="0">
                                <a:latin typeface="Cambria Math" panose="02040503050406030204" pitchFamily="18" charset="0"/>
                              </a:rPr>
                              <m:t>𝐼</m:t>
                            </m:r>
                          </m:e>
                        </m:acc>
                      </m:e>
                      <m:sub>
                        <m:r>
                          <a:rPr lang="en-US" altLang="zh-CN" sz="1800" b="0" i="1" dirty="0">
                            <a:latin typeface="Cambria Math" panose="02040503050406030204" pitchFamily="18" charset="0"/>
                          </a:rPr>
                          <m:t>𝑖</m:t>
                        </m:r>
                      </m:sub>
                    </m:sSub>
                  </m:oMath>
                </a14:m>
                <a:r>
                  <a:rPr lang="zh-CN" altLang="en-US" sz="1800" dirty="0">
                    <a:latin typeface="+mn-ea"/>
                  </a:rPr>
                  <a:t>，我们用到了多重重要性采样，向光源采样得到</a:t>
                </a:r>
                <a14:m>
                  <m:oMath xmlns:m="http://schemas.openxmlformats.org/officeDocument/2006/math">
                    <m:sSubSup>
                      <m:sSubSupPr>
                        <m:ctrlPr>
                          <a:rPr lang="en-US" altLang="zh-CN" sz="1800" b="0" i="1" dirty="0" smtClean="0">
                            <a:latin typeface="Cambria Math" panose="02040503050406030204" pitchFamily="18" charset="0"/>
                          </a:rPr>
                        </m:ctrlPr>
                      </m:sSubSup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up>
                        <m:r>
                          <a:rPr lang="en-US" altLang="zh-CN" sz="1800" b="0" i="1" dirty="0" smtClean="0">
                            <a:latin typeface="Cambria Math" panose="02040503050406030204" pitchFamily="18" charset="0"/>
                          </a:rPr>
                          <m:t>𝐿</m:t>
                        </m:r>
                      </m:sup>
                    </m:sSubSup>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𝐿</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oMath>
                </a14:m>
                <a:r>
                  <a:rPr lang="zh-CN" altLang="en-US" sz="1800" dirty="0">
                    <a:latin typeface="+mn-ea"/>
                  </a:rPr>
                  <a:t>，向</a:t>
                </a:r>
                <a:r>
                  <a:rPr lang="en-US" altLang="zh-CN" sz="1800" dirty="0">
                    <a:latin typeface="+mn-ea"/>
                  </a:rPr>
                  <a:t>BSDF</a:t>
                </a:r>
                <a:r>
                  <a:rPr lang="zh-CN" altLang="en-US" sz="1800" dirty="0">
                    <a:latin typeface="+mn-ea"/>
                  </a:rPr>
                  <a:t>采样得到</a:t>
                </a:r>
                <a14:m>
                  <m:oMath xmlns:m="http://schemas.openxmlformats.org/officeDocument/2006/math">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up>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solidFill>
                              <a:srgbClr val="FF0000"/>
                            </a:solidFill>
                            <a:latin typeface="Cambria Math" panose="02040503050406030204" pitchFamily="18" charset="0"/>
                          </a:rPr>
                          <m:t>𝐷</m:t>
                        </m:r>
                      </m:sup>
                    </m:sSubSup>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solidFill>
                              <a:srgbClr val="FF0000"/>
                            </a:solidFill>
                            <a:latin typeface="Cambria Math" panose="02040503050406030204" pitchFamily="18" charset="0"/>
                          </a:rPr>
                          <m:t>𝐷</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Sub>
                      </m:e>
                    </m:d>
                  </m:oMath>
                </a14:m>
                <a:r>
                  <a:rPr lang="zh-CN" altLang="en-US" sz="1800" dirty="0">
                    <a:latin typeface="+mn-ea"/>
                  </a:rPr>
                  <a:t>，最后计算：</a:t>
                </a:r>
                <a:endParaRPr lang="en-US" altLang="zh-CN" sz="1800"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sz="1800" i="1">
                              <a:latin typeface="Cambria Math" panose="02040503050406030204" pitchFamily="18" charset="0"/>
                              <a:ea typeface="Cambria Math" panose="02040503050406030204" pitchFamily="18" charset="0"/>
                            </a:rPr>
                          </m:ctrlPr>
                        </m:sSubPr>
                        <m:e>
                          <m:acc>
                            <m:accPr>
                              <m:chr m:val="̂"/>
                              <m:ctrlPr>
                                <a:rPr lang="en-US" altLang="zh-CN" sz="1800" i="1">
                                  <a:latin typeface="Cambria Math" panose="02040503050406030204" pitchFamily="18" charset="0"/>
                                  <a:ea typeface="Cambria Math" panose="02040503050406030204" pitchFamily="18" charset="0"/>
                                </a:rPr>
                              </m:ctrlPr>
                            </m:accPr>
                            <m:e>
                              <m:r>
                                <a:rPr lang="en-US" altLang="zh-CN" sz="1800" i="1">
                                  <a:latin typeface="Cambria Math" panose="02040503050406030204" pitchFamily="18" charset="0"/>
                                  <a:ea typeface="Cambria Math" panose="02040503050406030204" pitchFamily="18" charset="0"/>
                                </a:rPr>
                                <m:t>𝐼</m:t>
                              </m:r>
                            </m:e>
                          </m:acc>
                        </m:e>
                        <m:sub>
                          <m:r>
                            <a:rPr lang="en-US" altLang="zh-CN" sz="1800" i="1">
                              <a:latin typeface="Cambria Math" panose="02040503050406030204" pitchFamily="18" charset="0"/>
                              <a:ea typeface="Cambria Math" panose="02040503050406030204" pitchFamily="18" charset="0"/>
                            </a:rPr>
                            <m:t>𝑖</m:t>
                          </m:r>
                        </m:sub>
                      </m:sSub>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𝛽</m:t>
                          </m:r>
                        </m:e>
                        <m:sub>
                          <m:r>
                            <a:rPr lang="en-US" altLang="zh-CN" sz="1800" i="1">
                              <a:latin typeface="Cambria Math" panose="02040503050406030204" pitchFamily="18" charset="0"/>
                              <a:ea typeface="Cambria Math" panose="02040503050406030204" pitchFamily="18" charset="0"/>
                            </a:rPr>
                            <m:t>𝑖</m:t>
                          </m:r>
                          <m:r>
                            <a:rPr lang="en-US" altLang="zh-CN" sz="1800" i="1">
                              <a:latin typeface="Cambria Math" panose="02040503050406030204" pitchFamily="18" charset="0"/>
                              <a:ea typeface="Cambria Math" panose="02040503050406030204" pitchFamily="18" charset="0"/>
                            </a:rPr>
                            <m:t>−1</m:t>
                          </m:r>
                        </m:sub>
                      </m:sSub>
                      <m:r>
                        <a:rPr lang="en-US" altLang="zh-CN" sz="1800" i="1">
                          <a:latin typeface="Cambria Math" panose="02040503050406030204" pitchFamily="18" charset="0"/>
                          <a:ea typeface="Cambria Math" panose="02040503050406030204" pitchFamily="18" charset="0"/>
                        </a:rPr>
                        <m:t> </m:t>
                      </m:r>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e>
                      </m:d>
                    </m:oMath>
                  </m:oMathPara>
                </a14:m>
                <a:endParaRPr lang="en-US" altLang="zh-CN" sz="1800"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dirty="0">
                              <a:solidFill>
                                <a:srgbClr val="F76409"/>
                              </a:solidFill>
                              <a:latin typeface="Cambria Math" panose="02040503050406030204" pitchFamily="18" charset="0"/>
                              <a:ea typeface="Cambria Math" panose="02040503050406030204" pitchFamily="18" charset="0"/>
                            </a:rPr>
                            <m:t>𝐿</m:t>
                          </m:r>
                        </m:sub>
                      </m:sSub>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ea typeface="Cambria Math" panose="02040503050406030204" pitchFamily="18" charset="0"/>
                                </a:rPr>
                                <m:t>𝐿</m:t>
                              </m:r>
                            </m:sup>
                          </m:sSubSup>
                        </m:e>
                      </m:d>
                      <m:r>
                        <a:rPr lang="en-US" altLang="zh-CN" sz="1800" i="1" dirty="0">
                          <a:solidFill>
                            <a:srgbClr val="F76409"/>
                          </a:solidFill>
                          <a:latin typeface="Cambria Math" panose="02040503050406030204" pitchFamily="18" charset="0"/>
                          <a:ea typeface="Cambria Math" panose="02040503050406030204" pitchFamily="18" charset="0"/>
                        </a:rPr>
                        <m:t> </m:t>
                      </m:r>
                      <m:sSubSup>
                        <m:sSubSupPr>
                          <m:ctrlPr>
                            <a:rPr lang="en-US" altLang="zh-CN" sz="1800" i="1" dirty="0">
                              <a:solidFill>
                                <a:srgbClr val="F76409"/>
                              </a:solidFill>
                              <a:latin typeface="Cambria Math" panose="02040503050406030204" pitchFamily="18" charset="0"/>
                            </a:rPr>
                          </m:ctrlPr>
                        </m:sSubSupPr>
                        <m:e>
                          <m:acc>
                            <m:accPr>
                              <m:chr m:val="̂"/>
                              <m:ctrlPr>
                                <a:rPr lang="en-US" altLang="zh-CN" sz="1800" i="1" dirty="0">
                                  <a:solidFill>
                                    <a:srgbClr val="F76409"/>
                                  </a:solidFill>
                                  <a:latin typeface="Cambria Math" panose="02040503050406030204" pitchFamily="18" charset="0"/>
                                </a:rPr>
                              </m:ctrlPr>
                            </m:accPr>
                            <m:e>
                              <m:r>
                                <a:rPr lang="en-US" altLang="zh-CN" sz="1800" i="1" dirty="0">
                                  <a:solidFill>
                                    <a:srgbClr val="F76409"/>
                                  </a:solidFill>
                                  <a:latin typeface="Cambria Math" panose="02040503050406030204" pitchFamily="18" charset="0"/>
                                </a:rPr>
                                <m:t>𝐷</m:t>
                              </m:r>
                            </m:e>
                          </m:acc>
                        </m:e>
                        <m:sub>
                          <m:r>
                            <a:rPr lang="en-US" altLang="zh-CN" sz="1800" i="1" dirty="0">
                              <a:solidFill>
                                <a:srgbClr val="F76409"/>
                              </a:solidFill>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dirty="0">
                              <a:solidFill>
                                <a:schemeClr val="accent2">
                                  <a:lumMod val="75000"/>
                                </a:schemeClr>
                              </a:solidFill>
                              <a:latin typeface="Cambria Math" panose="02040503050406030204" pitchFamily="18" charset="0"/>
                            </a:rPr>
                            <m:t>𝐵</m:t>
                          </m:r>
                        </m:sub>
                      </m:sSub>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a:solidFill>
                                    <a:schemeClr val="accent2">
                                      <a:lumMod val="75000"/>
                                    </a:schemeClr>
                                  </a:solidFill>
                                  <a:latin typeface="Cambria Math" panose="02040503050406030204" pitchFamily="18" charset="0"/>
                                </a:rPr>
                                <m:t>𝐵</m:t>
                              </m:r>
                              <m:r>
                                <a:rPr lang="en-US" altLang="zh-CN" sz="1800" b="0" i="1" smtClean="0">
                                  <a:solidFill>
                                    <a:schemeClr val="tx1"/>
                                  </a:solidFill>
                                  <a:latin typeface="Cambria Math" panose="02040503050406030204" pitchFamily="18" charset="0"/>
                                </a:rPr>
                                <m:t>,</m:t>
                              </m:r>
                              <m:r>
                                <a:rPr lang="en-US" altLang="zh-CN" sz="1800" b="0" i="1" smtClean="0">
                                  <a:solidFill>
                                    <a:srgbClr val="FF0000"/>
                                  </a:solidFill>
                                  <a:latin typeface="Cambria Math" panose="02040503050406030204" pitchFamily="18" charset="0"/>
                                </a:rPr>
                                <m:t>𝐷</m:t>
                              </m:r>
                            </m:sup>
                          </m:sSubSup>
                        </m:e>
                      </m:d>
                      <m:r>
                        <a:rPr lang="en-US" altLang="zh-CN" sz="1800" i="1">
                          <a:solidFill>
                            <a:schemeClr val="accent2">
                              <a:lumMod val="75000"/>
                            </a:schemeClr>
                          </a:solidFill>
                          <a:latin typeface="Cambria Math" panose="02040503050406030204" pitchFamily="18" charset="0"/>
                        </a:rPr>
                        <m:t> </m:t>
                      </m:r>
                      <m:sSubSup>
                        <m:sSubSupPr>
                          <m:ctrlPr>
                            <a:rPr lang="en-US" altLang="zh-CN" sz="1800" i="1" dirty="0">
                              <a:solidFill>
                                <a:schemeClr val="accent2">
                                  <a:lumMod val="75000"/>
                                </a:schemeClr>
                              </a:solidFill>
                              <a:latin typeface="Cambria Math" panose="02040503050406030204" pitchFamily="18" charset="0"/>
                            </a:rPr>
                          </m:ctrlPr>
                        </m:sSubSupPr>
                        <m:e>
                          <m:acc>
                            <m:accPr>
                              <m:chr m:val="̂"/>
                              <m:ctrlPr>
                                <a:rPr lang="en-US" altLang="zh-CN" sz="1800" i="1" dirty="0">
                                  <a:solidFill>
                                    <a:schemeClr val="accent2">
                                      <a:lumMod val="75000"/>
                                    </a:schemeClr>
                                  </a:solidFill>
                                  <a:latin typeface="Cambria Math" panose="02040503050406030204" pitchFamily="18" charset="0"/>
                                </a:rPr>
                              </m:ctrlPr>
                            </m:accPr>
                            <m:e>
                              <m:r>
                                <a:rPr lang="en-US" altLang="zh-CN" sz="1800" i="1" dirty="0">
                                  <a:solidFill>
                                    <a:schemeClr val="accent2">
                                      <a:lumMod val="75000"/>
                                    </a:schemeClr>
                                  </a:solidFill>
                                  <a:latin typeface="Cambria Math" panose="02040503050406030204" pitchFamily="18" charset="0"/>
                                </a:rPr>
                                <m:t>𝐷</m:t>
                              </m:r>
                            </m:e>
                          </m:acc>
                        </m:e>
                        <m:sub>
                          <m:r>
                            <a:rPr lang="en-US" altLang="zh-CN" sz="1800" i="1" dirty="0">
                              <a:solidFill>
                                <a:schemeClr val="accent2">
                                  <a:lumMod val="75000"/>
                                </a:schemeClr>
                              </a:solidFill>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oMath>
                  </m:oMathPara>
                </a14:m>
                <a:endParaRPr lang="zh-CN" altLang="en-US" dirty="0"/>
              </a:p>
            </p:txBody>
          </p:sp>
        </mc:Choice>
        <mc:Fallback xmlns="">
          <p:sp>
            <p:nvSpPr>
              <p:cNvPr id="44" name="文本框 43">
                <a:extLst>
                  <a:ext uri="{FF2B5EF4-FFF2-40B4-BE49-F238E27FC236}">
                    <a16:creationId xmlns:a16="http://schemas.microsoft.com/office/drawing/2014/main" id="{DF053F43-7EEE-E6D9-1AD6-E17B19ADB4F5}"/>
                  </a:ext>
                </a:extLst>
              </p:cNvPr>
              <p:cNvSpPr txBox="1">
                <a:spLocks noRot="1" noChangeAspect="1" noMove="1" noResize="1" noEditPoints="1" noAdjustHandles="1" noChangeArrowheads="1" noChangeShapeType="1" noTextEdit="1"/>
              </p:cNvSpPr>
              <p:nvPr/>
            </p:nvSpPr>
            <p:spPr>
              <a:xfrm>
                <a:off x="186517" y="4232119"/>
                <a:ext cx="5858275" cy="1871538"/>
              </a:xfrm>
              <a:prstGeom prst="rect">
                <a:avLst/>
              </a:prstGeom>
              <a:blipFill>
                <a:blip r:embed="rId30"/>
                <a:stretch>
                  <a:fillRect l="-937" t="-1303" r="-624" b="-29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85A3CFA7-742F-EB9A-7F33-2B30A1637315}"/>
                  </a:ext>
                </a:extLst>
              </p:cNvPr>
              <p:cNvSpPr txBox="1"/>
              <p:nvPr/>
            </p:nvSpPr>
            <p:spPr>
              <a:xfrm>
                <a:off x="6394094" y="4228715"/>
                <a:ext cx="5778715" cy="1879554"/>
              </a:xfrm>
              <a:prstGeom prst="rect">
                <a:avLst/>
              </a:prstGeom>
              <a:noFill/>
            </p:spPr>
            <p:txBody>
              <a:bodyPr wrap="square">
                <a:spAutoFit/>
              </a:bodyPr>
              <a:lstStyle/>
              <a:p>
                <a:r>
                  <a:rPr lang="en-US" altLang="zh-CN" sz="1800" dirty="0">
                    <a:latin typeface="+mn-ea"/>
                  </a:rPr>
                  <a:t> </a:t>
                </a:r>
                <a:r>
                  <a:rPr lang="zh-CN" altLang="en-US" sz="1800" b="1" dirty="0">
                    <a:latin typeface="+mn-ea"/>
                  </a:rPr>
                  <a:t>问题二：路径下一步往哪走？</a:t>
                </a:r>
                <a:endParaRPr lang="en-US" altLang="zh-CN" sz="1800" b="1" dirty="0">
                  <a:latin typeface="+mn-ea"/>
                </a:endParaRPr>
              </a:p>
              <a:p>
                <a:r>
                  <a:rPr lang="zh-CN" altLang="en-US" dirty="0">
                    <a:latin typeface="+mn-ea"/>
                  </a:rPr>
                  <a:t>         光线下一步的方向由向</a:t>
                </a:r>
                <a:r>
                  <a:rPr lang="en-US" altLang="zh-CN" dirty="0">
                    <a:latin typeface="+mn-ea"/>
                  </a:rPr>
                  <a:t>BSDF</a:t>
                </a:r>
                <a:r>
                  <a:rPr lang="zh-CN" altLang="en-US" dirty="0">
                    <a:latin typeface="+mn-ea"/>
                  </a:rPr>
                  <a:t>采样得到得到</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i="1" dirty="0" smtClean="0">
                            <a:latin typeface="Cambria Math" panose="02040503050406030204" pitchFamily="18" charset="0"/>
                          </a:rPr>
                          <m:t>𝜔</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oMath>
                </a14:m>
                <a:r>
                  <a:rPr lang="zh-CN" altLang="en-US" dirty="0"/>
                  <a:t>，而后沿该方向找到下一个顶点</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a:latin typeface="Cambria Math" panose="02040503050406030204" pitchFamily="18" charset="0"/>
                          </a:rPr>
                          <m:t>𝒊</m:t>
                        </m:r>
                      </m:sub>
                    </m:sSub>
                  </m:oMath>
                </a14:m>
                <a:r>
                  <a:rPr lang="zh-CN" altLang="en-US" dirty="0"/>
                  <a:t>并更新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𝑖</m:t>
                        </m:r>
                      </m:sub>
                    </m:sSub>
                  </m:oMath>
                </a14:m>
                <a:r>
                  <a:rPr lang="zh-CN" altLang="en-US" dirty="0"/>
                  <a:t>：</a:t>
                </a:r>
                <a:endParaRPr lang="en-US" altLang="zh-CN" dirty="0"/>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f>
                        <m:fPr>
                          <m:ctrlPr>
                            <a:rPr lang="en-US" altLang="zh-CN" b="0" i="1" dirty="0" smtClean="0">
                              <a:latin typeface="Cambria Math" panose="02040503050406030204" pitchFamily="18" charset="0"/>
                            </a:rPr>
                          </m:ctrlPr>
                        </m:fPr>
                        <m:nu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𝑓</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func>
                            <m:funcPr>
                              <m:ctrlPr>
                                <a:rPr lang="en-US" altLang="zh-CN" b="0" i="0" dirty="0" smtClean="0">
                                  <a:latin typeface="Cambria Math" panose="02040503050406030204" pitchFamily="18" charset="0"/>
                                </a:rPr>
                              </m:ctrlPr>
                            </m:funcPr>
                            <m:fName>
                              <m:r>
                                <m:rPr>
                                  <m:sty m:val="p"/>
                                </m:rPr>
                                <a:rPr lang="en-US" altLang="zh-CN" b="0" i="0" dirty="0" smtClean="0">
                                  <a:latin typeface="Cambria Math" panose="02040503050406030204" pitchFamily="18" charset="0"/>
                                </a:rPr>
                                <m:t>cos</m:t>
                              </m:r>
                            </m:fNa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𝜃</m:t>
                                  </m:r>
                                </m:e>
                                <m:sub>
                                  <m:r>
                                    <a:rPr lang="en-US" altLang="zh-CN" b="0" i="1" dirty="0" smtClean="0">
                                      <a:latin typeface="Cambria Math" panose="02040503050406030204" pitchFamily="18" charset="0"/>
                                    </a:rPr>
                                    <m:t>𝑖</m:t>
                                  </m:r>
                                </m:sub>
                              </m:sSub>
                            </m:e>
                          </m:func>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smtClean="0">
                                      <a:solidFill>
                                        <a:srgbClr val="FF0000"/>
                                      </a:solidFill>
                                      <a:latin typeface="Cambria Math" panose="02040503050406030204" pitchFamily="18" charset="0"/>
                                    </a:rPr>
                                    <m:t>𝐶</m:t>
                                  </m:r>
                                </m:sup>
                              </m:sSubSup>
                            </m:e>
                          </m:d>
                        </m:den>
                      </m:f>
                    </m:oMath>
                  </m:oMathPara>
                </a14:m>
                <a:endParaRPr lang="zh-CN" altLang="en-US" dirty="0"/>
              </a:p>
            </p:txBody>
          </p:sp>
        </mc:Choice>
        <mc:Fallback xmlns="">
          <p:sp>
            <p:nvSpPr>
              <p:cNvPr id="46" name="文本框 45">
                <a:extLst>
                  <a:ext uri="{FF2B5EF4-FFF2-40B4-BE49-F238E27FC236}">
                    <a16:creationId xmlns:a16="http://schemas.microsoft.com/office/drawing/2014/main" id="{85A3CFA7-742F-EB9A-7F33-2B30A1637315}"/>
                  </a:ext>
                </a:extLst>
              </p:cNvPr>
              <p:cNvSpPr txBox="1">
                <a:spLocks noRot="1" noChangeAspect="1" noMove="1" noResize="1" noEditPoints="1" noAdjustHandles="1" noChangeArrowheads="1" noChangeShapeType="1" noTextEdit="1"/>
              </p:cNvSpPr>
              <p:nvPr/>
            </p:nvSpPr>
            <p:spPr>
              <a:xfrm>
                <a:off x="6394094" y="4228715"/>
                <a:ext cx="5778715" cy="1879554"/>
              </a:xfrm>
              <a:prstGeom prst="rect">
                <a:avLst/>
              </a:prstGeom>
              <a:blipFill>
                <a:blip r:embed="rId31"/>
                <a:stretch>
                  <a:fillRect l="-949" t="-19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64052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C47B-A64D-2FC7-A0D7-2E7FFA000D9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278B9DB-3CBE-9AC6-FB74-7DDC250BC397}"/>
              </a:ext>
            </a:extLst>
          </p:cNvPr>
          <p:cNvSpPr>
            <a:spLocks noGrp="1"/>
          </p:cNvSpPr>
          <p:nvPr>
            <p:ph type="title" idx="1"/>
          </p:nvPr>
        </p:nvSpPr>
        <p:spPr/>
        <p:txBody>
          <a:bodyPr/>
          <a:lstStyle/>
          <a:p>
            <a:r>
              <a:rPr lang="zh-CN" altLang="en-US" dirty="0"/>
              <a:t>路径追踪流程  </a:t>
            </a:r>
            <a:r>
              <a:rPr lang="en-US" altLang="zh-CN" dirty="0"/>
              <a:t>——  </a:t>
            </a:r>
            <a:r>
              <a:rPr lang="zh-CN" altLang="en-US" dirty="0"/>
              <a:t>复用</a:t>
            </a:r>
            <a:r>
              <a:rPr lang="en-US" altLang="zh-CN" dirty="0"/>
              <a:t>BSDF</a:t>
            </a:r>
            <a:r>
              <a:rPr lang="zh-CN" altLang="en-US" dirty="0"/>
              <a:t>样本</a:t>
            </a:r>
          </a:p>
        </p:txBody>
      </p:sp>
      <p:grpSp>
        <p:nvGrpSpPr>
          <p:cNvPr id="4" name="组合 3">
            <a:extLst>
              <a:ext uri="{FF2B5EF4-FFF2-40B4-BE49-F238E27FC236}">
                <a16:creationId xmlns:a16="http://schemas.microsoft.com/office/drawing/2014/main" id="{AA6DB227-FE67-62E2-F19B-87B56C19F1E8}"/>
              </a:ext>
            </a:extLst>
          </p:cNvPr>
          <p:cNvGrpSpPr/>
          <p:nvPr/>
        </p:nvGrpSpPr>
        <p:grpSpPr>
          <a:xfrm>
            <a:off x="6410686" y="1210766"/>
            <a:ext cx="5485326" cy="2742104"/>
            <a:chOff x="310861" y="3497222"/>
            <a:chExt cx="6094926" cy="3000778"/>
          </a:xfrm>
        </p:grpSpPr>
        <p:sp>
          <p:nvSpPr>
            <p:cNvPr id="6" name="流程图: 可选过程 5">
              <a:extLst>
                <a:ext uri="{FF2B5EF4-FFF2-40B4-BE49-F238E27FC236}">
                  <a16:creationId xmlns:a16="http://schemas.microsoft.com/office/drawing/2014/main" id="{B869D1E7-7B27-DCF4-0B0C-8A6A3A77D54A}"/>
                </a:ext>
              </a:extLst>
            </p:cNvPr>
            <p:cNvSpPr/>
            <p:nvPr/>
          </p:nvSpPr>
          <p:spPr>
            <a:xfrm>
              <a:off x="310861" y="3497222"/>
              <a:ext cx="6094926" cy="3000778"/>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0E0326CF-0796-307D-82D8-DCC18BF84CD3}"/>
                </a:ext>
              </a:extLst>
            </p:cNvPr>
            <p:cNvCxnSpPr/>
            <p:nvPr/>
          </p:nvCxnSpPr>
          <p:spPr>
            <a:xfrm>
              <a:off x="1616880" y="4413303"/>
              <a:ext cx="754402" cy="298252"/>
            </a:xfrm>
            <a:prstGeom prst="line">
              <a:avLst/>
            </a:prstGeom>
            <a:ln w="3810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BB2E89F-4D63-8839-A847-0F2775EBF5EC}"/>
                </a:ext>
              </a:extLst>
            </p:cNvPr>
            <p:cNvCxnSpPr/>
            <p:nvPr/>
          </p:nvCxnSpPr>
          <p:spPr>
            <a:xfrm>
              <a:off x="2371282" y="4711554"/>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99A3CE6-DF5F-9A39-A044-2C12A452734C}"/>
                </a:ext>
              </a:extLst>
            </p:cNvPr>
            <p:cNvCxnSpPr>
              <a:cxnSpLocks/>
            </p:cNvCxnSpPr>
            <p:nvPr/>
          </p:nvCxnSpPr>
          <p:spPr>
            <a:xfrm flipV="1">
              <a:off x="2371282" y="4465029"/>
              <a:ext cx="752580" cy="246524"/>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A3659D2-E0DC-4806-4124-C64E0B789C43}"/>
                </a:ext>
              </a:extLst>
            </p:cNvPr>
            <p:cNvCxnSpPr/>
            <p:nvPr/>
          </p:nvCxnSpPr>
          <p:spPr>
            <a:xfrm>
              <a:off x="3125685" y="5009806"/>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D708A2BE-3C75-6588-BD22-A35ACF792B15}"/>
                </a:ext>
              </a:extLst>
            </p:cNvPr>
            <p:cNvCxnSpPr>
              <a:cxnSpLocks/>
            </p:cNvCxnSpPr>
            <p:nvPr/>
          </p:nvCxnSpPr>
          <p:spPr>
            <a:xfrm flipV="1">
              <a:off x="3125685" y="4763280"/>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6396A712-CA3A-00FE-23CF-7516AC5EF3BB}"/>
                </a:ext>
              </a:extLst>
            </p:cNvPr>
            <p:cNvCxnSpPr/>
            <p:nvPr/>
          </p:nvCxnSpPr>
          <p:spPr>
            <a:xfrm>
              <a:off x="3880087" y="5308058"/>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7B75C9F-4546-256D-B1B0-D08EF3C74F49}"/>
                </a:ext>
              </a:extLst>
            </p:cNvPr>
            <p:cNvCxnSpPr>
              <a:cxnSpLocks/>
            </p:cNvCxnSpPr>
            <p:nvPr/>
          </p:nvCxnSpPr>
          <p:spPr>
            <a:xfrm flipV="1">
              <a:off x="3880087" y="5061532"/>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126397C0-F1B2-2915-FC31-CD1D2D1B49D8}"/>
                </a:ext>
              </a:extLst>
            </p:cNvPr>
            <p:cNvCxnSpPr/>
            <p:nvPr/>
          </p:nvCxnSpPr>
          <p:spPr>
            <a:xfrm>
              <a:off x="4634489" y="5601434"/>
              <a:ext cx="754402" cy="298252"/>
            </a:xfrm>
            <a:prstGeom prst="line">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FF30B9C-5C38-F36A-AF5B-F3ADECB49503}"/>
                </a:ext>
              </a:extLst>
            </p:cNvPr>
            <p:cNvCxnSpPr>
              <a:cxnSpLocks/>
            </p:cNvCxnSpPr>
            <p:nvPr/>
          </p:nvCxnSpPr>
          <p:spPr>
            <a:xfrm flipV="1">
              <a:off x="4634489" y="5354907"/>
              <a:ext cx="754402" cy="246526"/>
            </a:xfrm>
            <a:prstGeom prst="line">
              <a:avLst/>
            </a:prstGeom>
            <a:ln w="3810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88800CB3-06BF-ED76-5C96-C7A7A27B55EA}"/>
                    </a:ext>
                  </a:extLst>
                </p:cNvPr>
                <p:cNvSpPr txBox="1"/>
                <p:nvPr/>
              </p:nvSpPr>
              <p:spPr>
                <a:xfrm>
                  <a:off x="1180325" y="4186192"/>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0</m:t>
                            </m:r>
                          </m:sub>
                        </m:sSub>
                      </m:oMath>
                    </m:oMathPara>
                  </a14:m>
                  <a:endParaRPr lang="zh-CN" altLang="en-US" dirty="0"/>
                </a:p>
              </p:txBody>
            </p:sp>
          </mc:Choice>
          <mc:Fallback xmlns="">
            <p:sp>
              <p:nvSpPr>
                <p:cNvPr id="22" name="文本框 21">
                  <a:extLst>
                    <a:ext uri="{FF2B5EF4-FFF2-40B4-BE49-F238E27FC236}">
                      <a16:creationId xmlns:a16="http://schemas.microsoft.com/office/drawing/2014/main" id="{DCE7F767-9850-A768-12C5-3EBDA3F36E68}"/>
                    </a:ext>
                  </a:extLst>
                </p:cNvPr>
                <p:cNvSpPr txBox="1">
                  <a:spLocks noRot="1" noChangeAspect="1" noMove="1" noResize="1" noEditPoints="1" noAdjustHandles="1" noChangeArrowheads="1" noChangeShapeType="1" noTextEdit="1"/>
                </p:cNvSpPr>
                <p:nvPr/>
              </p:nvSpPr>
              <p:spPr>
                <a:xfrm>
                  <a:off x="1180325" y="4186192"/>
                  <a:ext cx="542504" cy="359036"/>
                </a:xfrm>
                <a:prstGeom prst="rect">
                  <a:avLst/>
                </a:prstGeom>
                <a:blipFill>
                  <a:blip r:embed="rId6"/>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FCF0B3C-2CB5-51FB-762A-101C3AD5B36B}"/>
                    </a:ext>
                  </a:extLst>
                </p:cNvPr>
                <p:cNvSpPr txBox="1"/>
                <p:nvPr/>
              </p:nvSpPr>
              <p:spPr>
                <a:xfrm>
                  <a:off x="2008740" y="4650771"/>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1</m:t>
                            </m:r>
                          </m:sub>
                        </m:sSub>
                      </m:oMath>
                    </m:oMathPara>
                  </a14:m>
                  <a:endParaRPr lang="zh-CN" altLang="en-US" dirty="0"/>
                </a:p>
              </p:txBody>
            </p:sp>
          </mc:Choice>
          <mc:Fallback xmlns="">
            <p:sp>
              <p:nvSpPr>
                <p:cNvPr id="23" name="文本框 22">
                  <a:extLst>
                    <a:ext uri="{FF2B5EF4-FFF2-40B4-BE49-F238E27FC236}">
                      <a16:creationId xmlns:a16="http://schemas.microsoft.com/office/drawing/2014/main" id="{341F5753-C250-8F15-2C23-AF3335F5A5C9}"/>
                    </a:ext>
                  </a:extLst>
                </p:cNvPr>
                <p:cNvSpPr txBox="1">
                  <a:spLocks noRot="1" noChangeAspect="1" noMove="1" noResize="1" noEditPoints="1" noAdjustHandles="1" noChangeArrowheads="1" noChangeShapeType="1" noTextEdit="1"/>
                </p:cNvSpPr>
                <p:nvPr/>
              </p:nvSpPr>
              <p:spPr>
                <a:xfrm>
                  <a:off x="2008740" y="4650771"/>
                  <a:ext cx="542504" cy="359036"/>
                </a:xfrm>
                <a:prstGeom prst="rect">
                  <a:avLst/>
                </a:prstGeom>
                <a:blipFill>
                  <a:blip r:embed="rId7"/>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AF81FB08-8658-846D-09A6-06E329149F3C}"/>
                    </a:ext>
                  </a:extLst>
                </p:cNvPr>
                <p:cNvSpPr txBox="1"/>
                <p:nvPr/>
              </p:nvSpPr>
              <p:spPr>
                <a:xfrm>
                  <a:off x="2808787" y="4031383"/>
                  <a:ext cx="542504" cy="408383"/>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0" name="文本框 19">
                  <a:extLst>
                    <a:ext uri="{FF2B5EF4-FFF2-40B4-BE49-F238E27FC236}">
                      <a16:creationId xmlns:a16="http://schemas.microsoft.com/office/drawing/2014/main" id="{BB8107C0-25A9-5FC2-5B72-969483860B20}"/>
                    </a:ext>
                  </a:extLst>
                </p:cNvPr>
                <p:cNvSpPr txBox="1">
                  <a:spLocks noRot="1" noChangeAspect="1" noMove="1" noResize="1" noEditPoints="1" noAdjustHandles="1" noChangeArrowheads="1" noChangeShapeType="1" noTextEdit="1"/>
                </p:cNvSpPr>
                <p:nvPr/>
              </p:nvSpPr>
              <p:spPr>
                <a:xfrm>
                  <a:off x="2808787" y="4031383"/>
                  <a:ext cx="542504" cy="408383"/>
                </a:xfrm>
                <a:prstGeom prst="rect">
                  <a:avLst/>
                </a:prstGeom>
                <a:blipFill>
                  <a:blip r:embed="rId8"/>
                  <a:stretch>
                    <a:fillRect t="-8197" r="-187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4F5D4E4-4486-DB22-F3B0-EC3E4401E22B}"/>
                    </a:ext>
                  </a:extLst>
                </p:cNvPr>
                <p:cNvSpPr txBox="1"/>
                <p:nvPr/>
              </p:nvSpPr>
              <p:spPr>
                <a:xfrm>
                  <a:off x="2266780" y="4949021"/>
                  <a:ext cx="1483324" cy="628312"/>
                </a:xfrm>
                <a:prstGeom prst="rect">
                  <a:avLst/>
                </a:prstGeom>
                <a:noFill/>
              </p:spPr>
              <p:txBody>
                <a:bodyPr wrap="square">
                  <a:spAutoFit/>
                </a:bodyPr>
                <a:lstStyle/>
                <a:p>
                  <a:pPr algn="ct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2</m:t>
                            </m:r>
                          </m:sub>
                        </m:sSub>
                      </m:oMath>
                    </m:oMathPara>
                  </a14:m>
                  <a:endParaRPr lang="en-US" altLang="zh-CN" dirty="0"/>
                </a:p>
                <a:p>
                  <a:pPr algn="ctr"/>
                  <a:r>
                    <a:rPr lang="en-US" altLang="zh-CN" dirty="0"/>
                    <a:t>(</a:t>
                  </a:r>
                  <a:r>
                    <a:rPr lang="en-US" altLang="zh-CN" dirty="0">
                      <a:solidFill>
                        <a:srgbClr val="00B050"/>
                      </a:solidFill>
                    </a:rPr>
                    <a:t>specular</a:t>
                  </a:r>
                  <a:r>
                    <a:rPr lang="en-US" altLang="zh-CN" dirty="0"/>
                    <a:t>)</a:t>
                  </a:r>
                  <a:endParaRPr lang="zh-CN" altLang="en-US" dirty="0"/>
                </a:p>
              </p:txBody>
            </p:sp>
          </mc:Choice>
          <mc:Fallback xmlns="">
            <p:sp>
              <p:nvSpPr>
                <p:cNvPr id="25" name="文本框 24">
                  <a:extLst>
                    <a:ext uri="{FF2B5EF4-FFF2-40B4-BE49-F238E27FC236}">
                      <a16:creationId xmlns:a16="http://schemas.microsoft.com/office/drawing/2014/main" id="{5197048D-5A3B-8D70-8823-01163689FDE6}"/>
                    </a:ext>
                  </a:extLst>
                </p:cNvPr>
                <p:cNvSpPr txBox="1">
                  <a:spLocks noRot="1" noChangeAspect="1" noMove="1" noResize="1" noEditPoints="1" noAdjustHandles="1" noChangeArrowheads="1" noChangeShapeType="1" noTextEdit="1"/>
                </p:cNvSpPr>
                <p:nvPr/>
              </p:nvSpPr>
              <p:spPr>
                <a:xfrm>
                  <a:off x="2266780" y="4949021"/>
                  <a:ext cx="1483324" cy="628312"/>
                </a:xfrm>
                <a:prstGeom prst="rect">
                  <a:avLst/>
                </a:prstGeom>
                <a:blipFill>
                  <a:blip r:embed="rId9"/>
                  <a:stretch>
                    <a:fillRect b="-174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DCAC84CF-117E-D2A6-DE72-F3105065B87C}"/>
                    </a:ext>
                  </a:extLst>
                </p:cNvPr>
                <p:cNvSpPr txBox="1"/>
                <p:nvPr/>
              </p:nvSpPr>
              <p:spPr>
                <a:xfrm>
                  <a:off x="3749607" y="4381757"/>
                  <a:ext cx="542504" cy="409927"/>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2" name="文本框 21">
                  <a:extLst>
                    <a:ext uri="{FF2B5EF4-FFF2-40B4-BE49-F238E27FC236}">
                      <a16:creationId xmlns:a16="http://schemas.microsoft.com/office/drawing/2014/main" id="{B51A4869-EBEE-2059-BF30-37D9B664BCCA}"/>
                    </a:ext>
                  </a:extLst>
                </p:cNvPr>
                <p:cNvSpPr txBox="1">
                  <a:spLocks noRot="1" noChangeAspect="1" noMove="1" noResize="1" noEditPoints="1" noAdjustHandles="1" noChangeArrowheads="1" noChangeShapeType="1" noTextEdit="1"/>
                </p:cNvSpPr>
                <p:nvPr/>
              </p:nvSpPr>
              <p:spPr>
                <a:xfrm>
                  <a:off x="3749607" y="4381757"/>
                  <a:ext cx="542504" cy="409927"/>
                </a:xfrm>
                <a:prstGeom prst="rect">
                  <a:avLst/>
                </a:prstGeom>
                <a:blipFill>
                  <a:blip r:embed="rId10"/>
                  <a:stretch>
                    <a:fillRect t="-6452" r="-18750"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71C5F178-EF9E-AD19-8F47-42449630F349}"/>
                    </a:ext>
                  </a:extLst>
                </p:cNvPr>
                <p:cNvSpPr txBox="1"/>
                <p:nvPr/>
              </p:nvSpPr>
              <p:spPr>
                <a:xfrm>
                  <a:off x="3649316" y="5231988"/>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27" name="文本框 26">
                  <a:extLst>
                    <a:ext uri="{FF2B5EF4-FFF2-40B4-BE49-F238E27FC236}">
                      <a16:creationId xmlns:a16="http://schemas.microsoft.com/office/drawing/2014/main" id="{6FEF8028-F791-BADC-60AD-64D148AB3E6C}"/>
                    </a:ext>
                  </a:extLst>
                </p:cNvPr>
                <p:cNvSpPr txBox="1">
                  <a:spLocks noRot="1" noChangeAspect="1" noMove="1" noResize="1" noEditPoints="1" noAdjustHandles="1" noChangeArrowheads="1" noChangeShapeType="1" noTextEdit="1"/>
                </p:cNvSpPr>
                <p:nvPr/>
              </p:nvSpPr>
              <p:spPr>
                <a:xfrm>
                  <a:off x="3649316" y="5231988"/>
                  <a:ext cx="542504" cy="359036"/>
                </a:xfrm>
                <a:prstGeom prst="rect">
                  <a:avLst/>
                </a:prstGeom>
                <a:blipFill>
                  <a:blip r:embed="rId11"/>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0A23BCB-2F8D-DEA5-BD98-581AEECE3179}"/>
                    </a:ext>
                  </a:extLst>
                </p:cNvPr>
                <p:cNvSpPr txBox="1"/>
                <p:nvPr/>
              </p:nvSpPr>
              <p:spPr>
                <a:xfrm>
                  <a:off x="4527668" y="4711553"/>
                  <a:ext cx="542504" cy="407541"/>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4</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4" name="文本框 23">
                  <a:extLst>
                    <a:ext uri="{FF2B5EF4-FFF2-40B4-BE49-F238E27FC236}">
                      <a16:creationId xmlns:a16="http://schemas.microsoft.com/office/drawing/2014/main" id="{C093376D-E1C9-2C1A-AD13-7E9C462AEEE5}"/>
                    </a:ext>
                  </a:extLst>
                </p:cNvPr>
                <p:cNvSpPr txBox="1">
                  <a:spLocks noRot="1" noChangeAspect="1" noMove="1" noResize="1" noEditPoints="1" noAdjustHandles="1" noChangeArrowheads="1" noChangeShapeType="1" noTextEdit="1"/>
                </p:cNvSpPr>
                <p:nvPr/>
              </p:nvSpPr>
              <p:spPr>
                <a:xfrm>
                  <a:off x="4527668" y="4711553"/>
                  <a:ext cx="542504" cy="407541"/>
                </a:xfrm>
                <a:prstGeom prst="rect">
                  <a:avLst/>
                </a:prstGeom>
                <a:blipFill>
                  <a:blip r:embed="rId12"/>
                  <a:stretch>
                    <a:fillRect t="-8197" r="-1750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8D031EF1-3352-13E2-CB72-EA2E3A1D9311}"/>
                    </a:ext>
                  </a:extLst>
                </p:cNvPr>
                <p:cNvSpPr txBox="1"/>
                <p:nvPr/>
              </p:nvSpPr>
              <p:spPr>
                <a:xfrm>
                  <a:off x="4370547" y="5601433"/>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29" name="文本框 28">
                  <a:extLst>
                    <a:ext uri="{FF2B5EF4-FFF2-40B4-BE49-F238E27FC236}">
                      <a16:creationId xmlns:a16="http://schemas.microsoft.com/office/drawing/2014/main" id="{1A358138-FAD7-E8B4-79BC-0C5F42239BC8}"/>
                    </a:ext>
                  </a:extLst>
                </p:cNvPr>
                <p:cNvSpPr txBox="1">
                  <a:spLocks noRot="1" noChangeAspect="1" noMove="1" noResize="1" noEditPoints="1" noAdjustHandles="1" noChangeArrowheads="1" noChangeShapeType="1" noTextEdit="1"/>
                </p:cNvSpPr>
                <p:nvPr/>
              </p:nvSpPr>
              <p:spPr>
                <a:xfrm>
                  <a:off x="4370547" y="5601433"/>
                  <a:ext cx="542504" cy="359036"/>
                </a:xfrm>
                <a:prstGeom prst="rect">
                  <a:avLst/>
                </a:prstGeom>
                <a:blipFill>
                  <a:blip r:embed="rId13"/>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E97555F-49D6-21AE-F293-E926A88CDBB9}"/>
                    </a:ext>
                  </a:extLst>
                </p:cNvPr>
                <p:cNvSpPr txBox="1"/>
                <p:nvPr/>
              </p:nvSpPr>
              <p:spPr>
                <a:xfrm>
                  <a:off x="5334115" y="5015652"/>
                  <a:ext cx="542504" cy="414558"/>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5</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26" name="文本框 25">
                  <a:extLst>
                    <a:ext uri="{FF2B5EF4-FFF2-40B4-BE49-F238E27FC236}">
                      <a16:creationId xmlns:a16="http://schemas.microsoft.com/office/drawing/2014/main" id="{2635389B-85A6-019E-3DB0-9BBD72373A23}"/>
                    </a:ext>
                  </a:extLst>
                </p:cNvPr>
                <p:cNvSpPr txBox="1">
                  <a:spLocks noRot="1" noChangeAspect="1" noMove="1" noResize="1" noEditPoints="1" noAdjustHandles="1" noChangeArrowheads="1" noChangeShapeType="1" noTextEdit="1"/>
                </p:cNvSpPr>
                <p:nvPr/>
              </p:nvSpPr>
              <p:spPr>
                <a:xfrm>
                  <a:off x="5334115" y="5015652"/>
                  <a:ext cx="542504" cy="414558"/>
                </a:xfrm>
                <a:prstGeom prst="rect">
                  <a:avLst/>
                </a:prstGeom>
                <a:blipFill>
                  <a:blip r:embed="rId14"/>
                  <a:stretch>
                    <a:fillRect t="-4839" r="-17500"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F1AB142E-6C89-BC8F-7601-2EE476C4F6D1}"/>
                    </a:ext>
                  </a:extLst>
                </p:cNvPr>
                <p:cNvSpPr txBox="1"/>
                <p:nvPr/>
              </p:nvSpPr>
              <p:spPr>
                <a:xfrm>
                  <a:off x="5246690" y="5842110"/>
                  <a:ext cx="542504" cy="359036"/>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31" name="文本框 30">
                  <a:extLst>
                    <a:ext uri="{FF2B5EF4-FFF2-40B4-BE49-F238E27FC236}">
                      <a16:creationId xmlns:a16="http://schemas.microsoft.com/office/drawing/2014/main" id="{CD739FF0-F0DB-ABBB-A71F-7E498596EF26}"/>
                    </a:ext>
                  </a:extLst>
                </p:cNvPr>
                <p:cNvSpPr txBox="1">
                  <a:spLocks noRot="1" noChangeAspect="1" noMove="1" noResize="1" noEditPoints="1" noAdjustHandles="1" noChangeArrowheads="1" noChangeShapeType="1" noTextEdit="1"/>
                </p:cNvSpPr>
                <p:nvPr/>
              </p:nvSpPr>
              <p:spPr>
                <a:xfrm>
                  <a:off x="5246690" y="5842110"/>
                  <a:ext cx="542504" cy="359036"/>
                </a:xfrm>
                <a:prstGeom prst="rect">
                  <a:avLst/>
                </a:prstGeom>
                <a:blipFill>
                  <a:blip r:embed="rId15"/>
                  <a:stretch>
                    <a:fillRect b="-101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7804E82-83D1-472C-2BEA-103028FAA716}"/>
                    </a:ext>
                  </a:extLst>
                </p:cNvPr>
                <p:cNvSpPr txBox="1"/>
                <p:nvPr/>
              </p:nvSpPr>
              <p:spPr>
                <a:xfrm>
                  <a:off x="5652835" y="5627164"/>
                  <a:ext cx="542504" cy="359036"/>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oMath>
                    </m:oMathPara>
                  </a14:m>
                  <a:endParaRPr lang="zh-CN" altLang="en-US" dirty="0"/>
                </a:p>
              </p:txBody>
            </p:sp>
          </mc:Choice>
          <mc:Fallback xmlns="">
            <p:sp>
              <p:nvSpPr>
                <p:cNvPr id="32" name="文本框 31">
                  <a:extLst>
                    <a:ext uri="{FF2B5EF4-FFF2-40B4-BE49-F238E27FC236}">
                      <a16:creationId xmlns:a16="http://schemas.microsoft.com/office/drawing/2014/main" id="{F74130D8-B74D-7AB7-ED51-76415B832F27}"/>
                    </a:ext>
                  </a:extLst>
                </p:cNvPr>
                <p:cNvSpPr txBox="1">
                  <a:spLocks noRot="1" noChangeAspect="1" noMove="1" noResize="1" noEditPoints="1" noAdjustHandles="1" noChangeArrowheads="1" noChangeShapeType="1" noTextEdit="1"/>
                </p:cNvSpPr>
                <p:nvPr/>
              </p:nvSpPr>
              <p:spPr>
                <a:xfrm>
                  <a:off x="5652835" y="5627164"/>
                  <a:ext cx="542504" cy="359036"/>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EE44E7D-C1F3-5F8D-922E-0A59161B6695}"/>
                    </a:ext>
                  </a:extLst>
                </p:cNvPr>
                <p:cNvSpPr txBox="1"/>
                <p:nvPr/>
              </p:nvSpPr>
              <p:spPr>
                <a:xfrm>
                  <a:off x="479857" y="3708407"/>
                  <a:ext cx="198753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𝐿</m:t>
                        </m:r>
                        <m:r>
                          <a:rPr lang="en-US" altLang="zh-CN" b="0" i="1" dirty="0" smtClean="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𝐼</m:t>
                                </m:r>
                              </m:e>
                            </m:acc>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oMath>
                    </m:oMathPara>
                  </a14:m>
                  <a:endParaRPr lang="zh-CN" altLang="en-US" dirty="0"/>
                </a:p>
              </p:txBody>
            </p:sp>
          </mc:Choice>
          <mc:Fallback xmlns="">
            <p:sp>
              <p:nvSpPr>
                <p:cNvPr id="29" name="文本框 28">
                  <a:extLst>
                    <a:ext uri="{FF2B5EF4-FFF2-40B4-BE49-F238E27FC236}">
                      <a16:creationId xmlns:a16="http://schemas.microsoft.com/office/drawing/2014/main" id="{55037D19-C896-12FC-9674-2DB5C4867875}"/>
                    </a:ext>
                  </a:extLst>
                </p:cNvPr>
                <p:cNvSpPr txBox="1">
                  <a:spLocks noRot="1" noChangeAspect="1" noMove="1" noResize="1" noEditPoints="1" noAdjustHandles="1" noChangeArrowheads="1" noChangeShapeType="1" noTextEdit="1"/>
                </p:cNvSpPr>
                <p:nvPr/>
              </p:nvSpPr>
              <p:spPr>
                <a:xfrm>
                  <a:off x="479857" y="3708407"/>
                  <a:ext cx="1987530" cy="412452"/>
                </a:xfrm>
                <a:prstGeom prst="rect">
                  <a:avLst/>
                </a:prstGeom>
                <a:blipFill>
                  <a:blip r:embed="rId17"/>
                  <a:stretch>
                    <a:fillRect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1F3A84DF-CC59-2B50-49C2-80509A3F31C5}"/>
                    </a:ext>
                  </a:extLst>
                </p:cNvPr>
                <p:cNvSpPr txBox="1"/>
                <p:nvPr/>
              </p:nvSpPr>
              <p:spPr>
                <a:xfrm>
                  <a:off x="2837307" y="3695734"/>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30" name="文本框 29">
                  <a:extLst>
                    <a:ext uri="{FF2B5EF4-FFF2-40B4-BE49-F238E27FC236}">
                      <a16:creationId xmlns:a16="http://schemas.microsoft.com/office/drawing/2014/main" id="{488041DE-8BBE-773F-1E7D-ED69ABD67069}"/>
                    </a:ext>
                  </a:extLst>
                </p:cNvPr>
                <p:cNvSpPr txBox="1">
                  <a:spLocks noRot="1" noChangeAspect="1" noMove="1" noResize="1" noEditPoints="1" noAdjustHandles="1" noChangeArrowheads="1" noChangeShapeType="1" noTextEdit="1"/>
                </p:cNvSpPr>
                <p:nvPr/>
              </p:nvSpPr>
              <p:spPr>
                <a:xfrm>
                  <a:off x="2837307" y="3695734"/>
                  <a:ext cx="912300" cy="412452"/>
                </a:xfrm>
                <a:prstGeom prst="rect">
                  <a:avLst/>
                </a:prstGeom>
                <a:blipFill>
                  <a:blip r:embed="rId18"/>
                  <a:stretch>
                    <a:fillRect t="-4839"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41E26D0-0790-AD45-8271-00ED3C1407DF}"/>
                    </a:ext>
                  </a:extLst>
                </p:cNvPr>
                <p:cNvSpPr txBox="1"/>
                <p:nvPr/>
              </p:nvSpPr>
              <p:spPr>
                <a:xfrm>
                  <a:off x="1908695" y="5652107"/>
                  <a:ext cx="2545089" cy="71558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3</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𝑖𝑓</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3</m:t>
                            </m:r>
                          </m:sub>
                        </m:sSub>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𝑖𝑠</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𝑙𝑖𝑔ℎ𝑡</m:t>
                        </m:r>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𝑠𝑜𝑢𝑟𝑐𝑒</m:t>
                        </m:r>
                      </m:oMath>
                    </m:oMathPara>
                  </a14:m>
                  <a:endParaRPr lang="zh-CN" altLang="en-US" dirty="0"/>
                </a:p>
              </p:txBody>
            </p:sp>
          </mc:Choice>
          <mc:Fallback xmlns="">
            <p:sp>
              <p:nvSpPr>
                <p:cNvPr id="31" name="文本框 30">
                  <a:extLst>
                    <a:ext uri="{FF2B5EF4-FFF2-40B4-BE49-F238E27FC236}">
                      <a16:creationId xmlns:a16="http://schemas.microsoft.com/office/drawing/2014/main" id="{F7CA372D-0395-04C2-A548-CCE5125D2A2D}"/>
                    </a:ext>
                  </a:extLst>
                </p:cNvPr>
                <p:cNvSpPr txBox="1">
                  <a:spLocks noRot="1" noChangeAspect="1" noMove="1" noResize="1" noEditPoints="1" noAdjustHandles="1" noChangeArrowheads="1" noChangeShapeType="1" noTextEdit="1"/>
                </p:cNvSpPr>
                <p:nvPr/>
              </p:nvSpPr>
              <p:spPr>
                <a:xfrm>
                  <a:off x="1908695" y="5652107"/>
                  <a:ext cx="2545089" cy="715582"/>
                </a:xfrm>
                <a:prstGeom prst="rect">
                  <a:avLst/>
                </a:prstGeom>
                <a:blipFill>
                  <a:blip r:embed="rId19"/>
                  <a:stretch>
                    <a:fillRect t="-2804" r="-3191" b="-149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61C2AFBB-B3DD-F85F-4CB1-3247D9B8FE7C}"/>
                    </a:ext>
                  </a:extLst>
                </p:cNvPr>
                <p:cNvSpPr txBox="1"/>
                <p:nvPr/>
              </p:nvSpPr>
              <p:spPr>
                <a:xfrm>
                  <a:off x="4527668" y="4353351"/>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32" name="文本框 31">
                  <a:extLst>
                    <a:ext uri="{FF2B5EF4-FFF2-40B4-BE49-F238E27FC236}">
                      <a16:creationId xmlns:a16="http://schemas.microsoft.com/office/drawing/2014/main" id="{43289335-4D5F-366E-0D6A-54C76453240F}"/>
                    </a:ext>
                  </a:extLst>
                </p:cNvPr>
                <p:cNvSpPr txBox="1">
                  <a:spLocks noRot="1" noChangeAspect="1" noMove="1" noResize="1" noEditPoints="1" noAdjustHandles="1" noChangeArrowheads="1" noChangeShapeType="1" noTextEdit="1"/>
                </p:cNvSpPr>
                <p:nvPr/>
              </p:nvSpPr>
              <p:spPr>
                <a:xfrm>
                  <a:off x="4527668" y="4353351"/>
                  <a:ext cx="912300" cy="412452"/>
                </a:xfrm>
                <a:prstGeom prst="rect">
                  <a:avLst/>
                </a:prstGeom>
                <a:blipFill>
                  <a:blip r:embed="rId20"/>
                  <a:stretch>
                    <a:fillRect t="-6452" b="-258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C3FFFA38-8449-AB95-19A6-D258635D1BF9}"/>
                    </a:ext>
                  </a:extLst>
                </p:cNvPr>
                <p:cNvSpPr txBox="1"/>
                <p:nvPr/>
              </p:nvSpPr>
              <p:spPr>
                <a:xfrm>
                  <a:off x="5305729" y="4713786"/>
                  <a:ext cx="912300" cy="412452"/>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33" name="文本框 32">
                  <a:extLst>
                    <a:ext uri="{FF2B5EF4-FFF2-40B4-BE49-F238E27FC236}">
                      <a16:creationId xmlns:a16="http://schemas.microsoft.com/office/drawing/2014/main" id="{690737A6-5D9E-9292-6539-0A663EE6A136}"/>
                    </a:ext>
                  </a:extLst>
                </p:cNvPr>
                <p:cNvSpPr txBox="1">
                  <a:spLocks noRot="1" noChangeAspect="1" noMove="1" noResize="1" noEditPoints="1" noAdjustHandles="1" noChangeArrowheads="1" noChangeShapeType="1" noTextEdit="1"/>
                </p:cNvSpPr>
                <p:nvPr/>
              </p:nvSpPr>
              <p:spPr>
                <a:xfrm>
                  <a:off x="5305729" y="4713786"/>
                  <a:ext cx="912300" cy="412452"/>
                </a:xfrm>
                <a:prstGeom prst="rect">
                  <a:avLst/>
                </a:prstGeom>
                <a:blipFill>
                  <a:blip r:embed="rId21"/>
                  <a:stretch>
                    <a:fillRect t="-4839" b="-25806"/>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8EDBF92C-1443-20E3-22EC-0D01EA9646E6}"/>
                </a:ext>
              </a:extLst>
            </p:cNvPr>
            <p:cNvCxnSpPr/>
            <p:nvPr/>
          </p:nvCxnSpPr>
          <p:spPr>
            <a:xfrm>
              <a:off x="3351292" y="4740793"/>
              <a:ext cx="298024" cy="3207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46EB216-E18A-5FA4-8F72-61F16DCB90D6}"/>
                </a:ext>
              </a:extLst>
            </p:cNvPr>
            <p:cNvCxnSpPr>
              <a:cxnSpLocks/>
            </p:cNvCxnSpPr>
            <p:nvPr/>
          </p:nvCxnSpPr>
          <p:spPr>
            <a:xfrm flipH="1">
              <a:off x="3344377" y="4724984"/>
              <a:ext cx="298024" cy="32073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4E8404A-08ED-50ED-4051-1F836235E3D1}"/>
                    </a:ext>
                  </a:extLst>
                </p:cNvPr>
                <p:cNvSpPr txBox="1"/>
                <p:nvPr/>
              </p:nvSpPr>
              <p:spPr>
                <a:xfrm>
                  <a:off x="2361846" y="4696127"/>
                  <a:ext cx="542504" cy="404173"/>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2</m:t>
                            </m:r>
                          </m:sub>
                        </m:sSub>
                      </m:oMath>
                    </m:oMathPara>
                  </a14:m>
                  <a:endParaRPr lang="zh-CN" altLang="en-US" dirty="0"/>
                </a:p>
              </p:txBody>
            </p:sp>
          </mc:Choice>
          <mc:Fallback xmlns="">
            <p:sp>
              <p:nvSpPr>
                <p:cNvPr id="36" name="文本框 35">
                  <a:extLst>
                    <a:ext uri="{FF2B5EF4-FFF2-40B4-BE49-F238E27FC236}">
                      <a16:creationId xmlns:a16="http://schemas.microsoft.com/office/drawing/2014/main" id="{6BFDA3AB-7D37-4812-51D7-7D69327CD158}"/>
                    </a:ext>
                  </a:extLst>
                </p:cNvPr>
                <p:cNvSpPr txBox="1">
                  <a:spLocks noRot="1" noChangeAspect="1" noMove="1" noResize="1" noEditPoints="1" noAdjustHandles="1" noChangeArrowheads="1" noChangeShapeType="1" noTextEdit="1"/>
                </p:cNvSpPr>
                <p:nvPr/>
              </p:nvSpPr>
              <p:spPr>
                <a:xfrm>
                  <a:off x="2361846" y="4696127"/>
                  <a:ext cx="542504" cy="404173"/>
                </a:xfrm>
                <a:prstGeom prst="rect">
                  <a:avLst/>
                </a:prstGeom>
                <a:blipFill>
                  <a:blip r:embed="rId22"/>
                  <a:stretch>
                    <a:fillRect t="-8197" r="-22500"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08C32021-B31F-056F-81D2-04E9461E7ED6}"/>
                    </a:ext>
                  </a:extLst>
                </p:cNvPr>
                <p:cNvSpPr txBox="1"/>
                <p:nvPr/>
              </p:nvSpPr>
              <p:spPr>
                <a:xfrm>
                  <a:off x="3116242" y="4993385"/>
                  <a:ext cx="542504" cy="433863"/>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3</m:t>
                            </m:r>
                          </m:sub>
                        </m:sSub>
                      </m:oMath>
                    </m:oMathPara>
                  </a14:m>
                  <a:endParaRPr lang="zh-CN" altLang="en-US" dirty="0"/>
                </a:p>
              </p:txBody>
            </p:sp>
          </mc:Choice>
          <mc:Fallback xmlns="">
            <p:sp>
              <p:nvSpPr>
                <p:cNvPr id="41" name="文本框 40">
                  <a:extLst>
                    <a:ext uri="{FF2B5EF4-FFF2-40B4-BE49-F238E27FC236}">
                      <a16:creationId xmlns:a16="http://schemas.microsoft.com/office/drawing/2014/main" id="{8B85582B-F76C-8BB1-9F55-8C6D81633CB3}"/>
                    </a:ext>
                  </a:extLst>
                </p:cNvPr>
                <p:cNvSpPr txBox="1">
                  <a:spLocks noRot="1" noChangeAspect="1" noMove="1" noResize="1" noEditPoints="1" noAdjustHandles="1" noChangeArrowheads="1" noChangeShapeType="1" noTextEdit="1"/>
                </p:cNvSpPr>
                <p:nvPr/>
              </p:nvSpPr>
              <p:spPr>
                <a:xfrm>
                  <a:off x="3116242" y="4993385"/>
                  <a:ext cx="542504" cy="433863"/>
                </a:xfrm>
                <a:prstGeom prst="rect">
                  <a:avLst/>
                </a:prstGeom>
                <a:blipFill>
                  <a:blip r:embed="rId2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57A34E4B-D5F0-9132-8046-F3F1E1A0CA55}"/>
                    </a:ext>
                  </a:extLst>
                </p:cNvPr>
                <p:cNvSpPr txBox="1"/>
                <p:nvPr/>
              </p:nvSpPr>
              <p:spPr>
                <a:xfrm>
                  <a:off x="3945103" y="5334721"/>
                  <a:ext cx="542504" cy="369332"/>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4</m:t>
                            </m:r>
                          </m:sub>
                        </m:sSub>
                      </m:oMath>
                    </m:oMathPara>
                  </a14:m>
                  <a:endParaRPr lang="zh-CN" altLang="en-US" dirty="0"/>
                </a:p>
              </p:txBody>
            </p:sp>
          </mc:Choice>
          <mc:Fallback xmlns="">
            <p:sp>
              <p:nvSpPr>
                <p:cNvPr id="42" name="文本框 41">
                  <a:extLst>
                    <a:ext uri="{FF2B5EF4-FFF2-40B4-BE49-F238E27FC236}">
                      <a16:creationId xmlns:a16="http://schemas.microsoft.com/office/drawing/2014/main" id="{821FF589-0C92-E797-F9A8-572CBDD80E67}"/>
                    </a:ext>
                  </a:extLst>
                </p:cNvPr>
                <p:cNvSpPr txBox="1">
                  <a:spLocks noRot="1" noChangeAspect="1" noMove="1" noResize="1" noEditPoints="1" noAdjustHandles="1" noChangeArrowheads="1" noChangeShapeType="1" noTextEdit="1"/>
                </p:cNvSpPr>
                <p:nvPr/>
              </p:nvSpPr>
              <p:spPr>
                <a:xfrm>
                  <a:off x="3945103" y="5334721"/>
                  <a:ext cx="542504" cy="369332"/>
                </a:xfrm>
                <a:prstGeom prst="rect">
                  <a:avLst/>
                </a:prstGeom>
                <a:blipFill>
                  <a:blip r:embed="rId2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66ED2950-654F-E799-13AE-2A69502C738D}"/>
                    </a:ext>
                  </a:extLst>
                </p:cNvPr>
                <p:cNvSpPr txBox="1"/>
                <p:nvPr/>
              </p:nvSpPr>
              <p:spPr>
                <a:xfrm>
                  <a:off x="4699505" y="5639482"/>
                  <a:ext cx="542504" cy="369332"/>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5</m:t>
                            </m:r>
                          </m:sub>
                        </m:sSub>
                      </m:oMath>
                    </m:oMathPara>
                  </a14:m>
                  <a:endParaRPr lang="zh-CN" altLang="en-US" dirty="0"/>
                </a:p>
              </p:txBody>
            </p:sp>
          </mc:Choice>
          <mc:Fallback xmlns="">
            <p:sp>
              <p:nvSpPr>
                <p:cNvPr id="43" name="文本框 42">
                  <a:extLst>
                    <a:ext uri="{FF2B5EF4-FFF2-40B4-BE49-F238E27FC236}">
                      <a16:creationId xmlns:a16="http://schemas.microsoft.com/office/drawing/2014/main" id="{315A583C-1510-AD2C-6179-56C28DF751DD}"/>
                    </a:ext>
                  </a:extLst>
                </p:cNvPr>
                <p:cNvSpPr txBox="1">
                  <a:spLocks noRot="1" noChangeAspect="1" noMove="1" noResize="1" noEditPoints="1" noAdjustHandles="1" noChangeArrowheads="1" noChangeShapeType="1" noTextEdit="1"/>
                </p:cNvSpPr>
                <p:nvPr/>
              </p:nvSpPr>
              <p:spPr>
                <a:xfrm>
                  <a:off x="4699505" y="5639482"/>
                  <a:ext cx="542504" cy="369332"/>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AFDD7464-801E-DC87-7383-CF8586A3717D}"/>
                    </a:ext>
                  </a:extLst>
                </p:cNvPr>
                <p:cNvSpPr txBox="1"/>
                <p:nvPr/>
              </p:nvSpPr>
              <p:spPr>
                <a:xfrm>
                  <a:off x="2247321" y="4220643"/>
                  <a:ext cx="542504" cy="408383"/>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2</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40" name="文本框 39">
                  <a:extLst>
                    <a:ext uri="{FF2B5EF4-FFF2-40B4-BE49-F238E27FC236}">
                      <a16:creationId xmlns:a16="http://schemas.microsoft.com/office/drawing/2014/main" id="{EEA6E526-A74A-580E-AD1D-80441723FDFF}"/>
                    </a:ext>
                  </a:extLst>
                </p:cNvPr>
                <p:cNvSpPr txBox="1">
                  <a:spLocks noRot="1" noChangeAspect="1" noMove="1" noResize="1" noEditPoints="1" noAdjustHandles="1" noChangeArrowheads="1" noChangeShapeType="1" noTextEdit="1"/>
                </p:cNvSpPr>
                <p:nvPr/>
              </p:nvSpPr>
              <p:spPr>
                <a:xfrm>
                  <a:off x="2247321" y="4220643"/>
                  <a:ext cx="542504" cy="408383"/>
                </a:xfrm>
                <a:prstGeom prst="rect">
                  <a:avLst/>
                </a:prstGeom>
                <a:blipFill>
                  <a:blip r:embed="rId26"/>
                  <a:stretch>
                    <a:fillRect t="-6557" r="-212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04D5E368-554C-EE66-6875-0840507799CB}"/>
                    </a:ext>
                  </a:extLst>
                </p:cNvPr>
                <p:cNvSpPr txBox="1"/>
                <p:nvPr/>
              </p:nvSpPr>
              <p:spPr>
                <a:xfrm>
                  <a:off x="2957799" y="4568938"/>
                  <a:ext cx="542504" cy="409927"/>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3</m:t>
                            </m:r>
                          </m:sub>
                          <m:sup>
                            <m:r>
                              <a:rPr lang="en-US" altLang="zh-CN" b="0" i="1" dirty="0" smtClean="0">
                                <a:latin typeface="Cambria Math" panose="02040503050406030204" pitchFamily="18" charset="0"/>
                              </a:rPr>
                              <m:t>𝐿</m:t>
                            </m:r>
                          </m:sup>
                        </m:sSubSup>
                      </m:oMath>
                    </m:oMathPara>
                  </a14:m>
                  <a:endParaRPr lang="en-US" altLang="zh-CN" b="0" dirty="0"/>
                </a:p>
              </p:txBody>
            </p:sp>
          </mc:Choice>
          <mc:Fallback xmlns="">
            <p:sp>
              <p:nvSpPr>
                <p:cNvPr id="41" name="文本框 40">
                  <a:extLst>
                    <a:ext uri="{FF2B5EF4-FFF2-40B4-BE49-F238E27FC236}">
                      <a16:creationId xmlns:a16="http://schemas.microsoft.com/office/drawing/2014/main" id="{7C66049A-5A99-6352-AE48-F5944EE27393}"/>
                    </a:ext>
                  </a:extLst>
                </p:cNvPr>
                <p:cNvSpPr txBox="1">
                  <a:spLocks noRot="1" noChangeAspect="1" noMove="1" noResize="1" noEditPoints="1" noAdjustHandles="1" noChangeArrowheads="1" noChangeShapeType="1" noTextEdit="1"/>
                </p:cNvSpPr>
                <p:nvPr/>
              </p:nvSpPr>
              <p:spPr>
                <a:xfrm>
                  <a:off x="2957799" y="4568938"/>
                  <a:ext cx="542504" cy="409927"/>
                </a:xfrm>
                <a:prstGeom prst="rect">
                  <a:avLst/>
                </a:prstGeom>
                <a:blipFill>
                  <a:blip r:embed="rId27"/>
                  <a:stretch>
                    <a:fillRect t="-6452" r="-21250" b="-241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CD170941-4146-7BC8-F7A3-824EC271734F}"/>
                    </a:ext>
                  </a:extLst>
                </p:cNvPr>
                <p:cNvSpPr txBox="1"/>
                <p:nvPr/>
              </p:nvSpPr>
              <p:spPr>
                <a:xfrm>
                  <a:off x="3830578" y="4859237"/>
                  <a:ext cx="542504" cy="407541"/>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4</m:t>
                            </m:r>
                          </m:sub>
                          <m:sup>
                            <m:r>
                              <a:rPr lang="en-US" altLang="zh-CN" b="0" i="1" dirty="0" smtClean="0">
                                <a:latin typeface="Cambria Math" panose="02040503050406030204" pitchFamily="18" charset="0"/>
                              </a:rPr>
                              <m:t>𝐿</m:t>
                            </m:r>
                          </m:sup>
                        </m:sSubSup>
                      </m:oMath>
                    </m:oMathPara>
                  </a14:m>
                  <a:endParaRPr lang="zh-CN" altLang="en-US" dirty="0"/>
                </a:p>
              </p:txBody>
            </p:sp>
          </mc:Choice>
          <mc:Fallback xmlns="">
            <p:sp>
              <p:nvSpPr>
                <p:cNvPr id="42" name="文本框 41">
                  <a:extLst>
                    <a:ext uri="{FF2B5EF4-FFF2-40B4-BE49-F238E27FC236}">
                      <a16:creationId xmlns:a16="http://schemas.microsoft.com/office/drawing/2014/main" id="{B6A9A6B9-84AD-E0F6-1CCA-A7DC489F1736}"/>
                    </a:ext>
                  </a:extLst>
                </p:cNvPr>
                <p:cNvSpPr txBox="1">
                  <a:spLocks noRot="1" noChangeAspect="1" noMove="1" noResize="1" noEditPoints="1" noAdjustHandles="1" noChangeArrowheads="1" noChangeShapeType="1" noTextEdit="1"/>
                </p:cNvSpPr>
                <p:nvPr/>
              </p:nvSpPr>
              <p:spPr>
                <a:xfrm>
                  <a:off x="3830578" y="4859237"/>
                  <a:ext cx="542504" cy="407541"/>
                </a:xfrm>
                <a:prstGeom prst="rect">
                  <a:avLst/>
                </a:prstGeom>
                <a:blipFill>
                  <a:blip r:embed="rId28"/>
                  <a:stretch>
                    <a:fillRect t="-8197" r="-21250"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158A96EF-2A4D-CEA4-0A7B-DD97D1667A83}"/>
                    </a:ext>
                  </a:extLst>
                </p:cNvPr>
                <p:cNvSpPr txBox="1"/>
                <p:nvPr/>
              </p:nvSpPr>
              <p:spPr>
                <a:xfrm>
                  <a:off x="4584980" y="5163998"/>
                  <a:ext cx="542504" cy="369332"/>
                </a:xfrm>
                <a:prstGeom prst="rect">
                  <a:avLst/>
                </a:prstGeom>
                <a:noFill/>
              </p:spPr>
              <p:txBody>
                <a:bodyPr wrap="square">
                  <a:spAutoFit/>
                </a:bodyPr>
                <a:lstStyle/>
                <a:p>
                  <a:pPr/>
                  <a14:m>
                    <m:oMathPara xmlns:m="http://schemas.openxmlformats.org/officeDocument/2006/math">
                      <m:o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5</m:t>
                            </m:r>
                          </m:sub>
                          <m:sup>
                            <m:r>
                              <a:rPr lang="en-US" altLang="zh-CN" b="0" i="1" dirty="0" smtClean="0">
                                <a:latin typeface="Cambria Math" panose="02040503050406030204" pitchFamily="18" charset="0"/>
                              </a:rPr>
                              <m:t>′</m:t>
                            </m:r>
                          </m:sup>
                        </m:sSubSup>
                      </m:oMath>
                    </m:oMathPara>
                  </a14:m>
                  <a:endParaRPr lang="zh-CN" altLang="en-US" dirty="0"/>
                </a:p>
              </p:txBody>
            </p:sp>
          </mc:Choice>
          <mc:Fallback xmlns="">
            <p:sp>
              <p:nvSpPr>
                <p:cNvPr id="47" name="文本框 46">
                  <a:extLst>
                    <a:ext uri="{FF2B5EF4-FFF2-40B4-BE49-F238E27FC236}">
                      <a16:creationId xmlns:a16="http://schemas.microsoft.com/office/drawing/2014/main" id="{CD6B2AD4-C3B4-BF4F-B02B-B9EC8CB64C85}"/>
                    </a:ext>
                  </a:extLst>
                </p:cNvPr>
                <p:cNvSpPr txBox="1">
                  <a:spLocks noRot="1" noChangeAspect="1" noMove="1" noResize="1" noEditPoints="1" noAdjustHandles="1" noChangeArrowheads="1" noChangeShapeType="1" noTextEdit="1"/>
                </p:cNvSpPr>
                <p:nvPr/>
              </p:nvSpPr>
              <p:spPr>
                <a:xfrm>
                  <a:off x="4584980" y="5163998"/>
                  <a:ext cx="542504" cy="369332"/>
                </a:xfrm>
                <a:prstGeom prst="rect">
                  <a:avLst/>
                </a:prstGeom>
                <a:blipFill>
                  <a:blip r:embed="rId29"/>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FAD9A0E-AEB4-F12A-DE68-BB9DE2B9D5EB}"/>
                  </a:ext>
                </a:extLst>
              </p:cNvPr>
              <p:cNvSpPr txBox="1"/>
              <p:nvPr/>
            </p:nvSpPr>
            <p:spPr>
              <a:xfrm>
                <a:off x="186518" y="1420090"/>
                <a:ext cx="5778715" cy="2643096"/>
              </a:xfrm>
              <a:prstGeom prst="rect">
                <a:avLst/>
              </a:prstGeom>
              <a:noFill/>
            </p:spPr>
            <p:txBody>
              <a:bodyPr wrap="square">
                <a:spAutoFit/>
              </a:bodyPr>
              <a:lstStyle/>
              <a:p>
                <a:r>
                  <a:rPr lang="zh-CN" altLang="en-US" dirty="0">
                    <a:latin typeface="+mn-ea"/>
                  </a:rPr>
                  <a:t>          一般情况下，可以分别用</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𝐷</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oMath>
                </a14:m>
                <a:r>
                  <a:rPr lang="zh-CN" altLang="en-US" dirty="0">
                    <a:latin typeface="+mn-ea"/>
                  </a:rPr>
                  <a:t>与</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oMath>
                </a14:m>
                <a:r>
                  <a:rPr lang="zh-CN" altLang="en-US" dirty="0">
                    <a:latin typeface="+mn-ea"/>
                  </a:rPr>
                  <a:t>采样得到两个样本，一个用于计算</a:t>
                </a:r>
                <a14:m>
                  <m:oMath xmlns:m="http://schemas.openxmlformats.org/officeDocument/2006/math">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𝐷</m:t>
                            </m:r>
                          </m:e>
                        </m:acc>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e>
                    </m:d>
                  </m:oMath>
                </a14:m>
                <a:r>
                  <a:rPr lang="zh-CN" altLang="en-US" dirty="0">
                    <a:latin typeface="+mn-ea"/>
                  </a:rPr>
                  <a:t>，另一个用于构建更长的路径。这里的</a:t>
                </a:r>
                <a:r>
                  <a:rPr lang="en-US" altLang="zh-CN" dirty="0">
                    <a:latin typeface="+mn-ea"/>
                  </a:rPr>
                  <a:t>D</a:t>
                </a:r>
                <a:r>
                  <a:rPr lang="zh-CN" altLang="en-US" dirty="0">
                    <a:latin typeface="+mn-ea"/>
                  </a:rPr>
                  <a:t>意为</a:t>
                </a:r>
                <a:r>
                  <a:rPr lang="en-US" altLang="zh-CN" dirty="0">
                    <a:latin typeface="+mn-ea"/>
                  </a:rPr>
                  <a:t>Direct-Light</a:t>
                </a:r>
                <a:r>
                  <a:rPr lang="zh-CN" altLang="en-US" dirty="0">
                    <a:latin typeface="+mn-ea"/>
                  </a:rPr>
                  <a:t>，</a:t>
                </a:r>
                <a:r>
                  <a:rPr lang="en-US" altLang="zh-CN" dirty="0">
                    <a:latin typeface="+mn-ea"/>
                  </a:rPr>
                  <a:t>C</a:t>
                </a:r>
                <a:r>
                  <a:rPr lang="zh-CN" altLang="en-US" dirty="0">
                    <a:latin typeface="+mn-ea"/>
                  </a:rPr>
                  <a:t>意为</a:t>
                </a:r>
                <a:r>
                  <a:rPr lang="zh-CN" altLang="zh-CN" dirty="0">
                    <a:latin typeface="+mn-ea"/>
                  </a:rPr>
                  <a:t>Continuation</a:t>
                </a:r>
                <a:r>
                  <a:rPr lang="zh-CN" altLang="en-US" dirty="0">
                    <a:latin typeface="+mn-ea"/>
                  </a:rPr>
                  <a:t>。</a:t>
                </a:r>
                <a:endParaRPr lang="en-US" altLang="zh-CN" dirty="0">
                  <a:latin typeface="+mn-ea"/>
                </a:endParaRPr>
              </a:p>
              <a:p>
                <a:r>
                  <a:rPr lang="en-US" altLang="zh-CN" dirty="0">
                    <a:latin typeface="+mn-ea"/>
                  </a:rPr>
                  <a:t>         </a:t>
                </a:r>
                <a:r>
                  <a:rPr lang="zh-CN" altLang="en-US" dirty="0">
                    <a:latin typeface="+mn-ea"/>
                  </a:rPr>
                  <a:t>当然，在代码实现中也可以令：</a:t>
                </a:r>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𝐷</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oMath>
                  </m:oMathPara>
                </a14:m>
                <a:endParaRPr lang="en-US" altLang="zh-CN" dirty="0">
                  <a:latin typeface="+mn-ea"/>
                </a:endParaRPr>
              </a:p>
              <a:p>
                <a:r>
                  <a:rPr lang="zh-CN" altLang="en-US" dirty="0">
                    <a:latin typeface="+mn-ea"/>
                  </a:rPr>
                  <a:t>         并且在构建更长的路径时复用计算</a:t>
                </a:r>
                <a14:m>
                  <m:oMath xmlns:m="http://schemas.openxmlformats.org/officeDocument/2006/math">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𝐷</m:t>
                            </m:r>
                          </m:e>
                        </m:acc>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e>
                    </m:d>
                  </m:oMath>
                </a14:m>
                <a:r>
                  <a:rPr lang="zh-CN" altLang="en-US" dirty="0">
                    <a:latin typeface="+mn-ea"/>
                  </a:rPr>
                  <a:t>的方向样本，即：</a:t>
                </a:r>
                <a:endParaRPr lang="en-US" altLang="zh-CN" i="1" dirty="0">
                  <a:latin typeface="Cambria Math" panose="02040503050406030204" pitchFamily="18" charset="0"/>
                </a:endParaRPr>
              </a:p>
              <a:p>
                <a:pPr/>
                <a14:m>
                  <m:oMathPara xmlns:m="http://schemas.openxmlformats.org/officeDocument/2006/math">
                    <m:o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𝐷</m:t>
                          </m:r>
                        </m:sup>
                      </m:sSubSup>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p>
                      </m:sSubSup>
                      <m:r>
                        <a:rPr lang="en-US" altLang="zh-CN" b="0" i="1" dirty="0" smtClean="0">
                          <a:latin typeface="Cambria Math" panose="02040503050406030204" pitchFamily="18" charset="0"/>
                        </a:rPr>
                        <m:t>=</m:t>
                      </m:r>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𝐵</m:t>
                          </m:r>
                        </m:sup>
                      </m:sSubSup>
                    </m:oMath>
                  </m:oMathPara>
                </a14:m>
                <a:endParaRPr lang="en-US" altLang="zh-CN" dirty="0">
                  <a:latin typeface="+mn-ea"/>
                </a:endParaRPr>
              </a:p>
            </p:txBody>
          </p:sp>
        </mc:Choice>
        <mc:Fallback xmlns="">
          <p:sp>
            <p:nvSpPr>
              <p:cNvPr id="3" name="文本框 2">
                <a:extLst>
                  <a:ext uri="{FF2B5EF4-FFF2-40B4-BE49-F238E27FC236}">
                    <a16:creationId xmlns:a16="http://schemas.microsoft.com/office/drawing/2014/main" id="{1FAD9A0E-AEB4-F12A-DE68-BB9DE2B9D5EB}"/>
                  </a:ext>
                </a:extLst>
              </p:cNvPr>
              <p:cNvSpPr txBox="1">
                <a:spLocks noRot="1" noChangeAspect="1" noMove="1" noResize="1" noEditPoints="1" noAdjustHandles="1" noChangeArrowheads="1" noChangeShapeType="1" noTextEdit="1"/>
              </p:cNvSpPr>
              <p:nvPr/>
            </p:nvSpPr>
            <p:spPr>
              <a:xfrm>
                <a:off x="186518" y="1420090"/>
                <a:ext cx="5778715" cy="2643096"/>
              </a:xfrm>
              <a:prstGeom prst="rect">
                <a:avLst/>
              </a:prstGeom>
              <a:blipFill>
                <a:blip r:embed="rId30"/>
                <a:stretch>
                  <a:fillRect l="-949" t="-1382" r="-844" b="-29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C4F28D0C-F0C8-F7BB-F5FC-BEA32A403F44}"/>
                  </a:ext>
                </a:extLst>
              </p:cNvPr>
              <p:cNvSpPr txBox="1"/>
              <p:nvPr/>
            </p:nvSpPr>
            <p:spPr>
              <a:xfrm>
                <a:off x="186517" y="4232119"/>
                <a:ext cx="5858275" cy="1871538"/>
              </a:xfrm>
              <a:prstGeom prst="rect">
                <a:avLst/>
              </a:prstGeom>
              <a:noFill/>
            </p:spPr>
            <p:txBody>
              <a:bodyPr wrap="square">
                <a:spAutoFit/>
              </a:bodyPr>
              <a:lstStyle/>
              <a:p>
                <a:pPr>
                  <a:spcBef>
                    <a:spcPts val="800"/>
                  </a:spcBef>
                </a:pPr>
                <a:r>
                  <a:rPr lang="en-US" altLang="zh-CN" dirty="0">
                    <a:latin typeface="+mn-ea"/>
                  </a:rPr>
                  <a:t>         </a:t>
                </a:r>
                <a:r>
                  <a:rPr lang="zh-CN" altLang="en-US" sz="1800" b="1" dirty="0">
                    <a:latin typeface="+mn-ea"/>
                  </a:rPr>
                  <a:t>问题一：如何计算</a:t>
                </a:r>
                <a14:m>
                  <m:oMath xmlns:m="http://schemas.openxmlformats.org/officeDocument/2006/math">
                    <m:sSub>
                      <m:sSubPr>
                        <m:ctrlPr>
                          <a:rPr lang="en-US" altLang="zh-CN" sz="1800" b="1" i="1" dirty="0">
                            <a:latin typeface="Cambria Math" panose="02040503050406030204" pitchFamily="18" charset="0"/>
                          </a:rPr>
                        </m:ctrlPr>
                      </m:sSubPr>
                      <m:e>
                        <m:acc>
                          <m:accPr>
                            <m:chr m:val="̂"/>
                            <m:ctrlPr>
                              <a:rPr lang="en-US" altLang="zh-CN" sz="1800" b="1" i="1" dirty="0">
                                <a:latin typeface="Cambria Math" panose="02040503050406030204" pitchFamily="18" charset="0"/>
                              </a:rPr>
                            </m:ctrlPr>
                          </m:accPr>
                          <m:e>
                            <m:r>
                              <a:rPr lang="en-US" altLang="zh-CN" sz="1800" b="1" i="1" dirty="0">
                                <a:latin typeface="Cambria Math" panose="02040503050406030204" pitchFamily="18" charset="0"/>
                              </a:rPr>
                              <m:t>𝑰</m:t>
                            </m:r>
                          </m:e>
                        </m:acc>
                      </m:e>
                      <m:sub>
                        <m:r>
                          <a:rPr lang="en-US" altLang="zh-CN" sz="1800" b="1" i="1" dirty="0">
                            <a:latin typeface="Cambria Math" panose="02040503050406030204" pitchFamily="18" charset="0"/>
                          </a:rPr>
                          <m:t>𝒊</m:t>
                        </m:r>
                      </m:sub>
                    </m:sSub>
                  </m:oMath>
                </a14:m>
                <a:r>
                  <a:rPr lang="zh-CN" altLang="en-US" sz="1800" b="1" dirty="0">
                    <a:latin typeface="+mn-ea"/>
                  </a:rPr>
                  <a:t>？</a:t>
                </a:r>
                <a:endParaRPr lang="en-US" altLang="zh-CN" sz="1800" b="1" dirty="0">
                  <a:latin typeface="+mn-ea"/>
                </a:endParaRPr>
              </a:p>
              <a:p>
                <a:r>
                  <a:rPr lang="en-US" altLang="zh-CN" sz="1800" b="1" dirty="0">
                    <a:latin typeface="+mn-ea"/>
                  </a:rPr>
                  <a:t>         </a:t>
                </a:r>
                <a:r>
                  <a:rPr lang="zh-CN" altLang="en-US" sz="1800" dirty="0">
                    <a:latin typeface="+mn-ea"/>
                  </a:rPr>
                  <a:t>为了计算</a:t>
                </a:r>
                <a14:m>
                  <m:oMath xmlns:m="http://schemas.openxmlformats.org/officeDocument/2006/math">
                    <m:sSub>
                      <m:sSubPr>
                        <m:ctrlPr>
                          <a:rPr lang="en-US" altLang="zh-CN" sz="1800" b="0" i="1" dirty="0">
                            <a:latin typeface="Cambria Math" panose="02040503050406030204" pitchFamily="18" charset="0"/>
                          </a:rPr>
                        </m:ctrlPr>
                      </m:sSubPr>
                      <m:e>
                        <m:acc>
                          <m:accPr>
                            <m:chr m:val="̂"/>
                            <m:ctrlPr>
                              <a:rPr lang="en-US" altLang="zh-CN" sz="1800" b="0" i="1" dirty="0">
                                <a:latin typeface="Cambria Math" panose="02040503050406030204" pitchFamily="18" charset="0"/>
                              </a:rPr>
                            </m:ctrlPr>
                          </m:accPr>
                          <m:e>
                            <m:r>
                              <a:rPr lang="en-US" altLang="zh-CN" sz="1800" b="0" i="1" dirty="0">
                                <a:latin typeface="Cambria Math" panose="02040503050406030204" pitchFamily="18" charset="0"/>
                              </a:rPr>
                              <m:t>𝐼</m:t>
                            </m:r>
                          </m:e>
                        </m:acc>
                      </m:e>
                      <m:sub>
                        <m:r>
                          <a:rPr lang="en-US" altLang="zh-CN" sz="1800" b="0" i="1" dirty="0">
                            <a:latin typeface="Cambria Math" panose="02040503050406030204" pitchFamily="18" charset="0"/>
                          </a:rPr>
                          <m:t>𝑖</m:t>
                        </m:r>
                      </m:sub>
                    </m:sSub>
                  </m:oMath>
                </a14:m>
                <a:r>
                  <a:rPr lang="zh-CN" altLang="en-US" sz="1800" dirty="0">
                    <a:latin typeface="+mn-ea"/>
                  </a:rPr>
                  <a:t>，我们用到了多重重要性采样，向光源采样得到</a:t>
                </a:r>
                <a14:m>
                  <m:oMath xmlns:m="http://schemas.openxmlformats.org/officeDocument/2006/math">
                    <m:sSubSup>
                      <m:sSubSupPr>
                        <m:ctrlPr>
                          <a:rPr lang="en-US" altLang="zh-CN" sz="1800" b="0" i="1" dirty="0" smtClean="0">
                            <a:latin typeface="Cambria Math" panose="02040503050406030204" pitchFamily="18" charset="0"/>
                          </a:rPr>
                        </m:ctrlPr>
                      </m:sSubSup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up>
                        <m:r>
                          <a:rPr lang="en-US" altLang="zh-CN" sz="1800" b="0" i="1" dirty="0" smtClean="0">
                            <a:latin typeface="Cambria Math" panose="02040503050406030204" pitchFamily="18" charset="0"/>
                          </a:rPr>
                          <m:t>𝐿</m:t>
                        </m:r>
                      </m:sup>
                    </m:sSubSup>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𝐿</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oMath>
                </a14:m>
                <a:r>
                  <a:rPr lang="zh-CN" altLang="en-US" sz="1800" dirty="0">
                    <a:latin typeface="+mn-ea"/>
                  </a:rPr>
                  <a:t>，向</a:t>
                </a:r>
                <a:r>
                  <a:rPr lang="en-US" altLang="zh-CN" sz="1800" dirty="0">
                    <a:latin typeface="+mn-ea"/>
                  </a:rPr>
                  <a:t>BSDF</a:t>
                </a:r>
                <a:r>
                  <a:rPr lang="zh-CN" altLang="en-US" sz="1800" dirty="0">
                    <a:latin typeface="+mn-ea"/>
                  </a:rPr>
                  <a:t>采样得到</a:t>
                </a:r>
                <a14:m>
                  <m:oMath xmlns:m="http://schemas.openxmlformats.org/officeDocument/2006/math">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up>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solidFill>
                              <a:srgbClr val="FF0000"/>
                            </a:solidFill>
                            <a:latin typeface="Cambria Math" panose="02040503050406030204" pitchFamily="18" charset="0"/>
                          </a:rPr>
                          <m:t>𝐷</m:t>
                        </m:r>
                      </m:sup>
                    </m:sSubSup>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solidFill>
                              <a:srgbClr val="FF0000"/>
                            </a:solidFill>
                            <a:latin typeface="Cambria Math" panose="02040503050406030204" pitchFamily="18" charset="0"/>
                          </a:rPr>
                          <m:t>𝐷</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Sub>
                      </m:e>
                    </m:d>
                  </m:oMath>
                </a14:m>
                <a:r>
                  <a:rPr lang="zh-CN" altLang="en-US" sz="1800" dirty="0">
                    <a:latin typeface="+mn-ea"/>
                  </a:rPr>
                  <a:t>，最后计算：</a:t>
                </a:r>
                <a:endParaRPr lang="en-US" altLang="zh-CN" sz="1800"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sz="1800" i="1">
                              <a:latin typeface="Cambria Math" panose="02040503050406030204" pitchFamily="18" charset="0"/>
                              <a:ea typeface="Cambria Math" panose="02040503050406030204" pitchFamily="18" charset="0"/>
                            </a:rPr>
                          </m:ctrlPr>
                        </m:sSubPr>
                        <m:e>
                          <m:acc>
                            <m:accPr>
                              <m:chr m:val="̂"/>
                              <m:ctrlPr>
                                <a:rPr lang="en-US" altLang="zh-CN" sz="1800" i="1">
                                  <a:latin typeface="Cambria Math" panose="02040503050406030204" pitchFamily="18" charset="0"/>
                                  <a:ea typeface="Cambria Math" panose="02040503050406030204" pitchFamily="18" charset="0"/>
                                </a:rPr>
                              </m:ctrlPr>
                            </m:accPr>
                            <m:e>
                              <m:r>
                                <a:rPr lang="en-US" altLang="zh-CN" sz="1800" i="1">
                                  <a:latin typeface="Cambria Math" panose="02040503050406030204" pitchFamily="18" charset="0"/>
                                  <a:ea typeface="Cambria Math" panose="02040503050406030204" pitchFamily="18" charset="0"/>
                                </a:rPr>
                                <m:t>𝐼</m:t>
                              </m:r>
                            </m:e>
                          </m:acc>
                        </m:e>
                        <m:sub>
                          <m:r>
                            <a:rPr lang="en-US" altLang="zh-CN" sz="1800" i="1">
                              <a:latin typeface="Cambria Math" panose="02040503050406030204" pitchFamily="18" charset="0"/>
                              <a:ea typeface="Cambria Math" panose="02040503050406030204" pitchFamily="18" charset="0"/>
                            </a:rPr>
                            <m:t>𝑖</m:t>
                          </m:r>
                        </m:sub>
                      </m:sSub>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𝛽</m:t>
                          </m:r>
                        </m:e>
                        <m:sub>
                          <m:r>
                            <a:rPr lang="en-US" altLang="zh-CN" sz="1800" i="1">
                              <a:latin typeface="Cambria Math" panose="02040503050406030204" pitchFamily="18" charset="0"/>
                              <a:ea typeface="Cambria Math" panose="02040503050406030204" pitchFamily="18" charset="0"/>
                            </a:rPr>
                            <m:t>𝑖</m:t>
                          </m:r>
                          <m:r>
                            <a:rPr lang="en-US" altLang="zh-CN" sz="1800" i="1">
                              <a:latin typeface="Cambria Math" panose="02040503050406030204" pitchFamily="18" charset="0"/>
                              <a:ea typeface="Cambria Math" panose="02040503050406030204" pitchFamily="18" charset="0"/>
                            </a:rPr>
                            <m:t>−1</m:t>
                          </m:r>
                        </m:sub>
                      </m:sSub>
                      <m:r>
                        <a:rPr lang="en-US" altLang="zh-CN" sz="1800" i="1">
                          <a:latin typeface="Cambria Math" panose="02040503050406030204" pitchFamily="18" charset="0"/>
                          <a:ea typeface="Cambria Math" panose="02040503050406030204" pitchFamily="18" charset="0"/>
                        </a:rPr>
                        <m:t> </m:t>
                      </m:r>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e>
                      </m:d>
                    </m:oMath>
                  </m:oMathPara>
                </a14:m>
                <a:endParaRPr lang="en-US" altLang="zh-CN" sz="1800"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dirty="0">
                              <a:solidFill>
                                <a:srgbClr val="F76409"/>
                              </a:solidFill>
                              <a:latin typeface="Cambria Math" panose="02040503050406030204" pitchFamily="18" charset="0"/>
                              <a:ea typeface="Cambria Math" panose="02040503050406030204" pitchFamily="18" charset="0"/>
                            </a:rPr>
                            <m:t>𝐿</m:t>
                          </m:r>
                        </m:sub>
                      </m:sSub>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ea typeface="Cambria Math" panose="02040503050406030204" pitchFamily="18" charset="0"/>
                                </a:rPr>
                                <m:t>𝐿</m:t>
                              </m:r>
                            </m:sup>
                          </m:sSubSup>
                        </m:e>
                      </m:d>
                      <m:r>
                        <a:rPr lang="en-US" altLang="zh-CN" sz="1800" i="1" dirty="0">
                          <a:solidFill>
                            <a:srgbClr val="F76409"/>
                          </a:solidFill>
                          <a:latin typeface="Cambria Math" panose="02040503050406030204" pitchFamily="18" charset="0"/>
                          <a:ea typeface="Cambria Math" panose="02040503050406030204" pitchFamily="18" charset="0"/>
                        </a:rPr>
                        <m:t> </m:t>
                      </m:r>
                      <m:sSubSup>
                        <m:sSubSupPr>
                          <m:ctrlPr>
                            <a:rPr lang="en-US" altLang="zh-CN" sz="1800" i="1" dirty="0">
                              <a:solidFill>
                                <a:srgbClr val="F76409"/>
                              </a:solidFill>
                              <a:latin typeface="Cambria Math" panose="02040503050406030204" pitchFamily="18" charset="0"/>
                            </a:rPr>
                          </m:ctrlPr>
                        </m:sSubSupPr>
                        <m:e>
                          <m:acc>
                            <m:accPr>
                              <m:chr m:val="̂"/>
                              <m:ctrlPr>
                                <a:rPr lang="en-US" altLang="zh-CN" sz="1800" i="1" dirty="0">
                                  <a:solidFill>
                                    <a:srgbClr val="F76409"/>
                                  </a:solidFill>
                                  <a:latin typeface="Cambria Math" panose="02040503050406030204" pitchFamily="18" charset="0"/>
                                </a:rPr>
                              </m:ctrlPr>
                            </m:accPr>
                            <m:e>
                              <m:r>
                                <a:rPr lang="en-US" altLang="zh-CN" sz="1800" i="1" dirty="0">
                                  <a:solidFill>
                                    <a:srgbClr val="F76409"/>
                                  </a:solidFill>
                                  <a:latin typeface="Cambria Math" panose="02040503050406030204" pitchFamily="18" charset="0"/>
                                </a:rPr>
                                <m:t>𝐷</m:t>
                              </m:r>
                            </m:e>
                          </m:acc>
                        </m:e>
                        <m:sub>
                          <m:r>
                            <a:rPr lang="en-US" altLang="zh-CN" sz="1800" i="1" dirty="0">
                              <a:solidFill>
                                <a:srgbClr val="F76409"/>
                              </a:solidFill>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dirty="0">
                              <a:solidFill>
                                <a:schemeClr val="accent2">
                                  <a:lumMod val="75000"/>
                                </a:schemeClr>
                              </a:solidFill>
                              <a:latin typeface="Cambria Math" panose="02040503050406030204" pitchFamily="18" charset="0"/>
                            </a:rPr>
                            <m:t>𝐵</m:t>
                          </m:r>
                        </m:sub>
                      </m:sSub>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a:solidFill>
                                    <a:schemeClr val="accent2">
                                      <a:lumMod val="75000"/>
                                    </a:schemeClr>
                                  </a:solidFill>
                                  <a:latin typeface="Cambria Math" panose="02040503050406030204" pitchFamily="18" charset="0"/>
                                </a:rPr>
                                <m:t>𝐵</m:t>
                              </m:r>
                              <m:r>
                                <a:rPr lang="en-US" altLang="zh-CN" sz="1800" b="0" i="1" smtClean="0">
                                  <a:solidFill>
                                    <a:schemeClr val="tx1"/>
                                  </a:solidFill>
                                  <a:latin typeface="Cambria Math" panose="02040503050406030204" pitchFamily="18" charset="0"/>
                                </a:rPr>
                                <m:t>,</m:t>
                              </m:r>
                              <m:r>
                                <a:rPr lang="en-US" altLang="zh-CN" sz="1800" b="0" i="1" smtClean="0">
                                  <a:solidFill>
                                    <a:srgbClr val="FF0000"/>
                                  </a:solidFill>
                                  <a:latin typeface="Cambria Math" panose="02040503050406030204" pitchFamily="18" charset="0"/>
                                </a:rPr>
                                <m:t>𝐷</m:t>
                              </m:r>
                            </m:sup>
                          </m:sSubSup>
                        </m:e>
                      </m:d>
                      <m:r>
                        <a:rPr lang="en-US" altLang="zh-CN" sz="1800" i="1">
                          <a:solidFill>
                            <a:schemeClr val="accent2">
                              <a:lumMod val="75000"/>
                            </a:schemeClr>
                          </a:solidFill>
                          <a:latin typeface="Cambria Math" panose="02040503050406030204" pitchFamily="18" charset="0"/>
                        </a:rPr>
                        <m:t> </m:t>
                      </m:r>
                      <m:sSubSup>
                        <m:sSubSupPr>
                          <m:ctrlPr>
                            <a:rPr lang="en-US" altLang="zh-CN" sz="1800" i="1" dirty="0">
                              <a:solidFill>
                                <a:schemeClr val="accent2">
                                  <a:lumMod val="75000"/>
                                </a:schemeClr>
                              </a:solidFill>
                              <a:latin typeface="Cambria Math" panose="02040503050406030204" pitchFamily="18" charset="0"/>
                            </a:rPr>
                          </m:ctrlPr>
                        </m:sSubSupPr>
                        <m:e>
                          <m:acc>
                            <m:accPr>
                              <m:chr m:val="̂"/>
                              <m:ctrlPr>
                                <a:rPr lang="en-US" altLang="zh-CN" sz="1800" i="1" dirty="0">
                                  <a:solidFill>
                                    <a:schemeClr val="accent2">
                                      <a:lumMod val="75000"/>
                                    </a:schemeClr>
                                  </a:solidFill>
                                  <a:latin typeface="Cambria Math" panose="02040503050406030204" pitchFamily="18" charset="0"/>
                                </a:rPr>
                              </m:ctrlPr>
                            </m:accPr>
                            <m:e>
                              <m:r>
                                <a:rPr lang="en-US" altLang="zh-CN" sz="1800" i="1" dirty="0">
                                  <a:solidFill>
                                    <a:schemeClr val="accent2">
                                      <a:lumMod val="75000"/>
                                    </a:schemeClr>
                                  </a:solidFill>
                                  <a:latin typeface="Cambria Math" panose="02040503050406030204" pitchFamily="18" charset="0"/>
                                </a:rPr>
                                <m:t>𝐷</m:t>
                              </m:r>
                            </m:e>
                          </m:acc>
                        </m:e>
                        <m:sub>
                          <m:r>
                            <a:rPr lang="en-US" altLang="zh-CN" sz="1800" i="1" dirty="0">
                              <a:solidFill>
                                <a:schemeClr val="accent2">
                                  <a:lumMod val="75000"/>
                                </a:schemeClr>
                              </a:solidFill>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oMath>
                  </m:oMathPara>
                </a14:m>
                <a:endParaRPr lang="zh-CN" altLang="en-US" dirty="0"/>
              </a:p>
            </p:txBody>
          </p:sp>
        </mc:Choice>
        <mc:Fallback xmlns="">
          <p:sp>
            <p:nvSpPr>
              <p:cNvPr id="45" name="文本框 44">
                <a:extLst>
                  <a:ext uri="{FF2B5EF4-FFF2-40B4-BE49-F238E27FC236}">
                    <a16:creationId xmlns:a16="http://schemas.microsoft.com/office/drawing/2014/main" id="{C4F28D0C-F0C8-F7BB-F5FC-BEA32A403F44}"/>
                  </a:ext>
                </a:extLst>
              </p:cNvPr>
              <p:cNvSpPr txBox="1">
                <a:spLocks noRot="1" noChangeAspect="1" noMove="1" noResize="1" noEditPoints="1" noAdjustHandles="1" noChangeArrowheads="1" noChangeShapeType="1" noTextEdit="1"/>
              </p:cNvSpPr>
              <p:nvPr/>
            </p:nvSpPr>
            <p:spPr>
              <a:xfrm>
                <a:off x="186517" y="4232119"/>
                <a:ext cx="5858275" cy="1871538"/>
              </a:xfrm>
              <a:prstGeom prst="rect">
                <a:avLst/>
              </a:prstGeom>
              <a:blipFill>
                <a:blip r:embed="rId31"/>
                <a:stretch>
                  <a:fillRect l="-937" t="-1303" r="-624" b="-29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40EBB610-F3B3-9888-2196-3ED705F1D4D0}"/>
                  </a:ext>
                </a:extLst>
              </p:cNvPr>
              <p:cNvSpPr txBox="1"/>
              <p:nvPr/>
            </p:nvSpPr>
            <p:spPr>
              <a:xfrm>
                <a:off x="6394094" y="4228715"/>
                <a:ext cx="5778715" cy="1879554"/>
              </a:xfrm>
              <a:prstGeom prst="rect">
                <a:avLst/>
              </a:prstGeom>
              <a:noFill/>
            </p:spPr>
            <p:txBody>
              <a:bodyPr wrap="square">
                <a:spAutoFit/>
              </a:bodyPr>
              <a:lstStyle/>
              <a:p>
                <a:r>
                  <a:rPr lang="en-US" altLang="zh-CN" sz="1800" dirty="0">
                    <a:latin typeface="+mn-ea"/>
                  </a:rPr>
                  <a:t> </a:t>
                </a:r>
                <a:r>
                  <a:rPr lang="zh-CN" altLang="en-US" sz="1800" b="1" dirty="0">
                    <a:latin typeface="+mn-ea"/>
                  </a:rPr>
                  <a:t>问题二：路径下一步往哪走？</a:t>
                </a:r>
                <a:endParaRPr lang="en-US" altLang="zh-CN" sz="1800" b="1" dirty="0">
                  <a:latin typeface="+mn-ea"/>
                </a:endParaRPr>
              </a:p>
              <a:p>
                <a:r>
                  <a:rPr lang="zh-CN" altLang="en-US" dirty="0">
                    <a:latin typeface="+mn-ea"/>
                  </a:rPr>
                  <a:t>         光线下一步的方向由向</a:t>
                </a:r>
                <a:r>
                  <a:rPr lang="en-US" altLang="zh-CN" dirty="0">
                    <a:latin typeface="+mn-ea"/>
                  </a:rPr>
                  <a:t>BSDF</a:t>
                </a:r>
                <a:r>
                  <a:rPr lang="zh-CN" altLang="en-US" dirty="0">
                    <a:latin typeface="+mn-ea"/>
                  </a:rPr>
                  <a:t>采样得到得到</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i="1" dirty="0" smtClean="0">
                            <a:latin typeface="Cambria Math" panose="02040503050406030204" pitchFamily="18" charset="0"/>
                          </a:rPr>
                          <m:t>𝜔</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oMath>
                </a14:m>
                <a:r>
                  <a:rPr lang="zh-CN" altLang="en-US" dirty="0"/>
                  <a:t>，而后沿该方向找到下一个顶点</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a:latin typeface="Cambria Math" panose="02040503050406030204" pitchFamily="18" charset="0"/>
                          </a:rPr>
                          <m:t>𝒊</m:t>
                        </m:r>
                      </m:sub>
                    </m:sSub>
                  </m:oMath>
                </a14:m>
                <a:r>
                  <a:rPr lang="zh-CN" altLang="en-US" dirty="0"/>
                  <a:t>并更新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𝑖</m:t>
                        </m:r>
                      </m:sub>
                    </m:sSub>
                  </m:oMath>
                </a14:m>
                <a:r>
                  <a:rPr lang="zh-CN" altLang="en-US" dirty="0"/>
                  <a:t>：</a:t>
                </a:r>
                <a:endParaRPr lang="en-US" altLang="zh-CN" dirty="0"/>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f>
                        <m:fPr>
                          <m:ctrlPr>
                            <a:rPr lang="en-US" altLang="zh-CN" b="0" i="1" dirty="0" smtClean="0">
                              <a:latin typeface="Cambria Math" panose="02040503050406030204" pitchFamily="18" charset="0"/>
                            </a:rPr>
                          </m:ctrlPr>
                        </m:fPr>
                        <m:nu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𝑓</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func>
                            <m:funcPr>
                              <m:ctrlPr>
                                <a:rPr lang="en-US" altLang="zh-CN" b="0" i="0" dirty="0" smtClean="0">
                                  <a:latin typeface="Cambria Math" panose="02040503050406030204" pitchFamily="18" charset="0"/>
                                </a:rPr>
                              </m:ctrlPr>
                            </m:funcPr>
                            <m:fName>
                              <m:r>
                                <m:rPr>
                                  <m:sty m:val="p"/>
                                </m:rPr>
                                <a:rPr lang="en-US" altLang="zh-CN" b="0" i="0" dirty="0" smtClean="0">
                                  <a:latin typeface="Cambria Math" panose="02040503050406030204" pitchFamily="18" charset="0"/>
                                </a:rPr>
                                <m:t>cos</m:t>
                              </m:r>
                            </m:fNa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𝜃</m:t>
                                  </m:r>
                                </m:e>
                                <m:sub>
                                  <m:r>
                                    <a:rPr lang="en-US" altLang="zh-CN" b="0" i="1" dirty="0" smtClean="0">
                                      <a:latin typeface="Cambria Math" panose="02040503050406030204" pitchFamily="18" charset="0"/>
                                    </a:rPr>
                                    <m:t>𝑖</m:t>
                                  </m:r>
                                </m:sub>
                              </m:sSub>
                            </m:e>
                          </m:func>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smtClean="0">
                                      <a:solidFill>
                                        <a:srgbClr val="FF0000"/>
                                      </a:solidFill>
                                      <a:latin typeface="Cambria Math" panose="02040503050406030204" pitchFamily="18" charset="0"/>
                                    </a:rPr>
                                    <m:t>𝐶</m:t>
                                  </m:r>
                                </m:sup>
                              </m:sSubSup>
                            </m:e>
                          </m:d>
                        </m:den>
                      </m:f>
                    </m:oMath>
                  </m:oMathPara>
                </a14:m>
                <a:endParaRPr lang="zh-CN" altLang="en-US" dirty="0"/>
              </a:p>
            </p:txBody>
          </p:sp>
        </mc:Choice>
        <mc:Fallback xmlns="">
          <p:sp>
            <p:nvSpPr>
              <p:cNvPr id="48" name="文本框 47">
                <a:extLst>
                  <a:ext uri="{FF2B5EF4-FFF2-40B4-BE49-F238E27FC236}">
                    <a16:creationId xmlns:a16="http://schemas.microsoft.com/office/drawing/2014/main" id="{40EBB610-F3B3-9888-2196-3ED705F1D4D0}"/>
                  </a:ext>
                </a:extLst>
              </p:cNvPr>
              <p:cNvSpPr txBox="1">
                <a:spLocks noRot="1" noChangeAspect="1" noMove="1" noResize="1" noEditPoints="1" noAdjustHandles="1" noChangeArrowheads="1" noChangeShapeType="1" noTextEdit="1"/>
              </p:cNvSpPr>
              <p:nvPr/>
            </p:nvSpPr>
            <p:spPr>
              <a:xfrm>
                <a:off x="6394094" y="4228715"/>
                <a:ext cx="5778715" cy="1879554"/>
              </a:xfrm>
              <a:prstGeom prst="rect">
                <a:avLst/>
              </a:prstGeom>
              <a:blipFill>
                <a:blip r:embed="rId32"/>
                <a:stretch>
                  <a:fillRect l="-949" t="-19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5443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794BC-E8FD-F50C-BCA5-DC4E3982E48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D1F7F6A-1ACC-21C5-9C3F-62E4D5AC7FBC}"/>
              </a:ext>
            </a:extLst>
          </p:cNvPr>
          <p:cNvSpPr>
            <a:spLocks noGrp="1"/>
          </p:cNvSpPr>
          <p:nvPr>
            <p:ph type="title" idx="1"/>
          </p:nvPr>
        </p:nvSpPr>
        <p:spPr/>
        <p:txBody>
          <a:bodyPr/>
          <a:lstStyle/>
          <a:p>
            <a:r>
              <a:rPr lang="zh-CN" altLang="en-US" dirty="0"/>
              <a:t>路径追踪流程  </a:t>
            </a:r>
            <a:r>
              <a:rPr lang="en-US" altLang="zh-CN" dirty="0"/>
              <a:t>——  </a:t>
            </a:r>
            <a:r>
              <a:rPr lang="zh-CN" altLang="en-US" dirty="0"/>
              <a:t>区分两个</a:t>
            </a:r>
            <a:r>
              <a:rPr lang="en-US" altLang="zh-CN" dirty="0"/>
              <a:t>BSDF</a:t>
            </a:r>
            <a:r>
              <a:rPr lang="zh-CN" altLang="en-US" dirty="0"/>
              <a:t>样本</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87FFBE6-D574-E475-64FC-CAD5F5809E81}"/>
                  </a:ext>
                </a:extLst>
              </p:cNvPr>
              <p:cNvSpPr txBox="1"/>
              <p:nvPr/>
            </p:nvSpPr>
            <p:spPr>
              <a:xfrm>
                <a:off x="186518" y="1322306"/>
                <a:ext cx="6075633" cy="5089855"/>
              </a:xfrm>
              <a:prstGeom prst="rect">
                <a:avLst/>
              </a:prstGeom>
              <a:noFill/>
            </p:spPr>
            <p:txBody>
              <a:bodyPr wrap="square">
                <a:spAutoFit/>
              </a:bodyPr>
              <a:lstStyle/>
              <a:p>
                <a:r>
                  <a:rPr lang="zh-CN" altLang="en-US" dirty="0">
                    <a:latin typeface="+mn-ea"/>
                  </a:rPr>
                  <a:t>         虽然在代码实现中，我们复用了</a:t>
                </a:r>
                <a:r>
                  <a:rPr lang="en-US" altLang="zh-CN" dirty="0">
                    <a:latin typeface="+mn-ea"/>
                  </a:rPr>
                  <a:t>BSDF</a:t>
                </a:r>
                <a:r>
                  <a:rPr lang="zh-CN" altLang="en-US" dirty="0">
                    <a:latin typeface="+mn-ea"/>
                  </a:rPr>
                  <a:t>样本，但是还是有必要明确区分这两个样本的。</a:t>
                </a:r>
                <a:endParaRPr lang="en-US" altLang="zh-CN" dirty="0">
                  <a:latin typeface="+mn-ea"/>
                </a:endParaRPr>
              </a:p>
              <a:p>
                <a:endParaRPr lang="en-US" altLang="zh-CN" dirty="0">
                  <a:latin typeface="+mn-ea"/>
                </a:endParaRPr>
              </a:p>
              <a:p>
                <a:r>
                  <a:rPr lang="zh-CN" altLang="en-US" dirty="0">
                    <a:latin typeface="+mn-ea"/>
                  </a:rPr>
                  <a:t>         直接光</a:t>
                </a:r>
                <a:r>
                  <a:rPr lang="en-US" altLang="zh-CN" dirty="0">
                    <a:latin typeface="+mn-ea"/>
                  </a:rPr>
                  <a:t>BSDF</a:t>
                </a:r>
                <a:r>
                  <a:rPr lang="zh-CN" altLang="en-US" dirty="0">
                    <a:latin typeface="+mn-ea"/>
                  </a:rPr>
                  <a:t>样本</a:t>
                </a:r>
                <a14:m>
                  <m:oMath xmlns:m="http://schemas.openxmlformats.org/officeDocument/2006/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𝐷</m:t>
                        </m:r>
                      </m:sup>
                    </m:sSubSup>
                  </m:oMath>
                </a14:m>
                <a:r>
                  <a:rPr lang="zh-CN" altLang="en-US" dirty="0">
                    <a:latin typeface="+mn-ea"/>
                  </a:rPr>
                  <a:t>用来估计：</a:t>
                </a:r>
                <a:endParaRPr lang="en-US" altLang="zh-CN"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𝐷</m:t>
                          </m:r>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e>
                      </m:d>
                      <m:r>
                        <a:rPr lang="en-US" altLang="zh-CN" i="1" dirty="0">
                          <a:latin typeface="Cambria Math" panose="02040503050406030204" pitchFamily="18" charset="0"/>
                        </a:rPr>
                        <m:t>=</m:t>
                      </m:r>
                      <m:nary>
                        <m:naryPr>
                          <m:supHide m:val="on"/>
                          <m:ctrlPr>
                            <a:rPr lang="en-US" altLang="zh-CN" i="1" dirty="0">
                              <a:latin typeface="Cambria Math" panose="02040503050406030204" pitchFamily="18" charset="0"/>
                            </a:rPr>
                          </m:ctrlPr>
                        </m:naryPr>
                        <m:sub>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Ω</m:t>
                              </m:r>
                            </m:e>
                            <m:sub>
                              <m:r>
                                <a:rPr lang="en-US" altLang="zh-CN" i="1" dirty="0">
                                  <a:latin typeface="Cambria Math" panose="02040503050406030204" pitchFamily="18" charset="0"/>
                                </a:rPr>
                                <m:t>𝐸</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nary>
                    </m:oMath>
                  </m:oMathPara>
                </a14:m>
                <a:endParaRPr lang="en-US" altLang="zh-CN" dirty="0">
                  <a:latin typeface="+mn-ea"/>
                </a:endParaRPr>
              </a:p>
              <a:p>
                <a:r>
                  <a:rPr lang="zh-CN" altLang="en-US" dirty="0">
                    <a:latin typeface="+mn-ea"/>
                  </a:rPr>
                  <a:t>         由于使用了多重重要性采样，所以只需要联合支持域覆盖被积函数，即：</a:t>
                </a:r>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b="0" i="1" dirty="0" smtClean="0">
                          <a:latin typeface="Cambria Math" panose="02040503050406030204" pitchFamily="18" charset="0"/>
                        </a:rPr>
                        <m:t>≠0  ⇒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𝐷</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dirty="0">
                  <a:latin typeface="+mn-ea"/>
                </a:endParaRPr>
              </a:p>
              <a:p>
                <a:endParaRPr lang="en-US" altLang="zh-CN" dirty="0">
                  <a:latin typeface="+mn-ea"/>
                </a:endParaRPr>
              </a:p>
              <a:p>
                <a:pPr>
                  <a:spcBef>
                    <a:spcPts val="800"/>
                  </a:spcBef>
                  <a:spcAft>
                    <a:spcPts val="400"/>
                  </a:spcAft>
                </a:pPr>
                <a:r>
                  <a:rPr lang="en-US" altLang="zh-CN" dirty="0">
                    <a:latin typeface="+mn-ea"/>
                  </a:rPr>
                  <a:t>         </a:t>
                </a:r>
                <a:r>
                  <a:rPr lang="zh-CN" altLang="en-US" dirty="0">
                    <a:latin typeface="+mn-ea"/>
                  </a:rPr>
                  <a:t>路径</a:t>
                </a:r>
                <a:r>
                  <a:rPr lang="en-US" altLang="zh-CN" dirty="0">
                    <a:latin typeface="+mn-ea"/>
                  </a:rPr>
                  <a:t>BSDF</a:t>
                </a:r>
                <a:r>
                  <a:rPr lang="zh-CN" altLang="en-US" dirty="0">
                    <a:latin typeface="+mn-ea"/>
                  </a:rPr>
                  <a:t>样本是用来构造更长的路径的，因此需要：</a:t>
                </a:r>
                <a:endParaRPr lang="en-US" altLang="zh-CN" dirty="0">
                  <a:latin typeface="+mn-ea"/>
                </a:endParaRPr>
              </a:p>
              <a:p>
                <a:pPr/>
                <a14:m>
                  <m:oMathPara xmlns:m="http://schemas.openxmlformats.org/officeDocument/2006/math">
                    <m:oMath>
                      <m:r>
                        <a:rPr lang="zh-CN" altLang="en-US" i="1" dirty="0">
                          <a:latin typeface="Cambria Math" panose="02040503050406030204" pitchFamily="18" charset="0"/>
                        </a:rPr>
                        <m:t>若未来</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r>
                        <a:rPr lang="zh-CN" altLang="en-US" i="1" dirty="0">
                          <a:latin typeface="Cambria Math" panose="02040503050406030204" pitchFamily="18" charset="0"/>
                        </a:rPr>
                        <m:t>方向</m:t>
                      </m:r>
                      <m:r>
                        <a:rPr lang="zh-CN" altLang="en-US" i="1" dirty="0" smtClean="0">
                          <a:latin typeface="Cambria Math" panose="02040503050406030204" pitchFamily="18" charset="0"/>
                        </a:rPr>
                        <m:t>可能</m:t>
                      </m:r>
                      <m:r>
                        <a:rPr lang="zh-CN" altLang="en-US" i="1" dirty="0">
                          <a:latin typeface="Cambria Math" panose="02040503050406030204" pitchFamily="18" charset="0"/>
                        </a:rPr>
                        <m:t>有</m:t>
                      </m:r>
                      <m:r>
                        <a:rPr lang="zh-CN" altLang="en-US" i="1" dirty="0" smtClean="0">
                          <a:latin typeface="Cambria Math" panose="02040503050406030204" pitchFamily="18" charset="0"/>
                        </a:rPr>
                        <m:t>非</m:t>
                      </m:r>
                      <m:r>
                        <a:rPr lang="en-US" altLang="zh-CN" b="0" i="1" dirty="0" smtClean="0">
                          <a:latin typeface="Cambria Math" panose="02040503050406030204" pitchFamily="18" charset="0"/>
                        </a:rPr>
                        <m:t>0</m:t>
                      </m:r>
                      <m:r>
                        <a:rPr lang="zh-CN" altLang="en-US" i="1" dirty="0">
                          <a:latin typeface="Cambria Math" panose="02040503050406030204" pitchFamily="18" charset="0"/>
                        </a:rPr>
                        <m:t>贡献</m:t>
                      </m:r>
                      <m:r>
                        <a:rPr lang="en-US" altLang="zh-CN" b="0" i="1" dirty="0" smtClean="0">
                          <a:latin typeface="Cambria Math" panose="02040503050406030204" pitchFamily="18" charset="0"/>
                        </a:rPr>
                        <m:t>  </m:t>
                      </m:r>
                      <m:r>
                        <a:rPr lang="en-US" altLang="zh-CN" i="1" dirty="0">
                          <a:latin typeface="Cambria Math" panose="02040503050406030204" pitchFamily="18" charset="0"/>
                        </a:rPr>
                        <m:t>⇒</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dirty="0">
                  <a:latin typeface="+mn-ea"/>
                </a:endParaRPr>
              </a:p>
              <a:p>
                <a:endParaRPr lang="en-US" altLang="zh-CN" dirty="0">
                  <a:latin typeface="+mn-ea"/>
                </a:endParaRPr>
              </a:p>
              <a:p>
                <a:r>
                  <a:rPr lang="zh-CN" altLang="en-US" dirty="0">
                    <a:latin typeface="+mn-ea"/>
                  </a:rPr>
                  <a:t>         可以看到</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𝐷</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oMath>
                </a14:m>
                <a:r>
                  <a:rPr lang="zh-CN" altLang="en-US" dirty="0">
                    <a:latin typeface="+mn-ea"/>
                  </a:rPr>
                  <a:t>的支持域可能会比</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oMath>
                </a14:m>
                <a:r>
                  <a:rPr lang="zh-CN" altLang="en-US" dirty="0">
                    <a:latin typeface="+mn-ea"/>
                  </a:rPr>
                  <a:t>的支持域小，因为前者的支持域可以由向光源采样补充。如果代码实现中要复用</a:t>
                </a:r>
                <a:r>
                  <a:rPr lang="en-US" altLang="zh-CN" dirty="0">
                    <a:latin typeface="+mn-ea"/>
                  </a:rPr>
                  <a:t>BSDF</a:t>
                </a:r>
                <a:r>
                  <a:rPr lang="zh-CN" altLang="en-US" dirty="0">
                    <a:latin typeface="+mn-ea"/>
                  </a:rPr>
                  <a:t>样本，那么公用的概率密度就必须满足更强的支持域需求。</a:t>
                </a:r>
                <a:endParaRPr lang="en-US" altLang="zh-CN" dirty="0">
                  <a:latin typeface="+mn-ea"/>
                </a:endParaRPr>
              </a:p>
            </p:txBody>
          </p:sp>
        </mc:Choice>
        <mc:Fallback xmlns="">
          <p:sp>
            <p:nvSpPr>
              <p:cNvPr id="3" name="文本框 2">
                <a:extLst>
                  <a:ext uri="{FF2B5EF4-FFF2-40B4-BE49-F238E27FC236}">
                    <a16:creationId xmlns:a16="http://schemas.microsoft.com/office/drawing/2014/main" id="{687FFBE6-D574-E475-64FC-CAD5F5809E81}"/>
                  </a:ext>
                </a:extLst>
              </p:cNvPr>
              <p:cNvSpPr txBox="1">
                <a:spLocks noRot="1" noChangeAspect="1" noMove="1" noResize="1" noEditPoints="1" noAdjustHandles="1" noChangeArrowheads="1" noChangeShapeType="1" noTextEdit="1"/>
              </p:cNvSpPr>
              <p:nvPr/>
            </p:nvSpPr>
            <p:spPr>
              <a:xfrm>
                <a:off x="186518" y="1322306"/>
                <a:ext cx="6075633" cy="5089855"/>
              </a:xfrm>
              <a:prstGeom prst="rect">
                <a:avLst/>
              </a:prstGeom>
              <a:blipFill>
                <a:blip r:embed="rId2"/>
                <a:stretch>
                  <a:fillRect l="-904" t="-719" r="-904" b="-9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D095E0B3-2798-6D62-26EF-5DAE3F3B2604}"/>
                  </a:ext>
                </a:extLst>
              </p:cNvPr>
              <p:cNvSpPr txBox="1"/>
              <p:nvPr/>
            </p:nvSpPr>
            <p:spPr>
              <a:xfrm>
                <a:off x="6262151" y="1995696"/>
                <a:ext cx="5858275" cy="1871538"/>
              </a:xfrm>
              <a:prstGeom prst="rect">
                <a:avLst/>
              </a:prstGeom>
              <a:noFill/>
            </p:spPr>
            <p:txBody>
              <a:bodyPr wrap="square">
                <a:spAutoFit/>
              </a:bodyPr>
              <a:lstStyle/>
              <a:p>
                <a:pPr>
                  <a:spcBef>
                    <a:spcPts val="800"/>
                  </a:spcBef>
                </a:pPr>
                <a:r>
                  <a:rPr lang="en-US" altLang="zh-CN" dirty="0">
                    <a:latin typeface="+mn-ea"/>
                  </a:rPr>
                  <a:t>         </a:t>
                </a:r>
                <a:r>
                  <a:rPr lang="zh-CN" altLang="en-US" sz="1800" b="1" dirty="0">
                    <a:latin typeface="+mn-ea"/>
                  </a:rPr>
                  <a:t>问题一：如何计算</a:t>
                </a:r>
                <a14:m>
                  <m:oMath xmlns:m="http://schemas.openxmlformats.org/officeDocument/2006/math">
                    <m:sSub>
                      <m:sSubPr>
                        <m:ctrlPr>
                          <a:rPr lang="en-US" altLang="zh-CN" sz="1800" b="1" i="1" dirty="0">
                            <a:latin typeface="Cambria Math" panose="02040503050406030204" pitchFamily="18" charset="0"/>
                          </a:rPr>
                        </m:ctrlPr>
                      </m:sSubPr>
                      <m:e>
                        <m:acc>
                          <m:accPr>
                            <m:chr m:val="̂"/>
                            <m:ctrlPr>
                              <a:rPr lang="en-US" altLang="zh-CN" sz="1800" b="1" i="1" dirty="0">
                                <a:latin typeface="Cambria Math" panose="02040503050406030204" pitchFamily="18" charset="0"/>
                              </a:rPr>
                            </m:ctrlPr>
                          </m:accPr>
                          <m:e>
                            <m:r>
                              <a:rPr lang="en-US" altLang="zh-CN" sz="1800" b="1" i="1" dirty="0">
                                <a:latin typeface="Cambria Math" panose="02040503050406030204" pitchFamily="18" charset="0"/>
                              </a:rPr>
                              <m:t>𝑰</m:t>
                            </m:r>
                          </m:e>
                        </m:acc>
                      </m:e>
                      <m:sub>
                        <m:r>
                          <a:rPr lang="en-US" altLang="zh-CN" sz="1800" b="1" i="1" dirty="0">
                            <a:latin typeface="Cambria Math" panose="02040503050406030204" pitchFamily="18" charset="0"/>
                          </a:rPr>
                          <m:t>𝒊</m:t>
                        </m:r>
                      </m:sub>
                    </m:sSub>
                  </m:oMath>
                </a14:m>
                <a:r>
                  <a:rPr lang="zh-CN" altLang="en-US" sz="1800" b="1" dirty="0">
                    <a:latin typeface="+mn-ea"/>
                  </a:rPr>
                  <a:t>？</a:t>
                </a:r>
                <a:endParaRPr lang="en-US" altLang="zh-CN" sz="1800" b="1" dirty="0">
                  <a:latin typeface="+mn-ea"/>
                </a:endParaRPr>
              </a:p>
              <a:p>
                <a:r>
                  <a:rPr lang="en-US" altLang="zh-CN" sz="1800" b="1" dirty="0">
                    <a:latin typeface="+mn-ea"/>
                  </a:rPr>
                  <a:t>         </a:t>
                </a:r>
                <a:r>
                  <a:rPr lang="zh-CN" altLang="en-US" sz="1800" dirty="0">
                    <a:latin typeface="+mn-ea"/>
                  </a:rPr>
                  <a:t>为了计算</a:t>
                </a:r>
                <a14:m>
                  <m:oMath xmlns:m="http://schemas.openxmlformats.org/officeDocument/2006/math">
                    <m:sSub>
                      <m:sSubPr>
                        <m:ctrlPr>
                          <a:rPr lang="en-US" altLang="zh-CN" sz="1800" b="0" i="1" dirty="0">
                            <a:latin typeface="Cambria Math" panose="02040503050406030204" pitchFamily="18" charset="0"/>
                          </a:rPr>
                        </m:ctrlPr>
                      </m:sSubPr>
                      <m:e>
                        <m:acc>
                          <m:accPr>
                            <m:chr m:val="̂"/>
                            <m:ctrlPr>
                              <a:rPr lang="en-US" altLang="zh-CN" sz="1800" b="0" i="1" dirty="0">
                                <a:latin typeface="Cambria Math" panose="02040503050406030204" pitchFamily="18" charset="0"/>
                              </a:rPr>
                            </m:ctrlPr>
                          </m:accPr>
                          <m:e>
                            <m:r>
                              <a:rPr lang="en-US" altLang="zh-CN" sz="1800" b="0" i="1" dirty="0">
                                <a:latin typeface="Cambria Math" panose="02040503050406030204" pitchFamily="18" charset="0"/>
                              </a:rPr>
                              <m:t>𝐼</m:t>
                            </m:r>
                          </m:e>
                        </m:acc>
                      </m:e>
                      <m:sub>
                        <m:r>
                          <a:rPr lang="en-US" altLang="zh-CN" sz="1800" b="0" i="1" dirty="0">
                            <a:latin typeface="Cambria Math" panose="02040503050406030204" pitchFamily="18" charset="0"/>
                          </a:rPr>
                          <m:t>𝑖</m:t>
                        </m:r>
                      </m:sub>
                    </m:sSub>
                  </m:oMath>
                </a14:m>
                <a:r>
                  <a:rPr lang="zh-CN" altLang="en-US" sz="1800" dirty="0">
                    <a:latin typeface="+mn-ea"/>
                  </a:rPr>
                  <a:t>，我们用到了多重重要性采样，向光源采样得到</a:t>
                </a:r>
                <a14:m>
                  <m:oMath xmlns:m="http://schemas.openxmlformats.org/officeDocument/2006/math">
                    <m:sSubSup>
                      <m:sSubSupPr>
                        <m:ctrlPr>
                          <a:rPr lang="en-US" altLang="zh-CN" sz="1800" b="0" i="1" dirty="0" smtClean="0">
                            <a:latin typeface="Cambria Math" panose="02040503050406030204" pitchFamily="18" charset="0"/>
                          </a:rPr>
                        </m:ctrlPr>
                      </m:sSubSup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up>
                        <m:r>
                          <a:rPr lang="en-US" altLang="zh-CN" sz="1800" b="0" i="1" dirty="0" smtClean="0">
                            <a:latin typeface="Cambria Math" panose="02040503050406030204" pitchFamily="18" charset="0"/>
                          </a:rPr>
                          <m:t>𝐿</m:t>
                        </m:r>
                      </m:sup>
                    </m:sSubSup>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𝑝</m:t>
                        </m:r>
                      </m:e>
                      <m:sub>
                        <m:r>
                          <a:rPr lang="en-US" altLang="zh-CN" sz="1800" b="0" i="1" dirty="0" smtClean="0">
                            <a:latin typeface="Cambria Math" panose="02040503050406030204" pitchFamily="18" charset="0"/>
                          </a:rPr>
                          <m:t>𝐿</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𝜔</m:t>
                        </m:r>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oMath>
                </a14:m>
                <a:r>
                  <a:rPr lang="zh-CN" altLang="en-US" sz="1800" dirty="0">
                    <a:latin typeface="+mn-ea"/>
                  </a:rPr>
                  <a:t>，向</a:t>
                </a:r>
                <a:r>
                  <a:rPr lang="en-US" altLang="zh-CN" sz="1800" dirty="0">
                    <a:latin typeface="+mn-ea"/>
                  </a:rPr>
                  <a:t>BSDF</a:t>
                </a:r>
                <a:r>
                  <a:rPr lang="zh-CN" altLang="en-US" sz="1800" dirty="0">
                    <a:latin typeface="+mn-ea"/>
                  </a:rPr>
                  <a:t>采样得到</a:t>
                </a:r>
                <a14:m>
                  <m:oMath xmlns:m="http://schemas.openxmlformats.org/officeDocument/2006/math">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up>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solidFill>
                              <a:srgbClr val="FF0000"/>
                            </a:solidFill>
                            <a:latin typeface="Cambria Math" panose="02040503050406030204" pitchFamily="18" charset="0"/>
                          </a:rPr>
                          <m:t>𝐷</m:t>
                        </m:r>
                      </m:sup>
                    </m:sSubSup>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solidFill>
                              <a:srgbClr val="FF0000"/>
                            </a:solidFill>
                            <a:latin typeface="Cambria Math" panose="02040503050406030204" pitchFamily="18" charset="0"/>
                          </a:rPr>
                          <m:t>𝐷</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Sub>
                      </m:e>
                    </m:d>
                  </m:oMath>
                </a14:m>
                <a:r>
                  <a:rPr lang="zh-CN" altLang="en-US" sz="1800" dirty="0">
                    <a:latin typeface="+mn-ea"/>
                  </a:rPr>
                  <a:t>，最后计算：</a:t>
                </a:r>
                <a:endParaRPr lang="en-US" altLang="zh-CN" sz="1800"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sz="1800" i="1">
                              <a:latin typeface="Cambria Math" panose="02040503050406030204" pitchFamily="18" charset="0"/>
                              <a:ea typeface="Cambria Math" panose="02040503050406030204" pitchFamily="18" charset="0"/>
                            </a:rPr>
                          </m:ctrlPr>
                        </m:sSubPr>
                        <m:e>
                          <m:acc>
                            <m:accPr>
                              <m:chr m:val="̂"/>
                              <m:ctrlPr>
                                <a:rPr lang="en-US" altLang="zh-CN" sz="1800" i="1">
                                  <a:latin typeface="Cambria Math" panose="02040503050406030204" pitchFamily="18" charset="0"/>
                                  <a:ea typeface="Cambria Math" panose="02040503050406030204" pitchFamily="18" charset="0"/>
                                </a:rPr>
                              </m:ctrlPr>
                            </m:accPr>
                            <m:e>
                              <m:r>
                                <a:rPr lang="en-US" altLang="zh-CN" sz="1800" i="1">
                                  <a:latin typeface="Cambria Math" panose="02040503050406030204" pitchFamily="18" charset="0"/>
                                  <a:ea typeface="Cambria Math" panose="02040503050406030204" pitchFamily="18" charset="0"/>
                                </a:rPr>
                                <m:t>𝐼</m:t>
                              </m:r>
                            </m:e>
                          </m:acc>
                        </m:e>
                        <m:sub>
                          <m:r>
                            <a:rPr lang="en-US" altLang="zh-CN" sz="1800" i="1">
                              <a:latin typeface="Cambria Math" panose="02040503050406030204" pitchFamily="18" charset="0"/>
                              <a:ea typeface="Cambria Math" panose="02040503050406030204" pitchFamily="18" charset="0"/>
                            </a:rPr>
                            <m:t>𝑖</m:t>
                          </m:r>
                        </m:sub>
                      </m:sSub>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ea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𝛽</m:t>
                          </m:r>
                        </m:e>
                        <m:sub>
                          <m:r>
                            <a:rPr lang="en-US" altLang="zh-CN" sz="1800" i="1">
                              <a:latin typeface="Cambria Math" panose="02040503050406030204" pitchFamily="18" charset="0"/>
                              <a:ea typeface="Cambria Math" panose="02040503050406030204" pitchFamily="18" charset="0"/>
                            </a:rPr>
                            <m:t>𝑖</m:t>
                          </m:r>
                          <m:r>
                            <a:rPr lang="en-US" altLang="zh-CN" sz="1800" i="1">
                              <a:latin typeface="Cambria Math" panose="02040503050406030204" pitchFamily="18" charset="0"/>
                              <a:ea typeface="Cambria Math" panose="02040503050406030204" pitchFamily="18" charset="0"/>
                            </a:rPr>
                            <m:t>−1</m:t>
                          </m:r>
                        </m:sub>
                      </m:sSub>
                      <m:r>
                        <a:rPr lang="en-US" altLang="zh-CN" sz="1800" i="1">
                          <a:latin typeface="Cambria Math" panose="02040503050406030204" pitchFamily="18" charset="0"/>
                          <a:ea typeface="Cambria Math" panose="02040503050406030204" pitchFamily="18" charset="0"/>
                        </a:rPr>
                        <m:t> </m:t>
                      </m:r>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e>
                      </m:d>
                    </m:oMath>
                  </m:oMathPara>
                </a14:m>
                <a:endParaRPr lang="en-US" altLang="zh-CN" sz="1800" i="1" dirty="0">
                  <a:solidFill>
                    <a:schemeClr val="accent6">
                      <a:lumMod val="50000"/>
                    </a:schemeClr>
                  </a:solidFill>
                  <a:latin typeface="Cambria Math" panose="02040503050406030204" pitchFamily="18" charset="0"/>
                </a:endParaRPr>
              </a:p>
              <a:p>
                <a:pPr/>
                <a14:m>
                  <m:oMathPara xmlns:m="http://schemas.openxmlformats.org/officeDocument/2006/math">
                    <m:oMath>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dirty="0">
                              <a:solidFill>
                                <a:srgbClr val="F76409"/>
                              </a:solidFill>
                              <a:latin typeface="Cambria Math" panose="02040503050406030204" pitchFamily="18" charset="0"/>
                              <a:ea typeface="Cambria Math" panose="02040503050406030204" pitchFamily="18" charset="0"/>
                            </a:rPr>
                            <m:t>𝐿</m:t>
                          </m:r>
                        </m:sub>
                      </m:sSub>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ea typeface="Cambria Math" panose="02040503050406030204" pitchFamily="18" charset="0"/>
                                </a:rPr>
                                <m:t>𝐿</m:t>
                              </m:r>
                            </m:sup>
                          </m:sSubSup>
                        </m:e>
                      </m:d>
                      <m:r>
                        <a:rPr lang="en-US" altLang="zh-CN" sz="1800" i="1" dirty="0">
                          <a:solidFill>
                            <a:srgbClr val="F76409"/>
                          </a:solidFill>
                          <a:latin typeface="Cambria Math" panose="02040503050406030204" pitchFamily="18" charset="0"/>
                          <a:ea typeface="Cambria Math" panose="02040503050406030204" pitchFamily="18" charset="0"/>
                        </a:rPr>
                        <m:t> </m:t>
                      </m:r>
                      <m:sSubSup>
                        <m:sSubSupPr>
                          <m:ctrlPr>
                            <a:rPr lang="en-US" altLang="zh-CN" sz="1800" i="1" dirty="0">
                              <a:solidFill>
                                <a:srgbClr val="F76409"/>
                              </a:solidFill>
                              <a:latin typeface="Cambria Math" panose="02040503050406030204" pitchFamily="18" charset="0"/>
                            </a:rPr>
                          </m:ctrlPr>
                        </m:sSubSupPr>
                        <m:e>
                          <m:acc>
                            <m:accPr>
                              <m:chr m:val="̂"/>
                              <m:ctrlPr>
                                <a:rPr lang="en-US" altLang="zh-CN" sz="1800" i="1" dirty="0">
                                  <a:solidFill>
                                    <a:srgbClr val="F76409"/>
                                  </a:solidFill>
                                  <a:latin typeface="Cambria Math" panose="02040503050406030204" pitchFamily="18" charset="0"/>
                                </a:rPr>
                              </m:ctrlPr>
                            </m:accPr>
                            <m:e>
                              <m:r>
                                <a:rPr lang="en-US" altLang="zh-CN" sz="1800" i="1" dirty="0">
                                  <a:solidFill>
                                    <a:srgbClr val="F76409"/>
                                  </a:solidFill>
                                  <a:latin typeface="Cambria Math" panose="02040503050406030204" pitchFamily="18" charset="0"/>
                                </a:rPr>
                                <m:t>𝐷</m:t>
                              </m:r>
                            </m:e>
                          </m:acc>
                        </m:e>
                        <m:sub>
                          <m:r>
                            <a:rPr lang="en-US" altLang="zh-CN" sz="1800" i="1" dirty="0">
                              <a:solidFill>
                                <a:srgbClr val="F76409"/>
                              </a:solidFill>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𝑤</m:t>
                          </m:r>
                        </m:e>
                        <m:sub>
                          <m:r>
                            <a:rPr lang="en-US" altLang="zh-CN" sz="1800" i="1" dirty="0">
                              <a:solidFill>
                                <a:schemeClr val="accent2">
                                  <a:lumMod val="75000"/>
                                </a:schemeClr>
                              </a:solidFill>
                              <a:latin typeface="Cambria Math" panose="02040503050406030204" pitchFamily="18" charset="0"/>
                            </a:rPr>
                            <m:t>𝐵</m:t>
                          </m:r>
                        </m:sub>
                      </m:sSub>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a:solidFill>
                                    <a:schemeClr val="accent2">
                                      <a:lumMod val="75000"/>
                                    </a:schemeClr>
                                  </a:solidFill>
                                  <a:latin typeface="Cambria Math" panose="02040503050406030204" pitchFamily="18" charset="0"/>
                                </a:rPr>
                                <m:t>𝐵</m:t>
                              </m:r>
                              <m:r>
                                <a:rPr lang="en-US" altLang="zh-CN" sz="1800" b="0" i="1" smtClean="0">
                                  <a:solidFill>
                                    <a:schemeClr val="tx1"/>
                                  </a:solidFill>
                                  <a:latin typeface="Cambria Math" panose="02040503050406030204" pitchFamily="18" charset="0"/>
                                </a:rPr>
                                <m:t>,</m:t>
                              </m:r>
                              <m:r>
                                <a:rPr lang="en-US" altLang="zh-CN" sz="1800" b="0" i="1" smtClean="0">
                                  <a:solidFill>
                                    <a:srgbClr val="FF0000"/>
                                  </a:solidFill>
                                  <a:latin typeface="Cambria Math" panose="02040503050406030204" pitchFamily="18" charset="0"/>
                                </a:rPr>
                                <m:t>𝐷</m:t>
                              </m:r>
                            </m:sup>
                          </m:sSubSup>
                        </m:e>
                      </m:d>
                      <m:r>
                        <a:rPr lang="en-US" altLang="zh-CN" sz="1800" i="1">
                          <a:solidFill>
                            <a:schemeClr val="accent2">
                              <a:lumMod val="75000"/>
                            </a:schemeClr>
                          </a:solidFill>
                          <a:latin typeface="Cambria Math" panose="02040503050406030204" pitchFamily="18" charset="0"/>
                        </a:rPr>
                        <m:t> </m:t>
                      </m:r>
                      <m:sSubSup>
                        <m:sSubSupPr>
                          <m:ctrlPr>
                            <a:rPr lang="en-US" altLang="zh-CN" sz="1800" i="1" dirty="0">
                              <a:solidFill>
                                <a:schemeClr val="accent2">
                                  <a:lumMod val="75000"/>
                                </a:schemeClr>
                              </a:solidFill>
                              <a:latin typeface="Cambria Math" panose="02040503050406030204" pitchFamily="18" charset="0"/>
                            </a:rPr>
                          </m:ctrlPr>
                        </m:sSubSupPr>
                        <m:e>
                          <m:acc>
                            <m:accPr>
                              <m:chr m:val="̂"/>
                              <m:ctrlPr>
                                <a:rPr lang="en-US" altLang="zh-CN" sz="1800" i="1" dirty="0">
                                  <a:solidFill>
                                    <a:schemeClr val="accent2">
                                      <a:lumMod val="75000"/>
                                    </a:schemeClr>
                                  </a:solidFill>
                                  <a:latin typeface="Cambria Math" panose="02040503050406030204" pitchFamily="18" charset="0"/>
                                </a:rPr>
                              </m:ctrlPr>
                            </m:accPr>
                            <m:e>
                              <m:r>
                                <a:rPr lang="en-US" altLang="zh-CN" sz="1800" i="1" dirty="0">
                                  <a:solidFill>
                                    <a:schemeClr val="accent2">
                                      <a:lumMod val="75000"/>
                                    </a:schemeClr>
                                  </a:solidFill>
                                  <a:latin typeface="Cambria Math" panose="02040503050406030204" pitchFamily="18" charset="0"/>
                                </a:rPr>
                                <m:t>𝐷</m:t>
                              </m:r>
                            </m:e>
                          </m:acc>
                        </m:e>
                        <m:sub>
                          <m:r>
                            <a:rPr lang="en-US" altLang="zh-CN" sz="1800" i="1" dirty="0">
                              <a:solidFill>
                                <a:schemeClr val="accent2">
                                  <a:lumMod val="75000"/>
                                </a:schemeClr>
                              </a:solidFill>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oMath>
                  </m:oMathPara>
                </a14:m>
                <a:endParaRPr lang="zh-CN" altLang="en-US" dirty="0"/>
              </a:p>
            </p:txBody>
          </p:sp>
        </mc:Choice>
        <mc:Fallback xmlns="">
          <p:sp>
            <p:nvSpPr>
              <p:cNvPr id="12" name="文本框 11">
                <a:extLst>
                  <a:ext uri="{FF2B5EF4-FFF2-40B4-BE49-F238E27FC236}">
                    <a16:creationId xmlns:a16="http://schemas.microsoft.com/office/drawing/2014/main" id="{D095E0B3-2798-6D62-26EF-5DAE3F3B2604}"/>
                  </a:ext>
                </a:extLst>
              </p:cNvPr>
              <p:cNvSpPr txBox="1">
                <a:spLocks noRot="1" noChangeAspect="1" noMove="1" noResize="1" noEditPoints="1" noAdjustHandles="1" noChangeArrowheads="1" noChangeShapeType="1" noTextEdit="1"/>
              </p:cNvSpPr>
              <p:nvPr/>
            </p:nvSpPr>
            <p:spPr>
              <a:xfrm>
                <a:off x="6262151" y="1995696"/>
                <a:ext cx="5858275" cy="1871538"/>
              </a:xfrm>
              <a:prstGeom prst="rect">
                <a:avLst/>
              </a:prstGeom>
              <a:blipFill>
                <a:blip r:embed="rId3"/>
                <a:stretch>
                  <a:fillRect l="-832" t="-1303" r="-728" b="-29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CA78991-D81F-BDD0-8735-B0A5B1A2114A}"/>
                  </a:ext>
                </a:extLst>
              </p:cNvPr>
              <p:cNvSpPr txBox="1"/>
              <p:nvPr/>
            </p:nvSpPr>
            <p:spPr>
              <a:xfrm>
                <a:off x="6394094" y="4228715"/>
                <a:ext cx="5778715" cy="1879554"/>
              </a:xfrm>
              <a:prstGeom prst="rect">
                <a:avLst/>
              </a:prstGeom>
              <a:noFill/>
            </p:spPr>
            <p:txBody>
              <a:bodyPr wrap="square">
                <a:spAutoFit/>
              </a:bodyPr>
              <a:lstStyle/>
              <a:p>
                <a:r>
                  <a:rPr lang="en-US" altLang="zh-CN" sz="1800" dirty="0">
                    <a:latin typeface="+mn-ea"/>
                  </a:rPr>
                  <a:t> </a:t>
                </a:r>
                <a:r>
                  <a:rPr lang="zh-CN" altLang="en-US" sz="1800" b="1" dirty="0">
                    <a:latin typeface="+mn-ea"/>
                  </a:rPr>
                  <a:t>问题二：路径下一步往哪走？</a:t>
                </a:r>
                <a:endParaRPr lang="en-US" altLang="zh-CN" sz="1800" b="1" dirty="0">
                  <a:latin typeface="+mn-ea"/>
                </a:endParaRPr>
              </a:p>
              <a:p>
                <a:r>
                  <a:rPr lang="zh-CN" altLang="en-US" dirty="0">
                    <a:latin typeface="+mn-ea"/>
                  </a:rPr>
                  <a:t>         光线下一步的方向由向</a:t>
                </a:r>
                <a:r>
                  <a:rPr lang="en-US" altLang="zh-CN" dirty="0">
                    <a:latin typeface="+mn-ea"/>
                  </a:rPr>
                  <a:t>BSDF</a:t>
                </a:r>
                <a:r>
                  <a:rPr lang="zh-CN" altLang="en-US" dirty="0">
                    <a:latin typeface="+mn-ea"/>
                  </a:rPr>
                  <a:t>采样得到得到</a:t>
                </a:r>
                <a14:m>
                  <m:oMath xmlns:m="http://schemas.openxmlformats.org/officeDocument/2006/math">
                    <m:sSubSup>
                      <m:sSubSupPr>
                        <m:ctrlPr>
                          <a:rPr lang="en-US" altLang="zh-CN" i="1" dirty="0" smtClean="0">
                            <a:latin typeface="Cambria Math" panose="02040503050406030204" pitchFamily="18" charset="0"/>
                          </a:rPr>
                        </m:ctrlPr>
                      </m:sSubSupPr>
                      <m:e>
                        <m:r>
                          <a:rPr lang="en-US" altLang="zh-CN" i="1" dirty="0" smtClean="0">
                            <a:latin typeface="Cambria Math" panose="02040503050406030204" pitchFamily="18" charset="0"/>
                          </a:rPr>
                          <m:t>𝜔</m:t>
                        </m:r>
                      </m:e>
                      <m:sub>
                        <m:r>
                          <a:rPr lang="en-US" altLang="zh-CN" b="0" i="1" dirty="0" smtClean="0">
                            <a:latin typeface="Cambria Math" panose="02040503050406030204" pitchFamily="18" charset="0"/>
                          </a:rPr>
                          <m:t>𝑖</m:t>
                        </m:r>
                      </m:sub>
                      <m:sup>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oMath>
                </a14:m>
                <a:r>
                  <a:rPr lang="zh-CN" altLang="en-US" dirty="0"/>
                  <a:t>，而后沿该方向找到下一个顶点</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a:latin typeface="Cambria Math" panose="02040503050406030204" pitchFamily="18" charset="0"/>
                          </a:rPr>
                          <m:t>𝒊</m:t>
                        </m:r>
                      </m:sub>
                    </m:sSub>
                  </m:oMath>
                </a14:m>
                <a:r>
                  <a:rPr lang="zh-CN" altLang="en-US" dirty="0"/>
                  <a:t>并更新</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𝛽</m:t>
                        </m:r>
                      </m:e>
                      <m:sub>
                        <m:r>
                          <a:rPr lang="en-US" altLang="zh-CN" b="0" i="1" dirty="0" smtClean="0">
                            <a:latin typeface="Cambria Math" panose="02040503050406030204" pitchFamily="18" charset="0"/>
                          </a:rPr>
                          <m:t>𝑖</m:t>
                        </m:r>
                      </m:sub>
                    </m:sSub>
                  </m:oMath>
                </a14:m>
                <a:r>
                  <a:rPr lang="zh-CN" altLang="en-US" dirty="0"/>
                  <a:t>：</a:t>
                </a:r>
                <a:endParaRPr lang="en-US" altLang="zh-CN" dirty="0"/>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f>
                        <m:fPr>
                          <m:ctrlPr>
                            <a:rPr lang="en-US" altLang="zh-CN" b="0" i="1" dirty="0" smtClean="0">
                              <a:latin typeface="Cambria Math" panose="02040503050406030204" pitchFamily="18" charset="0"/>
                            </a:rPr>
                          </m:ctrlPr>
                        </m:fPr>
                        <m:num>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𝑓</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func>
                            <m:funcPr>
                              <m:ctrlPr>
                                <a:rPr lang="en-US" altLang="zh-CN" b="0" i="0" dirty="0" smtClean="0">
                                  <a:latin typeface="Cambria Math" panose="02040503050406030204" pitchFamily="18" charset="0"/>
                                </a:rPr>
                              </m:ctrlPr>
                            </m:funcPr>
                            <m:fName>
                              <m:r>
                                <m:rPr>
                                  <m:sty m:val="p"/>
                                </m:rPr>
                                <a:rPr lang="en-US" altLang="zh-CN" b="0" i="0" dirty="0" smtClean="0">
                                  <a:latin typeface="Cambria Math" panose="02040503050406030204" pitchFamily="18" charset="0"/>
                                </a:rPr>
                                <m:t>cos</m:t>
                              </m:r>
                            </m:fName>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𝜃</m:t>
                                  </m:r>
                                </m:e>
                                <m:sub>
                                  <m:r>
                                    <a:rPr lang="en-US" altLang="zh-CN" b="0" i="1" dirty="0" smtClean="0">
                                      <a:latin typeface="Cambria Math" panose="02040503050406030204" pitchFamily="18" charset="0"/>
                                    </a:rPr>
                                    <m:t>𝑖</m:t>
                                  </m:r>
                                </m:sub>
                              </m:sSub>
                            </m:e>
                          </m:func>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𝐶</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smtClean="0">
                                      <a:solidFill>
                                        <a:srgbClr val="FF0000"/>
                                      </a:solidFill>
                                      <a:latin typeface="Cambria Math" panose="02040503050406030204" pitchFamily="18" charset="0"/>
                                    </a:rPr>
                                    <m:t>𝐶</m:t>
                                  </m:r>
                                </m:sup>
                              </m:sSubSup>
                            </m:e>
                          </m:d>
                        </m:den>
                      </m:f>
                    </m:oMath>
                  </m:oMathPara>
                </a14:m>
                <a:endParaRPr lang="zh-CN" altLang="en-US" dirty="0"/>
              </a:p>
            </p:txBody>
          </p:sp>
        </mc:Choice>
        <mc:Fallback xmlns="">
          <p:sp>
            <p:nvSpPr>
              <p:cNvPr id="45" name="文本框 44">
                <a:extLst>
                  <a:ext uri="{FF2B5EF4-FFF2-40B4-BE49-F238E27FC236}">
                    <a16:creationId xmlns:a16="http://schemas.microsoft.com/office/drawing/2014/main" id="{3CA78991-D81F-BDD0-8735-B0A5B1A2114A}"/>
                  </a:ext>
                </a:extLst>
              </p:cNvPr>
              <p:cNvSpPr txBox="1">
                <a:spLocks noRot="1" noChangeAspect="1" noMove="1" noResize="1" noEditPoints="1" noAdjustHandles="1" noChangeArrowheads="1" noChangeShapeType="1" noTextEdit="1"/>
              </p:cNvSpPr>
              <p:nvPr/>
            </p:nvSpPr>
            <p:spPr>
              <a:xfrm>
                <a:off x="6394094" y="4228715"/>
                <a:ext cx="5778715" cy="1879554"/>
              </a:xfrm>
              <a:prstGeom prst="rect">
                <a:avLst/>
              </a:prstGeom>
              <a:blipFill>
                <a:blip r:embed="rId4"/>
                <a:stretch>
                  <a:fillRect l="-949" t="-19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61927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7F1C-D761-D9A0-0E4F-669105F3B9E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3EE87A3-EBB0-EC14-8751-DACD02DA53F9}"/>
              </a:ext>
            </a:extLst>
          </p:cNvPr>
          <p:cNvSpPr>
            <a:spLocks noGrp="1"/>
          </p:cNvSpPr>
          <p:nvPr>
            <p:ph type="title" idx="1"/>
          </p:nvPr>
        </p:nvSpPr>
        <p:spPr/>
        <p:txBody>
          <a:bodyPr/>
          <a:lstStyle/>
          <a:p>
            <a:r>
              <a:rPr lang="zh-CN" altLang="en-US" dirty="0"/>
              <a:t>路径追踪流程</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EA9FFB0-FED0-96CF-1425-D038E532D64E}"/>
                  </a:ext>
                </a:extLst>
              </p:cNvPr>
              <p:cNvSpPr txBox="1"/>
              <p:nvPr/>
            </p:nvSpPr>
            <p:spPr>
              <a:xfrm>
                <a:off x="186518" y="1322306"/>
                <a:ext cx="6075633" cy="4617739"/>
              </a:xfrm>
              <a:prstGeom prst="rect">
                <a:avLst/>
              </a:prstGeom>
              <a:noFill/>
            </p:spPr>
            <p:txBody>
              <a:bodyPr wrap="square">
                <a:spAutoFit/>
              </a:bodyPr>
              <a:lstStyle/>
              <a:p>
                <a:r>
                  <a:rPr lang="en-US" altLang="zh-CN" dirty="0">
                    <a:latin typeface="+mn-ea"/>
                  </a:rPr>
                  <a:t>         </a:t>
                </a:r>
                <a:r>
                  <a:rPr lang="zh-CN" altLang="en-US" dirty="0">
                    <a:latin typeface="+mn-ea"/>
                  </a:rPr>
                  <a:t>根据前面的讲解，不难发现路径追踪其实是分为两个逻辑步骤：</a:t>
                </a:r>
                <a:endParaRPr lang="en-US" altLang="zh-CN" dirty="0">
                  <a:latin typeface="+mn-ea"/>
                </a:endParaRPr>
              </a:p>
              <a:p>
                <a:endParaRPr lang="en-US" altLang="zh-CN" dirty="0">
                  <a:latin typeface="+mn-ea"/>
                </a:endParaRPr>
              </a:p>
              <a:p>
                <a:r>
                  <a:rPr lang="en-US" altLang="zh-CN" dirty="0">
                    <a:latin typeface="+mn-ea"/>
                  </a:rPr>
                  <a:t>          </a:t>
                </a:r>
                <a:r>
                  <a:rPr lang="zh-CN" altLang="en-US" dirty="0">
                    <a:latin typeface="+mn-ea"/>
                  </a:rPr>
                  <a:t>步骤</a:t>
                </a:r>
                <a:r>
                  <a:rPr lang="en-US" altLang="zh-CN" dirty="0">
                    <a:latin typeface="+mn-ea"/>
                  </a:rPr>
                  <a:t>1</a:t>
                </a:r>
                <a:r>
                  <a:rPr lang="zh-CN" altLang="en-US" dirty="0">
                    <a:latin typeface="+mn-ea"/>
                  </a:rPr>
                  <a:t>：不断地采样</a:t>
                </a:r>
                <a14:m>
                  <m:oMath xmlns:m="http://schemas.openxmlformats.org/officeDocument/2006/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𝐶</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𝐶</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oMath>
                </a14:m>
                <a:r>
                  <a:rPr lang="zh-CN" altLang="en-US" dirty="0">
                    <a:latin typeface="+mn-ea"/>
                  </a:rPr>
                  <a:t>，得到一条路</a:t>
                </a:r>
                <a:r>
                  <a:rPr lang="zh-CN" altLang="en-US" dirty="0">
                    <a:solidFill>
                      <a:schemeClr val="tx1"/>
                    </a:solidFill>
                    <a:latin typeface="+mn-ea"/>
                  </a:rPr>
                  <a:t>径：</a:t>
                </a:r>
                <a:endParaRPr lang="en-US" altLang="zh-CN" i="1" dirty="0">
                  <a:solidFill>
                    <a:schemeClr val="tx1"/>
                  </a:solidFill>
                  <a:latin typeface="Cambria Math" panose="02040503050406030204" pitchFamily="18" charset="0"/>
                </a:endParaRPr>
              </a:p>
              <a:p>
                <a:pPr/>
                <a14:m>
                  <m:oMathPara xmlns:m="http://schemas.openxmlformats.org/officeDocument/2006/math">
                    <m:oMath>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𝑝</m:t>
                              </m:r>
                            </m:e>
                            <m:sub>
                              <m:r>
                                <a:rPr lang="en-US" altLang="zh-CN" b="0" i="1" smtClean="0">
                                  <a:solidFill>
                                    <a:schemeClr val="tx1"/>
                                  </a:solidFill>
                                  <a:latin typeface="Cambria Math" panose="02040503050406030204" pitchFamily="18" charset="0"/>
                                </a:rPr>
                                <m:t>0</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𝑝</m:t>
                              </m:r>
                            </m:e>
                            <m:sub>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𝑝</m:t>
                              </m:r>
                            </m:e>
                            <m:sub>
                              <m:r>
                                <a:rPr lang="en-US" altLang="zh-CN" b="0" i="1" smtClean="0">
                                  <a:solidFill>
                                    <a:schemeClr val="tx1"/>
                                  </a:solidFill>
                                  <a:latin typeface="Cambria Math" panose="02040503050406030204" pitchFamily="18" charset="0"/>
                                </a:rPr>
                                <m:t>𝑖</m:t>
                              </m:r>
                              <m:r>
                                <a:rPr lang="en-US" altLang="zh-CN" b="0" i="1" smtClean="0">
                                  <a:solidFill>
                                    <a:schemeClr val="tx1"/>
                                  </a:solidFill>
                                  <a:latin typeface="Cambria Math" panose="02040503050406030204" pitchFamily="18" charset="0"/>
                                </a:rPr>
                                <m:t>−1</m:t>
                              </m:r>
                            </m:sub>
                          </m:sSub>
                        </m:e>
                      </m:d>
                    </m:oMath>
                  </m:oMathPara>
                </a14:m>
                <a:endParaRPr lang="en-US" altLang="zh-CN" b="0" dirty="0">
                  <a:solidFill>
                    <a:schemeClr val="tx1"/>
                  </a:solidFill>
                  <a:latin typeface="+mn-ea"/>
                </a:endParaRPr>
              </a:p>
              <a:p>
                <a:endParaRPr lang="en-US" altLang="zh-CN" dirty="0">
                  <a:latin typeface="+mn-ea"/>
                </a:endParaRPr>
              </a:p>
              <a:p>
                <a:r>
                  <a:rPr lang="en-US" altLang="zh-CN" dirty="0">
                    <a:latin typeface="+mn-ea"/>
                  </a:rPr>
                  <a:t>          </a:t>
                </a:r>
                <a:r>
                  <a:rPr lang="zh-CN" altLang="en-US" dirty="0">
                    <a:latin typeface="+mn-ea"/>
                  </a:rPr>
                  <a:t>步骤</a:t>
                </a:r>
                <a:r>
                  <a:rPr lang="en-US" altLang="zh-CN" dirty="0">
                    <a:latin typeface="+mn-ea"/>
                  </a:rPr>
                  <a:t>2</a:t>
                </a:r>
                <a:r>
                  <a:rPr lang="zh-CN" altLang="en-US" dirty="0">
                    <a:latin typeface="+mn-ea"/>
                  </a:rPr>
                  <a:t>：基于路径</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oMath>
                </a14:m>
                <a:r>
                  <a:rPr lang="zh-CN" altLang="en-US" dirty="0">
                    <a:latin typeface="+mn-ea"/>
                  </a:rPr>
                  <a:t>，计算出连接光源的积分：</a:t>
                </a:r>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𝑖</m:t>
                                  </m:r>
                                </m:sub>
                              </m:sSub>
                            </m:e>
                          </m:func>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i="1" dirty="0">
                              <a:latin typeface="Cambria Math" panose="02040503050406030204" pitchFamily="18" charset="0"/>
                            </a:rPr>
                            <m:t>𝑒</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oMath>
                  </m:oMathPara>
                </a14:m>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en-US" altLang="zh-CN" i="1" dirty="0">
                          <a:latin typeface="Cambria Math" panose="02040503050406030204" pitchFamily="18" charset="0"/>
                        </a:rPr>
                        <m:t>=</m:t>
                      </m:r>
                      <m:nary>
                        <m:naryPr>
                          <m:supHide m:val="on"/>
                          <m:ctrlPr>
                            <a:rPr lang="en-US" altLang="zh-CN" i="1" dirty="0">
                              <a:latin typeface="Cambria Math" panose="02040503050406030204" pitchFamily="18" charset="0"/>
                            </a:rPr>
                          </m:ctrlPr>
                        </m:naryPr>
                        <m:sub>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Ω</m:t>
                              </m:r>
                            </m:e>
                            <m:sub>
                              <m:r>
                                <a:rPr lang="en-US" altLang="zh-CN" i="1" dirty="0">
                                  <a:latin typeface="Cambria Math" panose="02040503050406030204" pitchFamily="18" charset="0"/>
                                </a:rPr>
                                <m:t>𝐸</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nary>
                    </m:oMath>
                  </m:oMathPara>
                </a14:m>
                <a:endParaRPr lang="en-US" altLang="zh-CN" dirty="0">
                  <a:latin typeface="+mn-ea"/>
                </a:endParaRPr>
              </a:p>
              <a:p>
                <a:endParaRPr lang="en-US" altLang="zh-CN" dirty="0">
                  <a:latin typeface="+mn-ea"/>
                </a:endParaRPr>
              </a:p>
              <a:p>
                <a:r>
                  <a:rPr lang="en-US" altLang="zh-CN" dirty="0">
                    <a:latin typeface="+mn-ea"/>
                  </a:rPr>
                  <a:t>         </a:t>
                </a:r>
                <a:r>
                  <a:rPr lang="zh-CN" altLang="en-US" dirty="0">
                    <a:latin typeface="+mn-ea"/>
                  </a:rPr>
                  <a:t>为了完成步骤</a:t>
                </a:r>
                <a:r>
                  <a:rPr lang="en-US" altLang="zh-CN" dirty="0">
                    <a:latin typeface="+mn-ea"/>
                  </a:rPr>
                  <a:t>1</a:t>
                </a:r>
                <a:r>
                  <a:rPr lang="zh-CN" altLang="en-US" dirty="0">
                    <a:latin typeface="+mn-ea"/>
                  </a:rPr>
                  <a:t>，之前的课程讲过“</a:t>
                </a:r>
                <a:r>
                  <a:rPr lang="zh-CN" altLang="en-US" b="1" dirty="0">
                    <a:latin typeface="+mn-ea"/>
                  </a:rPr>
                  <a:t>半球均匀采样</a:t>
                </a:r>
                <a:r>
                  <a:rPr lang="zh-CN" altLang="en-US" dirty="0">
                    <a:latin typeface="+mn-ea"/>
                  </a:rPr>
                  <a:t>”、“</a:t>
                </a:r>
                <a:r>
                  <a:rPr lang="zh-CN" altLang="en-US" b="1" dirty="0">
                    <a:latin typeface="+mn-ea"/>
                  </a:rPr>
                  <a:t>余弦重要性采样</a:t>
                </a:r>
                <a:r>
                  <a:rPr lang="zh-CN" altLang="en-US" dirty="0">
                    <a:latin typeface="+mn-ea"/>
                  </a:rPr>
                  <a:t>”、“</a:t>
                </a:r>
                <a:r>
                  <a:rPr lang="zh-CN" altLang="en-US" b="1" dirty="0">
                    <a:latin typeface="+mn-ea"/>
                  </a:rPr>
                  <a:t>向</a:t>
                </a:r>
                <a:r>
                  <a:rPr lang="en-US" altLang="zh-CN" b="1" dirty="0">
                    <a:latin typeface="+mn-ea"/>
                  </a:rPr>
                  <a:t>BSDF</a:t>
                </a:r>
                <a:r>
                  <a:rPr lang="zh-CN" altLang="en-US" b="1" dirty="0">
                    <a:latin typeface="+mn-ea"/>
                  </a:rPr>
                  <a:t>采样</a:t>
                </a:r>
                <a:r>
                  <a:rPr lang="zh-CN" altLang="en-US" dirty="0">
                    <a:latin typeface="+mn-ea"/>
                  </a:rPr>
                  <a:t>”。</a:t>
                </a:r>
                <a:endParaRPr lang="en-US" altLang="zh-CN" dirty="0">
                  <a:latin typeface="+mn-ea"/>
                </a:endParaRPr>
              </a:p>
              <a:p>
                <a:endParaRPr lang="en-US" altLang="zh-CN" dirty="0">
                  <a:latin typeface="+mn-ea"/>
                </a:endParaRPr>
              </a:p>
              <a:p>
                <a:r>
                  <a:rPr lang="en-US" altLang="zh-CN" dirty="0">
                    <a:latin typeface="+mn-ea"/>
                  </a:rPr>
                  <a:t>         </a:t>
                </a:r>
                <a:r>
                  <a:rPr lang="zh-CN" altLang="en-US" dirty="0">
                    <a:latin typeface="+mn-ea"/>
                  </a:rPr>
                  <a:t>为了完成步骤</a:t>
                </a:r>
                <a:r>
                  <a:rPr lang="en-US" altLang="zh-CN" dirty="0">
                    <a:latin typeface="+mn-ea"/>
                  </a:rPr>
                  <a:t>2</a:t>
                </a:r>
                <a:r>
                  <a:rPr lang="zh-CN" altLang="en-US" dirty="0">
                    <a:latin typeface="+mn-ea"/>
                  </a:rPr>
                  <a:t>，之前的课程讲过“</a:t>
                </a:r>
                <a:r>
                  <a:rPr lang="zh-CN" altLang="en-US" b="1" dirty="0">
                    <a:latin typeface="+mn-ea"/>
                  </a:rPr>
                  <a:t>向</a:t>
                </a:r>
                <a:r>
                  <a:rPr lang="en-US" altLang="zh-CN" b="1" dirty="0">
                    <a:latin typeface="+mn-ea"/>
                  </a:rPr>
                  <a:t>BSDF</a:t>
                </a:r>
                <a:r>
                  <a:rPr lang="zh-CN" altLang="en-US" b="1" dirty="0">
                    <a:latin typeface="+mn-ea"/>
                  </a:rPr>
                  <a:t>采样</a:t>
                </a:r>
                <a:r>
                  <a:rPr lang="zh-CN" altLang="en-US" dirty="0">
                    <a:latin typeface="+mn-ea"/>
                  </a:rPr>
                  <a:t>”、“</a:t>
                </a:r>
                <a:r>
                  <a:rPr lang="zh-CN" altLang="en-US" b="1" dirty="0">
                    <a:latin typeface="+mn-ea"/>
                  </a:rPr>
                  <a:t>向光源采样</a:t>
                </a:r>
                <a:r>
                  <a:rPr lang="zh-CN" altLang="en-US" dirty="0">
                    <a:latin typeface="+mn-ea"/>
                  </a:rPr>
                  <a:t>”、“</a:t>
                </a:r>
                <a:r>
                  <a:rPr lang="zh-CN" altLang="en-US" b="1" dirty="0">
                    <a:latin typeface="+mn-ea"/>
                  </a:rPr>
                  <a:t>多重重要性采样</a:t>
                </a:r>
                <a:r>
                  <a:rPr lang="zh-CN" altLang="en-US" dirty="0">
                    <a:latin typeface="+mn-ea"/>
                  </a:rPr>
                  <a:t>”。</a:t>
                </a:r>
                <a:endParaRPr lang="en-US" altLang="zh-CN" dirty="0">
                  <a:latin typeface="+mn-ea"/>
                </a:endParaRPr>
              </a:p>
            </p:txBody>
          </p:sp>
        </mc:Choice>
        <mc:Fallback xmlns="">
          <p:sp>
            <p:nvSpPr>
              <p:cNvPr id="3" name="文本框 2">
                <a:extLst>
                  <a:ext uri="{FF2B5EF4-FFF2-40B4-BE49-F238E27FC236}">
                    <a16:creationId xmlns:a16="http://schemas.microsoft.com/office/drawing/2014/main" id="{5EA9FFB0-FED0-96CF-1425-D038E532D64E}"/>
                  </a:ext>
                </a:extLst>
              </p:cNvPr>
              <p:cNvSpPr txBox="1">
                <a:spLocks noRot="1" noChangeAspect="1" noMove="1" noResize="1" noEditPoints="1" noAdjustHandles="1" noChangeArrowheads="1" noChangeShapeType="1" noTextEdit="1"/>
              </p:cNvSpPr>
              <p:nvPr/>
            </p:nvSpPr>
            <p:spPr>
              <a:xfrm>
                <a:off x="186518" y="1322306"/>
                <a:ext cx="6075633" cy="4617739"/>
              </a:xfrm>
              <a:prstGeom prst="rect">
                <a:avLst/>
              </a:prstGeom>
              <a:blipFill>
                <a:blip r:embed="rId2"/>
                <a:stretch>
                  <a:fillRect l="-904" t="-793" r="-301" b="-118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88A4B750-F8D7-B1E3-366E-51D883D201F2}"/>
              </a:ext>
            </a:extLst>
          </p:cNvPr>
          <p:cNvPicPr>
            <a:picLocks noChangeAspect="1"/>
          </p:cNvPicPr>
          <p:nvPr/>
        </p:nvPicPr>
        <p:blipFill>
          <a:blip r:embed="rId3"/>
          <a:stretch>
            <a:fillRect/>
          </a:stretch>
        </p:blipFill>
        <p:spPr>
          <a:xfrm>
            <a:off x="6506623" y="1870818"/>
            <a:ext cx="5354819" cy="640607"/>
          </a:xfrm>
          <a:prstGeom prst="rect">
            <a:avLst/>
          </a:prstGeom>
        </p:spPr>
      </p:pic>
      <p:pic>
        <p:nvPicPr>
          <p:cNvPr id="11" name="图片 10">
            <a:extLst>
              <a:ext uri="{FF2B5EF4-FFF2-40B4-BE49-F238E27FC236}">
                <a16:creationId xmlns:a16="http://schemas.microsoft.com/office/drawing/2014/main" id="{B3D3C09B-E7C7-929C-7729-E68A74B22230}"/>
              </a:ext>
            </a:extLst>
          </p:cNvPr>
          <p:cNvPicPr>
            <a:picLocks noChangeAspect="1"/>
          </p:cNvPicPr>
          <p:nvPr/>
        </p:nvPicPr>
        <p:blipFill>
          <a:blip r:embed="rId4"/>
          <a:stretch>
            <a:fillRect/>
          </a:stretch>
        </p:blipFill>
        <p:spPr>
          <a:xfrm>
            <a:off x="6506623" y="1443302"/>
            <a:ext cx="5354819" cy="427516"/>
          </a:xfrm>
          <a:prstGeom prst="rect">
            <a:avLst/>
          </a:prstGeom>
        </p:spPr>
      </p:pic>
      <p:pic>
        <p:nvPicPr>
          <p:cNvPr id="14" name="图片 13">
            <a:extLst>
              <a:ext uri="{FF2B5EF4-FFF2-40B4-BE49-F238E27FC236}">
                <a16:creationId xmlns:a16="http://schemas.microsoft.com/office/drawing/2014/main" id="{4814DDFB-9A43-3AB5-C02C-6823D60FA4F7}"/>
              </a:ext>
            </a:extLst>
          </p:cNvPr>
          <p:cNvPicPr>
            <a:picLocks noChangeAspect="1"/>
          </p:cNvPicPr>
          <p:nvPr/>
        </p:nvPicPr>
        <p:blipFill>
          <a:blip r:embed="rId5"/>
          <a:stretch>
            <a:fillRect/>
          </a:stretch>
        </p:blipFill>
        <p:spPr>
          <a:xfrm>
            <a:off x="6506623" y="993894"/>
            <a:ext cx="5354819" cy="449408"/>
          </a:xfrm>
          <a:prstGeom prst="rect">
            <a:avLst/>
          </a:prstGeom>
        </p:spPr>
      </p:pic>
      <p:pic>
        <p:nvPicPr>
          <p:cNvPr id="16" name="图片 15">
            <a:extLst>
              <a:ext uri="{FF2B5EF4-FFF2-40B4-BE49-F238E27FC236}">
                <a16:creationId xmlns:a16="http://schemas.microsoft.com/office/drawing/2014/main" id="{571A6BA2-26D2-D42A-B72B-230422E93A90}"/>
              </a:ext>
            </a:extLst>
          </p:cNvPr>
          <p:cNvPicPr>
            <a:picLocks noChangeAspect="1"/>
          </p:cNvPicPr>
          <p:nvPr/>
        </p:nvPicPr>
        <p:blipFill>
          <a:blip r:embed="rId6"/>
          <a:stretch>
            <a:fillRect/>
          </a:stretch>
        </p:blipFill>
        <p:spPr>
          <a:xfrm>
            <a:off x="7411438" y="2560588"/>
            <a:ext cx="3388960" cy="1825610"/>
          </a:xfrm>
          <a:prstGeom prst="rect">
            <a:avLst/>
          </a:prstGeom>
        </p:spPr>
      </p:pic>
      <p:pic>
        <p:nvPicPr>
          <p:cNvPr id="18" name="图片 17">
            <a:extLst>
              <a:ext uri="{FF2B5EF4-FFF2-40B4-BE49-F238E27FC236}">
                <a16:creationId xmlns:a16="http://schemas.microsoft.com/office/drawing/2014/main" id="{220476E2-5B93-7FB5-18DA-4D245FC70CBA}"/>
              </a:ext>
            </a:extLst>
          </p:cNvPr>
          <p:cNvPicPr>
            <a:picLocks noChangeAspect="1"/>
          </p:cNvPicPr>
          <p:nvPr/>
        </p:nvPicPr>
        <p:blipFill>
          <a:blip r:embed="rId7"/>
          <a:stretch>
            <a:fillRect/>
          </a:stretch>
        </p:blipFill>
        <p:spPr>
          <a:xfrm>
            <a:off x="8320307" y="4449575"/>
            <a:ext cx="3491991" cy="1930246"/>
          </a:xfrm>
          <a:prstGeom prst="rect">
            <a:avLst/>
          </a:prstGeom>
        </p:spPr>
      </p:pic>
    </p:spTree>
    <p:extLst>
      <p:ext uri="{BB962C8B-B14F-4D97-AF65-F5344CB8AC3E}">
        <p14:creationId xmlns:p14="http://schemas.microsoft.com/office/powerpoint/2010/main" val="3116967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3A37-234C-D2C0-78CE-F297A9ABE02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D848DDE-4CFC-7F16-A28C-08EF8924075E}"/>
              </a:ext>
            </a:extLst>
          </p:cNvPr>
          <p:cNvSpPr>
            <a:spLocks noGrp="1"/>
          </p:cNvSpPr>
          <p:nvPr>
            <p:ph type="title" idx="1"/>
          </p:nvPr>
        </p:nvSpPr>
        <p:spPr/>
        <p:txBody>
          <a:bodyPr/>
          <a:lstStyle/>
          <a:p>
            <a:r>
              <a:rPr lang="zh-CN" altLang="en-US" dirty="0"/>
              <a:t>路径追踪</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7D1A803-5BE4-1558-BA77-9ECB8FE891D4}"/>
                  </a:ext>
                </a:extLst>
              </p:cNvPr>
              <p:cNvSpPr txBox="1"/>
              <p:nvPr/>
            </p:nvSpPr>
            <p:spPr>
              <a:xfrm>
                <a:off x="345470" y="1458727"/>
                <a:ext cx="11501059" cy="4528676"/>
              </a:xfrm>
              <a:prstGeom prst="rect">
                <a:avLst/>
              </a:prstGeom>
              <a:noFill/>
            </p:spPr>
            <p:txBody>
              <a:bodyPr wrap="square">
                <a:spAutoFit/>
              </a:bodyPr>
              <a:lstStyle/>
              <a:p>
                <a:r>
                  <a:rPr lang="zh-CN" altLang="en-US" dirty="0">
                    <a:latin typeface="+mn-ea"/>
                  </a:rPr>
                  <a:t>         路径追踪算法最终要计算的是：</a:t>
                </a:r>
                <a14:m>
                  <m:oMath xmlns:m="http://schemas.openxmlformats.org/officeDocument/2006/math">
                    <m:r>
                      <a:rPr lang="en-US" altLang="zh-CN" i="1" dirty="0">
                        <a:latin typeface="Cambria Math" panose="02040503050406030204" pitchFamily="18" charset="0"/>
                      </a:rPr>
                      <m:t>𝐿</m:t>
                    </m:r>
                    <m:d>
                      <m:dPr>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𝟏</m:t>
                            </m:r>
                          </m:sub>
                        </m:sSub>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𝟎</m:t>
                            </m:r>
                          </m:sub>
                        </m:sSub>
                      </m:e>
                    </m:d>
                    <m:r>
                      <a:rPr lang="en-US" altLang="zh-CN" b="1" i="1" dirty="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e>
                    </m:nary>
                  </m:oMath>
                </a14:m>
                <a:r>
                  <a:rPr lang="zh-CN" altLang="en-US" dirty="0">
                    <a:latin typeface="+mn-ea"/>
                  </a:rPr>
                  <a:t>，而计算的方法就是不断构建长度为</a:t>
                </a:r>
                <a14:m>
                  <m:oMath xmlns:m="http://schemas.openxmlformats.org/officeDocument/2006/math">
                    <m:r>
                      <a:rPr lang="en-US" altLang="zh-CN" b="0" i="1" dirty="0" smtClean="0">
                        <a:latin typeface="Cambria Math" panose="02040503050406030204" pitchFamily="18" charset="0"/>
                      </a:rPr>
                      <m:t>𝑖</m:t>
                    </m:r>
                  </m:oMath>
                </a14:m>
                <a:r>
                  <a:rPr lang="zh-CN" altLang="en-US" dirty="0">
                    <a:latin typeface="+mn-ea"/>
                  </a:rPr>
                  <a:t>的路径</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oMath>
                </a14:m>
                <a:r>
                  <a:rPr lang="zh-CN" altLang="en-US" dirty="0">
                    <a:latin typeface="+mn-ea"/>
                  </a:rPr>
                  <a:t>，然后使用这条路径计算</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oMath>
                </a14:m>
                <a:r>
                  <a:rPr lang="zh-CN" altLang="en-US" dirty="0">
                    <a:latin typeface="+mn-ea"/>
                  </a:rPr>
                  <a:t>的估计</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i="1" dirty="0">
                            <a:latin typeface="Cambria Math" panose="02040503050406030204" pitchFamily="18" charset="0"/>
                          </a:rPr>
                          <m:t>𝑖</m:t>
                        </m:r>
                      </m:sub>
                    </m:sSub>
                  </m:oMath>
                </a14:m>
                <a:r>
                  <a:rPr lang="zh-CN" altLang="en-US" dirty="0">
                    <a:latin typeface="+mn-ea"/>
                  </a:rPr>
                  <a:t>。</a:t>
                </a:r>
                <a:endParaRPr lang="en-US" altLang="zh-CN" dirty="0">
                  <a:latin typeface="+mn-ea"/>
                </a:endParaRPr>
              </a:p>
              <a:p>
                <a:r>
                  <a:rPr lang="en-US" altLang="zh-CN" dirty="0">
                    <a:latin typeface="+mn-ea"/>
                  </a:rPr>
                  <a:t>         </a:t>
                </a:r>
                <a:r>
                  <a:rPr lang="zh-CN" altLang="en-US" dirty="0">
                    <a:latin typeface="+mn-ea"/>
                  </a:rPr>
                  <a:t>让我们从路径空间</a:t>
                </a:r>
                <a14:m>
                  <m:oMath xmlns:m="http://schemas.openxmlformats.org/officeDocument/2006/math">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oMath>
                </a14:m>
                <a:r>
                  <a:rPr lang="zh-CN" altLang="en-US" dirty="0">
                    <a:latin typeface="+mn-ea"/>
                  </a:rPr>
                  <a:t>的角度来看一下：</a:t>
                </a:r>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m:t>
                      </m:r>
                      <m:r>
                        <a:rPr lang="en-US" altLang="zh-CN" i="1" dirty="0">
                          <a:latin typeface="Cambria Math" panose="02040503050406030204" pitchFamily="18" charset="0"/>
                        </a:rPr>
                        <m:t>𝑖</m:t>
                      </m:r>
                      <m:r>
                        <a:rPr lang="en-US" altLang="zh-CN" i="1" dirty="0">
                          <a:latin typeface="Cambria Math" panose="02040503050406030204" pitchFamily="18" charset="0"/>
                        </a:rPr>
                        <m:t>≥2,  </m:t>
                      </m:r>
                      <m:sSub>
                        <m:sSubPr>
                          <m:ctrlPr>
                            <a:rPr lang="en-US" altLang="zh-CN" b="0" i="0" smtClean="0">
                              <a:latin typeface="Cambria Math" panose="02040503050406030204" pitchFamily="18" charset="0"/>
                            </a:rPr>
                          </m:ctrlPr>
                        </m:sSubPr>
                        <m:e>
                          <m:r>
                            <m:rPr>
                              <m:sty m:val="p"/>
                            </m:rPr>
                            <a:rPr lang="en-US" altLang="zh-CN" b="0" i="0" smtClean="0">
                              <a:latin typeface="Cambria Math" panose="02040503050406030204" pitchFamily="18" charset="0"/>
                            </a:rPr>
                            <m:t>Φ</m:t>
                          </m:r>
                        </m:e>
                        <m:sub>
                          <m:r>
                            <a:rPr lang="en-US" altLang="zh-CN" b="0" i="1" smtClean="0">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𝑒</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Sub>
                        </m:e>
                      </m:d>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𝑖</m:t>
                          </m:r>
                          <m:r>
                            <a:rPr lang="en-US" altLang="zh-CN" i="1">
                              <a:latin typeface="Cambria Math" panose="02040503050406030204" pitchFamily="18" charset="0"/>
                            </a:rPr>
                            <m:t>−1</m:t>
                          </m:r>
                        </m:sub>
                      </m:sSub>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−1</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oMath>
                  </m:oMathPara>
                </a14:m>
                <a:endParaRPr lang="en-US" altLang="zh-CN" dirty="0">
                  <a:latin typeface="+mn-ea"/>
                </a:endParaRPr>
              </a:p>
              <a:p>
                <a:r>
                  <a:rPr lang="en-US" altLang="zh-CN" dirty="0">
                    <a:latin typeface="+mn-ea"/>
                  </a:rPr>
                  <a:t>          </a:t>
                </a:r>
                <a:r>
                  <a:rPr lang="zh-CN" altLang="en-US" dirty="0">
                    <a:latin typeface="+mn-ea"/>
                  </a:rPr>
                  <a:t>我们可以沿用蒙特卡洛估计的思想，为了求解这个路径空间的积分，我们可以采样一条路径样本</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oMath>
                </a14:m>
                <a:r>
                  <a:rPr lang="zh-CN" altLang="en-US" dirty="0"/>
                  <a:t>，然后代入被积函数求值，最后除以概率密度：</a:t>
                </a:r>
                <a:endParaRPr lang="en-US" altLang="zh-CN" dirty="0"/>
              </a:p>
              <a:p>
                <a:pPr/>
                <a14:m>
                  <m:oMathPara xmlns:m="http://schemas.openxmlformats.org/officeDocument/2006/math">
                    <m:o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den>
                      </m:f>
                    </m:oMath>
                  </m:oMathPara>
                </a14:m>
                <a:endParaRPr lang="zh-CN" altLang="en-US" dirty="0"/>
              </a:p>
              <a:p>
                <a:endParaRPr lang="en-US" altLang="zh-CN" b="0" dirty="0"/>
              </a:p>
              <a:p>
                <a:r>
                  <a:rPr lang="zh-CN" altLang="en-US" dirty="0"/>
                  <a:t>         其中</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oMath>
                </a14:m>
                <a:r>
                  <a:rPr lang="zh-CN" altLang="en-US" dirty="0"/>
                  <a:t>就是</a:t>
                </a:r>
                <a:r>
                  <a:rPr lang="zh-CN" altLang="en-US" b="1" dirty="0"/>
                  <a:t>路径密度</a:t>
                </a:r>
                <a:r>
                  <a:rPr lang="zh-CN" altLang="en-US" dirty="0"/>
                  <a:t>，它是相对于测度</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𝑖</m:t>
                        </m:r>
                      </m:sub>
                    </m:sSub>
                  </m:oMath>
                </a14:m>
                <a:r>
                  <a:rPr lang="zh-CN" altLang="en-US" dirty="0"/>
                  <a:t>的。</a:t>
                </a:r>
                <a:endParaRPr lang="en-US" altLang="zh-CN" dirty="0"/>
              </a:p>
              <a:p>
                <a:r>
                  <a:rPr lang="en-US" altLang="zh-CN" dirty="0"/>
                  <a:t>         </a:t>
                </a:r>
                <a:r>
                  <a:rPr lang="zh-CN" altLang="en-US" dirty="0"/>
                  <a:t>我们采样得到一条路径的方法是不断采样</a:t>
                </a:r>
                <a14:m>
                  <m:oMath xmlns:m="http://schemas.openxmlformats.org/officeDocument/2006/math">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𝑖</m:t>
                        </m:r>
                      </m:sub>
                      <m:sup>
                        <m:r>
                          <a:rPr lang="en-US" altLang="zh-CN" i="1" dirty="0">
                            <a:solidFill>
                              <a:schemeClr val="tx1"/>
                            </a:solidFill>
                            <a:latin typeface="Cambria Math" panose="02040503050406030204" pitchFamily="18" charset="0"/>
                          </a:rPr>
                          <m:t>𝐵</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𝐶</m:t>
                        </m:r>
                      </m:sup>
                    </m:sSubSup>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𝐵</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𝐶</m:t>
                        </m:r>
                      </m:sub>
                    </m:sSub>
                    <m:r>
                      <a:rPr lang="en-US" altLang="zh-CN" i="1" dirty="0">
                        <a:solidFill>
                          <a:schemeClr val="tx1"/>
                        </a:solidFill>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oMath>
                </a14:m>
                <a:r>
                  <a:rPr lang="zh-CN" altLang="en-US" dirty="0"/>
                  <a:t>，于是，对于测度</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oMath>
                </a14:m>
                <a:r>
                  <a:rPr lang="zh-CN" altLang="en-US" dirty="0"/>
                  <a:t>，</a:t>
                </a:r>
                <a:r>
                  <a:rPr lang="en-US" altLang="zh-CN" dirty="0"/>
                  <a:t> </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oMath>
                </a14:m>
                <a:r>
                  <a:rPr lang="zh-CN" altLang="en-US" dirty="0"/>
                  <a:t>的路径密度可以写作：</a:t>
                </a:r>
                <a:endParaRPr lang="en-US" altLang="zh-CN" dirty="0"/>
              </a:p>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r>
                        <a:rPr lang="en-US" altLang="zh-CN" b="0"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𝑘</m:t>
                          </m:r>
                          <m:r>
                            <m:rPr>
                              <m:brk m:alnAt="23"/>
                            </m:rPr>
                            <a:rPr lang="en-US" altLang="zh-CN" b="0" i="1" dirty="0" smtClean="0">
                              <a:latin typeface="Cambria Math" panose="02040503050406030204" pitchFamily="18" charset="0"/>
                            </a:rPr>
                            <m:t>=</m:t>
                          </m:r>
                          <m:r>
                            <m:rPr>
                              <m:brk m:alnAt="23"/>
                            </m:rPr>
                            <a:rPr lang="en-US" altLang="zh-CN" b="0" i="1" dirty="0" smtClean="0">
                              <a:latin typeface="Cambria Math" panose="02040503050406030204" pitchFamily="18" charset="0"/>
                            </a:rPr>
                            <m:t>1</m:t>
                          </m:r>
                        </m:sub>
                        <m:sup>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𝐵</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𝐶</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𝑘</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𝑘</m:t>
                                  </m:r>
                                </m:sub>
                              </m:sSub>
                            </m:e>
                          </m:d>
                        </m:e>
                      </m:nary>
                    </m:oMath>
                  </m:oMathPara>
                </a14:m>
                <a:endParaRPr lang="en-US" altLang="zh-CN" dirty="0"/>
              </a:p>
            </p:txBody>
          </p:sp>
        </mc:Choice>
        <mc:Fallback xmlns="">
          <p:sp>
            <p:nvSpPr>
              <p:cNvPr id="8" name="文本框 7">
                <a:extLst>
                  <a:ext uri="{FF2B5EF4-FFF2-40B4-BE49-F238E27FC236}">
                    <a16:creationId xmlns:a16="http://schemas.microsoft.com/office/drawing/2014/main" id="{97D1A803-5BE4-1558-BA77-9ECB8FE891D4}"/>
                  </a:ext>
                </a:extLst>
              </p:cNvPr>
              <p:cNvSpPr txBox="1">
                <a:spLocks noRot="1" noChangeAspect="1" noMove="1" noResize="1" noEditPoints="1" noAdjustHandles="1" noChangeArrowheads="1" noChangeShapeType="1" noTextEdit="1"/>
              </p:cNvSpPr>
              <p:nvPr/>
            </p:nvSpPr>
            <p:spPr>
              <a:xfrm>
                <a:off x="345470" y="1458727"/>
                <a:ext cx="11501059" cy="4528676"/>
              </a:xfrm>
              <a:prstGeom prst="rect">
                <a:avLst/>
              </a:prstGeom>
              <a:blipFill>
                <a:blip r:embed="rId2"/>
                <a:stretch>
                  <a:fillRect l="-477" t="-9556" r="-1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36051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6294-735E-E740-342F-28CA3431053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6F02193-AA88-38E5-041F-116958E2AF33}"/>
              </a:ext>
            </a:extLst>
          </p:cNvPr>
          <p:cNvSpPr>
            <a:spLocks noGrp="1"/>
          </p:cNvSpPr>
          <p:nvPr>
            <p:ph type="title" idx="1"/>
          </p:nvPr>
        </p:nvSpPr>
        <p:spPr/>
        <p:txBody>
          <a:bodyPr/>
          <a:lstStyle/>
          <a:p>
            <a:r>
              <a:rPr lang="zh-CN" altLang="en-US" dirty="0"/>
              <a:t>路径追踪</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F51FB9B-AA9B-6061-B0AD-83BC6AE53FBD}"/>
                  </a:ext>
                </a:extLst>
              </p:cNvPr>
              <p:cNvSpPr txBox="1"/>
              <p:nvPr/>
            </p:nvSpPr>
            <p:spPr>
              <a:xfrm>
                <a:off x="188889" y="1458727"/>
                <a:ext cx="11814222" cy="4408258"/>
              </a:xfrm>
              <a:prstGeom prst="rect">
                <a:avLst/>
              </a:prstGeom>
              <a:noFill/>
            </p:spPr>
            <p:txBody>
              <a:bodyPr wrap="square">
                <a:spAutoFit/>
              </a:bodyPr>
              <a:lstStyle/>
              <a:p>
                <a:r>
                  <a:rPr lang="zh-CN" altLang="en-US" dirty="0">
                    <a:latin typeface="+mn-ea"/>
                  </a:rPr>
                  <a:t>         前面提到，路径追踪有两个步骤，第一是构建</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oMath>
                </a14:m>
                <a:r>
                  <a:rPr lang="zh-CN" altLang="en-US" dirty="0">
                    <a:latin typeface="+mn-ea"/>
                  </a:rPr>
                  <a:t>，第二是计算</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en-US" altLang="zh-CN" i="1" dirty="0">
                        <a:latin typeface="Cambria Math" panose="02040503050406030204" pitchFamily="18" charset="0"/>
                      </a:rPr>
                      <m:t>=</m:t>
                    </m:r>
                    <m:nary>
                      <m:naryPr>
                        <m:supHide m:val="on"/>
                        <m:ctrlPr>
                          <a:rPr lang="en-US" altLang="zh-CN" i="1" dirty="0">
                            <a:latin typeface="Cambria Math" panose="02040503050406030204" pitchFamily="18" charset="0"/>
                          </a:rPr>
                        </m:ctrlPr>
                      </m:naryPr>
                      <m:sub>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Ω</m:t>
                            </m:r>
                          </m:e>
                          <m:sub>
                            <m:r>
                              <a:rPr lang="en-US" altLang="zh-CN" i="1" dirty="0">
                                <a:latin typeface="Cambria Math" panose="02040503050406030204" pitchFamily="18" charset="0"/>
                              </a:rPr>
                              <m:t>𝐸</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nary>
                  </m:oMath>
                </a14:m>
                <a:r>
                  <a:rPr lang="zh-CN" altLang="en-US" dirty="0">
                    <a:latin typeface="+mn-ea"/>
                  </a:rPr>
                  <a:t>。</a:t>
                </a:r>
                <a:endParaRPr lang="en-US" altLang="zh-CN" dirty="0">
                  <a:latin typeface="+mn-ea"/>
                </a:endParaRPr>
              </a:p>
              <a:p>
                <a:r>
                  <a:rPr lang="en-US" altLang="zh-CN" dirty="0">
                    <a:latin typeface="+mn-ea"/>
                  </a:rPr>
                  <a:t>         </a:t>
                </a:r>
                <a:r>
                  <a:rPr lang="zh-CN" altLang="en-US" dirty="0">
                    <a:latin typeface="+mn-ea"/>
                  </a:rPr>
                  <a:t>我们称</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oMath>
                </a14:m>
                <a:r>
                  <a:rPr lang="zh-CN" altLang="en-US" dirty="0">
                    <a:latin typeface="+mn-ea"/>
                  </a:rPr>
                  <a:t>为路径前缀，</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a14:m>
                <a:r>
                  <a:rPr lang="zh-CN" altLang="en-US" dirty="0">
                    <a:latin typeface="+mn-ea"/>
                  </a:rPr>
                  <a:t>为路径前缀上的光照积分。同样的，我们以路径空间积分的视角来看一下：</a:t>
                </a:r>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dirty="0" smtClean="0">
                          <a:latin typeface="Cambria Math" panose="02040503050406030204" pitchFamily="18" charset="0"/>
                        </a:rPr>
                        <m:t>,  </m:t>
                      </m:r>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𝑒</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Sub>
                        </m:e>
                      </m:d>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𝑖</m:t>
                          </m:r>
                          <m:r>
                            <a:rPr lang="en-US" altLang="zh-CN" i="1">
                              <a:latin typeface="Cambria Math" panose="02040503050406030204" pitchFamily="18" charset="0"/>
                            </a:rPr>
                            <m:t>−1</m:t>
                          </m:r>
                        </m:sub>
                      </m:sSub>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−1</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oMath>
                  </m:oMathPara>
                </a14:m>
                <a:endParaRPr lang="en-US" altLang="zh-CN" dirty="0">
                  <a:latin typeface="+mn-ea"/>
                </a:endParaRPr>
              </a:p>
              <a:p>
                <a:pPr/>
                <a14:m>
                  <m:oMathPara xmlns:m="http://schemas.openxmlformats.org/officeDocument/2006/math">
                    <m:oMath>
                      <m:r>
                        <a:rPr lang="zh-CN" altLang="en-US" i="1" dirty="0">
                          <a:latin typeface="Cambria Math" panose="02040503050406030204" pitchFamily="18" charset="0"/>
                        </a:rPr>
                        <m:t>令</m:t>
                      </m:r>
                      <m:r>
                        <a:rPr lang="zh-CN" altLang="en-US" i="1" dirty="0" smtClean="0">
                          <a:latin typeface="Cambria Math" panose="02040503050406030204" pitchFamily="18" charset="0"/>
                        </a:rPr>
                        <m:t>：</m:t>
                      </m:r>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b="0" i="1" smtClean="0">
                              <a:solidFill>
                                <a:schemeClr val="accent2">
                                  <a:lumMod val="75000"/>
                                </a:schemeClr>
                              </a:solidFill>
                              <a:latin typeface="Cambria Math" panose="02040503050406030204" pitchFamily="18" charset="0"/>
                            </a:rPr>
                            <m:t>−1</m:t>
                          </m:r>
                        </m:sub>
                        <m:sup>
                          <m:r>
                            <a:rPr lang="en-US" altLang="zh-CN" b="0" i="1" smtClean="0">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b="0" i="1" smtClean="0">
                                  <a:solidFill>
                                    <a:schemeClr val="accent2">
                                      <a:lumMod val="75000"/>
                                    </a:schemeClr>
                                  </a:solidFill>
                                  <a:latin typeface="Cambria Math" panose="02040503050406030204" pitchFamily="18" charset="0"/>
                                </a:rPr>
                                <m:t>−1</m:t>
                              </m:r>
                            </m:sub>
                          </m:sSub>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−2</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r>
                        <a:rPr lang="en-US" altLang="zh-CN" b="0" i="1" smtClean="0">
                          <a:latin typeface="Cambria Math" panose="02040503050406030204" pitchFamily="18" charset="0"/>
                        </a:rPr>
                        <m:t>,  </m:t>
                      </m:r>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b="0" i="1" smtClean="0">
                          <a:latin typeface="Cambria Math" panose="02040503050406030204" pitchFamily="18" charset="0"/>
                        </a:rPr>
                        <m:t>=</m:t>
                      </m:r>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b="0" i="1" smtClean="0">
                              <a:solidFill>
                                <a:schemeClr val="accent2">
                                  <a:lumMod val="75000"/>
                                </a:schemeClr>
                              </a:solidFill>
                              <a:latin typeface="Cambria Math" panose="02040503050406030204" pitchFamily="18" charset="0"/>
                            </a:rPr>
                            <m:t>−1</m:t>
                          </m:r>
                        </m:sub>
                        <m:sup>
                          <m:r>
                            <a:rPr lang="en-US" altLang="zh-CN" b="0" i="1" smtClean="0">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b="0" i="1" smtClean="0">
                                  <a:solidFill>
                                    <a:schemeClr val="accent2">
                                      <a:lumMod val="75000"/>
                                    </a:schemeClr>
                                  </a:solidFill>
                                  <a:latin typeface="Cambria Math" panose="02040503050406030204" pitchFamily="18" charset="0"/>
                                </a:rPr>
                                <m:t>−1</m:t>
                              </m:r>
                            </m:sub>
                          </m:sSub>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d>
                        <m:dPr>
                          <m:begChr m:val="|"/>
                          <m:endChr m:val="|"/>
                          <m:ctrlPr>
                            <a:rPr lang="en-US" altLang="zh-CN" b="0" i="1" smtClean="0">
                              <a:latin typeface="Cambria Math" panose="02040503050406030204" pitchFamily="18" charset="0"/>
                            </a:rPr>
                          </m:ctrlPr>
                        </m:dPr>
                        <m:e>
                          <m:func>
                            <m:funcPr>
                              <m:ctrlPr>
                                <a:rPr lang="en-US" altLang="zh-CN" b="0" i="0" smtClean="0">
                                  <a:latin typeface="Cambria Math" panose="02040503050406030204" pitchFamily="18" charset="0"/>
                                </a:rPr>
                              </m:ctrlPr>
                            </m:funcPr>
                            <m:fName>
                              <m:r>
                                <m:rPr>
                                  <m:sty m:val="p"/>
                                </m:rPr>
                                <a:rPr lang="en-US" altLang="zh-CN" b="0" i="0" smtClean="0">
                                  <a:latin typeface="Cambria Math" panose="02040503050406030204" pitchFamily="18" charset="0"/>
                                </a:rPr>
                                <m:t>cos</m:t>
                              </m:r>
                            </m:fName>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𝜃</m:t>
                                  </m:r>
                                </m:e>
                                <m:sub>
                                  <m:r>
                                    <a:rPr lang="en-US" altLang="zh-CN" b="0" i="1" smtClean="0">
                                      <a:latin typeface="Cambria Math" panose="02040503050406030204" pitchFamily="18" charset="0"/>
                                    </a:rPr>
                                    <m:t>𝑖</m:t>
                                  </m:r>
                                </m:sub>
                              </m:sSub>
                            </m:e>
                          </m:func>
                        </m:e>
                      </m:d>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𝑒</m:t>
                          </m:r>
                        </m:sub>
                      </m:sSub>
                      <m:d>
                        <m:dPr>
                          <m:ctrlPr>
                            <a:rPr lang="en-US" altLang="zh-CN" b="1" i="1" smtClean="0">
                              <a:latin typeface="Cambria Math" panose="02040503050406030204" pitchFamily="18" charset="0"/>
                            </a:rPr>
                          </m:ctrlPr>
                        </m:dPr>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𝒑</m:t>
                              </m:r>
                            </m:e>
                            <m:sub>
                              <m:r>
                                <a:rPr lang="en-US" altLang="zh-CN" b="1" i="1" smtClean="0">
                                  <a:latin typeface="Cambria Math" panose="02040503050406030204" pitchFamily="18" charset="0"/>
                                </a:rPr>
                                <m:t>𝒊</m:t>
                              </m:r>
                            </m:sub>
                          </m:sSub>
                          <m:r>
                            <a:rPr lang="en-US" altLang="zh-CN" b="1" i="1"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𝒑</m:t>
                              </m:r>
                            </m:e>
                            <m:sub>
                              <m:r>
                                <a:rPr lang="en-US" altLang="zh-CN" b="1" i="1" smtClean="0">
                                  <a:latin typeface="Cambria Math" panose="02040503050406030204" pitchFamily="18" charset="0"/>
                                </a:rPr>
                                <m:t>𝒊</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sub>
                          </m:sSub>
                        </m:e>
                      </m:d>
                      <m:r>
                        <a:rPr lang="en-US" altLang="zh-CN" b="0" i="1" smtClean="0">
                          <a:latin typeface="Cambria Math" panose="02040503050406030204" pitchFamily="18" charset="0"/>
                        </a:rPr>
                        <m:t>=</m:t>
                      </m:r>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e>
                      </m:d>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𝐹</m:t>
                          </m:r>
                        </m:e>
                        <m:sub>
                          <m:r>
                            <a:rPr lang="en-US" altLang="zh-CN" b="0" i="1" smtClean="0">
                              <a:solidFill>
                                <a:schemeClr val="tx1"/>
                              </a:solidFill>
                              <a:latin typeface="Cambria Math" panose="02040503050406030204" pitchFamily="18" charset="0"/>
                            </a:rPr>
                            <m:t>𝑖</m:t>
                          </m:r>
                        </m:sub>
                      </m:sSub>
                      <m:d>
                        <m:dPr>
                          <m:ctrlPr>
                            <a:rPr lang="en-US" altLang="zh-CN" b="0" i="1" smtClean="0">
                              <a:solidFill>
                                <a:schemeClr val="tx1"/>
                              </a:solidFill>
                              <a:latin typeface="Cambria Math" panose="02040503050406030204" pitchFamily="18" charset="0"/>
                            </a:rPr>
                          </m:ctrlPr>
                        </m:dPr>
                        <m:e>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𝜔</m:t>
                              </m:r>
                            </m:e>
                            <m:sub>
                              <m:r>
                                <a:rPr lang="en-US" altLang="zh-CN" b="0" i="1" smtClean="0">
                                  <a:solidFill>
                                    <a:schemeClr val="tx1"/>
                                  </a:solidFill>
                                  <a:latin typeface="Cambria Math" panose="02040503050406030204" pitchFamily="18" charset="0"/>
                                </a:rPr>
                                <m:t>𝑖</m:t>
                              </m:r>
                            </m:sub>
                          </m:sSub>
                          <m:r>
                            <a:rPr lang="en-US" altLang="zh-CN" b="0" i="1" smtClean="0">
                              <a:solidFill>
                                <a:schemeClr val="tx1"/>
                              </a:solidFill>
                              <a:latin typeface="Cambria Math" panose="02040503050406030204" pitchFamily="18" charset="0"/>
                            </a:rPr>
                            <m:t>;</m:t>
                          </m:r>
                          <m:sSub>
                            <m:sSubPr>
                              <m:ctrlPr>
                                <a:rPr lang="en-US" altLang="zh-CN" b="0" i="1" smtClean="0">
                                  <a:solidFill>
                                    <a:schemeClr val="tx1"/>
                                  </a:solidFill>
                                  <a:latin typeface="Cambria Math" panose="02040503050406030204" pitchFamily="18" charset="0"/>
                                </a:rPr>
                              </m:ctrlPr>
                            </m:sSubPr>
                            <m:e>
                              <m:acc>
                                <m:accPr>
                                  <m:chr m:val="̅"/>
                                  <m:ctrlPr>
                                    <a:rPr lang="en-US" altLang="zh-CN" b="0" i="1" smtClean="0">
                                      <a:solidFill>
                                        <a:schemeClr val="tx1"/>
                                      </a:solidFill>
                                      <a:latin typeface="Cambria Math" panose="02040503050406030204" pitchFamily="18" charset="0"/>
                                    </a:rPr>
                                  </m:ctrlPr>
                                </m:accPr>
                                <m:e>
                                  <m:r>
                                    <a:rPr lang="en-US" altLang="zh-CN" b="0" i="1" smtClean="0">
                                      <a:solidFill>
                                        <a:schemeClr val="tx1"/>
                                      </a:solidFill>
                                      <a:latin typeface="Cambria Math" panose="02040503050406030204" pitchFamily="18" charset="0"/>
                                    </a:rPr>
                                    <m:t>𝑝</m:t>
                                  </m:r>
                                </m:e>
                              </m:acc>
                            </m:e>
                            <m:sub>
                              <m:r>
                                <a:rPr lang="en-US" altLang="zh-CN" b="0" i="1" smtClean="0">
                                  <a:solidFill>
                                    <a:schemeClr val="tx1"/>
                                  </a:solidFill>
                                  <a:latin typeface="Cambria Math" panose="02040503050406030204" pitchFamily="18" charset="0"/>
                                </a:rPr>
                                <m:t>𝑖</m:t>
                              </m:r>
                              <m:r>
                                <a:rPr lang="en-US" altLang="zh-CN" b="0" i="1" smtClean="0">
                                  <a:solidFill>
                                    <a:schemeClr val="tx1"/>
                                  </a:solidFill>
                                  <a:latin typeface="Cambria Math" panose="02040503050406030204" pitchFamily="18" charset="0"/>
                                </a:rPr>
                                <m:t>−1</m:t>
                              </m:r>
                            </m:sub>
                          </m:sSub>
                        </m:e>
                      </m:d>
                    </m:oMath>
                  </m:oMathPara>
                </a14:m>
                <a:endParaRPr lang="en-US" altLang="zh-CN" b="0" i="1" dirty="0">
                  <a:latin typeface="Cambria Math" panose="02040503050406030204" pitchFamily="18" charset="0"/>
                </a:endParaRPr>
              </a:p>
              <a:p>
                <a:pPr/>
                <a14:m>
                  <m:oMathPara xmlns:m="http://schemas.openxmlformats.org/officeDocument/2006/math">
                    <m:oMath>
                      <m:r>
                        <a:rPr lang="zh-CN" altLang="en-US" i="1">
                          <a:latin typeface="Cambria Math" panose="02040503050406030204" pitchFamily="18" charset="0"/>
                        </a:rPr>
                        <m:t>令</m:t>
                      </m:r>
                      <m:r>
                        <a:rPr lang="zh-CN" altLang="en-US" i="1" smtClean="0">
                          <a:latin typeface="Cambria Math" panose="02040503050406030204" pitchFamily="18" charset="0"/>
                        </a:rPr>
                        <m:t>：</m:t>
                      </m:r>
                      <m:sSubSup>
                        <m:sSubSupPr>
                          <m:ctrlPr>
                            <a:rPr lang="en-US" altLang="zh-CN" i="1" dirty="0">
                              <a:solidFill>
                                <a:schemeClr val="accent2">
                                  <a:lumMod val="75000"/>
                                </a:schemeClr>
                              </a:solidFill>
                              <a:latin typeface="Cambria Math" panose="02040503050406030204" pitchFamily="18" charset="0"/>
                            </a:rPr>
                          </m:ctrlPr>
                        </m:sSubSupPr>
                        <m:e>
                          <m:r>
                            <a:rPr lang="en-US" altLang="zh-CN" i="1" dirty="0">
                              <a:solidFill>
                                <a:schemeClr val="accent2">
                                  <a:lumMod val="75000"/>
                                </a:schemeClr>
                              </a:solidFill>
                              <a:latin typeface="Cambria Math" panose="02040503050406030204" pitchFamily="18" charset="0"/>
                            </a:rPr>
                            <m:t>𝑞</m:t>
                          </m:r>
                        </m:e>
                        <m:sub>
                          <m:r>
                            <a:rPr lang="en-US" altLang="zh-CN" i="1" dirty="0">
                              <a:solidFill>
                                <a:schemeClr val="accent2">
                                  <a:lumMod val="75000"/>
                                </a:schemeClr>
                              </a:solidFill>
                              <a:latin typeface="Cambria Math" panose="02040503050406030204" pitchFamily="18" charset="0"/>
                            </a:rPr>
                            <m:t>𝑖</m:t>
                          </m:r>
                          <m:r>
                            <a:rPr lang="en-US" altLang="zh-CN" b="0" i="1" dirty="0" smtClean="0">
                              <a:solidFill>
                                <a:schemeClr val="accent2">
                                  <a:lumMod val="75000"/>
                                </a:schemeClr>
                              </a:solidFill>
                              <a:latin typeface="Cambria Math" panose="02040503050406030204" pitchFamily="18" charset="0"/>
                            </a:rPr>
                            <m:t>−1</m:t>
                          </m:r>
                        </m:sub>
                        <m:sup>
                          <m:r>
                            <a:rPr lang="en-US" altLang="zh-CN" b="0" i="1" dirty="0" smtClean="0">
                              <a:solidFill>
                                <a:schemeClr val="accent2">
                                  <a:lumMod val="75000"/>
                                </a:schemeClr>
                              </a:solidFill>
                              <a:latin typeface="Cambria Math" panose="02040503050406030204" pitchFamily="18" charset="0"/>
                            </a:rPr>
                            <m:t>𝑝𝑟𝑒</m:t>
                          </m:r>
                        </m:sup>
                      </m:sSubSup>
                      <m:d>
                        <m:dPr>
                          <m:ctrlPr>
                            <a:rPr lang="en-US" altLang="zh-CN" i="1" dirty="0">
                              <a:solidFill>
                                <a:schemeClr val="accent2">
                                  <a:lumMod val="75000"/>
                                </a:schemeClr>
                              </a:solidFill>
                              <a:latin typeface="Cambria Math" panose="02040503050406030204" pitchFamily="18" charset="0"/>
                            </a:rPr>
                          </m:ctrlPr>
                        </m:dPr>
                        <m:e>
                          <m:sSub>
                            <m:sSubPr>
                              <m:ctrlPr>
                                <a:rPr lang="en-US" altLang="zh-CN" i="1" dirty="0">
                                  <a:solidFill>
                                    <a:schemeClr val="accent2">
                                      <a:lumMod val="75000"/>
                                    </a:schemeClr>
                                  </a:solidFill>
                                  <a:latin typeface="Cambria Math" panose="02040503050406030204" pitchFamily="18" charset="0"/>
                                </a:rPr>
                              </m:ctrlPr>
                            </m:sSubPr>
                            <m:e>
                              <m:acc>
                                <m:accPr>
                                  <m:chr m:val="̅"/>
                                  <m:ctrlPr>
                                    <a:rPr lang="en-US" altLang="zh-CN" i="1" dirty="0">
                                      <a:solidFill>
                                        <a:schemeClr val="accent2">
                                          <a:lumMod val="75000"/>
                                        </a:schemeClr>
                                      </a:solidFill>
                                      <a:latin typeface="Cambria Math" panose="02040503050406030204" pitchFamily="18" charset="0"/>
                                    </a:rPr>
                                  </m:ctrlPr>
                                </m:accPr>
                                <m:e>
                                  <m:r>
                                    <a:rPr lang="en-US" altLang="zh-CN" i="1" dirty="0">
                                      <a:solidFill>
                                        <a:schemeClr val="accent2">
                                          <a:lumMod val="75000"/>
                                        </a:schemeClr>
                                      </a:solidFill>
                                      <a:latin typeface="Cambria Math" panose="02040503050406030204" pitchFamily="18" charset="0"/>
                                    </a:rPr>
                                    <m:t>𝑝</m:t>
                                  </m:r>
                                </m:e>
                              </m:acc>
                            </m:e>
                            <m:sub>
                              <m:r>
                                <a:rPr lang="en-US" altLang="zh-CN" i="1" dirty="0">
                                  <a:solidFill>
                                    <a:schemeClr val="accent2">
                                      <a:lumMod val="75000"/>
                                    </a:schemeClr>
                                  </a:solidFill>
                                  <a:latin typeface="Cambria Math" panose="02040503050406030204" pitchFamily="18" charset="0"/>
                                </a:rPr>
                                <m:t>𝑖</m:t>
                              </m:r>
                              <m:r>
                                <a:rPr lang="en-US" altLang="zh-CN" b="0" i="1" dirty="0" smtClean="0">
                                  <a:solidFill>
                                    <a:schemeClr val="accent2">
                                      <a:lumMod val="75000"/>
                                    </a:schemeClr>
                                  </a:solidFill>
                                  <a:latin typeface="Cambria Math" panose="02040503050406030204" pitchFamily="18" charset="0"/>
                                </a:rPr>
                                <m:t>−1</m:t>
                              </m:r>
                            </m:sub>
                          </m:sSub>
                        </m:e>
                      </m:d>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𝑘</m:t>
                                  </m:r>
                                </m:sub>
                              </m:sSub>
                            </m:e>
                          </m:d>
                        </m:e>
                      </m:nary>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r>
                        <a:rPr lang="en-US" altLang="zh-CN" b="0" i="1" dirty="0" smtClean="0">
                          <a:latin typeface="Cambria Math" panose="02040503050406030204" pitchFamily="18" charset="0"/>
                        </a:rPr>
                        <m:t>=</m:t>
                      </m:r>
                      <m:sSubSup>
                        <m:sSubSupPr>
                          <m:ctrlPr>
                            <a:rPr lang="en-US" altLang="zh-CN" b="0" i="1" dirty="0" smtClean="0">
                              <a:solidFill>
                                <a:schemeClr val="accent2">
                                  <a:lumMod val="75000"/>
                                </a:schemeClr>
                              </a:solidFill>
                              <a:latin typeface="Cambria Math" panose="02040503050406030204" pitchFamily="18" charset="0"/>
                            </a:rPr>
                          </m:ctrlPr>
                        </m:sSubSupPr>
                        <m:e>
                          <m:r>
                            <a:rPr lang="en-US" altLang="zh-CN" b="0" i="1" dirty="0" smtClean="0">
                              <a:solidFill>
                                <a:schemeClr val="accent2">
                                  <a:lumMod val="75000"/>
                                </a:schemeClr>
                              </a:solidFill>
                              <a:latin typeface="Cambria Math" panose="02040503050406030204" pitchFamily="18" charset="0"/>
                            </a:rPr>
                            <m:t>𝑞</m:t>
                          </m:r>
                        </m:e>
                        <m:sub>
                          <m:r>
                            <a:rPr lang="en-US" altLang="zh-CN" b="0" i="1" dirty="0" smtClean="0">
                              <a:solidFill>
                                <a:schemeClr val="accent2">
                                  <a:lumMod val="75000"/>
                                </a:schemeClr>
                              </a:solidFill>
                              <a:latin typeface="Cambria Math" panose="02040503050406030204" pitchFamily="18" charset="0"/>
                            </a:rPr>
                            <m:t>𝑖</m:t>
                          </m:r>
                          <m:r>
                            <a:rPr lang="en-US" altLang="zh-CN" b="0" i="1" dirty="0" smtClean="0">
                              <a:solidFill>
                                <a:schemeClr val="accent2">
                                  <a:lumMod val="75000"/>
                                </a:schemeClr>
                              </a:solidFill>
                              <a:latin typeface="Cambria Math" panose="02040503050406030204" pitchFamily="18" charset="0"/>
                            </a:rPr>
                            <m:t>−1</m:t>
                          </m:r>
                        </m:sub>
                        <m:sup>
                          <m:r>
                            <a:rPr lang="en-US" altLang="zh-CN" b="0" i="1" dirty="0" smtClean="0">
                              <a:solidFill>
                                <a:schemeClr val="accent2">
                                  <a:lumMod val="75000"/>
                                </a:schemeClr>
                              </a:solidFill>
                              <a:latin typeface="Cambria Math" panose="02040503050406030204" pitchFamily="18" charset="0"/>
                            </a:rPr>
                            <m:t>𝑝𝑟𝑒</m:t>
                          </m:r>
                        </m:sup>
                      </m:sSubSup>
                      <m:d>
                        <m:dPr>
                          <m:ctrlPr>
                            <a:rPr lang="en-US" altLang="zh-CN" b="0" i="1" dirty="0" smtClean="0">
                              <a:solidFill>
                                <a:schemeClr val="accent2">
                                  <a:lumMod val="75000"/>
                                </a:schemeClr>
                              </a:solidFill>
                              <a:latin typeface="Cambria Math" panose="02040503050406030204" pitchFamily="18" charset="0"/>
                            </a:rPr>
                          </m:ctrlPr>
                        </m:dPr>
                        <m:e>
                          <m:sSub>
                            <m:sSubPr>
                              <m:ctrlPr>
                                <a:rPr lang="en-US" altLang="zh-CN" b="0" i="1" dirty="0" smtClean="0">
                                  <a:solidFill>
                                    <a:schemeClr val="accent2">
                                      <a:lumMod val="75000"/>
                                    </a:schemeClr>
                                  </a:solidFill>
                                  <a:latin typeface="Cambria Math" panose="02040503050406030204" pitchFamily="18" charset="0"/>
                                </a:rPr>
                              </m:ctrlPr>
                            </m:sSubPr>
                            <m:e>
                              <m:acc>
                                <m:accPr>
                                  <m:chr m:val="̅"/>
                                  <m:ctrlPr>
                                    <a:rPr lang="en-US" altLang="zh-CN" b="0" i="1" dirty="0" smtClean="0">
                                      <a:solidFill>
                                        <a:schemeClr val="accent2">
                                          <a:lumMod val="75000"/>
                                        </a:schemeClr>
                                      </a:solidFill>
                                      <a:latin typeface="Cambria Math" panose="02040503050406030204" pitchFamily="18" charset="0"/>
                                    </a:rPr>
                                  </m:ctrlPr>
                                </m:accPr>
                                <m:e>
                                  <m:r>
                                    <a:rPr lang="en-US" altLang="zh-CN" b="0" i="1" dirty="0" smtClean="0">
                                      <a:solidFill>
                                        <a:schemeClr val="accent2">
                                          <a:lumMod val="75000"/>
                                        </a:schemeClr>
                                      </a:solidFill>
                                      <a:latin typeface="Cambria Math" panose="02040503050406030204" pitchFamily="18" charset="0"/>
                                    </a:rPr>
                                    <m:t>𝑝</m:t>
                                  </m:r>
                                </m:e>
                              </m:acc>
                            </m:e>
                            <m:sub>
                              <m:r>
                                <a:rPr lang="en-US" altLang="zh-CN" b="0" i="1" dirty="0" smtClean="0">
                                  <a:solidFill>
                                    <a:schemeClr val="accent2">
                                      <a:lumMod val="75000"/>
                                    </a:schemeClr>
                                  </a:solidFill>
                                  <a:latin typeface="Cambria Math" panose="02040503050406030204" pitchFamily="18" charset="0"/>
                                </a:rPr>
                                <m:t>𝑖</m:t>
                              </m:r>
                              <m:r>
                                <a:rPr lang="en-US" altLang="zh-CN" b="0" i="1" dirty="0" smtClean="0">
                                  <a:solidFill>
                                    <a:schemeClr val="accent2">
                                      <a:lumMod val="75000"/>
                                    </a:schemeClr>
                                  </a:solidFill>
                                  <a:latin typeface="Cambria Math" panose="02040503050406030204" pitchFamily="18" charset="0"/>
                                </a:rPr>
                                <m:t>−1</m:t>
                              </m:r>
                            </m:sub>
                          </m:sSub>
                        </m:e>
                      </m:d>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e>
                      </m:d>
                    </m:oMath>
                  </m:oMathPara>
                </a14:m>
                <a:endParaRPr lang="en-US" altLang="zh-CN" b="0" dirty="0">
                  <a:latin typeface="+mn-ea"/>
                </a:endParaRPr>
              </a:p>
              <a:p>
                <a:r>
                  <a:rPr lang="zh-CN" altLang="en-US" dirty="0">
                    <a:latin typeface="+mn-ea"/>
                  </a:rPr>
                  <a:t>         </a:t>
                </a:r>
                <a:r>
                  <a:rPr lang="zh-CN" altLang="en-US" dirty="0"/>
                  <a:t>其中</a:t>
                </a:r>
                <a14:m>
                  <m:oMath xmlns:m="http://schemas.openxmlformats.org/officeDocument/2006/math">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e>
                    </m:d>
                  </m:oMath>
                </a14:m>
                <a:r>
                  <a:rPr lang="zh-CN" altLang="en-US" b="0" dirty="0">
                    <a:latin typeface="+mn-ea"/>
                  </a:rPr>
                  <a:t>为</a:t>
                </a:r>
                <a:r>
                  <a:rPr lang="zh-CN" altLang="en-US" b="1" dirty="0">
                    <a:latin typeface="+mn-ea"/>
                  </a:rPr>
                  <a:t>贡献前缀</a:t>
                </a:r>
                <a:r>
                  <a:rPr lang="zh-CN" altLang="en-US" b="0" dirty="0">
                    <a:latin typeface="+mn-ea"/>
                  </a:rPr>
                  <a:t>，</a:t>
                </a:r>
                <a14:m>
                  <m:oMath xmlns:m="http://schemas.openxmlformats.org/officeDocument/2006/math">
                    <m:sSubSup>
                      <m:sSubSupPr>
                        <m:ctrlPr>
                          <a:rPr lang="en-US" altLang="zh-CN" i="1" dirty="0">
                            <a:solidFill>
                              <a:schemeClr val="accent2">
                                <a:lumMod val="75000"/>
                              </a:schemeClr>
                            </a:solidFill>
                            <a:latin typeface="Cambria Math" panose="02040503050406030204" pitchFamily="18" charset="0"/>
                          </a:rPr>
                        </m:ctrlPr>
                      </m:sSubSupPr>
                      <m:e>
                        <m:r>
                          <a:rPr lang="en-US" altLang="zh-CN" i="1" dirty="0">
                            <a:solidFill>
                              <a:schemeClr val="accent2">
                                <a:lumMod val="75000"/>
                              </a:schemeClr>
                            </a:solidFill>
                            <a:latin typeface="Cambria Math" panose="02040503050406030204" pitchFamily="18" charset="0"/>
                          </a:rPr>
                          <m:t>𝑞</m:t>
                        </m:r>
                      </m:e>
                      <m:sub>
                        <m:r>
                          <a:rPr lang="en-US" altLang="zh-CN" i="1" dirty="0">
                            <a:solidFill>
                              <a:schemeClr val="accent2">
                                <a:lumMod val="75000"/>
                              </a:schemeClr>
                            </a:solidFill>
                            <a:latin typeface="Cambria Math" panose="02040503050406030204" pitchFamily="18" charset="0"/>
                          </a:rPr>
                          <m:t>𝑖</m:t>
                        </m:r>
                        <m:r>
                          <a:rPr lang="en-US" altLang="zh-CN" i="1" dirty="0">
                            <a:solidFill>
                              <a:schemeClr val="accent2">
                                <a:lumMod val="75000"/>
                              </a:schemeClr>
                            </a:solidFill>
                            <a:latin typeface="Cambria Math" panose="02040503050406030204" pitchFamily="18" charset="0"/>
                          </a:rPr>
                          <m:t>−1</m:t>
                        </m:r>
                      </m:sub>
                      <m:sup>
                        <m:r>
                          <a:rPr lang="en-US" altLang="zh-CN" i="1" dirty="0">
                            <a:solidFill>
                              <a:schemeClr val="accent2">
                                <a:lumMod val="75000"/>
                              </a:schemeClr>
                            </a:solidFill>
                            <a:latin typeface="Cambria Math" panose="02040503050406030204" pitchFamily="18" charset="0"/>
                          </a:rPr>
                          <m:t>𝑝𝑟𝑒</m:t>
                        </m:r>
                      </m:sup>
                    </m:sSubSup>
                    <m:d>
                      <m:dPr>
                        <m:ctrlPr>
                          <a:rPr lang="en-US" altLang="zh-CN" i="1" dirty="0">
                            <a:solidFill>
                              <a:schemeClr val="accent2">
                                <a:lumMod val="75000"/>
                              </a:schemeClr>
                            </a:solidFill>
                            <a:latin typeface="Cambria Math" panose="02040503050406030204" pitchFamily="18" charset="0"/>
                          </a:rPr>
                        </m:ctrlPr>
                      </m:dPr>
                      <m:e>
                        <m:sSub>
                          <m:sSubPr>
                            <m:ctrlPr>
                              <a:rPr lang="en-US" altLang="zh-CN" i="1" dirty="0">
                                <a:solidFill>
                                  <a:schemeClr val="accent2">
                                    <a:lumMod val="75000"/>
                                  </a:schemeClr>
                                </a:solidFill>
                                <a:latin typeface="Cambria Math" panose="02040503050406030204" pitchFamily="18" charset="0"/>
                              </a:rPr>
                            </m:ctrlPr>
                          </m:sSubPr>
                          <m:e>
                            <m:acc>
                              <m:accPr>
                                <m:chr m:val="̅"/>
                                <m:ctrlPr>
                                  <a:rPr lang="en-US" altLang="zh-CN" i="1" dirty="0">
                                    <a:solidFill>
                                      <a:schemeClr val="accent2">
                                        <a:lumMod val="75000"/>
                                      </a:schemeClr>
                                    </a:solidFill>
                                    <a:latin typeface="Cambria Math" panose="02040503050406030204" pitchFamily="18" charset="0"/>
                                  </a:rPr>
                                </m:ctrlPr>
                              </m:accPr>
                              <m:e>
                                <m:r>
                                  <a:rPr lang="en-US" altLang="zh-CN" i="1" dirty="0">
                                    <a:solidFill>
                                      <a:schemeClr val="accent2">
                                        <a:lumMod val="75000"/>
                                      </a:schemeClr>
                                    </a:solidFill>
                                    <a:latin typeface="Cambria Math" panose="02040503050406030204" pitchFamily="18" charset="0"/>
                                  </a:rPr>
                                  <m:t>𝑝</m:t>
                                </m:r>
                              </m:e>
                            </m:acc>
                          </m:e>
                          <m:sub>
                            <m:r>
                              <a:rPr lang="en-US" altLang="zh-CN" i="1" dirty="0">
                                <a:solidFill>
                                  <a:schemeClr val="accent2">
                                    <a:lumMod val="75000"/>
                                  </a:schemeClr>
                                </a:solidFill>
                                <a:latin typeface="Cambria Math" panose="02040503050406030204" pitchFamily="18" charset="0"/>
                              </a:rPr>
                              <m:t>𝑖</m:t>
                            </m:r>
                            <m:r>
                              <a:rPr lang="en-US" altLang="zh-CN" i="1" dirty="0">
                                <a:solidFill>
                                  <a:schemeClr val="accent2">
                                    <a:lumMod val="75000"/>
                                  </a:schemeClr>
                                </a:solidFill>
                                <a:latin typeface="Cambria Math" panose="02040503050406030204" pitchFamily="18" charset="0"/>
                              </a:rPr>
                              <m:t>−1</m:t>
                            </m:r>
                          </m:sub>
                        </m:sSub>
                      </m:e>
                    </m:d>
                  </m:oMath>
                </a14:m>
                <a:r>
                  <a:rPr lang="zh-CN" altLang="en-US" b="0" dirty="0">
                    <a:latin typeface="+mn-ea"/>
                  </a:rPr>
                  <a:t>为</a:t>
                </a:r>
                <a:r>
                  <a:rPr lang="zh-CN" altLang="en-US" b="1" dirty="0">
                    <a:latin typeface="+mn-ea"/>
                  </a:rPr>
                  <a:t>路径前缀密度</a:t>
                </a:r>
                <a:r>
                  <a:rPr lang="zh-CN" altLang="en-US" b="0" dirty="0">
                    <a:latin typeface="+mn-ea"/>
                  </a:rPr>
                  <a:t>。</a:t>
                </a:r>
                <a:r>
                  <a:rPr lang="zh-CN" altLang="en-US" dirty="0">
                    <a:latin typeface="+mn-ea"/>
                  </a:rPr>
                  <a:t>通过观察不难发现：</a:t>
                </a:r>
                <a:endParaRPr lang="en-US" altLang="zh-CN" dirty="0">
                  <a:latin typeface="+mn-ea"/>
                </a:endParaRPr>
              </a:p>
              <a:p>
                <a:pPr/>
                <a14:m>
                  <m:oMathPara xmlns:m="http://schemas.openxmlformats.org/officeDocument/2006/math">
                    <m:oMath>
                      <m:sSub>
                        <m:sSubPr>
                          <m:ctrlPr>
                            <a:rPr lang="en-US" altLang="zh-CN" sz="1700" b="0" i="1" smtClean="0">
                              <a:solidFill>
                                <a:schemeClr val="tx1"/>
                              </a:solidFill>
                              <a:latin typeface="Cambria Math" panose="02040503050406030204" pitchFamily="18" charset="0"/>
                            </a:rPr>
                          </m:ctrlPr>
                        </m:sSubPr>
                        <m:e>
                          <m:r>
                            <a:rPr lang="en-US" altLang="zh-CN" sz="1700" b="0" i="1" smtClean="0">
                              <a:solidFill>
                                <a:schemeClr val="tx1"/>
                              </a:solidFill>
                              <a:latin typeface="Cambria Math" panose="02040503050406030204" pitchFamily="18" charset="0"/>
                            </a:rPr>
                            <m:t>𝛽</m:t>
                          </m:r>
                        </m:e>
                        <m:sub>
                          <m:r>
                            <a:rPr lang="en-US" altLang="zh-CN" sz="1700" b="0" i="1" smtClean="0">
                              <a:solidFill>
                                <a:schemeClr val="tx1"/>
                              </a:solidFill>
                              <a:latin typeface="Cambria Math" panose="02040503050406030204" pitchFamily="18" charset="0"/>
                            </a:rPr>
                            <m:t>𝑖</m:t>
                          </m:r>
                          <m:r>
                            <a:rPr lang="en-US" altLang="zh-CN" sz="1700" b="0" i="1" smtClean="0">
                              <a:solidFill>
                                <a:schemeClr val="tx1"/>
                              </a:solidFill>
                              <a:latin typeface="Cambria Math" panose="02040503050406030204" pitchFamily="18" charset="0"/>
                            </a:rPr>
                            <m:t>−1</m:t>
                          </m:r>
                        </m:sub>
                      </m:sSub>
                      <m:r>
                        <a:rPr lang="en-US" altLang="zh-CN" sz="1700" b="0" i="1" smtClean="0">
                          <a:solidFill>
                            <a:schemeClr val="tx1"/>
                          </a:solidFill>
                          <a:latin typeface="Cambria Math" panose="02040503050406030204" pitchFamily="18" charset="0"/>
                        </a:rPr>
                        <m:t>=</m:t>
                      </m:r>
                      <m:f>
                        <m:fPr>
                          <m:ctrlPr>
                            <a:rPr lang="en-US" altLang="zh-CN" sz="1700" i="1">
                              <a:solidFill>
                                <a:schemeClr val="accent2">
                                  <a:lumMod val="75000"/>
                                </a:schemeClr>
                              </a:solidFill>
                              <a:latin typeface="Cambria Math" panose="02040503050406030204" pitchFamily="18" charset="0"/>
                            </a:rPr>
                          </m:ctrlPr>
                        </m:fPr>
                        <m:num>
                          <m:sSubSup>
                            <m:sSubSupPr>
                              <m:ctrlPr>
                                <a:rPr lang="en-US" altLang="zh-CN" sz="1700">
                                  <a:solidFill>
                                    <a:schemeClr val="accent2">
                                      <a:lumMod val="75000"/>
                                    </a:schemeClr>
                                  </a:solidFill>
                                  <a:latin typeface="Cambria Math" panose="02040503050406030204" pitchFamily="18" charset="0"/>
                                </a:rPr>
                              </m:ctrlPr>
                            </m:sSubSupPr>
                            <m:e>
                              <m:r>
                                <m:rPr>
                                  <m:sty m:val="p"/>
                                </m:rPr>
                                <a:rPr lang="en-US" altLang="zh-CN" sz="1700">
                                  <a:solidFill>
                                    <a:schemeClr val="accent2">
                                      <a:lumMod val="75000"/>
                                    </a:schemeClr>
                                  </a:solidFill>
                                  <a:latin typeface="Cambria Math" panose="02040503050406030204" pitchFamily="18" charset="0"/>
                                </a:rPr>
                                <m:t>Φ</m:t>
                              </m:r>
                            </m:e>
                            <m:sub>
                              <m:r>
                                <a:rPr lang="en-US" altLang="zh-CN" sz="1700" i="1">
                                  <a:solidFill>
                                    <a:schemeClr val="accent2">
                                      <a:lumMod val="75000"/>
                                    </a:schemeClr>
                                  </a:solidFill>
                                  <a:latin typeface="Cambria Math" panose="02040503050406030204" pitchFamily="18" charset="0"/>
                                </a:rPr>
                                <m:t>𝑖</m:t>
                              </m:r>
                              <m:r>
                                <a:rPr lang="en-US" altLang="zh-CN" sz="1700" i="1">
                                  <a:solidFill>
                                    <a:schemeClr val="accent2">
                                      <a:lumMod val="75000"/>
                                    </a:schemeClr>
                                  </a:solidFill>
                                  <a:latin typeface="Cambria Math" panose="02040503050406030204" pitchFamily="18" charset="0"/>
                                </a:rPr>
                                <m:t>−1</m:t>
                              </m:r>
                            </m:sub>
                            <m:sup>
                              <m:r>
                                <a:rPr lang="en-US" altLang="zh-CN" sz="1700" i="1">
                                  <a:solidFill>
                                    <a:schemeClr val="accent2">
                                      <a:lumMod val="75000"/>
                                    </a:schemeClr>
                                  </a:solidFill>
                                  <a:latin typeface="Cambria Math" panose="02040503050406030204" pitchFamily="18" charset="0"/>
                                </a:rPr>
                                <m:t>𝑝𝑟𝑒</m:t>
                              </m:r>
                            </m:sup>
                          </m:sSubSup>
                          <m:d>
                            <m:dPr>
                              <m:ctrlPr>
                                <a:rPr lang="en-US" altLang="zh-CN" sz="1700" i="1">
                                  <a:solidFill>
                                    <a:schemeClr val="accent2">
                                      <a:lumMod val="75000"/>
                                    </a:schemeClr>
                                  </a:solidFill>
                                  <a:latin typeface="Cambria Math" panose="02040503050406030204" pitchFamily="18" charset="0"/>
                                </a:rPr>
                              </m:ctrlPr>
                            </m:dPr>
                            <m:e>
                              <m:sSub>
                                <m:sSubPr>
                                  <m:ctrlPr>
                                    <a:rPr lang="en-US" altLang="zh-CN" sz="1700" i="1">
                                      <a:solidFill>
                                        <a:schemeClr val="accent2">
                                          <a:lumMod val="75000"/>
                                        </a:schemeClr>
                                      </a:solidFill>
                                      <a:latin typeface="Cambria Math" panose="02040503050406030204" pitchFamily="18" charset="0"/>
                                    </a:rPr>
                                  </m:ctrlPr>
                                </m:sSubPr>
                                <m:e>
                                  <m:acc>
                                    <m:accPr>
                                      <m:chr m:val="̅"/>
                                      <m:ctrlPr>
                                        <a:rPr lang="en-US" altLang="zh-CN" sz="1700" i="1">
                                          <a:solidFill>
                                            <a:schemeClr val="accent2">
                                              <a:lumMod val="75000"/>
                                            </a:schemeClr>
                                          </a:solidFill>
                                          <a:latin typeface="Cambria Math" panose="02040503050406030204" pitchFamily="18" charset="0"/>
                                        </a:rPr>
                                      </m:ctrlPr>
                                    </m:accPr>
                                    <m:e>
                                      <m:r>
                                        <a:rPr lang="en-US" altLang="zh-CN" sz="1700" i="1">
                                          <a:solidFill>
                                            <a:schemeClr val="accent2">
                                              <a:lumMod val="75000"/>
                                            </a:schemeClr>
                                          </a:solidFill>
                                          <a:latin typeface="Cambria Math" panose="02040503050406030204" pitchFamily="18" charset="0"/>
                                        </a:rPr>
                                        <m:t>𝑝</m:t>
                                      </m:r>
                                    </m:e>
                                  </m:acc>
                                </m:e>
                                <m:sub>
                                  <m:r>
                                    <a:rPr lang="en-US" altLang="zh-CN" sz="1700" i="1">
                                      <a:solidFill>
                                        <a:schemeClr val="accent2">
                                          <a:lumMod val="75000"/>
                                        </a:schemeClr>
                                      </a:solidFill>
                                      <a:latin typeface="Cambria Math" panose="02040503050406030204" pitchFamily="18" charset="0"/>
                                    </a:rPr>
                                    <m:t>𝑖</m:t>
                                  </m:r>
                                  <m:r>
                                    <a:rPr lang="en-US" altLang="zh-CN" sz="1700" i="1">
                                      <a:solidFill>
                                        <a:schemeClr val="accent2">
                                          <a:lumMod val="75000"/>
                                        </a:schemeClr>
                                      </a:solidFill>
                                      <a:latin typeface="Cambria Math" panose="02040503050406030204" pitchFamily="18" charset="0"/>
                                    </a:rPr>
                                    <m:t>−1</m:t>
                                  </m:r>
                                </m:sub>
                              </m:sSub>
                            </m:e>
                          </m:d>
                        </m:num>
                        <m:den>
                          <m:sSubSup>
                            <m:sSubSupPr>
                              <m:ctrlPr>
                                <a:rPr lang="en-US" altLang="zh-CN" sz="1700" i="1" dirty="0">
                                  <a:solidFill>
                                    <a:schemeClr val="accent2">
                                      <a:lumMod val="75000"/>
                                    </a:schemeClr>
                                  </a:solidFill>
                                  <a:latin typeface="Cambria Math" panose="02040503050406030204" pitchFamily="18" charset="0"/>
                                </a:rPr>
                              </m:ctrlPr>
                            </m:sSubSupPr>
                            <m:e>
                              <m:r>
                                <a:rPr lang="en-US" altLang="zh-CN" sz="1700" i="1" dirty="0">
                                  <a:solidFill>
                                    <a:schemeClr val="accent2">
                                      <a:lumMod val="75000"/>
                                    </a:schemeClr>
                                  </a:solidFill>
                                  <a:latin typeface="Cambria Math" panose="02040503050406030204" pitchFamily="18" charset="0"/>
                                </a:rPr>
                                <m:t>𝑞</m:t>
                              </m:r>
                            </m:e>
                            <m:sub>
                              <m:r>
                                <a:rPr lang="en-US" altLang="zh-CN" sz="1700" i="1" dirty="0">
                                  <a:solidFill>
                                    <a:schemeClr val="accent2">
                                      <a:lumMod val="75000"/>
                                    </a:schemeClr>
                                  </a:solidFill>
                                  <a:latin typeface="Cambria Math" panose="02040503050406030204" pitchFamily="18" charset="0"/>
                                </a:rPr>
                                <m:t>𝑖</m:t>
                              </m:r>
                              <m:r>
                                <a:rPr lang="en-US" altLang="zh-CN" sz="1700" i="1" dirty="0">
                                  <a:solidFill>
                                    <a:schemeClr val="accent2">
                                      <a:lumMod val="75000"/>
                                    </a:schemeClr>
                                  </a:solidFill>
                                  <a:latin typeface="Cambria Math" panose="02040503050406030204" pitchFamily="18" charset="0"/>
                                </a:rPr>
                                <m:t>−1</m:t>
                              </m:r>
                            </m:sub>
                            <m:sup>
                              <m:r>
                                <a:rPr lang="en-US" altLang="zh-CN" sz="1700" i="1" dirty="0">
                                  <a:solidFill>
                                    <a:schemeClr val="accent2">
                                      <a:lumMod val="75000"/>
                                    </a:schemeClr>
                                  </a:solidFill>
                                  <a:latin typeface="Cambria Math" panose="02040503050406030204" pitchFamily="18" charset="0"/>
                                </a:rPr>
                                <m:t>𝑝𝑟𝑒</m:t>
                              </m:r>
                            </m:sup>
                          </m:sSubSup>
                          <m:d>
                            <m:dPr>
                              <m:ctrlPr>
                                <a:rPr lang="en-US" altLang="zh-CN" sz="1700" i="1" dirty="0">
                                  <a:solidFill>
                                    <a:schemeClr val="accent2">
                                      <a:lumMod val="75000"/>
                                    </a:schemeClr>
                                  </a:solidFill>
                                  <a:latin typeface="Cambria Math" panose="02040503050406030204" pitchFamily="18" charset="0"/>
                                </a:rPr>
                              </m:ctrlPr>
                            </m:dPr>
                            <m:e>
                              <m:sSub>
                                <m:sSubPr>
                                  <m:ctrlPr>
                                    <a:rPr lang="en-US" altLang="zh-CN" sz="1700" i="1" dirty="0">
                                      <a:solidFill>
                                        <a:schemeClr val="accent2">
                                          <a:lumMod val="75000"/>
                                        </a:schemeClr>
                                      </a:solidFill>
                                      <a:latin typeface="Cambria Math" panose="02040503050406030204" pitchFamily="18" charset="0"/>
                                    </a:rPr>
                                  </m:ctrlPr>
                                </m:sSubPr>
                                <m:e>
                                  <m:acc>
                                    <m:accPr>
                                      <m:chr m:val="̅"/>
                                      <m:ctrlPr>
                                        <a:rPr lang="en-US" altLang="zh-CN" sz="1700" i="1" dirty="0">
                                          <a:solidFill>
                                            <a:schemeClr val="accent2">
                                              <a:lumMod val="75000"/>
                                            </a:schemeClr>
                                          </a:solidFill>
                                          <a:latin typeface="Cambria Math" panose="02040503050406030204" pitchFamily="18" charset="0"/>
                                        </a:rPr>
                                      </m:ctrlPr>
                                    </m:accPr>
                                    <m:e>
                                      <m:r>
                                        <a:rPr lang="en-US" altLang="zh-CN" sz="1700" i="1" dirty="0">
                                          <a:solidFill>
                                            <a:schemeClr val="accent2">
                                              <a:lumMod val="75000"/>
                                            </a:schemeClr>
                                          </a:solidFill>
                                          <a:latin typeface="Cambria Math" panose="02040503050406030204" pitchFamily="18" charset="0"/>
                                        </a:rPr>
                                        <m:t>𝑝</m:t>
                                      </m:r>
                                    </m:e>
                                  </m:acc>
                                </m:e>
                                <m:sub>
                                  <m:r>
                                    <a:rPr lang="en-US" altLang="zh-CN" sz="1700" i="1" dirty="0">
                                      <a:solidFill>
                                        <a:schemeClr val="accent2">
                                          <a:lumMod val="75000"/>
                                        </a:schemeClr>
                                      </a:solidFill>
                                      <a:latin typeface="Cambria Math" panose="02040503050406030204" pitchFamily="18" charset="0"/>
                                    </a:rPr>
                                    <m:t>𝑖</m:t>
                                  </m:r>
                                  <m:r>
                                    <a:rPr lang="en-US" altLang="zh-CN" sz="1700" i="1" dirty="0">
                                      <a:solidFill>
                                        <a:schemeClr val="accent2">
                                          <a:lumMod val="75000"/>
                                        </a:schemeClr>
                                      </a:solidFill>
                                      <a:latin typeface="Cambria Math" panose="02040503050406030204" pitchFamily="18" charset="0"/>
                                    </a:rPr>
                                    <m:t>−1</m:t>
                                  </m:r>
                                </m:sub>
                              </m:sSub>
                            </m:e>
                          </m:d>
                        </m:den>
                      </m:f>
                      <m:r>
                        <a:rPr lang="en-US" altLang="zh-CN" sz="1700" b="0" i="1" smtClean="0">
                          <a:solidFill>
                            <a:schemeClr val="tx1"/>
                          </a:solidFill>
                          <a:latin typeface="Cambria Math" panose="02040503050406030204" pitchFamily="18" charset="0"/>
                        </a:rPr>
                        <m:t>,</m:t>
                      </m:r>
                      <m:r>
                        <a:rPr lang="en-US" altLang="zh-CN" sz="1700" b="0" i="1" smtClean="0">
                          <a:solidFill>
                            <a:schemeClr val="accent2">
                              <a:lumMod val="75000"/>
                            </a:schemeClr>
                          </a:solidFill>
                          <a:latin typeface="Cambria Math" panose="02040503050406030204" pitchFamily="18" charset="0"/>
                        </a:rPr>
                        <m:t>  </m:t>
                      </m:r>
                      <m:sSub>
                        <m:sSubPr>
                          <m:ctrlPr>
                            <a:rPr lang="en-US" altLang="zh-CN" sz="1700" i="1" dirty="0">
                              <a:solidFill>
                                <a:schemeClr val="accent6">
                                  <a:lumMod val="50000"/>
                                </a:schemeClr>
                              </a:solidFill>
                              <a:latin typeface="Cambria Math" panose="02040503050406030204" pitchFamily="18" charset="0"/>
                            </a:rPr>
                          </m:ctrlPr>
                        </m:sSubPr>
                        <m:e>
                          <m:acc>
                            <m:accPr>
                              <m:chr m:val="̂"/>
                              <m:ctrlPr>
                                <a:rPr lang="en-US" altLang="zh-CN" sz="1700" i="1" dirty="0">
                                  <a:solidFill>
                                    <a:schemeClr val="accent6">
                                      <a:lumMod val="50000"/>
                                    </a:schemeClr>
                                  </a:solidFill>
                                  <a:latin typeface="Cambria Math" panose="02040503050406030204" pitchFamily="18" charset="0"/>
                                </a:rPr>
                              </m:ctrlPr>
                            </m:accPr>
                            <m:e>
                              <m:r>
                                <a:rPr lang="en-US" altLang="zh-CN" sz="1700" i="1" dirty="0">
                                  <a:solidFill>
                                    <a:schemeClr val="accent6">
                                      <a:lumMod val="50000"/>
                                    </a:schemeClr>
                                  </a:solidFill>
                                  <a:latin typeface="Cambria Math" panose="02040503050406030204" pitchFamily="18" charset="0"/>
                                </a:rPr>
                                <m:t>𝐼</m:t>
                              </m:r>
                            </m:e>
                          </m:acc>
                        </m:e>
                        <m:sub>
                          <m:r>
                            <a:rPr lang="en-US" altLang="zh-CN" sz="1700" i="1" dirty="0">
                              <a:solidFill>
                                <a:schemeClr val="accent6">
                                  <a:lumMod val="50000"/>
                                </a:schemeClr>
                              </a:solidFill>
                              <a:latin typeface="Cambria Math" panose="02040503050406030204" pitchFamily="18" charset="0"/>
                            </a:rPr>
                            <m:t>𝑖</m:t>
                          </m:r>
                        </m:sub>
                      </m:sSub>
                      <m:r>
                        <a:rPr lang="en-US" altLang="zh-CN" sz="1700" i="1" dirty="0">
                          <a:latin typeface="Cambria Math" panose="02040503050406030204" pitchFamily="18" charset="0"/>
                        </a:rPr>
                        <m:t>=</m:t>
                      </m:r>
                      <m:f>
                        <m:fPr>
                          <m:ctrlPr>
                            <a:rPr lang="en-US" altLang="zh-CN" sz="1700" i="1" dirty="0">
                              <a:latin typeface="Cambria Math" panose="02040503050406030204" pitchFamily="18" charset="0"/>
                            </a:rPr>
                          </m:ctrlPr>
                        </m:fPr>
                        <m:num>
                          <m:sSub>
                            <m:sSubPr>
                              <m:ctrlPr>
                                <a:rPr lang="en-US" altLang="zh-CN" sz="1700" dirty="0">
                                  <a:latin typeface="Cambria Math" panose="02040503050406030204" pitchFamily="18" charset="0"/>
                                </a:rPr>
                              </m:ctrlPr>
                            </m:sSubPr>
                            <m:e>
                              <m:r>
                                <m:rPr>
                                  <m:sty m:val="p"/>
                                </m:rPr>
                                <a:rPr lang="en-US" altLang="zh-CN" sz="1700" dirty="0">
                                  <a:latin typeface="Cambria Math" panose="02040503050406030204" pitchFamily="18" charset="0"/>
                                </a:rPr>
                                <m:t>Φ</m:t>
                              </m:r>
                            </m:e>
                            <m:sub>
                              <m:r>
                                <m:rPr>
                                  <m:sty m:val="p"/>
                                </m:rPr>
                                <a:rPr lang="en-US" altLang="zh-CN" sz="1700" dirty="0">
                                  <a:latin typeface="Cambria Math" panose="02040503050406030204" pitchFamily="18" charset="0"/>
                                </a:rPr>
                                <m:t>i</m:t>
                              </m:r>
                            </m:sub>
                          </m:sSub>
                          <m:d>
                            <m:dPr>
                              <m:ctrlPr>
                                <a:rPr lang="en-US" altLang="zh-CN" sz="1700" i="1" dirty="0">
                                  <a:latin typeface="Cambria Math" panose="02040503050406030204" pitchFamily="18" charset="0"/>
                                </a:rPr>
                              </m:ctrlPr>
                            </m:dPr>
                            <m:e>
                              <m:sSub>
                                <m:sSubPr>
                                  <m:ctrlPr>
                                    <a:rPr lang="en-US" altLang="zh-CN" sz="1700" i="1" dirty="0">
                                      <a:latin typeface="Cambria Math" panose="02040503050406030204" pitchFamily="18" charset="0"/>
                                    </a:rPr>
                                  </m:ctrlPr>
                                </m:sSubPr>
                                <m:e>
                                  <m:acc>
                                    <m:accPr>
                                      <m:chr m:val="̅"/>
                                      <m:ctrlPr>
                                        <a:rPr lang="en-US" altLang="zh-CN" sz="1700" i="1" dirty="0">
                                          <a:latin typeface="Cambria Math" panose="02040503050406030204" pitchFamily="18" charset="0"/>
                                        </a:rPr>
                                      </m:ctrlPr>
                                    </m:accPr>
                                    <m:e>
                                      <m:r>
                                        <a:rPr lang="en-US" altLang="zh-CN" sz="1700" i="1" dirty="0">
                                          <a:latin typeface="Cambria Math" panose="02040503050406030204" pitchFamily="18" charset="0"/>
                                        </a:rPr>
                                        <m:t>𝑝</m:t>
                                      </m:r>
                                    </m:e>
                                  </m:acc>
                                </m:e>
                                <m:sub>
                                  <m:r>
                                    <a:rPr lang="en-US" altLang="zh-CN" sz="1700" i="1" dirty="0">
                                      <a:latin typeface="Cambria Math" panose="02040503050406030204" pitchFamily="18" charset="0"/>
                                    </a:rPr>
                                    <m:t>𝑖</m:t>
                                  </m:r>
                                </m:sub>
                              </m:sSub>
                            </m:e>
                          </m:d>
                        </m:num>
                        <m:den>
                          <m:sSub>
                            <m:sSubPr>
                              <m:ctrlPr>
                                <a:rPr lang="en-US" altLang="zh-CN" sz="1700" i="1" dirty="0">
                                  <a:latin typeface="Cambria Math" panose="02040503050406030204" pitchFamily="18" charset="0"/>
                                </a:rPr>
                              </m:ctrlPr>
                            </m:sSubPr>
                            <m:e>
                              <m:r>
                                <a:rPr lang="en-US" altLang="zh-CN" sz="1700" i="1" dirty="0">
                                  <a:latin typeface="Cambria Math" panose="02040503050406030204" pitchFamily="18" charset="0"/>
                                </a:rPr>
                                <m:t>𝑞</m:t>
                              </m:r>
                            </m:e>
                            <m:sub>
                              <m:r>
                                <a:rPr lang="en-US" altLang="zh-CN" sz="1700" i="1" dirty="0">
                                  <a:latin typeface="Cambria Math" panose="02040503050406030204" pitchFamily="18" charset="0"/>
                                </a:rPr>
                                <m:t>𝑖</m:t>
                              </m:r>
                            </m:sub>
                          </m:sSub>
                          <m:d>
                            <m:dPr>
                              <m:ctrlPr>
                                <a:rPr lang="en-US" altLang="zh-CN" sz="1700" i="1" dirty="0">
                                  <a:latin typeface="Cambria Math" panose="02040503050406030204" pitchFamily="18" charset="0"/>
                                </a:rPr>
                              </m:ctrlPr>
                            </m:dPr>
                            <m:e>
                              <m:sSub>
                                <m:sSubPr>
                                  <m:ctrlPr>
                                    <a:rPr lang="en-US" altLang="zh-CN" sz="1700" i="1" dirty="0">
                                      <a:latin typeface="Cambria Math" panose="02040503050406030204" pitchFamily="18" charset="0"/>
                                    </a:rPr>
                                  </m:ctrlPr>
                                </m:sSubPr>
                                <m:e>
                                  <m:acc>
                                    <m:accPr>
                                      <m:chr m:val="̅"/>
                                      <m:ctrlPr>
                                        <a:rPr lang="en-US" altLang="zh-CN" sz="1700" i="1" dirty="0">
                                          <a:latin typeface="Cambria Math" panose="02040503050406030204" pitchFamily="18" charset="0"/>
                                        </a:rPr>
                                      </m:ctrlPr>
                                    </m:accPr>
                                    <m:e>
                                      <m:r>
                                        <a:rPr lang="en-US" altLang="zh-CN" sz="1700" i="1" dirty="0">
                                          <a:latin typeface="Cambria Math" panose="02040503050406030204" pitchFamily="18" charset="0"/>
                                        </a:rPr>
                                        <m:t>𝑝</m:t>
                                      </m:r>
                                    </m:e>
                                  </m:acc>
                                </m:e>
                                <m:sub>
                                  <m:r>
                                    <a:rPr lang="en-US" altLang="zh-CN" sz="1700" i="1" dirty="0">
                                      <a:latin typeface="Cambria Math" panose="02040503050406030204" pitchFamily="18" charset="0"/>
                                    </a:rPr>
                                    <m:t>𝑖</m:t>
                                  </m:r>
                                </m:sub>
                              </m:sSub>
                            </m:e>
                          </m:d>
                        </m:den>
                      </m:f>
                      <m:r>
                        <a:rPr lang="en-US" altLang="zh-CN" sz="1700" b="0" i="1" dirty="0" smtClean="0">
                          <a:solidFill>
                            <a:schemeClr val="tx1"/>
                          </a:solidFill>
                          <a:latin typeface="Cambria Math" panose="02040503050406030204" pitchFamily="18" charset="0"/>
                        </a:rPr>
                        <m:t>=</m:t>
                      </m:r>
                      <m:f>
                        <m:fPr>
                          <m:ctrlPr>
                            <a:rPr lang="en-US" altLang="zh-CN" sz="1700" i="1">
                              <a:solidFill>
                                <a:schemeClr val="accent2">
                                  <a:lumMod val="75000"/>
                                </a:schemeClr>
                              </a:solidFill>
                              <a:latin typeface="Cambria Math" panose="02040503050406030204" pitchFamily="18" charset="0"/>
                            </a:rPr>
                          </m:ctrlPr>
                        </m:fPr>
                        <m:num>
                          <m:sSubSup>
                            <m:sSubSupPr>
                              <m:ctrlPr>
                                <a:rPr lang="en-US" altLang="zh-CN" sz="1700">
                                  <a:solidFill>
                                    <a:schemeClr val="accent2">
                                      <a:lumMod val="75000"/>
                                    </a:schemeClr>
                                  </a:solidFill>
                                  <a:latin typeface="Cambria Math" panose="02040503050406030204" pitchFamily="18" charset="0"/>
                                </a:rPr>
                              </m:ctrlPr>
                            </m:sSubSupPr>
                            <m:e>
                              <m:r>
                                <m:rPr>
                                  <m:sty m:val="p"/>
                                </m:rPr>
                                <a:rPr lang="en-US" altLang="zh-CN" sz="1700">
                                  <a:solidFill>
                                    <a:schemeClr val="accent2">
                                      <a:lumMod val="75000"/>
                                    </a:schemeClr>
                                  </a:solidFill>
                                  <a:latin typeface="Cambria Math" panose="02040503050406030204" pitchFamily="18" charset="0"/>
                                </a:rPr>
                                <m:t>Φ</m:t>
                              </m:r>
                            </m:e>
                            <m:sub>
                              <m:r>
                                <a:rPr lang="en-US" altLang="zh-CN" sz="1700" i="1">
                                  <a:solidFill>
                                    <a:schemeClr val="accent2">
                                      <a:lumMod val="75000"/>
                                    </a:schemeClr>
                                  </a:solidFill>
                                  <a:latin typeface="Cambria Math" panose="02040503050406030204" pitchFamily="18" charset="0"/>
                                </a:rPr>
                                <m:t>𝑖</m:t>
                              </m:r>
                              <m:r>
                                <a:rPr lang="en-US" altLang="zh-CN" sz="1700" i="1">
                                  <a:solidFill>
                                    <a:schemeClr val="accent2">
                                      <a:lumMod val="75000"/>
                                    </a:schemeClr>
                                  </a:solidFill>
                                  <a:latin typeface="Cambria Math" panose="02040503050406030204" pitchFamily="18" charset="0"/>
                                </a:rPr>
                                <m:t>−1</m:t>
                              </m:r>
                            </m:sub>
                            <m:sup>
                              <m:r>
                                <a:rPr lang="en-US" altLang="zh-CN" sz="1700" i="1">
                                  <a:solidFill>
                                    <a:schemeClr val="accent2">
                                      <a:lumMod val="75000"/>
                                    </a:schemeClr>
                                  </a:solidFill>
                                  <a:latin typeface="Cambria Math" panose="02040503050406030204" pitchFamily="18" charset="0"/>
                                </a:rPr>
                                <m:t>𝑝𝑟𝑒</m:t>
                              </m:r>
                            </m:sup>
                          </m:sSubSup>
                          <m:d>
                            <m:dPr>
                              <m:ctrlPr>
                                <a:rPr lang="en-US" altLang="zh-CN" sz="1700" i="1">
                                  <a:solidFill>
                                    <a:schemeClr val="accent2">
                                      <a:lumMod val="75000"/>
                                    </a:schemeClr>
                                  </a:solidFill>
                                  <a:latin typeface="Cambria Math" panose="02040503050406030204" pitchFamily="18" charset="0"/>
                                </a:rPr>
                              </m:ctrlPr>
                            </m:dPr>
                            <m:e>
                              <m:sSub>
                                <m:sSubPr>
                                  <m:ctrlPr>
                                    <a:rPr lang="en-US" altLang="zh-CN" sz="1700" i="1">
                                      <a:solidFill>
                                        <a:schemeClr val="accent2">
                                          <a:lumMod val="75000"/>
                                        </a:schemeClr>
                                      </a:solidFill>
                                      <a:latin typeface="Cambria Math" panose="02040503050406030204" pitchFamily="18" charset="0"/>
                                    </a:rPr>
                                  </m:ctrlPr>
                                </m:sSubPr>
                                <m:e>
                                  <m:acc>
                                    <m:accPr>
                                      <m:chr m:val="̅"/>
                                      <m:ctrlPr>
                                        <a:rPr lang="en-US" altLang="zh-CN" sz="1700" i="1">
                                          <a:solidFill>
                                            <a:schemeClr val="accent2">
                                              <a:lumMod val="75000"/>
                                            </a:schemeClr>
                                          </a:solidFill>
                                          <a:latin typeface="Cambria Math" panose="02040503050406030204" pitchFamily="18" charset="0"/>
                                        </a:rPr>
                                      </m:ctrlPr>
                                    </m:accPr>
                                    <m:e>
                                      <m:r>
                                        <a:rPr lang="en-US" altLang="zh-CN" sz="1700" i="1">
                                          <a:solidFill>
                                            <a:schemeClr val="accent2">
                                              <a:lumMod val="75000"/>
                                            </a:schemeClr>
                                          </a:solidFill>
                                          <a:latin typeface="Cambria Math" panose="02040503050406030204" pitchFamily="18" charset="0"/>
                                        </a:rPr>
                                        <m:t>𝑝</m:t>
                                      </m:r>
                                    </m:e>
                                  </m:acc>
                                </m:e>
                                <m:sub>
                                  <m:r>
                                    <a:rPr lang="en-US" altLang="zh-CN" sz="1700" i="1">
                                      <a:solidFill>
                                        <a:schemeClr val="accent2">
                                          <a:lumMod val="75000"/>
                                        </a:schemeClr>
                                      </a:solidFill>
                                      <a:latin typeface="Cambria Math" panose="02040503050406030204" pitchFamily="18" charset="0"/>
                                    </a:rPr>
                                    <m:t>𝑖</m:t>
                                  </m:r>
                                  <m:r>
                                    <a:rPr lang="en-US" altLang="zh-CN" sz="1700" i="1">
                                      <a:solidFill>
                                        <a:schemeClr val="accent2">
                                          <a:lumMod val="75000"/>
                                        </a:schemeClr>
                                      </a:solidFill>
                                      <a:latin typeface="Cambria Math" panose="02040503050406030204" pitchFamily="18" charset="0"/>
                                    </a:rPr>
                                    <m:t>−1</m:t>
                                  </m:r>
                                </m:sub>
                              </m:sSub>
                            </m:e>
                          </m:d>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𝑖</m:t>
                              </m:r>
                            </m:sub>
                          </m:sSub>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e>
                          </m:d>
                        </m:num>
                        <m:den>
                          <m:sSubSup>
                            <m:sSubSupPr>
                              <m:ctrlPr>
                                <a:rPr lang="en-US" altLang="zh-CN" sz="1700" i="1" dirty="0">
                                  <a:solidFill>
                                    <a:schemeClr val="accent2">
                                      <a:lumMod val="75000"/>
                                    </a:schemeClr>
                                  </a:solidFill>
                                  <a:latin typeface="Cambria Math" panose="02040503050406030204" pitchFamily="18" charset="0"/>
                                </a:rPr>
                              </m:ctrlPr>
                            </m:sSubSupPr>
                            <m:e>
                              <m:r>
                                <a:rPr lang="en-US" altLang="zh-CN" sz="1700" i="1" dirty="0">
                                  <a:solidFill>
                                    <a:schemeClr val="accent2">
                                      <a:lumMod val="75000"/>
                                    </a:schemeClr>
                                  </a:solidFill>
                                  <a:latin typeface="Cambria Math" panose="02040503050406030204" pitchFamily="18" charset="0"/>
                                </a:rPr>
                                <m:t>𝑞</m:t>
                              </m:r>
                            </m:e>
                            <m:sub>
                              <m:r>
                                <a:rPr lang="en-US" altLang="zh-CN" sz="1700" i="1" dirty="0">
                                  <a:solidFill>
                                    <a:schemeClr val="accent2">
                                      <a:lumMod val="75000"/>
                                    </a:schemeClr>
                                  </a:solidFill>
                                  <a:latin typeface="Cambria Math" panose="02040503050406030204" pitchFamily="18" charset="0"/>
                                </a:rPr>
                                <m:t>𝑖</m:t>
                              </m:r>
                              <m:r>
                                <a:rPr lang="en-US" altLang="zh-CN" sz="1700" i="1" dirty="0">
                                  <a:solidFill>
                                    <a:schemeClr val="accent2">
                                      <a:lumMod val="75000"/>
                                    </a:schemeClr>
                                  </a:solidFill>
                                  <a:latin typeface="Cambria Math" panose="02040503050406030204" pitchFamily="18" charset="0"/>
                                </a:rPr>
                                <m:t>−1</m:t>
                              </m:r>
                            </m:sub>
                            <m:sup>
                              <m:r>
                                <a:rPr lang="en-US" altLang="zh-CN" sz="1700" i="1" dirty="0">
                                  <a:solidFill>
                                    <a:schemeClr val="accent2">
                                      <a:lumMod val="75000"/>
                                    </a:schemeClr>
                                  </a:solidFill>
                                  <a:latin typeface="Cambria Math" panose="02040503050406030204" pitchFamily="18" charset="0"/>
                                </a:rPr>
                                <m:t>𝑝𝑟𝑒</m:t>
                              </m:r>
                            </m:sup>
                          </m:sSubSup>
                          <m:d>
                            <m:dPr>
                              <m:ctrlPr>
                                <a:rPr lang="en-US" altLang="zh-CN" sz="1700" i="1" dirty="0">
                                  <a:solidFill>
                                    <a:schemeClr val="accent2">
                                      <a:lumMod val="75000"/>
                                    </a:schemeClr>
                                  </a:solidFill>
                                  <a:latin typeface="Cambria Math" panose="02040503050406030204" pitchFamily="18" charset="0"/>
                                </a:rPr>
                              </m:ctrlPr>
                            </m:dPr>
                            <m:e>
                              <m:sSub>
                                <m:sSubPr>
                                  <m:ctrlPr>
                                    <a:rPr lang="en-US" altLang="zh-CN" sz="1700" i="1" dirty="0">
                                      <a:solidFill>
                                        <a:schemeClr val="accent2">
                                          <a:lumMod val="75000"/>
                                        </a:schemeClr>
                                      </a:solidFill>
                                      <a:latin typeface="Cambria Math" panose="02040503050406030204" pitchFamily="18" charset="0"/>
                                    </a:rPr>
                                  </m:ctrlPr>
                                </m:sSubPr>
                                <m:e>
                                  <m:acc>
                                    <m:accPr>
                                      <m:chr m:val="̅"/>
                                      <m:ctrlPr>
                                        <a:rPr lang="en-US" altLang="zh-CN" sz="1700" i="1" dirty="0">
                                          <a:solidFill>
                                            <a:schemeClr val="accent2">
                                              <a:lumMod val="75000"/>
                                            </a:schemeClr>
                                          </a:solidFill>
                                          <a:latin typeface="Cambria Math" panose="02040503050406030204" pitchFamily="18" charset="0"/>
                                        </a:rPr>
                                      </m:ctrlPr>
                                    </m:accPr>
                                    <m:e>
                                      <m:r>
                                        <a:rPr lang="en-US" altLang="zh-CN" sz="1700" i="1" dirty="0">
                                          <a:solidFill>
                                            <a:schemeClr val="accent2">
                                              <a:lumMod val="75000"/>
                                            </a:schemeClr>
                                          </a:solidFill>
                                          <a:latin typeface="Cambria Math" panose="02040503050406030204" pitchFamily="18" charset="0"/>
                                        </a:rPr>
                                        <m:t>𝑝</m:t>
                                      </m:r>
                                    </m:e>
                                  </m:acc>
                                </m:e>
                                <m:sub>
                                  <m:r>
                                    <a:rPr lang="en-US" altLang="zh-CN" sz="1700" i="1" dirty="0">
                                      <a:solidFill>
                                        <a:schemeClr val="accent2">
                                          <a:lumMod val="75000"/>
                                        </a:schemeClr>
                                      </a:solidFill>
                                      <a:latin typeface="Cambria Math" panose="02040503050406030204" pitchFamily="18" charset="0"/>
                                    </a:rPr>
                                    <m:t>𝑖</m:t>
                                  </m:r>
                                  <m:r>
                                    <a:rPr lang="en-US" altLang="zh-CN" sz="1700" i="1" dirty="0">
                                      <a:solidFill>
                                        <a:schemeClr val="accent2">
                                          <a:lumMod val="75000"/>
                                        </a:schemeClr>
                                      </a:solidFill>
                                      <a:latin typeface="Cambria Math" panose="02040503050406030204" pitchFamily="18" charset="0"/>
                                    </a:rPr>
                                    <m:t>−1</m:t>
                                  </m:r>
                                </m:sub>
                              </m:sSub>
                            </m:e>
                          </m:d>
                          <m:r>
                            <a:rPr lang="en-US" altLang="zh-CN" sz="1700" i="1" dirty="0">
                              <a:latin typeface="Cambria Math" panose="02040503050406030204" pitchFamily="18" charset="0"/>
                            </a:rPr>
                            <m:t> </m:t>
                          </m:r>
                          <m:sSub>
                            <m:sSubPr>
                              <m:ctrlPr>
                                <a:rPr lang="en-US" altLang="zh-CN" sz="1700" i="1" dirty="0">
                                  <a:latin typeface="Cambria Math" panose="02040503050406030204" pitchFamily="18" charset="0"/>
                                </a:rPr>
                              </m:ctrlPr>
                            </m:sSubPr>
                            <m:e>
                              <m:r>
                                <a:rPr lang="en-US" altLang="zh-CN" sz="1700" i="1" dirty="0">
                                  <a:latin typeface="Cambria Math" panose="02040503050406030204" pitchFamily="18" charset="0"/>
                                </a:rPr>
                                <m:t>𝑝</m:t>
                              </m:r>
                            </m:e>
                            <m:sub>
                              <m:r>
                                <a:rPr lang="en-US" altLang="zh-CN" sz="1700" i="1" dirty="0">
                                  <a:latin typeface="Cambria Math" panose="02040503050406030204" pitchFamily="18" charset="0"/>
                                </a:rPr>
                                <m:t>𝐵</m:t>
                              </m:r>
                              <m:r>
                                <a:rPr lang="en-US" altLang="zh-CN" sz="1700" i="1" dirty="0">
                                  <a:latin typeface="Cambria Math" panose="02040503050406030204" pitchFamily="18" charset="0"/>
                                </a:rPr>
                                <m:t>,</m:t>
                              </m:r>
                              <m:r>
                                <a:rPr lang="en-US" altLang="zh-CN" sz="1700" i="1" dirty="0">
                                  <a:latin typeface="Cambria Math" panose="02040503050406030204" pitchFamily="18" charset="0"/>
                                </a:rPr>
                                <m:t>𝐶</m:t>
                              </m:r>
                            </m:sub>
                          </m:sSub>
                          <m:d>
                            <m:dPr>
                              <m:ctrlPr>
                                <a:rPr lang="en-US" altLang="zh-CN" sz="1700" i="1" dirty="0">
                                  <a:latin typeface="Cambria Math" panose="02040503050406030204" pitchFamily="18" charset="0"/>
                                </a:rPr>
                              </m:ctrlPr>
                            </m:dPr>
                            <m:e>
                              <m:sSub>
                                <m:sSubPr>
                                  <m:ctrlPr>
                                    <a:rPr lang="en-US" altLang="zh-CN" sz="1700" i="1" dirty="0">
                                      <a:latin typeface="Cambria Math" panose="02040503050406030204" pitchFamily="18" charset="0"/>
                                    </a:rPr>
                                  </m:ctrlPr>
                                </m:sSubPr>
                                <m:e>
                                  <m:r>
                                    <a:rPr lang="en-US" altLang="zh-CN" sz="1700" i="1" dirty="0">
                                      <a:latin typeface="Cambria Math" panose="02040503050406030204" pitchFamily="18" charset="0"/>
                                    </a:rPr>
                                    <m:t>𝜔</m:t>
                                  </m:r>
                                </m:e>
                                <m:sub>
                                  <m:r>
                                    <a:rPr lang="en-US" altLang="zh-CN" sz="1700" i="1" dirty="0">
                                      <a:latin typeface="Cambria Math" panose="02040503050406030204" pitchFamily="18" charset="0"/>
                                    </a:rPr>
                                    <m:t>𝑖</m:t>
                                  </m:r>
                                </m:sub>
                              </m:sSub>
                              <m:r>
                                <a:rPr lang="en-US" altLang="zh-CN" sz="1700" i="1" dirty="0">
                                  <a:latin typeface="Cambria Math" panose="02040503050406030204" pitchFamily="18" charset="0"/>
                                </a:rPr>
                                <m:t>|</m:t>
                              </m:r>
                              <m:sSub>
                                <m:sSubPr>
                                  <m:ctrlPr>
                                    <a:rPr lang="en-US" altLang="zh-CN" sz="1700" i="1" dirty="0">
                                      <a:latin typeface="Cambria Math" panose="02040503050406030204" pitchFamily="18" charset="0"/>
                                    </a:rPr>
                                  </m:ctrlPr>
                                </m:sSubPr>
                                <m:e>
                                  <m:acc>
                                    <m:accPr>
                                      <m:chr m:val="̅"/>
                                      <m:ctrlPr>
                                        <a:rPr lang="en-US" altLang="zh-CN" sz="1700" i="1" dirty="0">
                                          <a:latin typeface="Cambria Math" panose="02040503050406030204" pitchFamily="18" charset="0"/>
                                        </a:rPr>
                                      </m:ctrlPr>
                                    </m:accPr>
                                    <m:e>
                                      <m:r>
                                        <a:rPr lang="en-US" altLang="zh-CN" sz="1700" i="1" dirty="0">
                                          <a:latin typeface="Cambria Math" panose="02040503050406030204" pitchFamily="18" charset="0"/>
                                        </a:rPr>
                                        <m:t>𝑝</m:t>
                                      </m:r>
                                    </m:e>
                                  </m:acc>
                                </m:e>
                                <m:sub>
                                  <m:r>
                                    <a:rPr lang="en-US" altLang="zh-CN" sz="1700" i="1" dirty="0">
                                      <a:latin typeface="Cambria Math" panose="02040503050406030204" pitchFamily="18" charset="0"/>
                                    </a:rPr>
                                    <m:t>𝑖</m:t>
                                  </m:r>
                                  <m:r>
                                    <a:rPr lang="en-US" altLang="zh-CN" sz="1700" i="1" dirty="0">
                                      <a:latin typeface="Cambria Math" panose="02040503050406030204" pitchFamily="18" charset="0"/>
                                    </a:rPr>
                                    <m:t>−1</m:t>
                                  </m:r>
                                </m:sub>
                              </m:sSub>
                            </m:e>
                          </m:d>
                        </m:den>
                      </m:f>
                      <m:r>
                        <a:rPr lang="en-US" altLang="zh-CN" sz="1700" b="1" i="1" smtClean="0">
                          <a:solidFill>
                            <a:schemeClr val="accent6">
                              <a:lumMod val="50000"/>
                            </a:schemeClr>
                          </a:solidFill>
                          <a:latin typeface="Cambria Math" panose="02040503050406030204" pitchFamily="18" charset="0"/>
                        </a:rPr>
                        <m:t>=</m:t>
                      </m:r>
                      <m:sSub>
                        <m:sSubPr>
                          <m:ctrlPr>
                            <a:rPr lang="en-US" altLang="zh-CN" sz="1700" i="1">
                              <a:solidFill>
                                <a:schemeClr val="accent6">
                                  <a:lumMod val="50000"/>
                                </a:schemeClr>
                              </a:solidFill>
                              <a:latin typeface="Cambria Math" panose="02040503050406030204" pitchFamily="18" charset="0"/>
                            </a:rPr>
                          </m:ctrlPr>
                        </m:sSubPr>
                        <m:e>
                          <m:r>
                            <a:rPr lang="en-US" altLang="zh-CN" sz="1700" i="1">
                              <a:solidFill>
                                <a:schemeClr val="accent6">
                                  <a:lumMod val="50000"/>
                                </a:schemeClr>
                              </a:solidFill>
                              <a:latin typeface="Cambria Math" panose="02040503050406030204" pitchFamily="18" charset="0"/>
                            </a:rPr>
                            <m:t>𝛽</m:t>
                          </m:r>
                        </m:e>
                        <m:sub>
                          <m:r>
                            <a:rPr lang="en-US" altLang="zh-CN" sz="1700" i="1">
                              <a:solidFill>
                                <a:schemeClr val="accent6">
                                  <a:lumMod val="50000"/>
                                </a:schemeClr>
                              </a:solidFill>
                              <a:latin typeface="Cambria Math" panose="02040503050406030204" pitchFamily="18" charset="0"/>
                            </a:rPr>
                            <m:t>𝑖</m:t>
                          </m:r>
                          <m:r>
                            <a:rPr lang="en-US" altLang="zh-CN" sz="1700" i="1">
                              <a:solidFill>
                                <a:schemeClr val="accent6">
                                  <a:lumMod val="50000"/>
                                </a:schemeClr>
                              </a:solidFill>
                              <a:latin typeface="Cambria Math" panose="02040503050406030204" pitchFamily="18" charset="0"/>
                            </a:rPr>
                            <m:t>−1</m:t>
                          </m:r>
                        </m:sub>
                      </m:sSub>
                      <m:f>
                        <m:fPr>
                          <m:ctrlPr>
                            <a:rPr lang="en-US" altLang="zh-CN" sz="1600" i="1">
                              <a:solidFill>
                                <a:schemeClr val="accent6">
                                  <a:lumMod val="50000"/>
                                </a:schemeClr>
                              </a:solidFill>
                              <a:latin typeface="Cambria Math" panose="02040503050406030204" pitchFamily="18" charset="0"/>
                            </a:rPr>
                          </m:ctrlPr>
                        </m:fPr>
                        <m:num>
                          <m:sSub>
                            <m:sSubPr>
                              <m:ctrlPr>
                                <a:rPr lang="en-US" altLang="zh-CN" sz="1600" i="1">
                                  <a:solidFill>
                                    <a:schemeClr val="accent6">
                                      <a:lumMod val="50000"/>
                                    </a:schemeClr>
                                  </a:solidFill>
                                  <a:latin typeface="Cambria Math" panose="02040503050406030204" pitchFamily="18" charset="0"/>
                                </a:rPr>
                              </m:ctrlPr>
                            </m:sSubPr>
                            <m:e>
                              <m:r>
                                <a:rPr lang="en-US" altLang="zh-CN" sz="1600" i="1">
                                  <a:solidFill>
                                    <a:schemeClr val="accent6">
                                      <a:lumMod val="50000"/>
                                    </a:schemeClr>
                                  </a:solidFill>
                                  <a:latin typeface="Cambria Math" panose="02040503050406030204" pitchFamily="18" charset="0"/>
                                </a:rPr>
                                <m:t>𝐹</m:t>
                              </m:r>
                            </m:e>
                            <m:sub>
                              <m:r>
                                <a:rPr lang="en-US" altLang="zh-CN" sz="1600" i="1">
                                  <a:solidFill>
                                    <a:schemeClr val="accent6">
                                      <a:lumMod val="50000"/>
                                    </a:schemeClr>
                                  </a:solidFill>
                                  <a:latin typeface="Cambria Math" panose="02040503050406030204" pitchFamily="18" charset="0"/>
                                </a:rPr>
                                <m:t>𝑖</m:t>
                              </m:r>
                            </m:sub>
                          </m:sSub>
                          <m:d>
                            <m:dPr>
                              <m:ctrlPr>
                                <a:rPr lang="en-US" altLang="zh-CN" sz="1600" i="1">
                                  <a:solidFill>
                                    <a:schemeClr val="accent6">
                                      <a:lumMod val="50000"/>
                                    </a:schemeClr>
                                  </a:solidFill>
                                  <a:latin typeface="Cambria Math" panose="02040503050406030204" pitchFamily="18" charset="0"/>
                                </a:rPr>
                              </m:ctrlPr>
                            </m:dPr>
                            <m:e>
                              <m:sSub>
                                <m:sSubPr>
                                  <m:ctrlPr>
                                    <a:rPr lang="en-US" altLang="zh-CN" sz="1600" i="1">
                                      <a:solidFill>
                                        <a:schemeClr val="accent6">
                                          <a:lumMod val="50000"/>
                                        </a:schemeClr>
                                      </a:solidFill>
                                      <a:latin typeface="Cambria Math" panose="02040503050406030204" pitchFamily="18" charset="0"/>
                                    </a:rPr>
                                  </m:ctrlPr>
                                </m:sSubPr>
                                <m:e>
                                  <m:r>
                                    <a:rPr lang="en-US" altLang="zh-CN" sz="1600" i="1">
                                      <a:solidFill>
                                        <a:schemeClr val="accent6">
                                          <a:lumMod val="50000"/>
                                        </a:schemeClr>
                                      </a:solidFill>
                                      <a:latin typeface="Cambria Math" panose="02040503050406030204" pitchFamily="18" charset="0"/>
                                    </a:rPr>
                                    <m:t>𝜔</m:t>
                                  </m:r>
                                </m:e>
                                <m:sub>
                                  <m:r>
                                    <a:rPr lang="en-US" altLang="zh-CN" sz="1600" i="1">
                                      <a:solidFill>
                                        <a:schemeClr val="accent6">
                                          <a:lumMod val="50000"/>
                                        </a:schemeClr>
                                      </a:solidFill>
                                      <a:latin typeface="Cambria Math" panose="02040503050406030204" pitchFamily="18" charset="0"/>
                                    </a:rPr>
                                    <m:t>𝑖</m:t>
                                  </m:r>
                                </m:sub>
                              </m:sSub>
                              <m:r>
                                <a:rPr lang="en-US" altLang="zh-CN" sz="1600" i="1">
                                  <a:solidFill>
                                    <a:schemeClr val="accent6">
                                      <a:lumMod val="50000"/>
                                    </a:schemeClr>
                                  </a:solidFill>
                                  <a:latin typeface="Cambria Math" panose="02040503050406030204" pitchFamily="18" charset="0"/>
                                </a:rPr>
                                <m:t>;</m:t>
                              </m:r>
                              <m:sSub>
                                <m:sSubPr>
                                  <m:ctrlPr>
                                    <a:rPr lang="en-US" altLang="zh-CN" sz="1600" i="1">
                                      <a:solidFill>
                                        <a:schemeClr val="accent6">
                                          <a:lumMod val="50000"/>
                                        </a:schemeClr>
                                      </a:solidFill>
                                      <a:latin typeface="Cambria Math" panose="02040503050406030204" pitchFamily="18" charset="0"/>
                                    </a:rPr>
                                  </m:ctrlPr>
                                </m:sSubPr>
                                <m:e>
                                  <m:acc>
                                    <m:accPr>
                                      <m:chr m:val="̅"/>
                                      <m:ctrlPr>
                                        <a:rPr lang="en-US" altLang="zh-CN" sz="1600" i="1">
                                          <a:solidFill>
                                            <a:schemeClr val="accent6">
                                              <a:lumMod val="50000"/>
                                            </a:schemeClr>
                                          </a:solidFill>
                                          <a:latin typeface="Cambria Math" panose="02040503050406030204" pitchFamily="18" charset="0"/>
                                        </a:rPr>
                                      </m:ctrlPr>
                                    </m:accPr>
                                    <m:e>
                                      <m:r>
                                        <a:rPr lang="en-US" altLang="zh-CN" sz="1600" i="1">
                                          <a:solidFill>
                                            <a:schemeClr val="accent6">
                                              <a:lumMod val="50000"/>
                                            </a:schemeClr>
                                          </a:solidFill>
                                          <a:latin typeface="Cambria Math" panose="02040503050406030204" pitchFamily="18" charset="0"/>
                                        </a:rPr>
                                        <m:t>𝑝</m:t>
                                      </m:r>
                                    </m:e>
                                  </m:acc>
                                </m:e>
                                <m:sub>
                                  <m:r>
                                    <a:rPr lang="en-US" altLang="zh-CN" sz="1600" i="1">
                                      <a:solidFill>
                                        <a:schemeClr val="accent6">
                                          <a:lumMod val="50000"/>
                                        </a:schemeClr>
                                      </a:solidFill>
                                      <a:latin typeface="Cambria Math" panose="02040503050406030204" pitchFamily="18" charset="0"/>
                                    </a:rPr>
                                    <m:t>𝑖</m:t>
                                  </m:r>
                                  <m:r>
                                    <a:rPr lang="en-US" altLang="zh-CN" sz="1600" i="1">
                                      <a:solidFill>
                                        <a:schemeClr val="accent6">
                                          <a:lumMod val="50000"/>
                                        </a:schemeClr>
                                      </a:solidFill>
                                      <a:latin typeface="Cambria Math" panose="02040503050406030204" pitchFamily="18" charset="0"/>
                                    </a:rPr>
                                    <m:t>−1</m:t>
                                  </m:r>
                                </m:sub>
                              </m:sSub>
                            </m:e>
                          </m:d>
                        </m:num>
                        <m:den>
                          <m:sSub>
                            <m:sSubPr>
                              <m:ctrlPr>
                                <a:rPr lang="en-US" altLang="zh-CN" sz="1700" i="1" dirty="0">
                                  <a:solidFill>
                                    <a:schemeClr val="accent6">
                                      <a:lumMod val="50000"/>
                                    </a:schemeClr>
                                  </a:solidFill>
                                  <a:latin typeface="Cambria Math" panose="02040503050406030204" pitchFamily="18" charset="0"/>
                                </a:rPr>
                              </m:ctrlPr>
                            </m:sSubPr>
                            <m:e>
                              <m:r>
                                <a:rPr lang="en-US" altLang="zh-CN" sz="1700" i="1" dirty="0">
                                  <a:solidFill>
                                    <a:schemeClr val="accent6">
                                      <a:lumMod val="50000"/>
                                    </a:schemeClr>
                                  </a:solidFill>
                                  <a:latin typeface="Cambria Math" panose="02040503050406030204" pitchFamily="18" charset="0"/>
                                </a:rPr>
                                <m:t>𝑝</m:t>
                              </m:r>
                            </m:e>
                            <m:sub>
                              <m:r>
                                <a:rPr lang="en-US" altLang="zh-CN" sz="1700" i="1" dirty="0">
                                  <a:solidFill>
                                    <a:schemeClr val="accent6">
                                      <a:lumMod val="50000"/>
                                    </a:schemeClr>
                                  </a:solidFill>
                                  <a:latin typeface="Cambria Math" panose="02040503050406030204" pitchFamily="18" charset="0"/>
                                </a:rPr>
                                <m:t>𝐵</m:t>
                              </m:r>
                              <m:r>
                                <a:rPr lang="en-US" altLang="zh-CN" sz="1700" i="1" dirty="0">
                                  <a:solidFill>
                                    <a:schemeClr val="accent6">
                                      <a:lumMod val="50000"/>
                                    </a:schemeClr>
                                  </a:solidFill>
                                  <a:latin typeface="Cambria Math" panose="02040503050406030204" pitchFamily="18" charset="0"/>
                                </a:rPr>
                                <m:t>,</m:t>
                              </m:r>
                              <m:r>
                                <a:rPr lang="en-US" altLang="zh-CN" sz="1700" i="1" dirty="0">
                                  <a:solidFill>
                                    <a:schemeClr val="accent6">
                                      <a:lumMod val="50000"/>
                                    </a:schemeClr>
                                  </a:solidFill>
                                  <a:latin typeface="Cambria Math" panose="02040503050406030204" pitchFamily="18" charset="0"/>
                                </a:rPr>
                                <m:t>𝐶</m:t>
                              </m:r>
                            </m:sub>
                          </m:sSub>
                          <m:d>
                            <m:dPr>
                              <m:ctrlPr>
                                <a:rPr lang="en-US" altLang="zh-CN" sz="1700" i="1" dirty="0">
                                  <a:solidFill>
                                    <a:schemeClr val="accent6">
                                      <a:lumMod val="50000"/>
                                    </a:schemeClr>
                                  </a:solidFill>
                                  <a:latin typeface="Cambria Math" panose="02040503050406030204" pitchFamily="18" charset="0"/>
                                </a:rPr>
                              </m:ctrlPr>
                            </m:dPr>
                            <m:e>
                              <m:sSub>
                                <m:sSubPr>
                                  <m:ctrlPr>
                                    <a:rPr lang="en-US" altLang="zh-CN" sz="1700" i="1" dirty="0">
                                      <a:solidFill>
                                        <a:schemeClr val="accent6">
                                          <a:lumMod val="50000"/>
                                        </a:schemeClr>
                                      </a:solidFill>
                                      <a:latin typeface="Cambria Math" panose="02040503050406030204" pitchFamily="18" charset="0"/>
                                    </a:rPr>
                                  </m:ctrlPr>
                                </m:sSubPr>
                                <m:e>
                                  <m:r>
                                    <a:rPr lang="en-US" altLang="zh-CN" sz="1700" i="1" dirty="0">
                                      <a:solidFill>
                                        <a:schemeClr val="accent6">
                                          <a:lumMod val="50000"/>
                                        </a:schemeClr>
                                      </a:solidFill>
                                      <a:latin typeface="Cambria Math" panose="02040503050406030204" pitchFamily="18" charset="0"/>
                                    </a:rPr>
                                    <m:t>𝜔</m:t>
                                  </m:r>
                                </m:e>
                                <m:sub>
                                  <m:r>
                                    <a:rPr lang="en-US" altLang="zh-CN" sz="1700" i="1" dirty="0">
                                      <a:solidFill>
                                        <a:schemeClr val="accent6">
                                          <a:lumMod val="50000"/>
                                        </a:schemeClr>
                                      </a:solidFill>
                                      <a:latin typeface="Cambria Math" panose="02040503050406030204" pitchFamily="18" charset="0"/>
                                    </a:rPr>
                                    <m:t>𝑖</m:t>
                                  </m:r>
                                </m:sub>
                              </m:sSub>
                              <m:r>
                                <a:rPr lang="en-US" altLang="zh-CN" sz="1700" i="1" dirty="0">
                                  <a:solidFill>
                                    <a:schemeClr val="accent6">
                                      <a:lumMod val="50000"/>
                                    </a:schemeClr>
                                  </a:solidFill>
                                  <a:latin typeface="Cambria Math" panose="02040503050406030204" pitchFamily="18" charset="0"/>
                                </a:rPr>
                                <m:t>|</m:t>
                              </m:r>
                              <m:sSub>
                                <m:sSubPr>
                                  <m:ctrlPr>
                                    <a:rPr lang="en-US" altLang="zh-CN" sz="1700" i="1" dirty="0">
                                      <a:solidFill>
                                        <a:schemeClr val="accent6">
                                          <a:lumMod val="50000"/>
                                        </a:schemeClr>
                                      </a:solidFill>
                                      <a:latin typeface="Cambria Math" panose="02040503050406030204" pitchFamily="18" charset="0"/>
                                    </a:rPr>
                                  </m:ctrlPr>
                                </m:sSubPr>
                                <m:e>
                                  <m:acc>
                                    <m:accPr>
                                      <m:chr m:val="̅"/>
                                      <m:ctrlPr>
                                        <a:rPr lang="en-US" altLang="zh-CN" sz="1700" i="1" dirty="0">
                                          <a:solidFill>
                                            <a:schemeClr val="accent6">
                                              <a:lumMod val="50000"/>
                                            </a:schemeClr>
                                          </a:solidFill>
                                          <a:latin typeface="Cambria Math" panose="02040503050406030204" pitchFamily="18" charset="0"/>
                                        </a:rPr>
                                      </m:ctrlPr>
                                    </m:accPr>
                                    <m:e>
                                      <m:r>
                                        <a:rPr lang="en-US" altLang="zh-CN" sz="1700" i="1" dirty="0">
                                          <a:solidFill>
                                            <a:schemeClr val="accent6">
                                              <a:lumMod val="50000"/>
                                            </a:schemeClr>
                                          </a:solidFill>
                                          <a:latin typeface="Cambria Math" panose="02040503050406030204" pitchFamily="18" charset="0"/>
                                        </a:rPr>
                                        <m:t>𝑝</m:t>
                                      </m:r>
                                    </m:e>
                                  </m:acc>
                                </m:e>
                                <m:sub>
                                  <m:r>
                                    <a:rPr lang="en-US" altLang="zh-CN" sz="1700" i="1" dirty="0">
                                      <a:solidFill>
                                        <a:schemeClr val="accent6">
                                          <a:lumMod val="50000"/>
                                        </a:schemeClr>
                                      </a:solidFill>
                                      <a:latin typeface="Cambria Math" panose="02040503050406030204" pitchFamily="18" charset="0"/>
                                    </a:rPr>
                                    <m:t>𝑖</m:t>
                                  </m:r>
                                  <m:r>
                                    <a:rPr lang="en-US" altLang="zh-CN" sz="1700" i="1" dirty="0">
                                      <a:solidFill>
                                        <a:schemeClr val="accent6">
                                          <a:lumMod val="50000"/>
                                        </a:schemeClr>
                                      </a:solidFill>
                                      <a:latin typeface="Cambria Math" panose="02040503050406030204" pitchFamily="18" charset="0"/>
                                    </a:rPr>
                                    <m:t>−1</m:t>
                                  </m:r>
                                </m:sub>
                              </m:sSub>
                            </m:e>
                          </m:d>
                        </m:den>
                      </m:f>
                    </m:oMath>
                  </m:oMathPara>
                </a14:m>
                <a:endParaRPr lang="en-US" altLang="zh-CN" sz="1700" b="0" dirty="0">
                  <a:latin typeface="+mn-ea"/>
                </a:endParaRPr>
              </a:p>
              <a:p>
                <a:pPr>
                  <a:spcBef>
                    <a:spcPts val="800"/>
                  </a:spcBef>
                </a:pPr>
                <a:r>
                  <a:rPr lang="en-US" altLang="zh-CN" dirty="0">
                    <a:latin typeface="+mn-ea"/>
                  </a:rPr>
                  <a:t>         </a:t>
                </a:r>
                <a:r>
                  <a:rPr lang="zh-CN" altLang="en-US" dirty="0">
                    <a:latin typeface="+mn-ea"/>
                  </a:rPr>
                  <a:t>而</a:t>
                </a:r>
                <a:r>
                  <a:rPr lang="zh-CN" altLang="en-US" dirty="0">
                    <a:solidFill>
                      <a:schemeClr val="accent6">
                        <a:lumMod val="50000"/>
                      </a:schemeClr>
                    </a:solidFill>
                    <a:latin typeface="+mn-ea"/>
                  </a:rPr>
                  <a:t>这个式子</a:t>
                </a:r>
                <a:r>
                  <a:rPr lang="zh-CN" altLang="en-US" dirty="0">
                    <a:latin typeface="+mn-ea"/>
                  </a:rPr>
                  <a:t>就是我们最开始实现的路径追踪渲染器，</a:t>
                </a:r>
                <a:r>
                  <a:rPr lang="zh-CN" altLang="en-US" dirty="0"/>
                  <a:t>我们一直计算的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𝛽</m:t>
                        </m:r>
                      </m:e>
                      <m:sub>
                        <m:r>
                          <a:rPr lang="en-US" altLang="zh-CN" i="1">
                            <a:latin typeface="Cambria Math" panose="02040503050406030204" pitchFamily="18" charset="0"/>
                          </a:rPr>
                          <m:t>𝑖</m:t>
                        </m:r>
                        <m:r>
                          <a:rPr lang="en-US" altLang="zh-CN" i="1">
                            <a:latin typeface="Cambria Math" panose="02040503050406030204" pitchFamily="18" charset="0"/>
                          </a:rPr>
                          <m:t>−1</m:t>
                        </m:r>
                      </m:sub>
                    </m:sSub>
                  </m:oMath>
                </a14:m>
                <a:r>
                  <a:rPr lang="zh-CN" altLang="en-US" dirty="0">
                    <a:latin typeface="+mn-ea"/>
                  </a:rPr>
                  <a:t>就是 贡献前缀 </a:t>
                </a:r>
                <a:r>
                  <a:rPr lang="en-US" altLang="zh-CN" dirty="0">
                    <a:latin typeface="+mn-ea"/>
                  </a:rPr>
                  <a:t>÷ </a:t>
                </a:r>
                <a:r>
                  <a:rPr lang="zh-CN" altLang="en-US" dirty="0">
                    <a:latin typeface="+mn-ea"/>
                  </a:rPr>
                  <a:t>路径前缀密度 。</a:t>
                </a:r>
                <a:endParaRPr lang="en-US" altLang="zh-CN" dirty="0">
                  <a:latin typeface="+mn-ea"/>
                </a:endParaRPr>
              </a:p>
            </p:txBody>
          </p:sp>
        </mc:Choice>
        <mc:Fallback xmlns="">
          <p:sp>
            <p:nvSpPr>
              <p:cNvPr id="8" name="文本框 7">
                <a:extLst>
                  <a:ext uri="{FF2B5EF4-FFF2-40B4-BE49-F238E27FC236}">
                    <a16:creationId xmlns:a16="http://schemas.microsoft.com/office/drawing/2014/main" id="{5F51FB9B-AA9B-6061-B0AD-83BC6AE53FBD}"/>
                  </a:ext>
                </a:extLst>
              </p:cNvPr>
              <p:cNvSpPr txBox="1">
                <a:spLocks noRot="1" noChangeAspect="1" noMove="1" noResize="1" noEditPoints="1" noAdjustHandles="1" noChangeArrowheads="1" noChangeShapeType="1" noTextEdit="1"/>
              </p:cNvSpPr>
              <p:nvPr/>
            </p:nvSpPr>
            <p:spPr>
              <a:xfrm>
                <a:off x="188889" y="1458727"/>
                <a:ext cx="11814222" cy="4408258"/>
              </a:xfrm>
              <a:prstGeom prst="rect">
                <a:avLst/>
              </a:prstGeom>
              <a:blipFill>
                <a:blip r:embed="rId2"/>
                <a:stretch>
                  <a:fillRect l="-464" t="-12448" r="-361" b="-1245"/>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3BC5D842-526A-BAD7-86E8-3835738CB367}"/>
              </a:ext>
            </a:extLst>
          </p:cNvPr>
          <p:cNvPicPr>
            <a:picLocks noChangeAspect="1"/>
          </p:cNvPicPr>
          <p:nvPr/>
        </p:nvPicPr>
        <p:blipFill>
          <a:blip r:embed="rId3"/>
          <a:stretch>
            <a:fillRect/>
          </a:stretch>
        </p:blipFill>
        <p:spPr>
          <a:xfrm>
            <a:off x="5106473" y="116394"/>
            <a:ext cx="6479815" cy="120721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623151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83C72-E0FA-9A06-D979-50DD0C60D7F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94390E6-2327-C9ED-91F7-58E1AE0B33B3}"/>
              </a:ext>
            </a:extLst>
          </p:cNvPr>
          <p:cNvSpPr>
            <a:spLocks noGrp="1"/>
          </p:cNvSpPr>
          <p:nvPr>
            <p:ph type="title" idx="1"/>
          </p:nvPr>
        </p:nvSpPr>
        <p:spPr/>
        <p:txBody>
          <a:bodyPr/>
          <a:lstStyle/>
          <a:p>
            <a:r>
              <a:rPr lang="zh-CN" altLang="en-US" dirty="0"/>
              <a:t>路径追踪</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DF812E6-8196-8B33-F4A8-335AAA460B4D}"/>
                  </a:ext>
                </a:extLst>
              </p:cNvPr>
              <p:cNvSpPr txBox="1"/>
              <p:nvPr/>
            </p:nvSpPr>
            <p:spPr>
              <a:xfrm>
                <a:off x="345470" y="1339402"/>
                <a:ext cx="11501059" cy="5304529"/>
              </a:xfrm>
              <a:prstGeom prst="rect">
                <a:avLst/>
              </a:prstGeom>
              <a:noFill/>
            </p:spPr>
            <p:txBody>
              <a:bodyPr wrap="square">
                <a:spAutoFit/>
              </a:bodyPr>
              <a:lstStyle/>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dirty="0" smtClean="0">
                          <a:latin typeface="Cambria Math" panose="02040503050406030204" pitchFamily="18" charset="0"/>
                        </a:rPr>
                        <m:t>,  </m:t>
                      </m:r>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i="1">
                          <a:latin typeface="Cambria Math" panose="02040503050406030204" pitchFamily="18" charset="0"/>
                        </a:rPr>
                        <m:t>=</m:t>
                      </m:r>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m:oMathPara>
                </a14:m>
                <a:endParaRPr lang="en-US" altLang="zh-CN" dirty="0">
                  <a:latin typeface="+mn-ea"/>
                </a:endParaRPr>
              </a:p>
              <a:p>
                <a:pPr/>
                <a14:m>
                  <m:oMathPara xmlns:m="http://schemas.openxmlformats.org/officeDocument/2006/math">
                    <m:oMath>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𝛽</m:t>
                          </m:r>
                        </m:e>
                        <m:sub>
                          <m:r>
                            <a:rPr lang="en-US" altLang="zh-CN" b="0" i="1" smtClean="0">
                              <a:solidFill>
                                <a:schemeClr val="tx1"/>
                              </a:solidFill>
                              <a:latin typeface="Cambria Math" panose="02040503050406030204" pitchFamily="18" charset="0"/>
                            </a:rPr>
                            <m:t>𝑖</m:t>
                          </m:r>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f>
                        <m:fPr>
                          <m:ctrlPr>
                            <a:rPr lang="en-US" altLang="zh-CN" i="1">
                              <a:solidFill>
                                <a:schemeClr val="accent2">
                                  <a:lumMod val="75000"/>
                                </a:schemeClr>
                              </a:solidFill>
                              <a:latin typeface="Cambria Math" panose="02040503050406030204" pitchFamily="18" charset="0"/>
                            </a:rPr>
                          </m:ctrlPr>
                        </m:fPr>
                        <m:num>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e>
                          </m:d>
                        </m:num>
                        <m:den>
                          <m:sSubSup>
                            <m:sSubSupPr>
                              <m:ctrlPr>
                                <a:rPr lang="en-US" altLang="zh-CN" i="1" dirty="0">
                                  <a:solidFill>
                                    <a:schemeClr val="accent2">
                                      <a:lumMod val="75000"/>
                                    </a:schemeClr>
                                  </a:solidFill>
                                  <a:latin typeface="Cambria Math" panose="02040503050406030204" pitchFamily="18" charset="0"/>
                                </a:rPr>
                              </m:ctrlPr>
                            </m:sSubSupPr>
                            <m:e>
                              <m:r>
                                <a:rPr lang="en-US" altLang="zh-CN" i="1" dirty="0">
                                  <a:solidFill>
                                    <a:schemeClr val="accent2">
                                      <a:lumMod val="75000"/>
                                    </a:schemeClr>
                                  </a:solidFill>
                                  <a:latin typeface="Cambria Math" panose="02040503050406030204" pitchFamily="18" charset="0"/>
                                </a:rPr>
                                <m:t>𝑞</m:t>
                              </m:r>
                            </m:e>
                            <m:sub>
                              <m:r>
                                <a:rPr lang="en-US" altLang="zh-CN" i="1" dirty="0">
                                  <a:solidFill>
                                    <a:schemeClr val="accent2">
                                      <a:lumMod val="75000"/>
                                    </a:schemeClr>
                                  </a:solidFill>
                                  <a:latin typeface="Cambria Math" panose="02040503050406030204" pitchFamily="18" charset="0"/>
                                </a:rPr>
                                <m:t>𝑖</m:t>
                              </m:r>
                              <m:r>
                                <a:rPr lang="en-US" altLang="zh-CN" i="1" dirty="0">
                                  <a:solidFill>
                                    <a:schemeClr val="accent2">
                                      <a:lumMod val="75000"/>
                                    </a:schemeClr>
                                  </a:solidFill>
                                  <a:latin typeface="Cambria Math" panose="02040503050406030204" pitchFamily="18" charset="0"/>
                                </a:rPr>
                                <m:t>−1</m:t>
                              </m:r>
                            </m:sub>
                            <m:sup>
                              <m:r>
                                <a:rPr lang="en-US" altLang="zh-CN" i="1" dirty="0">
                                  <a:solidFill>
                                    <a:schemeClr val="accent2">
                                      <a:lumMod val="75000"/>
                                    </a:schemeClr>
                                  </a:solidFill>
                                  <a:latin typeface="Cambria Math" panose="02040503050406030204" pitchFamily="18" charset="0"/>
                                </a:rPr>
                                <m:t>𝑝𝑟𝑒</m:t>
                              </m:r>
                            </m:sup>
                          </m:sSubSup>
                          <m:d>
                            <m:dPr>
                              <m:ctrlPr>
                                <a:rPr lang="en-US" altLang="zh-CN" i="1" dirty="0">
                                  <a:solidFill>
                                    <a:schemeClr val="accent2">
                                      <a:lumMod val="75000"/>
                                    </a:schemeClr>
                                  </a:solidFill>
                                  <a:latin typeface="Cambria Math" panose="02040503050406030204" pitchFamily="18" charset="0"/>
                                </a:rPr>
                              </m:ctrlPr>
                            </m:dPr>
                            <m:e>
                              <m:sSub>
                                <m:sSubPr>
                                  <m:ctrlPr>
                                    <a:rPr lang="en-US" altLang="zh-CN" i="1" dirty="0">
                                      <a:solidFill>
                                        <a:schemeClr val="accent2">
                                          <a:lumMod val="75000"/>
                                        </a:schemeClr>
                                      </a:solidFill>
                                      <a:latin typeface="Cambria Math" panose="02040503050406030204" pitchFamily="18" charset="0"/>
                                    </a:rPr>
                                  </m:ctrlPr>
                                </m:sSubPr>
                                <m:e>
                                  <m:acc>
                                    <m:accPr>
                                      <m:chr m:val="̅"/>
                                      <m:ctrlPr>
                                        <a:rPr lang="en-US" altLang="zh-CN" i="1" dirty="0">
                                          <a:solidFill>
                                            <a:schemeClr val="accent2">
                                              <a:lumMod val="75000"/>
                                            </a:schemeClr>
                                          </a:solidFill>
                                          <a:latin typeface="Cambria Math" panose="02040503050406030204" pitchFamily="18" charset="0"/>
                                        </a:rPr>
                                      </m:ctrlPr>
                                    </m:accPr>
                                    <m:e>
                                      <m:r>
                                        <a:rPr lang="en-US" altLang="zh-CN" i="1" dirty="0">
                                          <a:solidFill>
                                            <a:schemeClr val="accent2">
                                              <a:lumMod val="75000"/>
                                            </a:schemeClr>
                                          </a:solidFill>
                                          <a:latin typeface="Cambria Math" panose="02040503050406030204" pitchFamily="18" charset="0"/>
                                        </a:rPr>
                                        <m:t>𝑝</m:t>
                                      </m:r>
                                    </m:e>
                                  </m:acc>
                                </m:e>
                                <m:sub>
                                  <m:r>
                                    <a:rPr lang="en-US" altLang="zh-CN" i="1" dirty="0">
                                      <a:solidFill>
                                        <a:schemeClr val="accent2">
                                          <a:lumMod val="75000"/>
                                        </a:schemeClr>
                                      </a:solidFill>
                                      <a:latin typeface="Cambria Math" panose="02040503050406030204" pitchFamily="18" charset="0"/>
                                    </a:rPr>
                                    <m:t>𝑖</m:t>
                                  </m:r>
                                  <m:r>
                                    <a:rPr lang="en-US" altLang="zh-CN" i="1" dirty="0">
                                      <a:solidFill>
                                        <a:schemeClr val="accent2">
                                          <a:lumMod val="75000"/>
                                        </a:schemeClr>
                                      </a:solidFill>
                                      <a:latin typeface="Cambria Math" panose="02040503050406030204" pitchFamily="18" charset="0"/>
                                    </a:rPr>
                                    <m:t>−1</m:t>
                                  </m:r>
                                </m:sub>
                              </m:sSub>
                            </m:e>
                          </m:d>
                        </m:den>
                      </m:f>
                      <m:r>
                        <a:rPr lang="en-US" altLang="zh-CN" b="0" i="1" smtClean="0">
                          <a:solidFill>
                            <a:schemeClr val="tx1"/>
                          </a:solidFill>
                          <a:latin typeface="Cambria Math" panose="02040503050406030204" pitchFamily="18" charset="0"/>
                        </a:rPr>
                        <m:t>,</m:t>
                      </m:r>
                      <m:r>
                        <a:rPr lang="en-US" altLang="zh-CN" b="0" i="1" smtClean="0">
                          <a:solidFill>
                            <a:schemeClr val="accent2">
                              <a:lumMod val="75000"/>
                            </a:schemeClr>
                          </a:solidFill>
                          <a:latin typeface="Cambria Math" panose="02040503050406030204" pitchFamily="18" charset="0"/>
                        </a:rPr>
                        <m:t>  </m:t>
                      </m:r>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𝐼</m:t>
                              </m:r>
                            </m:e>
                          </m:acc>
                        </m:e>
                        <m:sub>
                          <m:r>
                            <a:rPr lang="en-US" altLang="zh-CN" i="1" dirty="0">
                              <a:solidFill>
                                <a:schemeClr val="accent6">
                                  <a:lumMod val="50000"/>
                                </a:schemeClr>
                              </a:solidFill>
                              <a:latin typeface="Cambria Math" panose="02040503050406030204" pitchFamily="18" charset="0"/>
                            </a:rPr>
                            <m:t>𝑖</m:t>
                          </m:r>
                        </m:sub>
                      </m:sSub>
                      <m:r>
                        <a:rPr lang="en-US" altLang="zh-CN" i="1" dirty="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den>
                      </m:f>
                      <m:r>
                        <a:rPr lang="en-US" altLang="zh-CN" b="1" i="1" smtClean="0">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𝛽</m:t>
                          </m:r>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Sub>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e>
                          </m:d>
                        </m:num>
                        <m:den>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𝑝</m:t>
                              </m:r>
                            </m:e>
                            <m:sub>
                              <m:r>
                                <a:rPr lang="en-US" altLang="zh-CN" i="1" dirty="0">
                                  <a:solidFill>
                                    <a:schemeClr val="accent6">
                                      <a:lumMod val="50000"/>
                                    </a:schemeClr>
                                  </a:solidFill>
                                  <a:latin typeface="Cambria Math" panose="02040503050406030204" pitchFamily="18" charset="0"/>
                                </a:rPr>
                                <m:t>𝐵</m:t>
                              </m:r>
                              <m:r>
                                <a:rPr lang="en-US" altLang="zh-CN" i="1" dirty="0">
                                  <a:solidFill>
                                    <a:schemeClr val="accent6">
                                      <a:lumMod val="50000"/>
                                    </a:schemeClr>
                                  </a:solidFill>
                                  <a:latin typeface="Cambria Math" panose="02040503050406030204" pitchFamily="18" charset="0"/>
                                </a:rPr>
                                <m:t>,</m:t>
                              </m:r>
                              <m:r>
                                <a:rPr lang="en-US" altLang="zh-CN" i="1" dirty="0">
                                  <a:solidFill>
                                    <a:schemeClr val="accent6">
                                      <a:lumMod val="50000"/>
                                    </a:schemeClr>
                                  </a:solidFill>
                                  <a:latin typeface="Cambria Math" panose="02040503050406030204" pitchFamily="18" charset="0"/>
                                </a:rPr>
                                <m:t>𝐶</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𝜔</m:t>
                                  </m:r>
                                </m:e>
                                <m:sub>
                                  <m:r>
                                    <a:rPr lang="en-US" altLang="zh-CN" i="1" dirty="0">
                                      <a:solidFill>
                                        <a:schemeClr val="accent6">
                                          <a:lumMod val="50000"/>
                                        </a:schemeClr>
                                      </a:solidFill>
                                      <a:latin typeface="Cambria Math" panose="02040503050406030204" pitchFamily="18" charset="0"/>
                                    </a:rPr>
                                    <m:t>𝑖</m:t>
                                  </m:r>
                                </m:sub>
                              </m:sSub>
                              <m:r>
                                <a:rPr lang="en-US" altLang="zh-CN" i="1" dirty="0">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r>
                                    <a:rPr lang="en-US" altLang="zh-CN" i="1" dirty="0">
                                      <a:solidFill>
                                        <a:schemeClr val="accent6">
                                          <a:lumMod val="50000"/>
                                        </a:schemeClr>
                                      </a:solidFill>
                                      <a:latin typeface="Cambria Math" panose="02040503050406030204" pitchFamily="18" charset="0"/>
                                    </a:rPr>
                                    <m:t>−1</m:t>
                                  </m:r>
                                </m:sub>
                              </m:sSub>
                            </m:e>
                          </m:d>
                        </m:den>
                      </m:f>
                    </m:oMath>
                  </m:oMathPara>
                </a14:m>
                <a:endParaRPr lang="en-US" altLang="zh-CN" b="0" dirty="0">
                  <a:latin typeface="+mn-ea"/>
                </a:endParaRPr>
              </a:p>
              <a:p>
                <a:pPr>
                  <a:spcBef>
                    <a:spcPts val="800"/>
                  </a:spcBef>
                </a:pPr>
                <a:r>
                  <a:rPr lang="en-US" altLang="zh-CN" dirty="0">
                    <a:latin typeface="+mn-ea"/>
                  </a:rPr>
                  <a:t>         </a:t>
                </a:r>
                <a:r>
                  <a:rPr lang="zh-CN" altLang="en-US" dirty="0">
                    <a:latin typeface="+mn-ea"/>
                  </a:rPr>
                  <a:t>后来我们想到，为了使</a:t>
                </a:r>
                <a14:m>
                  <m:oMath xmlns:m="http://schemas.openxmlformats.org/officeDocument/2006/math">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oMath>
                </a14:m>
                <a:r>
                  <a:rPr lang="zh-CN" altLang="en-US" dirty="0">
                    <a:latin typeface="+mn-ea"/>
                  </a:rPr>
                  <a:t>为正，</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𝑒</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Sub>
                      </m:e>
                    </m:d>
                  </m:oMath>
                </a14:m>
                <a:r>
                  <a:rPr lang="zh-CN" altLang="en-US" dirty="0">
                    <a:latin typeface="+mn-ea"/>
                  </a:rPr>
                  <a:t>需要为正，也就是路径</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oMath>
                </a14:m>
                <a:r>
                  <a:rPr lang="zh-CN" altLang="en-US" dirty="0">
                    <a:latin typeface="+mn-ea"/>
                  </a:rPr>
                  <a:t>的最后一个顶点</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sub>
                    </m:sSub>
                  </m:oMath>
                </a14:m>
                <a:r>
                  <a:rPr lang="zh-CN" altLang="en-US" dirty="0">
                    <a:latin typeface="+mn-ea"/>
                  </a:rPr>
                  <a:t>必须在光源上，于是我们进行了向光源采样：</a:t>
                </a:r>
                <a:endParaRPr lang="en-US" altLang="zh-CN" dirty="0">
                  <a:latin typeface="+mn-ea"/>
                </a:endParaRPr>
              </a:p>
              <a:p>
                <a:pPr>
                  <a:spcBef>
                    <a:spcPts val="800"/>
                  </a:spcBef>
                </a:pPr>
                <a14:m>
                  <m:oMathPara xmlns:m="http://schemas.openxmlformats.org/officeDocument/2006/math">
                    <m:oMath>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Sup>
                            <m:sSubSupPr>
                              <m:ctrlPr>
                                <a:rPr lang="en-US" altLang="zh-CN" b="1" i="1" dirty="0" smtClean="0">
                                  <a:latin typeface="Cambria Math" panose="02040503050406030204" pitchFamily="18" charset="0"/>
                                </a:rPr>
                              </m:ctrlPr>
                            </m:sSubSupPr>
                            <m:e>
                              <m:r>
                                <a:rPr lang="en-US" altLang="zh-CN" b="1" i="1" dirty="0" smtClean="0">
                                  <a:latin typeface="Cambria Math" panose="02040503050406030204" pitchFamily="18" charset="0"/>
                                </a:rPr>
                                <m:t>𝒑</m:t>
                              </m:r>
                            </m:e>
                            <m:sub>
                              <m:r>
                                <a:rPr lang="en-US" altLang="zh-CN" b="1" i="1" dirty="0" smtClean="0">
                                  <a:latin typeface="Cambria Math" panose="02040503050406030204" pitchFamily="18" charset="0"/>
                                </a:rPr>
                                <m:t>𝒊</m:t>
                              </m:r>
                            </m:sub>
                            <m:sup>
                              <m:r>
                                <a:rPr lang="en-US" altLang="zh-CN" b="1" i="1" dirty="0" smtClean="0">
                                  <a:latin typeface="Cambria Math" panose="02040503050406030204" pitchFamily="18" charset="0"/>
                                </a:rPr>
                                <m:t>𝑳</m:t>
                              </m:r>
                            </m:sup>
                          </m:sSubSup>
                        </m:e>
                      </m:d>
                      <m:r>
                        <a:rPr lang="en-US" altLang="zh-CN" b="0" i="1" dirty="0" smtClean="0">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𝐼</m:t>
                              </m:r>
                            </m:e>
                          </m:acc>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f>
                        <m:fPr>
                          <m:ctrlPr>
                            <a:rPr lang="en-US" altLang="zh-CN" i="1" dirty="0">
                              <a:solidFill>
                                <a:schemeClr val="tx1"/>
                              </a:solidFill>
                              <a:latin typeface="Cambria Math" panose="02040503050406030204" pitchFamily="18" charset="0"/>
                            </a:rPr>
                          </m:ctrlPr>
                        </m:fPr>
                        <m:num>
                          <m:sSub>
                            <m:sSubPr>
                              <m:ctrlPr>
                                <a:rPr lang="en-US" altLang="zh-CN" dirty="0">
                                  <a:solidFill>
                                    <a:schemeClr val="tx1"/>
                                  </a:solidFill>
                                  <a:latin typeface="Cambria Math" panose="02040503050406030204" pitchFamily="18" charset="0"/>
                                </a:rPr>
                              </m:ctrlPr>
                            </m:sSubPr>
                            <m:e>
                              <m:r>
                                <m:rPr>
                                  <m:sty m:val="p"/>
                                </m:rPr>
                                <a:rPr lang="en-US" altLang="zh-CN" dirty="0">
                                  <a:solidFill>
                                    <a:schemeClr val="tx1"/>
                                  </a:solidFill>
                                  <a:latin typeface="Cambria Math" panose="02040503050406030204" pitchFamily="18" charset="0"/>
                                </a:rPr>
                                <m:t>Φ</m:t>
                              </m:r>
                            </m:e>
                            <m:sub>
                              <m:r>
                                <m:rPr>
                                  <m:sty m:val="p"/>
                                </m:rPr>
                                <a:rPr lang="en-US" altLang="zh-CN" dirty="0">
                                  <a:solidFill>
                                    <a:schemeClr val="tx1"/>
                                  </a:solidFill>
                                  <a:latin typeface="Cambria Math" panose="02040503050406030204" pitchFamily="18" charset="0"/>
                                </a:rPr>
                                <m:t>i</m:t>
                              </m:r>
                            </m:sub>
                          </m:sSub>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𝐿</m:t>
                                  </m:r>
                                </m:sup>
                              </m:sSubSup>
                            </m:e>
                          </m:d>
                        </m:num>
                        <m:den>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𝐿</m:t>
                              </m:r>
                            </m:sup>
                          </m:sSubSup>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𝐿</m:t>
                                  </m:r>
                                </m:sup>
                              </m:sSubSup>
                            </m:e>
                          </m:d>
                        </m:den>
                      </m:f>
                      <m:r>
                        <a:rPr lang="en-US" altLang="zh-CN" b="1"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𝛽</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f>
                        <m:fPr>
                          <m:ctrlPr>
                            <a:rPr lang="en-US" altLang="zh-CN" i="1">
                              <a:solidFill>
                                <a:schemeClr val="tx1"/>
                              </a:solidFill>
                              <a:latin typeface="Cambria Math" panose="02040503050406030204" pitchFamily="18" charset="0"/>
                            </a:rPr>
                          </m:ctrlPr>
                        </m:fPr>
                        <m:num>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𝐹</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Sup>
                                <m:sSubSupPr>
                                  <m:ctrlPr>
                                    <a:rPr lang="en-US" altLang="zh-CN" i="1">
                                      <a:solidFill>
                                        <a:schemeClr val="tx1"/>
                                      </a:solidFill>
                                      <a:latin typeface="Cambria Math" panose="02040503050406030204" pitchFamily="18" charset="0"/>
                                    </a:rPr>
                                  </m:ctrlPr>
                                </m:sSubSup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up>
                                  <m:r>
                                    <a:rPr lang="en-US" altLang="zh-CN" b="0" i="1" smtClean="0">
                                      <a:solidFill>
                                        <a:schemeClr val="tx1"/>
                                      </a:solidFill>
                                      <a:latin typeface="Cambria Math" panose="02040503050406030204" pitchFamily="18" charset="0"/>
                                    </a:rPr>
                                    <m:t>𝐿</m:t>
                                  </m:r>
                                </m:sup>
                              </m:sSubSup>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b="0" i="1" dirty="0" smtClean="0">
                                  <a:solidFill>
                                    <a:schemeClr val="tx1"/>
                                  </a:solidFill>
                                  <a:latin typeface="Cambria Math" panose="02040503050406030204" pitchFamily="18" charset="0"/>
                                </a:rPr>
                                <m:t>𝐿</m:t>
                              </m:r>
                            </m:sub>
                          </m:sSub>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𝐿</m:t>
                                  </m:r>
                                </m:sup>
                              </m:sSubSup>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e>
                          </m:d>
                        </m:den>
                      </m:f>
                    </m:oMath>
                  </m:oMathPara>
                </a14:m>
                <a:endParaRPr lang="en-US" altLang="zh-CN" dirty="0">
                  <a:solidFill>
                    <a:schemeClr val="tx1"/>
                  </a:solidFill>
                  <a:latin typeface="+mn-ea"/>
                </a:endParaRPr>
              </a:p>
              <a:p>
                <a:pPr>
                  <a:spcBef>
                    <a:spcPts val="800"/>
                  </a:spcBef>
                </a:pPr>
                <a:r>
                  <a:rPr lang="en-US" altLang="zh-CN" dirty="0">
                    <a:solidFill>
                      <a:schemeClr val="tx1"/>
                    </a:solidFill>
                    <a:latin typeface="+mn-ea"/>
                  </a:rPr>
                  <a:t>         </a:t>
                </a:r>
                <a:r>
                  <a:rPr lang="zh-CN" altLang="en-US" dirty="0">
                    <a:solidFill>
                      <a:schemeClr val="tx1"/>
                    </a:solidFill>
                    <a:latin typeface="+mn-ea"/>
                  </a:rPr>
                  <a:t>后来，为了进一步减小估计器的方差，我们实现了多重重要性采样：</a:t>
                </a:r>
                <a:endParaRPr lang="en-US" altLang="zh-CN" dirty="0">
                  <a:solidFill>
                    <a:schemeClr val="tx1"/>
                  </a:solidFill>
                  <a:latin typeface="+mn-ea"/>
                </a:endParaRPr>
              </a:p>
              <a:p>
                <a:pPr>
                  <a:spcBef>
                    <a:spcPts val="800"/>
                  </a:spcBef>
                </a:pPr>
                <a14:m>
                  <m:oMathPara xmlns:m="http://schemas.openxmlformats.org/officeDocument/2006/math">
                    <m:oMath>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Sup>
                            <m:sSubSupPr>
                              <m:ctrlPr>
                                <a:rPr lang="en-US" altLang="zh-CN" b="1" i="1" dirty="0">
                                  <a:latin typeface="Cambria Math" panose="02040503050406030204" pitchFamily="18" charset="0"/>
                                </a:rPr>
                              </m:ctrlPr>
                            </m:sSubSup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𝒊</m:t>
                              </m:r>
                            </m:sub>
                            <m:sup>
                              <m:r>
                                <a:rPr lang="en-US" altLang="zh-CN" b="1" i="1" dirty="0">
                                  <a:latin typeface="Cambria Math" panose="02040503050406030204" pitchFamily="18" charset="0"/>
                                </a:rPr>
                                <m:t>𝑳</m:t>
                              </m:r>
                            </m:sup>
                          </m:sSubSup>
                        </m:e>
                      </m:d>
                      <m:r>
                        <a:rPr lang="en-US" altLang="zh-CN" b="0" i="1" dirty="0" smtClean="0">
                          <a:latin typeface="Cambria Math" panose="02040503050406030204" pitchFamily="18" charset="0"/>
                        </a:rPr>
                        <m:t>,  </m:t>
                      </m:r>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sup>
                      </m:sSubSup>
                      <m:r>
                        <a:rPr lang="en-US" altLang="zh-CN" i="1" dirty="0">
                          <a:latin typeface="Cambria Math" panose="02040503050406030204" pitchFamily="18" charset="0"/>
                        </a:rPr>
                        <m:t>=</m:t>
                      </m:r>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Sup>
                            <m:sSubSupPr>
                              <m:ctrlPr>
                                <a:rPr lang="en-US" altLang="zh-CN" b="1" i="1" dirty="0">
                                  <a:latin typeface="Cambria Math" panose="02040503050406030204" pitchFamily="18" charset="0"/>
                                </a:rPr>
                              </m:ctrlPr>
                            </m:sSubSup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𝒊</m:t>
                              </m:r>
                            </m:sub>
                            <m:sup>
                              <m:r>
                                <a:rPr lang="en-US" altLang="zh-CN" b="1" i="1" dirty="0" smtClean="0">
                                  <a:latin typeface="Cambria Math" panose="02040503050406030204" pitchFamily="18" charset="0"/>
                                </a:rPr>
                                <m:t>𝑩</m:t>
                              </m:r>
                            </m:sup>
                          </m:sSubSup>
                        </m:e>
                      </m:d>
                    </m:oMath>
                  </m:oMathPara>
                </a14:m>
                <a:endParaRPr lang="en-US" altLang="zh-CN" dirty="0">
                  <a:solidFill>
                    <a:schemeClr val="tx1"/>
                  </a:solidFill>
                  <a:latin typeface="+mn-ea"/>
                </a:endParaRPr>
              </a:p>
              <a:p>
                <a:pPr>
                  <a:spcBef>
                    <a:spcPts val="800"/>
                  </a:spcBef>
                </a:pPr>
                <a14:m>
                  <m:oMathPara xmlns:m="http://schemas.openxmlformats.org/officeDocument/2006/math">
                    <m:o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𝐿</m:t>
                          </m:r>
                        </m:sub>
                      </m:sSub>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i="1" dirty="0">
                                  <a:solidFill>
                                    <a:schemeClr val="tx1"/>
                                  </a:solidFill>
                                  <a:latin typeface="Cambria Math" panose="02040503050406030204" pitchFamily="18" charset="0"/>
                                </a:rPr>
                                <m:t>𝐿</m:t>
                              </m:r>
                            </m:sup>
                          </m:sSubSup>
                        </m:e>
                      </m:d>
                      <m:f>
                        <m:fPr>
                          <m:ctrlPr>
                            <a:rPr lang="en-US" altLang="zh-CN" i="1" dirty="0">
                              <a:solidFill>
                                <a:schemeClr val="tx1"/>
                              </a:solidFill>
                              <a:latin typeface="Cambria Math" panose="02040503050406030204" pitchFamily="18" charset="0"/>
                            </a:rPr>
                          </m:ctrlPr>
                        </m:fPr>
                        <m:num>
                          <m:sSub>
                            <m:sSubPr>
                              <m:ctrlPr>
                                <a:rPr lang="en-US" altLang="zh-CN" dirty="0">
                                  <a:solidFill>
                                    <a:schemeClr val="tx1"/>
                                  </a:solidFill>
                                  <a:latin typeface="Cambria Math" panose="02040503050406030204" pitchFamily="18" charset="0"/>
                                </a:rPr>
                              </m:ctrlPr>
                            </m:sSubPr>
                            <m:e>
                              <m:r>
                                <m:rPr>
                                  <m:sty m:val="p"/>
                                </m:rPr>
                                <a:rPr lang="en-US" altLang="zh-CN" dirty="0">
                                  <a:solidFill>
                                    <a:schemeClr val="tx1"/>
                                  </a:solidFill>
                                  <a:latin typeface="Cambria Math" panose="02040503050406030204" pitchFamily="18" charset="0"/>
                                </a:rPr>
                                <m:t>Φ</m:t>
                              </m:r>
                            </m:e>
                            <m:sub>
                              <m:r>
                                <m:rPr>
                                  <m:sty m:val="p"/>
                                </m:rPr>
                                <a:rPr lang="en-US" altLang="zh-CN" dirty="0">
                                  <a:solidFill>
                                    <a:schemeClr val="tx1"/>
                                  </a:solidFill>
                                  <a:latin typeface="Cambria Math" panose="02040503050406030204" pitchFamily="18" charset="0"/>
                                </a:rPr>
                                <m:t>i</m:t>
                              </m:r>
                            </m:sub>
                          </m:sSub>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i="1" dirty="0">
                                      <a:solidFill>
                                        <a:schemeClr val="tx1"/>
                                      </a:solidFill>
                                      <a:latin typeface="Cambria Math" panose="02040503050406030204" pitchFamily="18" charset="0"/>
                                    </a:rPr>
                                    <m:t>𝐿</m:t>
                                  </m:r>
                                </m:sup>
                              </m:sSubSup>
                            </m:e>
                          </m:d>
                        </m:num>
                        <m:den>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𝐿</m:t>
                              </m:r>
                            </m:sup>
                          </m:sSubSup>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i="1" dirty="0">
                                      <a:solidFill>
                                        <a:schemeClr val="tx1"/>
                                      </a:solidFill>
                                      <a:latin typeface="Cambria Math" panose="02040503050406030204" pitchFamily="18" charset="0"/>
                                    </a:rPr>
                                    <m:t>𝐿</m:t>
                                  </m:r>
                                </m:sup>
                              </m:sSubSup>
                            </m:e>
                          </m:d>
                        </m:den>
                      </m:f>
                      <m:r>
                        <a:rPr lang="en-US" altLang="zh-CN" b="0" i="1" dirty="0" smtClean="0">
                          <a:solidFill>
                            <a:schemeClr val="tx1"/>
                          </a:solidFill>
                          <a:latin typeface="Cambria Math" panose="02040503050406030204" pitchFamily="18" charset="0"/>
                        </a:rPr>
                        <m:t>+</m:t>
                      </m:r>
                      <m:sSub>
                        <m:sSubPr>
                          <m:ctrlPr>
                            <a:rPr lang="en-US" altLang="zh-CN" b="0"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𝑤</m:t>
                          </m:r>
                        </m:e>
                        <m:sub>
                          <m:r>
                            <a:rPr lang="en-US" altLang="zh-CN" b="0" i="1" dirty="0" smtClean="0">
                              <a:solidFill>
                                <a:schemeClr val="tx1"/>
                              </a:solidFill>
                              <a:latin typeface="Cambria Math" panose="02040503050406030204" pitchFamily="18" charset="0"/>
                            </a:rPr>
                            <m:t>𝐵</m:t>
                          </m:r>
                        </m:sub>
                      </m:sSub>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𝐵</m:t>
                              </m:r>
                            </m:sup>
                          </m:sSubSup>
                        </m:e>
                      </m:d>
                      <m:f>
                        <m:fPr>
                          <m:ctrlPr>
                            <a:rPr lang="en-US" altLang="zh-CN" i="1" dirty="0">
                              <a:solidFill>
                                <a:schemeClr val="tx1"/>
                              </a:solidFill>
                              <a:latin typeface="Cambria Math" panose="02040503050406030204" pitchFamily="18" charset="0"/>
                            </a:rPr>
                          </m:ctrlPr>
                        </m:fPr>
                        <m:num>
                          <m:sSub>
                            <m:sSubPr>
                              <m:ctrlPr>
                                <a:rPr lang="en-US" altLang="zh-CN" dirty="0">
                                  <a:solidFill>
                                    <a:schemeClr val="tx1"/>
                                  </a:solidFill>
                                  <a:latin typeface="Cambria Math" panose="02040503050406030204" pitchFamily="18" charset="0"/>
                                </a:rPr>
                              </m:ctrlPr>
                            </m:sSubPr>
                            <m:e>
                              <m:r>
                                <m:rPr>
                                  <m:sty m:val="p"/>
                                </m:rPr>
                                <a:rPr lang="en-US" altLang="zh-CN" dirty="0">
                                  <a:solidFill>
                                    <a:schemeClr val="tx1"/>
                                  </a:solidFill>
                                  <a:latin typeface="Cambria Math" panose="02040503050406030204" pitchFamily="18" charset="0"/>
                                </a:rPr>
                                <m:t>Φ</m:t>
                              </m:r>
                            </m:e>
                            <m:sub>
                              <m:r>
                                <m:rPr>
                                  <m:sty m:val="p"/>
                                </m:rPr>
                                <a:rPr lang="en-US" altLang="zh-CN" dirty="0">
                                  <a:solidFill>
                                    <a:schemeClr val="tx1"/>
                                  </a:solidFill>
                                  <a:latin typeface="Cambria Math" panose="02040503050406030204" pitchFamily="18" charset="0"/>
                                </a:rPr>
                                <m:t>i</m:t>
                              </m:r>
                            </m:sub>
                          </m:sSub>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𝐵</m:t>
                                  </m:r>
                                </m:sup>
                              </m:sSubSup>
                            </m:e>
                          </m:d>
                        </m:num>
                        <m:den>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𝐵</m:t>
                              </m:r>
                            </m:sup>
                          </m:sSubSup>
                          <m:d>
                            <m:dPr>
                              <m:ctrlPr>
                                <a:rPr lang="en-US" altLang="zh-CN" i="1" dirty="0">
                                  <a:solidFill>
                                    <a:schemeClr val="tx1"/>
                                  </a:solidFill>
                                  <a:latin typeface="Cambria Math" panose="02040503050406030204" pitchFamily="18" charset="0"/>
                                </a:rPr>
                              </m:ctrlPr>
                            </m:dPr>
                            <m:e>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up>
                                  <m:r>
                                    <a:rPr lang="en-US" altLang="zh-CN" b="0" i="1" dirty="0" smtClean="0">
                                      <a:solidFill>
                                        <a:schemeClr val="tx1"/>
                                      </a:solidFill>
                                      <a:latin typeface="Cambria Math" panose="02040503050406030204" pitchFamily="18" charset="0"/>
                                    </a:rPr>
                                    <m:t>𝐵</m:t>
                                  </m:r>
                                </m:sup>
                              </m:sSubSup>
                            </m:e>
                          </m:d>
                        </m:den>
                      </m:f>
                      <m:r>
                        <a:rPr lang="en-US" altLang="zh-CN" b="0" i="1" dirty="0" smtClean="0">
                          <a:solidFill>
                            <a:schemeClr val="tx1"/>
                          </a:solidFill>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𝛽</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rgbClr val="F76409"/>
                                      </a:solidFill>
                                      <a:latin typeface="Cambria Math" panose="02040503050406030204" pitchFamily="18" charset="0"/>
                                      <a:ea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den>
                          </m:f>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𝐷</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den>
                          </m:f>
                        </m:e>
                      </m:d>
                    </m:oMath>
                  </m:oMathPara>
                </a14:m>
                <a:endParaRPr lang="en-US" altLang="zh-CN" dirty="0">
                  <a:latin typeface="+mn-ea"/>
                </a:endParaRPr>
              </a:p>
              <a:p>
                <a:pPr>
                  <a:spcBef>
                    <a:spcPts val="800"/>
                  </a:spcBef>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r>
                        <a:rPr lang="en-US" altLang="zh-CN" b="0" i="1" dirty="0" smtClean="0">
                          <a:latin typeface="Cambria Math" panose="02040503050406030204" pitchFamily="18" charset="0"/>
                        </a:rPr>
                        <m:t>=</m:t>
                      </m:r>
                      <m:sSub>
                        <m:sSubPr>
                          <m:ctrlPr>
                            <a:rPr lang="en-US" altLang="zh-CN" i="1" dirty="0">
                              <a:solidFill>
                                <a:schemeClr val="tx1"/>
                              </a:solidFill>
                              <a:latin typeface="Cambria Math" panose="02040503050406030204" pitchFamily="18" charset="0"/>
                              <a:ea typeface="Cambria Math" panose="02040503050406030204" pitchFamily="18" charset="0"/>
                            </a:rPr>
                          </m:ctrlPr>
                        </m:sSubPr>
                        <m:e>
                          <m:r>
                            <a:rPr lang="en-US" altLang="zh-CN" i="1" dirty="0">
                              <a:solidFill>
                                <a:schemeClr val="tx1"/>
                              </a:solidFill>
                              <a:latin typeface="Cambria Math" panose="02040503050406030204" pitchFamily="18" charset="0"/>
                              <a:ea typeface="Cambria Math" panose="02040503050406030204" pitchFamily="18" charset="0"/>
                            </a:rPr>
                            <m:t>ℋ</m:t>
                          </m:r>
                        </m:e>
                        <m:sub>
                          <m:r>
                            <a:rPr lang="en-US" altLang="zh-CN" i="1" dirty="0">
                              <a:solidFill>
                                <a:schemeClr val="tx1"/>
                              </a:solidFill>
                              <a:latin typeface="Cambria Math" panose="02040503050406030204" pitchFamily="18" charset="0"/>
                              <a:ea typeface="Cambria Math" panose="02040503050406030204" pitchFamily="18" charset="0"/>
                            </a:rPr>
                            <m:t>𝑃</m:t>
                          </m:r>
                        </m:sub>
                      </m:sSub>
                      <m:d>
                        <m:dPr>
                          <m:ctrlPr>
                            <a:rPr lang="en-US" altLang="zh-CN" i="1" dirty="0">
                              <a:solidFill>
                                <a:srgbClr val="F76409"/>
                              </a:solidFill>
                              <a:latin typeface="Cambria Math" panose="02040503050406030204" pitchFamily="18" charset="0"/>
                              <a:ea typeface="Cambria Math" panose="02040503050406030204" pitchFamily="18" charset="0"/>
                            </a:rPr>
                          </m:ctrlPr>
                        </m:dPr>
                        <m:e>
                          <m:r>
                            <a:rPr lang="en-US" altLang="zh-CN" i="1" dirty="0">
                              <a:solidFill>
                                <a:srgbClr val="F76409"/>
                              </a:solidFill>
                              <a:latin typeface="Cambria Math" panose="02040503050406030204" pitchFamily="18" charset="0"/>
                              <a:ea typeface="Cambria Math" panose="02040503050406030204" pitchFamily="18" charset="0"/>
                            </a:rPr>
                            <m:t>𝐿</m:t>
                          </m:r>
                          <m:r>
                            <a:rPr lang="en-US" altLang="zh-CN" i="1" dirty="0">
                              <a:latin typeface="Cambria Math" panose="02040503050406030204" pitchFamily="18" charset="0"/>
                              <a:ea typeface="Cambria Math" panose="02040503050406030204" pitchFamily="18" charset="0"/>
                            </a:rPr>
                            <m:t>;</m:t>
                          </m:r>
                          <m:sSubSup>
                            <m:sSubSupPr>
                              <m:ctrlPr>
                                <a:rPr lang="en-US" altLang="zh-CN" i="1" dirty="0">
                                  <a:solidFill>
                                    <a:srgbClr val="00B050"/>
                                  </a:solidFill>
                                  <a:latin typeface="Cambria Math" panose="02040503050406030204" pitchFamily="18" charset="0"/>
                                </a:rPr>
                              </m:ctrlPr>
                            </m:sSubSupPr>
                            <m:e>
                              <m:r>
                                <a:rPr lang="en-US" altLang="zh-CN" i="1" dirty="0">
                                  <a:solidFill>
                                    <a:srgbClr val="00B050"/>
                                  </a:solidFill>
                                  <a:latin typeface="Cambria Math" panose="02040503050406030204" pitchFamily="18" charset="0"/>
                                </a:rPr>
                                <m:t>𝑞</m:t>
                              </m:r>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up>
                              <m:r>
                                <a:rPr lang="en-US" altLang="zh-CN" i="1" dirty="0">
                                  <a:solidFill>
                                    <a:srgbClr val="00B050"/>
                                  </a:solidFill>
                                  <a:latin typeface="Cambria Math" panose="02040503050406030204" pitchFamily="18" charset="0"/>
                                </a:rPr>
                                <m:t>𝑝𝑟𝑒</m:t>
                              </m:r>
                            </m:sup>
                          </m:sSubSup>
                          <m:d>
                            <m:dPr>
                              <m:ctrlPr>
                                <a:rPr lang="en-US" altLang="zh-CN" i="1" dirty="0">
                                  <a:solidFill>
                                    <a:srgbClr val="00B050"/>
                                  </a:solidFill>
                                  <a:latin typeface="Cambria Math" panose="02040503050406030204" pitchFamily="18" charset="0"/>
                                </a:rPr>
                              </m:ctrlPr>
                            </m:dPr>
                            <m:e>
                              <m:sSub>
                                <m:sSubPr>
                                  <m:ctrlPr>
                                    <a:rPr lang="en-US" altLang="zh-CN" i="1" dirty="0">
                                      <a:solidFill>
                                        <a:srgbClr val="00B050"/>
                                      </a:solidFill>
                                      <a:latin typeface="Cambria Math" panose="02040503050406030204" pitchFamily="18" charset="0"/>
                                    </a:rPr>
                                  </m:ctrlPr>
                                </m:sSubPr>
                                <m:e>
                                  <m:acc>
                                    <m:accPr>
                                      <m:chr m:val="̅"/>
                                      <m:ctrlPr>
                                        <a:rPr lang="en-US" altLang="zh-CN" i="1" dirty="0">
                                          <a:solidFill>
                                            <a:srgbClr val="00B050"/>
                                          </a:solidFill>
                                          <a:latin typeface="Cambria Math" panose="02040503050406030204" pitchFamily="18" charset="0"/>
                                        </a:rPr>
                                      </m:ctrlPr>
                                    </m:accPr>
                                    <m:e>
                                      <m:r>
                                        <a:rPr lang="en-US" altLang="zh-CN" i="1" dirty="0">
                                          <a:solidFill>
                                            <a:srgbClr val="00B050"/>
                                          </a:solidFill>
                                          <a:latin typeface="Cambria Math" panose="02040503050406030204" pitchFamily="18" charset="0"/>
                                        </a:rPr>
                                        <m:t>𝑝</m:t>
                                      </m:r>
                                    </m:e>
                                  </m:acc>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Sub>
                            </m:e>
                          </m:d>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rgbClr val="F76409"/>
                                  </a:solidFill>
                                  <a:latin typeface="Cambria Math" panose="02040503050406030204" pitchFamily="18" charset="0"/>
                                  <a:ea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sSubSup>
                            <m:sSubSupPr>
                              <m:ctrlPr>
                                <a:rPr lang="en-US" altLang="zh-CN" i="1" dirty="0">
                                  <a:solidFill>
                                    <a:srgbClr val="00B050"/>
                                  </a:solidFill>
                                  <a:latin typeface="Cambria Math" panose="02040503050406030204" pitchFamily="18" charset="0"/>
                                </a:rPr>
                              </m:ctrlPr>
                            </m:sSubSupPr>
                            <m:e>
                              <m:r>
                                <a:rPr lang="en-US" altLang="zh-CN" i="1" dirty="0">
                                  <a:solidFill>
                                    <a:srgbClr val="00B050"/>
                                  </a:solidFill>
                                  <a:latin typeface="Cambria Math" panose="02040503050406030204" pitchFamily="18" charset="0"/>
                                </a:rPr>
                                <m:t>𝑞</m:t>
                              </m:r>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up>
                              <m:r>
                                <a:rPr lang="en-US" altLang="zh-CN" i="1" dirty="0">
                                  <a:solidFill>
                                    <a:srgbClr val="00B050"/>
                                  </a:solidFill>
                                  <a:latin typeface="Cambria Math" panose="02040503050406030204" pitchFamily="18" charset="0"/>
                                </a:rPr>
                                <m:t>𝑝𝑟𝑒</m:t>
                              </m:r>
                            </m:sup>
                          </m:sSubSup>
                          <m:d>
                            <m:dPr>
                              <m:ctrlPr>
                                <a:rPr lang="en-US" altLang="zh-CN" i="1" dirty="0">
                                  <a:solidFill>
                                    <a:srgbClr val="00B050"/>
                                  </a:solidFill>
                                  <a:latin typeface="Cambria Math" panose="02040503050406030204" pitchFamily="18" charset="0"/>
                                </a:rPr>
                              </m:ctrlPr>
                            </m:dPr>
                            <m:e>
                              <m:sSub>
                                <m:sSubPr>
                                  <m:ctrlPr>
                                    <a:rPr lang="en-US" altLang="zh-CN" i="1" dirty="0">
                                      <a:solidFill>
                                        <a:srgbClr val="00B050"/>
                                      </a:solidFill>
                                      <a:latin typeface="Cambria Math" panose="02040503050406030204" pitchFamily="18" charset="0"/>
                                    </a:rPr>
                                  </m:ctrlPr>
                                </m:sSubPr>
                                <m:e>
                                  <m:acc>
                                    <m:accPr>
                                      <m:chr m:val="̅"/>
                                      <m:ctrlPr>
                                        <a:rPr lang="en-US" altLang="zh-CN" i="1" dirty="0">
                                          <a:solidFill>
                                            <a:srgbClr val="00B050"/>
                                          </a:solidFill>
                                          <a:latin typeface="Cambria Math" panose="02040503050406030204" pitchFamily="18" charset="0"/>
                                        </a:rPr>
                                      </m:ctrlPr>
                                    </m:accPr>
                                    <m:e>
                                      <m:r>
                                        <a:rPr lang="en-US" altLang="zh-CN" i="1" dirty="0">
                                          <a:solidFill>
                                            <a:srgbClr val="00B050"/>
                                          </a:solidFill>
                                          <a:latin typeface="Cambria Math" panose="02040503050406030204" pitchFamily="18" charset="0"/>
                                        </a:rPr>
                                        <m:t>𝑝</m:t>
                                      </m:r>
                                    </m:e>
                                  </m:acc>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Sub>
                            </m:e>
                          </m:d>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𝐷</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d>
                      <m:r>
                        <a:rPr lang="en-US" altLang="zh-CN"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rgbClr val="F76409"/>
                              </a:solidFill>
                              <a:latin typeface="Cambria Math" panose="02040503050406030204" pitchFamily="18" charset="0"/>
                              <a:ea typeface="Cambria Math" panose="02040503050406030204" pitchFamily="18" charset="0"/>
                            </a:rPr>
                          </m:ctrlPr>
                        </m:dPr>
                        <m:e>
                          <m:r>
                            <a:rPr lang="en-US" altLang="zh-CN" i="1" dirty="0">
                              <a:solidFill>
                                <a:srgbClr val="F76409"/>
                              </a:solidFill>
                              <a:latin typeface="Cambria Math" panose="02040503050406030204" pitchFamily="18" charset="0"/>
                              <a:ea typeface="Cambria Math" panose="02040503050406030204" pitchFamily="18" charset="0"/>
                            </a:rPr>
                            <m:t>𝐿</m:t>
                          </m:r>
                          <m:r>
                            <a:rPr lang="en-US" altLang="zh-CN" i="1" dirty="0">
                              <a:latin typeface="Cambria Math" panose="02040503050406030204" pitchFamily="18" charset="0"/>
                              <a:ea typeface="Cambria Math" panose="02040503050406030204" pitchFamily="18" charset="0"/>
                            </a:rPr>
                            <m:t>;</m:t>
                          </m:r>
                          <m:r>
                            <a:rPr lang="en-US" altLang="zh-CN" i="1" dirty="0">
                              <a:solidFill>
                                <a:srgbClr val="00B050"/>
                              </a:solidFill>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rgbClr val="F76409"/>
                                  </a:solidFill>
                                  <a:latin typeface="Cambria Math" panose="02040503050406030204" pitchFamily="18" charset="0"/>
                                  <a:ea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ea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r>
                            <a:rPr lang="en-US" altLang="zh-CN" i="1" dirty="0">
                              <a:solidFill>
                                <a:srgbClr val="00B050"/>
                              </a:solidFill>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𝐷</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d>
                    </m:oMath>
                  </m:oMathPara>
                </a14:m>
                <a:endParaRPr lang="en-US" altLang="zh-CN" dirty="0">
                  <a:solidFill>
                    <a:srgbClr val="F76409"/>
                  </a:solidFill>
                  <a:latin typeface="+mn-ea"/>
                  <a:ea typeface="Cambria Math" panose="02040503050406030204" pitchFamily="18" charset="0"/>
                </a:endParaRPr>
              </a:p>
              <a:p>
                <a:pPr>
                  <a:spcBef>
                    <a:spcPts val="800"/>
                  </a:spcBef>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chemeClr val="accent2">
                                  <a:lumMod val="75000"/>
                                </a:schemeClr>
                              </a:solidFill>
                              <a:latin typeface="Cambria Math" panose="02040503050406030204" pitchFamily="18" charset="0"/>
                              <a:ea typeface="Cambria Math" panose="02040503050406030204" pitchFamily="18" charset="0"/>
                            </a:rPr>
                          </m:ctrlPr>
                        </m:dPr>
                        <m:e>
                          <m:r>
                            <a:rPr lang="en-US" altLang="zh-CN" i="1" dirty="0">
                              <a:solidFill>
                                <a:schemeClr val="accent2">
                                  <a:lumMod val="75000"/>
                                </a:schemeClr>
                              </a:solidFill>
                              <a:latin typeface="Cambria Math" panose="02040503050406030204" pitchFamily="18" charset="0"/>
                              <a:ea typeface="Cambria Math" panose="02040503050406030204" pitchFamily="18" charset="0"/>
                            </a:rPr>
                            <m:t>𝐵</m:t>
                          </m:r>
                          <m:r>
                            <a:rPr lang="en-US" altLang="zh-CN" i="1" dirty="0">
                              <a:latin typeface="Cambria Math" panose="02040503050406030204" pitchFamily="18" charset="0"/>
                              <a:ea typeface="Cambria Math" panose="02040503050406030204" pitchFamily="18" charset="0"/>
                            </a:rPr>
                            <m:t>;</m:t>
                          </m:r>
                          <m:sSubSup>
                            <m:sSubSupPr>
                              <m:ctrlPr>
                                <a:rPr lang="en-US" altLang="zh-CN" i="1" dirty="0">
                                  <a:solidFill>
                                    <a:srgbClr val="00B050"/>
                                  </a:solidFill>
                                  <a:latin typeface="Cambria Math" panose="02040503050406030204" pitchFamily="18" charset="0"/>
                                </a:rPr>
                              </m:ctrlPr>
                            </m:sSubSupPr>
                            <m:e>
                              <m:r>
                                <a:rPr lang="en-US" altLang="zh-CN" i="1" dirty="0">
                                  <a:solidFill>
                                    <a:srgbClr val="00B050"/>
                                  </a:solidFill>
                                  <a:latin typeface="Cambria Math" panose="02040503050406030204" pitchFamily="18" charset="0"/>
                                </a:rPr>
                                <m:t>𝑞</m:t>
                              </m:r>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up>
                              <m:r>
                                <a:rPr lang="en-US" altLang="zh-CN" i="1" dirty="0">
                                  <a:solidFill>
                                    <a:srgbClr val="00B050"/>
                                  </a:solidFill>
                                  <a:latin typeface="Cambria Math" panose="02040503050406030204" pitchFamily="18" charset="0"/>
                                </a:rPr>
                                <m:t>𝑝𝑟𝑒</m:t>
                              </m:r>
                            </m:sup>
                          </m:sSubSup>
                          <m:d>
                            <m:dPr>
                              <m:ctrlPr>
                                <a:rPr lang="en-US" altLang="zh-CN" i="1" dirty="0">
                                  <a:solidFill>
                                    <a:srgbClr val="00B050"/>
                                  </a:solidFill>
                                  <a:latin typeface="Cambria Math" panose="02040503050406030204" pitchFamily="18" charset="0"/>
                                </a:rPr>
                              </m:ctrlPr>
                            </m:dPr>
                            <m:e>
                              <m:sSub>
                                <m:sSubPr>
                                  <m:ctrlPr>
                                    <a:rPr lang="en-US" altLang="zh-CN" i="1" dirty="0">
                                      <a:solidFill>
                                        <a:srgbClr val="00B050"/>
                                      </a:solidFill>
                                      <a:latin typeface="Cambria Math" panose="02040503050406030204" pitchFamily="18" charset="0"/>
                                    </a:rPr>
                                  </m:ctrlPr>
                                </m:sSubPr>
                                <m:e>
                                  <m:acc>
                                    <m:accPr>
                                      <m:chr m:val="̅"/>
                                      <m:ctrlPr>
                                        <a:rPr lang="en-US" altLang="zh-CN" i="1" dirty="0">
                                          <a:solidFill>
                                            <a:srgbClr val="00B050"/>
                                          </a:solidFill>
                                          <a:latin typeface="Cambria Math" panose="02040503050406030204" pitchFamily="18" charset="0"/>
                                        </a:rPr>
                                      </m:ctrlPr>
                                    </m:accPr>
                                    <m:e>
                                      <m:r>
                                        <a:rPr lang="en-US" altLang="zh-CN" i="1" dirty="0">
                                          <a:solidFill>
                                            <a:srgbClr val="00B050"/>
                                          </a:solidFill>
                                          <a:latin typeface="Cambria Math" panose="02040503050406030204" pitchFamily="18" charset="0"/>
                                        </a:rPr>
                                        <m:t>𝑝</m:t>
                                      </m:r>
                                    </m:e>
                                  </m:acc>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Sub>
                            </m:e>
                          </m:d>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rgbClr val="F76409"/>
                                  </a:solidFill>
                                  <a:latin typeface="Cambria Math" panose="02040503050406030204" pitchFamily="18" charset="0"/>
                                  <a:ea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ea typeface="Cambria Math" panose="02040503050406030204" pitchFamily="18" charset="0"/>
                                    </a:rPr>
                                    <m:t>𝐵</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sSubSup>
                            <m:sSubSupPr>
                              <m:ctrlPr>
                                <a:rPr lang="en-US" altLang="zh-CN" i="1" dirty="0">
                                  <a:solidFill>
                                    <a:srgbClr val="00B050"/>
                                  </a:solidFill>
                                  <a:latin typeface="Cambria Math" panose="02040503050406030204" pitchFamily="18" charset="0"/>
                                </a:rPr>
                              </m:ctrlPr>
                            </m:sSubSupPr>
                            <m:e>
                              <m:r>
                                <a:rPr lang="en-US" altLang="zh-CN" i="1" dirty="0">
                                  <a:solidFill>
                                    <a:srgbClr val="00B050"/>
                                  </a:solidFill>
                                  <a:latin typeface="Cambria Math" panose="02040503050406030204" pitchFamily="18" charset="0"/>
                                </a:rPr>
                                <m:t>𝑞</m:t>
                              </m:r>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up>
                              <m:r>
                                <a:rPr lang="en-US" altLang="zh-CN" i="1" dirty="0">
                                  <a:solidFill>
                                    <a:srgbClr val="00B050"/>
                                  </a:solidFill>
                                  <a:latin typeface="Cambria Math" panose="02040503050406030204" pitchFamily="18" charset="0"/>
                                </a:rPr>
                                <m:t>𝑝𝑟𝑒</m:t>
                              </m:r>
                            </m:sup>
                          </m:sSubSup>
                          <m:d>
                            <m:dPr>
                              <m:ctrlPr>
                                <a:rPr lang="en-US" altLang="zh-CN" i="1" dirty="0">
                                  <a:solidFill>
                                    <a:srgbClr val="00B050"/>
                                  </a:solidFill>
                                  <a:latin typeface="Cambria Math" panose="02040503050406030204" pitchFamily="18" charset="0"/>
                                </a:rPr>
                              </m:ctrlPr>
                            </m:dPr>
                            <m:e>
                              <m:sSub>
                                <m:sSubPr>
                                  <m:ctrlPr>
                                    <a:rPr lang="en-US" altLang="zh-CN" i="1" dirty="0">
                                      <a:solidFill>
                                        <a:srgbClr val="00B050"/>
                                      </a:solidFill>
                                      <a:latin typeface="Cambria Math" panose="02040503050406030204" pitchFamily="18" charset="0"/>
                                    </a:rPr>
                                  </m:ctrlPr>
                                </m:sSubPr>
                                <m:e>
                                  <m:acc>
                                    <m:accPr>
                                      <m:chr m:val="̅"/>
                                      <m:ctrlPr>
                                        <a:rPr lang="en-US" altLang="zh-CN" i="1" dirty="0">
                                          <a:solidFill>
                                            <a:srgbClr val="00B050"/>
                                          </a:solidFill>
                                          <a:latin typeface="Cambria Math" panose="02040503050406030204" pitchFamily="18" charset="0"/>
                                        </a:rPr>
                                      </m:ctrlPr>
                                    </m:accPr>
                                    <m:e>
                                      <m:r>
                                        <a:rPr lang="en-US" altLang="zh-CN" i="1" dirty="0">
                                          <a:solidFill>
                                            <a:srgbClr val="00B050"/>
                                          </a:solidFill>
                                          <a:latin typeface="Cambria Math" panose="02040503050406030204" pitchFamily="18" charset="0"/>
                                        </a:rPr>
                                        <m:t>𝑝</m:t>
                                      </m:r>
                                    </m:e>
                                  </m:acc>
                                </m:e>
                                <m:sub>
                                  <m:r>
                                    <a:rPr lang="en-US" altLang="zh-CN" i="1" dirty="0">
                                      <a:solidFill>
                                        <a:srgbClr val="00B050"/>
                                      </a:solidFill>
                                      <a:latin typeface="Cambria Math" panose="02040503050406030204" pitchFamily="18" charset="0"/>
                                    </a:rPr>
                                    <m:t>𝑖</m:t>
                                  </m:r>
                                  <m:r>
                                    <a:rPr lang="en-US" altLang="zh-CN" i="1" dirty="0">
                                      <a:solidFill>
                                        <a:srgbClr val="00B050"/>
                                      </a:solidFill>
                                      <a:latin typeface="Cambria Math" panose="02040503050406030204" pitchFamily="18" charset="0"/>
                                    </a:rPr>
                                    <m:t>−1</m:t>
                                  </m:r>
                                </m:sub>
                              </m:sSub>
                            </m:e>
                          </m:d>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𝐷</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d>
                      <m:r>
                        <a:rPr lang="en-US" altLang="zh-CN"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𝑃</m:t>
                          </m:r>
                        </m:sub>
                      </m:sSub>
                      <m:d>
                        <m:dPr>
                          <m:ctrlPr>
                            <a:rPr lang="en-US" altLang="zh-CN" i="1" dirty="0">
                              <a:solidFill>
                                <a:schemeClr val="accent2">
                                  <a:lumMod val="75000"/>
                                </a:schemeClr>
                              </a:solidFill>
                              <a:latin typeface="Cambria Math" panose="02040503050406030204" pitchFamily="18" charset="0"/>
                              <a:ea typeface="Cambria Math" panose="02040503050406030204" pitchFamily="18" charset="0"/>
                            </a:rPr>
                          </m:ctrlPr>
                        </m:dPr>
                        <m:e>
                          <m:r>
                            <a:rPr lang="en-US" altLang="zh-CN" i="1" dirty="0">
                              <a:solidFill>
                                <a:schemeClr val="accent2">
                                  <a:lumMod val="75000"/>
                                </a:schemeClr>
                              </a:solidFill>
                              <a:latin typeface="Cambria Math" panose="02040503050406030204" pitchFamily="18" charset="0"/>
                              <a:ea typeface="Cambria Math" panose="02040503050406030204" pitchFamily="18" charset="0"/>
                            </a:rPr>
                            <m:t>𝐵</m:t>
                          </m:r>
                          <m:r>
                            <a:rPr lang="en-US" altLang="zh-CN" i="1" dirty="0">
                              <a:latin typeface="Cambria Math" panose="02040503050406030204" pitchFamily="18" charset="0"/>
                              <a:ea typeface="Cambria Math" panose="02040503050406030204" pitchFamily="18" charset="0"/>
                            </a:rPr>
                            <m:t>;</m:t>
                          </m:r>
                          <m:r>
                            <a:rPr lang="en-US" altLang="zh-CN" i="1" dirty="0">
                              <a:solidFill>
                                <a:srgbClr val="00B050"/>
                              </a:solidFill>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rgbClr val="F76409"/>
                                  </a:solidFill>
                                  <a:latin typeface="Cambria Math" panose="02040503050406030204" pitchFamily="18" charset="0"/>
                                  <a:ea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ea typeface="Cambria Math" panose="02040503050406030204" pitchFamily="18" charset="0"/>
                                    </a:rPr>
                                    <m:t>𝐵</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r>
                            <a:rPr lang="en-US" altLang="zh-CN" i="1" dirty="0">
                              <a:solidFill>
                                <a:srgbClr val="00B050"/>
                              </a:solidFill>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𝐷</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d>
                    </m:oMath>
                  </m:oMathPara>
                </a14:m>
                <a:endParaRPr lang="en-US" altLang="zh-CN" b="0" dirty="0">
                  <a:solidFill>
                    <a:schemeClr val="tx1"/>
                  </a:solidFill>
                  <a:latin typeface="+mn-ea"/>
                </a:endParaRPr>
              </a:p>
              <a:p>
                <a:pPr algn="ctr">
                  <a:spcBef>
                    <a:spcPts val="800"/>
                  </a:spcBef>
                </a:pPr>
                <a:r>
                  <a:rPr lang="zh-CN" altLang="en-US" sz="1600" dirty="0">
                    <a:latin typeface="+mn-ea"/>
                  </a:rPr>
                  <a:t>上式</a:t>
                </a:r>
                <a:r>
                  <a:rPr lang="zh-CN" altLang="en-US" sz="1600" dirty="0"/>
                  <a:t>仅对</a:t>
                </a:r>
                <a:r>
                  <a:rPr lang="zh-CN" altLang="zh-CN" sz="1600" dirty="0"/>
                  <a:t>平衡启发式、幂启发式等不受公共比例因子影响的权重函数</a:t>
                </a:r>
                <a14:m>
                  <m:oMath xmlns:m="http://schemas.openxmlformats.org/officeDocument/2006/math">
                    <m:r>
                      <a:rPr lang="en-US" altLang="zh-CN" sz="1600" i="1" dirty="0">
                        <a:latin typeface="Cambria Math" panose="02040503050406030204" pitchFamily="18" charset="0"/>
                        <a:ea typeface="Cambria Math" panose="02040503050406030204" pitchFamily="18" charset="0"/>
                      </a:rPr>
                      <m:t>ℋ</m:t>
                    </m:r>
                  </m:oMath>
                </a14:m>
                <a:r>
                  <a:rPr lang="zh-CN" altLang="en-US" sz="1600" b="0" dirty="0">
                    <a:solidFill>
                      <a:schemeClr val="tx1"/>
                    </a:solidFill>
                    <a:latin typeface="+mn-ea"/>
                  </a:rPr>
                  <a:t>成立</a:t>
                </a:r>
                <a:endParaRPr lang="en-US" altLang="zh-CN" b="0" dirty="0">
                  <a:solidFill>
                    <a:schemeClr val="tx1"/>
                  </a:solidFill>
                  <a:latin typeface="+mn-ea"/>
                </a:endParaRPr>
              </a:p>
            </p:txBody>
          </p:sp>
        </mc:Choice>
        <mc:Fallback xmlns="">
          <p:sp>
            <p:nvSpPr>
              <p:cNvPr id="8" name="文本框 7">
                <a:extLst>
                  <a:ext uri="{FF2B5EF4-FFF2-40B4-BE49-F238E27FC236}">
                    <a16:creationId xmlns:a16="http://schemas.microsoft.com/office/drawing/2014/main" id="{5DF812E6-8196-8B33-F4A8-335AAA460B4D}"/>
                  </a:ext>
                </a:extLst>
              </p:cNvPr>
              <p:cNvSpPr txBox="1">
                <a:spLocks noRot="1" noChangeAspect="1" noMove="1" noResize="1" noEditPoints="1" noAdjustHandles="1" noChangeArrowheads="1" noChangeShapeType="1" noTextEdit="1"/>
              </p:cNvSpPr>
              <p:nvPr/>
            </p:nvSpPr>
            <p:spPr>
              <a:xfrm>
                <a:off x="345470" y="1339402"/>
                <a:ext cx="11501059" cy="5304529"/>
              </a:xfrm>
              <a:prstGeom prst="rect">
                <a:avLst/>
              </a:prstGeom>
              <a:blipFill>
                <a:blip r:embed="rId2"/>
                <a:stretch>
                  <a:fillRect l="-477"/>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CA32C18C-8BF0-14C8-1259-1633399AF316}"/>
              </a:ext>
            </a:extLst>
          </p:cNvPr>
          <p:cNvPicPr>
            <a:picLocks noChangeAspect="1"/>
          </p:cNvPicPr>
          <p:nvPr/>
        </p:nvPicPr>
        <p:blipFill>
          <a:blip r:embed="rId3"/>
          <a:stretch>
            <a:fillRect/>
          </a:stretch>
        </p:blipFill>
        <p:spPr>
          <a:xfrm>
            <a:off x="4185633" y="189206"/>
            <a:ext cx="7849314" cy="1150196"/>
          </a:xfrm>
          <a:prstGeom prst="rect">
            <a:avLst/>
          </a:prstGeom>
        </p:spPr>
      </p:pic>
    </p:spTree>
    <p:extLst>
      <p:ext uri="{BB962C8B-B14F-4D97-AF65-F5344CB8AC3E}">
        <p14:creationId xmlns:p14="http://schemas.microsoft.com/office/powerpoint/2010/main" val="3376049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0A48-2A42-ED8E-7D63-0DDC6A264E5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2B0F140-E73A-4FFD-0F51-37FF8F52E080}"/>
              </a:ext>
            </a:extLst>
          </p:cNvPr>
          <p:cNvSpPr>
            <a:spLocks noGrp="1"/>
          </p:cNvSpPr>
          <p:nvPr>
            <p:ph type="title" idx="1"/>
          </p:nvPr>
        </p:nvSpPr>
        <p:spPr/>
        <p:txBody>
          <a:bodyPr/>
          <a:lstStyle/>
          <a:p>
            <a:r>
              <a:rPr lang="zh-CN" altLang="en-US" dirty="0"/>
              <a:t>光谱路径追踪</a:t>
            </a:r>
          </a:p>
        </p:txBody>
      </p:sp>
      <p:pic>
        <p:nvPicPr>
          <p:cNvPr id="4" name="图片 3">
            <a:extLst>
              <a:ext uri="{FF2B5EF4-FFF2-40B4-BE49-F238E27FC236}">
                <a16:creationId xmlns:a16="http://schemas.microsoft.com/office/drawing/2014/main" id="{B72815F9-5AED-9944-D362-A25E9CE42BB6}"/>
              </a:ext>
            </a:extLst>
          </p:cNvPr>
          <p:cNvPicPr>
            <a:picLocks noChangeAspect="1"/>
          </p:cNvPicPr>
          <p:nvPr/>
        </p:nvPicPr>
        <p:blipFill>
          <a:blip r:embed="rId2"/>
          <a:stretch>
            <a:fillRect/>
          </a:stretch>
        </p:blipFill>
        <p:spPr>
          <a:xfrm>
            <a:off x="621062" y="2708761"/>
            <a:ext cx="6125927" cy="341632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文本框 7">
            <a:extLst>
              <a:ext uri="{FF2B5EF4-FFF2-40B4-BE49-F238E27FC236}">
                <a16:creationId xmlns:a16="http://schemas.microsoft.com/office/drawing/2014/main" id="{B915DBA3-752D-63A3-14D8-BEFBA730A0A0}"/>
              </a:ext>
            </a:extLst>
          </p:cNvPr>
          <p:cNvSpPr txBox="1"/>
          <p:nvPr/>
        </p:nvSpPr>
        <p:spPr>
          <a:xfrm>
            <a:off x="7202981" y="1846874"/>
            <a:ext cx="4367956" cy="3416320"/>
          </a:xfrm>
          <a:prstGeom prst="rect">
            <a:avLst/>
          </a:prstGeom>
          <a:noFill/>
        </p:spPr>
        <p:txBody>
          <a:bodyPr wrap="square">
            <a:spAutoFit/>
          </a:bodyPr>
          <a:lstStyle/>
          <a:p>
            <a:pPr algn="just"/>
            <a:r>
              <a:rPr lang="zh-CN" altLang="en-US" dirty="0">
                <a:latin typeface="Noto Sans SC" panose="020B0200000000000000" pitchFamily="34" charset="-122"/>
                <a:ea typeface="Noto Sans SC" panose="020B0200000000000000" pitchFamily="34" charset="-122"/>
              </a:rPr>
              <a:t>          前面提到，对于可能发生折射的材质而言，折射的方向取决于物体的折射率，折射率又取决于波长。因此，向</a:t>
            </a:r>
            <a:r>
              <a:rPr lang="en-US" altLang="zh-CN" dirty="0">
                <a:latin typeface="Noto Sans SC" panose="020B0200000000000000" pitchFamily="34" charset="-122"/>
                <a:ea typeface="Noto Sans SC" panose="020B0200000000000000" pitchFamily="34" charset="-122"/>
              </a:rPr>
              <a:t>BSDF</a:t>
            </a:r>
            <a:r>
              <a:rPr lang="zh-CN" altLang="en-US" dirty="0">
                <a:latin typeface="Noto Sans SC" panose="020B0200000000000000" pitchFamily="34" charset="-122"/>
                <a:ea typeface="Noto Sans SC" panose="020B0200000000000000" pitchFamily="34" charset="-122"/>
              </a:rPr>
              <a:t>采样的方式会取决于波长。同样的，虽然目前实现的像光源采样与波长无关，但是像光源采样本身可以设计成与波长相关。</a:t>
            </a:r>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endParaRPr lang="en-US" altLang="zh-CN" dirty="0">
              <a:latin typeface="Noto Sans SC" panose="020B0200000000000000" pitchFamily="34" charset="-122"/>
              <a:ea typeface="Noto Sans SC" panose="020B0200000000000000" pitchFamily="34" charset="-122"/>
            </a:endParaRPr>
          </a:p>
          <a:p>
            <a:pPr algn="just"/>
            <a:r>
              <a:rPr lang="en-US" altLang="zh-CN" dirty="0">
                <a:latin typeface="Noto Sans SC" panose="020B0200000000000000" pitchFamily="34" charset="-122"/>
                <a:ea typeface="Noto Sans SC" panose="020B0200000000000000" pitchFamily="34" charset="-122"/>
              </a:rPr>
              <a:t>         </a:t>
            </a:r>
            <a:r>
              <a:rPr lang="zh-CN" altLang="en-US" dirty="0">
                <a:latin typeface="Noto Sans SC" panose="020B0200000000000000" pitchFamily="34" charset="-122"/>
                <a:ea typeface="Noto Sans SC" panose="020B0200000000000000" pitchFamily="34" charset="-122"/>
              </a:rPr>
              <a:t>如果采样方向的技术与波长相关，也就是</a:t>
            </a:r>
            <a:r>
              <a:rPr lang="zh-CN" altLang="en-US" b="1" dirty="0">
                <a:latin typeface="Noto Sans SC" panose="020B0200000000000000" pitchFamily="34" charset="-122"/>
                <a:ea typeface="Noto Sans SC" panose="020B0200000000000000" pitchFamily="34" charset="-122"/>
              </a:rPr>
              <a:t>不同波长的光线可能会经过不同的光路</a:t>
            </a:r>
            <a:r>
              <a:rPr lang="zh-CN" altLang="en-US" dirty="0">
                <a:latin typeface="Noto Sans SC" panose="020B0200000000000000" pitchFamily="34" charset="-122"/>
                <a:ea typeface="Noto Sans SC" panose="020B0200000000000000" pitchFamily="34" charset="-122"/>
              </a:rPr>
              <a:t>，那么在设计蒙特卡洛估计器时就需要一些额外的考虑。</a:t>
            </a:r>
            <a:endParaRPr lang="en-US" altLang="zh-CN" dirty="0">
              <a:latin typeface="Noto Sans SC" panose="020B0200000000000000" pitchFamily="34" charset="-122"/>
              <a:ea typeface="Noto Sans SC" panose="020B0200000000000000" pitchFamily="34" charset="-122"/>
            </a:endParaRPr>
          </a:p>
        </p:txBody>
      </p:sp>
      <p:sp>
        <p:nvSpPr>
          <p:cNvPr id="9" name="文本框 8">
            <a:extLst>
              <a:ext uri="{FF2B5EF4-FFF2-40B4-BE49-F238E27FC236}">
                <a16:creationId xmlns:a16="http://schemas.microsoft.com/office/drawing/2014/main" id="{392D37F0-4DE0-C3E2-677D-403481D4CB29}"/>
              </a:ext>
            </a:extLst>
          </p:cNvPr>
          <p:cNvSpPr txBox="1"/>
          <p:nvPr/>
        </p:nvSpPr>
        <p:spPr>
          <a:xfrm>
            <a:off x="621062" y="1517750"/>
            <a:ext cx="5959697" cy="923330"/>
          </a:xfrm>
          <a:prstGeom prst="rect">
            <a:avLst/>
          </a:prstGeom>
          <a:noFill/>
        </p:spPr>
        <p:txBody>
          <a:bodyPr wrap="square">
            <a:spAutoFit/>
          </a:bodyPr>
          <a:lstStyle/>
          <a:p>
            <a:r>
              <a:rPr lang="en-US" altLang="zh-CN" dirty="0">
                <a:latin typeface="Noto Sans SC" panose="020B0200000000000000" pitchFamily="34" charset="-122"/>
                <a:ea typeface="Noto Sans SC" panose="020B0200000000000000" pitchFamily="34" charset="-122"/>
              </a:rPr>
              <a:t>          </a:t>
            </a:r>
            <a:r>
              <a:rPr lang="zh-CN" altLang="en-US" sz="1800" dirty="0">
                <a:latin typeface="Noto Sans SC" panose="020B0200000000000000" pitchFamily="34" charset="-122"/>
                <a:ea typeface="Noto Sans SC" panose="020B0200000000000000" pitchFamily="34" charset="-122"/>
              </a:rPr>
              <a:t>在当前的</a:t>
            </a:r>
            <a:r>
              <a:rPr lang="en-US" altLang="zh-CN" sz="1800" dirty="0">
                <a:latin typeface="Noto Sans SC" panose="020B0200000000000000" pitchFamily="34" charset="-122"/>
                <a:ea typeface="Noto Sans SC" panose="020B0200000000000000" pitchFamily="34" charset="-122"/>
              </a:rPr>
              <a:t>MIS</a:t>
            </a:r>
            <a:r>
              <a:rPr lang="zh-CN" altLang="en-US" sz="1800" dirty="0">
                <a:latin typeface="Noto Sans SC" panose="020B0200000000000000" pitchFamily="34" charset="-122"/>
                <a:ea typeface="Noto Sans SC" panose="020B0200000000000000" pitchFamily="34" charset="-122"/>
              </a:rPr>
              <a:t>的路径追踪的代码实现中，涉及到了向</a:t>
            </a:r>
            <a:r>
              <a:rPr lang="en-US" altLang="zh-CN" sz="1800" dirty="0">
                <a:latin typeface="Noto Sans SC" panose="020B0200000000000000" pitchFamily="34" charset="-122"/>
                <a:ea typeface="Noto Sans SC" panose="020B0200000000000000" pitchFamily="34" charset="-122"/>
              </a:rPr>
              <a:t>BSDF</a:t>
            </a:r>
            <a:r>
              <a:rPr lang="zh-CN" altLang="en-US" sz="1800" dirty="0">
                <a:latin typeface="Noto Sans SC" panose="020B0200000000000000" pitchFamily="34" charset="-122"/>
                <a:ea typeface="Noto Sans SC" panose="020B0200000000000000" pitchFamily="34" charset="-122"/>
              </a:rPr>
              <a:t>采样以及向光源采样两种采样技术。但是对于不同波长的光，采样的策略会发生改变吗？</a:t>
            </a:r>
            <a:endParaRPr lang="zh-CN" altLang="en-US" dirty="0"/>
          </a:p>
        </p:txBody>
      </p:sp>
    </p:spTree>
    <p:extLst>
      <p:ext uri="{BB962C8B-B14F-4D97-AF65-F5344CB8AC3E}">
        <p14:creationId xmlns:p14="http://schemas.microsoft.com/office/powerpoint/2010/main" val="35864641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F8F6D-0E31-4C36-B386-84CD2683A48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70342A9-59F1-20E1-6431-EB36D91E2469}"/>
              </a:ext>
            </a:extLst>
          </p:cNvPr>
          <p:cNvSpPr>
            <a:spLocks noGrp="1"/>
          </p:cNvSpPr>
          <p:nvPr>
            <p:ph type="title" idx="1"/>
          </p:nvPr>
        </p:nvSpPr>
        <p:spPr/>
        <p:txBody>
          <a:bodyPr/>
          <a:lstStyle/>
          <a:p>
            <a:r>
              <a:rPr lang="zh-CN" altLang="en-US" dirty="0"/>
              <a:t>路径追踪  </a:t>
            </a:r>
            <a:r>
              <a:rPr lang="en-US" altLang="zh-CN" dirty="0"/>
              <a:t>——  </a:t>
            </a:r>
            <a:r>
              <a:rPr lang="zh-CN" altLang="en-US" dirty="0"/>
              <a:t>光谱形式</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2C1DDA9-2E96-424B-C438-F110153F699E}"/>
                  </a:ext>
                </a:extLst>
              </p:cNvPr>
              <p:cNvSpPr txBox="1"/>
              <p:nvPr/>
            </p:nvSpPr>
            <p:spPr>
              <a:xfrm>
                <a:off x="72603" y="1309096"/>
                <a:ext cx="5458874" cy="4439742"/>
              </a:xfrm>
              <a:prstGeom prst="rect">
                <a:avLst/>
              </a:prstGeom>
              <a:noFill/>
            </p:spPr>
            <p:txBody>
              <a:bodyPr wrap="square">
                <a:spAutoFit/>
              </a:bodyPr>
              <a:lstStyle/>
              <a:p>
                <a:pPr/>
                <a14:m>
                  <m:oMathPara xmlns:m="http://schemas.openxmlformats.org/officeDocument/2006/math">
                    <m:oMath>
                      <m:r>
                        <a:rPr lang="en-US" altLang="zh-CN" i="1" dirty="0" smtClean="0">
                          <a:latin typeface="Cambria Math" panose="02040503050406030204" pitchFamily="18" charset="0"/>
                        </a:rPr>
                        <m:t>𝐿</m:t>
                      </m:r>
                      <m:d>
                        <m:dPr>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𝟏</m:t>
                              </m:r>
                            </m:sub>
                          </m:sSub>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𝟎</m:t>
                              </m:r>
                            </m:sub>
                          </m:sSub>
                        </m:e>
                      </m:d>
                      <m:r>
                        <a:rPr lang="en-US" altLang="zh-CN" b="1" i="1" dirty="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e>
                      </m:nary>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𝑒</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Sub>
                        </m:e>
                      </m:d>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𝑖</m:t>
                          </m:r>
                          <m:r>
                            <a:rPr lang="en-US" altLang="zh-CN" i="1">
                              <a:latin typeface="Cambria Math" panose="02040503050406030204" pitchFamily="18" charset="0"/>
                            </a:rPr>
                            <m:t>−1</m:t>
                          </m:r>
                        </m:sub>
                      </m:sSub>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−1</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oMath>
                  </m:oMathPara>
                </a14:m>
                <a:endParaRPr lang="en-US" altLang="zh-CN"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𝑖</m:t>
                                  </m:r>
                                </m:sub>
                              </m:sSub>
                            </m:e>
                          </m:func>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i="1" dirty="0">
                              <a:latin typeface="Cambria Math" panose="02040503050406030204" pitchFamily="18" charset="0"/>
                            </a:rPr>
                            <m:t>𝑒</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oMath>
                  </m:oMathPara>
                </a14:m>
                <a:endParaRPr lang="en-US" altLang="zh-CN" dirty="0"/>
              </a:p>
              <a:p>
                <a:pPr>
                  <a:lnSpc>
                    <a:spcPct val="120000"/>
                  </a:lnSpc>
                  <a:spcBef>
                    <a:spcPts val="800"/>
                  </a:spcBef>
                </a:pPr>
                <a14:m>
                  <m:oMathPara xmlns:m="http://schemas.openxmlformats.org/officeDocument/2006/math">
                    <m:oMath>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−2</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e>
                      </m:d>
                      <m:r>
                        <a:rPr lang="en-US" altLang="zh-CN" i="1">
                          <a:latin typeface="Cambria Math" panose="02040503050406030204" pitchFamily="18" charset="0"/>
                        </a:rPr>
                        <m:t>=</m:t>
                      </m:r>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e>
                      </m:d>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e>
                      </m:d>
                    </m:oMath>
                  </m:oMathPara>
                </a14:m>
                <a:endParaRPr lang="en-US" altLang="zh-CN" i="1" dirty="0">
                  <a:latin typeface="Cambria Math" panose="02040503050406030204" pitchFamily="18" charset="0"/>
                </a:endParaRPr>
              </a:p>
              <a:p>
                <a:pPr>
                  <a:lnSpc>
                    <a:spcPct val="120000"/>
                  </a:lnSpc>
                </a:pPr>
                <a14:m>
                  <m:oMathPara xmlns:m="http://schemas.openxmlformats.org/officeDocument/2006/math">
                    <m:oMathParaPr>
                      <m:jc m:val="center"/>
                    </m:oMathParaPr>
                    <m:oMath>
                      <m:sSubSup>
                        <m:sSubSupPr>
                          <m:ctrlPr>
                            <a:rPr lang="en-US" altLang="zh-CN" i="1" dirty="0">
                              <a:solidFill>
                                <a:schemeClr val="accent3">
                                  <a:lumMod val="75000"/>
                                </a:schemeClr>
                              </a:solidFill>
                              <a:latin typeface="Cambria Math" panose="02040503050406030204" pitchFamily="18" charset="0"/>
                            </a:rPr>
                          </m:ctrlPr>
                        </m:sSubSupPr>
                        <m:e>
                          <m:r>
                            <a:rPr lang="en-US" altLang="zh-CN" i="1" dirty="0">
                              <a:solidFill>
                                <a:schemeClr val="accent3">
                                  <a:lumMod val="75000"/>
                                </a:schemeClr>
                              </a:solidFill>
                              <a:latin typeface="Cambria Math" panose="02040503050406030204" pitchFamily="18" charset="0"/>
                            </a:rPr>
                            <m:t>𝑞</m:t>
                          </m:r>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up>
                          <m:r>
                            <a:rPr lang="en-US" altLang="zh-CN" i="1" dirty="0">
                              <a:solidFill>
                                <a:schemeClr val="accent3">
                                  <a:lumMod val="75000"/>
                                </a:schemeClr>
                              </a:solidFill>
                              <a:latin typeface="Cambria Math" panose="02040503050406030204" pitchFamily="18" charset="0"/>
                            </a:rPr>
                            <m:t>𝑝𝑟𝑒</m:t>
                          </m:r>
                        </m:sup>
                      </m:sSubSup>
                      <m:d>
                        <m:dPr>
                          <m:ctrlPr>
                            <a:rPr lang="en-US" altLang="zh-CN" i="1" dirty="0">
                              <a:solidFill>
                                <a:schemeClr val="accent3">
                                  <a:lumMod val="75000"/>
                                </a:schemeClr>
                              </a:solidFill>
                              <a:latin typeface="Cambria Math" panose="02040503050406030204" pitchFamily="18" charset="0"/>
                            </a:rPr>
                          </m:ctrlPr>
                        </m:dPr>
                        <m:e>
                          <m:sSub>
                            <m:sSubPr>
                              <m:ctrlPr>
                                <a:rPr lang="en-US" altLang="zh-CN" i="1" dirty="0">
                                  <a:solidFill>
                                    <a:schemeClr val="accent3">
                                      <a:lumMod val="75000"/>
                                    </a:schemeClr>
                                  </a:solidFill>
                                  <a:latin typeface="Cambria Math" panose="02040503050406030204" pitchFamily="18" charset="0"/>
                                </a:rPr>
                              </m:ctrlPr>
                            </m:sSubPr>
                            <m:e>
                              <m:acc>
                                <m:accPr>
                                  <m:chr m:val="̅"/>
                                  <m:ctrlPr>
                                    <a:rPr lang="en-US" altLang="zh-CN" i="1" dirty="0">
                                      <a:solidFill>
                                        <a:schemeClr val="accent3">
                                          <a:lumMod val="75000"/>
                                        </a:schemeClr>
                                      </a:solidFill>
                                      <a:latin typeface="Cambria Math" panose="02040503050406030204" pitchFamily="18" charset="0"/>
                                    </a:rPr>
                                  </m:ctrlPr>
                                </m:accPr>
                                <m:e>
                                  <m:r>
                                    <a:rPr lang="en-US" altLang="zh-CN" i="1" dirty="0">
                                      <a:solidFill>
                                        <a:schemeClr val="accent3">
                                          <a:lumMod val="75000"/>
                                        </a:schemeClr>
                                      </a:solidFill>
                                      <a:latin typeface="Cambria Math" panose="02040503050406030204" pitchFamily="18" charset="0"/>
                                    </a:rPr>
                                    <m:t>𝑝</m:t>
                                  </m:r>
                                </m:e>
                              </m:acc>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Sub>
                        </m:e>
                      </m:d>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𝑘</m:t>
                                  </m:r>
                                </m:sub>
                              </m:sSub>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m:t>
                      </m:r>
                      <m:sSubSup>
                        <m:sSubSupPr>
                          <m:ctrlPr>
                            <a:rPr lang="en-US" altLang="zh-CN" i="1" dirty="0">
                              <a:solidFill>
                                <a:schemeClr val="accent3">
                                  <a:lumMod val="75000"/>
                                </a:schemeClr>
                              </a:solidFill>
                              <a:latin typeface="Cambria Math" panose="02040503050406030204" pitchFamily="18" charset="0"/>
                            </a:rPr>
                          </m:ctrlPr>
                        </m:sSubSupPr>
                        <m:e>
                          <m:r>
                            <a:rPr lang="en-US" altLang="zh-CN" i="1" dirty="0">
                              <a:solidFill>
                                <a:schemeClr val="accent3">
                                  <a:lumMod val="75000"/>
                                </a:schemeClr>
                              </a:solidFill>
                              <a:latin typeface="Cambria Math" panose="02040503050406030204" pitchFamily="18" charset="0"/>
                            </a:rPr>
                            <m:t>𝑞</m:t>
                          </m:r>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up>
                          <m:r>
                            <a:rPr lang="en-US" altLang="zh-CN" i="1" dirty="0">
                              <a:solidFill>
                                <a:schemeClr val="accent3">
                                  <a:lumMod val="75000"/>
                                </a:schemeClr>
                              </a:solidFill>
                              <a:latin typeface="Cambria Math" panose="02040503050406030204" pitchFamily="18" charset="0"/>
                            </a:rPr>
                            <m:t>𝑝𝑟𝑒</m:t>
                          </m:r>
                        </m:sup>
                      </m:sSubSup>
                      <m:d>
                        <m:dPr>
                          <m:ctrlPr>
                            <a:rPr lang="en-US" altLang="zh-CN" i="1" dirty="0">
                              <a:solidFill>
                                <a:schemeClr val="accent3">
                                  <a:lumMod val="75000"/>
                                </a:schemeClr>
                              </a:solidFill>
                              <a:latin typeface="Cambria Math" panose="02040503050406030204" pitchFamily="18" charset="0"/>
                            </a:rPr>
                          </m:ctrlPr>
                        </m:dPr>
                        <m:e>
                          <m:sSub>
                            <m:sSubPr>
                              <m:ctrlPr>
                                <a:rPr lang="en-US" altLang="zh-CN" i="1" dirty="0">
                                  <a:solidFill>
                                    <a:schemeClr val="accent3">
                                      <a:lumMod val="75000"/>
                                    </a:schemeClr>
                                  </a:solidFill>
                                  <a:latin typeface="Cambria Math" panose="02040503050406030204" pitchFamily="18" charset="0"/>
                                </a:rPr>
                              </m:ctrlPr>
                            </m:sSubPr>
                            <m:e>
                              <m:acc>
                                <m:accPr>
                                  <m:chr m:val="̅"/>
                                  <m:ctrlPr>
                                    <a:rPr lang="en-US" altLang="zh-CN" i="1" dirty="0">
                                      <a:solidFill>
                                        <a:schemeClr val="accent3">
                                          <a:lumMod val="75000"/>
                                        </a:schemeClr>
                                      </a:solidFill>
                                      <a:latin typeface="Cambria Math" panose="02040503050406030204" pitchFamily="18" charset="0"/>
                                    </a:rPr>
                                  </m:ctrlPr>
                                </m:accPr>
                                <m:e>
                                  <m:r>
                                    <a:rPr lang="en-US" altLang="zh-CN" i="1" dirty="0">
                                      <a:solidFill>
                                        <a:schemeClr val="accent3">
                                          <a:lumMod val="75000"/>
                                        </a:schemeClr>
                                      </a:solidFill>
                                      <a:latin typeface="Cambria Math" panose="02040503050406030204" pitchFamily="18" charset="0"/>
                                    </a:rPr>
                                    <m:t>𝑝</m:t>
                                  </m:r>
                                </m:e>
                              </m:acc>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Sub>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oMath>
                  </m:oMathPara>
                </a14:m>
                <a:endParaRPr lang="zh-CN" altLang="en-US" dirty="0"/>
              </a:p>
            </p:txBody>
          </p:sp>
        </mc:Choice>
        <mc:Fallback xmlns="">
          <p:sp>
            <p:nvSpPr>
              <p:cNvPr id="4" name="文本框 3">
                <a:extLst>
                  <a:ext uri="{FF2B5EF4-FFF2-40B4-BE49-F238E27FC236}">
                    <a16:creationId xmlns:a16="http://schemas.microsoft.com/office/drawing/2014/main" id="{52C1DDA9-2E96-424B-C438-F110153F699E}"/>
                  </a:ext>
                </a:extLst>
              </p:cNvPr>
              <p:cNvSpPr txBox="1">
                <a:spLocks noRot="1" noChangeAspect="1" noMove="1" noResize="1" noEditPoints="1" noAdjustHandles="1" noChangeArrowheads="1" noChangeShapeType="1" noTextEdit="1"/>
              </p:cNvSpPr>
              <p:nvPr/>
            </p:nvSpPr>
            <p:spPr>
              <a:xfrm>
                <a:off x="72603" y="1309096"/>
                <a:ext cx="5458874" cy="4439742"/>
              </a:xfrm>
              <a:prstGeom prst="rect">
                <a:avLst/>
              </a:prstGeom>
              <a:blipFill>
                <a:blip r:embed="rId2"/>
                <a:stretch>
                  <a:fillRect b="-82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C3D9434-18CF-5068-9277-37E5BC4E7B50}"/>
                  </a:ext>
                </a:extLst>
              </p:cNvPr>
              <p:cNvSpPr txBox="1"/>
              <p:nvPr/>
            </p:nvSpPr>
            <p:spPr>
              <a:xfrm>
                <a:off x="5628069" y="1309096"/>
                <a:ext cx="6516708" cy="4439742"/>
              </a:xfrm>
              <a:prstGeom prst="rect">
                <a:avLst/>
              </a:prstGeom>
              <a:noFill/>
            </p:spPr>
            <p:txBody>
              <a:bodyPr wrap="square">
                <a:spAutoFit/>
              </a:bodyPr>
              <a:lstStyle/>
              <a:p>
                <a:pPr/>
                <a14:m>
                  <m:oMathPara xmlns:m="http://schemas.openxmlformats.org/officeDocument/2006/math">
                    <m:oMath>
                      <m:r>
                        <a:rPr lang="en-US" altLang="zh-CN" i="1" dirty="0" smtClean="0">
                          <a:latin typeface="Cambria Math" panose="02040503050406030204" pitchFamily="18" charset="0"/>
                        </a:rPr>
                        <m:t>𝐿</m:t>
                      </m:r>
                      <m:d>
                        <m:dPr>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𝟏</m:t>
                              </m:r>
                            </m:sub>
                          </m:sSub>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𝟎</m:t>
                              </m:r>
                            </m:sub>
                          </m:sSub>
                          <m:r>
                            <a:rPr lang="en-US" altLang="zh-CN" b="1" i="1" dirty="0" smtClean="0">
                              <a:latin typeface="Cambria Math" panose="02040503050406030204" pitchFamily="18" charset="0"/>
                            </a:rPr>
                            <m:t>,</m:t>
                          </m:r>
                          <m:r>
                            <a:rPr lang="en-US" altLang="zh-CN" b="0" i="1" dirty="0" smtClean="0">
                              <a:solidFill>
                                <a:srgbClr val="FF0000"/>
                              </a:solidFill>
                              <a:latin typeface="Cambria Math" panose="02040503050406030204" pitchFamily="18" charset="0"/>
                            </a:rPr>
                            <m:t>𝜆</m:t>
                          </m:r>
                        </m:e>
                      </m:d>
                      <m:r>
                        <a:rPr lang="en-US" altLang="zh-CN" b="1" i="1" dirty="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d>
                            <m:dPr>
                              <m:ctrlPr>
                                <a:rPr lang="en-US" altLang="zh-CN" i="1" dirty="0">
                                  <a:solidFill>
                                    <a:srgbClr val="FF0000"/>
                                  </a:solidFill>
                                  <a:latin typeface="Cambria Math" panose="02040503050406030204" pitchFamily="18" charset="0"/>
                                </a:rPr>
                              </m:ctrlPr>
                            </m:dPr>
                            <m:e>
                              <m:r>
                                <a:rPr lang="en-US" altLang="zh-CN" i="1" dirty="0">
                                  <a:solidFill>
                                    <a:srgbClr val="FF0000"/>
                                  </a:solidFill>
                                  <a:latin typeface="Cambria Math" panose="02040503050406030204" pitchFamily="18" charset="0"/>
                                </a:rPr>
                                <m:t>𝜆</m:t>
                              </m:r>
                            </m:e>
                          </m:d>
                        </m:e>
                      </m:nary>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d>
                        <m:dPr>
                          <m:ctrlPr>
                            <a:rPr lang="en-US" altLang="zh-CN" i="1" dirty="0">
                              <a:solidFill>
                                <a:srgbClr val="FF0000"/>
                              </a:solidFill>
                              <a:latin typeface="Cambria Math" panose="02040503050406030204" pitchFamily="18" charset="0"/>
                            </a:rPr>
                          </m:ctrlPr>
                        </m:dPr>
                        <m:e>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𝑒</m:t>
                          </m:r>
                        </m:sub>
                      </m:sSub>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𝒊</m:t>
                              </m:r>
                              <m:r>
                                <a:rPr lang="en-US" altLang="zh-CN" b="1" i="1">
                                  <a:latin typeface="Cambria Math" panose="02040503050406030204" pitchFamily="18" charset="0"/>
                                </a:rPr>
                                <m:t>−</m:t>
                              </m:r>
                              <m:r>
                                <a:rPr lang="en-US" altLang="zh-CN" b="1" i="1">
                                  <a:latin typeface="Cambria Math" panose="02040503050406030204" pitchFamily="18" charset="0"/>
                                </a:rPr>
                                <m:t>𝟏</m:t>
                              </m:r>
                            </m:sub>
                          </m:sSub>
                          <m:r>
                            <a:rPr lang="en-US" altLang="zh-CN" b="1" i="1"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𝑖</m:t>
                          </m:r>
                          <m:r>
                            <a:rPr lang="en-US" altLang="zh-CN" i="1">
                              <a:latin typeface="Cambria Math" panose="02040503050406030204" pitchFamily="18" charset="0"/>
                            </a:rPr>
                            <m:t>−1</m:t>
                          </m:r>
                        </m:sub>
                      </m:sSub>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−1</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ctrlPr>
                                <a:rPr lang="en-US" altLang="zh-CN" i="1" dirty="0">
                                  <a:solidFill>
                                    <a:srgbClr val="FF0000"/>
                                  </a:solidFill>
                                  <a:latin typeface="Cambria Math" panose="02040503050406030204" pitchFamily="18" charset="0"/>
                                </a:rPr>
                              </m:ctrlPr>
                            </m:dPr>
                            <m:e>
                              <m:r>
                                <a:rPr lang="en-US" altLang="zh-CN" i="1" dirty="0">
                                  <a:solidFill>
                                    <a:srgbClr val="FF0000"/>
                                  </a:solidFill>
                                  <a:latin typeface="Cambria Math" panose="02040503050406030204" pitchFamily="18" charset="0"/>
                                </a:rPr>
                                <m:t>𝜆</m:t>
                              </m:r>
                            </m:e>
                          </m:d>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𝑓</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d>
                        <m:dPr>
                          <m:ctrlPr>
                            <a:rPr lang="en-US" altLang="zh-CN" i="1" dirty="0">
                              <a:solidFill>
                                <a:srgbClr val="FF0000"/>
                              </a:solidFill>
                              <a:latin typeface="Cambria Math" panose="02040503050406030204" pitchFamily="18" charset="0"/>
                            </a:rPr>
                          </m:ctrlPr>
                        </m:dPr>
                        <m:e>
                          <m:r>
                            <a:rPr lang="en-US" altLang="zh-CN" i="1" dirty="0">
                              <a:solidFill>
                                <a:srgbClr val="FF0000"/>
                              </a:solidFill>
                              <a:latin typeface="Cambria Math" panose="02040503050406030204" pitchFamily="18" charset="0"/>
                            </a:rPr>
                            <m:t>𝜆</m:t>
                          </m:r>
                        </m:e>
                      </m:d>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𝑉</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 </m:t>
                      </m:r>
                      <m:d>
                        <m:dPr>
                          <m:begChr m:val="|"/>
                          <m:endChr m:val="|"/>
                          <m:ctrlPr>
                            <a:rPr lang="en-US" altLang="zh-CN" i="1" dirty="0">
                              <a:latin typeface="Cambria Math" panose="02040503050406030204" pitchFamily="18" charset="0"/>
                            </a:rPr>
                          </m:ctrlPr>
                        </m:dPr>
                        <m:e>
                          <m:func>
                            <m:funcPr>
                              <m:ctrlPr>
                                <a:rPr lang="en-US" altLang="zh-CN" dirty="0">
                                  <a:latin typeface="Cambria Math" panose="02040503050406030204" pitchFamily="18" charset="0"/>
                                </a:rPr>
                              </m:ctrlPr>
                            </m:funcPr>
                            <m:fName>
                              <m:r>
                                <m:rPr>
                                  <m:sty m:val="p"/>
                                </m:rPr>
                                <a:rPr lang="en-US" altLang="zh-CN" dirty="0">
                                  <a:latin typeface="Cambria Math" panose="02040503050406030204" pitchFamily="18" charset="0"/>
                                </a:rPr>
                                <m:t>cos</m:t>
                              </m:r>
                            </m:fName>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𝜃</m:t>
                                  </m:r>
                                </m:e>
                                <m:sub>
                                  <m:r>
                                    <a:rPr lang="en-US" altLang="zh-CN" i="1" dirty="0">
                                      <a:latin typeface="Cambria Math" panose="02040503050406030204" pitchFamily="18" charset="0"/>
                                    </a:rPr>
                                    <m:t>𝑖</m:t>
                                  </m:r>
                                </m:sub>
                              </m:sSub>
                            </m:e>
                          </m:func>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𝐿</m:t>
                          </m:r>
                        </m:e>
                        <m:sub>
                          <m:r>
                            <a:rPr lang="en-US" altLang="zh-CN" i="1" dirty="0">
                              <a:latin typeface="Cambria Math" panose="02040503050406030204" pitchFamily="18" charset="0"/>
                            </a:rPr>
                            <m:t>𝑒</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oMath>
                  </m:oMathPara>
                </a14:m>
                <a:endParaRPr lang="en-US" altLang="zh-CN" dirty="0"/>
              </a:p>
              <a:p>
                <a:pPr>
                  <a:lnSpc>
                    <a:spcPct val="120000"/>
                  </a:lnSpc>
                </a:pPr>
                <a14:m>
                  <m:oMathPara xmlns:m="http://schemas.openxmlformats.org/officeDocument/2006/math">
                    <m:oMath>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r>
                            <a:rPr lang="en-US" altLang="zh-CN" b="0" i="1" smtClean="0">
                              <a:solidFill>
                                <a:schemeClr val="accent2">
                                  <a:lumMod val="75000"/>
                                </a:schemeClr>
                              </a:solidFill>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−2</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ctrlPr>
                                <a:rPr lang="en-US" altLang="zh-CN" i="1" dirty="0">
                                  <a:solidFill>
                                    <a:srgbClr val="FF0000"/>
                                  </a:solidFill>
                                  <a:latin typeface="Cambria Math" panose="02040503050406030204" pitchFamily="18" charset="0"/>
                                </a:rPr>
                              </m:ctrlPr>
                            </m:dPr>
                            <m:e>
                              <m:r>
                                <a:rPr lang="en-US" altLang="zh-CN" i="1" dirty="0">
                                  <a:solidFill>
                                    <a:srgbClr val="FF0000"/>
                                  </a:solidFill>
                                  <a:latin typeface="Cambria Math" panose="02040503050406030204" pitchFamily="18" charset="0"/>
                                </a:rPr>
                                <m:t>𝜆</m:t>
                              </m:r>
                            </m:e>
                          </m:d>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a:latin typeface="Cambria Math" panose="02040503050406030204" pitchFamily="18" charset="0"/>
                        </a:rPr>
                        <m:t>=</m:t>
                      </m:r>
                      <m:sSubSup>
                        <m:sSubSupPr>
                          <m:ctrlPr>
                            <a:rPr lang="en-US" altLang="zh-CN">
                              <a:solidFill>
                                <a:schemeClr val="accent2">
                                  <a:lumMod val="75000"/>
                                </a:schemeClr>
                              </a:solidFill>
                              <a:latin typeface="Cambria Math" panose="02040503050406030204" pitchFamily="18" charset="0"/>
                            </a:rPr>
                          </m:ctrlPr>
                        </m:sSubSupPr>
                        <m:e>
                          <m:r>
                            <m:rPr>
                              <m:sty m:val="p"/>
                            </m:rPr>
                            <a:rPr lang="en-US" altLang="zh-CN">
                              <a:solidFill>
                                <a:schemeClr val="accent2">
                                  <a:lumMod val="75000"/>
                                </a:schemeClr>
                              </a:solidFill>
                              <a:latin typeface="Cambria Math" panose="02040503050406030204" pitchFamily="18" charset="0"/>
                            </a:rPr>
                            <m:t>Φ</m:t>
                          </m:r>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up>
                          <m:r>
                            <a:rPr lang="en-US" altLang="zh-CN" i="1">
                              <a:solidFill>
                                <a:schemeClr val="accent2">
                                  <a:lumMod val="75000"/>
                                </a:schemeClr>
                              </a:solidFill>
                              <a:latin typeface="Cambria Math" panose="02040503050406030204" pitchFamily="18" charset="0"/>
                            </a:rPr>
                            <m:t>𝑝𝑟𝑒</m:t>
                          </m:r>
                        </m:sup>
                      </m:sSubSup>
                      <m:d>
                        <m:dPr>
                          <m:ctrlPr>
                            <a:rPr lang="en-US" altLang="zh-CN" i="1">
                              <a:solidFill>
                                <a:schemeClr val="accent2">
                                  <a:lumMod val="75000"/>
                                </a:schemeClr>
                              </a:solidFill>
                              <a:latin typeface="Cambria Math" panose="02040503050406030204" pitchFamily="18" charset="0"/>
                            </a:rPr>
                          </m:ctrlPr>
                        </m:dPr>
                        <m:e>
                          <m:sSub>
                            <m:sSubPr>
                              <m:ctrlPr>
                                <a:rPr lang="en-US" altLang="zh-CN" i="1">
                                  <a:solidFill>
                                    <a:schemeClr val="accent2">
                                      <a:lumMod val="75000"/>
                                    </a:schemeClr>
                                  </a:solidFill>
                                  <a:latin typeface="Cambria Math" panose="02040503050406030204" pitchFamily="18" charset="0"/>
                                </a:rPr>
                              </m:ctrlPr>
                            </m:sSubPr>
                            <m:e>
                              <m:acc>
                                <m:accPr>
                                  <m:chr m:val="̅"/>
                                  <m:ctrlPr>
                                    <a:rPr lang="en-US" altLang="zh-CN" i="1">
                                      <a:solidFill>
                                        <a:schemeClr val="accent2">
                                          <a:lumMod val="75000"/>
                                        </a:schemeClr>
                                      </a:solidFill>
                                      <a:latin typeface="Cambria Math" panose="02040503050406030204" pitchFamily="18" charset="0"/>
                                    </a:rPr>
                                  </m:ctrlPr>
                                </m:accPr>
                                <m:e>
                                  <m:r>
                                    <a:rPr lang="en-US" altLang="zh-CN" i="1">
                                      <a:solidFill>
                                        <a:schemeClr val="accent2">
                                          <a:lumMod val="75000"/>
                                        </a:schemeClr>
                                      </a:solidFill>
                                      <a:latin typeface="Cambria Math" panose="02040503050406030204" pitchFamily="18" charset="0"/>
                                    </a:rPr>
                                    <m:t>𝑝</m:t>
                                  </m:r>
                                </m:e>
                              </m:acc>
                            </m:e>
                            <m:sub>
                              <m:r>
                                <a:rPr lang="en-US" altLang="zh-CN" i="1">
                                  <a:solidFill>
                                    <a:schemeClr val="accent2">
                                      <a:lumMod val="75000"/>
                                    </a:schemeClr>
                                  </a:solidFill>
                                  <a:latin typeface="Cambria Math" panose="02040503050406030204" pitchFamily="18" charset="0"/>
                                </a:rPr>
                                <m:t>𝑖</m:t>
                              </m:r>
                              <m:r>
                                <a:rPr lang="en-US" altLang="zh-CN" i="1">
                                  <a:solidFill>
                                    <a:schemeClr val="accent2">
                                      <a:lumMod val="75000"/>
                                    </a:schemeClr>
                                  </a:solidFill>
                                  <a:latin typeface="Cambria Math" panose="02040503050406030204" pitchFamily="18" charset="0"/>
                                </a:rPr>
                                <m:t>−1</m:t>
                              </m:r>
                            </m:sub>
                          </m:sSub>
                          <m:r>
                            <a:rPr lang="en-US" altLang="zh-CN" b="0" i="1" smtClean="0">
                              <a:solidFill>
                                <a:schemeClr val="accent2">
                                  <a:lumMod val="75000"/>
                                </a:schemeClr>
                              </a:solidFill>
                              <a:latin typeface="Cambria Math" panose="02040503050406030204" pitchFamily="18" charset="0"/>
                            </a:rPr>
                            <m:t>,</m:t>
                          </m:r>
                          <m:r>
                            <a:rPr lang="en-US" altLang="zh-CN" i="1" dirty="0">
                              <a:solidFill>
                                <a:srgbClr val="FF0000"/>
                              </a:solidFill>
                              <a:latin typeface="Cambria Math" panose="02040503050406030204" pitchFamily="18" charset="0"/>
                            </a:rPr>
                            <m:t>𝜆</m:t>
                          </m:r>
                        </m:e>
                      </m:d>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b="0" i="1"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oMath>
                  </m:oMathPara>
                </a14:m>
                <a:endParaRPr lang="en-US" altLang="zh-CN" i="1" dirty="0">
                  <a:latin typeface="Cambria Math" panose="02040503050406030204" pitchFamily="18" charset="0"/>
                </a:endParaRPr>
              </a:p>
              <a:p>
                <a:pPr>
                  <a:lnSpc>
                    <a:spcPct val="120000"/>
                  </a:lnSpc>
                </a:pPr>
                <a14:m>
                  <m:oMathPara xmlns:m="http://schemas.openxmlformats.org/officeDocument/2006/math">
                    <m:oMath>
                      <m:sSubSup>
                        <m:sSubSupPr>
                          <m:ctrlPr>
                            <a:rPr lang="en-US" altLang="zh-CN" i="1" dirty="0">
                              <a:solidFill>
                                <a:schemeClr val="accent3">
                                  <a:lumMod val="75000"/>
                                </a:schemeClr>
                              </a:solidFill>
                              <a:latin typeface="Cambria Math" panose="02040503050406030204" pitchFamily="18" charset="0"/>
                            </a:rPr>
                          </m:ctrlPr>
                        </m:sSubSupPr>
                        <m:e>
                          <m:r>
                            <a:rPr lang="en-US" altLang="zh-CN" i="1" dirty="0">
                              <a:solidFill>
                                <a:schemeClr val="accent3">
                                  <a:lumMod val="75000"/>
                                </a:schemeClr>
                              </a:solidFill>
                              <a:latin typeface="Cambria Math" panose="02040503050406030204" pitchFamily="18" charset="0"/>
                            </a:rPr>
                            <m:t>𝑞</m:t>
                          </m:r>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up>
                          <m:r>
                            <a:rPr lang="en-US" altLang="zh-CN" i="1" dirty="0">
                              <a:solidFill>
                                <a:schemeClr val="accent3">
                                  <a:lumMod val="75000"/>
                                </a:schemeClr>
                              </a:solidFill>
                              <a:latin typeface="Cambria Math" panose="02040503050406030204" pitchFamily="18" charset="0"/>
                            </a:rPr>
                            <m:t>𝑝𝑟𝑒</m:t>
                          </m:r>
                        </m:sup>
                      </m:sSubSup>
                      <m:d>
                        <m:dPr>
                          <m:ctrlPr>
                            <a:rPr lang="en-US" altLang="zh-CN" i="1" dirty="0">
                              <a:solidFill>
                                <a:schemeClr val="accent3">
                                  <a:lumMod val="75000"/>
                                </a:schemeClr>
                              </a:solidFill>
                              <a:latin typeface="Cambria Math" panose="02040503050406030204" pitchFamily="18" charset="0"/>
                            </a:rPr>
                          </m:ctrlPr>
                        </m:dPr>
                        <m:e>
                          <m:sSub>
                            <m:sSubPr>
                              <m:ctrlPr>
                                <a:rPr lang="en-US" altLang="zh-CN" i="1" dirty="0">
                                  <a:solidFill>
                                    <a:schemeClr val="accent3">
                                      <a:lumMod val="75000"/>
                                    </a:schemeClr>
                                  </a:solidFill>
                                  <a:latin typeface="Cambria Math" panose="02040503050406030204" pitchFamily="18" charset="0"/>
                                </a:rPr>
                              </m:ctrlPr>
                            </m:sSubPr>
                            <m:e>
                              <m:acc>
                                <m:accPr>
                                  <m:chr m:val="̅"/>
                                  <m:ctrlPr>
                                    <a:rPr lang="en-US" altLang="zh-CN" i="1" dirty="0">
                                      <a:solidFill>
                                        <a:schemeClr val="accent3">
                                          <a:lumMod val="75000"/>
                                        </a:schemeClr>
                                      </a:solidFill>
                                      <a:latin typeface="Cambria Math" panose="02040503050406030204" pitchFamily="18" charset="0"/>
                                    </a:rPr>
                                  </m:ctrlPr>
                                </m:accPr>
                                <m:e>
                                  <m:r>
                                    <a:rPr lang="en-US" altLang="zh-CN" i="1" dirty="0">
                                      <a:solidFill>
                                        <a:schemeClr val="accent3">
                                          <a:lumMod val="75000"/>
                                        </a:schemeClr>
                                      </a:solidFill>
                                      <a:latin typeface="Cambria Math" panose="02040503050406030204" pitchFamily="18" charset="0"/>
                                    </a:rPr>
                                    <m:t>𝑝</m:t>
                                  </m:r>
                                </m:e>
                              </m:acc>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Sub>
                          <m:r>
                            <a:rPr lang="en-US" altLang="zh-CN" b="0" i="1" dirty="0" smtClean="0">
                              <a:solidFill>
                                <a:schemeClr val="accent3">
                                  <a:lumMod val="75000"/>
                                </a:schemeClr>
                              </a:solidFill>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𝑘</m:t>
                                  </m:r>
                                </m:sub>
                              </m:sSub>
                              <m:r>
                                <a:rPr lang="en-US" altLang="zh-CN" b="0" i="1" dirty="0"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m:t>
                      </m:r>
                      <m:sSubSup>
                        <m:sSubSupPr>
                          <m:ctrlPr>
                            <a:rPr lang="en-US" altLang="zh-CN" i="1" dirty="0">
                              <a:solidFill>
                                <a:schemeClr val="accent3">
                                  <a:lumMod val="75000"/>
                                </a:schemeClr>
                              </a:solidFill>
                              <a:latin typeface="Cambria Math" panose="02040503050406030204" pitchFamily="18" charset="0"/>
                            </a:rPr>
                          </m:ctrlPr>
                        </m:sSubSupPr>
                        <m:e>
                          <m:r>
                            <a:rPr lang="en-US" altLang="zh-CN" i="1" dirty="0">
                              <a:solidFill>
                                <a:schemeClr val="accent3">
                                  <a:lumMod val="75000"/>
                                </a:schemeClr>
                              </a:solidFill>
                              <a:latin typeface="Cambria Math" panose="02040503050406030204" pitchFamily="18" charset="0"/>
                            </a:rPr>
                            <m:t>𝑞</m:t>
                          </m:r>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up>
                          <m:r>
                            <a:rPr lang="en-US" altLang="zh-CN" i="1" dirty="0">
                              <a:solidFill>
                                <a:schemeClr val="accent3">
                                  <a:lumMod val="75000"/>
                                </a:schemeClr>
                              </a:solidFill>
                              <a:latin typeface="Cambria Math" panose="02040503050406030204" pitchFamily="18" charset="0"/>
                            </a:rPr>
                            <m:t>𝑝𝑟𝑒</m:t>
                          </m:r>
                        </m:sup>
                      </m:sSubSup>
                      <m:d>
                        <m:dPr>
                          <m:ctrlPr>
                            <a:rPr lang="en-US" altLang="zh-CN" i="1" dirty="0">
                              <a:solidFill>
                                <a:schemeClr val="accent3">
                                  <a:lumMod val="75000"/>
                                </a:schemeClr>
                              </a:solidFill>
                              <a:latin typeface="Cambria Math" panose="02040503050406030204" pitchFamily="18" charset="0"/>
                            </a:rPr>
                          </m:ctrlPr>
                        </m:dPr>
                        <m:e>
                          <m:sSub>
                            <m:sSubPr>
                              <m:ctrlPr>
                                <a:rPr lang="en-US" altLang="zh-CN" i="1" dirty="0">
                                  <a:solidFill>
                                    <a:schemeClr val="accent3">
                                      <a:lumMod val="75000"/>
                                    </a:schemeClr>
                                  </a:solidFill>
                                  <a:latin typeface="Cambria Math" panose="02040503050406030204" pitchFamily="18" charset="0"/>
                                </a:rPr>
                              </m:ctrlPr>
                            </m:sSubPr>
                            <m:e>
                              <m:acc>
                                <m:accPr>
                                  <m:chr m:val="̅"/>
                                  <m:ctrlPr>
                                    <a:rPr lang="en-US" altLang="zh-CN" i="1" dirty="0">
                                      <a:solidFill>
                                        <a:schemeClr val="accent3">
                                          <a:lumMod val="75000"/>
                                        </a:schemeClr>
                                      </a:solidFill>
                                      <a:latin typeface="Cambria Math" panose="02040503050406030204" pitchFamily="18" charset="0"/>
                                    </a:rPr>
                                  </m:ctrlPr>
                                </m:accPr>
                                <m:e>
                                  <m:r>
                                    <a:rPr lang="en-US" altLang="zh-CN" i="1" dirty="0">
                                      <a:solidFill>
                                        <a:schemeClr val="accent3">
                                          <a:lumMod val="75000"/>
                                        </a:schemeClr>
                                      </a:solidFill>
                                      <a:latin typeface="Cambria Math" panose="02040503050406030204" pitchFamily="18" charset="0"/>
                                    </a:rPr>
                                    <m:t>𝑝</m:t>
                                  </m:r>
                                </m:e>
                              </m:acc>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Sub>
                          <m:r>
                            <a:rPr lang="en-US" altLang="zh-CN" b="0" i="1" dirty="0" smtClean="0">
                              <a:solidFill>
                                <a:schemeClr val="accent3">
                                  <a:lumMod val="75000"/>
                                </a:schemeClr>
                              </a:solidFill>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r>
                            <a:rPr lang="en-US" altLang="zh-CN" i="1" dirty="0">
                              <a:solidFill>
                                <a:srgbClr val="FF0000"/>
                              </a:solidFill>
                              <a:latin typeface="Cambria Math" panose="02040503050406030204" pitchFamily="18" charset="0"/>
                            </a:rPr>
                            <m:t>𝜆</m:t>
                          </m:r>
                        </m:e>
                      </m:d>
                    </m:oMath>
                  </m:oMathPara>
                </a14:m>
                <a:endParaRPr lang="zh-CN" altLang="en-US" dirty="0"/>
              </a:p>
            </p:txBody>
          </p:sp>
        </mc:Choice>
        <mc:Fallback xmlns="">
          <p:sp>
            <p:nvSpPr>
              <p:cNvPr id="9" name="文本框 8">
                <a:extLst>
                  <a:ext uri="{FF2B5EF4-FFF2-40B4-BE49-F238E27FC236}">
                    <a16:creationId xmlns:a16="http://schemas.microsoft.com/office/drawing/2014/main" id="{5C3D9434-18CF-5068-9277-37E5BC4E7B50}"/>
                  </a:ext>
                </a:extLst>
              </p:cNvPr>
              <p:cNvSpPr txBox="1">
                <a:spLocks noRot="1" noChangeAspect="1" noMove="1" noResize="1" noEditPoints="1" noAdjustHandles="1" noChangeArrowheads="1" noChangeShapeType="1" noTextEdit="1"/>
              </p:cNvSpPr>
              <p:nvPr/>
            </p:nvSpPr>
            <p:spPr>
              <a:xfrm>
                <a:off x="5628069" y="1309096"/>
                <a:ext cx="6516708" cy="4439742"/>
              </a:xfrm>
              <a:prstGeom prst="rect">
                <a:avLst/>
              </a:prstGeom>
              <a:blipFill>
                <a:blip r:embed="rId3"/>
                <a:stretch>
                  <a:fillRect b="-824"/>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4D0EA20C-1F49-ECF0-325C-2E85D758BADE}"/>
              </a:ext>
            </a:extLst>
          </p:cNvPr>
          <p:cNvCxnSpPr/>
          <p:nvPr/>
        </p:nvCxnSpPr>
        <p:spPr>
          <a:xfrm>
            <a:off x="5531477" y="1229932"/>
            <a:ext cx="0" cy="4945487"/>
          </a:xfrm>
          <a:prstGeom prst="line">
            <a:avLst/>
          </a:prstGeom>
          <a:ln w="57150">
            <a:solidFill>
              <a:srgbClr val="7C021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36052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48438-4863-84C0-DD1A-69B8E1BF89A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9F653708-DB7D-1BA5-6123-30D079BDF5DB}"/>
              </a:ext>
            </a:extLst>
          </p:cNvPr>
          <p:cNvSpPr>
            <a:spLocks noGrp="1"/>
          </p:cNvSpPr>
          <p:nvPr>
            <p:ph type="title" idx="1"/>
          </p:nvPr>
        </p:nvSpPr>
        <p:spPr/>
        <p:txBody>
          <a:bodyPr/>
          <a:lstStyle/>
          <a:p>
            <a:r>
              <a:rPr lang="zh-CN" altLang="en-US" dirty="0"/>
              <a:t>路径追踪  </a:t>
            </a:r>
            <a:r>
              <a:rPr lang="en-US" altLang="zh-CN" dirty="0"/>
              <a:t>——  </a:t>
            </a:r>
            <a:r>
              <a:rPr lang="zh-CN" altLang="en-US" dirty="0"/>
              <a:t>光谱形式</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27AE9F0-3948-2090-6FF7-B7B3D0D0633D}"/>
                  </a:ext>
                </a:extLst>
              </p:cNvPr>
              <p:cNvSpPr txBox="1"/>
              <p:nvPr/>
            </p:nvSpPr>
            <p:spPr>
              <a:xfrm>
                <a:off x="212683" y="1277199"/>
                <a:ext cx="6094926" cy="1754006"/>
              </a:xfrm>
              <a:prstGeom prst="rect">
                <a:avLst/>
              </a:prstGeom>
              <a:noFill/>
            </p:spPr>
            <p:txBody>
              <a:bodyPr wrap="square">
                <a:spAutoFit/>
              </a:bodyPr>
              <a:lstStyle/>
              <a:p>
                <a:pPr/>
                <a14:m>
                  <m:oMathPara xmlns:m="http://schemas.openxmlformats.org/officeDocument/2006/math">
                    <m:oMath>
                      <m:r>
                        <a:rPr lang="en-US" altLang="zh-CN" i="1" smtClean="0">
                          <a:latin typeface="Cambria Math" panose="02040503050406030204" pitchFamily="18" charset="0"/>
                        </a:rPr>
                        <m:t>𝐿</m:t>
                      </m:r>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𝟏</m:t>
                              </m:r>
                            </m:sub>
                          </m:sSub>
                          <m:r>
                            <a:rPr lang="en-US" altLang="zh-CN"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𝟎</m:t>
                              </m:r>
                            </m:sub>
                          </m:sSub>
                          <m:r>
                            <a:rPr lang="en-US" altLang="zh-CN" b="0" i="1" smtClean="0">
                              <a:latin typeface="Cambria Math" panose="02040503050406030204" pitchFamily="18" charset="0"/>
                            </a:rPr>
                            <m:t>,</m:t>
                          </m:r>
                          <m:r>
                            <a:rPr lang="en-US" altLang="zh-CN" b="0" i="1" smtClean="0">
                              <a:solidFill>
                                <a:srgbClr val="FF0000"/>
                              </a:solidFill>
                              <a:latin typeface="Cambria Math" panose="02040503050406030204" pitchFamily="18" charset="0"/>
                            </a:rPr>
                            <m:t>𝜆</m:t>
                          </m:r>
                        </m:e>
                      </m:d>
                      <m:r>
                        <a:rPr lang="en-US" altLang="zh-CN" i="1" smtClean="0">
                          <a:latin typeface="Cambria Math" panose="02040503050406030204" pitchFamily="18" charset="0"/>
                          <a:ea typeface="Cambria Math" panose="02040503050406030204" pitchFamily="18" charset="0"/>
                        </a:rPr>
                        <m:t>=</m:t>
                      </m:r>
                      <m:nary>
                        <m:naryPr>
                          <m:chr m:val="∑"/>
                          <m:ctrlPr>
                            <a:rPr lang="en-US" altLang="zh-CN" i="1" dirty="0">
                              <a:solidFill>
                                <a:schemeClr val="tx1"/>
                              </a:solidFill>
                              <a:latin typeface="Cambria Math" panose="02040503050406030204" pitchFamily="18" charset="0"/>
                            </a:rPr>
                          </m:ctrlPr>
                        </m:naryPr>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up>
                          <m:r>
                            <a:rPr lang="en-US" altLang="zh-CN" b="1" i="1" dirty="0">
                              <a:solidFill>
                                <a:schemeClr val="tx1"/>
                              </a:solidFill>
                              <a:latin typeface="Cambria Math" panose="02040503050406030204" pitchFamily="18" charset="0"/>
                            </a:rPr>
                            <m:t>+∞</m:t>
                          </m:r>
                        </m:sup>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𝐼</m:t>
                              </m:r>
                            </m:e>
                            <m:sub>
                              <m:r>
                                <a:rPr lang="en-US" altLang="zh-CN" i="1" dirty="0">
                                  <a:solidFill>
                                    <a:schemeClr val="tx1"/>
                                  </a:solidFill>
                                  <a:latin typeface="Cambria Math" panose="02040503050406030204" pitchFamily="18" charset="0"/>
                                </a:rPr>
                                <m:t>𝑖</m:t>
                              </m:r>
                            </m:sub>
                          </m:sSub>
                          <m:d>
                            <m:dPr>
                              <m:ctrlPr>
                                <a:rPr lang="en-US" altLang="zh-CN" i="1" dirty="0">
                                  <a:solidFill>
                                    <a:srgbClr val="FF0000"/>
                                  </a:solidFill>
                                  <a:latin typeface="Cambria Math" panose="02040503050406030204" pitchFamily="18" charset="0"/>
                                </a:rPr>
                              </m:ctrlPr>
                            </m:dPr>
                            <m:e>
                              <m:r>
                                <a:rPr lang="en-US" altLang="zh-CN" i="1" dirty="0">
                                  <a:solidFill>
                                    <a:srgbClr val="FF0000"/>
                                  </a:solidFill>
                                  <a:latin typeface="Cambria Math" panose="02040503050406030204" pitchFamily="18" charset="0"/>
                                </a:rPr>
                                <m:t>𝜆</m:t>
                              </m:r>
                            </m:e>
                          </m:d>
                        </m:e>
                      </m:nary>
                    </m:oMath>
                  </m:oMathPara>
                </a14:m>
                <a:endParaRPr lang="en-US" altLang="zh-CN" sz="1800" b="0" i="1" dirty="0">
                  <a:latin typeface="Cambria Math" panose="02040503050406030204" pitchFamily="18" charset="0"/>
                </a:endParaRPr>
              </a:p>
              <a:p>
                <a:pPr/>
                <a14:m>
                  <m:oMathPara xmlns:m="http://schemas.openxmlformats.org/officeDocument/2006/math">
                    <m:oMath>
                      <m:d>
                        <m:dPr>
                          <m:ctrlPr>
                            <a:rPr lang="en-US" altLang="zh-CN" sz="1800" b="0" i="1" smtClean="0">
                              <a:latin typeface="Cambria Math" panose="02040503050406030204" pitchFamily="18" charset="0"/>
                            </a:rPr>
                          </m:ctrlPr>
                        </m:dPr>
                        <m:e>
                          <m:eqArr>
                            <m:eqArrPr>
                              <m:ctrlPr>
                                <a:rPr lang="en-US" altLang="zh-CN" sz="1800" b="0" i="1" smtClean="0">
                                  <a:latin typeface="Cambria Math" panose="02040503050406030204" pitchFamily="18" charset="0"/>
                                </a:rPr>
                              </m:ctrlPr>
                            </m:eqArrPr>
                            <m:e>
                              <m:r>
                                <a:rPr lang="en-US" altLang="zh-CN" sz="1800" b="0" i="1" smtClean="0">
                                  <a:latin typeface="Cambria Math" panose="02040503050406030204" pitchFamily="18" charset="0"/>
                                </a:rPr>
                                <m:t>𝑋</m:t>
                              </m:r>
                            </m:e>
                            <m:e>
                              <m:r>
                                <a:rPr lang="en-US" altLang="zh-CN" sz="1800" b="0" i="1" smtClean="0">
                                  <a:latin typeface="Cambria Math" panose="02040503050406030204" pitchFamily="18" charset="0"/>
                                </a:rPr>
                                <m:t>𝑌</m:t>
                              </m:r>
                            </m:e>
                            <m:e>
                              <m:r>
                                <a:rPr lang="en-US" altLang="zh-CN" sz="1800" b="0" i="1" smtClean="0">
                                  <a:latin typeface="Cambria Math" panose="02040503050406030204" pitchFamily="18" charset="0"/>
                                </a:rPr>
                                <m:t>𝑍</m:t>
                              </m:r>
                            </m:e>
                          </m:eqArr>
                        </m:e>
                      </m:d>
                      <m:r>
                        <a:rPr lang="en-US" altLang="zh-CN" sz="1800" i="1">
                          <a:latin typeface="Cambria Math" panose="02040503050406030204" pitchFamily="18" charset="0"/>
                        </a:rPr>
                        <m:t>=</m:t>
                      </m:r>
                      <m:nary>
                        <m:naryPr>
                          <m:supHide m:val="on"/>
                          <m:ctrlPr>
                            <a:rPr lang="en-US" altLang="zh-CN" sz="1800" b="0" i="0" smtClean="0">
                              <a:latin typeface="Cambria Math" panose="02040503050406030204" pitchFamily="18" charset="0"/>
                            </a:rPr>
                          </m:ctrlPr>
                        </m:naryPr>
                        <m:sub>
                          <m:r>
                            <m:rPr>
                              <m:sty m:val="p"/>
                            </m:rPr>
                            <a:rPr lang="en-US" altLang="zh-CN" sz="1800" b="0" i="0" smtClean="0">
                              <a:latin typeface="Cambria Math" panose="02040503050406030204" pitchFamily="18" charset="0"/>
                            </a:rPr>
                            <m:t>Λ</m:t>
                          </m:r>
                        </m:sub>
                        <m:sup/>
                        <m:e>
                          <m:r>
                            <a:rPr lang="en-US" altLang="zh-CN" i="1">
                              <a:latin typeface="Cambria Math" panose="02040503050406030204" pitchFamily="18" charset="0"/>
                            </a:rPr>
                            <m:t>𝐿</m:t>
                          </m:r>
                          <m:d>
                            <m:dPr>
                              <m:ctrlPr>
                                <a:rPr lang="en-US" altLang="zh-CN" b="1" i="1">
                                  <a:latin typeface="Cambria Math" panose="02040503050406030204" pitchFamily="18" charset="0"/>
                                </a:rPr>
                              </m:ctrlPr>
                            </m:dPr>
                            <m:e>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𝟏</m:t>
                                  </m:r>
                                </m:sub>
                              </m:sSub>
                              <m:r>
                                <a:rPr lang="en-US" altLang="zh-CN"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𝒑</m:t>
                                  </m:r>
                                </m:e>
                                <m:sub>
                                  <m:r>
                                    <a:rPr lang="en-US" altLang="zh-CN" b="1" i="1">
                                      <a:latin typeface="Cambria Math" panose="02040503050406030204" pitchFamily="18" charset="0"/>
                                    </a:rPr>
                                    <m:t>𝟎</m:t>
                                  </m:r>
                                </m:sub>
                              </m:sSub>
                              <m:r>
                                <a:rPr lang="en-US" altLang="zh-CN" i="1">
                                  <a:latin typeface="Cambria Math" panose="02040503050406030204" pitchFamily="18" charset="0"/>
                                </a:rPr>
                                <m:t>, </m:t>
                              </m:r>
                              <m:r>
                                <a:rPr lang="en-US" altLang="zh-CN" i="1">
                                  <a:solidFill>
                                    <a:srgbClr val="FF0000"/>
                                  </a:solidFill>
                                  <a:latin typeface="Cambria Math" panose="02040503050406030204" pitchFamily="18" charset="0"/>
                                </a:rPr>
                                <m:t>𝜆</m:t>
                              </m:r>
                            </m:e>
                          </m:d>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r>
                        <a:rPr lang="en-US" altLang="zh-CN" sz="1800" b="0" i="1" dirty="0" smtClean="0">
                          <a:latin typeface="Cambria Math" panose="02040503050406030204" pitchFamily="18" charset="0"/>
                        </a:rPr>
                        <m:t>,  </m:t>
                      </m:r>
                      <m:acc>
                        <m:accPr>
                          <m:chr m:val="̅"/>
                          <m:ctrlPr>
                            <a:rPr lang="en-US" altLang="zh-CN" sz="1800" b="1" i="1" dirty="0" smtClean="0">
                              <a:latin typeface="Cambria Math" panose="02040503050406030204" pitchFamily="18" charset="0"/>
                            </a:rPr>
                          </m:ctrlPr>
                        </m:accPr>
                        <m:e>
                          <m:r>
                            <a:rPr lang="en-US" altLang="zh-CN" sz="1800" b="1" i="1" dirty="0" smtClean="0">
                              <a:latin typeface="Cambria Math" panose="02040503050406030204" pitchFamily="18" charset="0"/>
                            </a:rPr>
                            <m:t>𝒄</m:t>
                          </m:r>
                        </m:e>
                      </m:acc>
                      <m:d>
                        <m:dPr>
                          <m:ctrlPr>
                            <a:rPr lang="en-US" altLang="zh-CN" sz="1800" b="0" i="1" dirty="0" smtClean="0">
                              <a:latin typeface="Cambria Math" panose="02040503050406030204" pitchFamily="18" charset="0"/>
                            </a:rPr>
                          </m:ctrlPr>
                        </m:dPr>
                        <m:e>
                          <m:r>
                            <a:rPr lang="en-US" altLang="zh-CN" sz="1800" b="0" i="1" dirty="0" smtClean="0">
                              <a:latin typeface="Cambria Math" panose="02040503050406030204" pitchFamily="18" charset="0"/>
                            </a:rPr>
                            <m:t>𝜆</m:t>
                          </m:r>
                        </m:e>
                      </m:d>
                      <m:r>
                        <a:rPr lang="en-US" altLang="zh-CN" sz="1800" b="0" i="1" dirty="0" smtClean="0">
                          <a:latin typeface="Cambria Math" panose="02040503050406030204" pitchFamily="18" charset="0"/>
                        </a:rPr>
                        <m:t>=</m:t>
                      </m:r>
                      <m:d>
                        <m:dPr>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𝑥</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𝑦</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𝑧</m:t>
                                  </m:r>
                                </m:e>
                              </m:acc>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eqArr>
                        </m:e>
                      </m:d>
                    </m:oMath>
                  </m:oMathPara>
                </a14:m>
                <a:endParaRPr lang="en-US" altLang="zh-CN" dirty="0"/>
              </a:p>
            </p:txBody>
          </p:sp>
        </mc:Choice>
        <mc:Fallback xmlns="">
          <p:sp>
            <p:nvSpPr>
              <p:cNvPr id="3" name="文本框 2">
                <a:extLst>
                  <a:ext uri="{FF2B5EF4-FFF2-40B4-BE49-F238E27FC236}">
                    <a16:creationId xmlns:a16="http://schemas.microsoft.com/office/drawing/2014/main" id="{227AE9F0-3948-2090-6FF7-B7B3D0D0633D}"/>
                  </a:ext>
                </a:extLst>
              </p:cNvPr>
              <p:cNvSpPr txBox="1">
                <a:spLocks noRot="1" noChangeAspect="1" noMove="1" noResize="1" noEditPoints="1" noAdjustHandles="1" noChangeArrowheads="1" noChangeShapeType="1" noTextEdit="1"/>
              </p:cNvSpPr>
              <p:nvPr/>
            </p:nvSpPr>
            <p:spPr>
              <a:xfrm>
                <a:off x="212683" y="1277199"/>
                <a:ext cx="6094926" cy="175400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9C86127-0E02-57BA-98DD-3B00758F4AE3}"/>
                  </a:ext>
                </a:extLst>
              </p:cNvPr>
              <p:cNvSpPr txBox="1"/>
              <p:nvPr/>
            </p:nvSpPr>
            <p:spPr>
              <a:xfrm>
                <a:off x="1162590" y="3031205"/>
                <a:ext cx="4430331" cy="3293915"/>
              </a:xfrm>
              <a:prstGeom prst="rect">
                <a:avLst/>
              </a:prstGeom>
              <a:noFill/>
              <a:ln w="19050">
                <a:noFill/>
              </a:ln>
            </p:spPr>
            <p:txBody>
              <a:bodyPr wrap="square">
                <a:spAutoFit/>
              </a:bodyPr>
              <a:lstStyle/>
              <a:p>
                <a:pPr/>
                <a14:m>
                  <m:oMathPara xmlns:m="http://schemas.openxmlformats.org/officeDocument/2006/math">
                    <m:oMath>
                      <m:d>
                        <m:dPr>
                          <m:ctrlPr>
                            <a:rPr lang="en-US" altLang="zh-CN" sz="1800" i="1">
                              <a:latin typeface="Cambria Math" panose="02040503050406030204" pitchFamily="18" charset="0"/>
                            </a:rPr>
                          </m:ctrlPr>
                        </m:dPr>
                        <m:e>
                          <m:eqArr>
                            <m:eqArrPr>
                              <m:ctrlPr>
                                <a:rPr lang="en-US" altLang="zh-CN" sz="1800" i="1">
                                  <a:latin typeface="Cambria Math" panose="02040503050406030204" pitchFamily="18" charset="0"/>
                                </a:rPr>
                              </m:ctrlPr>
                            </m:eqArrPr>
                            <m:e>
                              <m:r>
                                <a:rPr lang="en-US" altLang="zh-CN" sz="1800" i="1">
                                  <a:latin typeface="Cambria Math" panose="02040503050406030204" pitchFamily="18" charset="0"/>
                                </a:rPr>
                                <m:t>𝑋</m:t>
                              </m:r>
                            </m:e>
                            <m:e>
                              <m:r>
                                <a:rPr lang="en-US" altLang="zh-CN" sz="1800" i="1">
                                  <a:latin typeface="Cambria Math" panose="02040503050406030204" pitchFamily="18" charset="0"/>
                                </a:rPr>
                                <m:t>𝑌</m:t>
                              </m:r>
                            </m:e>
                            <m:e>
                              <m:r>
                                <a:rPr lang="en-US" altLang="zh-CN" sz="1800" i="1">
                                  <a:latin typeface="Cambria Math" panose="02040503050406030204" pitchFamily="18" charset="0"/>
                                </a:rPr>
                                <m:t>𝑍</m:t>
                              </m:r>
                            </m:e>
                          </m:eqArr>
                        </m:e>
                      </m:d>
                      <m:r>
                        <a:rPr lang="en-US" altLang="zh-CN" sz="1800" i="1">
                          <a:latin typeface="Cambria Math" panose="02040503050406030204" pitchFamily="18" charset="0"/>
                        </a:rPr>
                        <m:t>=</m:t>
                      </m:r>
                      <m:nary>
                        <m:naryPr>
                          <m:supHide m:val="on"/>
                          <m:ctrlPr>
                            <a:rPr lang="en-US" altLang="zh-CN" sz="1800" b="0" i="0" smtClean="0">
                              <a:latin typeface="Cambria Math" panose="02040503050406030204" pitchFamily="18" charset="0"/>
                            </a:rPr>
                          </m:ctrlPr>
                        </m:naryPr>
                        <m:sub>
                          <m:r>
                            <m:rPr>
                              <m:sty m:val="p"/>
                            </m:rPr>
                            <a:rPr lang="en-US" altLang="zh-CN" sz="1800" b="0" i="0" smtClean="0">
                              <a:latin typeface="Cambria Math" panose="02040503050406030204" pitchFamily="18" charset="0"/>
                            </a:rPr>
                            <m:t>Λ</m:t>
                          </m:r>
                        </m:sub>
                        <m:sup/>
                        <m:e>
                          <m:d>
                            <m:dPr>
                              <m:ctrlPr>
                                <a:rPr lang="en-US" altLang="zh-CN" i="1" dirty="0">
                                  <a:latin typeface="Cambria Math" panose="02040503050406030204" pitchFamily="18" charset="0"/>
                                </a:rPr>
                              </m:ctrlPr>
                            </m:dPr>
                            <m:e>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e>
                              </m:nary>
                            </m:e>
                          </m:d>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
                      <m:r>
                        <a:rPr lang="en-US" altLang="zh-CN" b="0" i="0" smtClean="0">
                          <a:latin typeface="Cambria Math" panose="02040503050406030204" pitchFamily="18" charset="0"/>
                        </a:rPr>
                        <m:t>         </m:t>
                      </m:r>
                      <m:r>
                        <a:rPr lang="en-US" altLang="zh-CN" b="0" i="1" smtClean="0">
                          <a:latin typeface="Cambria Math" panose="02040503050406030204" pitchFamily="18" charset="0"/>
                        </a:rPr>
                        <m:t> </m:t>
                      </m:r>
                      <m:r>
                        <a:rPr lang="en-US" altLang="zh-CN" i="1">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nary>
                            <m:naryPr>
                              <m:supHide m:val="on"/>
                              <m:ctrlPr>
                                <a:rPr lang="en-US" altLang="zh-CN" b="0" i="0" dirty="0" smtClean="0">
                                  <a:latin typeface="Cambria Math" panose="02040503050406030204" pitchFamily="18" charset="0"/>
                                </a:rPr>
                              </m:ctrlPr>
                            </m:naryPr>
                            <m:sub>
                              <m:r>
                                <m:rPr>
                                  <m:sty m:val="p"/>
                                </m:rPr>
                                <a:rPr lang="en-US" altLang="zh-CN" b="0" i="0" dirty="0" smtClean="0">
                                  <a:latin typeface="Cambria Math" panose="02040503050406030204" pitchFamily="18" charset="0"/>
                                </a:rPr>
                                <m:t>Λ</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e>
                      </m:nary>
                    </m:oMath>
                    <m:oMath>
                      <m:r>
                        <a:rPr lang="en-US" altLang="zh-CN" b="0" i="1" smtClean="0">
                          <a:latin typeface="Cambria Math" panose="02040503050406030204" pitchFamily="18" charset="0"/>
                        </a:rPr>
                        <m:t>          </m:t>
                      </m:r>
                      <m:r>
                        <a:rPr lang="en-US" altLang="zh-CN" i="1">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nary>
                            <m:naryPr>
                              <m:supHide m:val="on"/>
                              <m:ctrlPr>
                                <a:rPr lang="en-US" altLang="zh-CN" b="0" i="0" smtClean="0">
                                  <a:latin typeface="Cambria Math" panose="02040503050406030204" pitchFamily="18" charset="0"/>
                                </a:rPr>
                              </m:ctrlPr>
                            </m:naryPr>
                            <m:sub>
                              <m:r>
                                <m:rPr>
                                  <m:sty m:val="p"/>
                                </m:rPr>
                                <a:rPr lang="en-US" altLang="zh-CN" b="0" i="0" smtClean="0">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dirty="0">
                                  <a:latin typeface="Cambria Math" panose="02040503050406030204" pitchFamily="18" charset="0"/>
                                </a:rPr>
                                <m:t>𝑑</m:t>
                              </m:r>
                              <m:r>
                                <a:rPr lang="en-US" altLang="zh-CN" i="1" dirty="0">
                                  <a:latin typeface="Cambria Math" panose="02040503050406030204" pitchFamily="18" charset="0"/>
                                </a:rPr>
                                <m:t>𝜆</m:t>
                              </m:r>
                            </m:e>
                          </m:nary>
                        </m:e>
                      </m:nary>
                    </m:oMath>
                    <m:oMath>
                      <m:r>
                        <a:rPr lang="en-US" altLang="zh-CN" b="0" i="1" smtClean="0">
                          <a:latin typeface="Cambria Math" panose="02040503050406030204" pitchFamily="18" charset="0"/>
                        </a:rPr>
                        <m:t>          </m:t>
                      </m:r>
                      <m:r>
                        <a:rPr lang="en-US" altLang="zh-CN" i="1">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smtClean="0">
                                          <a:solidFill>
                                            <a:schemeClr val="tx1"/>
                                          </a:solidFill>
                                          <a:latin typeface="Cambria Math" panose="02040503050406030204" pitchFamily="18" charset="0"/>
                                        </a:rPr>
                                        <m:t>𝜆</m:t>
                                      </m:r>
                                    </m:e>
                                  </m:d>
                                  <m:r>
                                    <a:rPr lang="en-US" altLang="zh-CN" b="0" i="1" dirty="0" smtClean="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e>
                      </m:nary>
                    </m:oMath>
                  </m:oMathPara>
                </a14:m>
                <a:endParaRPr lang="en-US" altLang="zh-CN" i="1"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39C86127-0E02-57BA-98DD-3B00758F4AE3}"/>
                  </a:ext>
                </a:extLst>
              </p:cNvPr>
              <p:cNvSpPr txBox="1">
                <a:spLocks noRot="1" noChangeAspect="1" noMove="1" noResize="1" noEditPoints="1" noAdjustHandles="1" noChangeArrowheads="1" noChangeShapeType="1" noTextEdit="1"/>
              </p:cNvSpPr>
              <p:nvPr/>
            </p:nvSpPr>
            <p:spPr>
              <a:xfrm>
                <a:off x="1162590" y="3031205"/>
                <a:ext cx="4430331" cy="3293915"/>
              </a:xfrm>
              <a:prstGeom prst="rect">
                <a:avLst/>
              </a:prstGeom>
              <a:blipFill>
                <a:blip r:embed="rId3"/>
                <a:stretch>
                  <a:fillRect/>
                </a:stretch>
              </a:blipFill>
              <a:ln w="19050">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B29BC37-01AE-AA5B-2BF0-31B25850BBD9}"/>
                  </a:ext>
                </a:extLst>
              </p:cNvPr>
              <p:cNvSpPr txBox="1"/>
              <p:nvPr/>
            </p:nvSpPr>
            <p:spPr>
              <a:xfrm>
                <a:off x="5877951" y="1470936"/>
                <a:ext cx="6202433" cy="4910190"/>
              </a:xfrm>
              <a:prstGeom prst="rect">
                <a:avLst/>
              </a:prstGeom>
              <a:noFill/>
            </p:spPr>
            <p:txBody>
              <a:bodyPr wrap="square">
                <a:spAutoFit/>
              </a:bodyPr>
              <a:lstStyle/>
              <a:p>
                <a:pPr/>
                <a14:m>
                  <m:oMathPara xmlns:m="http://schemas.openxmlformats.org/officeDocument/2006/math">
                    <m:oMath>
                      <m:r>
                        <a:rPr lang="zh-CN" altLang="en-US" i="1" dirty="0" smtClean="0">
                          <a:latin typeface="Cambria Math" panose="02040503050406030204" pitchFamily="18" charset="0"/>
                        </a:rPr>
                        <m:t>令</m:t>
                      </m:r>
                      <m:r>
                        <a:rPr lang="zh-CN" altLang="en-US"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𝜆</m:t>
                                  </m:r>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sz="1800" i="1" dirty="0">
                  <a:latin typeface="Cambria Math" panose="02040503050406030204" pitchFamily="18" charset="0"/>
                </a:endParaRPr>
              </a:p>
              <a:p>
                <a:endParaRPr lang="en-US" altLang="zh-CN" i="1" dirty="0">
                  <a:latin typeface="Cambria Math" panose="02040503050406030204" pitchFamily="18" charset="0"/>
                </a:endParaRPr>
              </a:p>
              <a:p>
                <a:r>
                  <a:rPr lang="zh-CN" altLang="en-US" dirty="0">
                    <a:latin typeface="Cambria Math" panose="02040503050406030204" pitchFamily="18" charset="0"/>
                  </a:rPr>
                  <a:t>         采样</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𝜆</m:t>
                        </m:r>
                      </m:sub>
                    </m:sSub>
                  </m:oMath>
                </a14:m>
                <a:r>
                  <a:rPr lang="zh-CN" altLang="en-US" dirty="0">
                    <a:latin typeface="Cambria Math" panose="02040503050406030204" pitchFamily="18" charset="0"/>
                  </a:rPr>
                  <a:t>个波长：</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𝜆</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𝜆</m:t>
                        </m:r>
                      </m:e>
                    </m:d>
                  </m:oMath>
                </a14:m>
                <a:r>
                  <a:rPr lang="zh-CN" altLang="en-US" sz="1800" dirty="0">
                    <a:latin typeface="Cambria Math" panose="02040503050406030204" pitchFamily="18" charset="0"/>
                  </a:rPr>
                  <a:t>，并组成</a:t>
                </a:r>
                <a:r>
                  <a:rPr lang="en-US" altLang="zh-CN" dirty="0">
                    <a:latin typeface="Cambria Math" panose="02040503050406030204" pitchFamily="18" charset="0"/>
                  </a:rPr>
                  <a:t>W</a:t>
                </a:r>
                <a:r>
                  <a:rPr lang="en-US" altLang="zh-CN" sz="1800" dirty="0">
                    <a:latin typeface="Cambria Math" panose="02040503050406030204" pitchFamily="18" charset="0"/>
                  </a:rPr>
                  <a:t>avelength Packet</a:t>
                </a:r>
                <a:r>
                  <a:rPr lang="zh-CN" altLang="en-US" sz="1800" dirty="0">
                    <a:latin typeface="Cambria Math" panose="02040503050406030204" pitchFamily="18" charset="0"/>
                  </a:rPr>
                  <a:t>：</a:t>
                </a:r>
                <a:endParaRPr lang="en-US" altLang="zh-CN" sz="1800" dirty="0">
                  <a:latin typeface="Cambria Math" panose="02040503050406030204" pitchFamily="18" charset="0"/>
                </a:endParaRPr>
              </a:p>
              <a:p>
                <a:pPr/>
                <a14:m>
                  <m:oMathPara xmlns:m="http://schemas.openxmlformats.org/officeDocument/2006/math">
                    <m:oMath>
                      <m:r>
                        <a:rPr lang="en-US" altLang="zh-CN" b="1" dirty="0">
                          <a:latin typeface="Cambria Math" panose="02040503050406030204" pitchFamily="18" charset="0"/>
                        </a:rPr>
                        <m:t>𝛌</m:t>
                      </m:r>
                      <m:r>
                        <a:rPr lang="en-US" altLang="zh-CN" b="0" i="1" smtClean="0">
                          <a:latin typeface="Cambria Math" panose="02040503050406030204" pitchFamily="18" charset="0"/>
                        </a:rPr>
                        <m:t>=</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 …, </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𝑁</m:t>
                                  </m:r>
                                </m:e>
                                <m:sub>
                                  <m:r>
                                    <a:rPr lang="en-US" altLang="zh-CN" b="0" i="1" smtClean="0">
                                      <a:latin typeface="Cambria Math" panose="02040503050406030204" pitchFamily="18" charset="0"/>
                                    </a:rPr>
                                    <m:t>𝜆</m:t>
                                  </m:r>
                                </m:sub>
                              </m:sSub>
                            </m:sub>
                          </m:sSub>
                        </m:e>
                      </m:d>
                    </m:oMath>
                  </m:oMathPara>
                </a14:m>
                <a:endParaRPr lang="en-US" altLang="zh-CN" sz="1800" dirty="0">
                  <a:latin typeface="Cambria Math" panose="02040503050406030204" pitchFamily="18" charset="0"/>
                </a:endParaRPr>
              </a:p>
              <a:p>
                <a:endParaRPr lang="en-US" altLang="zh-CN" sz="1800" dirty="0">
                  <a:latin typeface="Cambria Math" panose="02040503050406030204" pitchFamily="18" charset="0"/>
                </a:endParaRPr>
              </a:p>
              <a:p>
                <a:pPr/>
                <a14:m>
                  <m:oMathPara xmlns:m="http://schemas.openxmlformats.org/officeDocument/2006/math">
                    <m:oMath>
                      <m:r>
                        <a:rPr lang="zh-CN" altLang="en-US" i="1" dirty="0">
                          <a:latin typeface="Cambria Math" panose="02040503050406030204" pitchFamily="18" charset="0"/>
                        </a:rPr>
                        <m:t>令：</m:t>
                      </m:r>
                      <m:sSub>
                        <m:sSubPr>
                          <m:ctrlPr>
                            <a:rPr lang="zh-CN" altLang="en-US" b="1" i="1" dirty="0" smtClean="0">
                              <a:latin typeface="Cambria Math" panose="02040503050406030204" pitchFamily="18" charset="0"/>
                            </a:rPr>
                          </m:ctrlPr>
                        </m:sSubPr>
                        <m:e>
                          <m:r>
                            <a:rPr lang="zh-CN" altLang="en-US" b="1" i="1" dirty="0" smtClean="0">
                              <a:latin typeface="Cambria Math" panose="02040503050406030204" pitchFamily="18" charset="0"/>
                            </a:rPr>
                            <m:t>𝓙</m:t>
                          </m:r>
                        </m:e>
                        <m:sub>
                          <m:r>
                            <a:rPr lang="en-US" altLang="zh-CN" b="0" i="1" dirty="0" smtClean="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den>
                      </m:f>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𝑗</m:t>
                          </m:r>
                          <m:r>
                            <m:rPr>
                              <m:brk m:alnAt="23"/>
                            </m:rPr>
                            <a:rPr lang="en-US" altLang="zh-CN" b="0" i="1" dirty="0" smtClean="0">
                              <a:latin typeface="Cambria Math" panose="02040503050406030204" pitchFamily="18" charset="0"/>
                            </a:rPr>
                            <m:t>=</m:t>
                          </m:r>
                          <m:r>
                            <m:rPr>
                              <m:brk m:alnAt="23"/>
                            </m:rPr>
                            <a:rPr lang="en-US" altLang="zh-CN" b="0" i="1" dirty="0" smtClean="0">
                              <a:latin typeface="Cambria Math" panose="02040503050406030204" pitchFamily="18" charset="0"/>
                            </a:rPr>
                            <m:t>1</m:t>
                          </m:r>
                        </m:sub>
                        <m:sup>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p>
                        <m:e>
                          <m:f>
                            <m:fPr>
                              <m:ctrlPr>
                                <a:rPr lang="zh-CN" altLang="en-US" i="1" dirty="0">
                                  <a:latin typeface="Cambria Math" panose="02040503050406030204" pitchFamily="18" charset="0"/>
                                </a:rPr>
                              </m:ctrlPr>
                            </m:fPr>
                            <m:num>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b="0" i="1" dirty="0" smtClean="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b="0" i="1" smtClean="0">
                                              <a:latin typeface="Cambria Math" panose="02040503050406030204" pitchFamily="18" charset="0"/>
                                            </a:rPr>
                                            <m:t>𝑗</m:t>
                                          </m:r>
                                        </m:sub>
                                      </m:sSub>
                                    </m:e>
                                  </m:d>
                                  <m:r>
                                    <a:rPr lang="en-US" altLang="zh-CN" b="0" i="1"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𝑝</m:t>
                                  </m:r>
                                </m:e>
                                <m:sub>
                                  <m:r>
                                    <a:rPr lang="en-US" altLang="zh-CN" b="0" i="1" dirty="0" smtClean="0">
                                      <a:latin typeface="Cambria Math" panose="02040503050406030204" pitchFamily="18" charset="0"/>
                                    </a:rPr>
                                    <m:t>𝜆</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𝜆</m:t>
                                      </m:r>
                                    </m:e>
                                    <m:sub>
                                      <m:r>
                                        <a:rPr lang="en-US" altLang="zh-CN" b="0" i="1" dirty="0" smtClean="0">
                                          <a:latin typeface="Cambria Math" panose="02040503050406030204" pitchFamily="18" charset="0"/>
                                        </a:rPr>
                                        <m:t>𝑗</m:t>
                                      </m:r>
                                    </m:sub>
                                  </m:sSub>
                                </m:e>
                              </m:d>
                            </m:den>
                          </m:f>
                        </m:e>
                      </m:nary>
                    </m:oMath>
                    <m:oMath>
                      <m:r>
                        <a:rPr lang="en-US" altLang="zh-CN" b="0" i="0" dirty="0" smtClean="0">
                          <a:latin typeface="Cambria Math" panose="02040503050406030204" pitchFamily="18" charset="0"/>
                        </a:rPr>
                        <m:t>                     =</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oMath>
                  </m:oMathPara>
                </a14:m>
                <a:endParaRPr lang="en-US" altLang="zh-CN" b="0" i="1" dirty="0">
                  <a:latin typeface="Cambria Math" panose="02040503050406030204" pitchFamily="18" charset="0"/>
                </a:endParaRPr>
              </a:p>
              <a:p>
                <a:pPr/>
                <a14:m>
                  <m:oMathPara xmlns:m="http://schemas.openxmlformats.org/officeDocument/2006/math">
                    <m:oMath>
                      <m:r>
                        <a:rPr lang="zh-CN" altLang="en-US" b="1" i="1" dirty="0">
                          <a:latin typeface="Cambria Math" panose="02040503050406030204" pitchFamily="18" charset="0"/>
                        </a:rPr>
                        <m:t>令</m:t>
                      </m:r>
                      <m:r>
                        <a:rPr lang="zh-CN" altLang="en-US"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𝑮</m:t>
                          </m:r>
                        </m:e>
                        <m:sub>
                          <m:r>
                            <a:rPr lang="en-US" altLang="zh-CN" b="0" i="1" dirty="0" smtClean="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b="1" i="0" dirty="0" smtClean="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e>
                      </m:d>
                      <m:r>
                        <a:rPr lang="en-US" altLang="zh-CN" b="0"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0" i="1" dirty="0" smtClean="0">
                              <a:latin typeface="Cambria Math" panose="02040503050406030204" pitchFamily="18" charset="0"/>
                            </a:rPr>
                            <m:t>𝑖</m:t>
                          </m:r>
                        </m:sub>
                      </m:sSub>
                    </m:oMath>
                  </m:oMathPara>
                </a14:m>
                <a:endParaRPr lang="en-US" altLang="zh-CN" sz="1800" dirty="0">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0B29BC37-01AE-AA5B-2BF0-31B25850BBD9}"/>
                  </a:ext>
                </a:extLst>
              </p:cNvPr>
              <p:cNvSpPr txBox="1">
                <a:spLocks noRot="1" noChangeAspect="1" noMove="1" noResize="1" noEditPoints="1" noAdjustHandles="1" noChangeArrowheads="1" noChangeShapeType="1" noTextEdit="1"/>
              </p:cNvSpPr>
              <p:nvPr/>
            </p:nvSpPr>
            <p:spPr>
              <a:xfrm>
                <a:off x="5877951" y="1470936"/>
                <a:ext cx="6202433" cy="4910190"/>
              </a:xfrm>
              <a:prstGeom prst="rect">
                <a:avLst/>
              </a:prstGeom>
              <a:blipFill>
                <a:blip r:embed="rId4"/>
                <a:stretch>
                  <a:fillRect l="-786" r="-9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59945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2CDCC-FA03-F7E7-AC00-235AA62388A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6BBE3EDD-E6F7-6466-1337-67BA4725051B}"/>
              </a:ext>
            </a:extLst>
          </p:cNvPr>
          <p:cNvSpPr>
            <a:spLocks noGrp="1"/>
          </p:cNvSpPr>
          <p:nvPr>
            <p:ph type="title" idx="1"/>
          </p:nvPr>
        </p:nvSpPr>
        <p:spPr/>
        <p:txBody>
          <a:bodyPr/>
          <a:lstStyle/>
          <a:p>
            <a:r>
              <a:rPr lang="zh-CN" altLang="en-US" dirty="0"/>
              <a:t>光谱路径追踪  </a:t>
            </a:r>
            <a:r>
              <a:rPr lang="en-US" altLang="zh-CN" dirty="0"/>
              <a:t>——  </a:t>
            </a:r>
            <a:r>
              <a:rPr lang="zh-CN" altLang="en-US" dirty="0"/>
              <a:t>两层估计</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FF56210-3455-7834-E645-EB50C2CA3AA2}"/>
                  </a:ext>
                </a:extLst>
              </p:cNvPr>
              <p:cNvSpPr txBox="1"/>
              <p:nvPr/>
            </p:nvSpPr>
            <p:spPr>
              <a:xfrm>
                <a:off x="198367" y="1781933"/>
                <a:ext cx="5429701" cy="3828099"/>
              </a:xfrm>
              <a:prstGeom prst="rect">
                <a:avLst/>
              </a:prstGeom>
              <a:noFill/>
            </p:spPr>
            <p:txBody>
              <a:bodyPr wrap="square">
                <a:spAutoFit/>
              </a:bodyPr>
              <a:lstStyle/>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𝜆</m:t>
                                  </m:r>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i="1" dirty="0">
                  <a:latin typeface="Cambria Math" panose="02040503050406030204" pitchFamily="18" charset="0"/>
                </a:endParaRPr>
              </a:p>
              <a:p>
                <a:pPr/>
                <a14:m>
                  <m:oMathPara xmlns:m="http://schemas.openxmlformats.org/officeDocument/2006/math">
                    <m:oMath>
                      <m:r>
                        <a:rPr lang="zh-CN" altLang="en-US" b="1" i="1" dirty="0">
                          <a:latin typeface="Cambria Math" panose="02040503050406030204" pitchFamily="18" charset="0"/>
                        </a:rPr>
                        <m:t>令</m:t>
                      </m:r>
                      <m:r>
                        <a:rPr lang="zh-CN" altLang="en-US"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𝑮</m:t>
                          </m:r>
                        </m:e>
                        <m:sub>
                          <m:r>
                            <a:rPr lang="en-US" altLang="zh-CN" b="0" i="1" dirty="0" smtClean="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b="1" i="0" dirty="0" smtClean="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e>
                      </m:d>
                      <m:r>
                        <a:rPr lang="en-US" altLang="zh-CN" b="0"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0" i="1" dirty="0" smtClean="0">
                              <a:latin typeface="Cambria Math" panose="02040503050406030204" pitchFamily="18" charset="0"/>
                            </a:rPr>
                            <m:t>𝑖</m:t>
                          </m:r>
                        </m:sub>
                      </m:sSub>
                    </m:oMath>
                  </m:oMathPara>
                </a14:m>
                <a:endParaRPr lang="en-US" altLang="zh-CN" sz="1800" dirty="0">
                  <a:latin typeface="Cambria Math" panose="02040503050406030204" pitchFamily="18" charset="0"/>
                </a:endParaRPr>
              </a:p>
              <a:p>
                <a:endParaRPr lang="en-US" altLang="zh-CN" dirty="0">
                  <a:latin typeface="Cambria Math" panose="02040503050406030204" pitchFamily="18" charset="0"/>
                </a:endParaRPr>
              </a:p>
              <a:p>
                <a:r>
                  <a:rPr lang="zh-CN" altLang="en-US" sz="1800" dirty="0">
                    <a:latin typeface="Cambria Math" panose="02040503050406030204" pitchFamily="18" charset="0"/>
                  </a:rPr>
                  <a:t>         我们通过随机变量</a:t>
                </a:r>
                <a14:m>
                  <m:oMath xmlns:m="http://schemas.openxmlformats.org/officeDocument/2006/math">
                    <m:r>
                      <a:rPr lang="en-US" altLang="zh-CN" b="1" dirty="0">
                        <a:latin typeface="Cambria Math" panose="02040503050406030204" pitchFamily="18" charset="0"/>
                      </a:rPr>
                      <m:t>𝚲</m:t>
                    </m:r>
                  </m:oMath>
                </a14:m>
                <a:r>
                  <a:rPr lang="zh-CN" altLang="en-US" sz="1800" dirty="0">
                    <a:latin typeface="Cambria Math" panose="02040503050406030204" pitchFamily="18" charset="0"/>
                  </a:rPr>
                  <a:t>对外层的积分进行了蒙特卡洛估计，但是内层还有一个路径积分，所以我们还需要构造这个路径积分的估计</a:t>
                </a:r>
                <a14:m>
                  <m:oMath xmlns:m="http://schemas.openxmlformats.org/officeDocument/2006/math">
                    <m:sSub>
                      <m:sSubPr>
                        <m:ctrlPr>
                          <a:rPr lang="zh-CN" altLang="en-US" b="1" i="1" dirty="0">
                            <a:latin typeface="Cambria Math" panose="02040503050406030204" pitchFamily="18" charset="0"/>
                          </a:rPr>
                        </m:ctrlPr>
                      </m:sSub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a14:m>
                <a:r>
                  <a:rPr lang="zh-CN" altLang="en-US" sz="1800" dirty="0">
                    <a:latin typeface="Cambria Math" panose="02040503050406030204" pitchFamily="18" charset="0"/>
                  </a:rPr>
                  <a:t>，使其满足：</a:t>
                </a:r>
                <a:endParaRPr lang="en-US" altLang="zh-CN" sz="1800" dirty="0">
                  <a:latin typeface="Cambria Math" panose="02040503050406030204" pitchFamily="18" charset="0"/>
                </a:endParaRPr>
              </a:p>
              <a:p>
                <a:endParaRPr lang="en-US" altLang="zh-CN" sz="1800" dirty="0">
                  <a:latin typeface="Cambria Math" panose="02040503050406030204" pitchFamily="18" charset="0"/>
                </a:endParaRPr>
              </a:p>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Sub>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r>
                            <a:rPr lang="en-US" altLang="zh-CN" b="1" i="1" dirty="0" smtClean="0">
                              <a:latin typeface="Cambria Math" panose="02040503050406030204" pitchFamily="18" charset="0"/>
                            </a:rPr>
                            <m:t>|</m:t>
                          </m:r>
                          <m:r>
                            <a:rPr lang="en-US" altLang="zh-CN" b="1" dirty="0">
                              <a:latin typeface="Cambria Math" panose="02040503050406030204" pitchFamily="18" charset="0"/>
                            </a:rPr>
                            <m:t>𝚲</m:t>
                          </m:r>
                          <m:r>
                            <a:rPr lang="en-US" altLang="zh-CN" b="1" i="0"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m:oMathPara>
                </a14:m>
                <a:endParaRPr lang="en-US" altLang="zh-CN" b="1" dirty="0">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4FF56210-3455-7834-E645-EB50C2CA3AA2}"/>
                  </a:ext>
                </a:extLst>
              </p:cNvPr>
              <p:cNvSpPr txBox="1">
                <a:spLocks noRot="1" noChangeAspect="1" noMove="1" noResize="1" noEditPoints="1" noAdjustHandles="1" noChangeArrowheads="1" noChangeShapeType="1" noTextEdit="1"/>
              </p:cNvSpPr>
              <p:nvPr/>
            </p:nvSpPr>
            <p:spPr>
              <a:xfrm>
                <a:off x="198367" y="1781933"/>
                <a:ext cx="5429701" cy="3828099"/>
              </a:xfrm>
              <a:prstGeom prst="rect">
                <a:avLst/>
              </a:prstGeom>
              <a:blipFill>
                <a:blip r:embed="rId2"/>
                <a:stretch>
                  <a:fillRect l="-1011" r="-112" b="-9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AB333DF-E4DC-ECEF-7B0F-6C8E076D29D9}"/>
                  </a:ext>
                </a:extLst>
              </p:cNvPr>
              <p:cNvSpPr txBox="1"/>
              <p:nvPr/>
            </p:nvSpPr>
            <p:spPr>
              <a:xfrm>
                <a:off x="6343419" y="1936479"/>
                <a:ext cx="4925596" cy="2524281"/>
              </a:xfrm>
              <a:prstGeom prst="rect">
                <a:avLst/>
              </a:prstGeom>
              <a:noFill/>
            </p:spPr>
            <p:txBody>
              <a:bodyPr wrap="square">
                <a:spAutoFit/>
              </a:bodyPr>
              <a:lstStyle/>
              <a:p>
                <a:r>
                  <a:rPr lang="en-US" altLang="zh-CN" dirty="0">
                    <a:latin typeface="+mn-ea"/>
                  </a:rPr>
                  <a:t>          </a:t>
                </a:r>
                <a:r>
                  <a:rPr lang="zh-CN" altLang="en-US" dirty="0">
                    <a:latin typeface="+mn-ea"/>
                  </a:rPr>
                  <a:t>于是，根据全期望公式：</a:t>
                </a:r>
                <a:endParaRPr lang="en-US" altLang="zh-CN" dirty="0">
                  <a:latin typeface="+mn-ea"/>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e>
                      </m:d>
                      <m:r>
                        <a:rPr lang="en-US" altLang="zh-CN" b="1"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r>
                                <a:rPr lang="en-US" altLang="zh-CN" b="1" i="1" dirty="0">
                                  <a:latin typeface="Cambria Math" panose="02040503050406030204" pitchFamily="18" charset="0"/>
                                </a:rPr>
                                <m:t>|</m:t>
                              </m:r>
                              <m:r>
                                <a:rPr lang="en-US" altLang="zh-CN" b="1" dirty="0">
                                  <a:latin typeface="Cambria Math" panose="02040503050406030204" pitchFamily="18" charset="0"/>
                                </a:rPr>
                                <m:t>𝚲</m:t>
                              </m:r>
                            </m:e>
                          </m:d>
                        </m:e>
                      </m:d>
                    </m:oMath>
                    <m:oMath>
                      <m:r>
                        <a:rPr lang="en-US" altLang="zh-CN" b="1" i="1" dirty="0">
                          <a:latin typeface="Cambria Math" panose="02040503050406030204" pitchFamily="18" charset="0"/>
                        </a:rPr>
                        <m:t>            </m:t>
                      </m:r>
                      <m:r>
                        <a:rPr lang="en-US" altLang="zh-CN" b="1" i="1" dirty="0" smtClean="0">
                          <a:latin typeface="Cambria Math" panose="02040503050406030204" pitchFamily="18" charset="0"/>
                        </a:rPr>
                        <m:t> </m:t>
                      </m:r>
                      <m:r>
                        <a:rPr lang="en-US" altLang="zh-CN" b="1"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e>
                      </m:d>
                    </m:oMath>
                    <m:oMath>
                      <m:r>
                        <a:rPr lang="en-US" altLang="zh-CN" i="1" dirty="0">
                          <a:latin typeface="Cambria Math" panose="02040503050406030204" pitchFamily="18" charset="0"/>
                        </a:rPr>
                        <m:t>             </m:t>
                      </m:r>
                      <m:r>
                        <a:rPr lang="en-US" altLang="zh-CN" b="0" i="1" dirty="0" smtClean="0">
                          <a:latin typeface="Cambria Math" panose="02040503050406030204" pitchFamily="18" charset="0"/>
                        </a:rPr>
                        <m:t> </m:t>
                      </m:r>
                      <m:r>
                        <a:rPr lang="en-US" altLang="zh-CN" i="1" dirty="0">
                          <a:latin typeface="Cambria Math" panose="02040503050406030204" pitchFamily="18" charset="0"/>
                        </a:rPr>
                        <m:t>           </m:t>
                      </m:r>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oMath>
                  </m:oMathPara>
                </a14:m>
                <a:endParaRPr lang="en-US" altLang="zh-CN" dirty="0">
                  <a:latin typeface="+mn-ea"/>
                </a:endParaRPr>
              </a:p>
              <a:p>
                <a:endParaRPr lang="en-US" altLang="zh-CN" dirty="0">
                  <a:latin typeface="+mn-ea"/>
                </a:endParaRPr>
              </a:p>
              <a:p>
                <a:r>
                  <a:rPr lang="en-US" altLang="zh-CN" dirty="0">
                    <a:latin typeface="+mn-ea"/>
                  </a:rPr>
                  <a:t>          </a:t>
                </a:r>
                <a:r>
                  <a:rPr lang="zh-CN" altLang="en-US" dirty="0">
                    <a:latin typeface="+mn-ea"/>
                  </a:rPr>
                  <a:t>可以看到，为了解这个积分，需要两层估计，一层对应</a:t>
                </a:r>
                <a:r>
                  <a:rPr lang="en-US" altLang="zh-CN" dirty="0">
                    <a:latin typeface="+mn-ea"/>
                  </a:rPr>
                  <a:t>Wavelength Packet</a:t>
                </a:r>
                <a:r>
                  <a:rPr lang="zh-CN" altLang="en-US" dirty="0">
                    <a:latin typeface="+mn-ea"/>
                  </a:rPr>
                  <a:t>，另一层对应给定</a:t>
                </a:r>
                <a:r>
                  <a:rPr lang="en-US" altLang="zh-CN" dirty="0">
                    <a:latin typeface="+mn-ea"/>
                  </a:rPr>
                  <a:t>Packet</a:t>
                </a:r>
                <a:r>
                  <a:rPr lang="zh-CN" altLang="en-US" dirty="0">
                    <a:latin typeface="+mn-ea"/>
                  </a:rPr>
                  <a:t>下的路径。</a:t>
                </a:r>
              </a:p>
            </p:txBody>
          </p:sp>
        </mc:Choice>
        <mc:Fallback xmlns="">
          <p:sp>
            <p:nvSpPr>
              <p:cNvPr id="6" name="文本框 5">
                <a:extLst>
                  <a:ext uri="{FF2B5EF4-FFF2-40B4-BE49-F238E27FC236}">
                    <a16:creationId xmlns:a16="http://schemas.microsoft.com/office/drawing/2014/main" id="{EAB333DF-E4DC-ECEF-7B0F-6C8E076D29D9}"/>
                  </a:ext>
                </a:extLst>
              </p:cNvPr>
              <p:cNvSpPr txBox="1">
                <a:spLocks noRot="1" noChangeAspect="1" noMove="1" noResize="1" noEditPoints="1" noAdjustHandles="1" noChangeArrowheads="1" noChangeShapeType="1" noTextEdit="1"/>
              </p:cNvSpPr>
              <p:nvPr/>
            </p:nvSpPr>
            <p:spPr>
              <a:xfrm>
                <a:off x="6343419" y="1936479"/>
                <a:ext cx="4925596" cy="2524281"/>
              </a:xfrm>
              <a:prstGeom prst="rect">
                <a:avLst/>
              </a:prstGeom>
              <a:blipFill>
                <a:blip r:embed="rId3"/>
                <a:stretch>
                  <a:fillRect l="-1114" t="-14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762689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1DA4C-C443-8DFD-93A5-98307E9675D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E1AFFF2-85DB-2625-D99E-2FA20983FD9A}"/>
              </a:ext>
            </a:extLst>
          </p:cNvPr>
          <p:cNvSpPr>
            <a:spLocks noGrp="1"/>
          </p:cNvSpPr>
          <p:nvPr>
            <p:ph type="title" idx="1"/>
          </p:nvPr>
        </p:nvSpPr>
        <p:spPr/>
        <p:txBody>
          <a:bodyPr/>
          <a:lstStyle/>
          <a:p>
            <a:r>
              <a:rPr lang="zh-CN" altLang="en-US" dirty="0"/>
              <a:t>光谱路径追踪  </a:t>
            </a:r>
            <a:r>
              <a:rPr lang="en-US" altLang="zh-CN" dirty="0"/>
              <a:t>——  </a:t>
            </a:r>
            <a:r>
              <a:rPr lang="zh-CN" altLang="en-US" dirty="0"/>
              <a:t>多样本</a:t>
            </a:r>
            <a:r>
              <a:rPr lang="en-US" altLang="zh-CN" dirty="0"/>
              <a:t>MIS</a:t>
            </a:r>
            <a:endParaRPr lang="zh-CN" altLang="en-US"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EE547E9-1851-33CA-A6C5-CDED1C7D9E6D}"/>
                  </a:ext>
                </a:extLst>
              </p:cNvPr>
              <p:cNvSpPr txBox="1"/>
              <p:nvPr/>
            </p:nvSpPr>
            <p:spPr>
              <a:xfrm>
                <a:off x="372233" y="1633351"/>
                <a:ext cx="5616444" cy="4317016"/>
              </a:xfrm>
              <a:prstGeom prst="rect">
                <a:avLst/>
              </a:prstGeom>
              <a:noFill/>
            </p:spPr>
            <p:txBody>
              <a:bodyPr wrap="square">
                <a:spAutoFit/>
              </a:bodyPr>
              <a:lstStyle/>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𝜆</m:t>
                                  </m:r>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b="0" i="1"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i="1" dirty="0">
                  <a:latin typeface="Cambria Math" panose="02040503050406030204" pitchFamily="18" charset="0"/>
                </a:endParaRPr>
              </a:p>
              <a:p>
                <a:pPr/>
                <a14:m>
                  <m:oMathPara xmlns:m="http://schemas.openxmlformats.org/officeDocument/2006/math">
                    <m:oMath>
                      <m:r>
                        <a:rPr lang="zh-CN" altLang="en-US" b="1" i="1" dirty="0">
                          <a:latin typeface="Cambria Math" panose="02040503050406030204" pitchFamily="18" charset="0"/>
                        </a:rPr>
                        <m:t>令</m:t>
                      </m:r>
                      <m:r>
                        <a:rPr lang="zh-CN" altLang="en-US"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𝑮</m:t>
                          </m:r>
                        </m:e>
                        <m:sub>
                          <m:r>
                            <a:rPr lang="en-US" altLang="zh-CN" b="0" i="1" dirty="0" smtClean="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b="1" i="0" dirty="0" smtClean="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e>
                      </m:d>
                      <m:r>
                        <a:rPr lang="en-US" altLang="zh-CN" b="0"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0" i="1" dirty="0" smtClean="0">
                              <a:latin typeface="Cambria Math" panose="02040503050406030204" pitchFamily="18" charset="0"/>
                            </a:rPr>
                            <m:t>𝑖</m:t>
                          </m:r>
                        </m:sub>
                      </m:sSub>
                    </m:oMath>
                  </m:oMathPara>
                </a14:m>
                <a:endParaRPr lang="en-US" altLang="zh-CN" sz="1800" dirty="0">
                  <a:latin typeface="Cambria Math" panose="02040503050406030204" pitchFamily="18" charset="0"/>
                </a:endParaRPr>
              </a:p>
              <a:p>
                <a:endParaRPr lang="en-US" altLang="zh-CN" dirty="0">
                  <a:latin typeface="Cambria Math" panose="02040503050406030204" pitchFamily="18" charset="0"/>
                </a:endParaRPr>
              </a:p>
              <a:p>
                <a:r>
                  <a:rPr lang="zh-CN" altLang="en-US" dirty="0">
                    <a:latin typeface="Cambria Math" panose="02040503050406030204" pitchFamily="18" charset="0"/>
                  </a:rPr>
                  <a:t>因为波长的不同会影响</a:t>
                </a:r>
                <a:r>
                  <a:rPr lang="en-US" altLang="zh-CN" dirty="0">
                    <a:latin typeface="Cambria Math" panose="02040503050406030204" pitchFamily="18" charset="0"/>
                  </a:rPr>
                  <a:t>BSDF</a:t>
                </a:r>
                <a:r>
                  <a:rPr lang="zh-CN" altLang="en-US" dirty="0">
                    <a:latin typeface="Cambria Math" panose="02040503050406030204" pitchFamily="18" charset="0"/>
                  </a:rPr>
                  <a:t>，进而影响路径的选择：</a:t>
                </a:r>
                <a:endParaRPr lang="en-US" altLang="zh-CN" dirty="0">
                  <a:latin typeface="Cambria Math" panose="02040503050406030204" pitchFamily="18" charset="0"/>
                </a:endParaRPr>
              </a:p>
              <a:p>
                <a:pPr/>
                <a14:m>
                  <m:oMathPara xmlns:m="http://schemas.openxmlformats.org/officeDocument/2006/math">
                    <m:oMath>
                      <m:sSubSup>
                        <m:sSubSupPr>
                          <m:ctrlPr>
                            <a:rPr lang="en-US" altLang="zh-CN" i="1" dirty="0">
                              <a:solidFill>
                                <a:schemeClr val="accent3">
                                  <a:lumMod val="75000"/>
                                </a:schemeClr>
                              </a:solidFill>
                              <a:latin typeface="Cambria Math" panose="02040503050406030204" pitchFamily="18" charset="0"/>
                            </a:rPr>
                          </m:ctrlPr>
                        </m:sSubSupPr>
                        <m:e>
                          <m:r>
                            <a:rPr lang="en-US" altLang="zh-CN" i="1" dirty="0">
                              <a:solidFill>
                                <a:schemeClr val="accent3">
                                  <a:lumMod val="75000"/>
                                </a:schemeClr>
                              </a:solidFill>
                              <a:latin typeface="Cambria Math" panose="02040503050406030204" pitchFamily="18" charset="0"/>
                            </a:rPr>
                            <m:t>𝑞</m:t>
                          </m:r>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up>
                          <m:r>
                            <a:rPr lang="en-US" altLang="zh-CN" i="1" dirty="0">
                              <a:solidFill>
                                <a:schemeClr val="accent3">
                                  <a:lumMod val="75000"/>
                                </a:schemeClr>
                              </a:solidFill>
                              <a:latin typeface="Cambria Math" panose="02040503050406030204" pitchFamily="18" charset="0"/>
                            </a:rPr>
                            <m:t>𝑝𝑟𝑒</m:t>
                          </m:r>
                        </m:sup>
                      </m:sSubSup>
                      <m:d>
                        <m:dPr>
                          <m:ctrlPr>
                            <a:rPr lang="en-US" altLang="zh-CN" i="1" dirty="0">
                              <a:solidFill>
                                <a:schemeClr val="accent3">
                                  <a:lumMod val="75000"/>
                                </a:schemeClr>
                              </a:solidFill>
                              <a:latin typeface="Cambria Math" panose="02040503050406030204" pitchFamily="18" charset="0"/>
                            </a:rPr>
                          </m:ctrlPr>
                        </m:dPr>
                        <m:e>
                          <m:sSub>
                            <m:sSubPr>
                              <m:ctrlPr>
                                <a:rPr lang="en-US" altLang="zh-CN" i="1" dirty="0">
                                  <a:solidFill>
                                    <a:schemeClr val="accent3">
                                      <a:lumMod val="75000"/>
                                    </a:schemeClr>
                                  </a:solidFill>
                                  <a:latin typeface="Cambria Math" panose="02040503050406030204" pitchFamily="18" charset="0"/>
                                </a:rPr>
                              </m:ctrlPr>
                            </m:sSubPr>
                            <m:e>
                              <m:acc>
                                <m:accPr>
                                  <m:chr m:val="̅"/>
                                  <m:ctrlPr>
                                    <a:rPr lang="en-US" altLang="zh-CN" i="1" dirty="0">
                                      <a:solidFill>
                                        <a:schemeClr val="accent3">
                                          <a:lumMod val="75000"/>
                                        </a:schemeClr>
                                      </a:solidFill>
                                      <a:latin typeface="Cambria Math" panose="02040503050406030204" pitchFamily="18" charset="0"/>
                                    </a:rPr>
                                  </m:ctrlPr>
                                </m:accPr>
                                <m:e>
                                  <m:r>
                                    <a:rPr lang="en-US" altLang="zh-CN" i="1" dirty="0">
                                      <a:solidFill>
                                        <a:schemeClr val="accent3">
                                          <a:lumMod val="75000"/>
                                        </a:schemeClr>
                                      </a:solidFill>
                                      <a:latin typeface="Cambria Math" panose="02040503050406030204" pitchFamily="18" charset="0"/>
                                    </a:rPr>
                                    <m:t>𝑝</m:t>
                                  </m:r>
                                </m:e>
                              </m:acc>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Sub>
                          <m:r>
                            <a:rPr lang="en-US" altLang="zh-CN" i="1" dirty="0">
                              <a:solidFill>
                                <a:schemeClr val="accent3">
                                  <a:lumMod val="75000"/>
                                </a:schemeClr>
                              </a:solidFill>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𝑘</m:t>
                                  </m:r>
                                </m:sub>
                              </m:sSub>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𝜆</m:t>
                              </m:r>
                            </m:e>
                          </m:d>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m:t>
                      </m:r>
                      <m:sSubSup>
                        <m:sSubSupPr>
                          <m:ctrlPr>
                            <a:rPr lang="en-US" altLang="zh-CN" i="1" dirty="0">
                              <a:solidFill>
                                <a:schemeClr val="accent3">
                                  <a:lumMod val="75000"/>
                                </a:schemeClr>
                              </a:solidFill>
                              <a:latin typeface="Cambria Math" panose="02040503050406030204" pitchFamily="18" charset="0"/>
                            </a:rPr>
                          </m:ctrlPr>
                        </m:sSubSupPr>
                        <m:e>
                          <m:r>
                            <a:rPr lang="en-US" altLang="zh-CN" i="1" dirty="0">
                              <a:solidFill>
                                <a:schemeClr val="accent3">
                                  <a:lumMod val="75000"/>
                                </a:schemeClr>
                              </a:solidFill>
                              <a:latin typeface="Cambria Math" panose="02040503050406030204" pitchFamily="18" charset="0"/>
                            </a:rPr>
                            <m:t>𝑞</m:t>
                          </m:r>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up>
                          <m:r>
                            <a:rPr lang="en-US" altLang="zh-CN" i="1" dirty="0">
                              <a:solidFill>
                                <a:schemeClr val="accent3">
                                  <a:lumMod val="75000"/>
                                </a:schemeClr>
                              </a:solidFill>
                              <a:latin typeface="Cambria Math" panose="02040503050406030204" pitchFamily="18" charset="0"/>
                            </a:rPr>
                            <m:t>𝑝𝑟𝑒</m:t>
                          </m:r>
                        </m:sup>
                      </m:sSubSup>
                      <m:d>
                        <m:dPr>
                          <m:ctrlPr>
                            <a:rPr lang="en-US" altLang="zh-CN" i="1" dirty="0">
                              <a:solidFill>
                                <a:schemeClr val="accent3">
                                  <a:lumMod val="75000"/>
                                </a:schemeClr>
                              </a:solidFill>
                              <a:latin typeface="Cambria Math" panose="02040503050406030204" pitchFamily="18" charset="0"/>
                            </a:rPr>
                          </m:ctrlPr>
                        </m:dPr>
                        <m:e>
                          <m:sSub>
                            <m:sSubPr>
                              <m:ctrlPr>
                                <a:rPr lang="en-US" altLang="zh-CN" i="1" dirty="0">
                                  <a:solidFill>
                                    <a:schemeClr val="accent3">
                                      <a:lumMod val="75000"/>
                                    </a:schemeClr>
                                  </a:solidFill>
                                  <a:latin typeface="Cambria Math" panose="02040503050406030204" pitchFamily="18" charset="0"/>
                                </a:rPr>
                              </m:ctrlPr>
                            </m:sSubPr>
                            <m:e>
                              <m:acc>
                                <m:accPr>
                                  <m:chr m:val="̅"/>
                                  <m:ctrlPr>
                                    <a:rPr lang="en-US" altLang="zh-CN" i="1" dirty="0">
                                      <a:solidFill>
                                        <a:schemeClr val="accent3">
                                          <a:lumMod val="75000"/>
                                        </a:schemeClr>
                                      </a:solidFill>
                                      <a:latin typeface="Cambria Math" panose="02040503050406030204" pitchFamily="18" charset="0"/>
                                    </a:rPr>
                                  </m:ctrlPr>
                                </m:accPr>
                                <m:e>
                                  <m:r>
                                    <a:rPr lang="en-US" altLang="zh-CN" i="1" dirty="0">
                                      <a:solidFill>
                                        <a:schemeClr val="accent3">
                                          <a:lumMod val="75000"/>
                                        </a:schemeClr>
                                      </a:solidFill>
                                      <a:latin typeface="Cambria Math" panose="02040503050406030204" pitchFamily="18" charset="0"/>
                                    </a:rPr>
                                    <m:t>𝑝</m:t>
                                  </m:r>
                                </m:e>
                              </m:acc>
                            </m:e>
                            <m:sub>
                              <m:r>
                                <a:rPr lang="en-US" altLang="zh-CN" i="1" dirty="0">
                                  <a:solidFill>
                                    <a:schemeClr val="accent3">
                                      <a:lumMod val="75000"/>
                                    </a:schemeClr>
                                  </a:solidFill>
                                  <a:latin typeface="Cambria Math" panose="02040503050406030204" pitchFamily="18" charset="0"/>
                                </a:rPr>
                                <m:t>𝑖</m:t>
                              </m:r>
                              <m:r>
                                <a:rPr lang="en-US" altLang="zh-CN" i="1" dirty="0">
                                  <a:solidFill>
                                    <a:schemeClr val="accent3">
                                      <a:lumMod val="75000"/>
                                    </a:schemeClr>
                                  </a:solidFill>
                                  <a:latin typeface="Cambria Math" panose="02040503050406030204" pitchFamily="18" charset="0"/>
                                </a:rPr>
                                <m:t>−1</m:t>
                              </m:r>
                            </m:sub>
                          </m:sSub>
                          <m:r>
                            <a:rPr lang="en-US" altLang="zh-CN" i="1" dirty="0">
                              <a:solidFill>
                                <a:schemeClr val="accent3">
                                  <a:lumMod val="75000"/>
                                </a:schemeClr>
                              </a:solidFill>
                              <a:latin typeface="Cambria Math" panose="02040503050406030204" pitchFamily="18" charset="0"/>
                            </a:rPr>
                            <m:t>|</m:t>
                          </m:r>
                          <m:r>
                            <a:rPr lang="en-US" altLang="zh-CN" i="1" dirty="0">
                              <a:solidFill>
                                <a:srgbClr val="FF0000"/>
                              </a:solidFill>
                              <a:latin typeface="Cambria Math" panose="02040503050406030204" pitchFamily="18" charset="0"/>
                            </a:rPr>
                            <m:t>𝜆</m:t>
                          </m:r>
                        </m:e>
                      </m:d>
                      <m:r>
                        <a:rPr lang="en-US" altLang="zh-CN" i="1" dirty="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𝐵</m:t>
                          </m:r>
                          <m:r>
                            <a:rPr lang="en-US" altLang="zh-CN" i="1" dirty="0">
                              <a:latin typeface="Cambria Math" panose="02040503050406030204" pitchFamily="18" charset="0"/>
                            </a:rPr>
                            <m:t>,</m:t>
                          </m:r>
                          <m:r>
                            <a:rPr lang="en-US" altLang="zh-CN" i="1" dirty="0">
                              <a:latin typeface="Cambria Math" panose="02040503050406030204" pitchFamily="18" charset="0"/>
                            </a:rPr>
                            <m:t>𝐶</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solidFill>
                                <a:srgbClr val="FF0000"/>
                              </a:solidFill>
                              <a:latin typeface="Cambria Math" panose="02040503050406030204" pitchFamily="18" charset="0"/>
                            </a:rPr>
                            <m:t>𝜆</m:t>
                          </m:r>
                        </m:e>
                      </m:d>
                    </m:oMath>
                  </m:oMathPara>
                </a14:m>
                <a:endParaRPr lang="en-US" altLang="zh-CN" dirty="0"/>
              </a:p>
              <a:p>
                <a:endParaRPr lang="en-US" altLang="zh-CN" dirty="0"/>
              </a:p>
              <a:p>
                <a:r>
                  <a:rPr lang="zh-CN" altLang="en-US" dirty="0"/>
                  <a:t>我们可以认为，每一个波长都对应着一个路径密度。</a:t>
                </a:r>
              </a:p>
            </p:txBody>
          </p:sp>
        </mc:Choice>
        <mc:Fallback xmlns="">
          <p:sp>
            <p:nvSpPr>
              <p:cNvPr id="4" name="文本框 3">
                <a:extLst>
                  <a:ext uri="{FF2B5EF4-FFF2-40B4-BE49-F238E27FC236}">
                    <a16:creationId xmlns:a16="http://schemas.microsoft.com/office/drawing/2014/main" id="{3EE547E9-1851-33CA-A6C5-CDED1C7D9E6D}"/>
                  </a:ext>
                </a:extLst>
              </p:cNvPr>
              <p:cNvSpPr txBox="1">
                <a:spLocks noRot="1" noChangeAspect="1" noMove="1" noResize="1" noEditPoints="1" noAdjustHandles="1" noChangeArrowheads="1" noChangeShapeType="1" noTextEdit="1"/>
              </p:cNvSpPr>
              <p:nvPr/>
            </p:nvSpPr>
            <p:spPr>
              <a:xfrm>
                <a:off x="372233" y="1633351"/>
                <a:ext cx="5616444" cy="4317016"/>
              </a:xfrm>
              <a:prstGeom prst="rect">
                <a:avLst/>
              </a:prstGeom>
              <a:blipFill>
                <a:blip r:embed="rId2"/>
                <a:stretch>
                  <a:fillRect l="-869" r="-326" b="-12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2369533-7DD2-49A0-1C93-3023E88D3A81}"/>
                  </a:ext>
                </a:extLst>
              </p:cNvPr>
              <p:cNvSpPr txBox="1"/>
              <p:nvPr/>
            </p:nvSpPr>
            <p:spPr>
              <a:xfrm>
                <a:off x="6038044" y="2297534"/>
                <a:ext cx="5516987" cy="3613169"/>
              </a:xfrm>
              <a:prstGeom prst="rect">
                <a:avLst/>
              </a:prstGeom>
              <a:noFill/>
            </p:spPr>
            <p:txBody>
              <a:bodyPr wrap="square">
                <a:spAutoFit/>
              </a:bodyPr>
              <a:lstStyle/>
              <a:p>
                <a:r>
                  <a:rPr lang="zh-CN" altLang="en-US" sz="1800" dirty="0">
                    <a:latin typeface="Cambria Math" panose="02040503050406030204" pitchFamily="18" charset="0"/>
                  </a:rPr>
                  <a:t>         下一步，我们沿用前面的</a:t>
                </a:r>
                <a:r>
                  <a:rPr lang="en-US" altLang="zh-CN" sz="1800" dirty="0">
                    <a:latin typeface="Cambria Math" panose="02040503050406030204" pitchFamily="18" charset="0"/>
                  </a:rPr>
                  <a:t>MIS</a:t>
                </a:r>
                <a:r>
                  <a:rPr lang="zh-CN" altLang="en-US" sz="1800" dirty="0">
                    <a:latin typeface="Cambria Math" panose="02040503050406030204" pitchFamily="18" charset="0"/>
                  </a:rPr>
                  <a:t>思想，之前对向</a:t>
                </a:r>
                <a:r>
                  <a:rPr lang="en-US" altLang="zh-CN" sz="1800" dirty="0">
                    <a:latin typeface="Cambria Math" panose="02040503050406030204" pitchFamily="18" charset="0"/>
                  </a:rPr>
                  <a:t>BSDF</a:t>
                </a:r>
                <a:r>
                  <a:rPr lang="zh-CN" altLang="en-US" sz="1800" dirty="0">
                    <a:latin typeface="Cambria Math" panose="02040503050406030204" pitchFamily="18" charset="0"/>
                  </a:rPr>
                  <a:t>采样和向光源采样两个采样技术做了</a:t>
                </a:r>
                <a:r>
                  <a:rPr lang="en-US" altLang="zh-CN" sz="1800" dirty="0">
                    <a:latin typeface="Cambria Math" panose="02040503050406030204" pitchFamily="18" charset="0"/>
                  </a:rPr>
                  <a:t>MIS</a:t>
                </a:r>
                <a:r>
                  <a:rPr lang="zh-CN" altLang="en-US" dirty="0">
                    <a:latin typeface="Cambria Math" panose="02040503050406030204" pitchFamily="18" charset="0"/>
                  </a:rPr>
                  <a:t>。</a:t>
                </a:r>
                <a:endParaRPr lang="en-US" altLang="zh-CN" dirty="0">
                  <a:latin typeface="Cambria Math" panose="02040503050406030204" pitchFamily="18" charset="0"/>
                </a:endParaRPr>
              </a:p>
              <a:p>
                <a:pPr>
                  <a:spcBef>
                    <a:spcPts val="800"/>
                  </a:spcBef>
                </a:pPr>
                <a:r>
                  <a:rPr lang="en-US" altLang="zh-CN" sz="1800" dirty="0">
                    <a:latin typeface="Cambria Math" panose="02040503050406030204" pitchFamily="18" charset="0"/>
                  </a:rPr>
                  <a:t>         </a:t>
                </a:r>
                <a:r>
                  <a:rPr lang="zh-CN" altLang="en-US" sz="1800" dirty="0">
                    <a:latin typeface="Cambria Math" panose="02040503050406030204" pitchFamily="18" charset="0"/>
                  </a:rPr>
                  <a:t>因为</a:t>
                </a:r>
                <a:r>
                  <a:rPr lang="en-US" altLang="zh-CN" dirty="0">
                    <a:latin typeface="Cambria Math" panose="02040503050406030204" pitchFamily="18" charset="0"/>
                  </a:rPr>
                  <a:t>P</a:t>
                </a:r>
                <a:r>
                  <a:rPr lang="en-US" altLang="zh-CN" sz="1800" dirty="0">
                    <a:latin typeface="Cambria Math" panose="02040503050406030204" pitchFamily="18" charset="0"/>
                  </a:rPr>
                  <a:t>acket</a:t>
                </a:r>
                <a:r>
                  <a:rPr lang="zh-CN" altLang="en-US" sz="1800" dirty="0">
                    <a:latin typeface="Cambria Math" panose="02040503050406030204" pitchFamily="18" charset="0"/>
                  </a:rPr>
                  <a:t>中的每个波长都对应着一种路径采样技术，于是就可以对这些采样技术构建如下</a:t>
                </a:r>
                <a:r>
                  <a:rPr lang="en-US" altLang="zh-CN" sz="1800" dirty="0">
                    <a:latin typeface="Cambria Math" panose="02040503050406030204" pitchFamily="18" charset="0"/>
                  </a:rPr>
                  <a:t>MIS</a:t>
                </a:r>
                <a:r>
                  <a:rPr lang="zh-CN" altLang="en-US" sz="1800" dirty="0">
                    <a:latin typeface="Cambria Math" panose="02040503050406030204" pitchFamily="18" charset="0"/>
                  </a:rPr>
                  <a:t>：</a:t>
                </a:r>
                <a:endParaRPr lang="en-US" altLang="zh-CN" sz="1800" dirty="0">
                  <a:latin typeface="Cambria Math" panose="02040503050406030204" pitchFamily="18" charset="0"/>
                </a:endParaRPr>
              </a:p>
              <a:p>
                <a:pPr>
                  <a:lnSpc>
                    <a:spcPct val="110000"/>
                  </a:lnSpc>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𝑚𝑢𝑙𝑡𝑖</m:t>
                          </m:r>
                        </m:sup>
                      </m:sSubSup>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𝑘</m:t>
                          </m:r>
                          <m:r>
                            <m:rPr>
                              <m:brk m:alnAt="23"/>
                            </m:rPr>
                            <a:rPr lang="en-US" altLang="zh-CN" b="0" i="1" dirty="0" smtClean="0">
                              <a:latin typeface="Cambria Math" panose="02040503050406030204" pitchFamily="18" charset="0"/>
                            </a:rPr>
                            <m:t>=</m:t>
                          </m:r>
                          <m:r>
                            <m:rPr>
                              <m:brk m:alnAt="23"/>
                            </m:rPr>
                            <a:rPr lang="en-US" altLang="zh-CN" b="0" i="1" dirty="0" smtClean="0">
                              <a:latin typeface="Cambria Math" panose="02040503050406030204" pitchFamily="18" charset="0"/>
                            </a:rPr>
                            <m:t>1</m:t>
                          </m:r>
                        </m:sub>
                        <m:sup>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𝑘</m:t>
                                  </m:r>
                                </m:sup>
                              </m:sSubSup>
                              <m:r>
                                <a:rPr lang="en-US" altLang="zh-CN" b="1" i="1" dirty="0" smtClean="0">
                                  <a:latin typeface="Cambria Math" panose="02040503050406030204" pitchFamily="18" charset="0"/>
                                </a:rPr>
                                <m:t> </m:t>
                              </m:r>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𝑘</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𝑘</m:t>
                                      </m:r>
                                    </m:sup>
                                  </m:sSubSup>
                                  <m:r>
                                    <a:rPr lang="en-US" altLang="zh-CN" i="1" dirty="0">
                                      <a:latin typeface="Cambria Math" panose="02040503050406030204" pitchFamily="18" charset="0"/>
                                    </a:rPr>
                                    <m:t>|</m:t>
                                  </m:r>
                                  <m:r>
                                    <a:rPr lang="en-US" altLang="zh-CN" b="1" i="0" dirty="0" smtClean="0">
                                      <a:solidFill>
                                        <a:schemeClr val="tx1"/>
                                      </a:solidFill>
                                      <a:latin typeface="Cambria Math" panose="02040503050406030204" pitchFamily="18" charset="0"/>
                                    </a:rPr>
                                    <m:t>𝛌</m:t>
                                  </m:r>
                                </m:e>
                              </m:d>
                            </m:den>
                          </m:f>
                        </m:e>
                      </m:nary>
                    </m:oMath>
                  </m:oMathPara>
                </a14:m>
                <a:endParaRPr lang="en-US" altLang="zh-CN" sz="1800" dirty="0">
                  <a:latin typeface="Cambria Math" panose="02040503050406030204" pitchFamily="18" charset="0"/>
                </a:endParaRPr>
              </a:p>
              <a:p>
                <a:pPr>
                  <a:spcBef>
                    <a:spcPts val="800"/>
                  </a:spcBef>
                </a:pPr>
                <a:r>
                  <a:rPr lang="zh-CN" altLang="en-US" sz="1800" dirty="0">
                    <a:latin typeface="Cambria Math" panose="02040503050406030204" pitchFamily="18" charset="0"/>
                  </a:rPr>
                  <a:t>         对于同一条路径</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oMath>
                </a14:m>
                <a:r>
                  <a:rPr lang="zh-CN" altLang="en-US" sz="1800" dirty="0">
                    <a:latin typeface="Cambria Math" panose="02040503050406030204" pitchFamily="18" charset="0"/>
                  </a:rPr>
                  <a:t>，有：</a:t>
                </a:r>
                <a:endParaRPr lang="en-US" altLang="zh-CN" sz="1800" dirty="0">
                  <a:latin typeface="Cambria Math" panose="02040503050406030204" pitchFamily="18" charset="0"/>
                </a:endParaRPr>
              </a:p>
              <a:p>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m:rPr>
                              <m:brk m:alnAt="7"/>
                            </m:rP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b="0" i="1"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62369533-7DD2-49A0-1C93-3023E88D3A81}"/>
                  </a:ext>
                </a:extLst>
              </p:cNvPr>
              <p:cNvSpPr txBox="1">
                <a:spLocks noRot="1" noChangeAspect="1" noMove="1" noResize="1" noEditPoints="1" noAdjustHandles="1" noChangeArrowheads="1" noChangeShapeType="1" noTextEdit="1"/>
              </p:cNvSpPr>
              <p:nvPr/>
            </p:nvSpPr>
            <p:spPr>
              <a:xfrm>
                <a:off x="6038044" y="2297534"/>
                <a:ext cx="5516987" cy="3613169"/>
              </a:xfrm>
              <a:prstGeom prst="rect">
                <a:avLst/>
              </a:prstGeom>
              <a:blipFill>
                <a:blip r:embed="rId3"/>
                <a:stretch>
                  <a:fillRect l="-883" t="-1180" b="-675"/>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CB34A86E-D42A-61F0-2B20-57571D286EE5}"/>
              </a:ext>
            </a:extLst>
          </p:cNvPr>
          <p:cNvPicPr>
            <a:picLocks noChangeAspect="1"/>
          </p:cNvPicPr>
          <p:nvPr/>
        </p:nvPicPr>
        <p:blipFill>
          <a:blip r:embed="rId4"/>
          <a:stretch>
            <a:fillRect/>
          </a:stretch>
        </p:blipFill>
        <p:spPr>
          <a:xfrm>
            <a:off x="6815236" y="1354408"/>
            <a:ext cx="3962604" cy="76203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7F022BE-3368-0594-2E76-C4C1BC38A9D8}"/>
                  </a:ext>
                </a:extLst>
              </p:cNvPr>
              <p:cNvSpPr txBox="1"/>
              <p:nvPr/>
            </p:nvSpPr>
            <p:spPr>
              <a:xfrm>
                <a:off x="8553651" y="6307242"/>
                <a:ext cx="3567515" cy="381515"/>
              </a:xfrm>
              <a:prstGeom prst="rect">
                <a:avLst/>
              </a:prstGeom>
              <a:noFill/>
            </p:spPr>
            <p:txBody>
              <a:bodyPr wrap="none" rtlCol="0">
                <a:spAutoFit/>
              </a:bodyPr>
              <a:lstStyle/>
              <a:p>
                <a:r>
                  <a:rPr lang="zh-CN" altLang="en-US" dirty="0"/>
                  <a:t>符号简写：</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b="0" i="1" dirty="0" smtClean="0">
                                <a:solidFill>
                                  <a:schemeClr val="tx1"/>
                                </a:solidFill>
                                <a:latin typeface="Cambria Math" panose="02040503050406030204" pitchFamily="18" charset="0"/>
                              </a:rPr>
                              <m:t>𝑘</m:t>
                            </m:r>
                          </m:sub>
                        </m:sSub>
                      </m:e>
                    </m:d>
                  </m:oMath>
                </a14:m>
                <a:endParaRPr lang="zh-CN" altLang="en-US" dirty="0"/>
              </a:p>
            </p:txBody>
          </p:sp>
        </mc:Choice>
        <mc:Fallback xmlns="">
          <p:sp>
            <p:nvSpPr>
              <p:cNvPr id="9" name="文本框 8">
                <a:extLst>
                  <a:ext uri="{FF2B5EF4-FFF2-40B4-BE49-F238E27FC236}">
                    <a16:creationId xmlns:a16="http://schemas.microsoft.com/office/drawing/2014/main" id="{47F022BE-3368-0594-2E76-C4C1BC38A9D8}"/>
                  </a:ext>
                </a:extLst>
              </p:cNvPr>
              <p:cNvSpPr txBox="1">
                <a:spLocks noRot="1" noChangeAspect="1" noMove="1" noResize="1" noEditPoints="1" noAdjustHandles="1" noChangeArrowheads="1" noChangeShapeType="1" noTextEdit="1"/>
              </p:cNvSpPr>
              <p:nvPr/>
            </p:nvSpPr>
            <p:spPr>
              <a:xfrm>
                <a:off x="8553651" y="6307242"/>
                <a:ext cx="3567515" cy="381515"/>
              </a:xfrm>
              <a:prstGeom prst="rect">
                <a:avLst/>
              </a:prstGeom>
              <a:blipFill>
                <a:blip r:embed="rId5"/>
                <a:stretch>
                  <a:fillRect l="-1368" t="-9677" b="-225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653349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B4663-F73A-5954-E84B-251DC78AAB14}"/>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504520B2-132D-8420-CE4C-1D164291DEA3}"/>
              </a:ext>
            </a:extLst>
          </p:cNvPr>
          <p:cNvSpPr>
            <a:spLocks noGrp="1"/>
          </p:cNvSpPr>
          <p:nvPr>
            <p:ph type="title" idx="1"/>
          </p:nvPr>
        </p:nvSpPr>
        <p:spPr/>
        <p:txBody>
          <a:bodyPr/>
          <a:lstStyle/>
          <a:p>
            <a:r>
              <a:rPr lang="zh-CN" altLang="en-US" dirty="0"/>
              <a:t>光谱路径追踪  </a:t>
            </a:r>
            <a:r>
              <a:rPr lang="en-US" altLang="zh-CN" dirty="0"/>
              <a:t>——  </a:t>
            </a:r>
            <a:r>
              <a:rPr lang="zh-CN" altLang="en-US" dirty="0"/>
              <a:t>单样本</a:t>
            </a:r>
            <a:r>
              <a:rPr lang="en-US" altLang="zh-CN" dirty="0"/>
              <a:t>MIS</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DF975C3-5B85-F8C0-FD4D-7440644BC8AC}"/>
                  </a:ext>
                </a:extLst>
              </p:cNvPr>
              <p:cNvSpPr txBox="1"/>
              <p:nvPr/>
            </p:nvSpPr>
            <p:spPr>
              <a:xfrm>
                <a:off x="364900" y="1534712"/>
                <a:ext cx="5501428" cy="4257640"/>
              </a:xfrm>
              <a:prstGeom prst="rect">
                <a:avLst/>
              </a:prstGeom>
              <a:noFill/>
            </p:spPr>
            <p:txBody>
              <a:bodyPr wrap="square">
                <a:spAutoFit/>
              </a:bodyPr>
              <a:lstStyle/>
              <a:p>
                <a:r>
                  <a:rPr lang="zh-CN" altLang="en-US" dirty="0">
                    <a:latin typeface="Cambria Math" panose="02040503050406030204" pitchFamily="18" charset="0"/>
                  </a:rPr>
                  <a:t>         因为</a:t>
                </a:r>
                <a:r>
                  <a:rPr lang="en-US" altLang="zh-CN" dirty="0">
                    <a:latin typeface="Cambria Math" panose="02040503050406030204" pitchFamily="18" charset="0"/>
                  </a:rPr>
                  <a:t>Packet</a:t>
                </a:r>
                <a:r>
                  <a:rPr lang="zh-CN" altLang="en-US" dirty="0">
                    <a:latin typeface="Cambria Math" panose="02040503050406030204" pitchFamily="18" charset="0"/>
                  </a:rPr>
                  <a:t>中的每个波长都对应着一种路径采样技术，于是就可以对这些采样技术构建如下</a:t>
                </a:r>
                <a:r>
                  <a:rPr lang="en-US" altLang="zh-CN" dirty="0">
                    <a:latin typeface="Cambria Math" panose="02040503050406030204" pitchFamily="18" charset="0"/>
                  </a:rPr>
                  <a:t>MIS</a:t>
                </a:r>
                <a:r>
                  <a:rPr lang="zh-CN" altLang="en-US" dirty="0">
                    <a:latin typeface="Cambria Math" panose="02040503050406030204" pitchFamily="18" charset="0"/>
                  </a:rPr>
                  <a:t>：</a:t>
                </a:r>
                <a:endParaRPr lang="en-US" altLang="zh-CN" dirty="0">
                  <a:latin typeface="Cambria Math" panose="02040503050406030204" pitchFamily="18" charset="0"/>
                </a:endParaRPr>
              </a:p>
              <a:p>
                <a:pPr>
                  <a:lnSpc>
                    <a:spcPct val="110000"/>
                  </a:lnSpc>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𝑚𝑢𝑙𝑡𝑖</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𝑘</m:t>
                                  </m:r>
                                </m:sup>
                              </m:sSubSup>
                              <m:r>
                                <a:rPr lang="en-US" altLang="zh-CN" b="1" i="1" dirty="0">
                                  <a:latin typeface="Cambria Math" panose="02040503050406030204" pitchFamily="18" charset="0"/>
                                </a:rPr>
                                <m:t> </m:t>
                              </m:r>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𝑘</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𝑘</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nary>
                    </m:oMath>
                  </m:oMathPara>
                </a14:m>
                <a:endParaRPr lang="en-US" altLang="zh-CN" dirty="0">
                  <a:latin typeface="Cambria Math" panose="02040503050406030204" pitchFamily="18" charset="0"/>
                </a:endParaRPr>
              </a:p>
              <a:p>
                <a:pPr>
                  <a:spcBef>
                    <a:spcPts val="800"/>
                  </a:spcBef>
                </a:pPr>
                <a:r>
                  <a:rPr lang="zh-CN" altLang="en-US" dirty="0">
                    <a:latin typeface="Cambria Math" panose="02040503050406030204" pitchFamily="18" charset="0"/>
                  </a:rPr>
                  <a:t>         对于同一条路径</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oMath>
                </a14:m>
                <a:r>
                  <a:rPr lang="zh-CN" altLang="en-US" dirty="0">
                    <a:latin typeface="Cambria Math" panose="02040503050406030204" pitchFamily="18" charset="0"/>
                  </a:rPr>
                  <a:t>，有：</a:t>
                </a:r>
                <a:endParaRPr lang="en-US" altLang="zh-CN" dirty="0">
                  <a:latin typeface="Cambria Math" panose="02040503050406030204" pitchFamily="18" charset="0"/>
                </a:endParaRPr>
              </a:p>
              <a:p>
                <a:pPr/>
                <a14:m>
                  <m:oMathPara xmlns:m="http://schemas.openxmlformats.org/officeDocument/2006/math">
                    <m:oMath>
                      <m:nary>
                        <m:naryPr>
                          <m:chr m:val="∑"/>
                          <m:supHide m:val="on"/>
                          <m:ctrlPr>
                            <a:rPr lang="en-US" altLang="zh-CN" i="1" dirty="0">
                              <a:latin typeface="Cambria Math" panose="02040503050406030204" pitchFamily="18" charset="0"/>
                            </a:rPr>
                          </m:ctrlPr>
                        </m:naryPr>
                        <m:sub>
                          <m:r>
                            <m:rPr>
                              <m:brk m:alnAt="7"/>
                            </m:rPr>
                            <a:rPr lang="en-US" altLang="zh-CN" i="1" dirty="0">
                              <a:latin typeface="Cambria Math" panose="02040503050406030204" pitchFamily="18" charset="0"/>
                            </a:rPr>
                            <m:t>𝑘</m:t>
                          </m:r>
                          <m:r>
                            <m:rPr>
                              <m:brk m:alnAt="7"/>
                            </m:rP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m:t>
                      </m:r>
                      <m:r>
                        <a:rPr lang="en-US" altLang="zh-CN" b="0" i="1" dirty="0" smtClean="0">
                          <a:latin typeface="Cambria Math" panose="02040503050406030204" pitchFamily="18" charset="0"/>
                        </a:rPr>
                        <m:t>1</m:t>
                      </m:r>
                    </m:oMath>
                  </m:oMathPara>
                </a14:m>
                <a:endParaRPr lang="en-US" altLang="zh-CN" i="1"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=0</m:t>
                      </m:r>
                      <m:r>
                        <a:rPr lang="en-US" altLang="zh-CN" b="0" i="1" dirty="0" smtClean="0">
                          <a:latin typeface="Cambria Math" panose="02040503050406030204" pitchFamily="18" charset="0"/>
                        </a:rPr>
                        <m:t>  </m:t>
                      </m:r>
                      <m:r>
                        <a:rPr lang="en-US" altLang="zh-CN" i="1" dirty="0">
                          <a:latin typeface="Cambria Math" panose="02040503050406030204" pitchFamily="18" charset="0"/>
                        </a:rPr>
                        <m:t>⇒</m:t>
                      </m:r>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=0</m:t>
                      </m:r>
                    </m:oMath>
                  </m:oMathPara>
                </a14:m>
                <a:endParaRPr lang="en-US" altLang="zh-CN" dirty="0">
                  <a:latin typeface="Cambria Math" panose="02040503050406030204" pitchFamily="18" charset="0"/>
                </a:endParaRPr>
              </a:p>
              <a:p>
                <a:pPr>
                  <a:lnSpc>
                    <a:spcPct val="120000"/>
                  </a:lnSpc>
                </a:pPr>
                <a:endParaRPr lang="en-US" altLang="zh-CN" dirty="0">
                  <a:latin typeface="Cambria Math" panose="02040503050406030204" pitchFamily="18" charset="0"/>
                </a:endParaRPr>
              </a:p>
              <a:p>
                <a:pPr>
                  <a:lnSpc>
                    <a:spcPct val="120000"/>
                  </a:lnSpc>
                </a:pPr>
                <a:r>
                  <a:rPr lang="en-US" altLang="zh-CN" sz="1800" dirty="0">
                    <a:latin typeface="Cambria Math" panose="02040503050406030204" pitchFamily="18" charset="0"/>
                  </a:rPr>
                  <a:t>         </a:t>
                </a:r>
                <a:r>
                  <a:rPr lang="zh-CN" altLang="en-US" sz="1800" dirty="0">
                    <a:latin typeface="Cambria Math" panose="02040503050406030204" pitchFamily="18" charset="0"/>
                  </a:rPr>
                  <a:t>这种方案固然可行，但是其计算量太大了，对于我们目前使用的</a:t>
                </a:r>
                <a:r>
                  <a:rPr lang="en-US" altLang="zh-CN" sz="1800" dirty="0">
                    <a:latin typeface="Cambria Math" panose="02040503050406030204" pitchFamily="18" charset="0"/>
                  </a:rPr>
                  <a:t>4</a:t>
                </a:r>
                <a:r>
                  <a:rPr lang="zh-CN" altLang="en-US" dirty="0">
                    <a:latin typeface="Cambria Math" panose="02040503050406030204" pitchFamily="18" charset="0"/>
                  </a:rPr>
                  <a:t>个波长的</a:t>
                </a:r>
                <a:r>
                  <a:rPr lang="en-US" altLang="zh-CN" dirty="0">
                    <a:latin typeface="Cambria Math" panose="02040503050406030204" pitchFamily="18" charset="0"/>
                  </a:rPr>
                  <a:t>Packet</a:t>
                </a:r>
                <a:r>
                  <a:rPr lang="zh-CN" altLang="en-US" dirty="0">
                    <a:latin typeface="Cambria Math" panose="02040503050406030204" pitchFamily="18" charset="0"/>
                  </a:rPr>
                  <a:t>，需要追踪</a:t>
                </a:r>
                <a:r>
                  <a:rPr lang="en-US" altLang="zh-CN" dirty="0">
                    <a:latin typeface="Cambria Math" panose="02040503050406030204" pitchFamily="18" charset="0"/>
                  </a:rPr>
                  <a:t>4</a:t>
                </a:r>
                <a:r>
                  <a:rPr lang="zh-CN" altLang="en-US" dirty="0">
                    <a:latin typeface="Cambria Math" panose="02040503050406030204" pitchFamily="18" charset="0"/>
                  </a:rPr>
                  <a:t>条光路才能计算最终的贡献。</a:t>
                </a:r>
                <a:endParaRPr lang="en-US" altLang="zh-CN" sz="1800"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DDF975C3-5B85-F8C0-FD4D-7440644BC8AC}"/>
                  </a:ext>
                </a:extLst>
              </p:cNvPr>
              <p:cNvSpPr txBox="1">
                <a:spLocks noRot="1" noChangeAspect="1" noMove="1" noResize="1" noEditPoints="1" noAdjustHandles="1" noChangeArrowheads="1" noChangeShapeType="1" noTextEdit="1"/>
              </p:cNvSpPr>
              <p:nvPr/>
            </p:nvSpPr>
            <p:spPr>
              <a:xfrm>
                <a:off x="364900" y="1534712"/>
                <a:ext cx="5501428" cy="4257640"/>
              </a:xfrm>
              <a:prstGeom prst="rect">
                <a:avLst/>
              </a:prstGeom>
              <a:blipFill>
                <a:blip r:embed="rId2"/>
                <a:stretch>
                  <a:fillRect l="-998" t="-1003" r="-111" b="-14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0F941E0-8E00-B8FE-A44A-206DEE9281BD}"/>
                  </a:ext>
                </a:extLst>
              </p:cNvPr>
              <p:cNvSpPr txBox="1"/>
              <p:nvPr/>
            </p:nvSpPr>
            <p:spPr>
              <a:xfrm>
                <a:off x="5866328" y="1491762"/>
                <a:ext cx="5965065" cy="4487447"/>
              </a:xfrm>
              <a:prstGeom prst="rect">
                <a:avLst/>
              </a:prstGeom>
              <a:noFill/>
            </p:spPr>
            <p:txBody>
              <a:bodyPr wrap="square">
                <a:spAutoFit/>
              </a:bodyPr>
              <a:lstStyle/>
              <a:p>
                <a:r>
                  <a:rPr lang="zh-CN" altLang="en-US" sz="1800" dirty="0">
                    <a:latin typeface="Cambria Math" panose="02040503050406030204" pitchFamily="18" charset="0"/>
                  </a:rPr>
                  <a:t>         </a:t>
                </a:r>
                <a:r>
                  <a:rPr lang="zh-CN" altLang="en-US" dirty="0">
                    <a:latin typeface="Cambria Math" panose="02040503050406030204" pitchFamily="18" charset="0"/>
                  </a:rPr>
                  <a:t>所以可不可以只用一个样本完成多重重要性采样？</a:t>
                </a:r>
                <a:endParaRPr lang="en-US" altLang="zh-CN" dirty="0">
                  <a:latin typeface="Cambria Math" panose="02040503050406030204" pitchFamily="18" charset="0"/>
                </a:endParaRPr>
              </a:p>
              <a:p>
                <a:pPr>
                  <a:spcBef>
                    <a:spcPts val="800"/>
                  </a:spcBef>
                </a:pPr>
                <a:r>
                  <a:rPr lang="en-US" altLang="zh-CN" sz="1800" dirty="0">
                    <a:latin typeface="Cambria Math" panose="02040503050406030204" pitchFamily="18" charset="0"/>
                  </a:rPr>
                  <a:t>         </a:t>
                </a:r>
                <a:r>
                  <a:rPr lang="zh-CN" altLang="en-US" sz="1800" dirty="0">
                    <a:latin typeface="Cambria Math" panose="02040503050406030204" pitchFamily="18" charset="0"/>
                  </a:rPr>
                  <a:t>答案是肯定的。对于</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oMath>
                </a14:m>
                <a:r>
                  <a:rPr lang="zh-CN" altLang="en-US" sz="1800" dirty="0">
                    <a:latin typeface="Cambria Math" panose="02040503050406030204" pitchFamily="18" charset="0"/>
                  </a:rPr>
                  <a:t>种采样技术，我们可以以一定概率从这些采样技术中随机选择一个技术</a:t>
                </a:r>
                <a:r>
                  <a:rPr lang="zh-CN" altLang="en-US" dirty="0">
                    <a:latin typeface="Cambria Math" panose="02040503050406030204" pitchFamily="18" charset="0"/>
                  </a:rPr>
                  <a:t>：</a:t>
                </a:r>
                <a:endParaRPr lang="en-US" altLang="zh-CN" dirty="0">
                  <a:latin typeface="Cambria Math" panose="02040503050406030204" pitchFamily="18" charset="0"/>
                </a:endParaRPr>
              </a:p>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b="0" i="1"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 ~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r>
                            <a:rPr lang="en-US" altLang="zh-CN" sz="1800" b="1" i="0" dirty="0" smtClean="0">
                              <a:latin typeface="Cambria Math" panose="02040503050406030204" pitchFamily="18" charset="0"/>
                            </a:rPr>
                            <m:t>𝛌</m:t>
                          </m:r>
                        </m:e>
                      </m:d>
                    </m:oMath>
                  </m:oMathPara>
                </a14:m>
                <a:endParaRPr lang="en-US" altLang="zh-CN" sz="1800" dirty="0">
                  <a:latin typeface="Cambria Math" panose="02040503050406030204" pitchFamily="18" charset="0"/>
                </a:endParaRPr>
              </a:p>
              <a:p>
                <a:pPr>
                  <a:spcBef>
                    <a:spcPts val="800"/>
                  </a:spcBef>
                </a:pPr>
                <a:r>
                  <a:rPr lang="en-US" altLang="zh-CN" dirty="0">
                    <a:latin typeface="Cambria Math" panose="02040503050406030204" pitchFamily="18" charset="0"/>
                  </a:rPr>
                  <a:t>         </a:t>
                </a:r>
                <a:r>
                  <a:rPr lang="zh-CN" altLang="en-US" dirty="0">
                    <a:latin typeface="Cambria Math" panose="02040503050406030204" pitchFamily="18" charset="0"/>
                  </a:rPr>
                  <a:t>而后构建单样本的</a:t>
                </a:r>
                <a:r>
                  <a:rPr lang="en-US" altLang="zh-CN" dirty="0">
                    <a:latin typeface="Cambria Math" panose="02040503050406030204" pitchFamily="18" charset="0"/>
                  </a:rPr>
                  <a:t>MIS</a:t>
                </a:r>
                <a:r>
                  <a:rPr lang="zh-CN" altLang="en-US" dirty="0">
                    <a:latin typeface="Cambria Math" panose="02040503050406030204" pitchFamily="18" charset="0"/>
                  </a:rPr>
                  <a:t>估计器：</a:t>
                </a:r>
                <a:endParaRPr lang="en-US" altLang="zh-CN" sz="1800" dirty="0">
                  <a:latin typeface="Cambria Math" panose="02040503050406030204" pitchFamily="18" charset="0"/>
                </a:endParaRPr>
              </a:p>
              <a:p>
                <a:pPr>
                  <a:lnSpc>
                    <a:spcPct val="110000"/>
                  </a:lnSpc>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den>
                      </m:f>
                    </m:oMath>
                  </m:oMathPara>
                </a14:m>
                <a:endParaRPr lang="en-US" altLang="zh-CN" dirty="0">
                  <a:latin typeface="Cambria Math" panose="02040503050406030204" pitchFamily="18" charset="0"/>
                </a:endParaRPr>
              </a:p>
              <a:p>
                <a:pPr>
                  <a:lnSpc>
                    <a:spcPct val="110000"/>
                  </a:lnSpc>
                </a:pPr>
                <a:endParaRPr lang="en-US" altLang="zh-CN" sz="1800" dirty="0">
                  <a:latin typeface="Cambria Math" panose="02040503050406030204" pitchFamily="18" charset="0"/>
                </a:endParaRPr>
              </a:p>
              <a:p>
                <a:r>
                  <a:rPr lang="zh-CN" altLang="en-US" sz="1800" dirty="0">
                    <a:latin typeface="Cambria Math" panose="02040503050406030204" pitchFamily="18" charset="0"/>
                  </a:rPr>
                  <a:t>         对于同一条路径</a:t>
                </a:r>
                <a14:m>
                  <m:oMath xmlns:m="http://schemas.openxmlformats.org/officeDocument/2006/math">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oMath>
                </a14:m>
                <a:r>
                  <a:rPr lang="zh-CN" altLang="en-US" sz="1800" dirty="0">
                    <a:latin typeface="Cambria Math" panose="02040503050406030204" pitchFamily="18" charset="0"/>
                  </a:rPr>
                  <a:t>，有：</a:t>
                </a:r>
                <a:endParaRPr lang="en-US" altLang="zh-CN" sz="1800" dirty="0">
                  <a:latin typeface="Cambria Math" panose="02040503050406030204" pitchFamily="18" charset="0"/>
                </a:endParaRPr>
              </a:p>
              <a:p>
                <a:pPr>
                  <a:lnSpc>
                    <a:spcPct val="120000"/>
                  </a:lnSpc>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𝑐</m:t>
                              </m:r>
                            </m:e>
                            <m:sub>
                              <m:r>
                                <m:rPr>
                                  <m:brk m:alnAt="7"/>
                                </m:rP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A0F941E0-8E00-B8FE-A44A-206DEE9281BD}"/>
                  </a:ext>
                </a:extLst>
              </p:cNvPr>
              <p:cNvSpPr txBox="1">
                <a:spLocks noRot="1" noChangeAspect="1" noMove="1" noResize="1" noEditPoints="1" noAdjustHandles="1" noChangeArrowheads="1" noChangeShapeType="1" noTextEdit="1"/>
              </p:cNvSpPr>
              <p:nvPr/>
            </p:nvSpPr>
            <p:spPr>
              <a:xfrm>
                <a:off x="5866328" y="1491762"/>
                <a:ext cx="5965065" cy="4487447"/>
              </a:xfrm>
              <a:prstGeom prst="rect">
                <a:avLst/>
              </a:prstGeom>
              <a:blipFill>
                <a:blip r:embed="rId3"/>
                <a:stretch>
                  <a:fillRect l="-817" t="-951" r="-409" b="-4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3490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92DB-D8B0-5B79-A55D-268969DB618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CE25EA9-59F9-5C85-82B1-C807D6524133}"/>
              </a:ext>
            </a:extLst>
          </p:cNvPr>
          <p:cNvSpPr>
            <a:spLocks noGrp="1"/>
          </p:cNvSpPr>
          <p:nvPr>
            <p:ph type="title" idx="1"/>
          </p:nvPr>
        </p:nvSpPr>
        <p:spPr/>
        <p:txBody>
          <a:bodyPr/>
          <a:lstStyle/>
          <a:p>
            <a:r>
              <a:rPr lang="zh-CN" altLang="en-US" dirty="0"/>
              <a:t>光谱路径追踪  </a:t>
            </a:r>
            <a:r>
              <a:rPr lang="en-US" altLang="zh-CN" dirty="0"/>
              <a:t>——  </a:t>
            </a:r>
            <a:r>
              <a:rPr lang="zh-CN" altLang="en-US" dirty="0"/>
              <a:t>单样本</a:t>
            </a:r>
            <a:r>
              <a:rPr lang="en-US" altLang="zh-CN" dirty="0"/>
              <a:t>MIS</a:t>
            </a:r>
            <a:endParaRPr lang="zh-CN" altLang="en-US" dirty="0"/>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78878DA-45B2-97C5-7955-1B57FE81BD44}"/>
                  </a:ext>
                </a:extLst>
              </p:cNvPr>
              <p:cNvSpPr txBox="1"/>
              <p:nvPr/>
            </p:nvSpPr>
            <p:spPr>
              <a:xfrm>
                <a:off x="-51516" y="1375288"/>
                <a:ext cx="5776175" cy="4587603"/>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b="0" i="1"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 ~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r>
                            <a:rPr lang="en-US" altLang="zh-CN" sz="1800" b="1" i="0" dirty="0" smtClean="0">
                              <a:latin typeface="Cambria Math" panose="02040503050406030204" pitchFamily="18" charset="0"/>
                            </a:rPr>
                            <m:t>𝛌</m:t>
                          </m:r>
                        </m:e>
                      </m:d>
                    </m:oMath>
                  </m:oMathPara>
                </a14:m>
                <a:endParaRPr lang="en-US" altLang="zh-CN" b="1" i="1" dirty="0">
                  <a:latin typeface="Cambria Math" panose="02040503050406030204" pitchFamily="18" charset="0"/>
                </a:endParaRPr>
              </a:p>
              <a:p>
                <a:pPr>
                  <a:lnSpc>
                    <a:spcPct val="150000"/>
                  </a:lnSpc>
                </a:pPr>
                <a14:m>
                  <m:oMathPara xmlns:m="http://schemas.openxmlformats.org/officeDocument/2006/math">
                    <m:oMath>
                      <m:borderBox>
                        <m:borderBoxPr>
                          <m:ctrlPr>
                            <a:rPr lang="zh-CN" altLang="en-US" b="1" i="1" dirty="0">
                              <a:latin typeface="Cambria Math" panose="02040503050406030204" pitchFamily="18" charset="0"/>
                            </a:rPr>
                          </m:ctrlPr>
                        </m:borderBox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borderBox>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𝑐</m:t>
                              </m:r>
                            </m:e>
                            <m:sub>
                              <m:r>
                                <m:rPr>
                                  <m:brk m:alnAt="7"/>
                                </m:rP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a:p>
                <a:pPr>
                  <a:lnSpc>
                    <a:spcPct val="120000"/>
                  </a:lnSpc>
                </a:pPr>
                <a:endParaRPr lang="en-US" altLang="zh-CN" dirty="0">
                  <a:latin typeface="Cambria Math" panose="02040503050406030204" pitchFamily="18" charset="0"/>
                </a:endParaRPr>
              </a:p>
              <a:p>
                <a:pPr>
                  <a:lnSpc>
                    <a:spcPct val="120000"/>
                  </a:lnSpc>
                </a:pPr>
                <a:r>
                  <a:rPr lang="zh-CN" altLang="en-US" dirty="0">
                    <a:latin typeface="Cambria Math" panose="02040503050406030204" pitchFamily="18" charset="0"/>
                  </a:rPr>
                  <a:t>         这里的权重函数可以写成抽象启发式函数的形式：</a:t>
                </a:r>
                <a:endParaRPr lang="en-US" altLang="zh-CN"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𝑆</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𝑘</m:t>
                          </m:r>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𝑁</m:t>
                                  </m:r>
                                </m:e>
                                <m:sub>
                                  <m:r>
                                    <a:rPr lang="en-US" altLang="zh-CN" b="0" i="1" dirty="0" smtClean="0">
                                      <a:latin typeface="Cambria Math" panose="02040503050406030204" pitchFamily="18" charset="0"/>
                                      <a:ea typeface="Cambria Math" panose="02040503050406030204" pitchFamily="18" charset="0"/>
                                    </a:rPr>
                                    <m:t>𝜆</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sz="1800" dirty="0">
                  <a:latin typeface="Cambria Math" panose="02040503050406030204" pitchFamily="18" charset="0"/>
                </a:endParaRPr>
              </a:p>
              <a:p>
                <a:pPr>
                  <a:lnSpc>
                    <a:spcPct val="120000"/>
                  </a:lnSpc>
                  <a:spcBef>
                    <a:spcPts val="800"/>
                  </a:spcBef>
                </a:pPr>
                <a:r>
                  <a:rPr lang="zh-CN" altLang="en-US" dirty="0">
                    <a:latin typeface="Cambria Math" panose="02040503050406030204" pitchFamily="18" charset="0"/>
                  </a:rPr>
                  <a:t>         另外，选中的</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𝜆</m:t>
                        </m:r>
                      </m:e>
                      <m:sub>
                        <m:r>
                          <a:rPr lang="en-US" altLang="zh-CN" i="1" dirty="0">
                            <a:latin typeface="Cambria Math" panose="02040503050406030204" pitchFamily="18" charset="0"/>
                          </a:rPr>
                          <m:t>𝐻</m:t>
                        </m:r>
                      </m:sub>
                    </m:sSub>
                  </m:oMath>
                </a14:m>
                <a:r>
                  <a:rPr lang="zh-CN" altLang="en-US" dirty="0">
                    <a:latin typeface="Cambria Math" panose="02040503050406030204" pitchFamily="18" charset="0"/>
                  </a:rPr>
                  <a:t>则成为</a:t>
                </a:r>
                <a:r>
                  <a:rPr lang="en-US" altLang="zh-CN" dirty="0">
                    <a:latin typeface="Cambria Math" panose="02040503050406030204" pitchFamily="18" charset="0"/>
                  </a:rPr>
                  <a:t>Hero Wavelength</a:t>
                </a:r>
                <a:r>
                  <a:rPr lang="zh-CN" altLang="en-US" dirty="0">
                    <a:latin typeface="Cambria Math" panose="02040503050406030204" pitchFamily="18" charset="0"/>
                  </a:rPr>
                  <a:t>。</a:t>
                </a:r>
                <a:endParaRPr lang="en-US" altLang="zh-CN" sz="1800" dirty="0">
                  <a:latin typeface="Cambria Math" panose="02040503050406030204" pitchFamily="18" charset="0"/>
                </a:endParaRPr>
              </a:p>
            </p:txBody>
          </p:sp>
        </mc:Choice>
        <mc:Fallback xmlns="">
          <p:sp>
            <p:nvSpPr>
              <p:cNvPr id="6" name="文本框 5">
                <a:extLst>
                  <a:ext uri="{FF2B5EF4-FFF2-40B4-BE49-F238E27FC236}">
                    <a16:creationId xmlns:a16="http://schemas.microsoft.com/office/drawing/2014/main" id="{D78878DA-45B2-97C5-7955-1B57FE81BD44}"/>
                  </a:ext>
                </a:extLst>
              </p:cNvPr>
              <p:cNvSpPr txBox="1">
                <a:spLocks noRot="1" noChangeAspect="1" noMove="1" noResize="1" noEditPoints="1" noAdjustHandles="1" noChangeArrowheads="1" noChangeShapeType="1" noTextEdit="1"/>
              </p:cNvSpPr>
              <p:nvPr/>
            </p:nvSpPr>
            <p:spPr>
              <a:xfrm>
                <a:off x="-51516" y="1375288"/>
                <a:ext cx="5776175" cy="4587603"/>
              </a:xfrm>
              <a:prstGeom prst="rect">
                <a:avLst/>
              </a:prstGeom>
              <a:blipFill>
                <a:blip r:embed="rId2"/>
                <a:stretch>
                  <a:fillRect l="-950" t="-532" r="-211" b="-11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3D2E1765-BAE8-D422-535D-D3FEBD709063}"/>
                  </a:ext>
                </a:extLst>
              </p:cNvPr>
              <p:cNvSpPr txBox="1"/>
              <p:nvPr/>
            </p:nvSpPr>
            <p:spPr>
              <a:xfrm>
                <a:off x="5791199" y="1474417"/>
                <a:ext cx="5992969" cy="4389343"/>
              </a:xfrm>
              <a:prstGeom prst="rect">
                <a:avLst/>
              </a:prstGeom>
              <a:noFill/>
            </p:spPr>
            <p:txBody>
              <a:bodyPr wrap="square">
                <a:spAutoFit/>
              </a:bodyPr>
              <a:lstStyle/>
              <a:p>
                <a:r>
                  <a:rPr lang="zh-CN" altLang="en-US" sz="1800" b="1" dirty="0">
                    <a:latin typeface="Cambria Math" panose="02040503050406030204" pitchFamily="18" charset="0"/>
                  </a:rPr>
                  <a:t>验证单样本</a:t>
                </a:r>
                <a:r>
                  <a:rPr lang="en-US" altLang="zh-CN" sz="1800" b="1" dirty="0">
                    <a:latin typeface="Cambria Math" panose="02040503050406030204" pitchFamily="18" charset="0"/>
                  </a:rPr>
                  <a:t>MIS</a:t>
                </a:r>
                <a:r>
                  <a:rPr lang="zh-CN" altLang="en-US" sz="1800" b="1" dirty="0">
                    <a:latin typeface="Cambria Math" panose="02040503050406030204" pitchFamily="18" charset="0"/>
                  </a:rPr>
                  <a:t>的期望</a:t>
                </a:r>
                <a:r>
                  <a:rPr lang="zh-CN" altLang="en-US" sz="1800" dirty="0">
                    <a:latin typeface="Cambria Math" panose="02040503050406030204" pitchFamily="18" charset="0"/>
                  </a:rPr>
                  <a:t>：</a:t>
                </a:r>
                <a:endParaRPr lang="en-US" altLang="zh-CN" sz="1800" dirty="0">
                  <a:latin typeface="Cambria Math" panose="02040503050406030204" pitchFamily="18" charset="0"/>
                </a:endParaRPr>
              </a:p>
              <a:p>
                <a:endParaRPr lang="en-US" altLang="zh-CN" sz="1800" dirty="0">
                  <a:latin typeface="Cambria Math" panose="02040503050406030204" pitchFamily="18" charset="0"/>
                </a:endParaRPr>
              </a:p>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r>
                            <a:rPr lang="en-US" altLang="zh-CN" b="1" i="1" dirty="0">
                              <a:latin typeface="Cambria Math" panose="02040503050406030204" pitchFamily="18" charset="0"/>
                            </a:rPr>
                            <m:t>|</m:t>
                          </m:r>
                          <m:r>
                            <a:rPr lang="en-US" altLang="zh-CN" b="1" dirty="0">
                              <a:latin typeface="Cambria Math" panose="02040503050406030204" pitchFamily="18" charset="0"/>
                            </a:rPr>
                            <m:t>𝚲</m:t>
                          </m:r>
                          <m:r>
                            <a:rPr lang="en-US" altLang="zh-CN" b="1" dirty="0">
                              <a:latin typeface="Cambria Math" panose="02040503050406030204" pitchFamily="18" charset="0"/>
                            </a:rPr>
                            <m:t>=</m:t>
                          </m:r>
                          <m:r>
                            <a:rPr lang="en-US" altLang="zh-CN" b="1" dirty="0">
                              <a:latin typeface="Cambria Math" panose="02040503050406030204" pitchFamily="18" charset="0"/>
                            </a:rPr>
                            <m:t>𝛌</m:t>
                          </m:r>
                        </m:e>
                      </m:d>
                    </m:oMath>
                    <m:oMath>
                      <m:r>
                        <a:rPr lang="en-US" altLang="zh-CN" b="1" i="1" dirty="0" smtClean="0">
                          <a:latin typeface="Cambria Math" panose="02040503050406030204" pitchFamily="18" charset="0"/>
                        </a:rPr>
                        <m:t>        =</m:t>
                      </m:r>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𝑘</m:t>
                          </m:r>
                          <m:r>
                            <m:rPr>
                              <m:brk m:alnAt="23"/>
                            </m:rPr>
                            <a:rPr lang="en-US" altLang="zh-CN" b="0" i="1" dirty="0" smtClean="0">
                              <a:latin typeface="Cambria Math" panose="02040503050406030204" pitchFamily="18" charset="0"/>
                            </a:rPr>
                            <m:t>=</m:t>
                          </m:r>
                          <m:r>
                            <m:rPr>
                              <m:brk m:alnAt="23"/>
                            </m:rPr>
                            <a:rPr lang="en-US" altLang="zh-CN" b="0" i="1" dirty="0" smtClean="0">
                              <a:latin typeface="Cambria Math" panose="02040503050406030204" pitchFamily="18" charset="0"/>
                            </a:rPr>
                            <m:t>1</m:t>
                          </m:r>
                        </m:sub>
                        <m:sup>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p>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𝑘</m:t>
                              </m:r>
                            </m:sub>
                          </m:sSub>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0" i="1" dirty="0" smtClean="0">
                                  <a:latin typeface="Cambria Math" panose="02040503050406030204" pitchFamily="18" charset="0"/>
                                </a:rPr>
                                <m:t>𝑑</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e>
                          </m:nary>
                        </m:e>
                      </m:nary>
                    </m:oMath>
                    <m:oMath>
                      <m:r>
                        <a:rPr lang="en-US" altLang="zh-CN" b="1" i="1" smtClean="0">
                          <a:latin typeface="Cambria Math" panose="02040503050406030204" pitchFamily="18" charset="0"/>
                        </a:rPr>
                        <m:t>        =</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 </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nary>
                        </m:e>
                      </m:nary>
                    </m:oMath>
                    <m:oMath>
                      <m:r>
                        <a:rPr lang="en-US" altLang="zh-CN" b="0" i="1" smtClean="0">
                          <a:latin typeface="Cambria Math" panose="02040503050406030204" pitchFamily="18" charset="0"/>
                        </a:rPr>
                        <m:t>        =</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d>
                            <m:dPr>
                              <m:ctrlPr>
                                <a:rPr lang="en-US" altLang="zh-CN" i="1" dirty="0">
                                  <a:latin typeface="Cambria Math" panose="02040503050406030204" pitchFamily="18" charset="0"/>
                                </a:rPr>
                              </m:ctrlPr>
                            </m:dPr>
                            <m:e>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e>
                          </m:d>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nary>
                    </m:oMath>
                    <m:oMath>
                      <m:r>
                        <a:rPr lang="en-US" altLang="zh-CN" b="0" i="1" smtClean="0">
                          <a:latin typeface="Cambria Math" panose="02040503050406030204" pitchFamily="18" charset="0"/>
                        </a:rPr>
                        <m:t>        =</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e>
                      </m:nary>
                    </m:oMath>
                    <m:oMath>
                      <m:r>
                        <a:rPr lang="en-US" altLang="zh-CN" b="0" i="1" smtClean="0">
                          <a:latin typeface="Cambria Math" panose="02040503050406030204" pitchFamily="18" charset="0"/>
                        </a:rPr>
                        <m:t>        =</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m:oMathPara>
                </a14:m>
                <a:endParaRPr lang="en-US" altLang="zh-CN" sz="1800" dirty="0">
                  <a:latin typeface="Cambria Math" panose="02040503050406030204" pitchFamily="18" charset="0"/>
                </a:endParaRPr>
              </a:p>
            </p:txBody>
          </p:sp>
        </mc:Choice>
        <mc:Fallback>
          <p:sp>
            <p:nvSpPr>
              <p:cNvPr id="4" name="文本框 3">
                <a:extLst>
                  <a:ext uri="{FF2B5EF4-FFF2-40B4-BE49-F238E27FC236}">
                    <a16:creationId xmlns:a16="http://schemas.microsoft.com/office/drawing/2014/main" id="{3D2E1765-BAE8-D422-535D-D3FEBD709063}"/>
                  </a:ext>
                </a:extLst>
              </p:cNvPr>
              <p:cNvSpPr txBox="1">
                <a:spLocks noRot="1" noChangeAspect="1" noMove="1" noResize="1" noEditPoints="1" noAdjustHandles="1" noChangeArrowheads="1" noChangeShapeType="1" noTextEdit="1"/>
              </p:cNvSpPr>
              <p:nvPr/>
            </p:nvSpPr>
            <p:spPr>
              <a:xfrm>
                <a:off x="5791199" y="1474417"/>
                <a:ext cx="5992969" cy="4389343"/>
              </a:xfrm>
              <a:prstGeom prst="rect">
                <a:avLst/>
              </a:prstGeom>
              <a:blipFill>
                <a:blip r:embed="rId3"/>
                <a:stretch>
                  <a:fillRect l="-814" t="-972" b="-12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793251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2A356-3E11-5B20-5CBB-87AC16D9949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E9D651C-6638-3FB8-B753-49B97F2678AF}"/>
              </a:ext>
            </a:extLst>
          </p:cNvPr>
          <p:cNvSpPr>
            <a:spLocks noGrp="1"/>
          </p:cNvSpPr>
          <p:nvPr>
            <p:ph type="title" idx="1"/>
          </p:nvPr>
        </p:nvSpPr>
        <p:spPr/>
        <p:txBody>
          <a:bodyPr/>
          <a:lstStyle/>
          <a:p>
            <a:r>
              <a:rPr lang="zh-CN" altLang="en-US" dirty="0"/>
              <a:t>光谱路径追踪  </a:t>
            </a:r>
            <a:r>
              <a:rPr lang="en-US" altLang="zh-CN" dirty="0"/>
              <a:t>——  </a:t>
            </a:r>
            <a:r>
              <a:rPr lang="zh-CN" altLang="en-US" dirty="0"/>
              <a:t>反事实概率密度</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19C8081-ADDE-6BB9-AB8E-2EA808F6519E}"/>
                  </a:ext>
                </a:extLst>
              </p:cNvPr>
              <p:cNvSpPr txBox="1"/>
              <p:nvPr/>
            </p:nvSpPr>
            <p:spPr>
              <a:xfrm>
                <a:off x="6007993" y="1573548"/>
                <a:ext cx="5776175" cy="4535793"/>
              </a:xfrm>
              <a:prstGeom prst="rect">
                <a:avLst/>
              </a:prstGeom>
              <a:noFill/>
            </p:spPr>
            <p:txBody>
              <a:bodyPr wrap="square">
                <a:spAutoFit/>
              </a:bodyPr>
              <a:lstStyle/>
              <a:p>
                <a:r>
                  <a:rPr lang="zh-CN" altLang="en-US" sz="1800" dirty="0">
                    <a:solidFill>
                      <a:schemeClr val="tx1"/>
                    </a:solidFill>
                    <a:latin typeface="Cambria Math" panose="02040503050406030204" pitchFamily="18" charset="0"/>
                  </a:rPr>
                  <a:t>通过权重函数的计算公式，我们可以发现：</a:t>
                </a:r>
                <a:endParaRPr lang="en-US" altLang="zh-CN" sz="1800" dirty="0">
                  <a:solidFill>
                    <a:schemeClr val="tx1"/>
                  </a:solidFill>
                  <a:latin typeface="Cambria Math" panose="02040503050406030204" pitchFamily="18" charset="0"/>
                </a:endParaRPr>
              </a:p>
              <a:p>
                <a:endParaRPr lang="en-US" altLang="zh-CN" sz="1800" dirty="0">
                  <a:solidFill>
                    <a:schemeClr val="tx1"/>
                  </a:solidFill>
                  <a:latin typeface="Cambria Math" panose="02040503050406030204" pitchFamily="18" charset="0"/>
                </a:endParaRPr>
              </a:p>
              <a:p>
                <a:r>
                  <a:rPr lang="en-US" altLang="zh-CN" dirty="0">
                    <a:solidFill>
                      <a:schemeClr val="tx1"/>
                    </a:solidFill>
                    <a:latin typeface="Cambria Math" panose="02040503050406030204" pitchFamily="18" charset="0"/>
                  </a:rPr>
                  <a:t>         </a:t>
                </a:r>
                <a:r>
                  <a:rPr lang="zh-CN" altLang="en-US" dirty="0">
                    <a:solidFill>
                      <a:schemeClr val="tx1"/>
                    </a:solidFill>
                    <a:latin typeface="Cambria Math" panose="02040503050406030204" pitchFamily="18" charset="0"/>
                  </a:rPr>
                  <a:t>如果选择第</a:t>
                </a:r>
                <a:r>
                  <a:rPr lang="en-US" altLang="zh-CN" dirty="0">
                    <a:solidFill>
                      <a:schemeClr val="tx1"/>
                    </a:solidFill>
                    <a:latin typeface="Cambria Math" panose="02040503050406030204" pitchFamily="18" charset="0"/>
                  </a:rPr>
                  <a:t>k</a:t>
                </a:r>
                <a:r>
                  <a:rPr lang="zh-CN" altLang="en-US" dirty="0">
                    <a:solidFill>
                      <a:schemeClr val="tx1"/>
                    </a:solidFill>
                    <a:latin typeface="Cambria Math" panose="02040503050406030204" pitchFamily="18" charset="0"/>
                  </a:rPr>
                  <a:t>个波长作为采样路径的技术，那么为了得到</a:t>
                </a:r>
                <a:r>
                  <a:rPr lang="en-US" altLang="zh-CN" dirty="0">
                    <a:solidFill>
                      <a:schemeClr val="tx1"/>
                    </a:solidFill>
                    <a:latin typeface="Cambria Math" panose="02040503050406030204" pitchFamily="18" charset="0"/>
                  </a:rPr>
                  <a:t>MIS</a:t>
                </a:r>
                <a:r>
                  <a:rPr lang="zh-CN" altLang="en-US" dirty="0">
                    <a:solidFill>
                      <a:schemeClr val="tx1"/>
                    </a:solidFill>
                    <a:latin typeface="Cambria Math" panose="02040503050406030204" pitchFamily="18" charset="0"/>
                  </a:rPr>
                  <a:t>权重，需要计算得到“如果当前的路径样本是从其他波长对应的采样技术采样得到的，那么其概率是多少？”，也就是计算之前提到的 反事实概率密度。</a:t>
                </a:r>
                <a:endParaRPr lang="en-US" altLang="zh-CN" dirty="0">
                  <a:solidFill>
                    <a:schemeClr val="tx1"/>
                  </a:solidFill>
                  <a:latin typeface="Cambria Math" panose="02040503050406030204" pitchFamily="18" charset="0"/>
                </a:endParaRPr>
              </a:p>
              <a:p>
                <a:pPr/>
                <a14:m>
                  <m:oMathPara xmlns:m="http://schemas.openxmlformats.org/officeDocument/2006/math">
                    <m:oMath>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r>
                            <a:rPr lang="en-US" altLang="zh-CN" b="0" i="1" dirty="0" smtClean="0">
                              <a:solidFill>
                                <a:schemeClr val="tx1"/>
                              </a:solidFill>
                              <a:latin typeface="Cambria Math" panose="02040503050406030204" pitchFamily="18" charset="0"/>
                            </a:rPr>
                            <m:t>𝑘</m:t>
                          </m:r>
                        </m:sub>
                        <m:sup>
                          <m:r>
                            <a:rPr lang="en-US" altLang="zh-CN" i="1" dirty="0">
                              <a:solidFill>
                                <a:schemeClr val="tx1"/>
                              </a:solidFill>
                              <a:latin typeface="Cambria Math" panose="02040503050406030204" pitchFamily="18" charset="0"/>
                            </a:rPr>
                            <m:t>𝑝𝑟𝑒</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b="1" i="0" dirty="0">
                              <a:solidFill>
                                <a:schemeClr val="tx1"/>
                              </a:solidFill>
                              <a:latin typeface="Cambria Math" panose="02040503050406030204" pitchFamily="18" charset="0"/>
                            </a:rPr>
                            <m:t>𝛌</m:t>
                          </m:r>
                        </m:e>
                      </m:d>
                      <m:r>
                        <a:rPr lang="en-US" altLang="zh-CN" i="1" dirty="0">
                          <a:solidFill>
                            <a:schemeClr val="tx1"/>
                          </a:solidFill>
                          <a:latin typeface="Cambria Math" panose="02040503050406030204" pitchFamily="18" charset="0"/>
                        </a:rPr>
                        <m:t>=</m:t>
                      </m:r>
                      <m:nary>
                        <m:naryPr>
                          <m:chr m:val="∏"/>
                          <m:ctrlPr>
                            <a:rPr lang="en-US" altLang="zh-CN" i="1" dirty="0">
                              <a:solidFill>
                                <a:schemeClr val="tx1"/>
                              </a:solidFill>
                              <a:latin typeface="Cambria Math" panose="02040503050406030204" pitchFamily="18" charset="0"/>
                            </a:rPr>
                          </m:ctrlPr>
                        </m:naryPr>
                        <m:sub>
                          <m:r>
                            <m:rPr>
                              <m:brk m:alnAt="23"/>
                            </m:rPr>
                            <a:rPr lang="en-US" altLang="zh-CN" i="1" dirty="0">
                              <a:solidFill>
                                <a:schemeClr val="tx1"/>
                              </a:solidFill>
                              <a:latin typeface="Cambria Math" panose="02040503050406030204" pitchFamily="18" charset="0"/>
                            </a:rPr>
                            <m:t>𝑘</m:t>
                          </m:r>
                          <m:r>
                            <m:rPr>
                              <m:brk m:alnAt="23"/>
                            </m:rPr>
                            <a:rPr lang="en-US" altLang="zh-CN" i="1" dirty="0">
                              <a:solidFill>
                                <a:schemeClr val="tx1"/>
                              </a:solidFill>
                              <a:latin typeface="Cambria Math" panose="02040503050406030204" pitchFamily="18" charset="0"/>
                            </a:rPr>
                            <m:t>=</m:t>
                          </m:r>
                          <m:r>
                            <m:rPr>
                              <m:brk m:alnAt="23"/>
                            </m:rPr>
                            <a:rPr lang="en-US" altLang="zh-CN" i="1" dirty="0">
                              <a:solidFill>
                                <a:schemeClr val="tx1"/>
                              </a:solidFill>
                              <a:latin typeface="Cambria Math" panose="02040503050406030204" pitchFamily="18" charset="0"/>
                            </a:rPr>
                            <m:t>1</m:t>
                          </m:r>
                        </m:sub>
                        <m:sup>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−2</m:t>
                          </m:r>
                        </m:sup>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𝐵</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𝐶</m:t>
                              </m:r>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𝑘</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𝑘</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𝑘</m:t>
                                  </m:r>
                                </m:sub>
                              </m:sSub>
                              <m:r>
                                <a:rPr lang="en-US" altLang="zh-CN" i="1" dirty="0">
                                  <a:solidFill>
                                    <a:schemeClr val="tx1"/>
                                  </a:solidFill>
                                  <a:latin typeface="Cambria Math" panose="02040503050406030204" pitchFamily="18" charset="0"/>
                                </a:rPr>
                                <m:t>,</m:t>
                              </m:r>
                              <m:r>
                                <a:rPr lang="en-US" altLang="zh-CN" b="1" i="0" dirty="0">
                                  <a:solidFill>
                                    <a:schemeClr val="tx1"/>
                                  </a:solidFill>
                                  <a:latin typeface="Cambria Math" panose="02040503050406030204" pitchFamily="18" charset="0"/>
                                </a:rPr>
                                <m:t>𝛌</m:t>
                              </m:r>
                            </m:e>
                          </m:d>
                        </m:e>
                      </m:nary>
                    </m:oMath>
                  </m:oMathPara>
                </a14:m>
                <a:endParaRPr lang="en-US" altLang="zh-CN" i="1" dirty="0">
                  <a:solidFill>
                    <a:schemeClr val="tx1"/>
                  </a:solidFill>
                  <a:latin typeface="Cambria Math" panose="02040503050406030204" pitchFamily="18" charset="0"/>
                </a:endParaRPr>
              </a:p>
              <a:p>
                <a:pPr/>
                <a14:m>
                  <m:oMathPara xmlns:m="http://schemas.openxmlformats.org/officeDocument/2006/math">
                    <m:o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𝑘</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r>
                            <a:rPr lang="en-US" altLang="zh-CN" b="1" i="0" dirty="0">
                              <a:solidFill>
                                <a:schemeClr val="tx1"/>
                              </a:solidFill>
                              <a:latin typeface="Cambria Math" panose="02040503050406030204" pitchFamily="18" charset="0"/>
                            </a:rPr>
                            <m:t>𝛌</m:t>
                          </m:r>
                        </m:e>
                      </m:d>
                      <m:r>
                        <a:rPr lang="en-US" altLang="zh-CN" i="1" dirty="0">
                          <a:solidFill>
                            <a:schemeClr val="tx1"/>
                          </a:solidFill>
                          <a:latin typeface="Cambria Math" panose="02040503050406030204" pitchFamily="18" charset="0"/>
                        </a:rPr>
                        <m:t>=</m:t>
                      </m:r>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r>
                            <a:rPr lang="en-US" altLang="zh-CN" b="0" i="1" dirty="0" smtClean="0">
                              <a:solidFill>
                                <a:schemeClr val="tx1"/>
                              </a:solidFill>
                              <a:latin typeface="Cambria Math" panose="02040503050406030204" pitchFamily="18" charset="0"/>
                            </a:rPr>
                            <m:t>𝑘</m:t>
                          </m:r>
                        </m:sub>
                        <m:sup>
                          <m:r>
                            <a:rPr lang="en-US" altLang="zh-CN" i="1" dirty="0">
                              <a:solidFill>
                                <a:schemeClr val="tx1"/>
                              </a:solidFill>
                              <a:latin typeface="Cambria Math" panose="02040503050406030204" pitchFamily="18" charset="0"/>
                            </a:rPr>
                            <m:t>𝑝𝑟𝑒</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b="1" i="0" dirty="0">
                              <a:solidFill>
                                <a:schemeClr val="tx1"/>
                              </a:solidFill>
                              <a:latin typeface="Cambria Math" panose="02040503050406030204" pitchFamily="18" charset="0"/>
                            </a:rPr>
                            <m:t>𝛌</m:t>
                          </m:r>
                        </m:e>
                      </m:d>
                      <m:r>
                        <a:rPr lang="en-US" altLang="zh-CN" i="1" dirty="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𝐵</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𝐶</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b="1" i="0" dirty="0" smtClean="0">
                              <a:solidFill>
                                <a:schemeClr val="tx1"/>
                              </a:solidFill>
                              <a:latin typeface="Cambria Math" panose="02040503050406030204" pitchFamily="18" charset="0"/>
                            </a:rPr>
                            <m:t>𝛌</m:t>
                          </m:r>
                        </m:e>
                      </m:d>
                    </m:oMath>
                  </m:oMathPara>
                </a14:m>
                <a:endParaRPr lang="en-US" altLang="zh-CN" dirty="0">
                  <a:solidFill>
                    <a:schemeClr val="tx1"/>
                  </a:solidFill>
                  <a:latin typeface="Cambria Math" panose="02040503050406030204" pitchFamily="18" charset="0"/>
                </a:endParaRPr>
              </a:p>
              <a:p>
                <a:endParaRPr lang="en-US" altLang="zh-CN" dirty="0">
                  <a:solidFill>
                    <a:schemeClr val="tx1"/>
                  </a:solidFill>
                  <a:latin typeface="Cambria Math" panose="02040503050406030204" pitchFamily="18" charset="0"/>
                </a:endParaRPr>
              </a:p>
              <a:p>
                <a:r>
                  <a:rPr lang="en-US" altLang="zh-CN" dirty="0">
                    <a:solidFill>
                      <a:schemeClr val="tx1"/>
                    </a:solidFill>
                    <a:latin typeface="Cambria Math" panose="02040503050406030204" pitchFamily="18" charset="0"/>
                  </a:rPr>
                  <a:t>        </a:t>
                </a:r>
                <a:r>
                  <a:rPr lang="zh-CN" altLang="en-US" dirty="0">
                    <a:solidFill>
                      <a:schemeClr val="tx1"/>
                    </a:solidFill>
                    <a:latin typeface="Cambria Math" panose="02040503050406030204" pitchFamily="18" charset="0"/>
                  </a:rPr>
                  <a:t>计算方法也很简单，由于我们的路径是通过不断采样方向得到的，因此只需要在采样方向样本时，计算这个方向样本对于</a:t>
                </a:r>
                <a:r>
                  <a:rPr lang="en-US" altLang="zh-CN" dirty="0">
                    <a:solidFill>
                      <a:schemeClr val="tx1"/>
                    </a:solidFill>
                    <a:latin typeface="Cambria Math" panose="02040503050406030204" pitchFamily="18" charset="0"/>
                  </a:rPr>
                  <a:t>Packet</a:t>
                </a:r>
                <a:r>
                  <a:rPr lang="zh-CN" altLang="en-US" dirty="0">
                    <a:solidFill>
                      <a:schemeClr val="tx1"/>
                    </a:solidFill>
                    <a:latin typeface="Cambria Math" panose="02040503050406030204" pitchFamily="18" charset="0"/>
                  </a:rPr>
                  <a:t>中其他波长的反事实概率密度，再将这些反事实概率密度累乘起来，就得到了一整条路径的反事实概率密度。</a:t>
                </a:r>
                <a:endParaRPr lang="en-US" altLang="zh-CN" dirty="0">
                  <a:solidFill>
                    <a:schemeClr val="tx1"/>
                  </a:solidFill>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E19C8081-ADDE-6BB9-AB8E-2EA808F6519E}"/>
                  </a:ext>
                </a:extLst>
              </p:cNvPr>
              <p:cNvSpPr txBox="1">
                <a:spLocks noRot="1" noChangeAspect="1" noMove="1" noResize="1" noEditPoints="1" noAdjustHandles="1" noChangeArrowheads="1" noChangeShapeType="1" noTextEdit="1"/>
              </p:cNvSpPr>
              <p:nvPr/>
            </p:nvSpPr>
            <p:spPr>
              <a:xfrm>
                <a:off x="6007993" y="1573548"/>
                <a:ext cx="5776175" cy="4535793"/>
              </a:xfrm>
              <a:prstGeom prst="rect">
                <a:avLst/>
              </a:prstGeom>
              <a:blipFill>
                <a:blip r:embed="rId2"/>
                <a:stretch>
                  <a:fillRect l="-950" t="-806" r="-1056" b="-12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13F23F2-118B-E531-7253-501CD7E44692}"/>
                  </a:ext>
                </a:extLst>
              </p:cNvPr>
              <p:cNvSpPr txBox="1"/>
              <p:nvPr/>
            </p:nvSpPr>
            <p:spPr>
              <a:xfrm>
                <a:off x="-51516" y="1375288"/>
                <a:ext cx="5776175" cy="4587603"/>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b="0" i="1"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 ~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r>
                            <a:rPr lang="en-US" altLang="zh-CN" sz="1800" b="1" i="0" dirty="0" smtClean="0">
                              <a:latin typeface="Cambria Math" panose="02040503050406030204" pitchFamily="18" charset="0"/>
                            </a:rPr>
                            <m:t>𝛌</m:t>
                          </m:r>
                        </m:e>
                      </m:d>
                    </m:oMath>
                  </m:oMathPara>
                </a14:m>
                <a:endParaRPr lang="en-US" altLang="zh-CN" b="1" i="1" dirty="0">
                  <a:latin typeface="Cambria Math" panose="02040503050406030204" pitchFamily="18" charset="0"/>
                </a:endParaRPr>
              </a:p>
              <a:p>
                <a:pPr>
                  <a:lnSpc>
                    <a:spcPct val="150000"/>
                  </a:lnSpc>
                </a:pPr>
                <a14:m>
                  <m:oMathPara xmlns:m="http://schemas.openxmlformats.org/officeDocument/2006/math">
                    <m:oMath>
                      <m:borderBox>
                        <m:borderBoxPr>
                          <m:ctrlPr>
                            <a:rPr lang="zh-CN" altLang="en-US" b="1" i="1" dirty="0">
                              <a:latin typeface="Cambria Math" panose="02040503050406030204" pitchFamily="18" charset="0"/>
                            </a:rPr>
                          </m:ctrlPr>
                        </m:borderBox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borderBox>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𝑐</m:t>
                              </m:r>
                            </m:e>
                            <m:sub>
                              <m:r>
                                <m:rPr>
                                  <m:brk m:alnAt="7"/>
                                </m:rP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a:p>
                <a:pPr>
                  <a:lnSpc>
                    <a:spcPct val="120000"/>
                  </a:lnSpc>
                </a:pPr>
                <a:endParaRPr lang="en-US" altLang="zh-CN" dirty="0">
                  <a:latin typeface="Cambria Math" panose="02040503050406030204" pitchFamily="18" charset="0"/>
                </a:endParaRPr>
              </a:p>
              <a:p>
                <a:pPr>
                  <a:lnSpc>
                    <a:spcPct val="120000"/>
                  </a:lnSpc>
                </a:pPr>
                <a:r>
                  <a:rPr lang="zh-CN" altLang="en-US" dirty="0">
                    <a:latin typeface="Cambria Math" panose="02040503050406030204" pitchFamily="18" charset="0"/>
                  </a:rPr>
                  <a:t>         这里的权重函数可以写成抽象启发式函数的形式：</a:t>
                </a:r>
                <a:endParaRPr lang="en-US" altLang="zh-CN"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𝑆</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𝑘</m:t>
                          </m:r>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𝑁</m:t>
                                  </m:r>
                                </m:e>
                                <m:sub>
                                  <m:r>
                                    <a:rPr lang="en-US" altLang="zh-CN" b="0" i="1" dirty="0" smtClean="0">
                                      <a:latin typeface="Cambria Math" panose="02040503050406030204" pitchFamily="18" charset="0"/>
                                      <a:ea typeface="Cambria Math" panose="02040503050406030204" pitchFamily="18" charset="0"/>
                                    </a:rPr>
                                    <m:t>𝜆</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sz="1800" dirty="0">
                  <a:latin typeface="Cambria Math" panose="02040503050406030204" pitchFamily="18" charset="0"/>
                </a:endParaRPr>
              </a:p>
              <a:p>
                <a:pPr>
                  <a:lnSpc>
                    <a:spcPct val="120000"/>
                  </a:lnSpc>
                  <a:spcBef>
                    <a:spcPts val="800"/>
                  </a:spcBef>
                </a:pPr>
                <a:r>
                  <a:rPr lang="zh-CN" altLang="en-US" dirty="0">
                    <a:latin typeface="Cambria Math" panose="02040503050406030204" pitchFamily="18" charset="0"/>
                  </a:rPr>
                  <a:t>         另外，选中的</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𝜆</m:t>
                        </m:r>
                      </m:e>
                      <m:sub>
                        <m:r>
                          <a:rPr lang="en-US" altLang="zh-CN" i="1" dirty="0">
                            <a:latin typeface="Cambria Math" panose="02040503050406030204" pitchFamily="18" charset="0"/>
                          </a:rPr>
                          <m:t>𝐻</m:t>
                        </m:r>
                      </m:sub>
                    </m:sSub>
                  </m:oMath>
                </a14:m>
                <a:r>
                  <a:rPr lang="zh-CN" altLang="en-US" dirty="0">
                    <a:latin typeface="Cambria Math" panose="02040503050406030204" pitchFamily="18" charset="0"/>
                  </a:rPr>
                  <a:t>则成为</a:t>
                </a:r>
                <a:r>
                  <a:rPr lang="en-US" altLang="zh-CN" dirty="0">
                    <a:latin typeface="Cambria Math" panose="02040503050406030204" pitchFamily="18" charset="0"/>
                  </a:rPr>
                  <a:t>Hero Wavelength</a:t>
                </a:r>
                <a:r>
                  <a:rPr lang="zh-CN" altLang="en-US" dirty="0">
                    <a:latin typeface="Cambria Math" panose="02040503050406030204" pitchFamily="18" charset="0"/>
                  </a:rPr>
                  <a:t>。</a:t>
                </a:r>
                <a:endParaRPr lang="en-US" altLang="zh-CN" sz="1800"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413F23F2-118B-E531-7253-501CD7E44692}"/>
                  </a:ext>
                </a:extLst>
              </p:cNvPr>
              <p:cNvSpPr txBox="1">
                <a:spLocks noRot="1" noChangeAspect="1" noMove="1" noResize="1" noEditPoints="1" noAdjustHandles="1" noChangeArrowheads="1" noChangeShapeType="1" noTextEdit="1"/>
              </p:cNvSpPr>
              <p:nvPr/>
            </p:nvSpPr>
            <p:spPr>
              <a:xfrm>
                <a:off x="-51516" y="1375288"/>
                <a:ext cx="5776175" cy="4587603"/>
              </a:xfrm>
              <a:prstGeom prst="rect">
                <a:avLst/>
              </a:prstGeom>
              <a:blipFill>
                <a:blip r:embed="rId3"/>
                <a:stretch>
                  <a:fillRect l="-950" t="-532" r="-211" b="-11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19389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A800E-358B-C591-8875-5E2DE6EF959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B68E95F-7CB4-516E-F412-A6CC930D141C}"/>
              </a:ext>
            </a:extLst>
          </p:cNvPr>
          <p:cNvSpPr>
            <a:spLocks noGrp="1"/>
          </p:cNvSpPr>
          <p:nvPr>
            <p:ph type="title" idx="1"/>
          </p:nvPr>
        </p:nvSpPr>
        <p:spPr/>
        <p:txBody>
          <a:bodyPr/>
          <a:lstStyle/>
          <a:p>
            <a:r>
              <a:rPr lang="zh-CN" altLang="en-US" dirty="0"/>
              <a:t>光谱路径追踪  </a:t>
            </a:r>
            <a:r>
              <a:rPr lang="en-US" altLang="zh-CN" dirty="0"/>
              <a:t>——  </a:t>
            </a:r>
            <a:r>
              <a:rPr lang="zh-CN" altLang="en-US" dirty="0"/>
              <a:t>支持域</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7A10344A-3DDC-51C4-D626-59974FE74AD3}"/>
                  </a:ext>
                </a:extLst>
              </p:cNvPr>
              <p:cNvSpPr txBox="1"/>
              <p:nvPr/>
            </p:nvSpPr>
            <p:spPr>
              <a:xfrm>
                <a:off x="6007993" y="1573548"/>
                <a:ext cx="5776175" cy="3997441"/>
              </a:xfrm>
              <a:prstGeom prst="rect">
                <a:avLst/>
              </a:prstGeom>
              <a:noFill/>
            </p:spPr>
            <p:txBody>
              <a:bodyPr wrap="square">
                <a:spAutoFit/>
              </a:bodyPr>
              <a:lstStyle/>
              <a:p>
                <a:r>
                  <a:rPr lang="zh-CN" altLang="en-US" sz="1800" dirty="0">
                    <a:solidFill>
                      <a:schemeClr val="tx1"/>
                    </a:solidFill>
                    <a:latin typeface="Cambria Math" panose="02040503050406030204" pitchFamily="18" charset="0"/>
                  </a:rPr>
                  <a:t>         对于单样本</a:t>
                </a:r>
                <a:r>
                  <a:rPr lang="en-US" altLang="zh-CN" sz="1800" dirty="0">
                    <a:solidFill>
                      <a:schemeClr val="tx1"/>
                    </a:solidFill>
                    <a:latin typeface="Cambria Math" panose="02040503050406030204" pitchFamily="18" charset="0"/>
                  </a:rPr>
                  <a:t>MIS</a:t>
                </a:r>
                <a:r>
                  <a:rPr lang="zh-CN" altLang="en-US" sz="1800" dirty="0">
                    <a:solidFill>
                      <a:schemeClr val="tx1"/>
                    </a:solidFill>
                    <a:latin typeface="Cambria Math" panose="02040503050406030204" pitchFamily="18" charset="0"/>
                  </a:rPr>
                  <a:t>而言，需要保证所有采样技术的联合支持域覆盖被积函数。</a:t>
                </a:r>
                <a:endParaRPr lang="en-US" altLang="zh-CN" sz="1800" dirty="0">
                  <a:solidFill>
                    <a:schemeClr val="tx1"/>
                  </a:solidFill>
                  <a:latin typeface="Cambria Math" panose="02040503050406030204" pitchFamily="18" charset="0"/>
                </a:endParaRPr>
              </a:p>
              <a:p>
                <a:endParaRPr lang="en-US" altLang="zh-CN" dirty="0">
                  <a:latin typeface="Cambria Math" panose="02040503050406030204" pitchFamily="18" charset="0"/>
                </a:endParaRPr>
              </a:p>
              <a:p>
                <a:r>
                  <a:rPr lang="en-US" altLang="zh-CN" sz="1800" dirty="0">
                    <a:solidFill>
                      <a:schemeClr val="tx1"/>
                    </a:solidFill>
                    <a:latin typeface="Cambria Math" panose="02040503050406030204" pitchFamily="18" charset="0"/>
                  </a:rPr>
                  <a:t>         </a:t>
                </a:r>
                <a:r>
                  <a:rPr lang="zh-CN" altLang="en-US" sz="1800" dirty="0">
                    <a:solidFill>
                      <a:schemeClr val="tx1"/>
                    </a:solidFill>
                    <a:latin typeface="Cambria Math" panose="02040503050406030204" pitchFamily="18" charset="0"/>
                  </a:rPr>
                  <a:t>因为我们的采样策略是从</a:t>
                </a:r>
                <a:r>
                  <a:rPr lang="en-US" altLang="zh-CN" sz="1800" dirty="0">
                    <a:solidFill>
                      <a:schemeClr val="tx1"/>
                    </a:solidFill>
                    <a:latin typeface="Cambria Math" panose="02040503050406030204" pitchFamily="18" charset="0"/>
                  </a:rPr>
                  <a:t>Packet</a:t>
                </a:r>
                <a:r>
                  <a:rPr lang="zh-CN" altLang="en-US" sz="1800" dirty="0">
                    <a:solidFill>
                      <a:schemeClr val="tx1"/>
                    </a:solidFill>
                    <a:latin typeface="Cambria Math" panose="02040503050406030204" pitchFamily="18" charset="0"/>
                  </a:rPr>
                  <a:t>的所有波长中选择其中一个， 只要保证</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b="0" i="1" dirty="0" smtClean="0">
                            <a:latin typeface="Cambria Math" panose="02040503050406030204" pitchFamily="18" charset="0"/>
                          </a:rPr>
                          <m:t>𝑖</m:t>
                        </m:r>
                      </m:sub>
                    </m:sSub>
                  </m:oMath>
                </a14:m>
                <a:r>
                  <a:rPr lang="zh-CN" altLang="en-US" dirty="0">
                    <a:solidFill>
                      <a:schemeClr val="tx1"/>
                    </a:solidFill>
                    <a:latin typeface="Cambria Math" panose="02040503050406030204" pitchFamily="18" charset="0"/>
                  </a:rPr>
                  <a:t>均不为</a:t>
                </a:r>
                <a:r>
                  <a:rPr lang="en-US" altLang="zh-CN" dirty="0">
                    <a:solidFill>
                      <a:schemeClr val="tx1"/>
                    </a:solidFill>
                    <a:latin typeface="Cambria Math" panose="02040503050406030204" pitchFamily="18" charset="0"/>
                  </a:rPr>
                  <a:t>0</a:t>
                </a:r>
                <a:r>
                  <a:rPr lang="zh-CN" altLang="en-US" dirty="0">
                    <a:solidFill>
                      <a:schemeClr val="tx1"/>
                    </a:solidFill>
                    <a:latin typeface="Cambria Math" panose="02040503050406030204" pitchFamily="18" charset="0"/>
                  </a:rPr>
                  <a:t>，并且各个波长各自对应的采样技术的支持域可以覆盖该波长所有可能产生贡献的路径，就可以使得联合支持域覆盖该</a:t>
                </a:r>
                <a:r>
                  <a:rPr lang="en-US" altLang="zh-CN" dirty="0">
                    <a:solidFill>
                      <a:schemeClr val="tx1"/>
                    </a:solidFill>
                    <a:latin typeface="Cambria Math" panose="02040503050406030204" pitchFamily="18" charset="0"/>
                  </a:rPr>
                  <a:t>Packet</a:t>
                </a:r>
                <a:r>
                  <a:rPr lang="zh-CN" altLang="en-US" dirty="0">
                    <a:solidFill>
                      <a:schemeClr val="tx1"/>
                    </a:solidFill>
                    <a:latin typeface="Cambria Math" panose="02040503050406030204" pitchFamily="18" charset="0"/>
                  </a:rPr>
                  <a:t>下的被积函数。</a:t>
                </a:r>
                <a:endParaRPr lang="en-US" altLang="zh-CN" dirty="0">
                  <a:solidFill>
                    <a:schemeClr val="tx1"/>
                  </a:solidFill>
                  <a:latin typeface="Cambria Math" panose="02040503050406030204" pitchFamily="18" charset="0"/>
                </a:endParaRPr>
              </a:p>
              <a:p>
                <a:endParaRPr lang="en-US" altLang="zh-CN"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oMath>
                  </m:oMathPara>
                </a14:m>
                <a:endParaRPr lang="en-US" altLang="zh-CN" dirty="0">
                  <a:latin typeface="Cambria Math" panose="02040503050406030204" pitchFamily="18" charset="0"/>
                </a:endParaRPr>
              </a:p>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𝟎</m:t>
                      </m:r>
                      <m:r>
                        <a:rPr lang="en-US" altLang="zh-CN" b="1" i="1" dirty="0" smtClean="0">
                          <a:latin typeface="Cambria Math" panose="02040503050406030204" pitchFamily="18" charset="0"/>
                        </a:rPr>
                        <m:t>  ⇒  </m:t>
                      </m:r>
                      <m:nary>
                        <m:naryPr>
                          <m:chr m:val="∑"/>
                          <m:ctrlPr>
                            <a:rPr lang="en-US" altLang="zh-CN" b="0" i="1" dirty="0" smtClean="0">
                              <a:latin typeface="Cambria Math" panose="02040503050406030204" pitchFamily="18" charset="0"/>
                            </a:rPr>
                          </m:ctrlPr>
                        </m:naryPr>
                        <m:sub>
                          <m:r>
                            <m:rPr>
                              <m:brk m:alnAt="23"/>
                            </m:rPr>
                            <a:rPr lang="en-US" altLang="zh-CN" b="0" i="1" dirty="0" smtClean="0">
                              <a:latin typeface="Cambria Math" panose="02040503050406030204" pitchFamily="18" charset="0"/>
                            </a:rPr>
                            <m:t>𝑘</m:t>
                          </m:r>
                          <m:r>
                            <m:rPr>
                              <m:brk m:alnAt="23"/>
                            </m:rPr>
                            <a:rPr lang="en-US" altLang="zh-CN" b="0" i="1" dirty="0" smtClean="0">
                              <a:latin typeface="Cambria Math" panose="02040503050406030204" pitchFamily="18" charset="0"/>
                            </a:rPr>
                            <m:t>=</m:t>
                          </m:r>
                          <m:r>
                            <m:rPr>
                              <m:brk m:alnAt="23"/>
                            </m:rPr>
                            <a:rPr lang="en-US" altLang="zh-CN" b="0" i="1" dirty="0" smtClean="0">
                              <a:latin typeface="Cambria Math" panose="02040503050406030204" pitchFamily="18" charset="0"/>
                            </a:rPr>
                            <m:t>1</m:t>
                          </m:r>
                        </m:sub>
                        <m:sup>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p>
                        <m:e>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nary>
                      <m:r>
                        <a:rPr lang="en-US" altLang="zh-CN" b="1" i="1" dirty="0" smtClean="0">
                          <a:latin typeface="Cambria Math" panose="02040503050406030204" pitchFamily="18" charset="0"/>
                        </a:rPr>
                        <m:t>&gt;</m:t>
                      </m:r>
                      <m:r>
                        <a:rPr lang="en-US" altLang="zh-CN" b="0" i="1" dirty="0" smtClean="0">
                          <a:latin typeface="Cambria Math" panose="02040503050406030204" pitchFamily="18" charset="0"/>
                        </a:rPr>
                        <m:t>0</m:t>
                      </m:r>
                    </m:oMath>
                  </m:oMathPara>
                </a14:m>
                <a:endParaRPr lang="en-US" altLang="zh-CN" dirty="0">
                  <a:solidFill>
                    <a:schemeClr val="tx1"/>
                  </a:solidFill>
                  <a:latin typeface="Cambria Math" panose="02040503050406030204" pitchFamily="18" charset="0"/>
                </a:endParaRPr>
              </a:p>
            </p:txBody>
          </p:sp>
        </mc:Choice>
        <mc:Fallback>
          <p:sp>
            <p:nvSpPr>
              <p:cNvPr id="4" name="文本框 3">
                <a:extLst>
                  <a:ext uri="{FF2B5EF4-FFF2-40B4-BE49-F238E27FC236}">
                    <a16:creationId xmlns:a16="http://schemas.microsoft.com/office/drawing/2014/main" id="{7A10344A-3DDC-51C4-D626-59974FE74AD3}"/>
                  </a:ext>
                </a:extLst>
              </p:cNvPr>
              <p:cNvSpPr txBox="1">
                <a:spLocks noRot="1" noChangeAspect="1" noMove="1" noResize="1" noEditPoints="1" noAdjustHandles="1" noChangeArrowheads="1" noChangeShapeType="1" noTextEdit="1"/>
              </p:cNvSpPr>
              <p:nvPr/>
            </p:nvSpPr>
            <p:spPr>
              <a:xfrm>
                <a:off x="6007993" y="1573548"/>
                <a:ext cx="5776175" cy="3997441"/>
              </a:xfrm>
              <a:prstGeom prst="rect">
                <a:avLst/>
              </a:prstGeom>
              <a:blipFill>
                <a:blip r:embed="rId2"/>
                <a:stretch>
                  <a:fillRect l="-950" t="-9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266A2C6-1CCF-1963-9D1A-DA4F055BCAB6}"/>
                  </a:ext>
                </a:extLst>
              </p:cNvPr>
              <p:cNvSpPr txBox="1"/>
              <p:nvPr/>
            </p:nvSpPr>
            <p:spPr>
              <a:xfrm>
                <a:off x="-51516" y="1375288"/>
                <a:ext cx="5776175" cy="4587603"/>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b="0" i="1"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 ~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r>
                            <a:rPr lang="en-US" altLang="zh-CN" sz="1800" b="1" i="0" dirty="0" smtClean="0">
                              <a:latin typeface="Cambria Math" panose="02040503050406030204" pitchFamily="18" charset="0"/>
                            </a:rPr>
                            <m:t>𝛌</m:t>
                          </m:r>
                        </m:e>
                      </m:d>
                    </m:oMath>
                  </m:oMathPara>
                </a14:m>
                <a:endParaRPr lang="en-US" altLang="zh-CN" b="1" i="1" dirty="0">
                  <a:latin typeface="Cambria Math" panose="02040503050406030204" pitchFamily="18" charset="0"/>
                </a:endParaRPr>
              </a:p>
              <a:p>
                <a:pPr>
                  <a:lnSpc>
                    <a:spcPct val="150000"/>
                  </a:lnSpc>
                </a:pPr>
                <a14:m>
                  <m:oMathPara xmlns:m="http://schemas.openxmlformats.org/officeDocument/2006/math">
                    <m:oMath>
                      <m:borderBox>
                        <m:borderBoxPr>
                          <m:ctrlPr>
                            <a:rPr lang="zh-CN" altLang="en-US" b="1" i="1" dirty="0">
                              <a:latin typeface="Cambria Math" panose="02040503050406030204" pitchFamily="18" charset="0"/>
                            </a:rPr>
                          </m:ctrlPr>
                        </m:borderBox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borderBox>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𝑐</m:t>
                              </m:r>
                            </m:e>
                            <m:sub>
                              <m:r>
                                <m:rPr>
                                  <m:brk m:alnAt="7"/>
                                </m:rP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a:p>
                <a:pPr>
                  <a:lnSpc>
                    <a:spcPct val="120000"/>
                  </a:lnSpc>
                </a:pPr>
                <a:endParaRPr lang="en-US" altLang="zh-CN" dirty="0">
                  <a:latin typeface="Cambria Math" panose="02040503050406030204" pitchFamily="18" charset="0"/>
                </a:endParaRPr>
              </a:p>
              <a:p>
                <a:pPr>
                  <a:lnSpc>
                    <a:spcPct val="120000"/>
                  </a:lnSpc>
                </a:pPr>
                <a:r>
                  <a:rPr lang="zh-CN" altLang="en-US" dirty="0">
                    <a:latin typeface="Cambria Math" panose="02040503050406030204" pitchFamily="18" charset="0"/>
                  </a:rPr>
                  <a:t>         这里的权重函数可以写成抽象启发式函数的形式：</a:t>
                </a:r>
                <a:endParaRPr lang="en-US" altLang="zh-CN"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𝑆</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𝑘</m:t>
                          </m:r>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𝑁</m:t>
                                  </m:r>
                                </m:e>
                                <m:sub>
                                  <m:r>
                                    <a:rPr lang="en-US" altLang="zh-CN" b="0" i="1" dirty="0" smtClean="0">
                                      <a:latin typeface="Cambria Math" panose="02040503050406030204" pitchFamily="18" charset="0"/>
                                      <a:ea typeface="Cambria Math" panose="02040503050406030204" pitchFamily="18" charset="0"/>
                                    </a:rPr>
                                    <m:t>𝜆</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sz="1800" dirty="0">
                  <a:latin typeface="Cambria Math" panose="02040503050406030204" pitchFamily="18" charset="0"/>
                </a:endParaRPr>
              </a:p>
              <a:p>
                <a:pPr>
                  <a:lnSpc>
                    <a:spcPct val="120000"/>
                  </a:lnSpc>
                  <a:spcBef>
                    <a:spcPts val="800"/>
                  </a:spcBef>
                </a:pPr>
                <a:r>
                  <a:rPr lang="zh-CN" altLang="en-US" dirty="0">
                    <a:latin typeface="Cambria Math" panose="02040503050406030204" pitchFamily="18" charset="0"/>
                  </a:rPr>
                  <a:t>         另外，选中的</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𝜆</m:t>
                        </m:r>
                      </m:e>
                      <m:sub>
                        <m:r>
                          <a:rPr lang="en-US" altLang="zh-CN" i="1" dirty="0">
                            <a:latin typeface="Cambria Math" panose="02040503050406030204" pitchFamily="18" charset="0"/>
                          </a:rPr>
                          <m:t>𝐻</m:t>
                        </m:r>
                      </m:sub>
                    </m:sSub>
                  </m:oMath>
                </a14:m>
                <a:r>
                  <a:rPr lang="zh-CN" altLang="en-US" dirty="0">
                    <a:latin typeface="Cambria Math" panose="02040503050406030204" pitchFamily="18" charset="0"/>
                  </a:rPr>
                  <a:t>则成为</a:t>
                </a:r>
                <a:r>
                  <a:rPr lang="en-US" altLang="zh-CN" dirty="0">
                    <a:latin typeface="Cambria Math" panose="02040503050406030204" pitchFamily="18" charset="0"/>
                  </a:rPr>
                  <a:t>Hero Wavelength</a:t>
                </a:r>
                <a:r>
                  <a:rPr lang="zh-CN" altLang="en-US" dirty="0">
                    <a:latin typeface="Cambria Math" panose="02040503050406030204" pitchFamily="18" charset="0"/>
                  </a:rPr>
                  <a:t>。</a:t>
                </a:r>
                <a:endParaRPr lang="en-US" altLang="zh-CN" sz="1800"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7266A2C6-1CCF-1963-9D1A-DA4F055BCAB6}"/>
                  </a:ext>
                </a:extLst>
              </p:cNvPr>
              <p:cNvSpPr txBox="1">
                <a:spLocks noRot="1" noChangeAspect="1" noMove="1" noResize="1" noEditPoints="1" noAdjustHandles="1" noChangeArrowheads="1" noChangeShapeType="1" noTextEdit="1"/>
              </p:cNvSpPr>
              <p:nvPr/>
            </p:nvSpPr>
            <p:spPr>
              <a:xfrm>
                <a:off x="-51516" y="1375288"/>
                <a:ext cx="5776175" cy="4587603"/>
              </a:xfrm>
              <a:prstGeom prst="rect">
                <a:avLst/>
              </a:prstGeom>
              <a:blipFill>
                <a:blip r:embed="rId3"/>
                <a:stretch>
                  <a:fillRect l="-950" t="-532" r="-211" b="-11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30304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E44F7-64EF-86A0-6F3D-7D48A0C1433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FE82E7A-CE83-DBD6-E5FC-978D7FE5D48F}"/>
              </a:ext>
            </a:extLst>
          </p:cNvPr>
          <p:cNvSpPr>
            <a:spLocks noGrp="1"/>
          </p:cNvSpPr>
          <p:nvPr>
            <p:ph type="title" idx="1"/>
          </p:nvPr>
        </p:nvSpPr>
        <p:spPr/>
        <p:txBody>
          <a:bodyPr/>
          <a:lstStyle/>
          <a:p>
            <a:r>
              <a:rPr lang="zh-CN" altLang="en-US" dirty="0"/>
              <a:t>光谱路径追踪  </a:t>
            </a:r>
            <a:r>
              <a:rPr lang="en-US" altLang="zh-CN" dirty="0"/>
              <a:t>——  </a:t>
            </a:r>
            <a:r>
              <a:rPr lang="zh-CN" altLang="en-US" dirty="0"/>
              <a:t>支持域部分分离</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1BABE47-A124-7EC8-7F89-2ACEEEB1D291}"/>
                  </a:ext>
                </a:extLst>
              </p:cNvPr>
              <p:cNvSpPr txBox="1"/>
              <p:nvPr/>
            </p:nvSpPr>
            <p:spPr>
              <a:xfrm>
                <a:off x="5992969" y="2258365"/>
                <a:ext cx="5776175" cy="3808094"/>
              </a:xfrm>
              <a:prstGeom prst="rect">
                <a:avLst/>
              </a:prstGeom>
              <a:noFill/>
            </p:spPr>
            <p:txBody>
              <a:bodyPr wrap="square">
                <a:spAutoFit/>
              </a:bodyPr>
              <a:lstStyle/>
              <a:p>
                <a:r>
                  <a:rPr lang="zh-CN" altLang="en-US" sz="1800" dirty="0">
                    <a:solidFill>
                      <a:schemeClr val="tx1"/>
                    </a:solidFill>
                    <a:latin typeface="Cambria Math" panose="02040503050406030204" pitchFamily="18" charset="0"/>
                  </a:rPr>
                  <a:t>         对于目前的代码实现，一种真实可能发生的情况就是支持域部分分离，也可以说成部分重叠，对应着前面提到的粗糙折射的情况。</a:t>
                </a:r>
                <a:endParaRPr lang="en-US" altLang="zh-CN" sz="1800" dirty="0">
                  <a:solidFill>
                    <a:schemeClr val="tx1"/>
                  </a:solidFill>
                  <a:latin typeface="Cambria Math" panose="02040503050406030204" pitchFamily="18" charset="0"/>
                </a:endParaRPr>
              </a:p>
              <a:p>
                <a:r>
                  <a:rPr lang="en-US" altLang="zh-CN" dirty="0">
                    <a:latin typeface="Cambria Math" panose="02040503050406030204" pitchFamily="18" charset="0"/>
                  </a:rPr>
                  <a:t>         </a:t>
                </a:r>
                <a:r>
                  <a:rPr lang="zh-CN" altLang="en-US" dirty="0">
                    <a:latin typeface="Cambria Math" panose="02040503050406030204" pitchFamily="18" charset="0"/>
                  </a:rPr>
                  <a:t>在这种情况下，由</a:t>
                </a:r>
                <a:r>
                  <a:rPr lang="en-US" altLang="zh-CN" dirty="0">
                    <a:latin typeface="Cambria Math" panose="02040503050406030204" pitchFamily="18" charset="0"/>
                  </a:rPr>
                  <a:t>Hero Wavelength</a:t>
                </a:r>
                <a:r>
                  <a:rPr lang="zh-CN" altLang="en-US" dirty="0">
                    <a:latin typeface="Cambria Math" panose="02040503050406030204" pitchFamily="18" charset="0"/>
                  </a:rPr>
                  <a:t>生成的路径可能适用于其他的波长，也可能不适用于其他波长，也就是那个波长的支持域与</a:t>
                </a:r>
                <a:r>
                  <a:rPr lang="en-US" altLang="zh-CN" dirty="0">
                    <a:latin typeface="Cambria Math" panose="02040503050406030204" pitchFamily="18" charset="0"/>
                  </a:rPr>
                  <a:t>Hero Wavelength</a:t>
                </a:r>
                <a:r>
                  <a:rPr lang="zh-CN" altLang="en-US" dirty="0">
                    <a:latin typeface="Cambria Math" panose="02040503050406030204" pitchFamily="18" charset="0"/>
                  </a:rPr>
                  <a:t>的支持域发生了分离。在这种情况下：</a:t>
                </a:r>
                <a:endParaRPr lang="en-US" altLang="zh-CN"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b="0" i="1" dirty="0" smtClean="0">
                          <a:latin typeface="Cambria Math" panose="02040503050406030204" pitchFamily="18" charset="0"/>
                        </a:rPr>
                        <m:t>0    </m:t>
                      </m:r>
                      <m:r>
                        <a:rPr lang="zh-CN" altLang="en-US" i="1" dirty="0">
                          <a:latin typeface="Cambria Math" panose="02040503050406030204" pitchFamily="18" charset="0"/>
                        </a:rPr>
                        <m:t>而</m:t>
                      </m:r>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b="0" i="1" dirty="0" smtClean="0">
                              <a:latin typeface="Cambria Math" panose="02040503050406030204" pitchFamily="18" charset="0"/>
                            </a:rPr>
                            <m:t>ℎ</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i="1" dirty="0">
                          <a:latin typeface="Cambria Math" panose="02040503050406030204" pitchFamily="18" charset="0"/>
                        </a:rPr>
                        <m:t>0</m:t>
                      </m:r>
                    </m:oMath>
                  </m:oMathPara>
                </a14:m>
                <a:endParaRPr lang="en-US" altLang="zh-CN" i="1" dirty="0">
                  <a:latin typeface="Cambria Math" panose="02040503050406030204" pitchFamily="18" charset="0"/>
                </a:endParaRPr>
              </a:p>
              <a:p>
                <a:r>
                  <a:rPr lang="en-US" altLang="zh-CN" dirty="0">
                    <a:latin typeface="Cambria Math" panose="02040503050406030204" pitchFamily="18" charset="0"/>
                  </a:rPr>
                  <a:t>         </a:t>
                </a:r>
                <a:r>
                  <a:rPr lang="zh-CN" altLang="en-US" dirty="0">
                    <a:latin typeface="Cambria Math" panose="02040503050406030204" pitchFamily="18" charset="0"/>
                  </a:rPr>
                  <a:t>于是：</a:t>
                </a:r>
                <a:endParaRPr lang="en-US" altLang="zh-CN"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    </m:t>
                      </m:r>
                      <m:r>
                        <a:rPr lang="zh-CN" altLang="en-US" i="1" dirty="0">
                          <a:latin typeface="Cambria Math" panose="02040503050406030204" pitchFamily="18" charset="0"/>
                        </a:rPr>
                        <m:t>而</m:t>
                      </m:r>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ℎ</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b="0" i="1" dirty="0">
                  <a:latin typeface="Cambria Math" panose="02040503050406030204" pitchFamily="18" charset="0"/>
                </a:endParaRPr>
              </a:p>
              <a:p>
                <a:pPr>
                  <a:spcBef>
                    <a:spcPts val="800"/>
                  </a:spcBef>
                </a:pPr>
                <a:r>
                  <a:rPr lang="en-US" altLang="zh-CN" b="0" dirty="0">
                    <a:latin typeface="Cambria Math" panose="02040503050406030204" pitchFamily="18" charset="0"/>
                  </a:rPr>
                  <a:t>         </a:t>
                </a:r>
                <a:r>
                  <a:rPr lang="zh-CN" altLang="en-US" b="0" dirty="0">
                    <a:latin typeface="Cambria Math" panose="02040503050406030204" pitchFamily="18" charset="0"/>
                  </a:rPr>
                  <a:t>因为权重函数之和为</a:t>
                </a:r>
                <a:r>
                  <a:rPr lang="en-US" altLang="zh-CN" b="0" dirty="0">
                    <a:latin typeface="Cambria Math" panose="02040503050406030204" pitchFamily="18" charset="0"/>
                  </a:rPr>
                  <a:t>1</a:t>
                </a:r>
                <a:r>
                  <a:rPr lang="zh-CN" altLang="en-US" b="0" dirty="0">
                    <a:latin typeface="Cambria Math" panose="02040503050406030204" pitchFamily="18" charset="0"/>
                  </a:rPr>
                  <a:t>，所以发生支持域分离的权重函数为</a:t>
                </a:r>
                <a:r>
                  <a:rPr lang="en-US" altLang="zh-CN" b="0" dirty="0">
                    <a:latin typeface="Cambria Math" panose="02040503050406030204" pitchFamily="18" charset="0"/>
                  </a:rPr>
                  <a:t>0</a:t>
                </a:r>
                <a:r>
                  <a:rPr lang="zh-CN" altLang="en-US" b="0" dirty="0">
                    <a:latin typeface="Cambria Math" panose="02040503050406030204" pitchFamily="18" charset="0"/>
                  </a:rPr>
                  <a:t>，那么其权重就会被分配给其他支持域重叠的波长，进而保证最终结果的无偏。</a:t>
                </a:r>
                <a:endParaRPr lang="en-US" altLang="zh-CN" b="0" dirty="0">
                  <a:latin typeface="Cambria Math" panose="02040503050406030204" pitchFamily="18" charset="0"/>
                </a:endParaRPr>
              </a:p>
            </p:txBody>
          </p:sp>
        </mc:Choice>
        <mc:Fallback xmlns="">
          <p:sp>
            <p:nvSpPr>
              <p:cNvPr id="4" name="文本框 3">
                <a:extLst>
                  <a:ext uri="{FF2B5EF4-FFF2-40B4-BE49-F238E27FC236}">
                    <a16:creationId xmlns:a16="http://schemas.microsoft.com/office/drawing/2014/main" id="{21BABE47-A124-7EC8-7F89-2ACEEEB1D291}"/>
                  </a:ext>
                </a:extLst>
              </p:cNvPr>
              <p:cNvSpPr txBox="1">
                <a:spLocks noRot="1" noChangeAspect="1" noMove="1" noResize="1" noEditPoints="1" noAdjustHandles="1" noChangeArrowheads="1" noChangeShapeType="1" noTextEdit="1"/>
              </p:cNvSpPr>
              <p:nvPr/>
            </p:nvSpPr>
            <p:spPr>
              <a:xfrm>
                <a:off x="5992969" y="2258365"/>
                <a:ext cx="5776175" cy="3808094"/>
              </a:xfrm>
              <a:prstGeom prst="rect">
                <a:avLst/>
              </a:prstGeom>
              <a:blipFill>
                <a:blip r:embed="rId2"/>
                <a:stretch>
                  <a:fillRect l="-844" t="-960" r="-633" b="-1600"/>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CD783AEA-86E0-BC8C-8E9E-7A9340B9F109}"/>
              </a:ext>
            </a:extLst>
          </p:cNvPr>
          <p:cNvGrpSpPr/>
          <p:nvPr/>
        </p:nvGrpSpPr>
        <p:grpSpPr>
          <a:xfrm>
            <a:off x="8984087" y="95084"/>
            <a:ext cx="3048001" cy="2064163"/>
            <a:chOff x="7664857" y="3279754"/>
            <a:chExt cx="3048001" cy="2064163"/>
          </a:xfrm>
        </p:grpSpPr>
        <p:sp>
          <p:nvSpPr>
            <p:cNvPr id="3" name="流程图: 可选过程 2">
              <a:extLst>
                <a:ext uri="{FF2B5EF4-FFF2-40B4-BE49-F238E27FC236}">
                  <a16:creationId xmlns:a16="http://schemas.microsoft.com/office/drawing/2014/main" id="{B1DC5BDF-CB44-96DF-5241-977695CF1605}"/>
                </a:ext>
              </a:extLst>
            </p:cNvPr>
            <p:cNvSpPr/>
            <p:nvPr/>
          </p:nvSpPr>
          <p:spPr>
            <a:xfrm>
              <a:off x="7664857" y="3279754"/>
              <a:ext cx="3048001" cy="2064163"/>
            </a:xfrm>
            <a:prstGeom prst="flowChartAlternateProcess">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弧形 6">
              <a:extLst>
                <a:ext uri="{FF2B5EF4-FFF2-40B4-BE49-F238E27FC236}">
                  <a16:creationId xmlns:a16="http://schemas.microsoft.com/office/drawing/2014/main" id="{D4B2C447-D681-A6F6-F50F-8C2248ACDF71}"/>
                </a:ext>
              </a:extLst>
            </p:cNvPr>
            <p:cNvSpPr/>
            <p:nvPr/>
          </p:nvSpPr>
          <p:spPr>
            <a:xfrm>
              <a:off x="8808548" y="3813713"/>
              <a:ext cx="914400" cy="914400"/>
            </a:xfrm>
            <a:prstGeom prst="arc">
              <a:avLst>
                <a:gd name="adj1" fmla="val 10951567"/>
                <a:gd name="adj2"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弧形 7">
              <a:extLst>
                <a:ext uri="{FF2B5EF4-FFF2-40B4-BE49-F238E27FC236}">
                  <a16:creationId xmlns:a16="http://schemas.microsoft.com/office/drawing/2014/main" id="{32471322-462B-3153-5805-361656E8A9EE}"/>
                </a:ext>
              </a:extLst>
            </p:cNvPr>
            <p:cNvSpPr/>
            <p:nvPr/>
          </p:nvSpPr>
          <p:spPr>
            <a:xfrm>
              <a:off x="8808548" y="3813713"/>
              <a:ext cx="914400" cy="914400"/>
            </a:xfrm>
            <a:prstGeom prst="arc">
              <a:avLst>
                <a:gd name="adj1" fmla="val 13713069"/>
                <a:gd name="adj2" fmla="val 0"/>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C19A5345-7922-2F36-2387-CD9D97EB74BE}"/>
                </a:ext>
              </a:extLst>
            </p:cNvPr>
            <p:cNvCxnSpPr>
              <a:cxnSpLocks/>
            </p:cNvCxnSpPr>
            <p:nvPr/>
          </p:nvCxnSpPr>
          <p:spPr>
            <a:xfrm>
              <a:off x="7895944" y="4254968"/>
              <a:ext cx="2655473"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E2B4166E-D115-93B3-A174-327E270C7625}"/>
                </a:ext>
              </a:extLst>
            </p:cNvPr>
            <p:cNvCxnSpPr>
              <a:cxnSpLocks/>
            </p:cNvCxnSpPr>
            <p:nvPr/>
          </p:nvCxnSpPr>
          <p:spPr>
            <a:xfrm flipV="1">
              <a:off x="9265755" y="3470429"/>
              <a:ext cx="954657" cy="76967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2C0926C5-2535-0F64-48C4-37DA0CD00EBC}"/>
                </a:ext>
              </a:extLst>
            </p:cNvPr>
            <p:cNvSpPr txBox="1"/>
            <p:nvPr/>
          </p:nvSpPr>
          <p:spPr>
            <a:xfrm>
              <a:off x="9905086" y="3857132"/>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空气</a:t>
              </a:r>
            </a:p>
          </p:txBody>
        </p:sp>
        <p:sp>
          <p:nvSpPr>
            <p:cNvPr id="12" name="文本框 11">
              <a:extLst>
                <a:ext uri="{FF2B5EF4-FFF2-40B4-BE49-F238E27FC236}">
                  <a16:creationId xmlns:a16="http://schemas.microsoft.com/office/drawing/2014/main" id="{337B866F-2296-91B2-27E8-007EEBFCD435}"/>
                </a:ext>
              </a:extLst>
            </p:cNvPr>
            <p:cNvSpPr txBox="1"/>
            <p:nvPr/>
          </p:nvSpPr>
          <p:spPr>
            <a:xfrm>
              <a:off x="9897246" y="4269835"/>
              <a:ext cx="646331" cy="369332"/>
            </a:xfrm>
            <a:prstGeom prst="rect">
              <a:avLst/>
            </a:prstGeom>
            <a:noFill/>
          </p:spPr>
          <p:txBody>
            <a:bodyPr wrap="none" rtlCol="0">
              <a:spAutoFit/>
            </a:bodyPr>
            <a:lstStyle/>
            <a:p>
              <a:r>
                <a:rPr lang="zh-CN" altLang="en-US" dirty="0">
                  <a:latin typeface="Noto Sans SC" panose="020B0200000000000000" pitchFamily="34" charset="-122"/>
                  <a:ea typeface="Noto Sans SC" panose="020B0200000000000000" pitchFamily="34" charset="-122"/>
                </a:rPr>
                <a:t>介质</a:t>
              </a:r>
            </a:p>
          </p:txBody>
        </p:sp>
        <p:cxnSp>
          <p:nvCxnSpPr>
            <p:cNvPr id="13" name="直接箭头连接符 12">
              <a:extLst>
                <a:ext uri="{FF2B5EF4-FFF2-40B4-BE49-F238E27FC236}">
                  <a16:creationId xmlns:a16="http://schemas.microsoft.com/office/drawing/2014/main" id="{AC2AFD27-7FBD-B105-7B0C-51584C03341E}"/>
                </a:ext>
              </a:extLst>
            </p:cNvPr>
            <p:cNvCxnSpPr>
              <a:cxnSpLocks/>
            </p:cNvCxnSpPr>
            <p:nvPr/>
          </p:nvCxnSpPr>
          <p:spPr>
            <a:xfrm flipV="1">
              <a:off x="9265755" y="3964909"/>
              <a:ext cx="340075" cy="274179"/>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6B867ABC-39EE-194C-F30A-C0552942191E}"/>
                </a:ext>
              </a:extLst>
            </p:cNvPr>
            <p:cNvCxnSpPr>
              <a:cxnSpLocks/>
            </p:cNvCxnSpPr>
            <p:nvPr/>
          </p:nvCxnSpPr>
          <p:spPr>
            <a:xfrm flipV="1">
              <a:off x="9265748" y="3826797"/>
              <a:ext cx="12909" cy="412291"/>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34F1D75-2315-B9F8-624A-38A50C23CF25}"/>
                </a:ext>
              </a:extLst>
            </p:cNvPr>
            <p:cNvCxnSpPr>
              <a:cxnSpLocks/>
            </p:cNvCxnSpPr>
            <p:nvPr/>
          </p:nvCxnSpPr>
          <p:spPr>
            <a:xfrm flipH="1" flipV="1">
              <a:off x="9111969" y="3847434"/>
              <a:ext cx="153779" cy="391654"/>
            </a:xfrm>
            <a:prstGeom prst="straightConnector1">
              <a:avLst/>
            </a:prstGeom>
            <a:ln>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633A5BB1-A0B3-7F14-D05A-C28EE40E4EE9}"/>
                </a:ext>
              </a:extLst>
            </p:cNvPr>
            <p:cNvCxnSpPr>
              <a:cxnSpLocks/>
              <a:endCxn id="8" idx="0"/>
            </p:cNvCxnSpPr>
            <p:nvPr/>
          </p:nvCxnSpPr>
          <p:spPr>
            <a:xfrm flipH="1" flipV="1">
              <a:off x="8963104" y="3928220"/>
              <a:ext cx="302644" cy="310868"/>
            </a:xfrm>
            <a:prstGeom prst="straightConnector1">
              <a:avLst/>
            </a:prstGeom>
            <a:ln>
              <a:solidFill>
                <a:srgbClr val="62021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0D7C9CB-D1E7-53F4-9654-1B5BC9FA293D}"/>
                </a:ext>
              </a:extLst>
            </p:cNvPr>
            <p:cNvCxnSpPr>
              <a:cxnSpLocks/>
            </p:cNvCxnSpPr>
            <p:nvPr/>
          </p:nvCxnSpPr>
          <p:spPr>
            <a:xfrm flipV="1">
              <a:off x="9265748" y="4104609"/>
              <a:ext cx="416134" cy="134479"/>
            </a:xfrm>
            <a:prstGeom prst="straightConnector1">
              <a:avLst/>
            </a:prstGeom>
            <a:ln>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77F541CC-A00B-A9BE-3249-D8ADDC12E437}"/>
                </a:ext>
              </a:extLst>
            </p:cNvPr>
            <p:cNvCxnSpPr>
              <a:cxnSpLocks/>
            </p:cNvCxnSpPr>
            <p:nvPr/>
          </p:nvCxnSpPr>
          <p:spPr>
            <a:xfrm flipV="1">
              <a:off x="9265748" y="4236372"/>
              <a:ext cx="446296" cy="2716"/>
            </a:xfrm>
            <a:prstGeom prst="straightConnector1">
              <a:avLst/>
            </a:prstGeom>
            <a:ln>
              <a:solidFill>
                <a:schemeClr val="accent6">
                  <a:lumMod val="20000"/>
                  <a:lumOff val="8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D418ACBA-B7B7-F935-7A6D-DD4868213828}"/>
                </a:ext>
              </a:extLst>
            </p:cNvPr>
            <p:cNvCxnSpPr>
              <a:cxnSpLocks/>
            </p:cNvCxnSpPr>
            <p:nvPr/>
          </p:nvCxnSpPr>
          <p:spPr>
            <a:xfrm flipV="1">
              <a:off x="9265539" y="3864897"/>
              <a:ext cx="197268" cy="374190"/>
            </a:xfrm>
            <a:prstGeom prst="straightConnector1">
              <a:avLst/>
            </a:prstGeom>
            <a:ln>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1A0C401-DE99-7504-3ACE-7D5819ADF4BF}"/>
                </a:ext>
              </a:extLst>
            </p:cNvPr>
            <p:cNvCxnSpPr>
              <a:cxnSpLocks/>
            </p:cNvCxnSpPr>
            <p:nvPr/>
          </p:nvCxnSpPr>
          <p:spPr>
            <a:xfrm flipH="1">
              <a:off x="8485060" y="4245890"/>
              <a:ext cx="780479" cy="629246"/>
            </a:xfrm>
            <a:prstGeom prst="straightConnector1">
              <a:avLst/>
            </a:prstGeom>
            <a:ln w="19050">
              <a:solidFill>
                <a:srgbClr val="FFC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38B3E73-1E98-FD11-0F88-897F83B1270F}"/>
                </a:ext>
              </a:extLst>
            </p:cNvPr>
            <p:cNvCxnSpPr>
              <a:cxnSpLocks/>
            </p:cNvCxnSpPr>
            <p:nvPr/>
          </p:nvCxnSpPr>
          <p:spPr>
            <a:xfrm flipH="1">
              <a:off x="8722389" y="4245890"/>
              <a:ext cx="542941" cy="311970"/>
            </a:xfrm>
            <a:prstGeom prst="straightConnector1">
              <a:avLst/>
            </a:prstGeom>
            <a:ln w="19050">
              <a:solidFill>
                <a:schemeClr val="accent6">
                  <a:lumMod val="20000"/>
                  <a:lumOff val="8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C84FF07-D97B-5B12-5D1C-C86978726ABB}"/>
                </a:ext>
              </a:extLst>
            </p:cNvPr>
            <p:cNvCxnSpPr>
              <a:cxnSpLocks/>
            </p:cNvCxnSpPr>
            <p:nvPr/>
          </p:nvCxnSpPr>
          <p:spPr>
            <a:xfrm flipH="1">
              <a:off x="8532165" y="4247403"/>
              <a:ext cx="733165" cy="928186"/>
            </a:xfrm>
            <a:prstGeom prst="straightConnector1">
              <a:avLst/>
            </a:prstGeom>
            <a:ln w="19050">
              <a:solidFill>
                <a:schemeClr val="accent6">
                  <a:lumMod val="5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70447EE-E01F-5A18-3EAF-14ACC818B7C9}"/>
                </a:ext>
              </a:extLst>
            </p:cNvPr>
            <p:cNvCxnSpPr>
              <a:cxnSpLocks/>
            </p:cNvCxnSpPr>
            <p:nvPr/>
          </p:nvCxnSpPr>
          <p:spPr>
            <a:xfrm flipH="1">
              <a:off x="8696487" y="4245890"/>
              <a:ext cx="568634" cy="840010"/>
            </a:xfrm>
            <a:prstGeom prst="straightConnector1">
              <a:avLst/>
            </a:prstGeom>
            <a:ln w="19050">
              <a:solidFill>
                <a:srgbClr val="620212"/>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E11AEE4B-F703-7736-7AD4-0F6C3BD837AB}"/>
                </a:ext>
              </a:extLst>
            </p:cNvPr>
            <p:cNvCxnSpPr>
              <a:cxnSpLocks/>
            </p:cNvCxnSpPr>
            <p:nvPr/>
          </p:nvCxnSpPr>
          <p:spPr>
            <a:xfrm flipH="1">
              <a:off x="8558461" y="4246905"/>
              <a:ext cx="706451" cy="485832"/>
            </a:xfrm>
            <a:prstGeom prst="straightConnector1">
              <a:avLst/>
            </a:prstGeom>
            <a:ln w="19050">
              <a:solidFill>
                <a:schemeClr val="accent6">
                  <a:lumMod val="40000"/>
                  <a:lumOff val="6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4D7D43F1-6A8C-2C6F-612C-27735BD5086E}"/>
                </a:ext>
              </a:extLst>
            </p:cNvPr>
            <p:cNvCxnSpPr>
              <a:cxnSpLocks/>
            </p:cNvCxnSpPr>
            <p:nvPr/>
          </p:nvCxnSpPr>
          <p:spPr>
            <a:xfrm flipH="1">
              <a:off x="8388069" y="4245890"/>
              <a:ext cx="876425" cy="958131"/>
            </a:xfrm>
            <a:prstGeom prst="straightConnector1">
              <a:avLst/>
            </a:prstGeom>
            <a:ln w="19050">
              <a:solidFill>
                <a:schemeClr val="accent6">
                  <a:lumMod val="7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BA97598D-CC52-9C63-6202-91864C5BC4AD}"/>
                </a:ext>
              </a:extLst>
            </p:cNvPr>
            <p:cNvCxnSpPr>
              <a:cxnSpLocks/>
            </p:cNvCxnSpPr>
            <p:nvPr/>
          </p:nvCxnSpPr>
          <p:spPr>
            <a:xfrm flipH="1">
              <a:off x="8418645" y="4245890"/>
              <a:ext cx="845849" cy="796707"/>
            </a:xfrm>
            <a:prstGeom prst="straightConnector1">
              <a:avLst/>
            </a:prstGeom>
            <a:ln w="19050">
              <a:solidFill>
                <a:schemeClr val="accent6">
                  <a:lumMod val="60000"/>
                  <a:lumOff val="40000"/>
                </a:schemeClr>
              </a:solidFill>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A1ACEDF8-1C39-264B-EAE7-034B74369346}"/>
                    </a:ext>
                  </a:extLst>
                </p:cNvPr>
                <p:cNvSpPr txBox="1"/>
                <p:nvPr/>
              </p:nvSpPr>
              <p:spPr>
                <a:xfrm>
                  <a:off x="9364173" y="3370068"/>
                  <a:ext cx="597920"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00B050"/>
                            </a:solidFill>
                            <a:latin typeface="Cambria Math" panose="02040503050406030204" pitchFamily="18" charset="0"/>
                          </a:rPr>
                          <m:t>𝒗𝒊𝒆𝒘</m:t>
                        </m:r>
                      </m:oMath>
                    </m:oMathPara>
                  </a14:m>
                  <a:endParaRPr lang="zh-CN" altLang="en-US" b="1" i="1" dirty="0">
                    <a:solidFill>
                      <a:srgbClr val="00B050"/>
                    </a:solidFill>
                  </a:endParaRPr>
                </a:p>
              </p:txBody>
            </p:sp>
          </mc:Choice>
          <mc:Fallback xmlns="">
            <p:sp>
              <p:nvSpPr>
                <p:cNvPr id="106" name="文本框 105">
                  <a:extLst>
                    <a:ext uri="{FF2B5EF4-FFF2-40B4-BE49-F238E27FC236}">
                      <a16:creationId xmlns:a16="http://schemas.microsoft.com/office/drawing/2014/main" id="{A5397093-ED7F-04B8-C010-525712754918}"/>
                    </a:ext>
                  </a:extLst>
                </p:cNvPr>
                <p:cNvSpPr txBox="1">
                  <a:spLocks noRot="1" noChangeAspect="1" noMove="1" noResize="1" noEditPoints="1" noAdjustHandles="1" noChangeArrowheads="1" noChangeShapeType="1" noTextEdit="1"/>
                </p:cNvSpPr>
                <p:nvPr/>
              </p:nvSpPr>
              <p:spPr>
                <a:xfrm>
                  <a:off x="9364173" y="3370068"/>
                  <a:ext cx="597920" cy="276999"/>
                </a:xfrm>
                <a:prstGeom prst="rect">
                  <a:avLst/>
                </a:prstGeom>
                <a:blipFill>
                  <a:blip r:embed="rId5"/>
                  <a:stretch>
                    <a:fillRect l="-8163" t="-28261" r="-29592"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62BD901B-4F6D-C7F5-CABF-84FB783CA94E}"/>
                    </a:ext>
                  </a:extLst>
                </p:cNvPr>
                <p:cNvSpPr txBox="1"/>
                <p:nvPr/>
              </p:nvSpPr>
              <p:spPr>
                <a:xfrm>
                  <a:off x="9145412" y="4694996"/>
                  <a:ext cx="634789" cy="276999"/>
                </a:xfrm>
                <a:prstGeom prst="rect">
                  <a:avLst/>
                </a:prstGeom>
                <a:noFill/>
              </p:spPr>
              <p:txBody>
                <a:bodyPr wrap="none" lIns="0" tIns="0" rIns="0" bIns="0" rtlCol="0">
                  <a:spAutoFit/>
                </a:bodyPr>
                <a:lstStyle/>
                <a:p>
                  <a:pPr/>
                  <a14:m>
                    <m:oMathPara xmlns:m="http://schemas.openxmlformats.org/officeDocument/2006/math">
                      <m:oMath>
                        <m:r>
                          <a:rPr lang="en-US" altLang="zh-CN" b="1" i="1" smtClean="0">
                            <a:solidFill>
                              <a:srgbClr val="FFC000"/>
                            </a:solidFill>
                            <a:latin typeface="Cambria Math" panose="02040503050406030204" pitchFamily="18" charset="0"/>
                          </a:rPr>
                          <m:t>𝒍𝒊𝒈𝒉𝒕</m:t>
                        </m:r>
                      </m:oMath>
                    </m:oMathPara>
                  </a14:m>
                  <a:endParaRPr lang="zh-CN" altLang="en-US" b="1" i="1" dirty="0">
                    <a:solidFill>
                      <a:srgbClr val="FFC000"/>
                    </a:solidFill>
                  </a:endParaRPr>
                </a:p>
              </p:txBody>
            </p:sp>
          </mc:Choice>
          <mc:Fallback xmlns="">
            <p:sp>
              <p:nvSpPr>
                <p:cNvPr id="107" name="文本框 106">
                  <a:extLst>
                    <a:ext uri="{FF2B5EF4-FFF2-40B4-BE49-F238E27FC236}">
                      <a16:creationId xmlns:a16="http://schemas.microsoft.com/office/drawing/2014/main" id="{4897C195-D655-7163-9AFA-1CE008E0DC2C}"/>
                    </a:ext>
                  </a:extLst>
                </p:cNvPr>
                <p:cNvSpPr txBox="1">
                  <a:spLocks noRot="1" noChangeAspect="1" noMove="1" noResize="1" noEditPoints="1" noAdjustHandles="1" noChangeArrowheads="1" noChangeShapeType="1" noTextEdit="1"/>
                </p:cNvSpPr>
                <p:nvPr/>
              </p:nvSpPr>
              <p:spPr>
                <a:xfrm>
                  <a:off x="9145412" y="4694996"/>
                  <a:ext cx="634789" cy="276999"/>
                </a:xfrm>
                <a:prstGeom prst="rect">
                  <a:avLst/>
                </a:prstGeom>
                <a:blipFill>
                  <a:blip r:embed="rId6"/>
                  <a:stretch>
                    <a:fillRect l="-11538" t="-28889" r="-27885" b="-5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3BB3BA4-F051-8E70-09A7-AD4FF18B7AEE}"/>
                    </a:ext>
                  </a:extLst>
                </p:cNvPr>
                <p:cNvSpPr txBox="1"/>
                <p:nvPr/>
              </p:nvSpPr>
              <p:spPr>
                <a:xfrm>
                  <a:off x="8023741" y="3541153"/>
                  <a:ext cx="711733" cy="430887"/>
                </a:xfrm>
                <a:prstGeom prst="rect">
                  <a:avLst/>
                </a:prstGeom>
                <a:noFill/>
              </p:spPr>
              <p:txBody>
                <a:bodyPr wrap="none" lIns="0" tIns="0" rIns="0" bIns="0" rtlCol="0">
                  <a:spAutoFit/>
                </a:bodyPr>
                <a:lstStyle/>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𝒗𝒊𝒔𝒊𝒃𝒍𝒆</m:t>
                        </m:r>
                      </m:oMath>
                    </m:oMathPara>
                  </a14:m>
                  <a:endParaRPr lang="en-US" altLang="zh-CN" sz="1400" b="1" i="1" dirty="0">
                    <a:solidFill>
                      <a:schemeClr val="accent6">
                        <a:lumMod val="60000"/>
                        <a:lumOff val="40000"/>
                      </a:schemeClr>
                    </a:solidFill>
                    <a:latin typeface="Cambria Math" panose="02040503050406030204" pitchFamily="18" charset="0"/>
                  </a:endParaRPr>
                </a:p>
                <a:p>
                  <a:pPr/>
                  <a14:m>
                    <m:oMathPara xmlns:m="http://schemas.openxmlformats.org/officeDocument/2006/math">
                      <m:oMath>
                        <m:r>
                          <a:rPr lang="en-US" altLang="zh-CN" sz="1400" b="1" i="1" smtClean="0">
                            <a:solidFill>
                              <a:schemeClr val="accent6">
                                <a:lumMod val="60000"/>
                                <a:lumOff val="40000"/>
                              </a:schemeClr>
                            </a:solidFill>
                            <a:latin typeface="Cambria Math" panose="02040503050406030204" pitchFamily="18" charset="0"/>
                          </a:rPr>
                          <m:t>𝒏𝒐𝒓𝒎𝒂𝒍</m:t>
                        </m:r>
                      </m:oMath>
                    </m:oMathPara>
                  </a14:m>
                  <a:endParaRPr lang="zh-CN" altLang="en-US" sz="1400" b="1" i="1" dirty="0">
                    <a:solidFill>
                      <a:schemeClr val="accent6">
                        <a:lumMod val="60000"/>
                        <a:lumOff val="40000"/>
                      </a:schemeClr>
                    </a:solidFill>
                  </a:endParaRPr>
                </a:p>
              </p:txBody>
            </p:sp>
          </mc:Choice>
          <mc:Fallback xmlns="">
            <p:sp>
              <p:nvSpPr>
                <p:cNvPr id="108" name="文本框 107">
                  <a:extLst>
                    <a:ext uri="{FF2B5EF4-FFF2-40B4-BE49-F238E27FC236}">
                      <a16:creationId xmlns:a16="http://schemas.microsoft.com/office/drawing/2014/main" id="{BB988762-5FC8-D6FB-2F7B-2B6AECB85ABD}"/>
                    </a:ext>
                  </a:extLst>
                </p:cNvPr>
                <p:cNvSpPr txBox="1">
                  <a:spLocks noRot="1" noChangeAspect="1" noMove="1" noResize="1" noEditPoints="1" noAdjustHandles="1" noChangeArrowheads="1" noChangeShapeType="1" noTextEdit="1"/>
                </p:cNvSpPr>
                <p:nvPr/>
              </p:nvSpPr>
              <p:spPr>
                <a:xfrm>
                  <a:off x="8023741" y="3541153"/>
                  <a:ext cx="711733" cy="430887"/>
                </a:xfrm>
                <a:prstGeom prst="rect">
                  <a:avLst/>
                </a:prstGeom>
                <a:blipFill>
                  <a:blip r:embed="rId4"/>
                  <a:stretch>
                    <a:fillRect l="-5128" t="-14085" r="-17949" b="-23944"/>
                  </a:stretch>
                </a:blipFill>
              </p:spPr>
              <p:txBody>
                <a:bodyPr/>
                <a:lstStyle/>
                <a:p>
                  <a:r>
                    <a:rPr lang="zh-CN" altLang="en-US">
                      <a:noFill/>
                    </a:rPr>
                    <a:t> </a:t>
                  </a:r>
                </a:p>
              </p:txBody>
            </p:sp>
          </mc:Fallback>
        </mc:AlternateContent>
        <p:sp>
          <p:nvSpPr>
            <p:cNvPr id="30" name="任意多边形: 形状 29">
              <a:extLst>
                <a:ext uri="{FF2B5EF4-FFF2-40B4-BE49-F238E27FC236}">
                  <a16:creationId xmlns:a16="http://schemas.microsoft.com/office/drawing/2014/main" id="{72DF9000-E444-5DC4-264F-D2835EC81C41}"/>
                </a:ext>
              </a:extLst>
            </p:cNvPr>
            <p:cNvSpPr/>
            <p:nvPr/>
          </p:nvSpPr>
          <p:spPr>
            <a:xfrm>
              <a:off x="8384191" y="4246905"/>
              <a:ext cx="865791" cy="960641"/>
            </a:xfrm>
            <a:custGeom>
              <a:avLst/>
              <a:gdLst>
                <a:gd name="csX0" fmla="*/ 865747 w 865810"/>
                <a:gd name="csY0" fmla="*/ 6898 h 960129"/>
                <a:gd name="csX1" fmla="*/ 687947 w 865810"/>
                <a:gd name="csY1" fmla="*/ 103736 h 960129"/>
                <a:gd name="csX2" fmla="*/ 476810 w 865810"/>
                <a:gd name="csY2" fmla="*/ 227561 h 960129"/>
                <a:gd name="csX3" fmla="*/ 332347 w 865810"/>
                <a:gd name="csY3" fmla="*/ 324398 h 960129"/>
                <a:gd name="csX4" fmla="*/ 187885 w 865810"/>
                <a:gd name="csY4" fmla="*/ 456161 h 960129"/>
                <a:gd name="csX5" fmla="*/ 76760 w 865810"/>
                <a:gd name="csY5" fmla="*/ 624436 h 960129"/>
                <a:gd name="csX6" fmla="*/ 18022 w 865810"/>
                <a:gd name="csY6" fmla="*/ 783186 h 960129"/>
                <a:gd name="csX7" fmla="*/ 560 w 865810"/>
                <a:gd name="csY7" fmla="*/ 903836 h 960129"/>
                <a:gd name="csX8" fmla="*/ 13260 w 865810"/>
                <a:gd name="csY8" fmla="*/ 954636 h 960129"/>
                <a:gd name="csX9" fmla="*/ 94222 w 865810"/>
                <a:gd name="csY9" fmla="*/ 954636 h 960129"/>
                <a:gd name="csX10" fmla="*/ 194235 w 865810"/>
                <a:gd name="csY10" fmla="*/ 918123 h 960129"/>
                <a:gd name="csX11" fmla="*/ 268847 w 865810"/>
                <a:gd name="csY11" fmla="*/ 867323 h 960129"/>
                <a:gd name="csX12" fmla="*/ 360922 w 865810"/>
                <a:gd name="csY12" fmla="*/ 768898 h 960129"/>
                <a:gd name="csX13" fmla="*/ 508560 w 865810"/>
                <a:gd name="csY13" fmla="*/ 554586 h 960129"/>
                <a:gd name="csX14" fmla="*/ 668897 w 865810"/>
                <a:gd name="csY14" fmla="*/ 300586 h 960129"/>
                <a:gd name="csX15" fmla="*/ 865747 w 865810"/>
                <a:gd name="csY15" fmla="*/ 6898 h 960129"/>
                <a:gd name="csX0" fmla="*/ 865747 w 865754"/>
                <a:gd name="csY0" fmla="*/ 7410 h 960641"/>
                <a:gd name="csX1" fmla="*/ 687947 w 865754"/>
                <a:gd name="csY1" fmla="*/ 104248 h 960641"/>
                <a:gd name="csX2" fmla="*/ 476810 w 865754"/>
                <a:gd name="csY2" fmla="*/ 228073 h 960641"/>
                <a:gd name="csX3" fmla="*/ 332347 w 865754"/>
                <a:gd name="csY3" fmla="*/ 324910 h 960641"/>
                <a:gd name="csX4" fmla="*/ 187885 w 865754"/>
                <a:gd name="csY4" fmla="*/ 456673 h 960641"/>
                <a:gd name="csX5" fmla="*/ 76760 w 865754"/>
                <a:gd name="csY5" fmla="*/ 624948 h 960641"/>
                <a:gd name="csX6" fmla="*/ 18022 w 865754"/>
                <a:gd name="csY6" fmla="*/ 783698 h 960641"/>
                <a:gd name="csX7" fmla="*/ 560 w 865754"/>
                <a:gd name="csY7" fmla="*/ 904348 h 960641"/>
                <a:gd name="csX8" fmla="*/ 13260 w 865754"/>
                <a:gd name="csY8" fmla="*/ 955148 h 960641"/>
                <a:gd name="csX9" fmla="*/ 94222 w 865754"/>
                <a:gd name="csY9" fmla="*/ 955148 h 960641"/>
                <a:gd name="csX10" fmla="*/ 194235 w 865754"/>
                <a:gd name="csY10" fmla="*/ 918635 h 960641"/>
                <a:gd name="csX11" fmla="*/ 268847 w 865754"/>
                <a:gd name="csY11" fmla="*/ 867835 h 960641"/>
                <a:gd name="csX12" fmla="*/ 360922 w 865754"/>
                <a:gd name="csY12" fmla="*/ 769410 h 960641"/>
                <a:gd name="csX13" fmla="*/ 508560 w 865754"/>
                <a:gd name="csY13" fmla="*/ 555098 h 960641"/>
                <a:gd name="csX14" fmla="*/ 681597 w 865754"/>
                <a:gd name="csY14" fmla="*/ 310623 h 960641"/>
                <a:gd name="csX15" fmla="*/ 865747 w 865754"/>
                <a:gd name="csY15" fmla="*/ 7410 h 960641"/>
                <a:gd name="csX0" fmla="*/ 865747 w 865791"/>
                <a:gd name="csY0" fmla="*/ 7410 h 960641"/>
                <a:gd name="csX1" fmla="*/ 687947 w 865791"/>
                <a:gd name="csY1" fmla="*/ 104248 h 960641"/>
                <a:gd name="csX2" fmla="*/ 476810 w 865791"/>
                <a:gd name="csY2" fmla="*/ 228073 h 960641"/>
                <a:gd name="csX3" fmla="*/ 332347 w 865791"/>
                <a:gd name="csY3" fmla="*/ 324910 h 960641"/>
                <a:gd name="csX4" fmla="*/ 187885 w 865791"/>
                <a:gd name="csY4" fmla="*/ 456673 h 960641"/>
                <a:gd name="csX5" fmla="*/ 76760 w 865791"/>
                <a:gd name="csY5" fmla="*/ 624948 h 960641"/>
                <a:gd name="csX6" fmla="*/ 18022 w 865791"/>
                <a:gd name="csY6" fmla="*/ 783698 h 960641"/>
                <a:gd name="csX7" fmla="*/ 560 w 865791"/>
                <a:gd name="csY7" fmla="*/ 904348 h 960641"/>
                <a:gd name="csX8" fmla="*/ 13260 w 865791"/>
                <a:gd name="csY8" fmla="*/ 955148 h 960641"/>
                <a:gd name="csX9" fmla="*/ 94222 w 865791"/>
                <a:gd name="csY9" fmla="*/ 955148 h 960641"/>
                <a:gd name="csX10" fmla="*/ 194235 w 865791"/>
                <a:gd name="csY10" fmla="*/ 918635 h 960641"/>
                <a:gd name="csX11" fmla="*/ 268847 w 865791"/>
                <a:gd name="csY11" fmla="*/ 867835 h 960641"/>
                <a:gd name="csX12" fmla="*/ 360922 w 865791"/>
                <a:gd name="csY12" fmla="*/ 769410 h 960641"/>
                <a:gd name="csX13" fmla="*/ 508560 w 865791"/>
                <a:gd name="csY13" fmla="*/ 555098 h 960641"/>
                <a:gd name="csX14" fmla="*/ 672072 w 865791"/>
                <a:gd name="csY14" fmla="*/ 310623 h 960641"/>
                <a:gd name="csX15" fmla="*/ 865747 w 865791"/>
                <a:gd name="csY15" fmla="*/ 7410 h 960641"/>
                <a:gd name="csX0" fmla="*/ 865747 w 865791"/>
                <a:gd name="csY0" fmla="*/ 7410 h 960641"/>
                <a:gd name="csX1" fmla="*/ 687947 w 865791"/>
                <a:gd name="csY1" fmla="*/ 104248 h 960641"/>
                <a:gd name="csX2" fmla="*/ 476810 w 865791"/>
                <a:gd name="csY2" fmla="*/ 228073 h 960641"/>
                <a:gd name="csX3" fmla="*/ 332347 w 865791"/>
                <a:gd name="csY3" fmla="*/ 324910 h 960641"/>
                <a:gd name="csX4" fmla="*/ 187885 w 865791"/>
                <a:gd name="csY4" fmla="*/ 456673 h 960641"/>
                <a:gd name="csX5" fmla="*/ 76760 w 865791"/>
                <a:gd name="csY5" fmla="*/ 624948 h 960641"/>
                <a:gd name="csX6" fmla="*/ 18022 w 865791"/>
                <a:gd name="csY6" fmla="*/ 783698 h 960641"/>
                <a:gd name="csX7" fmla="*/ 560 w 865791"/>
                <a:gd name="csY7" fmla="*/ 904348 h 960641"/>
                <a:gd name="csX8" fmla="*/ 13260 w 865791"/>
                <a:gd name="csY8" fmla="*/ 955148 h 960641"/>
                <a:gd name="csX9" fmla="*/ 94222 w 865791"/>
                <a:gd name="csY9" fmla="*/ 955148 h 960641"/>
                <a:gd name="csX10" fmla="*/ 194235 w 865791"/>
                <a:gd name="csY10" fmla="*/ 918635 h 960641"/>
                <a:gd name="csX11" fmla="*/ 268847 w 865791"/>
                <a:gd name="csY11" fmla="*/ 867835 h 960641"/>
                <a:gd name="csX12" fmla="*/ 360922 w 865791"/>
                <a:gd name="csY12" fmla="*/ 769410 h 960641"/>
                <a:gd name="csX13" fmla="*/ 513322 w 865791"/>
                <a:gd name="csY13" fmla="*/ 555098 h 960641"/>
                <a:gd name="csX14" fmla="*/ 672072 w 865791"/>
                <a:gd name="csY14" fmla="*/ 310623 h 960641"/>
                <a:gd name="csX15" fmla="*/ 865747 w 865791"/>
                <a:gd name="csY15" fmla="*/ 7410 h 9606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865791" h="960641">
                  <a:moveTo>
                    <a:pt x="865747" y="7410"/>
                  </a:moveTo>
                  <a:cubicBezTo>
                    <a:pt x="868393" y="-26986"/>
                    <a:pt x="752770" y="67471"/>
                    <a:pt x="687947" y="104248"/>
                  </a:cubicBezTo>
                  <a:cubicBezTo>
                    <a:pt x="623124" y="141025"/>
                    <a:pt x="536077" y="191296"/>
                    <a:pt x="476810" y="228073"/>
                  </a:cubicBezTo>
                  <a:cubicBezTo>
                    <a:pt x="417543" y="264850"/>
                    <a:pt x="380501" y="286810"/>
                    <a:pt x="332347" y="324910"/>
                  </a:cubicBezTo>
                  <a:cubicBezTo>
                    <a:pt x="284193" y="363010"/>
                    <a:pt x="230483" y="406667"/>
                    <a:pt x="187885" y="456673"/>
                  </a:cubicBezTo>
                  <a:cubicBezTo>
                    <a:pt x="145287" y="506679"/>
                    <a:pt x="105070" y="570444"/>
                    <a:pt x="76760" y="624948"/>
                  </a:cubicBezTo>
                  <a:cubicBezTo>
                    <a:pt x="48450" y="679452"/>
                    <a:pt x="30722" y="737131"/>
                    <a:pt x="18022" y="783698"/>
                  </a:cubicBezTo>
                  <a:cubicBezTo>
                    <a:pt x="5322" y="830265"/>
                    <a:pt x="1354" y="875773"/>
                    <a:pt x="560" y="904348"/>
                  </a:cubicBezTo>
                  <a:cubicBezTo>
                    <a:pt x="-234" y="932923"/>
                    <a:pt x="-2350" y="946681"/>
                    <a:pt x="13260" y="955148"/>
                  </a:cubicBezTo>
                  <a:cubicBezTo>
                    <a:pt x="28870" y="963615"/>
                    <a:pt x="64060" y="961233"/>
                    <a:pt x="94222" y="955148"/>
                  </a:cubicBezTo>
                  <a:cubicBezTo>
                    <a:pt x="124384" y="949063"/>
                    <a:pt x="165131" y="933187"/>
                    <a:pt x="194235" y="918635"/>
                  </a:cubicBezTo>
                  <a:cubicBezTo>
                    <a:pt x="223339" y="904083"/>
                    <a:pt x="241066" y="892706"/>
                    <a:pt x="268847" y="867835"/>
                  </a:cubicBezTo>
                  <a:cubicBezTo>
                    <a:pt x="296628" y="842964"/>
                    <a:pt x="320176" y="821533"/>
                    <a:pt x="360922" y="769410"/>
                  </a:cubicBezTo>
                  <a:cubicBezTo>
                    <a:pt x="401668" y="717287"/>
                    <a:pt x="461993" y="633150"/>
                    <a:pt x="513322" y="555098"/>
                  </a:cubicBezTo>
                  <a:cubicBezTo>
                    <a:pt x="564651" y="477046"/>
                    <a:pt x="613335" y="401904"/>
                    <a:pt x="672072" y="310623"/>
                  </a:cubicBezTo>
                  <a:cubicBezTo>
                    <a:pt x="730810" y="219342"/>
                    <a:pt x="863101" y="41806"/>
                    <a:pt x="865747" y="7410"/>
                  </a:cubicBezTo>
                  <a:close/>
                </a:path>
              </a:pathLst>
            </a:custGeom>
            <a:no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78F27A66-AB78-34AE-4B11-F9B4E0F6184E}"/>
                  </a:ext>
                </a:extLst>
              </p:cNvPr>
              <p:cNvSpPr txBox="1"/>
              <p:nvPr/>
            </p:nvSpPr>
            <p:spPr>
              <a:xfrm>
                <a:off x="-51516" y="1375288"/>
                <a:ext cx="5776175" cy="4587603"/>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b="0" i="1"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 ~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r>
                            <a:rPr lang="en-US" altLang="zh-CN" sz="1800" b="1" i="0" dirty="0" smtClean="0">
                              <a:latin typeface="Cambria Math" panose="02040503050406030204" pitchFamily="18" charset="0"/>
                            </a:rPr>
                            <m:t>𝛌</m:t>
                          </m:r>
                        </m:e>
                      </m:d>
                    </m:oMath>
                  </m:oMathPara>
                </a14:m>
                <a:endParaRPr lang="en-US" altLang="zh-CN" b="1" i="1" dirty="0">
                  <a:latin typeface="Cambria Math" panose="02040503050406030204" pitchFamily="18" charset="0"/>
                </a:endParaRPr>
              </a:p>
              <a:p>
                <a:pPr>
                  <a:lnSpc>
                    <a:spcPct val="150000"/>
                  </a:lnSpc>
                </a:pPr>
                <a14:m>
                  <m:oMathPara xmlns:m="http://schemas.openxmlformats.org/officeDocument/2006/math">
                    <m:oMath>
                      <m:borderBox>
                        <m:borderBoxPr>
                          <m:ctrlPr>
                            <a:rPr lang="zh-CN" altLang="en-US" b="1" i="1" dirty="0">
                              <a:latin typeface="Cambria Math" panose="02040503050406030204" pitchFamily="18" charset="0"/>
                            </a:rPr>
                          </m:ctrlPr>
                        </m:borderBox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borderBox>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𝑐</m:t>
                              </m:r>
                            </m:e>
                            <m:sub>
                              <m:r>
                                <m:rPr>
                                  <m:brk m:alnAt="7"/>
                                </m:rP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a:p>
                <a:pPr>
                  <a:lnSpc>
                    <a:spcPct val="120000"/>
                  </a:lnSpc>
                </a:pPr>
                <a:endParaRPr lang="en-US" altLang="zh-CN" dirty="0">
                  <a:latin typeface="Cambria Math" panose="02040503050406030204" pitchFamily="18" charset="0"/>
                </a:endParaRPr>
              </a:p>
              <a:p>
                <a:pPr>
                  <a:lnSpc>
                    <a:spcPct val="120000"/>
                  </a:lnSpc>
                </a:pPr>
                <a:r>
                  <a:rPr lang="zh-CN" altLang="en-US" dirty="0">
                    <a:latin typeface="Cambria Math" panose="02040503050406030204" pitchFamily="18" charset="0"/>
                  </a:rPr>
                  <a:t>         这里的权重函数可以写成抽象启发式函数的形式：</a:t>
                </a:r>
                <a:endParaRPr lang="en-US" altLang="zh-CN"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𝑆</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𝑘</m:t>
                          </m:r>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𝑁</m:t>
                                  </m:r>
                                </m:e>
                                <m:sub>
                                  <m:r>
                                    <a:rPr lang="en-US" altLang="zh-CN" b="0" i="1" dirty="0" smtClean="0">
                                      <a:latin typeface="Cambria Math" panose="02040503050406030204" pitchFamily="18" charset="0"/>
                                      <a:ea typeface="Cambria Math" panose="02040503050406030204" pitchFamily="18" charset="0"/>
                                    </a:rPr>
                                    <m:t>𝜆</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sz="1800" dirty="0">
                  <a:latin typeface="Cambria Math" panose="02040503050406030204" pitchFamily="18" charset="0"/>
                </a:endParaRPr>
              </a:p>
              <a:p>
                <a:pPr>
                  <a:lnSpc>
                    <a:spcPct val="120000"/>
                  </a:lnSpc>
                  <a:spcBef>
                    <a:spcPts val="800"/>
                  </a:spcBef>
                </a:pPr>
                <a:r>
                  <a:rPr lang="zh-CN" altLang="en-US" dirty="0">
                    <a:latin typeface="Cambria Math" panose="02040503050406030204" pitchFamily="18" charset="0"/>
                  </a:rPr>
                  <a:t>         另外，选中的</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𝜆</m:t>
                        </m:r>
                      </m:e>
                      <m:sub>
                        <m:r>
                          <a:rPr lang="en-US" altLang="zh-CN" i="1" dirty="0">
                            <a:latin typeface="Cambria Math" panose="02040503050406030204" pitchFamily="18" charset="0"/>
                          </a:rPr>
                          <m:t>𝐻</m:t>
                        </m:r>
                      </m:sub>
                    </m:sSub>
                  </m:oMath>
                </a14:m>
                <a:r>
                  <a:rPr lang="zh-CN" altLang="en-US" dirty="0">
                    <a:latin typeface="Cambria Math" panose="02040503050406030204" pitchFamily="18" charset="0"/>
                  </a:rPr>
                  <a:t>则成为</a:t>
                </a:r>
                <a:r>
                  <a:rPr lang="en-US" altLang="zh-CN" dirty="0">
                    <a:latin typeface="Cambria Math" panose="02040503050406030204" pitchFamily="18" charset="0"/>
                  </a:rPr>
                  <a:t>Hero Wavelength</a:t>
                </a:r>
                <a:r>
                  <a:rPr lang="zh-CN" altLang="en-US" dirty="0">
                    <a:latin typeface="Cambria Math" panose="02040503050406030204" pitchFamily="18" charset="0"/>
                  </a:rPr>
                  <a:t>。</a:t>
                </a:r>
                <a:endParaRPr lang="en-US" altLang="zh-CN" sz="1800" dirty="0">
                  <a:latin typeface="Cambria Math" panose="02040503050406030204" pitchFamily="18" charset="0"/>
                </a:endParaRPr>
              </a:p>
            </p:txBody>
          </p:sp>
        </mc:Choice>
        <mc:Fallback xmlns="">
          <p:sp>
            <p:nvSpPr>
              <p:cNvPr id="32" name="文本框 31">
                <a:extLst>
                  <a:ext uri="{FF2B5EF4-FFF2-40B4-BE49-F238E27FC236}">
                    <a16:creationId xmlns:a16="http://schemas.microsoft.com/office/drawing/2014/main" id="{78F27A66-AB78-34AE-4B11-F9B4E0F6184E}"/>
                  </a:ext>
                </a:extLst>
              </p:cNvPr>
              <p:cNvSpPr txBox="1">
                <a:spLocks noRot="1" noChangeAspect="1" noMove="1" noResize="1" noEditPoints="1" noAdjustHandles="1" noChangeArrowheads="1" noChangeShapeType="1" noTextEdit="1"/>
              </p:cNvSpPr>
              <p:nvPr/>
            </p:nvSpPr>
            <p:spPr>
              <a:xfrm>
                <a:off x="-51516" y="1375288"/>
                <a:ext cx="5776175" cy="4587603"/>
              </a:xfrm>
              <a:prstGeom prst="rect">
                <a:avLst/>
              </a:prstGeom>
              <a:blipFill>
                <a:blip r:embed="rId7"/>
                <a:stretch>
                  <a:fillRect l="-950" t="-532" r="-211" b="-11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6629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E83B9-9974-D3AB-9921-F7181D0B74B5}"/>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849E2A4-4ADF-2409-A07B-F680750EA16E}"/>
              </a:ext>
            </a:extLst>
          </p:cNvPr>
          <p:cNvSpPr>
            <a:spLocks noGrp="1"/>
          </p:cNvSpPr>
          <p:nvPr>
            <p:ph type="title" idx="1"/>
          </p:nvPr>
        </p:nvSpPr>
        <p:spPr/>
        <p:txBody>
          <a:bodyPr/>
          <a:lstStyle/>
          <a:p>
            <a:r>
              <a:rPr lang="zh-CN" altLang="en-US" dirty="0"/>
              <a:t>光谱路径追踪  </a:t>
            </a:r>
            <a:r>
              <a:rPr lang="en-US" altLang="zh-CN" dirty="0"/>
              <a:t>——  </a:t>
            </a:r>
            <a:r>
              <a:rPr lang="zh-CN" altLang="en-US" dirty="0"/>
              <a:t>支持域完全分离</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A792B4C-F0FB-884E-C136-242C2502369E}"/>
                  </a:ext>
                </a:extLst>
              </p:cNvPr>
              <p:cNvSpPr txBox="1"/>
              <p:nvPr/>
            </p:nvSpPr>
            <p:spPr>
              <a:xfrm>
                <a:off x="5325415" y="1172641"/>
                <a:ext cx="6709892" cy="5378908"/>
              </a:xfrm>
              <a:prstGeom prst="rect">
                <a:avLst/>
              </a:prstGeom>
              <a:noFill/>
            </p:spPr>
            <p:txBody>
              <a:bodyPr wrap="square">
                <a:spAutoFit/>
              </a:bodyPr>
              <a:lstStyle/>
              <a:p>
                <a:r>
                  <a:rPr lang="en-US" altLang="zh-CN" sz="1600" dirty="0">
                    <a:solidFill>
                      <a:schemeClr val="tx1"/>
                    </a:solidFill>
                    <a:latin typeface="+mn-ea"/>
                  </a:rPr>
                  <a:t>         </a:t>
                </a:r>
                <a:r>
                  <a:rPr lang="zh-CN" altLang="en-US" sz="1600" dirty="0">
                    <a:solidFill>
                      <a:schemeClr val="tx1"/>
                    </a:solidFill>
                    <a:latin typeface="+mn-ea"/>
                  </a:rPr>
                  <a:t>对于</a:t>
                </a:r>
                <a:r>
                  <a:rPr lang="zh-CN" altLang="en-US" sz="1600" dirty="0">
                    <a:latin typeface="+mn-ea"/>
                  </a:rPr>
                  <a:t>规则折射</a:t>
                </a:r>
                <a:r>
                  <a:rPr lang="zh-CN" altLang="en-US" sz="1600" dirty="0">
                    <a:solidFill>
                      <a:schemeClr val="tx1"/>
                    </a:solidFill>
                    <a:latin typeface="+mn-ea"/>
                  </a:rPr>
                  <a:t>而言，若</a:t>
                </a:r>
                <a:r>
                  <a:rPr lang="en-US" altLang="zh-CN" sz="1600" dirty="0">
                    <a:solidFill>
                      <a:schemeClr val="tx1"/>
                    </a:solidFill>
                    <a:latin typeface="+mn-ea"/>
                  </a:rPr>
                  <a:t>Packet</a:t>
                </a:r>
                <a:r>
                  <a:rPr lang="zh-CN" altLang="en-US" sz="1600" dirty="0">
                    <a:solidFill>
                      <a:schemeClr val="tx1"/>
                    </a:solidFill>
                    <a:latin typeface="+mn-ea"/>
                  </a:rPr>
                  <a:t>中各个波长对应的材质折射率不同，那么由</a:t>
                </a:r>
                <a:r>
                  <a:rPr lang="en-US" altLang="zh-CN" sz="1600" dirty="0">
                    <a:solidFill>
                      <a:schemeClr val="tx1"/>
                    </a:solidFill>
                    <a:latin typeface="+mn-ea"/>
                  </a:rPr>
                  <a:t>Hero Wavelength</a:t>
                </a:r>
                <a:r>
                  <a:rPr lang="zh-CN" altLang="en-US" sz="1600" dirty="0">
                    <a:solidFill>
                      <a:schemeClr val="tx1"/>
                    </a:solidFill>
                    <a:latin typeface="+mn-ea"/>
                  </a:rPr>
                  <a:t>采样得到的路径</a:t>
                </a:r>
                <a14:m>
                  <m:oMath xmlns:m="http://schemas.openxmlformats.org/officeDocument/2006/math">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oMath>
                </a14:m>
                <a:r>
                  <a:rPr lang="zh-CN" altLang="en-US" sz="1600" dirty="0">
                    <a:latin typeface="+mn-ea"/>
                  </a:rPr>
                  <a:t>只在该波长上存在贡献</a:t>
                </a:r>
                <a:r>
                  <a:rPr lang="zh-CN" altLang="en-US" sz="1600" dirty="0">
                    <a:solidFill>
                      <a:schemeClr val="tx1"/>
                    </a:solidFill>
                    <a:latin typeface="+mn-ea"/>
                  </a:rPr>
                  <a:t>，并且该路径</a:t>
                </a:r>
                <a14:m>
                  <m:oMath xmlns:m="http://schemas.openxmlformats.org/officeDocument/2006/math">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oMath>
                </a14:m>
                <a:r>
                  <a:rPr lang="zh-CN" altLang="en-US" sz="1600" dirty="0">
                    <a:solidFill>
                      <a:schemeClr val="tx1"/>
                    </a:solidFill>
                    <a:latin typeface="+mn-ea"/>
                  </a:rPr>
                  <a:t>对于其他波长对应的采样技术而言的反事实概率密度为</a:t>
                </a:r>
                <a:r>
                  <a:rPr lang="en-US" altLang="zh-CN" sz="1600" dirty="0">
                    <a:solidFill>
                      <a:schemeClr val="tx1"/>
                    </a:solidFill>
                    <a:latin typeface="+mn-ea"/>
                  </a:rPr>
                  <a:t>0</a:t>
                </a:r>
                <a:r>
                  <a:rPr lang="zh-CN" altLang="en-US" sz="1600" dirty="0">
                    <a:solidFill>
                      <a:schemeClr val="tx1"/>
                    </a:solidFill>
                    <a:latin typeface="+mn-ea"/>
                  </a:rPr>
                  <a:t>：</a:t>
                </a:r>
                <a:endParaRPr lang="en-US" altLang="zh-CN" sz="1600" dirty="0">
                  <a:solidFill>
                    <a:schemeClr val="tx1"/>
                  </a:solidFill>
                  <a:latin typeface="+mn-ea"/>
                </a:endParaRPr>
              </a:p>
              <a:p>
                <a:pPr/>
                <a14:m>
                  <m:oMathPara xmlns:m="http://schemas.openxmlformats.org/officeDocument/2006/math">
                    <m:o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𝑞</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m:t>
                          </m:r>
                          <m:r>
                            <a:rPr lang="en-US" altLang="zh-CN" sz="1600" b="0" i="1" dirty="0" smtClean="0">
                              <a:latin typeface="Cambria Math" panose="02040503050406030204" pitchFamily="18" charset="0"/>
                            </a:rPr>
                            <m:t>ℎ</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0" i="1" dirty="0" smtClean="0">
                          <a:latin typeface="Cambria Math" panose="02040503050406030204" pitchFamily="18" charset="0"/>
                        </a:rPr>
                        <m:t>&gt;0    </m:t>
                      </m:r>
                      <m:r>
                        <a:rPr lang="zh-CN" altLang="en-US" sz="1600" i="1" dirty="0">
                          <a:latin typeface="Cambria Math" panose="02040503050406030204" pitchFamily="18" charset="0"/>
                        </a:rPr>
                        <m:t>且</m:t>
                      </m:r>
                      <m:r>
                        <a:rPr lang="en-US" altLang="zh-CN" sz="1600" b="0" i="1" dirty="0" smtClean="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𝑞</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m:t>
                          </m:r>
                          <m:r>
                            <a:rPr lang="en-US" altLang="zh-CN" sz="1600" i="1" dirty="0">
                              <a:latin typeface="Cambria Math" panose="02040503050406030204" pitchFamily="18" charset="0"/>
                            </a:rPr>
                            <m:t>𝑘</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0" i="1" dirty="0" smtClean="0">
                          <a:latin typeface="Cambria Math" panose="02040503050406030204" pitchFamily="18" charset="0"/>
                        </a:rPr>
                        <m:t>=0, </m:t>
                      </m:r>
                      <m:r>
                        <a:rPr lang="en-US" altLang="zh-CN" sz="1600" b="0" i="1" dirty="0" smtClean="0">
                          <a:latin typeface="Cambria Math" panose="02040503050406030204" pitchFamily="18" charset="0"/>
                        </a:rPr>
                        <m:t>𝑘</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ℎ</m:t>
                      </m:r>
                    </m:oMath>
                  </m:oMathPara>
                </a14:m>
                <a:endParaRPr lang="en-US" altLang="zh-CN" sz="1600" dirty="0">
                  <a:solidFill>
                    <a:schemeClr val="tx1"/>
                  </a:solidFill>
                  <a:latin typeface="+mn-ea"/>
                </a:endParaRPr>
              </a:p>
              <a:p>
                <a:pPr>
                  <a:spcBef>
                    <a:spcPts val="800"/>
                  </a:spcBef>
                </a:pPr>
                <a:r>
                  <a:rPr lang="zh-CN" altLang="en-US" sz="1600" dirty="0">
                    <a:solidFill>
                      <a:schemeClr val="tx1"/>
                    </a:solidFill>
                    <a:latin typeface="+mn-ea"/>
                  </a:rPr>
                  <a:t>         也就是其他采样技术不可能采样得到该</a:t>
                </a:r>
                <a:r>
                  <a:rPr lang="zh-CN" altLang="en-US" sz="1600" dirty="0">
                    <a:latin typeface="+mn-ea"/>
                  </a:rPr>
                  <a:t>路径</a:t>
                </a:r>
                <a:r>
                  <a:rPr lang="zh-CN" altLang="en-US" sz="1600" dirty="0">
                    <a:solidFill>
                      <a:schemeClr val="tx1"/>
                    </a:solidFill>
                    <a:latin typeface="+mn-ea"/>
                  </a:rPr>
                  <a:t>。对于这种情况，根据权重的计算公式可以得到：</a:t>
                </a:r>
                <a:endParaRPr lang="en-US" altLang="zh-CN" sz="1600" dirty="0">
                  <a:solidFill>
                    <a:schemeClr val="tx1"/>
                  </a:solidFill>
                  <a:latin typeface="+mn-ea"/>
                </a:endParaRPr>
              </a:p>
              <a:p>
                <a:pPr/>
                <a14:m>
                  <m:oMathPara xmlns:m="http://schemas.openxmlformats.org/officeDocument/2006/math">
                    <m:oMath>
                      <m:sSub>
                        <m:sSubPr>
                          <m:ctrlPr>
                            <a:rPr lang="en-US" altLang="zh-CN" sz="1600" b="0" i="0" dirty="0" smtClean="0">
                              <a:latin typeface="Cambria Math" panose="02040503050406030204" pitchFamily="18" charset="0"/>
                            </a:rPr>
                          </m:ctrlPr>
                        </m:sSubPr>
                        <m:e>
                          <m:r>
                            <m:rPr>
                              <m:sty m:val="p"/>
                            </m:rPr>
                            <a:rPr lang="en-US" altLang="zh-CN" sz="1600" b="0" i="0" dirty="0" smtClean="0">
                              <a:latin typeface="Cambria Math" panose="02040503050406030204" pitchFamily="18" charset="0"/>
                            </a:rPr>
                            <m:t>w</m:t>
                          </m:r>
                        </m:e>
                        <m:sub>
                          <m:r>
                            <a:rPr lang="en-US" altLang="zh-CN" sz="1600" i="1" dirty="0">
                              <a:latin typeface="Cambria Math" panose="02040503050406030204" pitchFamily="18" charset="0"/>
                            </a:rPr>
                            <m:t>ℎ</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e>
                      </m:d>
                      <m:r>
                        <a:rPr lang="en-US" altLang="zh-CN" sz="1600" b="0" i="1" dirty="0" smtClean="0">
                          <a:latin typeface="Cambria Math" panose="02040503050406030204" pitchFamily="18" charset="0"/>
                        </a:rPr>
                        <m:t>=1    </m:t>
                      </m:r>
                      <m:r>
                        <a:rPr lang="zh-CN" altLang="en-US" sz="1600" i="1" dirty="0">
                          <a:latin typeface="Cambria Math" panose="02040503050406030204" pitchFamily="18" charset="0"/>
                        </a:rPr>
                        <m:t>且</m:t>
                      </m:r>
                      <m:r>
                        <a:rPr lang="en-US" altLang="zh-CN" sz="1600" b="0" i="1" dirty="0" smtClean="0">
                          <a:latin typeface="Cambria Math" panose="02040503050406030204" pitchFamily="18" charset="0"/>
                        </a:rPr>
                        <m:t>    </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𝑤</m:t>
                          </m:r>
                        </m:e>
                        <m:sub>
                          <m:r>
                            <a:rPr lang="en-US" altLang="zh-CN" sz="1600" b="0" i="1" dirty="0" smtClean="0">
                              <a:latin typeface="Cambria Math" panose="02040503050406030204" pitchFamily="18" charset="0"/>
                            </a:rPr>
                            <m:t>𝑘</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e>
                      </m:d>
                      <m:r>
                        <a:rPr lang="en-US" altLang="zh-CN" sz="1600" b="0" i="1" dirty="0" smtClean="0">
                          <a:latin typeface="Cambria Math" panose="02040503050406030204" pitchFamily="18" charset="0"/>
                        </a:rPr>
                        <m:t>=0,</m:t>
                      </m:r>
                      <m:r>
                        <a:rPr lang="en-US" altLang="zh-CN" sz="1600" b="0" i="1" dirty="0" smtClean="0">
                          <a:latin typeface="Cambria Math" panose="02040503050406030204" pitchFamily="18" charset="0"/>
                        </a:rPr>
                        <m:t>𝑘</m:t>
                      </m:r>
                      <m:r>
                        <a:rPr lang="en-US" altLang="zh-CN" sz="1600" b="0" i="1" dirty="0" smtClean="0">
                          <a:latin typeface="Cambria Math" panose="02040503050406030204" pitchFamily="18" charset="0"/>
                        </a:rPr>
                        <m:t>≠</m:t>
                      </m:r>
                      <m:r>
                        <a:rPr lang="en-US" altLang="zh-CN" sz="1600" b="0" i="1" dirty="0" smtClean="0">
                          <a:latin typeface="Cambria Math" panose="02040503050406030204" pitchFamily="18" charset="0"/>
                        </a:rPr>
                        <m:t>ℎ</m:t>
                      </m:r>
                    </m:oMath>
                  </m:oMathPara>
                </a14:m>
                <a:endParaRPr lang="en-US" altLang="zh-CN" sz="1600" dirty="0">
                  <a:latin typeface="+mn-ea"/>
                </a:endParaRPr>
              </a:p>
              <a:p>
                <a:pPr>
                  <a:spcBef>
                    <a:spcPts val="800"/>
                  </a:spcBef>
                </a:pPr>
                <a:r>
                  <a:rPr lang="en-US" altLang="zh-CN" sz="1600" dirty="0">
                    <a:latin typeface="+mn-ea"/>
                  </a:rPr>
                  <a:t>         </a:t>
                </a:r>
                <a:r>
                  <a:rPr lang="zh-CN" altLang="en-US" sz="1600" dirty="0">
                    <a:latin typeface="+mn-ea"/>
                  </a:rPr>
                  <a:t>对于其他波长，贡献密度一般为</a:t>
                </a:r>
                <a:r>
                  <a:rPr lang="en-US" altLang="zh-CN" sz="1600" dirty="0">
                    <a:latin typeface="+mn-ea"/>
                  </a:rPr>
                  <a:t>0</a:t>
                </a:r>
                <a:r>
                  <a:rPr lang="zh-CN" altLang="en-US" sz="1600" dirty="0">
                    <a:latin typeface="+mn-ea"/>
                  </a:rPr>
                  <a:t>：</a:t>
                </a:r>
                <a14:m>
                  <m:oMath xmlns:m="http://schemas.openxmlformats.org/officeDocument/2006/math">
                    <m:sSub>
                      <m:sSubPr>
                        <m:ctrlPr>
                          <a:rPr lang="en-US" altLang="zh-CN" sz="1600" dirty="0">
                            <a:latin typeface="Cambria Math" panose="02040503050406030204" pitchFamily="18" charset="0"/>
                          </a:rPr>
                        </m:ctrlPr>
                      </m:sSubPr>
                      <m:e>
                        <m:r>
                          <m:rPr>
                            <m:sty m:val="p"/>
                          </m:rPr>
                          <a:rPr lang="en-US" altLang="zh-CN" sz="1600" dirty="0">
                            <a:latin typeface="Cambria Math" panose="02040503050406030204" pitchFamily="18" charset="0"/>
                          </a:rPr>
                          <m:t>Φ</m:t>
                        </m:r>
                      </m:e>
                      <m:sub>
                        <m:r>
                          <m:rPr>
                            <m:sty m:val="p"/>
                          </m:rPr>
                          <a:rPr lang="en-US" altLang="zh-CN" sz="1600" dirty="0">
                            <a:latin typeface="Cambria Math" panose="02040503050406030204" pitchFamily="18" charset="0"/>
                          </a:rPr>
                          <m:t>i</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𝑘</m:t>
                            </m:r>
                          </m:sub>
                        </m:sSub>
                      </m:e>
                    </m:d>
                    <m:r>
                      <a:rPr lang="en-US" altLang="zh-CN" sz="1600" i="1" dirty="0">
                        <a:latin typeface="Cambria Math" panose="02040503050406030204" pitchFamily="18" charset="0"/>
                      </a:rPr>
                      <m:t>=0,</m:t>
                    </m:r>
                    <m:r>
                      <a:rPr lang="en-US" altLang="zh-CN" sz="1600" i="1" dirty="0">
                        <a:latin typeface="Cambria Math" panose="02040503050406030204" pitchFamily="18" charset="0"/>
                      </a:rPr>
                      <m:t>𝑘</m:t>
                    </m:r>
                    <m:r>
                      <a:rPr lang="en-US" altLang="zh-CN" sz="1600" i="1" dirty="0">
                        <a:latin typeface="Cambria Math" panose="02040503050406030204" pitchFamily="18" charset="0"/>
                      </a:rPr>
                      <m:t>≠</m:t>
                    </m:r>
                    <m:r>
                      <a:rPr lang="en-US" altLang="zh-CN" sz="1600" i="1" dirty="0">
                        <a:latin typeface="Cambria Math" panose="02040503050406030204" pitchFamily="18" charset="0"/>
                      </a:rPr>
                      <m:t>ℎ</m:t>
                    </m:r>
                  </m:oMath>
                </a14:m>
                <a:endParaRPr lang="en-US" altLang="zh-CN" sz="1600" dirty="0">
                  <a:solidFill>
                    <a:schemeClr val="tx1"/>
                  </a:solidFill>
                  <a:latin typeface="+mn-ea"/>
                </a:endParaRPr>
              </a:p>
              <a:p>
                <a:pPr>
                  <a:spcBef>
                    <a:spcPts val="800"/>
                  </a:spcBef>
                </a:pPr>
                <a:r>
                  <a:rPr lang="zh-CN" altLang="en-US" sz="1600" dirty="0">
                    <a:solidFill>
                      <a:schemeClr val="tx1"/>
                    </a:solidFill>
                    <a:latin typeface="+mn-ea"/>
                  </a:rPr>
                  <a:t>         那么被积函数</a:t>
                </a:r>
                <a14:m>
                  <m:oMath xmlns:m="http://schemas.openxmlformats.org/officeDocument/2006/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oMath>
                </a14:m>
                <a:r>
                  <a:rPr lang="zh-CN" altLang="en-US" sz="1600" dirty="0">
                    <a:solidFill>
                      <a:schemeClr val="tx1"/>
                    </a:solidFill>
                    <a:latin typeface="+mn-ea"/>
                  </a:rPr>
                  <a:t>退化为：</a:t>
                </a:r>
                <a:endParaRPr lang="en-US" altLang="zh-CN" sz="1600" dirty="0">
                  <a:solidFill>
                    <a:schemeClr val="tx1"/>
                  </a:solidFill>
                  <a:latin typeface="+mn-ea"/>
                </a:endParaRPr>
              </a:p>
              <a:p>
                <a:pPr/>
                <a14:m>
                  <m:oMathPara xmlns:m="http://schemas.openxmlformats.org/officeDocument/2006/math">
                    <m:o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nary>
                        <m:naryPr>
                          <m:chr m:val="∑"/>
                          <m:ctrlPr>
                            <a:rPr lang="en-US" altLang="zh-CN" sz="1600" i="1" dirty="0">
                              <a:latin typeface="Cambria Math" panose="02040503050406030204" pitchFamily="18" charset="0"/>
                            </a:rPr>
                          </m:ctrlPr>
                        </m:naryPr>
                        <m:sub>
                          <m:r>
                            <m:rPr>
                              <m:brk m:alnAt="23"/>
                            </m:rPr>
                            <a:rPr lang="en-US" altLang="zh-CN" sz="1600" i="1" dirty="0">
                              <a:latin typeface="Cambria Math" panose="02040503050406030204" pitchFamily="18" charset="0"/>
                            </a:rPr>
                            <m:t>𝑗</m:t>
                          </m:r>
                          <m:r>
                            <m:rPr>
                              <m:brk m:alnAt="23"/>
                            </m:rPr>
                            <a:rPr lang="en-US" altLang="zh-CN" sz="1600" i="1" dirty="0">
                              <a:latin typeface="Cambria Math" panose="02040503050406030204" pitchFamily="18" charset="0"/>
                            </a:rPr>
                            <m:t>=</m:t>
                          </m:r>
                          <m:r>
                            <m:rPr>
                              <m:brk m:alnAt="23"/>
                            </m:rPr>
                            <a:rPr lang="en-US" altLang="zh-CN" sz="1600" i="1" dirty="0">
                              <a:latin typeface="Cambria Math" panose="02040503050406030204" pitchFamily="18" charset="0"/>
                            </a:rPr>
                            <m:t>1</m:t>
                          </m:r>
                        </m:sub>
                        <m:sup>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sup>
                        <m:e>
                          <m:f>
                            <m:fPr>
                              <m:ctrlPr>
                                <a:rPr lang="en-US" altLang="zh-CN" sz="1600" i="1" dirty="0">
                                  <a:latin typeface="Cambria Math" panose="02040503050406030204" pitchFamily="18" charset="0"/>
                                </a:rPr>
                              </m:ctrlPr>
                            </m:fPr>
                            <m:num>
                              <m:sSub>
                                <m:sSubPr>
                                  <m:ctrlPr>
                                    <a:rPr lang="en-US" altLang="zh-CN" sz="1600" dirty="0">
                                      <a:latin typeface="Cambria Math" panose="02040503050406030204" pitchFamily="18" charset="0"/>
                                    </a:rPr>
                                  </m:ctrlPr>
                                </m:sSubPr>
                                <m:e>
                                  <m:r>
                                    <m:rPr>
                                      <m:sty m:val="p"/>
                                    </m:rPr>
                                    <a:rPr lang="en-US" altLang="zh-CN" sz="1600" dirty="0">
                                      <a:latin typeface="Cambria Math" panose="02040503050406030204" pitchFamily="18" charset="0"/>
                                    </a:rPr>
                                    <m:t>Φ</m:t>
                                  </m:r>
                                </m:e>
                                <m:sub>
                                  <m:r>
                                    <m:rPr>
                                      <m:sty m:val="p"/>
                                    </m:rPr>
                                    <a:rPr lang="en-US" altLang="zh-CN" sz="1600" dirty="0">
                                      <a:latin typeface="Cambria Math" panose="02040503050406030204" pitchFamily="18" charset="0"/>
                                    </a:rPr>
                                    <m:t>i</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𝑗</m:t>
                                      </m:r>
                                    </m:sub>
                                  </m:sSub>
                                </m:e>
                              </m:d>
                              <m:r>
                                <a:rPr lang="en-US" altLang="zh-CN" sz="1600" i="1" dirty="0">
                                  <a:solidFill>
                                    <a:srgbClr val="FF0000"/>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𝑗</m:t>
                                      </m:r>
                                    </m:sub>
                                  </m:sSub>
                                </m:e>
                              </m:d>
                            </m:den>
                          </m:f>
                        </m:e>
                      </m:nary>
                      <m:r>
                        <a:rPr lang="en-US" altLang="zh-CN" sz="1600" b="0" i="1" dirty="0" smtClean="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f>
                        <m:fPr>
                          <m:ctrlPr>
                            <a:rPr lang="en-US" altLang="zh-CN" sz="1600" i="1" dirty="0">
                              <a:latin typeface="Cambria Math" panose="02040503050406030204" pitchFamily="18" charset="0"/>
                            </a:rPr>
                          </m:ctrlPr>
                        </m:fPr>
                        <m:num>
                          <m:sSub>
                            <m:sSubPr>
                              <m:ctrlPr>
                                <a:rPr lang="en-US" altLang="zh-CN" sz="1600" dirty="0">
                                  <a:latin typeface="Cambria Math" panose="02040503050406030204" pitchFamily="18" charset="0"/>
                                </a:rPr>
                              </m:ctrlPr>
                            </m:sSubPr>
                            <m:e>
                              <m:r>
                                <m:rPr>
                                  <m:sty m:val="p"/>
                                </m:rPr>
                                <a:rPr lang="en-US" altLang="zh-CN" sz="1600" dirty="0">
                                  <a:latin typeface="Cambria Math" panose="02040503050406030204" pitchFamily="18" charset="0"/>
                                </a:rPr>
                                <m:t>Φ</m:t>
                              </m:r>
                            </m:e>
                            <m:sub>
                              <m:r>
                                <m:rPr>
                                  <m:sty m:val="p"/>
                                </m:rPr>
                                <a:rPr lang="en-US" altLang="zh-CN" sz="1600" dirty="0">
                                  <a:latin typeface="Cambria Math" panose="02040503050406030204" pitchFamily="18" charset="0"/>
                                </a:rPr>
                                <m:t>i</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b="0" i="1" dirty="0" smtClean="0">
                                      <a:latin typeface="Cambria Math" panose="02040503050406030204" pitchFamily="18" charset="0"/>
                                    </a:rPr>
                                    <m:t>ℎ</m:t>
                                  </m:r>
                                </m:sub>
                              </m:sSub>
                            </m:e>
                          </m:d>
                          <m:r>
                            <a:rPr lang="en-US" altLang="zh-CN" sz="1600" i="1" dirty="0">
                              <a:solidFill>
                                <a:srgbClr val="FF0000"/>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b="0" i="1" smtClean="0">
                                      <a:latin typeface="Cambria Math" panose="02040503050406030204" pitchFamily="18" charset="0"/>
                                    </a:rPr>
                                    <m:t>ℎ</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b="0" i="1" dirty="0" smtClean="0">
                                      <a:latin typeface="Cambria Math" panose="02040503050406030204" pitchFamily="18" charset="0"/>
                                    </a:rPr>
                                    <m:t>ℎ</m:t>
                                  </m:r>
                                </m:sub>
                              </m:sSub>
                            </m:e>
                          </m:d>
                        </m:den>
                      </m:f>
                    </m:oMath>
                  </m:oMathPara>
                </a14:m>
                <a:endParaRPr lang="en-US" altLang="zh-CN" sz="1600" dirty="0">
                  <a:solidFill>
                    <a:schemeClr val="tx1"/>
                  </a:solidFill>
                  <a:latin typeface="+mn-ea"/>
                </a:endParaRPr>
              </a:p>
              <a:p>
                <a:pPr>
                  <a:spcBef>
                    <a:spcPts val="800"/>
                  </a:spcBef>
                </a:pPr>
                <a:r>
                  <a:rPr lang="en-US" altLang="zh-CN" sz="1600" dirty="0">
                    <a:latin typeface="+mn-ea"/>
                  </a:rPr>
                  <a:t>         </a:t>
                </a:r>
                <a:r>
                  <a:rPr lang="zh-CN" altLang="en-US" sz="1600" dirty="0">
                    <a:latin typeface="+mn-ea"/>
                  </a:rPr>
                  <a:t>代入单样本</a:t>
                </a:r>
                <a:r>
                  <a:rPr lang="en-US" altLang="zh-CN" sz="1600" dirty="0">
                    <a:latin typeface="+mn-ea"/>
                  </a:rPr>
                  <a:t>MIS</a:t>
                </a:r>
                <a:r>
                  <a:rPr lang="zh-CN" altLang="en-US" sz="1600" dirty="0">
                    <a:latin typeface="+mn-ea"/>
                  </a:rPr>
                  <a:t>估计器 </a:t>
                </a:r>
                <a14:m>
                  <m:oMath xmlns:m="http://schemas.openxmlformats.org/officeDocument/2006/math">
                    <m:d>
                      <m:dPr>
                        <m:ctrlPr>
                          <a:rPr lang="en-US" altLang="zh-CN" sz="1600" i="1" dirty="0" smtClean="0">
                            <a:latin typeface="Cambria Math" panose="02040503050406030204" pitchFamily="18" charset="0"/>
                          </a:rPr>
                        </m:ctrlPr>
                      </m:dPr>
                      <m:e>
                        <m:r>
                          <a:rPr lang="en-US" altLang="zh-CN" sz="1600" i="1" dirty="0" smtClean="0">
                            <a:latin typeface="Cambria Math" panose="02040503050406030204" pitchFamily="18" charset="0"/>
                          </a:rPr>
                          <m:t>𝐻</m:t>
                        </m:r>
                        <m:r>
                          <a:rPr lang="en-US" altLang="zh-CN" sz="1600" b="0" i="1" dirty="0" smtClean="0">
                            <a:latin typeface="Cambria Math" panose="02040503050406030204" pitchFamily="18" charset="0"/>
                          </a:rPr>
                          <m:t>=</m:t>
                        </m:r>
                        <m:r>
                          <a:rPr lang="en-US" altLang="zh-CN" sz="1600" i="1" dirty="0">
                            <a:latin typeface="Cambria Math" panose="02040503050406030204" pitchFamily="18" charset="0"/>
                          </a:rPr>
                          <m:t>ℎ</m:t>
                        </m:r>
                      </m:e>
                    </m:d>
                  </m:oMath>
                </a14:m>
                <a:r>
                  <a:rPr lang="zh-CN" altLang="en-US" sz="1600" dirty="0">
                    <a:latin typeface="+mn-ea"/>
                  </a:rPr>
                  <a:t>：</a:t>
                </a:r>
                <a:endParaRPr lang="en-US" altLang="zh-CN" sz="1600" dirty="0">
                  <a:latin typeface="+mn-ea"/>
                </a:endParaRPr>
              </a:p>
              <a:p>
                <a:pPr/>
                <a14:m>
                  <m:oMathPara xmlns:m="http://schemas.openxmlformats.org/officeDocument/2006/math">
                    <m:oMath>
                      <m:sSubSup>
                        <m:sSubSupPr>
                          <m:ctrlPr>
                            <a:rPr lang="zh-CN" altLang="en-US" sz="1600" b="1" i="1" dirty="0">
                              <a:latin typeface="Cambria Math" panose="02040503050406030204" pitchFamily="18" charset="0"/>
                            </a:rPr>
                          </m:ctrlPr>
                        </m:sSubSupPr>
                        <m:e>
                          <m:acc>
                            <m:accPr>
                              <m:chr m:val="̂"/>
                              <m:ctrlPr>
                                <a:rPr lang="zh-CN" altLang="en-US" sz="1600" b="1" i="1" dirty="0">
                                  <a:latin typeface="Cambria Math" panose="02040503050406030204" pitchFamily="18" charset="0"/>
                                </a:rPr>
                              </m:ctrlPr>
                            </m:accPr>
                            <m:e>
                              <m:r>
                                <a:rPr lang="zh-CN" altLang="en-US" sz="1600" b="1" i="1" dirty="0">
                                  <a:latin typeface="Cambria Math" panose="02040503050406030204" pitchFamily="18" charset="0"/>
                                </a:rPr>
                                <m:t>𝓙</m:t>
                              </m:r>
                            </m:e>
                          </m:acc>
                        </m:e>
                        <m:sub>
                          <m:r>
                            <a:rPr lang="en-US" altLang="zh-CN" sz="1600" i="1" dirty="0">
                              <a:latin typeface="Cambria Math" panose="02040503050406030204" pitchFamily="18" charset="0"/>
                            </a:rPr>
                            <m:t>𝑖</m:t>
                          </m:r>
                        </m:sub>
                        <m:sup>
                          <m:r>
                            <a:rPr lang="en-US" altLang="zh-CN" sz="1600" i="1" dirty="0">
                              <a:latin typeface="Cambria Math" panose="02040503050406030204" pitchFamily="18" charset="0"/>
                            </a:rPr>
                            <m:t>𝑠𝑖𝑛𝑔𝑙𝑒</m:t>
                          </m:r>
                        </m:sup>
                      </m:sSubSup>
                      <m:d>
                        <m:dPr>
                          <m:ctrlPr>
                            <a:rPr lang="en-US" altLang="zh-CN" sz="1600" b="1" dirty="0">
                              <a:latin typeface="Cambria Math" panose="02040503050406030204" pitchFamily="18" charset="0"/>
                            </a:rPr>
                          </m:ctrlPr>
                        </m:dPr>
                        <m:e>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f>
                        <m:fPr>
                          <m:ctrlPr>
                            <a:rPr lang="en-US" altLang="zh-CN" sz="1600" i="1" dirty="0">
                              <a:latin typeface="Cambria Math" panose="02040503050406030204" pitchFamily="18" charset="0"/>
                            </a:rPr>
                          </m:ctrlPr>
                        </m:fPr>
                        <m:num>
                          <m:sSub>
                            <m:sSubPr>
                              <m:ctrlPr>
                                <a:rPr lang="en-US" altLang="zh-CN" sz="1600" dirty="0">
                                  <a:latin typeface="Cambria Math" panose="02040503050406030204" pitchFamily="18" charset="0"/>
                                </a:rPr>
                              </m:ctrlPr>
                            </m:sSubPr>
                            <m:e>
                              <m:r>
                                <m:rPr>
                                  <m:sty m:val="p"/>
                                </m:rPr>
                                <a:rPr lang="en-US" altLang="zh-CN" sz="1600" dirty="0">
                                  <a:latin typeface="Cambria Math" panose="02040503050406030204" pitchFamily="18" charset="0"/>
                                </a:rPr>
                                <m:t>Φ</m:t>
                              </m:r>
                            </m:e>
                            <m:sub>
                              <m:r>
                                <m:rPr>
                                  <m:sty m:val="p"/>
                                </m:rPr>
                                <a:rPr lang="en-US" altLang="zh-CN" sz="1600" dirty="0">
                                  <a:latin typeface="Cambria Math" panose="02040503050406030204" pitchFamily="18" charset="0"/>
                                </a:rPr>
                                <m:t>i</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b="0" i="1" dirty="0" smtClean="0">
                                      <a:latin typeface="Cambria Math" panose="02040503050406030204" pitchFamily="18" charset="0"/>
                                    </a:rPr>
                                    <m:t>ℎ</m:t>
                                  </m:r>
                                </m:sub>
                              </m:sSub>
                            </m:e>
                          </m:d>
                          <m:r>
                            <a:rPr lang="en-US" altLang="zh-CN" sz="1600" i="1" dirty="0">
                              <a:solidFill>
                                <a:srgbClr val="FF0000"/>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b="0" i="1" smtClean="0">
                                      <a:latin typeface="Cambria Math" panose="02040503050406030204" pitchFamily="18" charset="0"/>
                                    </a:rPr>
                                    <m:t>ℎ</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𝑐</m:t>
                              </m:r>
                            </m:e>
                            <m:sub>
                              <m:r>
                                <a:rPr lang="en-US" altLang="zh-CN" sz="1600" i="1" dirty="0">
                                  <a:latin typeface="Cambria Math" panose="02040503050406030204" pitchFamily="18" charset="0"/>
                                </a:rPr>
                                <m:t>ℎ</m:t>
                              </m:r>
                            </m:sub>
                          </m:sSub>
                          <m:r>
                            <a:rPr lang="en-US" altLang="zh-CN" sz="1600" b="0" i="1" dirty="0" smtClean="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𝑞</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m:t>
                              </m:r>
                              <m:r>
                                <a:rPr lang="en-US" altLang="zh-CN" sz="1600" i="1" dirty="0">
                                  <a:latin typeface="Cambria Math" panose="02040503050406030204" pitchFamily="18" charset="0"/>
                                </a:rPr>
                                <m:t>ℎ</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smtClean="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b="0" i="1" dirty="0" smtClean="0">
                                      <a:latin typeface="Cambria Math" panose="02040503050406030204" pitchFamily="18" charset="0"/>
                                    </a:rPr>
                                    <m:t>ℎ</m:t>
                                  </m:r>
                                </m:sub>
                              </m:sSub>
                            </m:e>
                          </m:d>
                        </m:den>
                      </m:f>
                    </m:oMath>
                  </m:oMathPara>
                </a14:m>
                <a:endParaRPr lang="en-US" altLang="zh-CN" sz="1600" b="0" dirty="0">
                  <a:latin typeface="+mn-ea"/>
                </a:endParaRPr>
              </a:p>
              <a:p>
                <a:pPr>
                  <a:spcBef>
                    <a:spcPts val="800"/>
                  </a:spcBef>
                </a:pPr>
                <a:r>
                  <a:rPr lang="en-US" altLang="zh-CN" sz="1600" dirty="0">
                    <a:latin typeface="+mn-ea"/>
                  </a:rPr>
                  <a:t>         </a:t>
                </a:r>
                <a:r>
                  <a:rPr lang="zh-CN" altLang="en-US" sz="1600" dirty="0">
                    <a:latin typeface="+mn-ea"/>
                  </a:rPr>
                  <a:t>支持域完全分离时，估计器将退化为对</a:t>
                </a:r>
                <a:r>
                  <a:rPr lang="en-US" altLang="zh-CN" sz="1600" dirty="0">
                    <a:latin typeface="+mn-ea"/>
                  </a:rPr>
                  <a:t>packet</a:t>
                </a:r>
                <a:r>
                  <a:rPr lang="zh-CN" altLang="en-US" sz="1600" dirty="0">
                    <a:latin typeface="+mn-ea"/>
                  </a:rPr>
                  <a:t>中单个波长的估计。</a:t>
                </a:r>
                <a:endParaRPr lang="en-US" altLang="zh-CN" sz="1600" dirty="0">
                  <a:latin typeface="+mn-ea"/>
                </a:endParaRPr>
              </a:p>
              <a:p>
                <a:r>
                  <a:rPr lang="en-US" altLang="zh-CN" sz="1600" dirty="0">
                    <a:latin typeface="+mn-ea"/>
                  </a:rPr>
                  <a:t>         </a:t>
                </a:r>
                <a:r>
                  <a:rPr lang="zh-CN" altLang="en-US" sz="1600" dirty="0">
                    <a:latin typeface="+mn-ea"/>
                  </a:rPr>
                  <a:t>当</a:t>
                </a:r>
                <a:r>
                  <a:rPr lang="en-US" altLang="zh-CN" sz="1600" dirty="0">
                    <a:latin typeface="+mn-ea"/>
                  </a:rPr>
                  <a:t>H</a:t>
                </a:r>
                <a:r>
                  <a:rPr lang="zh-CN" altLang="en-US" sz="1600" dirty="0">
                    <a:latin typeface="+mn-ea"/>
                  </a:rPr>
                  <a:t>采样自均匀分布时，即</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𝑐</m:t>
                        </m:r>
                      </m:e>
                      <m:sub>
                        <m:r>
                          <a:rPr lang="en-US" altLang="zh-CN" sz="1600" b="0" i="1" dirty="0" smtClean="0">
                            <a:latin typeface="Cambria Math" panose="02040503050406030204" pitchFamily="18" charset="0"/>
                          </a:rPr>
                          <m:t>𝑘</m:t>
                        </m:r>
                      </m:sub>
                    </m:sSub>
                    <m:r>
                      <a:rPr lang="en-US" altLang="zh-CN" sz="1600" b="0" i="1" dirty="0" smtClean="0">
                        <a:latin typeface="Cambria Math" panose="02040503050406030204" pitchFamily="18" charset="0"/>
                      </a:rPr>
                      <m:t>=</m:t>
                    </m:r>
                    <m:f>
                      <m:fPr>
                        <m:ctrlPr>
                          <a:rPr lang="en-US" altLang="zh-CN" sz="1600" b="0" i="1" dirty="0" smtClean="0">
                            <a:latin typeface="Cambria Math" panose="02040503050406030204" pitchFamily="18" charset="0"/>
                          </a:rPr>
                        </m:ctrlPr>
                      </m:fPr>
                      <m:num>
                        <m:r>
                          <a:rPr lang="en-US" altLang="zh-CN" sz="1600" b="0" i="1" dirty="0" smtClean="0">
                            <a:latin typeface="Cambria Math" panose="02040503050406030204" pitchFamily="18" charset="0"/>
                          </a:rPr>
                          <m:t>1</m:t>
                        </m:r>
                      </m:num>
                      <m:den>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𝑁</m:t>
                            </m:r>
                          </m:e>
                          <m:sub>
                            <m:r>
                              <a:rPr lang="en-US" altLang="zh-CN" sz="1600" b="0" i="1" dirty="0" smtClean="0">
                                <a:latin typeface="Cambria Math" panose="02040503050406030204" pitchFamily="18" charset="0"/>
                              </a:rPr>
                              <m:t>𝜆</m:t>
                            </m:r>
                          </m:sub>
                        </m:sSub>
                      </m:den>
                    </m:f>
                  </m:oMath>
                </a14:m>
                <a:r>
                  <a:rPr lang="zh-CN" altLang="en-US" sz="1600" dirty="0">
                    <a:latin typeface="+mn-ea"/>
                  </a:rPr>
                  <a:t>，单样本</a:t>
                </a:r>
                <a:r>
                  <a:rPr lang="en-US" altLang="zh-CN" sz="1600" dirty="0">
                    <a:latin typeface="+mn-ea"/>
                  </a:rPr>
                  <a:t>MIS</a:t>
                </a:r>
                <a:r>
                  <a:rPr lang="zh-CN" altLang="en-US" sz="1600" dirty="0">
                    <a:latin typeface="+mn-ea"/>
                  </a:rPr>
                  <a:t>估计器自动退化为标准单波长估计器。</a:t>
                </a:r>
                <a:endParaRPr lang="en-US" altLang="zh-CN" sz="1600" dirty="0">
                  <a:latin typeface="+mn-ea"/>
                </a:endParaRPr>
              </a:p>
            </p:txBody>
          </p:sp>
        </mc:Choice>
        <mc:Fallback xmlns="">
          <p:sp>
            <p:nvSpPr>
              <p:cNvPr id="4" name="文本框 3">
                <a:extLst>
                  <a:ext uri="{FF2B5EF4-FFF2-40B4-BE49-F238E27FC236}">
                    <a16:creationId xmlns:a16="http://schemas.microsoft.com/office/drawing/2014/main" id="{3A792B4C-F0FB-884E-C136-242C2502369E}"/>
                  </a:ext>
                </a:extLst>
              </p:cNvPr>
              <p:cNvSpPr txBox="1">
                <a:spLocks noRot="1" noChangeAspect="1" noMove="1" noResize="1" noEditPoints="1" noAdjustHandles="1" noChangeArrowheads="1" noChangeShapeType="1" noTextEdit="1"/>
              </p:cNvSpPr>
              <p:nvPr/>
            </p:nvSpPr>
            <p:spPr>
              <a:xfrm>
                <a:off x="5325415" y="1172641"/>
                <a:ext cx="6709892" cy="5378908"/>
              </a:xfrm>
              <a:prstGeom prst="rect">
                <a:avLst/>
              </a:prstGeom>
              <a:blipFill>
                <a:blip r:embed="rId2"/>
                <a:stretch>
                  <a:fillRect l="-545" t="-34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02EB573-5477-349B-C67A-B49A5645252A}"/>
                  </a:ext>
                </a:extLst>
              </p:cNvPr>
              <p:cNvSpPr txBox="1"/>
              <p:nvPr/>
            </p:nvSpPr>
            <p:spPr>
              <a:xfrm>
                <a:off x="-321973" y="1375288"/>
                <a:ext cx="5776175" cy="4587603"/>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b="0" i="1"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 ~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𝑞</m:t>
                          </m:r>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sz="1800" b="0" i="1" dirty="0" smtClean="0">
                              <a:latin typeface="Cambria Math" panose="02040503050406030204" pitchFamily="18" charset="0"/>
                            </a:rPr>
                          </m:ctrlPr>
                        </m:dPr>
                        <m:e>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sz="1800" b="0" i="1" dirty="0" smtClean="0">
                              <a:latin typeface="Cambria Math" panose="02040503050406030204" pitchFamily="18" charset="0"/>
                            </a:rPr>
                            <m:t>|</m:t>
                          </m:r>
                          <m:r>
                            <a:rPr lang="en-US" altLang="zh-CN" sz="1800" b="1" i="0" dirty="0" smtClean="0">
                              <a:latin typeface="Cambria Math" panose="02040503050406030204" pitchFamily="18" charset="0"/>
                            </a:rPr>
                            <m:t>𝛌</m:t>
                          </m:r>
                        </m:e>
                      </m:d>
                    </m:oMath>
                  </m:oMathPara>
                </a14:m>
                <a:endParaRPr lang="en-US" altLang="zh-CN" b="1" i="1" dirty="0">
                  <a:latin typeface="Cambria Math" panose="02040503050406030204" pitchFamily="18" charset="0"/>
                </a:endParaRPr>
              </a:p>
              <a:p>
                <a:pPr>
                  <a:lnSpc>
                    <a:spcPct val="150000"/>
                  </a:lnSpc>
                </a:pPr>
                <a14:m>
                  <m:oMathPara xmlns:m="http://schemas.openxmlformats.org/officeDocument/2006/math">
                    <m:oMath>
                      <m:borderBox>
                        <m:borderBoxPr>
                          <m:ctrlPr>
                            <a:rPr lang="zh-CN" altLang="en-US" b="1" i="1" dirty="0">
                              <a:latin typeface="Cambria Math" panose="02040503050406030204" pitchFamily="18" charset="0"/>
                            </a:rPr>
                          </m:ctrlPr>
                        </m:borderBox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borderBox>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nary>
                        <m:naryPr>
                          <m:chr m:val="∑"/>
                          <m:supHide m:val="on"/>
                          <m:ctrlPr>
                            <a:rPr lang="en-US" altLang="zh-CN" b="0" i="1" dirty="0" smtClean="0">
                              <a:latin typeface="Cambria Math" panose="02040503050406030204" pitchFamily="18" charset="0"/>
                            </a:rPr>
                          </m:ctrlPr>
                        </m:naryPr>
                        <m:sub>
                          <m:r>
                            <a:rPr lang="en-US" altLang="zh-CN" b="0" i="1" dirty="0" smtClean="0">
                              <a:latin typeface="Cambria Math" panose="02040503050406030204" pitchFamily="18" charset="0"/>
                            </a:rPr>
                            <m:t>𝑘</m:t>
                          </m:r>
                          <m:r>
                            <m:rPr>
                              <m:brk m:alnAt="7"/>
                            </m:rP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m:rPr>
                                  <m:brk m:alnAt="7"/>
                                </m:rPr>
                                <a:rPr lang="en-US" altLang="zh-CN" b="0" i="1" dirty="0" smtClean="0">
                                  <a:latin typeface="Cambria Math" panose="02040503050406030204" pitchFamily="18" charset="0"/>
                                </a:rPr>
                                <m:t>𝑐</m:t>
                              </m:r>
                            </m:e>
                            <m:sub>
                              <m:r>
                                <m:rPr>
                                  <m:brk m:alnAt="7"/>
                                </m:rPr>
                                <a:rPr lang="en-US" altLang="zh-CN" b="0" i="1" dirty="0" smtClean="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rPr>
                            <m:t>&gt;0</m:t>
                          </m:r>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sub>
                              </m:sSub>
                            </m:e>
                          </m:d>
                        </m:e>
                      </m:nary>
                      <m:r>
                        <a:rPr lang="en-US" altLang="zh-CN" b="0" i="1" dirty="0" smtClean="0">
                          <a:latin typeface="Cambria Math" panose="02040503050406030204" pitchFamily="18" charset="0"/>
                        </a:rPr>
                        <m:t>=1</m:t>
                      </m:r>
                    </m:oMath>
                  </m:oMathPara>
                </a14:m>
                <a:endParaRPr lang="en-US" altLang="zh-CN" sz="1800"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m:rPr>
                              <m:brk m:alnAt="7"/>
                            </m:rPr>
                            <a:rPr lang="en-US" altLang="zh-CN" i="1" dirty="0">
                              <a:latin typeface="Cambria Math" panose="02040503050406030204" pitchFamily="18" charset="0"/>
                            </a:rPr>
                            <m:t>𝑐</m:t>
                          </m:r>
                        </m:e>
                        <m:sub>
                          <m:r>
                            <m:rPr>
                              <m:brk m:alnAt="7"/>
                            </m:rPr>
                            <a:rPr lang="en-US" altLang="zh-CN" i="1" dirty="0">
                              <a:latin typeface="Cambria Math" panose="02040503050406030204" pitchFamily="18" charset="0"/>
                            </a:rPr>
                            <m:t>𝑘</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=0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𝑤</m:t>
                          </m:r>
                        </m:e>
                        <m:sub>
                          <m:r>
                            <a:rPr lang="en-US" altLang="zh-CN" b="0" i="1" dirty="0" smtClean="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=0</m:t>
                      </m:r>
                    </m:oMath>
                  </m:oMathPara>
                </a14:m>
                <a:endParaRPr lang="en-US" altLang="zh-CN" sz="1800" dirty="0">
                  <a:latin typeface="Cambria Math" panose="02040503050406030204" pitchFamily="18" charset="0"/>
                </a:endParaRPr>
              </a:p>
              <a:p>
                <a:pPr>
                  <a:lnSpc>
                    <a:spcPct val="120000"/>
                  </a:lnSpc>
                </a:pPr>
                <a:endParaRPr lang="en-US" altLang="zh-CN" dirty="0">
                  <a:latin typeface="Cambria Math" panose="02040503050406030204" pitchFamily="18" charset="0"/>
                </a:endParaRPr>
              </a:p>
              <a:p>
                <a:pPr>
                  <a:lnSpc>
                    <a:spcPct val="120000"/>
                  </a:lnSpc>
                </a:pPr>
                <a:r>
                  <a:rPr lang="zh-CN" altLang="en-US" dirty="0">
                    <a:latin typeface="Cambria Math" panose="02040503050406030204" pitchFamily="18" charset="0"/>
                  </a:rPr>
                  <a:t>         这里的权重函数可以写成抽象启发式函数的形式：</a:t>
                </a:r>
                <a:endParaRPr lang="en-US" altLang="zh-CN" dirty="0">
                  <a:latin typeface="Cambria Math" panose="02040503050406030204" pitchFamily="18" charset="0"/>
                </a:endParaRPr>
              </a:p>
              <a:p>
                <a:pPr>
                  <a:lnSpc>
                    <a:spcPct val="120000"/>
                  </a:lnSpc>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𝑘</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𝑆</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𝑘</m:t>
                          </m:r>
                          <m:r>
                            <a:rPr lang="en-US" altLang="zh-CN" b="0" i="1" dirty="0" smtClean="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𝑁</m:t>
                                  </m:r>
                                </m:e>
                                <m:sub>
                                  <m:r>
                                    <a:rPr lang="en-US" altLang="zh-CN" b="0" i="1" dirty="0" smtClean="0">
                                      <a:latin typeface="Cambria Math" panose="02040503050406030204" pitchFamily="18" charset="0"/>
                                      <a:ea typeface="Cambria Math" panose="02040503050406030204" pitchFamily="18" charset="0"/>
                                    </a:rPr>
                                    <m:t>𝜆</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sz="1800" dirty="0">
                  <a:latin typeface="Cambria Math" panose="02040503050406030204" pitchFamily="18" charset="0"/>
                </a:endParaRPr>
              </a:p>
              <a:p>
                <a:pPr>
                  <a:lnSpc>
                    <a:spcPct val="120000"/>
                  </a:lnSpc>
                  <a:spcBef>
                    <a:spcPts val="800"/>
                  </a:spcBef>
                </a:pPr>
                <a:r>
                  <a:rPr lang="zh-CN" altLang="en-US" dirty="0">
                    <a:latin typeface="Cambria Math" panose="02040503050406030204" pitchFamily="18" charset="0"/>
                  </a:rPr>
                  <a:t>         另外，选中的</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𝜆</m:t>
                        </m:r>
                      </m:e>
                      <m:sub>
                        <m:r>
                          <a:rPr lang="en-US" altLang="zh-CN" i="1" dirty="0">
                            <a:latin typeface="Cambria Math" panose="02040503050406030204" pitchFamily="18" charset="0"/>
                          </a:rPr>
                          <m:t>𝐻</m:t>
                        </m:r>
                      </m:sub>
                    </m:sSub>
                  </m:oMath>
                </a14:m>
                <a:r>
                  <a:rPr lang="zh-CN" altLang="en-US" dirty="0">
                    <a:latin typeface="Cambria Math" panose="02040503050406030204" pitchFamily="18" charset="0"/>
                  </a:rPr>
                  <a:t>则成为</a:t>
                </a:r>
                <a:r>
                  <a:rPr lang="en-US" altLang="zh-CN" dirty="0">
                    <a:latin typeface="Cambria Math" panose="02040503050406030204" pitchFamily="18" charset="0"/>
                  </a:rPr>
                  <a:t>Hero Wavelength</a:t>
                </a:r>
                <a:r>
                  <a:rPr lang="zh-CN" altLang="en-US" dirty="0">
                    <a:latin typeface="Cambria Math" panose="02040503050406030204" pitchFamily="18" charset="0"/>
                  </a:rPr>
                  <a:t>。</a:t>
                </a:r>
                <a:endParaRPr lang="en-US" altLang="zh-CN" sz="1800" dirty="0">
                  <a:latin typeface="Cambria Math" panose="02040503050406030204" pitchFamily="18" charset="0"/>
                </a:endParaRPr>
              </a:p>
            </p:txBody>
          </p:sp>
        </mc:Choice>
        <mc:Fallback xmlns="">
          <p:sp>
            <p:nvSpPr>
              <p:cNvPr id="8" name="文本框 7">
                <a:extLst>
                  <a:ext uri="{FF2B5EF4-FFF2-40B4-BE49-F238E27FC236}">
                    <a16:creationId xmlns:a16="http://schemas.microsoft.com/office/drawing/2014/main" id="{602EB573-5477-349B-C67A-B49A5645252A}"/>
                  </a:ext>
                </a:extLst>
              </p:cNvPr>
              <p:cNvSpPr txBox="1">
                <a:spLocks noRot="1" noChangeAspect="1" noMove="1" noResize="1" noEditPoints="1" noAdjustHandles="1" noChangeArrowheads="1" noChangeShapeType="1" noTextEdit="1"/>
              </p:cNvSpPr>
              <p:nvPr/>
            </p:nvSpPr>
            <p:spPr>
              <a:xfrm>
                <a:off x="-321973" y="1375288"/>
                <a:ext cx="5776175" cy="4587603"/>
              </a:xfrm>
              <a:prstGeom prst="rect">
                <a:avLst/>
              </a:prstGeom>
              <a:blipFill>
                <a:blip r:embed="rId3"/>
                <a:stretch>
                  <a:fillRect l="-844" t="-532" r="-211" b="-11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556967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65A9-A82F-9A26-7948-050CD4D703F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2110071-1EFA-6234-4363-E020ED455F46}"/>
              </a:ext>
            </a:extLst>
          </p:cNvPr>
          <p:cNvSpPr>
            <a:spLocks noGrp="1"/>
          </p:cNvSpPr>
          <p:nvPr>
            <p:ph type="title" idx="1"/>
          </p:nvPr>
        </p:nvSpPr>
        <p:spPr/>
        <p:txBody>
          <a:bodyPr/>
          <a:lstStyle/>
          <a:p>
            <a:r>
              <a:rPr lang="zh-CN" altLang="en-US" dirty="0"/>
              <a:t>光谱路径追踪  </a:t>
            </a:r>
            <a:r>
              <a:rPr lang="en-US" altLang="zh-CN" dirty="0"/>
              <a:t>——  Hero</a:t>
            </a:r>
            <a:r>
              <a:rPr lang="zh-CN" altLang="en-US" dirty="0"/>
              <a:t>的隐式选择</a:t>
            </a:r>
          </a:p>
        </p:txBody>
      </p:sp>
      <mc:AlternateContent xmlns:mc="http://schemas.openxmlformats.org/markup-compatibility/2006">
        <mc:Choice xmlns:a14="http://schemas.microsoft.com/office/drawing/2010/main" Requires="a14">
          <p:sp>
            <p:nvSpPr>
              <p:cNvPr id="32" name="文本框 31">
                <a:extLst>
                  <a:ext uri="{FF2B5EF4-FFF2-40B4-BE49-F238E27FC236}">
                    <a16:creationId xmlns:a16="http://schemas.microsoft.com/office/drawing/2014/main" id="{64FB5EFE-30EA-9F1B-F35F-C18858002F07}"/>
                  </a:ext>
                </a:extLst>
              </p:cNvPr>
              <p:cNvSpPr txBox="1"/>
              <p:nvPr/>
            </p:nvSpPr>
            <p:spPr>
              <a:xfrm>
                <a:off x="134720" y="1313006"/>
                <a:ext cx="6342846" cy="4929747"/>
              </a:xfrm>
              <a:prstGeom prst="rect">
                <a:avLst/>
              </a:prstGeom>
              <a:noFill/>
            </p:spPr>
            <p:txBody>
              <a:bodyPr wrap="square">
                <a:spAutoFit/>
              </a:bodyPr>
              <a:lstStyle/>
              <a:p>
                <a:pPr/>
                <a14:m>
                  <m:oMathPara xmlns:m="http://schemas.openxmlformats.org/officeDocument/2006/math">
                    <m:oMath>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𝐶𝑎𝑡𝑒𝑔𝑜𝑟𝑖𝑐𝑎𝑙</m:t>
                      </m:r>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r>
                                <a:rPr lang="en-US" altLang="zh-CN" b="0" i="1" dirty="0" smtClean="0">
                                  <a:latin typeface="Cambria Math" panose="02040503050406030204" pitchFamily="18" charset="0"/>
                                </a:rPr>
                                <m:t>2</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e>
                      </m:d>
                    </m:oMath>
                  </m:oMathPara>
                </a14:m>
                <a:endParaRPr lang="en-US" altLang="zh-CN" i="1" dirty="0">
                  <a:latin typeface="+mn-ea"/>
                </a:endParaRPr>
              </a:p>
              <a:p>
                <a:r>
                  <a:rPr lang="en-US" altLang="zh-CN" dirty="0">
                    <a:latin typeface="+mn-ea"/>
                  </a:rPr>
                  <a:t>         Hero Wavelength</a:t>
                </a:r>
                <a:r>
                  <a:rPr lang="zh-CN" altLang="en-US" dirty="0">
                    <a:latin typeface="+mn-ea"/>
                  </a:rPr>
                  <a:t>的选择取决于</a:t>
                </a:r>
                <a:r>
                  <a:rPr lang="en-US" altLang="zh-CN" dirty="0">
                    <a:latin typeface="+mn-ea"/>
                  </a:rPr>
                  <a:t>Packet</a:t>
                </a:r>
                <a:r>
                  <a:rPr lang="zh-CN" altLang="en-US" dirty="0">
                    <a:latin typeface="+mn-ea"/>
                  </a:rPr>
                  <a:t>每个槽位被选择的概率</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b="0" i="1" dirty="0" smtClean="0">
                            <a:latin typeface="Cambria Math" panose="02040503050406030204" pitchFamily="18" charset="0"/>
                          </a:rPr>
                          <m:t>𝑘</m:t>
                        </m:r>
                      </m:sub>
                    </m:sSub>
                  </m:oMath>
                </a14:m>
                <a:r>
                  <a:rPr lang="zh-CN" altLang="en-US" b="0" dirty="0">
                    <a:latin typeface="+mn-ea"/>
                  </a:rPr>
                  <a:t>。</a:t>
                </a:r>
                <a:endParaRPr lang="en-US" altLang="zh-CN" b="0" dirty="0">
                  <a:latin typeface="+mn-ea"/>
                </a:endParaRPr>
              </a:p>
              <a:p>
                <a:r>
                  <a:rPr lang="en-US" altLang="zh-CN" dirty="0">
                    <a:latin typeface="+mn-ea"/>
                  </a:rPr>
                  <a:t>         </a:t>
                </a:r>
                <a:r>
                  <a:rPr lang="zh-CN" altLang="en-US" dirty="0">
                    <a:latin typeface="+mn-ea"/>
                  </a:rPr>
                  <a:t>为了简化选择</a:t>
                </a:r>
                <a:r>
                  <a:rPr lang="en-US" altLang="zh-CN" dirty="0">
                    <a:latin typeface="+mn-ea"/>
                  </a:rPr>
                  <a:t>Hero</a:t>
                </a:r>
                <a:r>
                  <a:rPr lang="zh-CN" altLang="en-US" dirty="0">
                    <a:latin typeface="+mn-ea"/>
                  </a:rPr>
                  <a:t>的过程，我们可以固定</a:t>
                </a:r>
                <a:r>
                  <a:rPr lang="en-US" altLang="zh-CN" dirty="0">
                    <a:latin typeface="+mn-ea"/>
                  </a:rPr>
                  <a:t>packet</a:t>
                </a:r>
                <a:r>
                  <a:rPr lang="zh-CN" altLang="en-US" dirty="0">
                    <a:latin typeface="+mn-ea"/>
                  </a:rPr>
                  <a:t>中</a:t>
                </a:r>
                <a:r>
                  <a:rPr lang="en-US" altLang="zh-CN" dirty="0">
                    <a:latin typeface="+mn-ea"/>
                  </a:rPr>
                  <a:t>index=0</a:t>
                </a:r>
                <a:r>
                  <a:rPr lang="zh-CN" altLang="en-US" dirty="0">
                    <a:latin typeface="+mn-ea"/>
                  </a:rPr>
                  <a:t>的槽位为</a:t>
                </a:r>
                <a:r>
                  <a:rPr lang="en-US" altLang="zh-CN" dirty="0">
                    <a:latin typeface="+mn-ea"/>
                  </a:rPr>
                  <a:t>Hero</a:t>
                </a:r>
                <a:r>
                  <a:rPr lang="zh-CN" altLang="en-US" dirty="0">
                    <a:latin typeface="+mn-ea"/>
                  </a:rPr>
                  <a:t>，也就是始终让</a:t>
                </a:r>
                <a:r>
                  <a:rPr lang="en-US" altLang="zh-CN" dirty="0">
                    <a:latin typeface="+mn-ea"/>
                  </a:rPr>
                  <a:t>packet</a:t>
                </a:r>
                <a:r>
                  <a:rPr lang="zh-CN" altLang="en-US" dirty="0">
                    <a:latin typeface="+mn-ea"/>
                  </a:rPr>
                  <a:t>中的第一个波长作为</a:t>
                </a:r>
                <a:r>
                  <a:rPr lang="en-US" altLang="zh-CN" dirty="0">
                    <a:latin typeface="+mn-ea"/>
                  </a:rPr>
                  <a:t>Hero</a:t>
                </a:r>
                <a:r>
                  <a:rPr lang="zh-CN" altLang="en-US" dirty="0">
                    <a:latin typeface="+mn-ea"/>
                  </a:rPr>
                  <a:t>。</a:t>
                </a:r>
                <a:endParaRPr lang="en-US" altLang="zh-CN" dirty="0">
                  <a:latin typeface="+mn-ea"/>
                </a:endParaRPr>
              </a:p>
              <a:p>
                <a:r>
                  <a:rPr lang="en-US" altLang="zh-CN" b="0" dirty="0">
                    <a:latin typeface="+mn-ea"/>
                  </a:rPr>
                  <a:t>         </a:t>
                </a:r>
                <a:r>
                  <a:rPr lang="zh-CN" altLang="en-US" b="0" dirty="0">
                    <a:latin typeface="+mn-ea"/>
                  </a:rPr>
                  <a:t>由于单样本</a:t>
                </a:r>
                <a:r>
                  <a:rPr lang="en-US" altLang="zh-CN" b="0" dirty="0">
                    <a:latin typeface="+mn-ea"/>
                  </a:rPr>
                  <a:t>MIS</a:t>
                </a:r>
                <a:r>
                  <a:rPr lang="zh-CN" altLang="en-US" b="0" dirty="0">
                    <a:latin typeface="+mn-ea"/>
                  </a:rPr>
                  <a:t>估计器的无偏 一般需要每个波长都可能作为</a:t>
                </a:r>
                <a:r>
                  <a:rPr lang="en-US" altLang="zh-CN" b="0" dirty="0">
                    <a:latin typeface="+mn-ea"/>
                  </a:rPr>
                  <a:t>Hero</a:t>
                </a:r>
                <a:r>
                  <a:rPr lang="zh-CN" altLang="en-US" b="0" dirty="0">
                    <a:latin typeface="+mn-ea"/>
                  </a:rPr>
                  <a:t>，但看这种</a:t>
                </a:r>
                <a:r>
                  <a:rPr lang="en-US" altLang="zh-CN" b="0" dirty="0">
                    <a:latin typeface="+mn-ea"/>
                  </a:rPr>
                  <a:t>index=0</a:t>
                </a:r>
                <a:r>
                  <a:rPr lang="zh-CN" altLang="en-US" b="0" dirty="0">
                    <a:latin typeface="+mn-ea"/>
                  </a:rPr>
                  <a:t>的选择方式似乎并不满足要求。</a:t>
                </a:r>
                <a:endParaRPr lang="en-US" altLang="zh-CN" b="0" dirty="0">
                  <a:latin typeface="+mn-ea"/>
                </a:endParaRPr>
              </a:p>
              <a:p>
                <a:r>
                  <a:rPr lang="en-US" altLang="zh-CN" dirty="0">
                    <a:latin typeface="+mn-ea"/>
                  </a:rPr>
                  <a:t>         </a:t>
                </a:r>
                <a:r>
                  <a:rPr lang="zh-CN" altLang="en-US" dirty="0">
                    <a:latin typeface="+mn-ea"/>
                  </a:rPr>
                  <a:t>不过我们可以回顾一下</a:t>
                </a:r>
                <a:r>
                  <a:rPr lang="en-US" altLang="zh-CN" dirty="0">
                    <a:latin typeface="+mn-ea"/>
                  </a:rPr>
                  <a:t>Wavelength Packet</a:t>
                </a:r>
                <a:r>
                  <a:rPr lang="zh-CN" altLang="en-US" dirty="0">
                    <a:latin typeface="+mn-ea"/>
                  </a:rPr>
                  <a:t>的采样过程：</a:t>
                </a:r>
                <a:endParaRPr lang="en-US" altLang="zh-CN" dirty="0">
                  <a:latin typeface="+mn-ea"/>
                </a:endParaRPr>
              </a:p>
              <a:p>
                <a:pPr/>
                <a14:m>
                  <m:oMathPara xmlns:m="http://schemas.openxmlformats.org/officeDocument/2006/math">
                    <m:oMath>
                      <m:r>
                        <a:rPr lang="en-US" altLang="zh-CN" b="0" i="1" dirty="0" smtClean="0">
                          <a:latin typeface="Cambria Math" panose="02040503050406030204" pitchFamily="18" charset="0"/>
                        </a:rPr>
                        <m:t>𝑈</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𝑈</m:t>
                      </m:r>
                      <m:d>
                        <m:dPr>
                          <m:beg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0,1</m:t>
                          </m:r>
                        </m:e>
                      </m:d>
                      <m:r>
                        <a:rPr lang="en-US" altLang="zh-CN" b="0" i="1" dirty="0" smtClean="0">
                          <a:latin typeface="Cambria Math" panose="02040503050406030204" pitchFamily="18" charset="0"/>
                        </a:rPr>
                        <m:t>,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𝑈</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𝑈</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𝑖</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den>
                          </m:f>
                        </m:e>
                      </m:d>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𝑚𝑜𝑑</m:t>
                      </m:r>
                      <m:r>
                        <a:rPr lang="en-US" altLang="zh-CN" b="0" i="1" dirty="0" smtClean="0">
                          <a:latin typeface="Cambria Math" panose="02040503050406030204" pitchFamily="18" charset="0"/>
                        </a:rPr>
                        <m:t> 1,  </m:t>
                      </m:r>
                      <m:sSub>
                        <m:sSubPr>
                          <m:ctrlPr>
                            <a:rPr lang="en-US" altLang="zh-CN" b="0" i="0" dirty="0" smtClean="0">
                              <a:latin typeface="Cambria Math" panose="02040503050406030204" pitchFamily="18" charset="0"/>
                            </a:rPr>
                          </m:ctrlPr>
                        </m:sSubPr>
                        <m:e>
                          <m:r>
                            <m:rPr>
                              <m:sty m:val="p"/>
                            </m:rPr>
                            <a:rPr lang="en-US" altLang="zh-CN" b="0" i="0" dirty="0" smtClean="0">
                              <a:latin typeface="Cambria Math" panose="02040503050406030204" pitchFamily="18" charset="0"/>
                            </a:rPr>
                            <m:t>Λ</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𝐹</m:t>
                          </m:r>
                        </m:e>
                        <m:sup>
                          <m:r>
                            <a:rPr lang="en-US" altLang="zh-CN" b="0" i="1" dirty="0" smtClean="0">
                              <a:latin typeface="Cambria Math" panose="02040503050406030204" pitchFamily="18" charset="0"/>
                            </a:rPr>
                            <m:t>−1</m:t>
                          </m:r>
                        </m:sup>
                      </m:sSup>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𝑈</m:t>
                              </m:r>
                            </m:e>
                            <m:sub>
                              <m:r>
                                <a:rPr lang="en-US" altLang="zh-CN" b="0" i="1" dirty="0" smtClean="0">
                                  <a:latin typeface="Cambria Math" panose="02040503050406030204" pitchFamily="18" charset="0"/>
                                </a:rPr>
                                <m:t>𝑖</m:t>
                              </m:r>
                            </m:sub>
                          </m:sSub>
                        </m:e>
                      </m:d>
                    </m:oMath>
                  </m:oMathPara>
                </a14:m>
                <a:endParaRPr lang="en-US" altLang="zh-CN" b="0" i="1" dirty="0">
                  <a:latin typeface="+mn-ea"/>
                </a:endParaRPr>
              </a:p>
              <a:p>
                <a:r>
                  <a:rPr lang="zh-CN" altLang="en-US" b="0" dirty="0">
                    <a:latin typeface="+mn-ea"/>
                  </a:rPr>
                  <a:t>         我们可以对</a:t>
                </a:r>
                <a14:m>
                  <m:oMath xmlns:m="http://schemas.openxmlformats.org/officeDocument/2006/math">
                    <m:r>
                      <a:rPr lang="en-US" altLang="zh-CN" i="1" dirty="0">
                        <a:latin typeface="Cambria Math" panose="02040503050406030204" pitchFamily="18" charset="0"/>
                      </a:rPr>
                      <m:t>𝑈</m:t>
                    </m:r>
                  </m:oMath>
                </a14:m>
                <a:r>
                  <a:rPr lang="zh-CN" altLang="en-US" b="0" dirty="0">
                    <a:latin typeface="+mn-ea"/>
                  </a:rPr>
                  <a:t>做如下拆解：</a:t>
                </a:r>
                <a:endParaRPr lang="en-US" altLang="zh-CN" b="0" dirty="0">
                  <a:latin typeface="+mn-ea"/>
                </a:endParaRPr>
              </a:p>
              <a:p>
                <a:pPr/>
                <a14:m>
                  <m:oMathPara xmlns:m="http://schemas.openxmlformats.org/officeDocument/2006/math">
                    <m:oMath>
                      <m:r>
                        <a:rPr lang="en-US" altLang="zh-CN" i="1" dirty="0">
                          <a:latin typeface="Cambria Math" panose="02040503050406030204" pitchFamily="18" charset="0"/>
                        </a:rPr>
                        <m:t>𝑈</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𝑀</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𝑅</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den>
                      </m:f>
                    </m:oMath>
                  </m:oMathPara>
                </a14:m>
                <a:endParaRPr lang="en-US" altLang="zh-CN" b="0" i="1" dirty="0">
                  <a:latin typeface="Cambria Math" panose="02040503050406030204" pitchFamily="18" charset="0"/>
                </a:endParaRPr>
              </a:p>
              <a:p>
                <a:r>
                  <a:rPr lang="en-US" altLang="zh-CN" i="1" dirty="0">
                    <a:latin typeface="Cambria Math" panose="02040503050406030204" pitchFamily="18" charset="0"/>
                  </a:rPr>
                  <a:t>         </a:t>
                </a:r>
                <a:r>
                  <a:rPr lang="zh-CN" altLang="en-US" dirty="0">
                    <a:latin typeface="Cambria Math" panose="02040503050406030204" pitchFamily="18" charset="0"/>
                  </a:rPr>
                  <a:t>其中：</a:t>
                </a:r>
                <a:endParaRPr lang="en-US" altLang="zh-CN" dirty="0">
                  <a:latin typeface="Cambria Math" panose="02040503050406030204" pitchFamily="18" charset="0"/>
                </a:endParaRPr>
              </a:p>
              <a:p>
                <a:pPr/>
                <a14:m>
                  <m:oMathPara xmlns:m="http://schemas.openxmlformats.org/officeDocument/2006/math">
                    <m:oMath>
                      <m:r>
                        <a:rPr lang="en-US" altLang="zh-CN" b="0" i="1" dirty="0" smtClean="0">
                          <a:latin typeface="Cambria Math" panose="02040503050406030204" pitchFamily="18" charset="0"/>
                        </a:rPr>
                        <m:t>𝑀</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𝑓𝑙𝑜𝑜𝑟</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𝑈</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e>
                      </m:d>
                      <m:r>
                        <a:rPr lang="en-US" altLang="zh-CN" b="0" i="1"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0,1,…,</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𝑅</m:t>
                      </m:r>
                      <m:r>
                        <a:rPr lang="en-US" altLang="zh-CN" b="0" i="1" dirty="0" smtClean="0">
                          <a:latin typeface="Cambria Math" panose="02040503050406030204" pitchFamily="18" charset="0"/>
                        </a:rPr>
                        <m:t>=</m:t>
                      </m:r>
                      <m:r>
                        <a:rPr lang="en-US" altLang="zh-CN" i="1" dirty="0">
                          <a:latin typeface="Cambria Math" panose="02040503050406030204" pitchFamily="18" charset="0"/>
                        </a:rPr>
                        <m:t>𝑈</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𝑀</m:t>
                      </m:r>
                      <m:r>
                        <a:rPr lang="en-US" altLang="zh-CN" b="0" i="1" dirty="0" smtClean="0">
                          <a:latin typeface="Cambria Math" panose="02040503050406030204" pitchFamily="18" charset="0"/>
                        </a:rPr>
                        <m:t>∈</m:t>
                      </m:r>
                      <m:d>
                        <m:dPr>
                          <m:beg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0, 1</m:t>
                          </m:r>
                        </m:e>
                      </m:d>
                    </m:oMath>
                  </m:oMathPara>
                </a14:m>
                <a:endParaRPr lang="en-US" altLang="zh-CN" b="0" i="1" dirty="0">
                  <a:latin typeface="Cambria Math" panose="02040503050406030204" pitchFamily="18" charset="0"/>
                </a:endParaRPr>
              </a:p>
              <a:p>
                <a:pPr/>
                <a14:m>
                  <m:oMathPara xmlns:m="http://schemas.openxmlformats.org/officeDocument/2006/math">
                    <m:oMath>
                      <m:r>
                        <a:rPr lang="en-US" altLang="zh-CN" b="0" i="1" dirty="0" smtClean="0">
                          <a:latin typeface="Cambria Math" panose="02040503050406030204" pitchFamily="18" charset="0"/>
                        </a:rPr>
                        <m:t>𝑀</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𝑈𝑛𝑖𝑓𝑜𝑟𝑚</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 1, …, </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r>
                            <a:rPr lang="en-US" altLang="zh-CN" b="0" i="1" dirty="0" smtClean="0">
                              <a:latin typeface="Cambria Math" panose="02040503050406030204" pitchFamily="18" charset="0"/>
                            </a:rPr>
                            <m:t>−1</m:t>
                          </m:r>
                        </m:e>
                      </m:d>
                      <m:r>
                        <a:rPr lang="en-US" altLang="zh-CN" b="0" i="1" dirty="0" smtClean="0">
                          <a:latin typeface="Cambria Math" panose="02040503050406030204" pitchFamily="18" charset="0"/>
                        </a:rPr>
                        <m:t>,  </m:t>
                      </m:r>
                      <m:r>
                        <a:rPr lang="en-US" altLang="zh-CN" b="0" i="1" dirty="0" smtClean="0">
                          <a:latin typeface="Cambria Math" panose="02040503050406030204" pitchFamily="18" charset="0"/>
                        </a:rPr>
                        <m:t>𝑅</m:t>
                      </m:r>
                      <m:r>
                        <a:rPr lang="en-US" altLang="zh-CN" b="0" i="1" dirty="0" smtClean="0">
                          <a:latin typeface="Cambria Math" panose="02040503050406030204" pitchFamily="18" charset="0"/>
                        </a:rPr>
                        <m:t> ~ </m:t>
                      </m:r>
                      <m:r>
                        <a:rPr lang="en-US" altLang="zh-CN" b="0" i="1" dirty="0" smtClean="0">
                          <a:latin typeface="Cambria Math" panose="02040503050406030204" pitchFamily="18" charset="0"/>
                        </a:rPr>
                        <m:t>𝑈</m:t>
                      </m:r>
                      <m:d>
                        <m:dPr>
                          <m:beg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0, 1</m:t>
                          </m:r>
                        </m:e>
                      </m:d>
                    </m:oMath>
                  </m:oMathPara>
                </a14:m>
                <a:endParaRPr lang="en-US" altLang="zh-CN" b="0" i="1" dirty="0">
                  <a:latin typeface="+mn-ea"/>
                </a:endParaRPr>
              </a:p>
            </p:txBody>
          </p:sp>
        </mc:Choice>
        <mc:Fallback>
          <p:sp>
            <p:nvSpPr>
              <p:cNvPr id="32" name="文本框 31">
                <a:extLst>
                  <a:ext uri="{FF2B5EF4-FFF2-40B4-BE49-F238E27FC236}">
                    <a16:creationId xmlns:a16="http://schemas.microsoft.com/office/drawing/2014/main" id="{64FB5EFE-30EA-9F1B-F35F-C18858002F07}"/>
                  </a:ext>
                </a:extLst>
              </p:cNvPr>
              <p:cNvSpPr txBox="1">
                <a:spLocks noRot="1" noChangeAspect="1" noMove="1" noResize="1" noEditPoints="1" noAdjustHandles="1" noChangeArrowheads="1" noChangeShapeType="1" noTextEdit="1"/>
              </p:cNvSpPr>
              <p:nvPr/>
            </p:nvSpPr>
            <p:spPr>
              <a:xfrm>
                <a:off x="134720" y="1313006"/>
                <a:ext cx="6342846" cy="4929747"/>
              </a:xfrm>
              <a:prstGeom prst="rect">
                <a:avLst/>
              </a:prstGeom>
              <a:blipFill>
                <a:blip r:embed="rId2"/>
                <a:stretch>
                  <a:fillRect l="-768" t="-247" r="-1441" b="-989"/>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7B121A12-1680-4849-8C84-A3ACDAE38103}"/>
              </a:ext>
            </a:extLst>
          </p:cNvPr>
          <p:cNvPicPr>
            <a:picLocks noChangeAspect="1"/>
          </p:cNvPicPr>
          <p:nvPr/>
        </p:nvPicPr>
        <p:blipFill>
          <a:blip r:embed="rId3"/>
          <a:stretch>
            <a:fillRect/>
          </a:stretch>
        </p:blipFill>
        <p:spPr>
          <a:xfrm>
            <a:off x="7969212" y="1126900"/>
            <a:ext cx="3237053" cy="189847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mc:Choice xmlns:a14="http://schemas.microsoft.com/office/drawing/2010/main" Requires="a14">
          <p:sp>
            <p:nvSpPr>
              <p:cNvPr id="34" name="文本框 33">
                <a:extLst>
                  <a:ext uri="{FF2B5EF4-FFF2-40B4-BE49-F238E27FC236}">
                    <a16:creationId xmlns:a16="http://schemas.microsoft.com/office/drawing/2014/main" id="{FFB20E6D-FE03-FE68-5BDB-1D8C97C56FAF}"/>
                  </a:ext>
                </a:extLst>
              </p:cNvPr>
              <p:cNvSpPr txBox="1"/>
              <p:nvPr/>
            </p:nvSpPr>
            <p:spPr>
              <a:xfrm>
                <a:off x="6390858" y="3175829"/>
                <a:ext cx="5801142" cy="3137847"/>
              </a:xfrm>
              <a:prstGeom prst="rect">
                <a:avLst/>
              </a:prstGeom>
              <a:noFill/>
            </p:spPr>
            <p:txBody>
              <a:bodyPr wrap="square">
                <a:spAutoFit/>
              </a:bodyPr>
              <a:lstStyle/>
              <a:p>
                <a:r>
                  <a:rPr lang="zh-CN" altLang="en-US" sz="1800" dirty="0">
                    <a:latin typeface="Cambria Math" panose="02040503050406030204" pitchFamily="18" charset="0"/>
                  </a:rPr>
                  <a:t>         将拆解后的</a:t>
                </a:r>
                <a14:m>
                  <m:oMath xmlns:m="http://schemas.openxmlformats.org/officeDocument/2006/math">
                    <m:r>
                      <a:rPr lang="en-US" altLang="zh-CN" i="1" dirty="0">
                        <a:latin typeface="Cambria Math" panose="02040503050406030204" pitchFamily="18" charset="0"/>
                      </a:rPr>
                      <m:t>𝑈</m:t>
                    </m:r>
                  </m:oMath>
                </a14:m>
                <a:r>
                  <a:rPr lang="zh-CN" altLang="en-US" sz="1800" dirty="0">
                    <a:latin typeface="Cambria Math" panose="02040503050406030204" pitchFamily="18" charset="0"/>
                  </a:rPr>
                  <a:t>代入：</a:t>
                </a:r>
                <a:endParaRPr lang="en-US" altLang="zh-CN" sz="1800" dirty="0">
                  <a:latin typeface="Cambria Math" panose="02040503050406030204" pitchFamily="18" charset="0"/>
                </a:endParaRPr>
              </a:p>
              <a:p>
                <a:pPr/>
                <a14:m>
                  <m:oMathPara xmlns:m="http://schemas.openxmlformats.org/officeDocument/2006/math">
                    <m:oMath>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𝑈</m:t>
                          </m:r>
                        </m:e>
                        <m:sub>
                          <m:r>
                            <a:rPr lang="en-US" altLang="zh-CN" sz="1800" i="1" dirty="0">
                              <a:latin typeface="Cambria Math" panose="02040503050406030204" pitchFamily="18" charset="0"/>
                            </a:rPr>
                            <m:t>𝑖</m:t>
                          </m:r>
                        </m:sub>
                      </m:sSub>
                      <m:r>
                        <a:rPr lang="en-US" altLang="zh-CN" sz="1800" i="1" dirty="0">
                          <a:latin typeface="Cambria Math" panose="02040503050406030204" pitchFamily="18" charset="0"/>
                        </a:rPr>
                        <m:t>=</m:t>
                      </m:r>
                      <m:d>
                        <m:dPr>
                          <m:ctrlPr>
                            <a:rPr lang="en-US" altLang="zh-CN" sz="1800" i="1" dirty="0">
                              <a:latin typeface="Cambria Math" panose="02040503050406030204" pitchFamily="18" charset="0"/>
                            </a:rPr>
                          </m:ctrlPr>
                        </m:dPr>
                        <m:e>
                          <m:f>
                            <m:fPr>
                              <m:ctrlPr>
                                <a:rPr lang="en-US" altLang="zh-CN" sz="1800" i="1" dirty="0">
                                  <a:latin typeface="Cambria Math" panose="02040503050406030204" pitchFamily="18" charset="0"/>
                                </a:rPr>
                              </m:ctrlPr>
                            </m:fPr>
                            <m:num>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𝑀</m:t>
                                  </m:r>
                                  <m:r>
                                    <a:rPr lang="en-US" altLang="zh-CN" sz="1800" i="1" dirty="0">
                                      <a:latin typeface="Cambria Math" panose="02040503050406030204" pitchFamily="18" charset="0"/>
                                    </a:rPr>
                                    <m:t>+</m:t>
                                  </m:r>
                                  <m:r>
                                    <a:rPr lang="en-US" altLang="zh-CN" sz="1800" i="1" dirty="0">
                                      <a:latin typeface="Cambria Math" panose="02040503050406030204" pitchFamily="18" charset="0"/>
                                    </a:rPr>
                                    <m:t>𝑖</m:t>
                                  </m:r>
                                </m:e>
                              </m:d>
                              <m:r>
                                <a:rPr lang="en-US" altLang="zh-CN" sz="1800" i="1" dirty="0">
                                  <a:latin typeface="Cambria Math" panose="02040503050406030204" pitchFamily="18" charset="0"/>
                                </a:rPr>
                                <m:t>+</m:t>
                              </m:r>
                              <m:r>
                                <a:rPr lang="en-US" altLang="zh-CN" sz="1800" i="1" dirty="0">
                                  <a:latin typeface="Cambria Math" panose="02040503050406030204" pitchFamily="18" charset="0"/>
                                </a:rPr>
                                <m:t>𝑅</m:t>
                              </m:r>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𝑁</m:t>
                                  </m:r>
                                </m:e>
                                <m:sub>
                                  <m:r>
                                    <a:rPr lang="en-US" altLang="zh-CN" sz="1800" i="1" dirty="0">
                                      <a:latin typeface="Cambria Math" panose="02040503050406030204" pitchFamily="18" charset="0"/>
                                    </a:rPr>
                                    <m:t>𝜆</m:t>
                                  </m:r>
                                </m:sub>
                              </m:sSub>
                            </m:den>
                          </m:f>
                        </m:e>
                      </m:d>
                      <m:r>
                        <a:rPr lang="en-US" altLang="zh-CN" sz="1800" b="0" i="1" dirty="0" smtClean="0">
                          <a:latin typeface="Cambria Math" panose="02040503050406030204" pitchFamily="18" charset="0"/>
                        </a:rPr>
                        <m:t> </m:t>
                      </m:r>
                      <m:r>
                        <a:rPr lang="en-US" altLang="zh-CN" sz="1800" b="0" i="1" dirty="0" smtClean="0">
                          <a:latin typeface="Cambria Math" panose="02040503050406030204" pitchFamily="18" charset="0"/>
                        </a:rPr>
                        <m:t>𝑚𝑜𝑑</m:t>
                      </m:r>
                      <m:r>
                        <a:rPr lang="en-US" altLang="zh-CN" sz="1800" b="0" i="1" dirty="0" smtClean="0">
                          <a:latin typeface="Cambria Math" panose="02040503050406030204" pitchFamily="18" charset="0"/>
                        </a:rPr>
                        <m:t> 1=</m:t>
                      </m:r>
                      <m:f>
                        <m:fPr>
                          <m:ctrlPr>
                            <a:rPr lang="en-US" altLang="zh-CN" sz="1800" i="1" dirty="0">
                              <a:latin typeface="Cambria Math" panose="02040503050406030204" pitchFamily="18" charset="0"/>
                            </a:rPr>
                          </m:ctrlPr>
                        </m:fPr>
                        <m:num>
                          <m:d>
                            <m:dPr>
                              <m:ctrlPr>
                                <a:rPr lang="en-US" altLang="zh-CN" sz="1800" i="1" dirty="0">
                                  <a:latin typeface="Cambria Math" panose="02040503050406030204" pitchFamily="18" charset="0"/>
                                </a:rPr>
                              </m:ctrlPr>
                            </m:dPr>
                            <m:e>
                              <m:r>
                                <a:rPr lang="en-US" altLang="zh-CN" sz="1800" i="1" dirty="0">
                                  <a:latin typeface="Cambria Math" panose="02040503050406030204" pitchFamily="18" charset="0"/>
                                </a:rPr>
                                <m:t>𝑀</m:t>
                              </m:r>
                              <m:r>
                                <a:rPr lang="en-US" altLang="zh-CN" sz="1800" i="1" dirty="0">
                                  <a:latin typeface="Cambria Math" panose="02040503050406030204" pitchFamily="18" charset="0"/>
                                </a:rPr>
                                <m:t>+</m:t>
                              </m:r>
                              <m:r>
                                <a:rPr lang="en-US" altLang="zh-CN" sz="1800" i="1" dirty="0">
                                  <a:latin typeface="Cambria Math" panose="02040503050406030204" pitchFamily="18" charset="0"/>
                                </a:rPr>
                                <m:t>𝑖</m:t>
                              </m:r>
                            </m:e>
                          </m:d>
                          <m:r>
                            <a:rPr lang="en-US" altLang="zh-CN" sz="1800" b="0" i="1" dirty="0" smtClean="0">
                              <a:latin typeface="Cambria Math" panose="02040503050406030204" pitchFamily="18" charset="0"/>
                            </a:rPr>
                            <m:t> </m:t>
                          </m:r>
                          <m:r>
                            <a:rPr lang="en-US" altLang="zh-CN" sz="1800" b="0" i="1" dirty="0" smtClean="0">
                              <a:latin typeface="Cambria Math" panose="02040503050406030204" pitchFamily="18" charset="0"/>
                            </a:rPr>
                            <m:t>𝑚𝑜𝑑</m:t>
                          </m:r>
                          <m:r>
                            <a:rPr lang="en-US" altLang="zh-CN" sz="1800" b="0" i="1" dirty="0" smtClean="0">
                              <a:latin typeface="Cambria Math" panose="02040503050406030204" pitchFamily="18" charset="0"/>
                            </a:rPr>
                            <m:t> </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𝑁</m:t>
                              </m:r>
                            </m:e>
                            <m:sub>
                              <m:r>
                                <a:rPr lang="en-US" altLang="zh-CN" sz="1800" b="0" i="1" dirty="0" smtClean="0">
                                  <a:latin typeface="Cambria Math" panose="02040503050406030204" pitchFamily="18" charset="0"/>
                                </a:rPr>
                                <m:t>𝜆</m:t>
                              </m:r>
                            </m:sub>
                          </m:sSub>
                        </m:num>
                        <m:den>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𝑁</m:t>
                              </m:r>
                            </m:e>
                            <m:sub>
                              <m:r>
                                <a:rPr lang="en-US" altLang="zh-CN" sz="1800" b="0" i="1" dirty="0" smtClean="0">
                                  <a:latin typeface="Cambria Math" panose="02040503050406030204" pitchFamily="18" charset="0"/>
                                </a:rPr>
                                <m:t>𝜆</m:t>
                              </m:r>
                            </m:sub>
                          </m:sSub>
                        </m:den>
                      </m:f>
                      <m:r>
                        <a:rPr lang="en-US" altLang="zh-CN" sz="1800" b="0" i="1" dirty="0" smtClean="0">
                          <a:latin typeface="Cambria Math" panose="02040503050406030204" pitchFamily="18" charset="0"/>
                        </a:rPr>
                        <m:t>+</m:t>
                      </m:r>
                      <m:f>
                        <m:fPr>
                          <m:ctrlPr>
                            <a:rPr lang="en-US" altLang="zh-CN" sz="1800" b="0" i="1" dirty="0" smtClean="0">
                              <a:latin typeface="Cambria Math" panose="02040503050406030204" pitchFamily="18" charset="0"/>
                            </a:rPr>
                          </m:ctrlPr>
                        </m:fPr>
                        <m:num>
                          <m:r>
                            <a:rPr lang="en-US" altLang="zh-CN" sz="1800" b="0" i="1" dirty="0" smtClean="0">
                              <a:latin typeface="Cambria Math" panose="02040503050406030204" pitchFamily="18" charset="0"/>
                            </a:rPr>
                            <m:t>𝑅</m:t>
                          </m:r>
                        </m:num>
                        <m:den>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𝑁</m:t>
                              </m:r>
                            </m:e>
                            <m:sub>
                              <m:r>
                                <a:rPr lang="en-US" altLang="zh-CN" sz="1800" b="0" i="1" dirty="0" smtClean="0">
                                  <a:latin typeface="Cambria Math" panose="02040503050406030204" pitchFamily="18" charset="0"/>
                                </a:rPr>
                                <m:t>𝜆</m:t>
                              </m:r>
                            </m:sub>
                          </m:sSub>
                        </m:den>
                      </m:f>
                    </m:oMath>
                  </m:oMathPara>
                </a14:m>
                <a:endParaRPr lang="en-US" altLang="zh-CN" i="1" dirty="0">
                  <a:latin typeface="Cambria Math" panose="02040503050406030204" pitchFamily="18" charset="0"/>
                </a:endParaRPr>
              </a:p>
              <a:p>
                <a:pPr>
                  <a:spcBef>
                    <a:spcPts val="800"/>
                  </a:spcBef>
                </a:pPr>
                <a:r>
                  <a:rPr lang="zh-CN" altLang="en-US" sz="1800" b="0" dirty="0">
                    <a:latin typeface="Cambria Math" panose="02040503050406030204" pitchFamily="18" charset="0"/>
                  </a:rPr>
                  <a:t>         如果我们将采样得到的</a:t>
                </a:r>
                <a:r>
                  <a:rPr lang="en-US" altLang="zh-CN" sz="1800" b="0" dirty="0">
                    <a:latin typeface="Cambria Math" panose="02040503050406030204" pitchFamily="18" charset="0"/>
                  </a:rPr>
                  <a:t>Packet</a:t>
                </a:r>
                <a:r>
                  <a:rPr lang="zh-CN" altLang="en-US" sz="1800" b="0" dirty="0">
                    <a:latin typeface="Cambria Math" panose="02040503050406030204" pitchFamily="18" charset="0"/>
                  </a:rPr>
                  <a:t>的各个槽位按照</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𝑢</m:t>
                        </m:r>
                      </m:e>
                      <m:sub>
                        <m:r>
                          <a:rPr lang="en-US" altLang="zh-CN" i="1" dirty="0">
                            <a:latin typeface="Cambria Math" panose="02040503050406030204" pitchFamily="18" charset="0"/>
                          </a:rPr>
                          <m:t>𝑖</m:t>
                        </m:r>
                      </m:sub>
                    </m:sSub>
                  </m:oMath>
                </a14:m>
                <a:r>
                  <a:rPr lang="zh-CN" altLang="en-US" sz="1800" b="0" dirty="0">
                    <a:latin typeface="Cambria Math" panose="02040503050406030204" pitchFamily="18" charset="0"/>
                  </a:rPr>
                  <a:t>的大小排序，得到</a:t>
                </a:r>
                <a:r>
                  <a:rPr lang="en-US" altLang="zh-CN" dirty="0">
                    <a:latin typeface="Cambria Math" panose="02040503050406030204" pitchFamily="18" charset="0"/>
                  </a:rPr>
                  <a:t>Ordered </a:t>
                </a:r>
                <a:r>
                  <a:rPr lang="en-US" altLang="zh-CN" sz="1800" b="0" dirty="0">
                    <a:latin typeface="Cambria Math" panose="02040503050406030204" pitchFamily="18" charset="0"/>
                  </a:rPr>
                  <a:t>Packet</a:t>
                </a:r>
                <a:r>
                  <a:rPr lang="zh-CN" altLang="en-US" sz="1800" b="0" dirty="0">
                    <a:latin typeface="Cambria Math" panose="02040503050406030204" pitchFamily="18" charset="0"/>
                  </a:rPr>
                  <a:t>，那么</a:t>
                </a:r>
                <a:r>
                  <a:rPr lang="en-US" altLang="zh-CN" sz="1800" b="0" dirty="0">
                    <a:latin typeface="Cambria Math" panose="02040503050406030204" pitchFamily="18" charset="0"/>
                  </a:rPr>
                  <a:t>Packet</a:t>
                </a:r>
                <a14:m>
                  <m:oMath xmlns:m="http://schemas.openxmlformats.org/officeDocument/2006/math">
                    <m:r>
                      <a:rPr lang="zh-CN" altLang="en-US" i="1" dirty="0">
                        <a:latin typeface="Cambria Math" panose="02040503050406030204" pitchFamily="18" charset="0"/>
                      </a:rPr>
                      <m:t>中</m:t>
                    </m:r>
                  </m:oMath>
                </a14:m>
                <a:r>
                  <a:rPr lang="zh-CN" altLang="en-US" sz="1800" b="0" dirty="0">
                    <a:latin typeface="Cambria Math" panose="02040503050406030204" pitchFamily="18" charset="0"/>
                  </a:rPr>
                  <a:t>第</a:t>
                </a:r>
                <a:r>
                  <a:rPr lang="en-US" altLang="zh-CN" dirty="0">
                    <a:latin typeface="Cambria Math" panose="02040503050406030204" pitchFamily="18" charset="0"/>
                  </a:rPr>
                  <a:t>0</a:t>
                </a:r>
                <a:r>
                  <a:rPr lang="zh-CN" altLang="en-US" dirty="0">
                    <a:latin typeface="Cambria Math" panose="02040503050406030204" pitchFamily="18" charset="0"/>
                  </a:rPr>
                  <a:t>个槽位将会位于</a:t>
                </a:r>
                <a:r>
                  <a:rPr lang="en-US" altLang="zh-CN" dirty="0">
                    <a:latin typeface="Cambria Math" panose="02040503050406030204" pitchFamily="18" charset="0"/>
                  </a:rPr>
                  <a:t>Ordered Packet</a:t>
                </a:r>
                <a:r>
                  <a:rPr lang="zh-CN" altLang="en-US" dirty="0">
                    <a:latin typeface="Cambria Math" panose="02040503050406030204" pitchFamily="18" charset="0"/>
                  </a:rPr>
                  <a:t>的第</a:t>
                </a:r>
                <a:r>
                  <a:rPr lang="en-US" altLang="zh-CN" dirty="0">
                    <a:latin typeface="Cambria Math" panose="02040503050406030204" pitchFamily="18" charset="0"/>
                  </a:rPr>
                  <a:t>M</a:t>
                </a:r>
                <a:r>
                  <a:rPr lang="zh-CN" altLang="en-US" dirty="0">
                    <a:latin typeface="Cambria Math" panose="02040503050406030204" pitchFamily="18" charset="0"/>
                  </a:rPr>
                  <a:t>个槽位中，而</a:t>
                </a:r>
                <a:r>
                  <a:rPr lang="en-US" altLang="zh-CN" dirty="0">
                    <a:latin typeface="Cambria Math" panose="02040503050406030204" pitchFamily="18" charset="0"/>
                  </a:rPr>
                  <a:t>M</a:t>
                </a:r>
                <a:r>
                  <a:rPr lang="zh-CN" altLang="en-US" dirty="0">
                    <a:latin typeface="Cambria Math" panose="02040503050406030204" pitchFamily="18" charset="0"/>
                  </a:rPr>
                  <a:t>是均匀随机的。</a:t>
                </a:r>
                <a:endParaRPr lang="en-US" altLang="zh-CN" dirty="0">
                  <a:latin typeface="Cambria Math" panose="02040503050406030204" pitchFamily="18" charset="0"/>
                </a:endParaRPr>
              </a:p>
              <a:p>
                <a:pPr>
                  <a:spcBef>
                    <a:spcPts val="800"/>
                  </a:spcBef>
                </a:pPr>
                <a:r>
                  <a:rPr lang="en-US" altLang="zh-CN" sz="1800" b="0" dirty="0">
                    <a:latin typeface="Cambria Math" panose="02040503050406030204" pitchFamily="18" charset="0"/>
                  </a:rPr>
                  <a:t>         </a:t>
                </a:r>
                <a:r>
                  <a:rPr lang="zh-CN" altLang="en-US" sz="1800" b="0" dirty="0">
                    <a:latin typeface="Cambria Math" panose="02040503050406030204" pitchFamily="18" charset="0"/>
                  </a:rPr>
                  <a:t>所以这种</a:t>
                </a:r>
                <a:r>
                  <a:rPr lang="en-US" altLang="zh-CN" sz="1800" b="0" dirty="0">
                    <a:latin typeface="Cambria Math" panose="02040503050406030204" pitchFamily="18" charset="0"/>
                  </a:rPr>
                  <a:t>index=0</a:t>
                </a:r>
                <a:r>
                  <a:rPr lang="zh-CN" altLang="en-US" sz="1800" b="0" dirty="0">
                    <a:latin typeface="Cambria Math" panose="02040503050406030204" pitchFamily="18" charset="0"/>
                  </a:rPr>
                  <a:t>的</a:t>
                </a:r>
                <a:r>
                  <a:rPr lang="en-US" altLang="zh-CN" sz="1800" b="0" dirty="0">
                    <a:latin typeface="Cambria Math" panose="02040503050406030204" pitchFamily="18" charset="0"/>
                  </a:rPr>
                  <a:t>Hero</a:t>
                </a:r>
                <a:r>
                  <a:rPr lang="zh-CN" altLang="en-US" sz="1800" b="0" dirty="0">
                    <a:latin typeface="Cambria Math" panose="02040503050406030204" pitchFamily="18" charset="0"/>
                  </a:rPr>
                  <a:t>选择方式，配合目前的</a:t>
                </a:r>
                <a:r>
                  <a:rPr lang="en-US" altLang="zh-CN" sz="1800" b="0" dirty="0">
                    <a:latin typeface="Cambria Math" panose="02040503050406030204" pitchFamily="18" charset="0"/>
                  </a:rPr>
                  <a:t>Packet</a:t>
                </a:r>
                <a:r>
                  <a:rPr lang="zh-CN" altLang="en-US" sz="1800" b="0" dirty="0">
                    <a:latin typeface="Cambria Math" panose="02040503050406030204" pitchFamily="18" charset="0"/>
                  </a:rPr>
                  <a:t>采样算法，就等价于在</a:t>
                </a:r>
                <a:r>
                  <a:rPr lang="en-US" altLang="zh-CN" dirty="0">
                    <a:latin typeface="Cambria Math" panose="02040503050406030204" pitchFamily="18" charset="0"/>
                  </a:rPr>
                  <a:t>Ordered Packet</a:t>
                </a:r>
                <a:r>
                  <a:rPr lang="zh-CN" altLang="en-US" dirty="0">
                    <a:latin typeface="Cambria Math" panose="02040503050406030204" pitchFamily="18" charset="0"/>
                  </a:rPr>
                  <a:t>中均匀选择了一个波长作为</a:t>
                </a:r>
                <a:r>
                  <a:rPr lang="en-US" altLang="zh-CN" dirty="0">
                    <a:latin typeface="Cambria Math" panose="02040503050406030204" pitchFamily="18" charset="0"/>
                  </a:rPr>
                  <a:t>Hero Wavelength</a:t>
                </a:r>
                <a:r>
                  <a:rPr lang="zh-CN" altLang="en-US" dirty="0">
                    <a:latin typeface="Cambria Math" panose="02040503050406030204" pitchFamily="18" charset="0"/>
                  </a:rPr>
                  <a:t>。</a:t>
                </a:r>
                <a:endParaRPr lang="en-US" altLang="zh-CN" sz="1800" b="0" dirty="0">
                  <a:latin typeface="Cambria Math" panose="02040503050406030204" pitchFamily="18" charset="0"/>
                </a:endParaRPr>
              </a:p>
            </p:txBody>
          </p:sp>
        </mc:Choice>
        <mc:Fallback>
          <p:sp>
            <p:nvSpPr>
              <p:cNvPr id="34" name="文本框 33">
                <a:extLst>
                  <a:ext uri="{FF2B5EF4-FFF2-40B4-BE49-F238E27FC236}">
                    <a16:creationId xmlns:a16="http://schemas.microsoft.com/office/drawing/2014/main" id="{FFB20E6D-FE03-FE68-5BDB-1D8C97C56FAF}"/>
                  </a:ext>
                </a:extLst>
              </p:cNvPr>
              <p:cNvSpPr txBox="1">
                <a:spLocks noRot="1" noChangeAspect="1" noMove="1" noResize="1" noEditPoints="1" noAdjustHandles="1" noChangeArrowheads="1" noChangeShapeType="1" noTextEdit="1"/>
              </p:cNvSpPr>
              <p:nvPr/>
            </p:nvSpPr>
            <p:spPr>
              <a:xfrm>
                <a:off x="6390858" y="3175829"/>
                <a:ext cx="5801142" cy="3137847"/>
              </a:xfrm>
              <a:prstGeom prst="rect">
                <a:avLst/>
              </a:prstGeom>
              <a:blipFill>
                <a:blip r:embed="rId4"/>
                <a:stretch>
                  <a:fillRect l="-840" t="-1359" r="-420" b="-21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5632770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8137-063B-8CF3-7BF7-5EE58EB7F81D}"/>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BB66063-12C5-0E79-B238-93EF03B92112}"/>
              </a:ext>
            </a:extLst>
          </p:cNvPr>
          <p:cNvSpPr>
            <a:spLocks noGrp="1"/>
          </p:cNvSpPr>
          <p:nvPr>
            <p:ph type="title" idx="1"/>
          </p:nvPr>
        </p:nvSpPr>
        <p:spPr/>
        <p:txBody>
          <a:bodyPr/>
          <a:lstStyle/>
          <a:p>
            <a:r>
              <a:rPr lang="zh-CN" altLang="en-US" dirty="0"/>
              <a:t>光谱路径追踪  </a:t>
            </a:r>
            <a:r>
              <a:rPr lang="en-US" altLang="zh-CN" dirty="0"/>
              <a:t>——  </a:t>
            </a:r>
            <a:r>
              <a:rPr lang="zh-CN" altLang="en-US" dirty="0"/>
              <a:t>小结</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4219C08-7083-0455-4181-0164230016B2}"/>
                  </a:ext>
                </a:extLst>
              </p:cNvPr>
              <p:cNvSpPr txBox="1"/>
              <p:nvPr/>
            </p:nvSpPr>
            <p:spPr>
              <a:xfrm>
                <a:off x="1492608" y="1241130"/>
                <a:ext cx="9374209" cy="4982646"/>
              </a:xfrm>
              <a:prstGeom prst="rect">
                <a:avLst/>
              </a:prstGeom>
              <a:noFill/>
            </p:spPr>
            <p:txBody>
              <a:bodyPr wrap="square">
                <a:spAutoFit/>
              </a:bodyPr>
              <a:lstStyle/>
              <a:p>
                <a:pPr/>
                <a14:m>
                  <m:oMathPara xmlns:m="http://schemas.openxmlformats.org/officeDocument/2006/math">
                    <m:oMath>
                      <m:r>
                        <a:rPr lang="en-US" altLang="zh-CN" sz="1800" b="1" i="1" smtClean="0">
                          <a:latin typeface="Cambria Math" panose="02040503050406030204" pitchFamily="18" charset="0"/>
                        </a:rPr>
                        <m:t>𝑪</m:t>
                      </m:r>
                      <m:r>
                        <a:rPr lang="en-US" altLang="zh-CN" sz="1800" b="1" i="1" smtClean="0">
                          <a:latin typeface="Cambria Math" panose="02040503050406030204" pitchFamily="18" charset="0"/>
                        </a:rPr>
                        <m:t>=</m:t>
                      </m:r>
                      <m:d>
                        <m:dPr>
                          <m:ctrlPr>
                            <a:rPr lang="en-US" altLang="zh-CN" sz="1800" i="1">
                              <a:latin typeface="Cambria Math" panose="02040503050406030204" pitchFamily="18" charset="0"/>
                            </a:rPr>
                          </m:ctrlPr>
                        </m:dPr>
                        <m:e>
                          <m:eqArr>
                            <m:eqArrPr>
                              <m:ctrlPr>
                                <a:rPr lang="en-US" altLang="zh-CN" sz="1800" i="1">
                                  <a:latin typeface="Cambria Math" panose="02040503050406030204" pitchFamily="18" charset="0"/>
                                </a:rPr>
                              </m:ctrlPr>
                            </m:eqArrPr>
                            <m:e>
                              <m:r>
                                <a:rPr lang="en-US" altLang="zh-CN" sz="1800" i="1">
                                  <a:latin typeface="Cambria Math" panose="02040503050406030204" pitchFamily="18" charset="0"/>
                                </a:rPr>
                                <m:t>𝑋</m:t>
                              </m:r>
                            </m:e>
                            <m:e>
                              <m:r>
                                <a:rPr lang="en-US" altLang="zh-CN" sz="1800" i="1">
                                  <a:latin typeface="Cambria Math" panose="02040503050406030204" pitchFamily="18" charset="0"/>
                                </a:rPr>
                                <m:t>𝑌</m:t>
                              </m:r>
                            </m:e>
                            <m:e>
                              <m:r>
                                <a:rPr lang="en-US" altLang="zh-CN" sz="1800" i="1">
                                  <a:latin typeface="Cambria Math" panose="02040503050406030204" pitchFamily="18" charset="0"/>
                                </a:rPr>
                                <m:t>𝑍</m:t>
                              </m:r>
                            </m:e>
                          </m:eqArr>
                        </m:e>
                      </m:d>
                      <m:r>
                        <a:rPr lang="en-US" altLang="zh-CN" sz="1800" i="1">
                          <a:latin typeface="Cambria Math" panose="02040503050406030204" pitchFamily="18" charset="0"/>
                        </a:rPr>
                        <m:t>=</m:t>
                      </m:r>
                      <m:nary>
                        <m:naryPr>
                          <m:chr m:val="∑"/>
                          <m:ctrlPr>
                            <a:rPr lang="en-US" altLang="zh-CN" sz="1800" i="1" dirty="0">
                              <a:latin typeface="Cambria Math" panose="02040503050406030204" pitchFamily="18" charset="0"/>
                            </a:rPr>
                          </m:ctrlPr>
                        </m:naryPr>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up>
                          <m:r>
                            <a:rPr lang="en-US" altLang="zh-CN" sz="1800" b="1" i="1" dirty="0">
                              <a:latin typeface="Cambria Math" panose="02040503050406030204" pitchFamily="18" charset="0"/>
                            </a:rPr>
                            <m:t>+∞</m:t>
                          </m:r>
                        </m:sup>
                        <m:e>
                          <m:nary>
                            <m:naryPr>
                              <m:supHide m:val="on"/>
                              <m:ctrlPr>
                                <a:rPr lang="en-US" altLang="zh-CN" sz="1800">
                                  <a:latin typeface="Cambria Math" panose="02040503050406030204" pitchFamily="18" charset="0"/>
                                </a:rPr>
                              </m:ctrlPr>
                            </m:naryPr>
                            <m:sub>
                              <m:r>
                                <m:rPr>
                                  <m:sty m:val="p"/>
                                </m:rPr>
                                <a:rPr lang="en-US" altLang="zh-CN" sz="1800">
                                  <a:latin typeface="Cambria Math" panose="02040503050406030204" pitchFamily="18" charset="0"/>
                                </a:rPr>
                                <m:t>Λ</m:t>
                              </m:r>
                            </m:sub>
                            <m:sup/>
                            <m:e>
                              <m:nary>
                                <m:naryPr>
                                  <m:supHide m:val="on"/>
                                  <m:ctrlPr>
                                    <a:rPr lang="zh-CN" altLang="en-US" sz="1800" i="1" dirty="0">
                                      <a:latin typeface="Cambria Math" panose="02040503050406030204" pitchFamily="18" charset="0"/>
                                    </a:rPr>
                                  </m:ctrlPr>
                                </m:naryPr>
                                <m:sub>
                                  <m:sSub>
                                    <m:sSubPr>
                                      <m:ctrlPr>
                                        <a:rPr lang="zh-CN" altLang="en-US" sz="1800" i="1" dirty="0">
                                          <a:latin typeface="Cambria Math" panose="02040503050406030204" pitchFamily="18" charset="0"/>
                                        </a:rPr>
                                      </m:ctrlPr>
                                    </m:sSubPr>
                                    <m:e>
                                      <m:r>
                                        <a:rPr lang="zh-CN" altLang="en-US" sz="1800" i="1" dirty="0">
                                          <a:latin typeface="Cambria Math" panose="02040503050406030204" pitchFamily="18" charset="0"/>
                                        </a:rPr>
                                        <m:t>𝒫</m:t>
                                      </m:r>
                                    </m:e>
                                    <m:sub>
                                      <m:r>
                                        <a:rPr lang="en-US" altLang="zh-CN" sz="1800" i="1" dirty="0">
                                          <a:latin typeface="Cambria Math" panose="02040503050406030204" pitchFamily="18" charset="0"/>
                                        </a:rPr>
                                        <m:t>𝑖</m:t>
                                      </m:r>
                                    </m:sub>
                                  </m:sSub>
                                </m:sub>
                                <m:sup/>
                                <m:e>
                                  <m:sSub>
                                    <m:sSubPr>
                                      <m:ctrlPr>
                                        <a:rPr lang="en-US" altLang="zh-CN" sz="1800" dirty="0">
                                          <a:latin typeface="Cambria Math" panose="02040503050406030204" pitchFamily="18" charset="0"/>
                                        </a:rPr>
                                      </m:ctrlPr>
                                    </m:sSubPr>
                                    <m:e>
                                      <m:r>
                                        <m:rPr>
                                          <m:sty m:val="p"/>
                                        </m:rPr>
                                        <a:rPr lang="en-US" altLang="zh-CN" sz="1800" dirty="0">
                                          <a:latin typeface="Cambria Math" panose="02040503050406030204" pitchFamily="18" charset="0"/>
                                        </a:rPr>
                                        <m:t>Φ</m:t>
                                      </m:r>
                                    </m:e>
                                    <m:sub>
                                      <m:r>
                                        <m:rPr>
                                          <m:sty m:val="p"/>
                                        </m:rPr>
                                        <a:rPr lang="en-US" altLang="zh-CN" sz="1800" dirty="0">
                                          <a:latin typeface="Cambria Math" panose="02040503050406030204" pitchFamily="18" charset="0"/>
                                        </a:rPr>
                                        <m:t>i</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Sub>
                                      <m:r>
                                        <a:rPr lang="en-US" altLang="zh-CN" sz="1800" i="1" dirty="0">
                                          <a:latin typeface="Cambria Math" panose="02040503050406030204" pitchFamily="18" charset="0"/>
                                        </a:rPr>
                                        <m:t>,</m:t>
                                      </m:r>
                                      <m:r>
                                        <a:rPr lang="en-US" altLang="zh-CN" sz="1800" i="1" dirty="0" smtClean="0">
                                          <a:solidFill>
                                            <a:schemeClr val="tx1"/>
                                          </a:solidFill>
                                          <a:latin typeface="Cambria Math" panose="02040503050406030204" pitchFamily="18" charset="0"/>
                                        </a:rPr>
                                        <m:t>𝜆</m:t>
                                      </m:r>
                                    </m:e>
                                  </m:d>
                                  <m:r>
                                    <a:rPr lang="en-US" altLang="zh-CN" sz="1800" b="0" i="1" dirty="0" smtClean="0">
                                      <a:solidFill>
                                        <a:srgbClr val="FF0000"/>
                                      </a:solidFill>
                                      <a:latin typeface="Cambria Math" panose="02040503050406030204" pitchFamily="18" charset="0"/>
                                    </a:rPr>
                                    <m:t> </m:t>
                                  </m:r>
                                  <m:acc>
                                    <m:accPr>
                                      <m:chr m:val="̅"/>
                                      <m:ctrlPr>
                                        <a:rPr lang="en-US" altLang="zh-CN" sz="1800" b="1" i="1">
                                          <a:latin typeface="Cambria Math" panose="02040503050406030204" pitchFamily="18" charset="0"/>
                                        </a:rPr>
                                      </m:ctrlPr>
                                    </m:accPr>
                                    <m:e>
                                      <m:r>
                                        <a:rPr lang="en-US" altLang="zh-CN" sz="1800" b="1" i="1">
                                          <a:latin typeface="Cambria Math" panose="02040503050406030204" pitchFamily="18" charset="0"/>
                                        </a:rPr>
                                        <m:t>𝒄</m:t>
                                      </m:r>
                                    </m:e>
                                  </m:acc>
                                  <m:d>
                                    <m:dPr>
                                      <m:ctrlPr>
                                        <a:rPr lang="en-US" altLang="zh-CN" sz="1800" i="1">
                                          <a:latin typeface="Cambria Math" panose="02040503050406030204" pitchFamily="18" charset="0"/>
                                        </a:rPr>
                                      </m:ctrlPr>
                                    </m:dPr>
                                    <m:e>
                                      <m:r>
                                        <a:rPr lang="en-US" altLang="zh-CN" sz="1800" i="1">
                                          <a:latin typeface="Cambria Math" panose="02040503050406030204" pitchFamily="18" charset="0"/>
                                        </a:rPr>
                                        <m:t>𝜆</m:t>
                                      </m:r>
                                    </m:e>
                                  </m:d>
                                  <m:r>
                                    <a:rPr lang="en-US" altLang="zh-CN" sz="1800" b="0" i="1" smtClean="0">
                                      <a:latin typeface="Cambria Math" panose="02040503050406030204" pitchFamily="18" charset="0"/>
                                    </a:rPr>
                                    <m:t> </m:t>
                                  </m:r>
                                  <m:r>
                                    <a:rPr lang="en-US" altLang="zh-CN" sz="1800" i="1" dirty="0">
                                      <a:latin typeface="Cambria Math" panose="02040503050406030204" pitchFamily="18" charset="0"/>
                                    </a:rPr>
                                    <m:t>𝑑</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𝜇</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Sub>
                                    </m:e>
                                  </m:d>
                                </m:e>
                              </m:nary>
                              <m:r>
                                <a:rPr lang="en-US" altLang="zh-CN" sz="1800" i="1" dirty="0">
                                  <a:latin typeface="Cambria Math" panose="02040503050406030204" pitchFamily="18" charset="0"/>
                                </a:rPr>
                                <m:t>𝑑</m:t>
                              </m:r>
                              <m:r>
                                <a:rPr lang="en-US" altLang="zh-CN" sz="1800" i="1" dirty="0">
                                  <a:latin typeface="Cambria Math" panose="02040503050406030204" pitchFamily="18" charset="0"/>
                                </a:rPr>
                                <m:t>𝜆</m:t>
                              </m:r>
                            </m:e>
                          </m:nary>
                        </m:e>
                      </m:nary>
                    </m:oMath>
                  </m:oMathPara>
                </a14:m>
                <a:endParaRPr lang="en-US" altLang="zh-CN" sz="1800" dirty="0"/>
              </a:p>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𝜆</m:t>
                                  </m:r>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r>
                        <a:rPr lang="en-US" altLang="zh-CN" b="0"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b="1" i="1">
                          <a:latin typeface="Cambria Math" panose="02040503050406030204" pitchFamily="18" charset="0"/>
                        </a:rPr>
                        <m:t>𝑪</m:t>
                      </m:r>
                      <m:r>
                        <a:rPr lang="en-US" altLang="zh-CN" b="1" i="1" smtClean="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𝑪</m:t>
                              </m:r>
                            </m:e>
                            <m:sub>
                              <m:r>
                                <a:rPr lang="en-US" altLang="zh-CN" b="0" i="1" smtClean="0">
                                  <a:latin typeface="Cambria Math" panose="02040503050406030204" pitchFamily="18" charset="0"/>
                                </a:rPr>
                                <m:t>𝑖</m:t>
                              </m:r>
                            </m:sub>
                          </m:sSub>
                        </m:e>
                      </m:nary>
                    </m:oMath>
                  </m:oMathPara>
                </a14:m>
                <a:endParaRPr lang="en-US" altLang="zh-CN" i="1" dirty="0">
                  <a:latin typeface="Cambria Math" panose="02040503050406030204" pitchFamily="18" charset="0"/>
                </a:endParaRPr>
              </a:p>
              <a:p>
                <a:endParaRPr lang="en-US" altLang="zh-CN" i="1" dirty="0">
                  <a:latin typeface="Cambria Math" panose="02040503050406030204" pitchFamily="18" charset="0"/>
                </a:endParaRPr>
              </a:p>
              <a:p>
                <a:r>
                  <a:rPr lang="zh-CN" altLang="en-US" dirty="0">
                    <a:latin typeface="Cambria Math" panose="02040503050406030204" pitchFamily="18" charset="0"/>
                  </a:rPr>
                  <a:t>         对</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oMath>
                </a14:m>
                <a:r>
                  <a:rPr lang="zh-CN" altLang="en-US" dirty="0">
                    <a:latin typeface="Cambria Math" panose="02040503050406030204" pitchFamily="18" charset="0"/>
                  </a:rPr>
                  <a:t>的外层积分（波长积分）做蒙特卡洛估计：</a:t>
                </a:r>
                <a:endParaRPr lang="en-US" altLang="zh-CN"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1" i="1" dirty="0" smtClean="0">
                          <a:latin typeface="Cambria Math" panose="02040503050406030204" pitchFamily="18" charset="0"/>
                        </a:rPr>
                        <m:t>,  </m:t>
                      </m:r>
                      <m:r>
                        <a:rPr lang="zh-CN" altLang="en-US" b="1" i="1" dirty="0">
                          <a:latin typeface="Cambria Math" panose="02040503050406030204" pitchFamily="18" charset="0"/>
                        </a:rPr>
                        <m:t>被积函数</m:t>
                      </m:r>
                      <m:r>
                        <a:rPr lang="zh-CN" altLang="en-US" b="1" i="1" dirty="0" smtClean="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i="1" dirty="0">
                  <a:latin typeface="Cambria Math" panose="02040503050406030204" pitchFamily="18" charset="0"/>
                </a:endParaRPr>
              </a:p>
              <a:p>
                <a:r>
                  <a:rPr lang="zh-CN" altLang="en-US" dirty="0">
                    <a:latin typeface="Cambria Math" panose="02040503050406030204" pitchFamily="18" charset="0"/>
                  </a:rPr>
                  <a:t>         对</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oMath>
                </a14:m>
                <a:r>
                  <a:rPr lang="zh-CN" altLang="en-US" dirty="0">
                    <a:latin typeface="Cambria Math" panose="02040503050406030204" pitchFamily="18" charset="0"/>
                  </a:rPr>
                  <a:t>的内层积分（路径积分）做单样本</a:t>
                </a:r>
                <a:r>
                  <a:rPr lang="en-US" altLang="zh-CN" dirty="0">
                    <a:latin typeface="Cambria Math" panose="02040503050406030204" pitchFamily="18" charset="0"/>
                  </a:rPr>
                  <a:t>MIS</a:t>
                </a:r>
                <a:r>
                  <a:rPr lang="zh-CN" altLang="en-US" dirty="0">
                    <a:latin typeface="Cambria Math" panose="02040503050406030204" pitchFamily="18" charset="0"/>
                  </a:rPr>
                  <a:t>蒙特卡洛估计：</a:t>
                </a:r>
                <a:endParaRPr lang="en-US" altLang="zh-CN" dirty="0">
                  <a:latin typeface="Cambria Math" panose="02040503050406030204" pitchFamily="18" charset="0"/>
                </a:endParaRPr>
              </a:p>
              <a:p>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den>
                          </m:f>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oMath>
                  </m:oMathPara>
                </a14:m>
                <a:endParaRPr lang="en-US" altLang="zh-CN" b="1" dirty="0">
                  <a:latin typeface="Cambria Math" panose="02040503050406030204" pitchFamily="18" charset="0"/>
                </a:endParaRPr>
              </a:p>
              <a:p>
                <a:r>
                  <a:rPr lang="en-US" altLang="zh-CN" dirty="0">
                    <a:latin typeface="Cambria Math" panose="02040503050406030204" pitchFamily="18" charset="0"/>
                  </a:rPr>
                  <a:t>         </a:t>
                </a:r>
                <a:r>
                  <a:rPr lang="zh-CN" altLang="en-US" dirty="0">
                    <a:latin typeface="Cambria Math" panose="02040503050406030204" pitchFamily="18" charset="0"/>
                  </a:rPr>
                  <a:t>其中：</a:t>
                </a:r>
                <a:endParaRPr lang="en-US" altLang="zh-CN"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a:rPr lang="en-US" altLang="zh-CN" b="0" i="1" dirty="0" smtClean="0">
                              <a:latin typeface="Cambria Math" panose="02040503050406030204" pitchFamily="18" charset="0"/>
                            </a:rPr>
                            <m:t>1</m:t>
                          </m:r>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den>
                      </m:f>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𝑆</m:t>
                          </m:r>
                        </m:sub>
                      </m:sSub>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𝐻</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  </m:t>
                          </m:r>
                          <m:f>
                            <m:fPr>
                              <m:ctrlPr>
                                <a:rPr lang="en-US" altLang="zh-CN" i="1" dirty="0">
                                  <a:latin typeface="Cambria Math" panose="02040503050406030204" pitchFamily="18" charset="0"/>
                                  <a:ea typeface="Cambria Math" panose="02040503050406030204" pitchFamily="18" charset="0"/>
                                </a:rPr>
                              </m:ctrlPr>
                            </m:fPr>
                            <m:num>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den>
                          </m:f>
                          <m:r>
                            <a:rPr lang="en-US" altLang="zh-CN" b="1" i="1" dirty="0">
                              <a:latin typeface="Cambria Math" panose="02040503050406030204" pitchFamily="18" charset="0"/>
                            </a:rPr>
                            <m:t>,…,</m:t>
                          </m:r>
                          <m:f>
                            <m:fPr>
                              <m:ctrlPr>
                                <a:rPr lang="en-US" altLang="zh-CN" i="1" dirty="0">
                                  <a:latin typeface="Cambria Math" panose="02040503050406030204" pitchFamily="18" charset="0"/>
                                  <a:ea typeface="Cambria Math" panose="02040503050406030204" pitchFamily="18" charset="0"/>
                                </a:rPr>
                              </m:ctrlPr>
                            </m:fPr>
                            <m:num>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e>
                      </m:d>
                    </m:oMath>
                  </m:oMathPara>
                </a14:m>
                <a:endParaRPr lang="en-US" altLang="zh-CN"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24219C08-7083-0455-4181-0164230016B2}"/>
                  </a:ext>
                </a:extLst>
              </p:cNvPr>
              <p:cNvSpPr txBox="1">
                <a:spLocks noRot="1" noChangeAspect="1" noMove="1" noResize="1" noEditPoints="1" noAdjustHandles="1" noChangeArrowheads="1" noChangeShapeType="1" noTextEdit="1"/>
              </p:cNvSpPr>
              <p:nvPr/>
            </p:nvSpPr>
            <p:spPr>
              <a:xfrm>
                <a:off x="1492608" y="1241130"/>
                <a:ext cx="9374209" cy="4982646"/>
              </a:xfrm>
              <a:prstGeom prst="rect">
                <a:avLst/>
              </a:prstGeom>
              <a:blipFill>
                <a:blip r:embed="rId2"/>
                <a:stretch>
                  <a:fillRect l="-5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24750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20FF7-3FD5-62F5-EF04-3C5A479EDC8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F1B280D8-96E7-57D9-1F74-212A3BF56DE3}"/>
              </a:ext>
            </a:extLst>
          </p:cNvPr>
          <p:cNvSpPr>
            <a:spLocks noGrp="1"/>
          </p:cNvSpPr>
          <p:nvPr>
            <p:ph type="title" idx="1"/>
          </p:nvPr>
        </p:nvSpPr>
        <p:spPr/>
        <p:txBody>
          <a:bodyPr/>
          <a:lstStyle/>
          <a:p>
            <a:r>
              <a:rPr lang="en-US" altLang="zh-CN" dirty="0"/>
              <a:t>Spectral MIS + PT MIS</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BA7D641-6FF2-FC97-A3CE-AAF6DD77DF7E}"/>
                  </a:ext>
                </a:extLst>
              </p:cNvPr>
              <p:cNvSpPr txBox="1"/>
              <p:nvPr/>
            </p:nvSpPr>
            <p:spPr>
              <a:xfrm>
                <a:off x="-379694" y="1485829"/>
                <a:ext cx="6748530" cy="2882136"/>
              </a:xfrm>
              <a:prstGeom prst="rect">
                <a:avLst/>
              </a:prstGeom>
              <a:noFill/>
            </p:spPr>
            <p:txBody>
              <a:bodyPr wrap="square">
                <a:spAutoFit/>
              </a:bodyPr>
              <a:lstStyle/>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i="1" dirty="0">
                                      <a:latin typeface="Cambria Math" panose="02040503050406030204" pitchFamily="18" charset="0"/>
                                    </a:rPr>
                                    <m:t>𝜆</m:t>
                                  </m:r>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r>
                        <a:rPr lang="en-US" altLang="zh-CN" b="0" i="1" dirty="0" smtClean="0">
                          <a:latin typeface="Cambria Math" panose="02040503050406030204" pitchFamily="18" charset="0"/>
                        </a:rPr>
                        <m:t>,</m:t>
                      </m:r>
                      <m:r>
                        <a:rPr lang="en-US" altLang="zh-CN" b="1" i="1" dirty="0" smtClean="0">
                          <a:latin typeface="Cambria Math" panose="02040503050406030204" pitchFamily="18" charset="0"/>
                        </a:rPr>
                        <m:t>  </m:t>
                      </m:r>
                      <m:r>
                        <a:rPr lang="en-US" altLang="zh-CN" b="1" i="1">
                          <a:latin typeface="Cambria Math" panose="02040503050406030204" pitchFamily="18" charset="0"/>
                        </a:rPr>
                        <m:t>𝑪</m:t>
                      </m:r>
                      <m:r>
                        <a:rPr lang="en-US" altLang="zh-CN" b="1" i="1" smtClean="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𝑪</m:t>
                              </m:r>
                            </m:e>
                            <m:sub>
                              <m:r>
                                <a:rPr lang="en-US" altLang="zh-CN" b="0" i="1" smtClean="0">
                                  <a:latin typeface="Cambria Math" panose="02040503050406030204" pitchFamily="18" charset="0"/>
                                </a:rPr>
                                <m:t>𝑖</m:t>
                              </m:r>
                            </m:sub>
                          </m:sSub>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i="1"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1" i="1" dirty="0" smtClean="0">
                          <a:latin typeface="Cambria Math" panose="02040503050406030204" pitchFamily="18" charset="0"/>
                        </a:rPr>
                        <m:t>, </m:t>
                      </m:r>
                    </m:oMath>
                  </m:oMathPara>
                </a14:m>
                <a:endParaRPr lang="en-US" altLang="zh-CN" i="1" dirty="0">
                  <a:latin typeface="Cambria Math" panose="02040503050406030204" pitchFamily="18" charset="0"/>
                </a:endParaRPr>
              </a:p>
              <a:p>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𝑠𝑖𝑛𝑔𝑙𝑒</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up>
                          <m:r>
                            <a:rPr lang="en-US" altLang="zh-CN" b="0" i="1" dirty="0" smtClean="0">
                              <a:solidFill>
                                <a:srgbClr val="FF0000"/>
                              </a:solidFill>
                              <a:latin typeface="Cambria Math" panose="02040503050406030204" pitchFamily="18" charset="0"/>
                            </a:rPr>
                            <m:t>𝑆</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oMath>
                  </m:oMathPara>
                </a14:m>
                <a:endParaRPr lang="en-US" altLang="zh-CN" b="1" dirty="0">
                  <a:latin typeface="Cambria Math" panose="02040503050406030204" pitchFamily="18" charset="0"/>
                </a:endParaRPr>
              </a:p>
            </p:txBody>
          </p:sp>
        </mc:Choice>
        <mc:Fallback xmlns="">
          <p:sp>
            <p:nvSpPr>
              <p:cNvPr id="3" name="文本框 2">
                <a:extLst>
                  <a:ext uri="{FF2B5EF4-FFF2-40B4-BE49-F238E27FC236}">
                    <a16:creationId xmlns:a16="http://schemas.microsoft.com/office/drawing/2014/main" id="{8BA7D641-6FF2-FC97-A3CE-AAF6DD77DF7E}"/>
                  </a:ext>
                </a:extLst>
              </p:cNvPr>
              <p:cNvSpPr txBox="1">
                <a:spLocks noRot="1" noChangeAspect="1" noMove="1" noResize="1" noEditPoints="1" noAdjustHandles="1" noChangeArrowheads="1" noChangeShapeType="1" noTextEdit="1"/>
              </p:cNvSpPr>
              <p:nvPr/>
            </p:nvSpPr>
            <p:spPr>
              <a:xfrm>
                <a:off x="-379694" y="1485829"/>
                <a:ext cx="6748530" cy="2882136"/>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215DCEB-0055-1221-09E2-4A79D3F4E84C}"/>
                  </a:ext>
                </a:extLst>
              </p:cNvPr>
              <p:cNvSpPr txBox="1"/>
              <p:nvPr/>
            </p:nvSpPr>
            <p:spPr>
              <a:xfrm>
                <a:off x="6096000" y="1485829"/>
                <a:ext cx="5747503" cy="3520836"/>
              </a:xfrm>
              <a:prstGeom prst="rect">
                <a:avLst/>
              </a:prstGeom>
              <a:noFill/>
            </p:spPr>
            <p:txBody>
              <a:bodyPr wrap="square">
                <a:spAutoFit/>
              </a:bodyPr>
              <a:lstStyle/>
              <a:p>
                <a:pPr/>
                <a14:m>
                  <m:oMathPara xmlns:m="http://schemas.openxmlformats.org/officeDocument/2006/math">
                    <m:o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𝐼</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nary>
                        <m:naryPr>
                          <m:supHide m:val="on"/>
                          <m:ctrlPr>
                            <a:rPr lang="zh-CN" altLang="en-US" i="1" dirty="0">
                              <a:solidFill>
                                <a:schemeClr val="tx1"/>
                              </a:solidFill>
                              <a:latin typeface="Cambria Math" panose="02040503050406030204" pitchFamily="18" charset="0"/>
                            </a:rPr>
                          </m:ctrlPr>
                        </m:naryPr>
                        <m:sub>
                          <m:sSub>
                            <m:sSubPr>
                              <m:ctrlPr>
                                <a:rPr lang="zh-CN" altLang="en-US" i="1" dirty="0">
                                  <a:solidFill>
                                    <a:schemeClr val="tx1"/>
                                  </a:solidFill>
                                  <a:latin typeface="Cambria Math" panose="02040503050406030204" pitchFamily="18" charset="0"/>
                                </a:rPr>
                              </m:ctrlPr>
                            </m:sSubPr>
                            <m:e>
                              <m:r>
                                <a:rPr lang="zh-CN" altLang="en-US" i="1" dirty="0">
                                  <a:solidFill>
                                    <a:schemeClr val="tx1"/>
                                  </a:solidFill>
                                  <a:latin typeface="Cambria Math" panose="02040503050406030204" pitchFamily="18" charset="0"/>
                                </a:rPr>
                                <m:t>𝒫</m:t>
                              </m:r>
                            </m:e>
                            <m:sub>
                              <m:r>
                                <a:rPr lang="en-US" altLang="zh-CN" i="1" dirty="0">
                                  <a:solidFill>
                                    <a:schemeClr val="tx1"/>
                                  </a:solidFill>
                                  <a:latin typeface="Cambria Math" panose="02040503050406030204" pitchFamily="18" charset="0"/>
                                </a:rPr>
                                <m:t>𝑖</m:t>
                              </m:r>
                            </m:sub>
                          </m:sSub>
                        </m:sub>
                        <m:sup/>
                        <m:e>
                          <m:sSub>
                            <m:sSubPr>
                              <m:ctrlPr>
                                <a:rPr lang="en-US" altLang="zh-CN" dirty="0">
                                  <a:solidFill>
                                    <a:schemeClr val="tx1"/>
                                  </a:solidFill>
                                  <a:latin typeface="Cambria Math" panose="02040503050406030204" pitchFamily="18" charset="0"/>
                                </a:rPr>
                              </m:ctrlPr>
                            </m:sSubPr>
                            <m:e>
                              <m:r>
                                <m:rPr>
                                  <m:sty m:val="p"/>
                                </m:rPr>
                                <a:rPr lang="en-US" altLang="zh-CN" dirty="0">
                                  <a:solidFill>
                                    <a:schemeClr val="tx1"/>
                                  </a:solidFill>
                                  <a:latin typeface="Cambria Math" panose="02040503050406030204" pitchFamily="18" charset="0"/>
                                </a:rPr>
                                <m:t>Φ</m:t>
                              </m:r>
                            </m:e>
                            <m:sub>
                              <m:r>
                                <m:rPr>
                                  <m:sty m:val="p"/>
                                </m:rPr>
                                <a:rPr lang="en-US" altLang="zh-CN" dirty="0">
                                  <a:solidFill>
                                    <a:schemeClr val="tx1"/>
                                  </a:solidFill>
                                  <a:latin typeface="Cambria Math" panose="02040503050406030204" pitchFamily="18" charset="0"/>
                                </a:rPr>
                                <m:t>i</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Sub>
                            </m:e>
                          </m:d>
                          <m:r>
                            <a:rPr lang="en-US" altLang="zh-CN" i="1" dirty="0">
                              <a:solidFill>
                                <a:schemeClr val="tx1"/>
                              </a:solidFill>
                              <a:latin typeface="Cambria Math" panose="02040503050406030204" pitchFamily="18" charset="0"/>
                            </a:rPr>
                            <m:t>𝑑</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𝜇</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Sub>
                            </m:e>
                          </m:d>
                        </m:e>
                      </m:nary>
                      <m:r>
                        <a:rPr lang="en-US" altLang="zh-CN" b="0" i="1" dirty="0" smtClean="0">
                          <a:solidFill>
                            <a:schemeClr val="tx1"/>
                          </a:solidFill>
                          <a:latin typeface="Cambria Math" panose="02040503050406030204" pitchFamily="18" charset="0"/>
                        </a:rPr>
                        <m:t>,  </m:t>
                      </m:r>
                      <m:r>
                        <a:rPr lang="en-US" altLang="zh-CN" i="1" dirty="0">
                          <a:latin typeface="Cambria Math" panose="02040503050406030204" pitchFamily="18" charset="0"/>
                        </a:rPr>
                        <m:t>𝐿</m:t>
                      </m:r>
                      <m:d>
                        <m:dPr>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𝟏</m:t>
                              </m:r>
                            </m:sub>
                          </m:sSub>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𝒑</m:t>
                              </m:r>
                            </m:e>
                            <m:sub>
                              <m:r>
                                <a:rPr lang="en-US" altLang="zh-CN" b="1" i="1" dirty="0">
                                  <a:latin typeface="Cambria Math" panose="02040503050406030204" pitchFamily="18" charset="0"/>
                                </a:rPr>
                                <m:t>𝟎</m:t>
                              </m:r>
                            </m:sub>
                          </m:sSub>
                        </m:e>
                      </m:d>
                      <m:r>
                        <a:rPr lang="en-US" altLang="zh-CN" b="1" i="1" dirty="0">
                          <a:latin typeface="Cambria Math" panose="02040503050406030204" pitchFamily="18" charset="0"/>
                        </a:rPr>
                        <m:t>=</m:t>
                      </m:r>
                      <m:nary>
                        <m:naryPr>
                          <m:chr m:val="∑"/>
                          <m:ctrlPr>
                            <a:rPr lang="en-US" altLang="zh-CN" i="1" dirty="0">
                              <a:latin typeface="Cambria Math" panose="02040503050406030204" pitchFamily="18" charset="0"/>
                            </a:rPr>
                          </m:ctrlPr>
                        </m:naryPr>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b="1" i="1" dirty="0">
                              <a:latin typeface="Cambria Math" panose="02040503050406030204" pitchFamily="18" charset="0"/>
                            </a:rPr>
                            <m:t>+∞</m:t>
                          </m:r>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𝐼</m:t>
                              </m:r>
                            </m:e>
                            <m:sub>
                              <m:r>
                                <a:rPr lang="en-US" altLang="zh-CN" i="1" dirty="0">
                                  <a:latin typeface="Cambria Math" panose="02040503050406030204" pitchFamily="18" charset="0"/>
                                </a:rPr>
                                <m:t>𝑖</m:t>
                              </m:r>
                            </m:sub>
                          </m:sSub>
                        </m:e>
                      </m:nary>
                    </m:oMath>
                  </m:oMathPara>
                </a14:m>
                <a:endParaRPr lang="en-US" altLang="zh-CN" b="0" i="1" dirty="0">
                  <a:solidFill>
                    <a:schemeClr val="tx1"/>
                  </a:solidFill>
                  <a:latin typeface="Cambria Math" panose="02040503050406030204" pitchFamily="18" charset="0"/>
                </a:endParaRPr>
              </a:p>
              <a:p>
                <a:pPr/>
                <a14:m>
                  <m:oMathPara xmlns:m="http://schemas.openxmlformats.org/officeDocument/2006/math">
                    <m:oMath>
                      <m:sSub>
                        <m:sSubPr>
                          <m:ctrlPr>
                            <a:rPr lang="en-US" altLang="zh-CN">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sub>
                          </m:sSub>
                        </m:e>
                      </m:d>
                      <m:r>
                        <a:rPr lang="en-US" altLang="zh-CN" i="1">
                          <a:solidFill>
                            <a:schemeClr val="tx1"/>
                          </a:solidFill>
                          <a:latin typeface="Cambria Math" panose="02040503050406030204" pitchFamily="18" charset="0"/>
                        </a:rPr>
                        <m:t>=</m:t>
                      </m:r>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e>
                      </m:d>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𝐹</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e>
                      </m:d>
                      <m:r>
                        <a:rPr lang="en-US" altLang="zh-CN" b="0" i="1" smtClean="0">
                          <a:solidFill>
                            <a:schemeClr val="tx1"/>
                          </a:solidFill>
                          <a:latin typeface="Cambria Math" panose="02040503050406030204" pitchFamily="18" charset="0"/>
                        </a:rPr>
                        <m:t>,  </m:t>
                      </m:r>
                      <m:sSub>
                        <m:sSubPr>
                          <m:ctrlPr>
                            <a:rPr lang="en-US" altLang="zh-CN" b="0"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𝛽</m:t>
                          </m:r>
                        </m:e>
                        <m:sub>
                          <m:r>
                            <a:rPr lang="en-US" altLang="zh-CN" b="0" i="1" smtClean="0">
                              <a:solidFill>
                                <a:schemeClr val="tx1"/>
                              </a:solidFill>
                              <a:latin typeface="Cambria Math" panose="02040503050406030204" pitchFamily="18" charset="0"/>
                            </a:rPr>
                            <m:t>𝑖</m:t>
                          </m:r>
                          <m:r>
                            <a:rPr lang="en-US" altLang="zh-CN" b="0" i="1" smtClean="0">
                              <a:solidFill>
                                <a:schemeClr val="tx1"/>
                              </a:solidFill>
                              <a:latin typeface="Cambria Math" panose="02040503050406030204" pitchFamily="18" charset="0"/>
                            </a:rPr>
                            <m:t>−1</m:t>
                          </m:r>
                        </m:sub>
                      </m:sSub>
                      <m:r>
                        <a:rPr lang="en-US" altLang="zh-CN" b="0" i="1" smtClean="0">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e>
                          </m:d>
                        </m:num>
                        <m:den>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up>
                              <m:r>
                                <a:rPr lang="en-US" altLang="zh-CN" i="1" dirty="0">
                                  <a:solidFill>
                                    <a:schemeClr val="tx1"/>
                                  </a:solidFill>
                                  <a:latin typeface="Cambria Math" panose="02040503050406030204" pitchFamily="18" charset="0"/>
                                </a:rPr>
                                <m:t>𝑝𝑟𝑒</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e>
                          </m:d>
                        </m:den>
                      </m:f>
                    </m:oMath>
                  </m:oMathPara>
                </a14:m>
                <a:endParaRPr lang="en-US" altLang="zh-CN" i="1" dirty="0">
                  <a:solidFill>
                    <a:schemeClr val="tx1"/>
                  </a:solidFill>
                  <a:latin typeface="Cambria Math" panose="02040503050406030204" pitchFamily="18" charset="0"/>
                </a:endParaRPr>
              </a:p>
              <a:p>
                <a:pPr/>
                <a14:m>
                  <m:oMathPara xmlns:m="http://schemas.openxmlformats.org/officeDocument/2006/math">
                    <m:oMath>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𝐷</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e>
                      </m:d>
                      <m:r>
                        <a:rPr lang="en-US" altLang="zh-CN" i="1" dirty="0">
                          <a:latin typeface="Cambria Math" panose="02040503050406030204" pitchFamily="18" charset="0"/>
                        </a:rPr>
                        <m:t>=</m:t>
                      </m:r>
                      <m:nary>
                        <m:naryPr>
                          <m:supHide m:val="on"/>
                          <m:ctrlPr>
                            <a:rPr lang="en-US" altLang="zh-CN" i="1" dirty="0">
                              <a:latin typeface="Cambria Math" panose="02040503050406030204" pitchFamily="18" charset="0"/>
                            </a:rPr>
                          </m:ctrlPr>
                        </m:naryPr>
                        <m:sub>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Ω</m:t>
                              </m:r>
                            </m:e>
                            <m:sub>
                              <m:r>
                                <a:rPr lang="en-US" altLang="zh-CN" i="1" dirty="0">
                                  <a:latin typeface="Cambria Math" panose="02040503050406030204" pitchFamily="18" charset="0"/>
                                </a:rPr>
                                <m:t>𝐸</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nary>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e>
                          </m:d>
                        </m:num>
                        <m:den>
                          <m:r>
                            <a:rPr lang="en-US" altLang="zh-CN" b="0" i="1" smtClean="0">
                              <a:latin typeface="Cambria Math" panose="02040503050406030204" pitchFamily="18" charset="0"/>
                            </a:rPr>
                            <m:t>𝑝</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𝑖</m:t>
                                  </m:r>
                                </m:sub>
                              </m:sSub>
                            </m:e>
                          </m:d>
                        </m:den>
                      </m:f>
                    </m:oMath>
                  </m:oMathPara>
                </a14:m>
                <a:endParaRPr lang="en-US" altLang="zh-CN" i="1" dirty="0">
                  <a:solidFill>
                    <a:schemeClr val="tx1"/>
                  </a:solidFill>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𝐼</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𝐿</m:t>
                          </m:r>
                        </m:sub>
                        <m:sup>
                          <m:r>
                            <a:rPr lang="en-US" altLang="zh-CN" b="0" i="1" dirty="0" smtClean="0">
                              <a:solidFill>
                                <a:srgbClr val="FF0000"/>
                              </a:solidFill>
                              <a:latin typeface="Cambria Math" panose="02040503050406030204" pitchFamily="18" charset="0"/>
                            </a:rPr>
                            <m:t>𝑃</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num>
                        <m:den>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den>
                      </m:f>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𝐵</m:t>
                          </m:r>
                        </m:sub>
                        <m:sup>
                          <m:r>
                            <a:rPr lang="en-US" altLang="zh-CN" b="0" i="1" dirty="0" smtClean="0">
                              <a:solidFill>
                                <a:srgbClr val="FF0000"/>
                              </a:solidFill>
                              <a:latin typeface="Cambria Math" panose="02040503050406030204" pitchFamily="18" charset="0"/>
                            </a:rPr>
                            <m:t>𝑃</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num>
                        <m:den>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den>
                      </m:f>
                    </m:oMath>
                    <m:oMath>
                      <m:r>
                        <a:rPr lang="en-US" altLang="zh-CN" b="0"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𝛽</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r>
                            <a:rPr lang="en-US" altLang="zh-CN" b="0" i="1" dirty="0" smtClean="0">
                              <a:latin typeface="Cambria Math" panose="02040503050406030204" pitchFamily="18" charset="0"/>
                            </a:rPr>
                            <m:t> </m:t>
                          </m:r>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𝑤</m:t>
                              </m:r>
                            </m:e>
                            <m:sub>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sup>
                          </m:sSubSup>
                        </m:e>
                      </m:d>
                    </m:oMath>
                  </m:oMathPara>
                </a14:m>
                <a:endParaRPr lang="en-US" altLang="zh-CN" i="1" dirty="0">
                  <a:latin typeface="Cambria Math" panose="02040503050406030204" pitchFamily="18" charset="0"/>
                </a:endParaRPr>
              </a:p>
              <a:p>
                <a:pPr>
                  <a:spcBef>
                    <a:spcPts val="800"/>
                  </a:spcBef>
                </a:pPr>
                <a:endParaRPr lang="en-US" altLang="zh-CN" dirty="0">
                  <a:latin typeface="+mn-ea"/>
                </a:endParaRPr>
              </a:p>
            </p:txBody>
          </p:sp>
        </mc:Choice>
        <mc:Fallback xmlns="">
          <p:sp>
            <p:nvSpPr>
              <p:cNvPr id="4" name="文本框 3">
                <a:extLst>
                  <a:ext uri="{FF2B5EF4-FFF2-40B4-BE49-F238E27FC236}">
                    <a16:creationId xmlns:a16="http://schemas.microsoft.com/office/drawing/2014/main" id="{0215DCEB-0055-1221-09E2-4A79D3F4E84C}"/>
                  </a:ext>
                </a:extLst>
              </p:cNvPr>
              <p:cNvSpPr txBox="1">
                <a:spLocks noRot="1" noChangeAspect="1" noMove="1" noResize="1" noEditPoints="1" noAdjustHandles="1" noChangeArrowheads="1" noChangeShapeType="1" noTextEdit="1"/>
              </p:cNvSpPr>
              <p:nvPr/>
            </p:nvSpPr>
            <p:spPr>
              <a:xfrm>
                <a:off x="6096000" y="1485829"/>
                <a:ext cx="5747503" cy="3520836"/>
              </a:xfrm>
              <a:prstGeom prst="rect">
                <a:avLst/>
              </a:prstGeom>
              <a:blipFill>
                <a:blip r:embed="rId3"/>
                <a:stretch>
                  <a:fillRect l="-848" r="-742" b="-1906"/>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75FF7F1E-7DA3-1CA3-B54B-02C25F94D507}"/>
              </a:ext>
            </a:extLst>
          </p:cNvPr>
          <p:cNvSpPr txBox="1"/>
          <p:nvPr/>
        </p:nvSpPr>
        <p:spPr>
          <a:xfrm>
            <a:off x="0" y="4773794"/>
            <a:ext cx="6228291" cy="369332"/>
          </a:xfrm>
          <a:prstGeom prst="rect">
            <a:avLst/>
          </a:prstGeom>
          <a:noFill/>
        </p:spPr>
        <p:txBody>
          <a:bodyPr wrap="square">
            <a:spAutoFit/>
          </a:bodyPr>
          <a:lstStyle/>
          <a:p>
            <a:r>
              <a:rPr lang="en-US" altLang="zh-CN" sz="1800" dirty="0">
                <a:latin typeface="Cambria Math" panose="02040503050406030204" pitchFamily="18" charset="0"/>
              </a:rPr>
              <a:t>         Spectral MIS</a:t>
            </a:r>
            <a:r>
              <a:rPr lang="zh-CN" altLang="en-US" dirty="0">
                <a:latin typeface="Cambria Math" panose="02040503050406030204" pitchFamily="18" charset="0"/>
              </a:rPr>
              <a:t>是对每个波长对应的路径采样技术做</a:t>
            </a:r>
            <a:r>
              <a:rPr lang="en-US" altLang="zh-CN" dirty="0">
                <a:latin typeface="Cambria Math" panose="02040503050406030204" pitchFamily="18" charset="0"/>
              </a:rPr>
              <a:t>MIS</a:t>
            </a:r>
            <a:r>
              <a:rPr lang="zh-CN" altLang="en-US" dirty="0">
                <a:latin typeface="Cambria Math" panose="02040503050406030204" pitchFamily="18" charset="0"/>
              </a:rPr>
              <a:t>。</a:t>
            </a:r>
            <a:endParaRPr lang="en-US" altLang="zh-CN" dirty="0">
              <a:latin typeface="Cambria Math" panose="02040503050406030204" pitchFamily="18" charset="0"/>
            </a:endParaRPr>
          </a:p>
        </p:txBody>
      </p:sp>
      <p:sp>
        <p:nvSpPr>
          <p:cNvPr id="6" name="文本框 5">
            <a:extLst>
              <a:ext uri="{FF2B5EF4-FFF2-40B4-BE49-F238E27FC236}">
                <a16:creationId xmlns:a16="http://schemas.microsoft.com/office/drawing/2014/main" id="{5BF39121-37A6-52F1-1F6E-74A3E1A03ADA}"/>
              </a:ext>
            </a:extLst>
          </p:cNvPr>
          <p:cNvSpPr txBox="1"/>
          <p:nvPr/>
        </p:nvSpPr>
        <p:spPr>
          <a:xfrm>
            <a:off x="6503830" y="4755247"/>
            <a:ext cx="6284890" cy="369332"/>
          </a:xfrm>
          <a:prstGeom prst="rect">
            <a:avLst/>
          </a:prstGeom>
          <a:noFill/>
        </p:spPr>
        <p:txBody>
          <a:bodyPr wrap="square">
            <a:spAutoFit/>
          </a:bodyPr>
          <a:lstStyle/>
          <a:p>
            <a:r>
              <a:rPr lang="en-US" altLang="zh-CN" sz="1800" b="0" dirty="0">
                <a:latin typeface="Cambria Math" panose="02040503050406030204" pitchFamily="18" charset="0"/>
              </a:rPr>
              <a:t> PT MIS</a:t>
            </a:r>
            <a:r>
              <a:rPr lang="zh-CN" altLang="en-US" sz="1800" b="0" dirty="0">
                <a:latin typeface="Cambria Math" panose="02040503050406030204" pitchFamily="18" charset="0"/>
              </a:rPr>
              <a:t>是对向光源采样和向</a:t>
            </a:r>
            <a:r>
              <a:rPr lang="en-US" altLang="zh-CN" sz="1800" b="0" dirty="0">
                <a:latin typeface="Cambria Math" panose="02040503050406030204" pitchFamily="18" charset="0"/>
              </a:rPr>
              <a:t>BSDF</a:t>
            </a:r>
            <a:r>
              <a:rPr lang="zh-CN" altLang="en-US" sz="1800" b="0" dirty="0">
                <a:latin typeface="Cambria Math" panose="02040503050406030204" pitchFamily="18" charset="0"/>
              </a:rPr>
              <a:t>采样做</a:t>
            </a:r>
            <a:r>
              <a:rPr lang="en-US" altLang="zh-CN" sz="1800" b="0" dirty="0">
                <a:latin typeface="Cambria Math" panose="02040503050406030204" pitchFamily="18" charset="0"/>
              </a:rPr>
              <a:t>MIS</a:t>
            </a:r>
            <a:r>
              <a:rPr lang="zh-CN" altLang="en-US" sz="1800" b="0" dirty="0">
                <a:latin typeface="Cambria Math" panose="02040503050406030204" pitchFamily="18" charset="0"/>
              </a:rPr>
              <a:t>。</a:t>
            </a:r>
            <a:endParaRPr lang="zh-CN" altLang="en-US" dirty="0"/>
          </a:p>
        </p:txBody>
      </p:sp>
      <p:sp>
        <p:nvSpPr>
          <p:cNvPr id="9" name="文本框 8">
            <a:extLst>
              <a:ext uri="{FF2B5EF4-FFF2-40B4-BE49-F238E27FC236}">
                <a16:creationId xmlns:a16="http://schemas.microsoft.com/office/drawing/2014/main" id="{4BFE1E50-E156-DDB0-8E28-10C1F63ED80F}"/>
              </a:ext>
            </a:extLst>
          </p:cNvPr>
          <p:cNvSpPr txBox="1"/>
          <p:nvPr/>
        </p:nvSpPr>
        <p:spPr>
          <a:xfrm>
            <a:off x="2803838" y="5181661"/>
            <a:ext cx="6584324" cy="830997"/>
          </a:xfrm>
          <a:prstGeom prst="rect">
            <a:avLst/>
          </a:prstGeom>
          <a:noFill/>
        </p:spPr>
        <p:txBody>
          <a:bodyPr wrap="square">
            <a:spAutoFit/>
          </a:bodyPr>
          <a:lstStyle/>
          <a:p>
            <a:pPr algn="ctr"/>
            <a:r>
              <a:rPr lang="zh-CN" altLang="en-US" sz="2400" b="1" dirty="0">
                <a:latin typeface="Cambria Math" panose="02040503050406030204" pitchFamily="18" charset="0"/>
              </a:rPr>
              <a:t>下一步就是将这两个</a:t>
            </a:r>
            <a:r>
              <a:rPr lang="en-US" altLang="zh-CN" sz="2400" b="1" dirty="0">
                <a:latin typeface="Cambria Math" panose="02040503050406030204" pitchFamily="18" charset="0"/>
              </a:rPr>
              <a:t>MIS</a:t>
            </a:r>
            <a:r>
              <a:rPr lang="zh-CN" altLang="en-US" sz="2400" b="1" dirty="0">
                <a:latin typeface="Cambria Math" panose="02040503050406030204" pitchFamily="18" charset="0"/>
              </a:rPr>
              <a:t>技术融合起来</a:t>
            </a:r>
            <a:endParaRPr lang="en-US" altLang="zh-CN" sz="2400" b="1" dirty="0">
              <a:latin typeface="Cambria Math" panose="02040503050406030204" pitchFamily="18" charset="0"/>
            </a:endParaRPr>
          </a:p>
          <a:p>
            <a:pPr algn="ctr"/>
            <a:r>
              <a:rPr lang="zh-CN" altLang="en-US" sz="2400" b="1" dirty="0">
                <a:latin typeface="Cambria Math" panose="02040503050406030204" pitchFamily="18" charset="0"/>
              </a:rPr>
              <a:t>方法一：分层组合            方法二：联合组合</a:t>
            </a:r>
            <a:endParaRPr lang="en-US" altLang="zh-CN" sz="2400" b="1" dirty="0">
              <a:latin typeface="Cambria Math" panose="02040503050406030204" pitchFamily="18" charset="0"/>
            </a:endParaRPr>
          </a:p>
        </p:txBody>
      </p:sp>
    </p:spTree>
    <p:extLst>
      <p:ext uri="{BB962C8B-B14F-4D97-AF65-F5344CB8AC3E}">
        <p14:creationId xmlns:p14="http://schemas.microsoft.com/office/powerpoint/2010/main" val="42251697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7825A-6FBD-4E80-21C6-79EF8D36C80E}"/>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E207C5F8-19DE-A6D0-5FA4-6C1711F9E39B}"/>
              </a:ext>
            </a:extLst>
          </p:cNvPr>
          <p:cNvSpPr>
            <a:spLocks noGrp="1"/>
          </p:cNvSpPr>
          <p:nvPr>
            <p:ph type="title" idx="1"/>
          </p:nvPr>
        </p:nvSpPr>
        <p:spPr/>
        <p:txBody>
          <a:bodyPr/>
          <a:lstStyle/>
          <a:p>
            <a:r>
              <a:rPr lang="en-US" altLang="zh-CN" dirty="0"/>
              <a:t>MIS </a:t>
            </a:r>
            <a:r>
              <a:rPr lang="zh-CN" altLang="en-US" dirty="0"/>
              <a:t>分层组合</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C907D25-22E5-A41C-B051-7B3B03021A75}"/>
                  </a:ext>
                </a:extLst>
              </p:cNvPr>
              <p:cNvSpPr txBox="1"/>
              <p:nvPr/>
            </p:nvSpPr>
            <p:spPr>
              <a:xfrm>
                <a:off x="261869" y="1232104"/>
                <a:ext cx="11771291" cy="5306837"/>
              </a:xfrm>
              <a:prstGeom prst="rect">
                <a:avLst/>
              </a:prstGeom>
              <a:noFill/>
            </p:spPr>
            <p:txBody>
              <a:bodyPr wrap="square">
                <a:spAutoFit/>
              </a:bodyPr>
              <a:lstStyle/>
              <a:p>
                <a:r>
                  <a:rPr lang="en-US" altLang="zh-CN" sz="1600" dirty="0">
                    <a:latin typeface="Cambria Math" panose="02040503050406030204" pitchFamily="18" charset="0"/>
                  </a:rPr>
                  <a:t>         PT MIS</a:t>
                </a:r>
                <a:r>
                  <a:rPr lang="zh-CN" altLang="en-US" sz="1600" dirty="0">
                    <a:latin typeface="Cambria Math" panose="02040503050406030204" pitchFamily="18" charset="0"/>
                  </a:rPr>
                  <a:t>可以看作是用</a:t>
                </a:r>
                <a:r>
                  <a:rPr lang="en-US" altLang="zh-CN" sz="1600" dirty="0">
                    <a:latin typeface="Cambria Math" panose="02040503050406030204" pitchFamily="18" charset="0"/>
                  </a:rPr>
                  <a:t>MIS</a:t>
                </a:r>
                <a:r>
                  <a:rPr lang="zh-CN" altLang="en-US" sz="1600" dirty="0">
                    <a:latin typeface="Cambria Math" panose="02040503050406030204" pitchFamily="18" charset="0"/>
                  </a:rPr>
                  <a:t>解决最后一个连接光源的积分：</a:t>
                </a:r>
                <a:endParaRPr lang="en-US" altLang="zh-CN" sz="1600" dirty="0">
                  <a:latin typeface="Cambria Math" panose="02040503050406030204" pitchFamily="18" charset="0"/>
                </a:endParaRPr>
              </a:p>
              <a:p>
                <a:pPr/>
                <a14:m>
                  <m:oMathPara xmlns:m="http://schemas.openxmlformats.org/officeDocument/2006/math">
                    <m:o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𝐷</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e>
                      </m:d>
                      <m:r>
                        <a:rPr lang="en-US" altLang="zh-CN" sz="1600" i="1" dirty="0">
                          <a:latin typeface="Cambria Math" panose="02040503050406030204" pitchFamily="18" charset="0"/>
                        </a:rPr>
                        <m:t>=</m:t>
                      </m:r>
                      <m:nary>
                        <m:naryPr>
                          <m:supHide m:val="on"/>
                          <m:ctrlPr>
                            <a:rPr lang="en-US" altLang="zh-CN" sz="1600" i="1" dirty="0">
                              <a:latin typeface="Cambria Math" panose="02040503050406030204" pitchFamily="18" charset="0"/>
                            </a:rPr>
                          </m:ctrlPr>
                        </m:naryPr>
                        <m:sub>
                          <m:sSub>
                            <m:sSubPr>
                              <m:ctrlPr>
                                <a:rPr lang="en-US" altLang="zh-CN" sz="1600" dirty="0">
                                  <a:latin typeface="Cambria Math" panose="02040503050406030204" pitchFamily="18" charset="0"/>
                                </a:rPr>
                              </m:ctrlPr>
                            </m:sSubPr>
                            <m:e>
                              <m:r>
                                <m:rPr>
                                  <m:sty m:val="p"/>
                                </m:rPr>
                                <a:rPr lang="en-US" altLang="zh-CN" sz="1600" dirty="0">
                                  <a:latin typeface="Cambria Math" panose="02040503050406030204" pitchFamily="18" charset="0"/>
                                </a:rPr>
                                <m:t>Ω</m:t>
                              </m:r>
                            </m:e>
                            <m:sub>
                              <m:r>
                                <a:rPr lang="en-US" altLang="zh-CN" sz="1600" i="1" dirty="0">
                                  <a:latin typeface="Cambria Math" panose="02040503050406030204" pitchFamily="18" charset="0"/>
                                </a:rPr>
                                <m:t>𝐸</m:t>
                              </m:r>
                            </m:sub>
                          </m:sSub>
                        </m:sub>
                        <m:sup/>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𝐹</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e>
                          </m:d>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Sub>
                        </m:e>
                      </m:nary>
                      <m:r>
                        <a:rPr lang="en-US" altLang="zh-CN" sz="1600" b="0" i="1" dirty="0" smtClean="0">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𝐷</m:t>
                              </m:r>
                            </m:e>
                          </m:acc>
                        </m:e>
                        <m:sub>
                          <m:r>
                            <a:rPr lang="en-US" altLang="zh-CN" sz="1600" i="1" dirty="0">
                              <a:solidFill>
                                <a:schemeClr val="tx1"/>
                              </a:solidFill>
                              <a:latin typeface="Cambria Math" panose="02040503050406030204" pitchFamily="18" charset="0"/>
                            </a:rPr>
                            <m:t>𝑖</m:t>
                          </m:r>
                        </m:sub>
                      </m:sSub>
                      <m:d>
                        <m:dPr>
                          <m:ctrlPr>
                            <a:rPr lang="en-US" altLang="zh-CN" sz="1600" i="1" dirty="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𝑝</m:t>
                                  </m:r>
                                </m:e>
                              </m:acc>
                            </m:e>
                            <m:sub>
                              <m:r>
                                <a:rPr lang="en-US" altLang="zh-CN" sz="1600" i="1">
                                  <a:solidFill>
                                    <a:schemeClr val="tx1"/>
                                  </a:solidFill>
                                  <a:latin typeface="Cambria Math" panose="02040503050406030204" pitchFamily="18" charset="0"/>
                                </a:rPr>
                                <m:t>𝑖</m:t>
                              </m:r>
                              <m:r>
                                <a:rPr lang="en-US" altLang="zh-CN" sz="1600" i="1">
                                  <a:solidFill>
                                    <a:schemeClr val="tx1"/>
                                  </a:solidFill>
                                  <a:latin typeface="Cambria Math" panose="02040503050406030204" pitchFamily="18" charset="0"/>
                                </a:rPr>
                                <m:t>−1</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𝑤</m:t>
                          </m:r>
                        </m:e>
                        <m:sub>
                          <m:r>
                            <a:rPr lang="en-US" altLang="zh-CN" sz="1600" i="1" dirty="0">
                              <a:solidFill>
                                <a:schemeClr val="tx1"/>
                              </a:solidFill>
                              <a:latin typeface="Cambria Math" panose="02040503050406030204" pitchFamily="18" charset="0"/>
                              <a:ea typeface="Cambria Math" panose="02040503050406030204" pitchFamily="18" charset="0"/>
                            </a:rPr>
                            <m:t>𝐿</m:t>
                          </m:r>
                        </m:sub>
                      </m:sSub>
                      <m:d>
                        <m:dPr>
                          <m:ctrlPr>
                            <a:rPr lang="en-US" altLang="zh-CN" sz="1600" i="1">
                              <a:solidFill>
                                <a:schemeClr val="tx1"/>
                              </a:solidFill>
                              <a:latin typeface="Cambria Math" panose="02040503050406030204" pitchFamily="18" charset="0"/>
                            </a:rPr>
                          </m:ctrlPr>
                        </m:dPr>
                        <m:e>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𝜔</m:t>
                              </m:r>
                            </m:e>
                            <m:sub>
                              <m:r>
                                <a:rPr lang="en-US" altLang="zh-CN" sz="1600" i="1">
                                  <a:solidFill>
                                    <a:schemeClr val="tx1"/>
                                  </a:solidFill>
                                  <a:latin typeface="Cambria Math" panose="02040503050406030204" pitchFamily="18" charset="0"/>
                                </a:rPr>
                                <m:t>𝑖</m:t>
                              </m:r>
                            </m:sub>
                            <m:sup>
                              <m:r>
                                <a:rPr lang="en-US" altLang="zh-CN" sz="1600" i="1" dirty="0">
                                  <a:solidFill>
                                    <a:schemeClr val="tx1"/>
                                  </a:solidFill>
                                  <a:latin typeface="Cambria Math" panose="02040503050406030204" pitchFamily="18" charset="0"/>
                                  <a:ea typeface="Cambria Math" panose="02040503050406030204" pitchFamily="18" charset="0"/>
                                </a:rPr>
                                <m:t>𝐿</m:t>
                              </m:r>
                            </m:sup>
                          </m:sSubSup>
                        </m:e>
                      </m:d>
                      <m:r>
                        <a:rPr lang="en-US" altLang="zh-CN" sz="1600" i="1" dirty="0">
                          <a:solidFill>
                            <a:schemeClr val="tx1"/>
                          </a:solidFill>
                          <a:latin typeface="Cambria Math" panose="02040503050406030204" pitchFamily="18" charset="0"/>
                          <a:ea typeface="Cambria Math" panose="02040503050406030204" pitchFamily="18" charset="0"/>
                        </a:rPr>
                        <m:t> </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𝐷</m:t>
                              </m:r>
                            </m:e>
                          </m:acc>
                        </m:e>
                        <m:sub>
                          <m:r>
                            <a:rPr lang="en-US" altLang="zh-CN" sz="1600" i="1" dirty="0">
                              <a:solidFill>
                                <a:schemeClr val="tx1"/>
                              </a:solidFill>
                              <a:latin typeface="Cambria Math" panose="02040503050406030204" pitchFamily="18" charset="0"/>
                            </a:rPr>
                            <m:t>𝑖</m:t>
                          </m:r>
                        </m:sub>
                        <m:sup>
                          <m:r>
                            <a:rPr lang="en-US" altLang="zh-CN" sz="1600" i="1" dirty="0">
                              <a:solidFill>
                                <a:schemeClr val="tx1"/>
                              </a:solidFill>
                              <a:latin typeface="Cambria Math" panose="02040503050406030204" pitchFamily="18" charset="0"/>
                            </a:rPr>
                            <m:t>𝐿</m:t>
                          </m:r>
                        </m:sup>
                      </m:sSubSup>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𝑤</m:t>
                          </m:r>
                        </m:e>
                        <m:sub>
                          <m:r>
                            <a:rPr lang="en-US" altLang="zh-CN" sz="1600" i="1" dirty="0">
                              <a:solidFill>
                                <a:schemeClr val="tx1"/>
                              </a:solidFill>
                              <a:latin typeface="Cambria Math" panose="02040503050406030204" pitchFamily="18" charset="0"/>
                            </a:rPr>
                            <m:t>𝐵</m:t>
                          </m:r>
                        </m:sub>
                      </m:sSub>
                      <m:d>
                        <m:dPr>
                          <m:ctrlPr>
                            <a:rPr lang="en-US" altLang="zh-CN" sz="1600" i="1">
                              <a:solidFill>
                                <a:schemeClr val="tx1"/>
                              </a:solidFill>
                              <a:latin typeface="Cambria Math" panose="02040503050406030204" pitchFamily="18" charset="0"/>
                            </a:rPr>
                          </m:ctrlPr>
                        </m:dPr>
                        <m:e>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𝜔</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𝐵</m:t>
                              </m:r>
                            </m:sup>
                          </m:sSubSup>
                        </m:e>
                      </m:d>
                      <m:r>
                        <a:rPr lang="en-US" altLang="zh-CN" sz="1600" i="1">
                          <a:solidFill>
                            <a:schemeClr val="tx1"/>
                          </a:solidFill>
                          <a:latin typeface="Cambria Math" panose="02040503050406030204" pitchFamily="18" charset="0"/>
                        </a:rPr>
                        <m:t> </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𝐷</m:t>
                              </m:r>
                            </m:e>
                          </m:acc>
                        </m:e>
                        <m:sub>
                          <m:r>
                            <a:rPr lang="en-US" altLang="zh-CN" sz="1600" i="1" dirty="0">
                              <a:solidFill>
                                <a:schemeClr val="tx1"/>
                              </a:solidFill>
                              <a:latin typeface="Cambria Math" panose="02040503050406030204" pitchFamily="18" charset="0"/>
                            </a:rPr>
                            <m:t>𝑖</m:t>
                          </m:r>
                        </m:sub>
                        <m:sup>
                          <m:r>
                            <a:rPr lang="en-US" altLang="zh-CN" sz="1600" i="1" dirty="0">
                              <a:solidFill>
                                <a:schemeClr val="tx1"/>
                              </a:solidFill>
                              <a:latin typeface="Cambria Math" panose="02040503050406030204" pitchFamily="18" charset="0"/>
                            </a:rPr>
                            <m:t>𝐵</m:t>
                          </m:r>
                        </m:sup>
                      </m:sSubSup>
                    </m:oMath>
                  </m:oMathPara>
                </a14:m>
                <a:endParaRPr lang="en-US" altLang="zh-CN" sz="1600" dirty="0">
                  <a:latin typeface="Cambria Math" panose="02040503050406030204" pitchFamily="18" charset="0"/>
                </a:endParaRPr>
              </a:p>
              <a:p>
                <a:r>
                  <a:rPr lang="en-US" altLang="zh-CN" sz="1600" dirty="0">
                    <a:latin typeface="Cambria Math" panose="02040503050406030204" pitchFamily="18" charset="0"/>
                  </a:rPr>
                  <a:t>         </a:t>
                </a:r>
                <a:r>
                  <a:rPr lang="zh-CN" altLang="en-US" sz="1600" dirty="0">
                    <a:latin typeface="Cambria Math" panose="02040503050406030204" pitchFamily="18" charset="0"/>
                  </a:rPr>
                  <a:t>为了将</a:t>
                </a:r>
                <a:r>
                  <a:rPr lang="en-US" altLang="zh-CN" sz="1600" dirty="0">
                    <a:latin typeface="Cambria Math" panose="02040503050406030204" pitchFamily="18" charset="0"/>
                  </a:rPr>
                  <a:t>Spectral MIS</a:t>
                </a:r>
                <a:r>
                  <a:rPr lang="zh-CN" altLang="en-US" sz="1600" dirty="0">
                    <a:latin typeface="Cambria Math" panose="02040503050406030204" pitchFamily="18" charset="0"/>
                  </a:rPr>
                  <a:t>与</a:t>
                </a:r>
                <a:r>
                  <a:rPr lang="en-US" altLang="zh-CN" sz="1600" dirty="0">
                    <a:latin typeface="Cambria Math" panose="02040503050406030204" pitchFamily="18" charset="0"/>
                  </a:rPr>
                  <a:t>PT MIS</a:t>
                </a:r>
                <a:r>
                  <a:rPr lang="zh-CN" altLang="en-US" sz="1600" dirty="0">
                    <a:latin typeface="Cambria Math" panose="02040503050406030204" pitchFamily="18" charset="0"/>
                  </a:rPr>
                  <a:t>分层组合，我们可以将路径积分拆成路径前缀积分与末端连接光源的方向积分：</a:t>
                </a:r>
                <a:endParaRPr lang="en-US" altLang="zh-CN" sz="1600" dirty="0">
                  <a:latin typeface="Cambria Math" panose="02040503050406030204" pitchFamily="18" charset="0"/>
                </a:endParaRPr>
              </a:p>
              <a:p>
                <a:pPr/>
                <a14:m>
                  <m:oMathPara xmlns:m="http://schemas.openxmlformats.org/officeDocument/2006/math">
                    <m:o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i="1" dirty="0">
                              <a:latin typeface="Cambria Math" panose="02040503050406030204" pitchFamily="18" charset="0"/>
                            </a:rPr>
                            <m:t>𝑖</m:t>
                          </m:r>
                        </m:sub>
                      </m:sSub>
                      <m:r>
                        <a:rPr lang="en-US" altLang="zh-CN" sz="1600" b="1" i="1" dirty="0">
                          <a:latin typeface="Cambria Math" panose="02040503050406030204" pitchFamily="18" charset="0"/>
                        </a:rPr>
                        <m:t>=</m:t>
                      </m:r>
                      <m:nary>
                        <m:naryPr>
                          <m:supHide m:val="on"/>
                          <m:ctrlPr>
                            <a:rPr lang="en-US" altLang="zh-CN" sz="1600">
                              <a:latin typeface="Cambria Math" panose="02040503050406030204" pitchFamily="18" charset="0"/>
                            </a:rPr>
                          </m:ctrlPr>
                        </m:naryPr>
                        <m:sub>
                          <m:r>
                            <m:rPr>
                              <m:sty m:val="p"/>
                            </m:rPr>
                            <a:rPr lang="en-US" altLang="zh-CN" sz="1600">
                              <a:latin typeface="Cambria Math" panose="02040503050406030204" pitchFamily="18" charset="0"/>
                            </a:rPr>
                            <m:t>Λ</m:t>
                          </m:r>
                        </m:sub>
                        <m:sup/>
                        <m:e>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sub>
                              </m:sSub>
                            </m:sub>
                            <m:sup/>
                            <m:e>
                              <m:sSub>
                                <m:sSubPr>
                                  <m:ctrlPr>
                                    <a:rPr lang="en-US" altLang="zh-CN" sz="1600" dirty="0">
                                      <a:solidFill>
                                        <a:schemeClr val="accent2">
                                          <a:lumMod val="75000"/>
                                        </a:schemeClr>
                                      </a:solidFill>
                                      <a:latin typeface="Cambria Math" panose="02040503050406030204" pitchFamily="18" charset="0"/>
                                    </a:rPr>
                                  </m:ctrlPr>
                                </m:sSubPr>
                                <m:e>
                                  <m:r>
                                    <m:rPr>
                                      <m:sty m:val="p"/>
                                    </m:rPr>
                                    <a:rPr lang="en-US" altLang="zh-CN" sz="1600" dirty="0">
                                      <a:solidFill>
                                        <a:schemeClr val="accent2">
                                          <a:lumMod val="75000"/>
                                        </a:schemeClr>
                                      </a:solidFill>
                                      <a:latin typeface="Cambria Math" panose="02040503050406030204" pitchFamily="18" charset="0"/>
                                    </a:rPr>
                                    <m:t>Φ</m:t>
                                  </m:r>
                                </m:e>
                                <m:sub>
                                  <m:r>
                                    <m:rPr>
                                      <m:sty m:val="p"/>
                                    </m:rPr>
                                    <a:rPr lang="en-US" altLang="zh-CN" sz="1600" dirty="0">
                                      <a:solidFill>
                                        <a:schemeClr val="accent2">
                                          <a:lumMod val="75000"/>
                                        </a:schemeClr>
                                      </a:solidFill>
                                      <a:latin typeface="Cambria Math" panose="02040503050406030204" pitchFamily="18" charset="0"/>
                                    </a:rPr>
                                    <m:t>i</m:t>
                                  </m:r>
                                </m:sub>
                              </m:sSub>
                              <m:d>
                                <m:dPr>
                                  <m:ctrlPr>
                                    <a:rPr lang="en-US" altLang="zh-CN" sz="1600" i="1" dirty="0">
                                      <a:solidFill>
                                        <a:schemeClr val="accent2">
                                          <a:lumMod val="75000"/>
                                        </a:schemeClr>
                                      </a:solidFill>
                                      <a:latin typeface="Cambria Math" panose="02040503050406030204" pitchFamily="18" charset="0"/>
                                    </a:rPr>
                                  </m:ctrlPr>
                                </m:dPr>
                                <m:e>
                                  <m:sSub>
                                    <m:sSubPr>
                                      <m:ctrlPr>
                                        <a:rPr lang="en-US" altLang="zh-CN" sz="1600" i="1" dirty="0">
                                          <a:solidFill>
                                            <a:schemeClr val="accent2">
                                              <a:lumMod val="75000"/>
                                            </a:schemeClr>
                                          </a:solidFill>
                                          <a:latin typeface="Cambria Math" panose="02040503050406030204" pitchFamily="18" charset="0"/>
                                        </a:rPr>
                                      </m:ctrlPr>
                                    </m:sSubPr>
                                    <m:e>
                                      <m:acc>
                                        <m:accPr>
                                          <m:chr m:val="̅"/>
                                          <m:ctrlPr>
                                            <a:rPr lang="en-US" altLang="zh-CN" sz="1600" i="1" dirty="0">
                                              <a:solidFill>
                                                <a:schemeClr val="accent2">
                                                  <a:lumMod val="75000"/>
                                                </a:schemeClr>
                                              </a:solidFill>
                                              <a:latin typeface="Cambria Math" panose="02040503050406030204" pitchFamily="18" charset="0"/>
                                            </a:rPr>
                                          </m:ctrlPr>
                                        </m:accPr>
                                        <m:e>
                                          <m:r>
                                            <a:rPr lang="en-US" altLang="zh-CN" sz="1600" i="1" dirty="0">
                                              <a:solidFill>
                                                <a:schemeClr val="accent2">
                                                  <a:lumMod val="75000"/>
                                                </a:schemeClr>
                                              </a:solidFill>
                                              <a:latin typeface="Cambria Math" panose="02040503050406030204" pitchFamily="18" charset="0"/>
                                            </a:rPr>
                                            <m:t>𝑝</m:t>
                                          </m:r>
                                        </m:e>
                                      </m:acc>
                                    </m:e>
                                    <m:sub>
                                      <m:r>
                                        <a:rPr lang="en-US" altLang="zh-CN" sz="1600" i="1" dirty="0">
                                          <a:solidFill>
                                            <a:schemeClr val="accent2">
                                              <a:lumMod val="75000"/>
                                            </a:schemeClr>
                                          </a:solidFill>
                                          <a:latin typeface="Cambria Math" panose="02040503050406030204" pitchFamily="18" charset="0"/>
                                        </a:rPr>
                                        <m:t>𝑖</m:t>
                                      </m:r>
                                    </m:sub>
                                  </m:sSub>
                                  <m:r>
                                    <a:rPr lang="en-US" altLang="zh-CN" sz="1600" i="1" dirty="0">
                                      <a:solidFill>
                                        <a:schemeClr val="accent2">
                                          <a:lumMod val="75000"/>
                                        </a:schemeClr>
                                      </a:solidFill>
                                      <a:latin typeface="Cambria Math" panose="02040503050406030204" pitchFamily="18" charset="0"/>
                                    </a:rPr>
                                    <m:t>,</m:t>
                                  </m:r>
                                  <m:r>
                                    <a:rPr lang="en-US" altLang="zh-CN" sz="1600" i="1" dirty="0">
                                      <a:solidFill>
                                        <a:schemeClr val="accent2">
                                          <a:lumMod val="75000"/>
                                        </a:schemeClr>
                                      </a:solidFill>
                                      <a:latin typeface="Cambria Math" panose="02040503050406030204" pitchFamily="18" charset="0"/>
                                    </a:rPr>
                                    <m:t>𝜆</m:t>
                                  </m:r>
                                </m:e>
                              </m:d>
                              <m:r>
                                <a:rPr lang="en-US" altLang="zh-CN" sz="1600" i="1" dirty="0">
                                  <a:solidFill>
                                    <a:schemeClr val="accent2">
                                      <a:lumMod val="75000"/>
                                    </a:schemeClr>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e>
                              </m:d>
                            </m:e>
                          </m:nary>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
                      <m:r>
                        <a:rPr lang="en-US" altLang="zh-CN" sz="1600" b="0" i="1" dirty="0" smtClean="0">
                          <a:latin typeface="Cambria Math" panose="02040503050406030204" pitchFamily="18" charset="0"/>
                        </a:rPr>
                        <m:t>     </m:t>
                      </m:r>
                      <m:r>
                        <a:rPr lang="en-US" altLang="zh-CN" sz="1600" b="1" i="1" dirty="0">
                          <a:latin typeface="Cambria Math" panose="02040503050406030204" pitchFamily="18" charset="0"/>
                        </a:rPr>
                        <m:t>=</m:t>
                      </m:r>
                      <m:nary>
                        <m:naryPr>
                          <m:supHide m:val="on"/>
                          <m:ctrlPr>
                            <a:rPr lang="en-US" altLang="zh-CN" sz="1600">
                              <a:latin typeface="Cambria Math" panose="02040503050406030204" pitchFamily="18" charset="0"/>
                            </a:rPr>
                          </m:ctrlPr>
                        </m:naryPr>
                        <m:sub>
                          <m:r>
                            <m:rPr>
                              <m:sty m:val="p"/>
                            </m:rPr>
                            <a:rPr lang="en-US" altLang="zh-CN" sz="1600">
                              <a:latin typeface="Cambria Math" panose="02040503050406030204" pitchFamily="18" charset="0"/>
                            </a:rPr>
                            <m:t>Λ</m:t>
                          </m:r>
                        </m:sub>
                        <m:sup/>
                        <m:e>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sub>
                              </m:sSub>
                            </m:sub>
                            <m:sup/>
                            <m:e>
                              <m:sSubSup>
                                <m:sSubSupPr>
                                  <m:ctrlPr>
                                    <a:rPr lang="en-US" altLang="zh-CN" sz="1600">
                                      <a:solidFill>
                                        <a:schemeClr val="accent2">
                                          <a:lumMod val="75000"/>
                                        </a:schemeClr>
                                      </a:solidFill>
                                      <a:latin typeface="Cambria Math" panose="02040503050406030204" pitchFamily="18" charset="0"/>
                                    </a:rPr>
                                  </m:ctrlPr>
                                </m:sSubSupPr>
                                <m:e>
                                  <m:r>
                                    <m:rPr>
                                      <m:sty m:val="p"/>
                                    </m:rPr>
                                    <a:rPr lang="en-US" altLang="zh-CN" sz="1600">
                                      <a:solidFill>
                                        <a:schemeClr val="accent2">
                                          <a:lumMod val="75000"/>
                                        </a:schemeClr>
                                      </a:solidFill>
                                      <a:latin typeface="Cambria Math" panose="02040503050406030204" pitchFamily="18" charset="0"/>
                                    </a:rPr>
                                    <m:t>Φ</m:t>
                                  </m:r>
                                </m:e>
                                <m:sub>
                                  <m:r>
                                    <a:rPr lang="en-US" altLang="zh-CN" sz="1600" i="1">
                                      <a:solidFill>
                                        <a:schemeClr val="accent2">
                                          <a:lumMod val="75000"/>
                                        </a:schemeClr>
                                      </a:solidFill>
                                      <a:latin typeface="Cambria Math" panose="02040503050406030204" pitchFamily="18" charset="0"/>
                                    </a:rPr>
                                    <m:t>𝑖</m:t>
                                  </m:r>
                                  <m:r>
                                    <a:rPr lang="en-US" altLang="zh-CN" sz="1600" i="1">
                                      <a:solidFill>
                                        <a:schemeClr val="accent2">
                                          <a:lumMod val="75000"/>
                                        </a:schemeClr>
                                      </a:solidFill>
                                      <a:latin typeface="Cambria Math" panose="02040503050406030204" pitchFamily="18" charset="0"/>
                                    </a:rPr>
                                    <m:t>−1</m:t>
                                  </m:r>
                                </m:sub>
                                <m:sup>
                                  <m:r>
                                    <a:rPr lang="en-US" altLang="zh-CN" sz="1600" i="1">
                                      <a:solidFill>
                                        <a:schemeClr val="accent2">
                                          <a:lumMod val="75000"/>
                                        </a:schemeClr>
                                      </a:solidFill>
                                      <a:latin typeface="Cambria Math" panose="02040503050406030204" pitchFamily="18" charset="0"/>
                                    </a:rPr>
                                    <m:t>𝑝𝑟𝑒</m:t>
                                  </m:r>
                                </m:sup>
                              </m:sSubSup>
                              <m:d>
                                <m:dPr>
                                  <m:ctrlPr>
                                    <a:rPr lang="en-US" altLang="zh-CN" sz="1600" i="1">
                                      <a:solidFill>
                                        <a:schemeClr val="accent2">
                                          <a:lumMod val="75000"/>
                                        </a:schemeClr>
                                      </a:solidFill>
                                      <a:latin typeface="Cambria Math" panose="02040503050406030204" pitchFamily="18" charset="0"/>
                                    </a:rPr>
                                  </m:ctrlPr>
                                </m:dPr>
                                <m:e>
                                  <m:sSub>
                                    <m:sSubPr>
                                      <m:ctrlPr>
                                        <a:rPr lang="en-US" altLang="zh-CN" sz="1600" i="1">
                                          <a:solidFill>
                                            <a:schemeClr val="accent2">
                                              <a:lumMod val="75000"/>
                                            </a:schemeClr>
                                          </a:solidFill>
                                          <a:latin typeface="Cambria Math" panose="02040503050406030204" pitchFamily="18" charset="0"/>
                                        </a:rPr>
                                      </m:ctrlPr>
                                    </m:sSubPr>
                                    <m:e>
                                      <m:acc>
                                        <m:accPr>
                                          <m:chr m:val="̅"/>
                                          <m:ctrlPr>
                                            <a:rPr lang="en-US" altLang="zh-CN" sz="1600" i="1">
                                              <a:solidFill>
                                                <a:schemeClr val="accent2">
                                                  <a:lumMod val="75000"/>
                                                </a:schemeClr>
                                              </a:solidFill>
                                              <a:latin typeface="Cambria Math" panose="02040503050406030204" pitchFamily="18" charset="0"/>
                                            </a:rPr>
                                          </m:ctrlPr>
                                        </m:accPr>
                                        <m:e>
                                          <m:r>
                                            <a:rPr lang="en-US" altLang="zh-CN" sz="1600" i="1">
                                              <a:solidFill>
                                                <a:schemeClr val="accent2">
                                                  <a:lumMod val="75000"/>
                                                </a:schemeClr>
                                              </a:solidFill>
                                              <a:latin typeface="Cambria Math" panose="02040503050406030204" pitchFamily="18" charset="0"/>
                                            </a:rPr>
                                            <m:t>𝑝</m:t>
                                          </m:r>
                                        </m:e>
                                      </m:acc>
                                    </m:e>
                                    <m:sub>
                                      <m:r>
                                        <a:rPr lang="en-US" altLang="zh-CN" sz="1600" i="1">
                                          <a:solidFill>
                                            <a:schemeClr val="accent2">
                                              <a:lumMod val="75000"/>
                                            </a:schemeClr>
                                          </a:solidFill>
                                          <a:latin typeface="Cambria Math" panose="02040503050406030204" pitchFamily="18" charset="0"/>
                                        </a:rPr>
                                        <m:t>𝑖</m:t>
                                      </m:r>
                                      <m:r>
                                        <a:rPr lang="en-US" altLang="zh-CN" sz="1600" i="1">
                                          <a:solidFill>
                                            <a:schemeClr val="accent2">
                                              <a:lumMod val="75000"/>
                                            </a:schemeClr>
                                          </a:solidFill>
                                          <a:latin typeface="Cambria Math" panose="02040503050406030204" pitchFamily="18" charset="0"/>
                                        </a:rPr>
                                        <m:t>−1</m:t>
                                      </m:r>
                                    </m:sub>
                                  </m:sSub>
                                  <m:r>
                                    <a:rPr lang="en-US" altLang="zh-CN" sz="1600" i="1">
                                      <a:solidFill>
                                        <a:schemeClr val="accent2">
                                          <a:lumMod val="75000"/>
                                        </a:schemeClr>
                                      </a:solidFill>
                                      <a:latin typeface="Cambria Math" panose="02040503050406030204" pitchFamily="18" charset="0"/>
                                    </a:rPr>
                                    <m:t>,</m:t>
                                  </m:r>
                                  <m:r>
                                    <a:rPr lang="en-US" altLang="zh-CN" sz="1600" i="1">
                                      <a:solidFill>
                                        <a:schemeClr val="accent2">
                                          <a:lumMod val="75000"/>
                                        </a:schemeClr>
                                      </a:solidFill>
                                      <a:latin typeface="Cambria Math" panose="02040503050406030204" pitchFamily="18" charset="0"/>
                                    </a:rPr>
                                    <m:t>𝜆</m:t>
                                  </m:r>
                                </m:e>
                              </m:d>
                              <m:r>
                                <a:rPr lang="en-US" altLang="zh-CN" sz="1600" i="1">
                                  <a:solidFill>
                                    <a:schemeClr val="accent2">
                                      <a:lumMod val="75000"/>
                                    </a:schemeClr>
                                  </a:solidFill>
                                  <a:latin typeface="Cambria Math" panose="02040503050406030204" pitchFamily="18" charset="0"/>
                                </a:rPr>
                                <m:t> </m:t>
                              </m:r>
                              <m:sSub>
                                <m:sSubPr>
                                  <m:ctrlPr>
                                    <a:rPr lang="en-US" altLang="zh-CN" sz="1600" i="1">
                                      <a:solidFill>
                                        <a:schemeClr val="accent2">
                                          <a:lumMod val="75000"/>
                                        </a:schemeClr>
                                      </a:solidFill>
                                      <a:latin typeface="Cambria Math" panose="02040503050406030204" pitchFamily="18" charset="0"/>
                                    </a:rPr>
                                  </m:ctrlPr>
                                </m:sSubPr>
                                <m:e>
                                  <m:r>
                                    <a:rPr lang="en-US" altLang="zh-CN" sz="1600" i="1">
                                      <a:solidFill>
                                        <a:schemeClr val="accent2">
                                          <a:lumMod val="75000"/>
                                        </a:schemeClr>
                                      </a:solidFill>
                                      <a:latin typeface="Cambria Math" panose="02040503050406030204" pitchFamily="18" charset="0"/>
                                    </a:rPr>
                                    <m:t>𝐹</m:t>
                                  </m:r>
                                </m:e>
                                <m:sub>
                                  <m:r>
                                    <a:rPr lang="en-US" altLang="zh-CN" sz="1600" i="1">
                                      <a:solidFill>
                                        <a:schemeClr val="accent2">
                                          <a:lumMod val="75000"/>
                                        </a:schemeClr>
                                      </a:solidFill>
                                      <a:latin typeface="Cambria Math" panose="02040503050406030204" pitchFamily="18" charset="0"/>
                                    </a:rPr>
                                    <m:t>𝑖</m:t>
                                  </m:r>
                                </m:sub>
                              </m:sSub>
                              <m:d>
                                <m:dPr>
                                  <m:ctrlPr>
                                    <a:rPr lang="en-US" altLang="zh-CN" sz="1600" i="1">
                                      <a:solidFill>
                                        <a:schemeClr val="accent2">
                                          <a:lumMod val="75000"/>
                                        </a:schemeClr>
                                      </a:solidFill>
                                      <a:latin typeface="Cambria Math" panose="02040503050406030204" pitchFamily="18" charset="0"/>
                                    </a:rPr>
                                  </m:ctrlPr>
                                </m:dPr>
                                <m:e>
                                  <m:sSub>
                                    <m:sSubPr>
                                      <m:ctrlPr>
                                        <a:rPr lang="en-US" altLang="zh-CN" sz="1600" i="1">
                                          <a:solidFill>
                                            <a:schemeClr val="accent2">
                                              <a:lumMod val="75000"/>
                                            </a:schemeClr>
                                          </a:solidFill>
                                          <a:latin typeface="Cambria Math" panose="02040503050406030204" pitchFamily="18" charset="0"/>
                                        </a:rPr>
                                      </m:ctrlPr>
                                    </m:sSubPr>
                                    <m:e>
                                      <m:r>
                                        <a:rPr lang="en-US" altLang="zh-CN" sz="1600" i="1">
                                          <a:solidFill>
                                            <a:schemeClr val="accent2">
                                              <a:lumMod val="75000"/>
                                            </a:schemeClr>
                                          </a:solidFill>
                                          <a:latin typeface="Cambria Math" panose="02040503050406030204" pitchFamily="18" charset="0"/>
                                        </a:rPr>
                                        <m:t>𝜔</m:t>
                                      </m:r>
                                    </m:e>
                                    <m:sub>
                                      <m:r>
                                        <a:rPr lang="en-US" altLang="zh-CN" sz="1600" i="1">
                                          <a:solidFill>
                                            <a:schemeClr val="accent2">
                                              <a:lumMod val="75000"/>
                                            </a:schemeClr>
                                          </a:solidFill>
                                          <a:latin typeface="Cambria Math" panose="02040503050406030204" pitchFamily="18" charset="0"/>
                                        </a:rPr>
                                        <m:t>𝑖</m:t>
                                      </m:r>
                                    </m:sub>
                                  </m:sSub>
                                  <m:r>
                                    <a:rPr lang="en-US" altLang="zh-CN" sz="1600" i="1">
                                      <a:solidFill>
                                        <a:schemeClr val="accent2">
                                          <a:lumMod val="75000"/>
                                        </a:schemeClr>
                                      </a:solidFill>
                                      <a:latin typeface="Cambria Math" panose="02040503050406030204" pitchFamily="18" charset="0"/>
                                    </a:rPr>
                                    <m:t>;</m:t>
                                  </m:r>
                                  <m:sSub>
                                    <m:sSubPr>
                                      <m:ctrlPr>
                                        <a:rPr lang="en-US" altLang="zh-CN" sz="1600" i="1">
                                          <a:solidFill>
                                            <a:schemeClr val="accent2">
                                              <a:lumMod val="75000"/>
                                            </a:schemeClr>
                                          </a:solidFill>
                                          <a:latin typeface="Cambria Math" panose="02040503050406030204" pitchFamily="18" charset="0"/>
                                        </a:rPr>
                                      </m:ctrlPr>
                                    </m:sSubPr>
                                    <m:e>
                                      <m:acc>
                                        <m:accPr>
                                          <m:chr m:val="̅"/>
                                          <m:ctrlPr>
                                            <a:rPr lang="en-US" altLang="zh-CN" sz="1600" i="1">
                                              <a:solidFill>
                                                <a:schemeClr val="accent2">
                                                  <a:lumMod val="75000"/>
                                                </a:schemeClr>
                                              </a:solidFill>
                                              <a:latin typeface="Cambria Math" panose="02040503050406030204" pitchFamily="18" charset="0"/>
                                            </a:rPr>
                                          </m:ctrlPr>
                                        </m:accPr>
                                        <m:e>
                                          <m:r>
                                            <a:rPr lang="en-US" altLang="zh-CN" sz="1600" i="1">
                                              <a:solidFill>
                                                <a:schemeClr val="accent2">
                                                  <a:lumMod val="75000"/>
                                                </a:schemeClr>
                                              </a:solidFill>
                                              <a:latin typeface="Cambria Math" panose="02040503050406030204" pitchFamily="18" charset="0"/>
                                            </a:rPr>
                                            <m:t>𝑝</m:t>
                                          </m:r>
                                        </m:e>
                                      </m:acc>
                                    </m:e>
                                    <m:sub>
                                      <m:r>
                                        <a:rPr lang="en-US" altLang="zh-CN" sz="1600" i="1">
                                          <a:solidFill>
                                            <a:schemeClr val="accent2">
                                              <a:lumMod val="75000"/>
                                            </a:schemeClr>
                                          </a:solidFill>
                                          <a:latin typeface="Cambria Math" panose="02040503050406030204" pitchFamily="18" charset="0"/>
                                        </a:rPr>
                                        <m:t>𝑖</m:t>
                                      </m:r>
                                      <m:r>
                                        <a:rPr lang="en-US" altLang="zh-CN" sz="1600" i="1">
                                          <a:solidFill>
                                            <a:schemeClr val="accent2">
                                              <a:lumMod val="75000"/>
                                            </a:schemeClr>
                                          </a:solidFill>
                                          <a:latin typeface="Cambria Math" panose="02040503050406030204" pitchFamily="18" charset="0"/>
                                        </a:rPr>
                                        <m:t>−1</m:t>
                                      </m:r>
                                    </m:sub>
                                  </m:sSub>
                                  <m:r>
                                    <a:rPr lang="en-US" altLang="zh-CN" sz="1600" i="1">
                                      <a:solidFill>
                                        <a:schemeClr val="accent2">
                                          <a:lumMod val="75000"/>
                                        </a:schemeClr>
                                      </a:solidFill>
                                      <a:latin typeface="Cambria Math" panose="02040503050406030204" pitchFamily="18" charset="0"/>
                                    </a:rPr>
                                    <m:t>,</m:t>
                                  </m:r>
                                  <m:r>
                                    <a:rPr lang="en-US" altLang="zh-CN" sz="1600" i="1">
                                      <a:solidFill>
                                        <a:schemeClr val="accent2">
                                          <a:lumMod val="75000"/>
                                        </a:schemeClr>
                                      </a:solidFill>
                                      <a:latin typeface="Cambria Math" panose="02040503050406030204" pitchFamily="18" charset="0"/>
                                    </a:rPr>
                                    <m:t>𝜆</m:t>
                                  </m:r>
                                </m:e>
                              </m:d>
                              <m:r>
                                <a:rPr lang="en-US" altLang="zh-CN" sz="1600" b="1" i="1" smtClean="0">
                                  <a:solidFill>
                                    <a:schemeClr val="accent2">
                                      <a:lumMod val="75000"/>
                                    </a:schemeClr>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sub>
                                  </m:sSub>
                                </m:e>
                              </m:d>
                            </m:e>
                          </m:nary>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Para>
                </a14:m>
                <a:endParaRPr lang="en-US" altLang="zh-CN" sz="1600" i="1" dirty="0">
                  <a:latin typeface="Cambria Math" panose="02040503050406030204" pitchFamily="18" charset="0"/>
                </a:endParaRPr>
              </a:p>
              <a:p>
                <a:r>
                  <a:rPr lang="en-US" altLang="zh-CN" sz="1600" dirty="0">
                    <a:latin typeface="Cambria Math" panose="02040503050406030204" pitchFamily="18" charset="0"/>
                  </a:rPr>
                  <a:t>         </a:t>
                </a:r>
                <a:r>
                  <a:rPr lang="zh-CN" altLang="en-US" sz="1600" dirty="0">
                    <a:latin typeface="Cambria Math" panose="02040503050406030204" pitchFamily="18" charset="0"/>
                  </a:rPr>
                  <a:t>下一步，我们把对</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sub>
                    </m:sSub>
                  </m:oMath>
                </a14:m>
                <a:r>
                  <a:rPr lang="zh-CN" altLang="en-US" sz="1600" dirty="0">
                    <a:latin typeface="Cambria Math" panose="02040503050406030204" pitchFamily="18" charset="0"/>
                  </a:rPr>
                  <a:t>的路径积分拆成对</a:t>
                </a:r>
                <a14:m>
                  <m:oMath xmlns:m="http://schemas.openxmlformats.org/officeDocument/2006/math">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oMath>
                </a14:m>
                <a:r>
                  <a:rPr lang="zh-CN" altLang="en-US" sz="1600" dirty="0">
                    <a:latin typeface="Cambria Math" panose="02040503050406030204" pitchFamily="18" charset="0"/>
                  </a:rPr>
                  <a:t>的路径前缀积分</a:t>
                </a:r>
                <a:r>
                  <a:rPr lang="en-US" altLang="zh-CN" sz="1600" dirty="0">
                    <a:latin typeface="Cambria Math" panose="02040503050406030204" pitchFamily="18" charset="0"/>
                  </a:rPr>
                  <a:t>+</a:t>
                </a:r>
                <a:r>
                  <a:rPr lang="zh-CN" altLang="en-US" sz="1600" dirty="0">
                    <a:latin typeface="Cambria Math" panose="02040503050406030204" pitchFamily="18" charset="0"/>
                  </a:rPr>
                  <a:t>对</a:t>
                </a:r>
                <a14:m>
                  <m:oMath xmlns:m="http://schemas.openxmlformats.org/officeDocument/2006/math">
                    <m:sSub>
                      <m:sSubPr>
                        <m:ctrlPr>
                          <a:rPr lang="en-US" altLang="zh-CN" sz="1600" dirty="0">
                            <a:latin typeface="Cambria Math" panose="02040503050406030204" pitchFamily="18" charset="0"/>
                          </a:rPr>
                        </m:ctrlPr>
                      </m:sSubPr>
                      <m:e>
                        <m:r>
                          <m:rPr>
                            <m:sty m:val="p"/>
                          </m:rPr>
                          <a:rPr lang="en-US" altLang="zh-CN" sz="1600" dirty="0">
                            <a:latin typeface="Cambria Math" panose="02040503050406030204" pitchFamily="18" charset="0"/>
                          </a:rPr>
                          <m:t>Ω</m:t>
                        </m:r>
                      </m:e>
                      <m:sub>
                        <m:r>
                          <a:rPr lang="en-US" altLang="zh-CN" sz="1600" i="1" dirty="0">
                            <a:latin typeface="Cambria Math" panose="02040503050406030204" pitchFamily="18" charset="0"/>
                          </a:rPr>
                          <m:t>𝐸</m:t>
                        </m:r>
                      </m:sub>
                    </m:sSub>
                  </m:oMath>
                </a14:m>
                <a:r>
                  <a:rPr lang="zh-CN" altLang="en-US" sz="1600" dirty="0">
                    <a:latin typeface="Cambria Math" panose="02040503050406030204" pitchFamily="18" charset="0"/>
                  </a:rPr>
                  <a:t>的连接光源的方向积分：</a:t>
                </a:r>
                <a:endParaRPr lang="en-US" altLang="zh-CN" sz="1600" dirty="0">
                  <a:latin typeface="Cambria Math" panose="02040503050406030204" pitchFamily="18" charset="0"/>
                </a:endParaRPr>
              </a:p>
              <a:p>
                <a:pPr/>
                <a14:m>
                  <m:oMathPara xmlns:m="http://schemas.openxmlformats.org/officeDocument/2006/math">
                    <m:oMath>
                      <m:r>
                        <a:rPr lang="en-US" altLang="zh-CN" sz="1600" b="0" i="1" dirty="0" smtClean="0">
                          <a:latin typeface="Cambria Math" panose="02040503050406030204" pitchFamily="18" charset="0"/>
                        </a:rPr>
                        <m:t> </m:t>
                      </m:r>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𝑪</m:t>
                          </m:r>
                        </m:e>
                        <m:sub>
                          <m:r>
                            <a:rPr lang="en-US" altLang="zh-CN" sz="1600" b="0" i="1" dirty="0" smtClean="0">
                              <a:latin typeface="Cambria Math" panose="02040503050406030204" pitchFamily="18" charset="0"/>
                            </a:rPr>
                            <m:t>𝑖</m:t>
                          </m:r>
                        </m:sub>
                      </m:sSub>
                      <m:r>
                        <a:rPr lang="en-US" altLang="zh-CN" sz="1600" i="1" dirty="0">
                          <a:latin typeface="Cambria Math" panose="02040503050406030204" pitchFamily="18" charset="0"/>
                        </a:rPr>
                        <m:t>=</m:t>
                      </m:r>
                      <m:nary>
                        <m:naryPr>
                          <m:supHide m:val="on"/>
                          <m:ctrlPr>
                            <a:rPr lang="en-US" altLang="zh-CN" sz="1600">
                              <a:latin typeface="Cambria Math" panose="02040503050406030204" pitchFamily="18" charset="0"/>
                            </a:rPr>
                          </m:ctrlPr>
                        </m:naryPr>
                        <m:sub>
                          <m:r>
                            <m:rPr>
                              <m:sty m:val="p"/>
                            </m:rPr>
                            <a:rPr lang="en-US" altLang="zh-CN" sz="1600">
                              <a:latin typeface="Cambria Math" panose="02040503050406030204" pitchFamily="18" charset="0"/>
                            </a:rPr>
                            <m:t>Λ</m:t>
                          </m:r>
                        </m:sub>
                        <m:sup/>
                        <m:e>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Sub>
                            </m:sub>
                            <m:sup/>
                            <m:e>
                              <m:nary>
                                <m:naryPr>
                                  <m:supHide m:val="on"/>
                                  <m:ctrlPr>
                                    <a:rPr lang="en-US" altLang="zh-CN" sz="1600" b="0" i="1" dirty="0" smtClean="0">
                                      <a:latin typeface="Cambria Math" panose="02040503050406030204" pitchFamily="18" charset="0"/>
                                    </a:rPr>
                                  </m:ctrlPr>
                                </m:naryPr>
                                <m:sub>
                                  <m:sSub>
                                    <m:sSubPr>
                                      <m:ctrlPr>
                                        <a:rPr lang="en-US" altLang="zh-CN" sz="1600" b="0" i="0" dirty="0" smtClean="0">
                                          <a:latin typeface="Cambria Math" panose="02040503050406030204" pitchFamily="18" charset="0"/>
                                        </a:rPr>
                                      </m:ctrlPr>
                                    </m:sSubPr>
                                    <m:e>
                                      <m:r>
                                        <m:rPr>
                                          <m:sty m:val="p"/>
                                        </m:rPr>
                                        <a:rPr lang="en-US" altLang="zh-CN" sz="1600" b="0" i="0" dirty="0" smtClean="0">
                                          <a:latin typeface="Cambria Math" panose="02040503050406030204" pitchFamily="18" charset="0"/>
                                        </a:rPr>
                                        <m:t>Ω</m:t>
                                      </m:r>
                                    </m:e>
                                    <m:sub>
                                      <m:r>
                                        <a:rPr lang="en-US" altLang="zh-CN" sz="1600" b="0" i="1" dirty="0" smtClean="0">
                                          <a:latin typeface="Cambria Math" panose="02040503050406030204" pitchFamily="18" charset="0"/>
                                        </a:rPr>
                                        <m:t>𝐸</m:t>
                                      </m:r>
                                    </m:sub>
                                  </m:sSub>
                                </m:sub>
                                <m:sup/>
                                <m:e>
                                  <m:sSubSup>
                                    <m:sSubSupPr>
                                      <m:ctrlPr>
                                        <a:rPr lang="en-US" altLang="zh-CN" sz="1600">
                                          <a:solidFill>
                                            <a:schemeClr val="accent2">
                                              <a:lumMod val="75000"/>
                                            </a:schemeClr>
                                          </a:solidFill>
                                          <a:latin typeface="Cambria Math" panose="02040503050406030204" pitchFamily="18" charset="0"/>
                                        </a:rPr>
                                      </m:ctrlPr>
                                    </m:sSubSupPr>
                                    <m:e>
                                      <m:r>
                                        <m:rPr>
                                          <m:sty m:val="p"/>
                                        </m:rPr>
                                        <a:rPr lang="en-US" altLang="zh-CN" sz="1600">
                                          <a:solidFill>
                                            <a:schemeClr val="accent2">
                                              <a:lumMod val="75000"/>
                                            </a:schemeClr>
                                          </a:solidFill>
                                          <a:latin typeface="Cambria Math" panose="02040503050406030204" pitchFamily="18" charset="0"/>
                                        </a:rPr>
                                        <m:t>Φ</m:t>
                                      </m:r>
                                    </m:e>
                                    <m:sub>
                                      <m:r>
                                        <a:rPr lang="en-US" altLang="zh-CN" sz="1600" i="1">
                                          <a:solidFill>
                                            <a:schemeClr val="accent2">
                                              <a:lumMod val="75000"/>
                                            </a:schemeClr>
                                          </a:solidFill>
                                          <a:latin typeface="Cambria Math" panose="02040503050406030204" pitchFamily="18" charset="0"/>
                                        </a:rPr>
                                        <m:t>𝑖</m:t>
                                      </m:r>
                                      <m:r>
                                        <a:rPr lang="en-US" altLang="zh-CN" sz="1600" i="1">
                                          <a:solidFill>
                                            <a:schemeClr val="accent2">
                                              <a:lumMod val="75000"/>
                                            </a:schemeClr>
                                          </a:solidFill>
                                          <a:latin typeface="Cambria Math" panose="02040503050406030204" pitchFamily="18" charset="0"/>
                                        </a:rPr>
                                        <m:t>−1</m:t>
                                      </m:r>
                                    </m:sub>
                                    <m:sup>
                                      <m:r>
                                        <a:rPr lang="en-US" altLang="zh-CN" sz="1600" i="1">
                                          <a:solidFill>
                                            <a:schemeClr val="accent2">
                                              <a:lumMod val="75000"/>
                                            </a:schemeClr>
                                          </a:solidFill>
                                          <a:latin typeface="Cambria Math" panose="02040503050406030204" pitchFamily="18" charset="0"/>
                                        </a:rPr>
                                        <m:t>𝑝𝑟𝑒</m:t>
                                      </m:r>
                                    </m:sup>
                                  </m:sSubSup>
                                  <m:d>
                                    <m:dPr>
                                      <m:ctrlPr>
                                        <a:rPr lang="en-US" altLang="zh-CN" sz="1600" i="1">
                                          <a:solidFill>
                                            <a:schemeClr val="accent2">
                                              <a:lumMod val="75000"/>
                                            </a:schemeClr>
                                          </a:solidFill>
                                          <a:latin typeface="Cambria Math" panose="02040503050406030204" pitchFamily="18" charset="0"/>
                                        </a:rPr>
                                      </m:ctrlPr>
                                    </m:dPr>
                                    <m:e>
                                      <m:sSub>
                                        <m:sSubPr>
                                          <m:ctrlPr>
                                            <a:rPr lang="en-US" altLang="zh-CN" sz="1600" i="1">
                                              <a:solidFill>
                                                <a:schemeClr val="accent2">
                                                  <a:lumMod val="75000"/>
                                                </a:schemeClr>
                                              </a:solidFill>
                                              <a:latin typeface="Cambria Math" panose="02040503050406030204" pitchFamily="18" charset="0"/>
                                            </a:rPr>
                                          </m:ctrlPr>
                                        </m:sSubPr>
                                        <m:e>
                                          <m:acc>
                                            <m:accPr>
                                              <m:chr m:val="̅"/>
                                              <m:ctrlPr>
                                                <a:rPr lang="en-US" altLang="zh-CN" sz="1600" i="1">
                                                  <a:solidFill>
                                                    <a:schemeClr val="accent2">
                                                      <a:lumMod val="75000"/>
                                                    </a:schemeClr>
                                                  </a:solidFill>
                                                  <a:latin typeface="Cambria Math" panose="02040503050406030204" pitchFamily="18" charset="0"/>
                                                </a:rPr>
                                              </m:ctrlPr>
                                            </m:accPr>
                                            <m:e>
                                              <m:r>
                                                <a:rPr lang="en-US" altLang="zh-CN" sz="1600" i="1">
                                                  <a:solidFill>
                                                    <a:schemeClr val="accent2">
                                                      <a:lumMod val="75000"/>
                                                    </a:schemeClr>
                                                  </a:solidFill>
                                                  <a:latin typeface="Cambria Math" panose="02040503050406030204" pitchFamily="18" charset="0"/>
                                                </a:rPr>
                                                <m:t>𝑝</m:t>
                                              </m:r>
                                            </m:e>
                                          </m:acc>
                                        </m:e>
                                        <m:sub>
                                          <m:r>
                                            <a:rPr lang="en-US" altLang="zh-CN" sz="1600" i="1">
                                              <a:solidFill>
                                                <a:schemeClr val="accent2">
                                                  <a:lumMod val="75000"/>
                                                </a:schemeClr>
                                              </a:solidFill>
                                              <a:latin typeface="Cambria Math" panose="02040503050406030204" pitchFamily="18" charset="0"/>
                                            </a:rPr>
                                            <m:t>𝑖</m:t>
                                          </m:r>
                                          <m:r>
                                            <a:rPr lang="en-US" altLang="zh-CN" sz="1600" i="1">
                                              <a:solidFill>
                                                <a:schemeClr val="accent2">
                                                  <a:lumMod val="75000"/>
                                                </a:schemeClr>
                                              </a:solidFill>
                                              <a:latin typeface="Cambria Math" panose="02040503050406030204" pitchFamily="18" charset="0"/>
                                            </a:rPr>
                                            <m:t>−1</m:t>
                                          </m:r>
                                        </m:sub>
                                      </m:sSub>
                                      <m:r>
                                        <a:rPr lang="en-US" altLang="zh-CN" sz="1600" i="1">
                                          <a:solidFill>
                                            <a:schemeClr val="accent2">
                                              <a:lumMod val="75000"/>
                                            </a:schemeClr>
                                          </a:solidFill>
                                          <a:latin typeface="Cambria Math" panose="02040503050406030204" pitchFamily="18" charset="0"/>
                                        </a:rPr>
                                        <m:t>,</m:t>
                                      </m:r>
                                      <m:r>
                                        <a:rPr lang="en-US" altLang="zh-CN" sz="1600" i="1">
                                          <a:solidFill>
                                            <a:schemeClr val="accent2">
                                              <a:lumMod val="75000"/>
                                            </a:schemeClr>
                                          </a:solidFill>
                                          <a:latin typeface="Cambria Math" panose="02040503050406030204" pitchFamily="18" charset="0"/>
                                        </a:rPr>
                                        <m:t>𝜆</m:t>
                                      </m:r>
                                    </m:e>
                                  </m:d>
                                  <m:r>
                                    <a:rPr lang="en-US" altLang="zh-CN" sz="1600" i="1">
                                      <a:solidFill>
                                        <a:schemeClr val="accent2">
                                          <a:lumMod val="75000"/>
                                        </a:schemeClr>
                                      </a:solidFill>
                                      <a:latin typeface="Cambria Math" panose="02040503050406030204" pitchFamily="18" charset="0"/>
                                    </a:rPr>
                                    <m:t> </m:t>
                                  </m:r>
                                  <m:sSub>
                                    <m:sSubPr>
                                      <m:ctrlPr>
                                        <a:rPr lang="en-US" altLang="zh-CN" sz="1600" i="1">
                                          <a:solidFill>
                                            <a:schemeClr val="accent2">
                                              <a:lumMod val="75000"/>
                                            </a:schemeClr>
                                          </a:solidFill>
                                          <a:latin typeface="Cambria Math" panose="02040503050406030204" pitchFamily="18" charset="0"/>
                                        </a:rPr>
                                      </m:ctrlPr>
                                    </m:sSubPr>
                                    <m:e>
                                      <m:r>
                                        <a:rPr lang="en-US" altLang="zh-CN" sz="1600" i="1">
                                          <a:solidFill>
                                            <a:schemeClr val="accent2">
                                              <a:lumMod val="75000"/>
                                            </a:schemeClr>
                                          </a:solidFill>
                                          <a:latin typeface="Cambria Math" panose="02040503050406030204" pitchFamily="18" charset="0"/>
                                        </a:rPr>
                                        <m:t>𝐹</m:t>
                                      </m:r>
                                    </m:e>
                                    <m:sub>
                                      <m:r>
                                        <a:rPr lang="en-US" altLang="zh-CN" sz="1600" i="1">
                                          <a:solidFill>
                                            <a:schemeClr val="accent2">
                                              <a:lumMod val="75000"/>
                                            </a:schemeClr>
                                          </a:solidFill>
                                          <a:latin typeface="Cambria Math" panose="02040503050406030204" pitchFamily="18" charset="0"/>
                                        </a:rPr>
                                        <m:t>𝑖</m:t>
                                      </m:r>
                                    </m:sub>
                                  </m:sSub>
                                  <m:d>
                                    <m:dPr>
                                      <m:ctrlPr>
                                        <a:rPr lang="en-US" altLang="zh-CN" sz="1600" i="1">
                                          <a:solidFill>
                                            <a:schemeClr val="accent2">
                                              <a:lumMod val="75000"/>
                                            </a:schemeClr>
                                          </a:solidFill>
                                          <a:latin typeface="Cambria Math" panose="02040503050406030204" pitchFamily="18" charset="0"/>
                                        </a:rPr>
                                      </m:ctrlPr>
                                    </m:dPr>
                                    <m:e>
                                      <m:sSub>
                                        <m:sSubPr>
                                          <m:ctrlPr>
                                            <a:rPr lang="en-US" altLang="zh-CN" sz="1600" i="1">
                                              <a:solidFill>
                                                <a:schemeClr val="accent2">
                                                  <a:lumMod val="75000"/>
                                                </a:schemeClr>
                                              </a:solidFill>
                                              <a:latin typeface="Cambria Math" panose="02040503050406030204" pitchFamily="18" charset="0"/>
                                            </a:rPr>
                                          </m:ctrlPr>
                                        </m:sSubPr>
                                        <m:e>
                                          <m:r>
                                            <a:rPr lang="en-US" altLang="zh-CN" sz="1600" i="1">
                                              <a:solidFill>
                                                <a:schemeClr val="accent2">
                                                  <a:lumMod val="75000"/>
                                                </a:schemeClr>
                                              </a:solidFill>
                                              <a:latin typeface="Cambria Math" panose="02040503050406030204" pitchFamily="18" charset="0"/>
                                            </a:rPr>
                                            <m:t>𝜔</m:t>
                                          </m:r>
                                        </m:e>
                                        <m:sub>
                                          <m:r>
                                            <a:rPr lang="en-US" altLang="zh-CN" sz="1600" i="1">
                                              <a:solidFill>
                                                <a:schemeClr val="accent2">
                                                  <a:lumMod val="75000"/>
                                                </a:schemeClr>
                                              </a:solidFill>
                                              <a:latin typeface="Cambria Math" panose="02040503050406030204" pitchFamily="18" charset="0"/>
                                            </a:rPr>
                                            <m:t>𝑖</m:t>
                                          </m:r>
                                        </m:sub>
                                      </m:sSub>
                                      <m:r>
                                        <a:rPr lang="en-US" altLang="zh-CN" sz="1600" i="1">
                                          <a:solidFill>
                                            <a:schemeClr val="accent2">
                                              <a:lumMod val="75000"/>
                                            </a:schemeClr>
                                          </a:solidFill>
                                          <a:latin typeface="Cambria Math" panose="02040503050406030204" pitchFamily="18" charset="0"/>
                                        </a:rPr>
                                        <m:t>;</m:t>
                                      </m:r>
                                      <m:sSub>
                                        <m:sSubPr>
                                          <m:ctrlPr>
                                            <a:rPr lang="en-US" altLang="zh-CN" sz="1600" i="1">
                                              <a:solidFill>
                                                <a:schemeClr val="accent2">
                                                  <a:lumMod val="75000"/>
                                                </a:schemeClr>
                                              </a:solidFill>
                                              <a:latin typeface="Cambria Math" panose="02040503050406030204" pitchFamily="18" charset="0"/>
                                            </a:rPr>
                                          </m:ctrlPr>
                                        </m:sSubPr>
                                        <m:e>
                                          <m:acc>
                                            <m:accPr>
                                              <m:chr m:val="̅"/>
                                              <m:ctrlPr>
                                                <a:rPr lang="en-US" altLang="zh-CN" sz="1600" i="1">
                                                  <a:solidFill>
                                                    <a:schemeClr val="accent2">
                                                      <a:lumMod val="75000"/>
                                                    </a:schemeClr>
                                                  </a:solidFill>
                                                  <a:latin typeface="Cambria Math" panose="02040503050406030204" pitchFamily="18" charset="0"/>
                                                </a:rPr>
                                              </m:ctrlPr>
                                            </m:accPr>
                                            <m:e>
                                              <m:r>
                                                <a:rPr lang="en-US" altLang="zh-CN" sz="1600" i="1">
                                                  <a:solidFill>
                                                    <a:schemeClr val="accent2">
                                                      <a:lumMod val="75000"/>
                                                    </a:schemeClr>
                                                  </a:solidFill>
                                                  <a:latin typeface="Cambria Math" panose="02040503050406030204" pitchFamily="18" charset="0"/>
                                                </a:rPr>
                                                <m:t>𝑝</m:t>
                                              </m:r>
                                            </m:e>
                                          </m:acc>
                                        </m:e>
                                        <m:sub>
                                          <m:r>
                                            <a:rPr lang="en-US" altLang="zh-CN" sz="1600" i="1">
                                              <a:solidFill>
                                                <a:schemeClr val="accent2">
                                                  <a:lumMod val="75000"/>
                                                </a:schemeClr>
                                              </a:solidFill>
                                              <a:latin typeface="Cambria Math" panose="02040503050406030204" pitchFamily="18" charset="0"/>
                                            </a:rPr>
                                            <m:t>𝑖</m:t>
                                          </m:r>
                                          <m:r>
                                            <a:rPr lang="en-US" altLang="zh-CN" sz="1600" i="1">
                                              <a:solidFill>
                                                <a:schemeClr val="accent2">
                                                  <a:lumMod val="75000"/>
                                                </a:schemeClr>
                                              </a:solidFill>
                                              <a:latin typeface="Cambria Math" panose="02040503050406030204" pitchFamily="18" charset="0"/>
                                            </a:rPr>
                                            <m:t>−1</m:t>
                                          </m:r>
                                        </m:sub>
                                      </m:sSub>
                                      <m:r>
                                        <a:rPr lang="en-US" altLang="zh-CN" sz="1600" i="1">
                                          <a:solidFill>
                                            <a:schemeClr val="accent2">
                                              <a:lumMod val="75000"/>
                                            </a:schemeClr>
                                          </a:solidFill>
                                          <a:latin typeface="Cambria Math" panose="02040503050406030204" pitchFamily="18" charset="0"/>
                                        </a:rPr>
                                        <m:t>,</m:t>
                                      </m:r>
                                      <m:r>
                                        <a:rPr lang="en-US" altLang="zh-CN" sz="1600" i="1">
                                          <a:solidFill>
                                            <a:schemeClr val="accent2">
                                              <a:lumMod val="75000"/>
                                            </a:schemeClr>
                                          </a:solidFill>
                                          <a:latin typeface="Cambria Math" panose="02040503050406030204" pitchFamily="18" charset="0"/>
                                        </a:rPr>
                                        <m:t>𝜆</m:t>
                                      </m:r>
                                    </m:e>
                                  </m:d>
                                  <m:r>
                                    <a:rPr lang="en-US" altLang="zh-CN" sz="1600" b="1" i="1">
                                      <a:solidFill>
                                        <a:schemeClr val="accent2">
                                          <a:lumMod val="75000"/>
                                        </a:schemeClr>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𝑑</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Sub>
                                </m:e>
                              </m:nary>
                              <m:r>
                                <a:rPr lang="en-US" altLang="zh-CN" sz="1600" i="1" dirty="0">
                                  <a:latin typeface="Cambria Math" panose="02040503050406030204" pitchFamily="18" charset="0"/>
                                </a:rPr>
                                <m:t>𝑑</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𝜇</m:t>
                                  </m:r>
                                </m:e>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Sub>
                              <m:d>
                                <m:dPr>
                                  <m:ctrlPr>
                                    <a:rPr lang="en-US" altLang="zh-CN" sz="1600" b="0" i="1" dirty="0" smtClean="0">
                                      <a:latin typeface="Cambria Math" panose="02040503050406030204" pitchFamily="18" charset="0"/>
                                    </a:rPr>
                                  </m:ctrlPr>
                                </m:dPr>
                                <m:e>
                                  <m:sSub>
                                    <m:sSubPr>
                                      <m:ctrlPr>
                                        <a:rPr lang="en-US" altLang="zh-CN" sz="1600" b="0" i="1" dirty="0" smtClean="0">
                                          <a:latin typeface="Cambria Math" panose="02040503050406030204" pitchFamily="18" charset="0"/>
                                        </a:rPr>
                                      </m:ctrlPr>
                                    </m:sSubPr>
                                    <m:e>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𝑝</m:t>
                                          </m:r>
                                        </m:e>
                                      </m:acc>
                                    </m:e>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Sub>
                                </m:e>
                              </m:d>
                            </m:e>
                          </m:nary>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
                      <m:r>
                        <a:rPr lang="en-US" altLang="zh-CN" sz="1600" b="0" i="1" dirty="0" smtClean="0">
                          <a:latin typeface="Cambria Math" panose="02040503050406030204" pitchFamily="18" charset="0"/>
                        </a:rPr>
                        <m:t>      =</m:t>
                      </m:r>
                      <m:nary>
                        <m:naryPr>
                          <m:supHide m:val="on"/>
                          <m:ctrlPr>
                            <a:rPr lang="en-US" altLang="zh-CN" sz="1600">
                              <a:latin typeface="Cambria Math" panose="02040503050406030204" pitchFamily="18" charset="0"/>
                            </a:rPr>
                          </m:ctrlPr>
                        </m:naryPr>
                        <m:sub>
                          <m:r>
                            <m:rPr>
                              <m:sty m:val="p"/>
                            </m:rPr>
                            <a:rPr lang="en-US" altLang="zh-CN" sz="1600">
                              <a:latin typeface="Cambria Math" panose="02040503050406030204" pitchFamily="18" charset="0"/>
                            </a:rPr>
                            <m:t>Λ</m:t>
                          </m:r>
                        </m:sub>
                        <m:sup/>
                        <m:e>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sub>
                            <m:sup/>
                            <m:e>
                              <m:sSubSup>
                                <m:sSubSupPr>
                                  <m:ctrlPr>
                                    <a:rPr lang="en-US" altLang="zh-CN" sz="1600">
                                      <a:latin typeface="Cambria Math" panose="02040503050406030204" pitchFamily="18" charset="0"/>
                                    </a:rPr>
                                  </m:ctrlPr>
                                </m:sSubSupPr>
                                <m:e>
                                  <m:r>
                                    <m:rPr>
                                      <m:sty m:val="p"/>
                                    </m:rPr>
                                    <a:rPr lang="en-US" altLang="zh-CN" sz="1600">
                                      <a:latin typeface="Cambria Math" panose="02040503050406030204" pitchFamily="18" charset="0"/>
                                    </a:rPr>
                                    <m:t>Φ</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𝑝𝑟𝑒</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𝜆</m:t>
                                  </m:r>
                                </m:e>
                              </m:d>
                              <m:nary>
                                <m:naryPr>
                                  <m:supHide m:val="on"/>
                                  <m:ctrlPr>
                                    <a:rPr lang="en-US" altLang="zh-CN" sz="1600" i="1" dirty="0">
                                      <a:solidFill>
                                        <a:schemeClr val="accent6">
                                          <a:lumMod val="50000"/>
                                        </a:schemeClr>
                                      </a:solidFill>
                                      <a:latin typeface="Cambria Math" panose="02040503050406030204" pitchFamily="18" charset="0"/>
                                    </a:rPr>
                                  </m:ctrlPr>
                                </m:naryPr>
                                <m:sub>
                                  <m:sSub>
                                    <m:sSubPr>
                                      <m:ctrlPr>
                                        <a:rPr lang="en-US" altLang="zh-CN" sz="1600" dirty="0">
                                          <a:solidFill>
                                            <a:schemeClr val="accent6">
                                              <a:lumMod val="50000"/>
                                            </a:schemeClr>
                                          </a:solidFill>
                                          <a:latin typeface="Cambria Math" panose="02040503050406030204" pitchFamily="18" charset="0"/>
                                        </a:rPr>
                                      </m:ctrlPr>
                                    </m:sSubPr>
                                    <m:e>
                                      <m:r>
                                        <m:rPr>
                                          <m:sty m:val="p"/>
                                        </m:rPr>
                                        <a:rPr lang="en-US" altLang="zh-CN" sz="1600" dirty="0">
                                          <a:solidFill>
                                            <a:schemeClr val="accent6">
                                              <a:lumMod val="50000"/>
                                            </a:schemeClr>
                                          </a:solidFill>
                                          <a:latin typeface="Cambria Math" panose="02040503050406030204" pitchFamily="18" charset="0"/>
                                        </a:rPr>
                                        <m:t>Ω</m:t>
                                      </m:r>
                                    </m:e>
                                    <m:sub>
                                      <m:r>
                                        <a:rPr lang="en-US" altLang="zh-CN" sz="1600" i="1" dirty="0">
                                          <a:solidFill>
                                            <a:schemeClr val="accent6">
                                              <a:lumMod val="50000"/>
                                            </a:schemeClr>
                                          </a:solidFill>
                                          <a:latin typeface="Cambria Math" panose="02040503050406030204" pitchFamily="18" charset="0"/>
                                        </a:rPr>
                                        <m:t>𝐸</m:t>
                                      </m:r>
                                    </m:sub>
                                  </m:sSub>
                                </m:sub>
                                <m:sup/>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𝐹</m:t>
                                      </m:r>
                                    </m:e>
                                    <m:sub>
                                      <m:r>
                                        <a:rPr lang="en-US" altLang="zh-CN" sz="1600" i="1" dirty="0">
                                          <a:solidFill>
                                            <a:schemeClr val="accent6">
                                              <a:lumMod val="50000"/>
                                            </a:schemeClr>
                                          </a:solidFill>
                                          <a:latin typeface="Cambria Math" panose="02040503050406030204" pitchFamily="18" charset="0"/>
                                        </a:rPr>
                                        <m:t>𝑖</m:t>
                                      </m:r>
                                    </m:sub>
                                  </m:sSub>
                                  <m:d>
                                    <m:dPr>
                                      <m:ctrlPr>
                                        <a:rPr lang="en-US" altLang="zh-CN" sz="1600" i="1" dirty="0">
                                          <a:solidFill>
                                            <a:schemeClr val="accent6">
                                              <a:lumMod val="50000"/>
                                            </a:schemeClr>
                                          </a:solidFill>
                                          <a:latin typeface="Cambria Math" panose="02040503050406030204" pitchFamily="18" charset="0"/>
                                        </a:rPr>
                                      </m:ctrlPr>
                                    </m:dPr>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𝜔</m:t>
                                          </m:r>
                                        </m:e>
                                        <m:sub>
                                          <m:r>
                                            <a:rPr lang="en-US" altLang="zh-CN" sz="1600" i="1" dirty="0">
                                              <a:solidFill>
                                                <a:schemeClr val="accent6">
                                                  <a:lumMod val="50000"/>
                                                </a:schemeClr>
                                              </a:solidFill>
                                              <a:latin typeface="Cambria Math" panose="02040503050406030204" pitchFamily="18" charset="0"/>
                                            </a:rPr>
                                            <m:t>𝑖</m:t>
                                          </m:r>
                                        </m:sub>
                                      </m:sSub>
                                      <m:r>
                                        <a:rPr lang="en-US" altLang="zh-CN" sz="1600" i="1" dirty="0">
                                          <a:solidFill>
                                            <a:schemeClr val="accent6">
                                              <a:lumMod val="50000"/>
                                            </a:schemeClr>
                                          </a:solidFill>
                                          <a:latin typeface="Cambria Math" panose="02040503050406030204" pitchFamily="18" charset="0"/>
                                        </a:rPr>
                                        <m:t>;</m:t>
                                      </m:r>
                                      <m:sSub>
                                        <m:sSubPr>
                                          <m:ctrlPr>
                                            <a:rPr lang="en-US" altLang="zh-CN" sz="1600" i="1" dirty="0">
                                              <a:solidFill>
                                                <a:schemeClr val="accent6">
                                                  <a:lumMod val="50000"/>
                                                </a:schemeClr>
                                              </a:solidFill>
                                              <a:latin typeface="Cambria Math" panose="02040503050406030204" pitchFamily="18" charset="0"/>
                                            </a:rPr>
                                          </m:ctrlPr>
                                        </m:sSubPr>
                                        <m:e>
                                          <m:acc>
                                            <m:accPr>
                                              <m:chr m:val="̅"/>
                                              <m:ctrlPr>
                                                <a:rPr lang="en-US" altLang="zh-CN" sz="1600" i="1" dirty="0">
                                                  <a:solidFill>
                                                    <a:schemeClr val="accent6">
                                                      <a:lumMod val="50000"/>
                                                    </a:schemeClr>
                                                  </a:solidFill>
                                                  <a:latin typeface="Cambria Math" panose="02040503050406030204" pitchFamily="18" charset="0"/>
                                                </a:rPr>
                                              </m:ctrlPr>
                                            </m:accPr>
                                            <m:e>
                                              <m:r>
                                                <a:rPr lang="en-US" altLang="zh-CN" sz="1600" i="1" dirty="0">
                                                  <a:solidFill>
                                                    <a:schemeClr val="accent6">
                                                      <a:lumMod val="50000"/>
                                                    </a:schemeClr>
                                                  </a:solidFill>
                                                  <a:latin typeface="Cambria Math" panose="02040503050406030204" pitchFamily="18" charset="0"/>
                                                </a:rPr>
                                                <m:t>𝑝</m:t>
                                              </m:r>
                                            </m:e>
                                          </m:acc>
                                        </m:e>
                                        <m:sub>
                                          <m:r>
                                            <a:rPr lang="en-US" altLang="zh-CN" sz="1600" i="1" dirty="0">
                                              <a:solidFill>
                                                <a:schemeClr val="accent6">
                                                  <a:lumMod val="50000"/>
                                                </a:schemeClr>
                                              </a:solidFill>
                                              <a:latin typeface="Cambria Math" panose="02040503050406030204" pitchFamily="18" charset="0"/>
                                            </a:rPr>
                                            <m:t>𝑖</m:t>
                                          </m:r>
                                          <m:r>
                                            <a:rPr lang="en-US" altLang="zh-CN" sz="1600" i="1" dirty="0">
                                              <a:solidFill>
                                                <a:schemeClr val="accent6">
                                                  <a:lumMod val="50000"/>
                                                </a:schemeClr>
                                              </a:solidFill>
                                              <a:latin typeface="Cambria Math" panose="02040503050406030204" pitchFamily="18" charset="0"/>
                                            </a:rPr>
                                            <m:t>−1</m:t>
                                          </m:r>
                                        </m:sub>
                                      </m:sSub>
                                      <m:r>
                                        <a:rPr lang="en-US" altLang="zh-CN" sz="1600" i="1">
                                          <a:solidFill>
                                            <a:schemeClr val="accent6">
                                              <a:lumMod val="50000"/>
                                            </a:schemeClr>
                                          </a:solidFill>
                                          <a:latin typeface="Cambria Math" panose="02040503050406030204" pitchFamily="18" charset="0"/>
                                        </a:rPr>
                                        <m:t>,</m:t>
                                      </m:r>
                                      <m:r>
                                        <a:rPr lang="en-US" altLang="zh-CN" sz="1600" i="1">
                                          <a:solidFill>
                                            <a:schemeClr val="accent6">
                                              <a:lumMod val="50000"/>
                                            </a:schemeClr>
                                          </a:solidFill>
                                          <a:latin typeface="Cambria Math" panose="02040503050406030204" pitchFamily="18" charset="0"/>
                                        </a:rPr>
                                        <m:t>𝜆</m:t>
                                      </m:r>
                                    </m:e>
                                  </m:d>
                                  <m:r>
                                    <a:rPr lang="en-US" altLang="zh-CN" sz="1600" i="1" dirty="0">
                                      <a:solidFill>
                                        <a:schemeClr val="accent6">
                                          <a:lumMod val="50000"/>
                                        </a:schemeClr>
                                      </a:solidFill>
                                      <a:latin typeface="Cambria Math" panose="02040503050406030204" pitchFamily="18" charset="0"/>
                                    </a:rPr>
                                    <m:t>𝑑</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𝜔</m:t>
                                      </m:r>
                                    </m:e>
                                    <m:sub>
                                      <m:r>
                                        <a:rPr lang="en-US" altLang="zh-CN" sz="1600" i="1" dirty="0">
                                          <a:solidFill>
                                            <a:schemeClr val="accent6">
                                              <a:lumMod val="50000"/>
                                            </a:schemeClr>
                                          </a:solidFill>
                                          <a:latin typeface="Cambria Math" panose="02040503050406030204" pitchFamily="18" charset="0"/>
                                        </a:rPr>
                                        <m:t>𝑖</m:t>
                                      </m:r>
                                    </m:sub>
                                  </m:sSub>
                                </m:e>
                              </m:nary>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e>
                              </m:d>
                            </m:e>
                          </m:nary>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
                      <m:r>
                        <a:rPr lang="en-US" altLang="zh-CN" sz="1600" b="0" i="1" dirty="0" smtClean="0">
                          <a:latin typeface="Cambria Math" panose="02040503050406030204" pitchFamily="18" charset="0"/>
                        </a:rPr>
                        <m:t>      </m:t>
                      </m:r>
                      <m:r>
                        <a:rPr lang="en-US" altLang="zh-CN" sz="1600" i="1" dirty="0">
                          <a:latin typeface="Cambria Math" panose="02040503050406030204" pitchFamily="18" charset="0"/>
                        </a:rPr>
                        <m:t>=</m:t>
                      </m:r>
                      <m:nary>
                        <m:naryPr>
                          <m:supHide m:val="on"/>
                          <m:ctrlPr>
                            <a:rPr lang="en-US" altLang="zh-CN" sz="1600">
                              <a:latin typeface="Cambria Math" panose="02040503050406030204" pitchFamily="18" charset="0"/>
                            </a:rPr>
                          </m:ctrlPr>
                        </m:naryPr>
                        <m:sub>
                          <m:r>
                            <m:rPr>
                              <m:sty m:val="p"/>
                            </m:rPr>
                            <a:rPr lang="en-US" altLang="zh-CN" sz="1600">
                              <a:latin typeface="Cambria Math" panose="02040503050406030204" pitchFamily="18" charset="0"/>
                            </a:rPr>
                            <m:t>Λ</m:t>
                          </m:r>
                        </m:sub>
                        <m:sup/>
                        <m:e>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sub>
                            <m:sup/>
                            <m:e>
                              <m:sSubSup>
                                <m:sSubSupPr>
                                  <m:ctrlPr>
                                    <a:rPr lang="en-US" altLang="zh-CN" sz="1600">
                                      <a:latin typeface="Cambria Math" panose="02040503050406030204" pitchFamily="18" charset="0"/>
                                    </a:rPr>
                                  </m:ctrlPr>
                                </m:sSubSupPr>
                                <m:e>
                                  <m:r>
                                    <m:rPr>
                                      <m:sty m:val="p"/>
                                    </m:rPr>
                                    <a:rPr lang="en-US" altLang="zh-CN" sz="1600">
                                      <a:latin typeface="Cambria Math" panose="02040503050406030204" pitchFamily="18" charset="0"/>
                                    </a:rPr>
                                    <m:t>Φ</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𝑝𝑟𝑒</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𝜆</m:t>
                                  </m:r>
                                </m:e>
                              </m:d>
                              <m:r>
                                <a:rPr lang="en-US" altLang="zh-CN" sz="1600" b="0" i="1" smtClean="0">
                                  <a:latin typeface="Cambria Math" panose="02040503050406030204" pitchFamily="18" charset="0"/>
                                </a:rPr>
                                <m:t> </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𝐷</m:t>
                                  </m:r>
                                </m:e>
                                <m:sub>
                                  <m:r>
                                    <a:rPr lang="en-US" altLang="zh-CN" sz="1600" i="1" dirty="0">
                                      <a:solidFill>
                                        <a:schemeClr val="accent6">
                                          <a:lumMod val="50000"/>
                                        </a:schemeClr>
                                      </a:solidFill>
                                      <a:latin typeface="Cambria Math" panose="02040503050406030204" pitchFamily="18" charset="0"/>
                                    </a:rPr>
                                    <m:t>𝑖</m:t>
                                  </m:r>
                                </m:sub>
                              </m:sSub>
                              <m:d>
                                <m:dPr>
                                  <m:ctrlPr>
                                    <a:rPr lang="en-US" altLang="zh-CN" sz="1600" i="1" dirty="0">
                                      <a:solidFill>
                                        <a:schemeClr val="accent6">
                                          <a:lumMod val="50000"/>
                                        </a:schemeClr>
                                      </a:solidFill>
                                      <a:latin typeface="Cambria Math" panose="02040503050406030204" pitchFamily="18" charset="0"/>
                                    </a:rPr>
                                  </m:ctrlPr>
                                </m:dPr>
                                <m:e>
                                  <m:sSub>
                                    <m:sSubPr>
                                      <m:ctrlPr>
                                        <a:rPr lang="en-US" altLang="zh-CN" sz="1600" i="1" dirty="0">
                                          <a:solidFill>
                                            <a:schemeClr val="accent6">
                                              <a:lumMod val="50000"/>
                                            </a:schemeClr>
                                          </a:solidFill>
                                          <a:latin typeface="Cambria Math" panose="02040503050406030204" pitchFamily="18" charset="0"/>
                                        </a:rPr>
                                      </m:ctrlPr>
                                    </m:sSubPr>
                                    <m:e>
                                      <m:acc>
                                        <m:accPr>
                                          <m:chr m:val="̅"/>
                                          <m:ctrlPr>
                                            <a:rPr lang="en-US" altLang="zh-CN" sz="1600" i="1" dirty="0">
                                              <a:solidFill>
                                                <a:schemeClr val="accent6">
                                                  <a:lumMod val="50000"/>
                                                </a:schemeClr>
                                              </a:solidFill>
                                              <a:latin typeface="Cambria Math" panose="02040503050406030204" pitchFamily="18" charset="0"/>
                                            </a:rPr>
                                          </m:ctrlPr>
                                        </m:accPr>
                                        <m:e>
                                          <m:r>
                                            <a:rPr lang="en-US" altLang="zh-CN" sz="1600" i="1" dirty="0">
                                              <a:solidFill>
                                                <a:schemeClr val="accent6">
                                                  <a:lumMod val="50000"/>
                                                </a:schemeClr>
                                              </a:solidFill>
                                              <a:latin typeface="Cambria Math" panose="02040503050406030204" pitchFamily="18" charset="0"/>
                                            </a:rPr>
                                            <m:t>𝑝</m:t>
                                          </m:r>
                                        </m:e>
                                      </m:acc>
                                    </m:e>
                                    <m:sub>
                                      <m:r>
                                        <a:rPr lang="en-US" altLang="zh-CN" sz="1600" i="1">
                                          <a:solidFill>
                                            <a:schemeClr val="accent6">
                                              <a:lumMod val="50000"/>
                                            </a:schemeClr>
                                          </a:solidFill>
                                          <a:latin typeface="Cambria Math" panose="02040503050406030204" pitchFamily="18" charset="0"/>
                                        </a:rPr>
                                        <m:t>𝑖</m:t>
                                      </m:r>
                                      <m:r>
                                        <a:rPr lang="en-US" altLang="zh-CN" sz="1600" i="1">
                                          <a:solidFill>
                                            <a:schemeClr val="accent6">
                                              <a:lumMod val="50000"/>
                                            </a:schemeClr>
                                          </a:solidFill>
                                          <a:latin typeface="Cambria Math" panose="02040503050406030204" pitchFamily="18" charset="0"/>
                                        </a:rPr>
                                        <m:t>−1</m:t>
                                      </m:r>
                                    </m:sub>
                                  </m:sSub>
                                  <m:r>
                                    <a:rPr lang="en-US" altLang="zh-CN" sz="1600" b="0" i="1" smtClean="0">
                                      <a:solidFill>
                                        <a:schemeClr val="accent6">
                                          <a:lumMod val="50000"/>
                                        </a:schemeClr>
                                      </a:solidFill>
                                      <a:latin typeface="Cambria Math" panose="02040503050406030204" pitchFamily="18" charset="0"/>
                                    </a:rPr>
                                    <m:t>,</m:t>
                                  </m:r>
                                  <m:r>
                                    <a:rPr lang="en-US" altLang="zh-CN" sz="1600" b="0" i="1" smtClean="0">
                                      <a:solidFill>
                                        <a:schemeClr val="accent6">
                                          <a:lumMod val="50000"/>
                                        </a:schemeClr>
                                      </a:solidFill>
                                      <a:latin typeface="Cambria Math" panose="02040503050406030204" pitchFamily="18" charset="0"/>
                                    </a:rPr>
                                    <m:t>𝜆</m:t>
                                  </m:r>
                                </m:e>
                              </m:d>
                              <m:r>
                                <a:rPr lang="en-US" altLang="zh-CN" sz="1600" b="0" i="1" smtClean="0">
                                  <a:solidFill>
                                    <a:schemeClr val="accent6">
                                      <a:lumMod val="50000"/>
                                    </a:schemeClr>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r>
                                    <a:rPr lang="en-US" altLang="zh-CN" sz="1600" i="1">
                                      <a:latin typeface="Cambria Math" panose="02040503050406030204" pitchFamily="18" charset="0"/>
                                    </a:rPr>
                                    <m:t>𝜆</m:t>
                                  </m:r>
                                </m:e>
                              </m:d>
                              <m:r>
                                <a:rPr lang="en-US" altLang="zh-CN" sz="1600" i="1">
                                  <a:latin typeface="Cambria Math" panose="02040503050406030204" pitchFamily="18" charset="0"/>
                                </a:rPr>
                                <m:t> </m:t>
                              </m:r>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e>
                              </m:d>
                            </m:e>
                          </m:nary>
                          <m:r>
                            <a:rPr lang="en-US" altLang="zh-CN" sz="1600" i="1" dirty="0">
                              <a:latin typeface="Cambria Math" panose="02040503050406030204" pitchFamily="18" charset="0"/>
                            </a:rPr>
                            <m:t>𝑑</m:t>
                          </m:r>
                          <m:r>
                            <a:rPr lang="en-US" altLang="zh-CN" sz="1600" i="1" dirty="0">
                              <a:latin typeface="Cambria Math" panose="02040503050406030204" pitchFamily="18" charset="0"/>
                            </a:rPr>
                            <m:t>𝜆</m:t>
                          </m:r>
                        </m:e>
                      </m:nary>
                    </m:oMath>
                  </m:oMathPara>
                </a14:m>
                <a:endParaRPr lang="en-US" altLang="zh-CN" sz="1600" dirty="0">
                  <a:latin typeface="Cambria Math" panose="02040503050406030204" pitchFamily="18" charset="0"/>
                </a:endParaRPr>
              </a:p>
              <a:p>
                <a:pPr/>
                <a14:m>
                  <m:oMathPara xmlns:m="http://schemas.openxmlformats.org/officeDocument/2006/math">
                    <m:oMath>
                      <m:r>
                        <a:rPr lang="zh-CN" altLang="en-US" sz="1600" b="1" i="1" dirty="0">
                          <a:latin typeface="Cambria Math" panose="02040503050406030204" pitchFamily="18" charset="0"/>
                        </a:rPr>
                        <m:t>令</m:t>
                      </m:r>
                      <m:r>
                        <a:rPr lang="zh-CN" altLang="en-US" sz="1600" b="1" i="1" dirty="0" smtClean="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nary>
                        <m:naryPr>
                          <m:chr m:val="∑"/>
                          <m:ctrlPr>
                            <a:rPr lang="en-US" altLang="zh-CN" sz="1600" i="1" dirty="0">
                              <a:latin typeface="Cambria Math" panose="02040503050406030204" pitchFamily="18" charset="0"/>
                            </a:rPr>
                          </m:ctrlPr>
                        </m:naryPr>
                        <m:sub>
                          <m:r>
                            <m:rPr>
                              <m:brk m:alnAt="23"/>
                            </m:rPr>
                            <a:rPr lang="en-US" altLang="zh-CN" sz="1600" i="1" dirty="0">
                              <a:latin typeface="Cambria Math" panose="02040503050406030204" pitchFamily="18" charset="0"/>
                            </a:rPr>
                            <m:t>𝑗</m:t>
                          </m:r>
                          <m:r>
                            <m:rPr>
                              <m:brk m:alnAt="23"/>
                            </m:rPr>
                            <a:rPr lang="en-US" altLang="zh-CN" sz="1600" i="1" dirty="0">
                              <a:latin typeface="Cambria Math" panose="02040503050406030204" pitchFamily="18" charset="0"/>
                            </a:rPr>
                            <m:t>=</m:t>
                          </m:r>
                          <m:r>
                            <m:rPr>
                              <m:brk m:alnAt="23"/>
                            </m:rPr>
                            <a:rPr lang="en-US" altLang="zh-CN" sz="1600" i="1" dirty="0">
                              <a:latin typeface="Cambria Math" panose="02040503050406030204" pitchFamily="18" charset="0"/>
                            </a:rPr>
                            <m:t>1</m:t>
                          </m:r>
                        </m:sub>
                        <m:sup>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sup>
                        <m:e>
                          <m:f>
                            <m:fPr>
                              <m:ctrlPr>
                                <a:rPr lang="en-US" altLang="zh-CN" sz="1600" i="1">
                                  <a:latin typeface="Cambria Math" panose="02040503050406030204" pitchFamily="18" charset="0"/>
                                </a:rPr>
                              </m:ctrlPr>
                            </m:fPr>
                            <m:num>
                              <m:sSubSup>
                                <m:sSubSupPr>
                                  <m:ctrlPr>
                                    <a:rPr lang="en-US" altLang="zh-CN" sz="1600">
                                      <a:latin typeface="Cambria Math" panose="02040503050406030204" pitchFamily="18" charset="0"/>
                                    </a:rPr>
                                  </m:ctrlPr>
                                </m:sSubSupPr>
                                <m:e>
                                  <m:r>
                                    <m:rPr>
                                      <m:sty m:val="p"/>
                                    </m:rPr>
                                    <a:rPr lang="en-US" altLang="zh-CN" sz="1600">
                                      <a:latin typeface="Cambria Math" panose="02040503050406030204" pitchFamily="18" charset="0"/>
                                    </a:rPr>
                                    <m:t>Φ</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𝑝𝑟𝑒</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b="0" i="1" smtClean="0">
                                          <a:latin typeface="Cambria Math" panose="02040503050406030204" pitchFamily="18" charset="0"/>
                                        </a:rPr>
                                        <m:t>𝑗</m:t>
                                      </m:r>
                                    </m:sub>
                                  </m:sSub>
                                </m:e>
                              </m:d>
                              <m:r>
                                <a:rPr lang="en-US" altLang="zh-CN" sz="1600" b="0" i="1" smtClean="0">
                                  <a:latin typeface="Cambria Math" panose="02040503050406030204" pitchFamily="18" charset="0"/>
                                </a:rPr>
                                <m:t> </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𝐷</m:t>
                                  </m:r>
                                </m:e>
                                <m:sub>
                                  <m:r>
                                    <a:rPr lang="en-US" altLang="zh-CN" sz="1600" i="1" dirty="0">
                                      <a:solidFill>
                                        <a:schemeClr val="accent6">
                                          <a:lumMod val="50000"/>
                                        </a:schemeClr>
                                      </a:solidFill>
                                      <a:latin typeface="Cambria Math" panose="02040503050406030204" pitchFamily="18" charset="0"/>
                                    </a:rPr>
                                    <m:t>𝑖</m:t>
                                  </m:r>
                                </m:sub>
                              </m:sSub>
                              <m:d>
                                <m:dPr>
                                  <m:ctrlPr>
                                    <a:rPr lang="en-US" altLang="zh-CN" sz="1600" i="1" dirty="0">
                                      <a:solidFill>
                                        <a:schemeClr val="accent6">
                                          <a:lumMod val="50000"/>
                                        </a:schemeClr>
                                      </a:solidFill>
                                      <a:latin typeface="Cambria Math" panose="02040503050406030204" pitchFamily="18" charset="0"/>
                                    </a:rPr>
                                  </m:ctrlPr>
                                </m:dPr>
                                <m:e>
                                  <m:sSub>
                                    <m:sSubPr>
                                      <m:ctrlPr>
                                        <a:rPr lang="en-US" altLang="zh-CN" sz="1600" i="1" dirty="0">
                                          <a:solidFill>
                                            <a:schemeClr val="accent6">
                                              <a:lumMod val="50000"/>
                                            </a:schemeClr>
                                          </a:solidFill>
                                          <a:latin typeface="Cambria Math" panose="02040503050406030204" pitchFamily="18" charset="0"/>
                                        </a:rPr>
                                      </m:ctrlPr>
                                    </m:sSubPr>
                                    <m:e>
                                      <m:acc>
                                        <m:accPr>
                                          <m:chr m:val="̅"/>
                                          <m:ctrlPr>
                                            <a:rPr lang="en-US" altLang="zh-CN" sz="1600" i="1" dirty="0">
                                              <a:solidFill>
                                                <a:schemeClr val="accent6">
                                                  <a:lumMod val="50000"/>
                                                </a:schemeClr>
                                              </a:solidFill>
                                              <a:latin typeface="Cambria Math" panose="02040503050406030204" pitchFamily="18" charset="0"/>
                                            </a:rPr>
                                          </m:ctrlPr>
                                        </m:accPr>
                                        <m:e>
                                          <m:r>
                                            <a:rPr lang="en-US" altLang="zh-CN" sz="1600" i="1" dirty="0">
                                              <a:solidFill>
                                                <a:schemeClr val="accent6">
                                                  <a:lumMod val="50000"/>
                                                </a:schemeClr>
                                              </a:solidFill>
                                              <a:latin typeface="Cambria Math" panose="02040503050406030204" pitchFamily="18" charset="0"/>
                                            </a:rPr>
                                            <m:t>𝑝</m:t>
                                          </m:r>
                                        </m:e>
                                      </m:acc>
                                    </m:e>
                                    <m:sub>
                                      <m:r>
                                        <a:rPr lang="en-US" altLang="zh-CN" sz="1600" i="1">
                                          <a:solidFill>
                                            <a:schemeClr val="accent6">
                                              <a:lumMod val="50000"/>
                                            </a:schemeClr>
                                          </a:solidFill>
                                          <a:latin typeface="Cambria Math" panose="02040503050406030204" pitchFamily="18" charset="0"/>
                                        </a:rPr>
                                        <m:t>𝑖</m:t>
                                      </m:r>
                                      <m:r>
                                        <a:rPr lang="en-US" altLang="zh-CN" sz="1600" i="1">
                                          <a:solidFill>
                                            <a:schemeClr val="accent6">
                                              <a:lumMod val="50000"/>
                                            </a:schemeClr>
                                          </a:solidFill>
                                          <a:latin typeface="Cambria Math" panose="02040503050406030204" pitchFamily="18" charset="0"/>
                                        </a:rPr>
                                        <m:t>−1</m:t>
                                      </m:r>
                                    </m:sub>
                                  </m:sSub>
                                  <m:r>
                                    <a:rPr lang="en-US" altLang="zh-CN" sz="1600" i="1">
                                      <a:solidFill>
                                        <a:schemeClr val="accent6">
                                          <a:lumMod val="50000"/>
                                        </a:schemeClr>
                                      </a:solidFill>
                                      <a:latin typeface="Cambria Math" panose="02040503050406030204" pitchFamily="18" charset="0"/>
                                    </a:rPr>
                                    <m:t>,</m:t>
                                  </m:r>
                                  <m:sSub>
                                    <m:sSubPr>
                                      <m:ctrlPr>
                                        <a:rPr lang="en-US" altLang="zh-CN" sz="1600" i="1">
                                          <a:solidFill>
                                            <a:schemeClr val="accent6">
                                              <a:lumMod val="50000"/>
                                            </a:schemeClr>
                                          </a:solidFill>
                                          <a:latin typeface="Cambria Math" panose="02040503050406030204" pitchFamily="18" charset="0"/>
                                        </a:rPr>
                                      </m:ctrlPr>
                                    </m:sSubPr>
                                    <m:e>
                                      <m:r>
                                        <a:rPr lang="en-US" altLang="zh-CN" sz="1600" i="1">
                                          <a:solidFill>
                                            <a:schemeClr val="accent6">
                                              <a:lumMod val="50000"/>
                                            </a:schemeClr>
                                          </a:solidFill>
                                          <a:latin typeface="Cambria Math" panose="02040503050406030204" pitchFamily="18" charset="0"/>
                                        </a:rPr>
                                        <m:t>𝜆</m:t>
                                      </m:r>
                                    </m:e>
                                    <m:sub>
                                      <m:r>
                                        <a:rPr lang="en-US" altLang="zh-CN" sz="1600" b="0" i="1" smtClean="0">
                                          <a:solidFill>
                                            <a:schemeClr val="accent6">
                                              <a:lumMod val="50000"/>
                                            </a:schemeClr>
                                          </a:solidFill>
                                          <a:latin typeface="Cambria Math" panose="02040503050406030204" pitchFamily="18" charset="0"/>
                                        </a:rPr>
                                        <m:t>𝑗</m:t>
                                      </m:r>
                                    </m:sub>
                                  </m:sSub>
                                </m:e>
                              </m:d>
                              <m:r>
                                <a:rPr lang="en-US" altLang="zh-CN" sz="1600" b="1" i="1" smtClean="0">
                                  <a:solidFill>
                                    <a:schemeClr val="accent6">
                                      <a:lumMod val="50000"/>
                                    </a:schemeClr>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b="0" i="1" smtClean="0">
                                          <a:latin typeface="Cambria Math" panose="02040503050406030204" pitchFamily="18" charset="0"/>
                                        </a:rPr>
                                        <m:t>𝑗</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𝑗</m:t>
                                      </m:r>
                                    </m:sub>
                                  </m:sSub>
                                </m:e>
                              </m:d>
                            </m:den>
                          </m:f>
                        </m:e>
                      </m:nary>
                    </m:oMath>
                  </m:oMathPara>
                </a14:m>
                <a:endParaRPr lang="en-US" altLang="zh-CN" sz="1600" i="1" dirty="0">
                  <a:latin typeface="Cambria Math" panose="02040503050406030204" pitchFamily="18" charset="0"/>
                </a:endParaRPr>
              </a:p>
              <a:p>
                <a:pPr/>
                <a14:m>
                  <m:oMathPara xmlns:m="http://schemas.openxmlformats.org/officeDocument/2006/math">
                    <m:oMath>
                      <m:sSub>
                        <m:sSubPr>
                          <m:ctrlPr>
                            <a:rPr lang="zh-CN" altLang="en-US" sz="1600" b="1" i="1" dirty="0">
                              <a:latin typeface="Cambria Math" panose="02040503050406030204" pitchFamily="18" charset="0"/>
                            </a:rPr>
                          </m:ctrlPr>
                        </m:sSubPr>
                        <m:e>
                          <m:r>
                            <a:rPr lang="zh-CN" altLang="en-US" sz="1600" b="1" i="1" dirty="0">
                              <a:latin typeface="Cambria Math" panose="02040503050406030204" pitchFamily="18" charset="0"/>
                            </a:rPr>
                            <m:t>𝓙</m:t>
                          </m:r>
                        </m:e>
                        <m:sub>
                          <m:r>
                            <a:rPr lang="en-US" altLang="zh-CN" sz="1600" i="1" dirty="0">
                              <a:latin typeface="Cambria Math" panose="02040503050406030204" pitchFamily="18" charset="0"/>
                            </a:rPr>
                            <m:t>𝑖</m:t>
                          </m:r>
                        </m:sub>
                      </m:sSub>
                      <m:d>
                        <m:dPr>
                          <m:ctrlPr>
                            <a:rPr lang="en-US" altLang="zh-CN" sz="1600" b="1" dirty="0">
                              <a:latin typeface="Cambria Math" panose="02040503050406030204" pitchFamily="18" charset="0"/>
                            </a:rPr>
                          </m:ctrlPr>
                        </m:dPr>
                        <m:e>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m:t>
                      </m:r>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sub>
                        <m:sup/>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 </m:t>
                          </m:r>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b="0" i="1" dirty="0" smtClean="0">
                                      <a:latin typeface="Cambria Math" panose="02040503050406030204" pitchFamily="18" charset="0"/>
                                    </a:rPr>
                                    <m:t>−1</m:t>
                                  </m:r>
                                </m:sub>
                              </m:sSub>
                            </m:e>
                          </m:d>
                        </m:e>
                      </m:nary>
                      <m:r>
                        <a:rPr lang="en-US" altLang="zh-CN" sz="1600" b="0" i="0" dirty="0" smtClean="0">
                          <a:latin typeface="Cambria Math" panose="02040503050406030204" pitchFamily="18" charset="0"/>
                        </a:rPr>
                        <m:t>,  </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𝐸</m:t>
                          </m:r>
                        </m:e>
                        <m:sub>
                          <m:r>
                            <a:rPr lang="en-US" altLang="zh-CN" sz="1600" b="1" dirty="0">
                              <a:latin typeface="Cambria Math" panose="02040503050406030204" pitchFamily="18" charset="0"/>
                            </a:rPr>
                            <m:t>𝚲</m:t>
                          </m:r>
                        </m:sub>
                      </m:sSub>
                      <m:d>
                        <m:dPr>
                          <m:begChr m:val="["/>
                          <m:endChr m:val="]"/>
                          <m:ctrlPr>
                            <a:rPr lang="zh-CN" altLang="en-US" sz="1600" b="1" i="1" dirty="0">
                              <a:latin typeface="Cambria Math" panose="02040503050406030204" pitchFamily="18" charset="0"/>
                            </a:rPr>
                          </m:ctrlPr>
                        </m:dPr>
                        <m:e>
                          <m:sSub>
                            <m:sSubPr>
                              <m:ctrlPr>
                                <a:rPr lang="zh-CN" altLang="en-US" sz="1600" b="1" i="1" dirty="0">
                                  <a:latin typeface="Cambria Math" panose="02040503050406030204" pitchFamily="18" charset="0"/>
                                </a:rPr>
                              </m:ctrlPr>
                            </m:sSubPr>
                            <m:e>
                              <m:r>
                                <a:rPr lang="zh-CN" altLang="en-US" sz="1600" b="1" i="1" dirty="0">
                                  <a:latin typeface="Cambria Math" panose="02040503050406030204" pitchFamily="18" charset="0"/>
                                </a:rPr>
                                <m:t>𝓙</m:t>
                              </m:r>
                            </m:e>
                            <m:sub>
                              <m:r>
                                <a:rPr lang="en-US" altLang="zh-CN" sz="1600" i="1" dirty="0">
                                  <a:latin typeface="Cambria Math" panose="02040503050406030204" pitchFamily="18" charset="0"/>
                                </a:rPr>
                                <m:t>𝑖</m:t>
                              </m:r>
                            </m:sub>
                          </m:sSub>
                          <m:d>
                            <m:dPr>
                              <m:ctrlPr>
                                <a:rPr lang="en-US" altLang="zh-CN" sz="1600" b="1" dirty="0">
                                  <a:latin typeface="Cambria Math" panose="02040503050406030204" pitchFamily="18" charset="0"/>
                                </a:rPr>
                              </m:ctrlPr>
                            </m:dPr>
                            <m:e>
                              <m:r>
                                <a:rPr lang="en-US" altLang="zh-CN" sz="1600" b="1" dirty="0">
                                  <a:latin typeface="Cambria Math" panose="02040503050406030204" pitchFamily="18" charset="0"/>
                                </a:rPr>
                                <m:t>𝚲</m:t>
                              </m:r>
                            </m:e>
                          </m:d>
                        </m:e>
                      </m:d>
                      <m:r>
                        <a:rPr lang="en-US" altLang="zh-CN" sz="1600" i="1" dirty="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𝑪</m:t>
                          </m:r>
                        </m:e>
                        <m:sub>
                          <m:r>
                            <a:rPr lang="en-US" altLang="zh-CN" sz="1600" i="1" dirty="0">
                              <a:latin typeface="Cambria Math" panose="02040503050406030204" pitchFamily="18" charset="0"/>
                            </a:rPr>
                            <m:t>𝑖</m:t>
                          </m:r>
                        </m:sub>
                      </m:sSub>
                    </m:oMath>
                  </m:oMathPara>
                </a14:m>
                <a:endParaRPr lang="en-US" altLang="zh-CN" sz="1600"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9C907D25-22E5-A41C-B051-7B3B03021A75}"/>
                  </a:ext>
                </a:extLst>
              </p:cNvPr>
              <p:cNvSpPr txBox="1">
                <a:spLocks noRot="1" noChangeAspect="1" noMove="1" noResize="1" noEditPoints="1" noAdjustHandles="1" noChangeArrowheads="1" noChangeShapeType="1" noTextEdit="1"/>
              </p:cNvSpPr>
              <p:nvPr/>
            </p:nvSpPr>
            <p:spPr>
              <a:xfrm>
                <a:off x="261869" y="1232104"/>
                <a:ext cx="11771291" cy="5306837"/>
              </a:xfrm>
              <a:prstGeom prst="rect">
                <a:avLst/>
              </a:prstGeom>
              <a:blipFill>
                <a:blip r:embed="rId2"/>
                <a:stretch>
                  <a:fillRect l="-311" t="-142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56545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7D64D-69CC-7492-1A84-87B95BE6F108}"/>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7B3CD5C-D6B4-DECC-89B8-9E5DDF13FFAE}"/>
              </a:ext>
            </a:extLst>
          </p:cNvPr>
          <p:cNvSpPr>
            <a:spLocks noGrp="1"/>
          </p:cNvSpPr>
          <p:nvPr>
            <p:ph type="title" idx="1"/>
          </p:nvPr>
        </p:nvSpPr>
        <p:spPr/>
        <p:txBody>
          <a:bodyPr/>
          <a:lstStyle/>
          <a:p>
            <a:r>
              <a:rPr lang="en-US" altLang="zh-CN" dirty="0"/>
              <a:t>MIS </a:t>
            </a:r>
            <a:r>
              <a:rPr lang="zh-CN" altLang="en-US" dirty="0"/>
              <a:t>分层组合</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CE3D361-C07C-E69E-2D5A-165328DB9A72}"/>
                  </a:ext>
                </a:extLst>
              </p:cNvPr>
              <p:cNvSpPr txBox="1"/>
              <p:nvPr/>
            </p:nvSpPr>
            <p:spPr>
              <a:xfrm>
                <a:off x="210354" y="1373772"/>
                <a:ext cx="11771291" cy="1825693"/>
              </a:xfrm>
              <a:prstGeom prst="rect">
                <a:avLst/>
              </a:prstGeom>
              <a:noFill/>
            </p:spPr>
            <p:txBody>
              <a:bodyPr wrap="square">
                <a:spAutoFit/>
              </a:bodyPr>
              <a:lstStyle/>
              <a:p>
                <a:pPr/>
                <a14:m>
                  <m:oMathPara xmlns:m="http://schemas.openxmlformats.org/officeDocument/2006/math">
                    <m:oMath>
                      <m:r>
                        <a:rPr lang="en-US" altLang="zh-CN" i="1" dirty="0" smtClean="0">
                          <a:latin typeface="Cambria Math" panose="02040503050406030204" pitchFamily="18" charset="0"/>
                        </a:rPr>
                        <m:t> </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sub>
                            <m:sup/>
                            <m:e>
                              <m:sSubSup>
                                <m:sSubSupPr>
                                  <m:ctrlPr>
                                    <a:rPr lang="en-US" altLang="zh-CN">
                                      <a:latin typeface="Cambria Math" panose="02040503050406030204" pitchFamily="18" charset="0"/>
                                    </a:rPr>
                                  </m:ctrlPr>
                                </m:sSubSup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𝑝𝑟𝑒</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a:latin typeface="Cambria Math" panose="02040503050406030204" pitchFamily="18" charset="0"/>
                                    </a:rPr>
                                    <m:t>𝜆</m:t>
                                  </m:r>
                                </m:e>
                              </m:d>
                              <m:r>
                                <a:rPr lang="en-US" altLang="zh-CN" i="1">
                                  <a:latin typeface="Cambria Math" panose="02040503050406030204" pitchFamily="18" charset="0"/>
                                </a:rPr>
                                <m:t> </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𝐷</m:t>
                                  </m:r>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𝜆</m:t>
                                  </m:r>
                                </m:e>
                              </m:d>
                              <m:r>
                                <a:rPr lang="en-US" altLang="zh-CN" i="1">
                                  <a:solidFill>
                                    <a:schemeClr val="accent6">
                                      <a:lumMod val="50000"/>
                                    </a:schemeClr>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r>
                        <a:rPr lang="en-US" altLang="zh-CN" b="0" i="1" dirty="0" smtClean="0">
                          <a:latin typeface="Cambria Math" panose="02040503050406030204" pitchFamily="18" charset="0"/>
                        </a:rPr>
                        <m:t>,  </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𝐷</m:t>
                          </m:r>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𝜆</m:t>
                          </m:r>
                        </m:e>
                      </m:d>
                      <m:r>
                        <a:rPr lang="en-US" altLang="zh-CN" b="0" i="1" smtClean="0">
                          <a:solidFill>
                            <a:schemeClr val="accent6">
                              <a:lumMod val="50000"/>
                            </a:schemeClr>
                          </a:solidFill>
                          <a:latin typeface="Cambria Math" panose="02040503050406030204" pitchFamily="18" charset="0"/>
                        </a:rPr>
                        <m:t>=</m:t>
                      </m:r>
                      <m:nary>
                        <m:naryPr>
                          <m:supHide m:val="on"/>
                          <m:ctrlPr>
                            <a:rPr lang="en-US" altLang="zh-CN" i="1" dirty="0">
                              <a:solidFill>
                                <a:schemeClr val="accent6">
                                  <a:lumMod val="50000"/>
                                </a:schemeClr>
                              </a:solidFill>
                              <a:latin typeface="Cambria Math" panose="02040503050406030204" pitchFamily="18" charset="0"/>
                            </a:rPr>
                          </m:ctrlPr>
                        </m:naryPr>
                        <m:sub>
                          <m:sSub>
                            <m:sSubPr>
                              <m:ctrlPr>
                                <a:rPr lang="en-US" altLang="zh-CN" dirty="0">
                                  <a:solidFill>
                                    <a:schemeClr val="accent6">
                                      <a:lumMod val="50000"/>
                                    </a:schemeClr>
                                  </a:solidFill>
                                  <a:latin typeface="Cambria Math" panose="02040503050406030204" pitchFamily="18" charset="0"/>
                                </a:rPr>
                              </m:ctrlPr>
                            </m:sSubPr>
                            <m:e>
                              <m:r>
                                <m:rPr>
                                  <m:sty m:val="p"/>
                                </m:rPr>
                                <a:rPr lang="en-US" altLang="zh-CN" dirty="0">
                                  <a:solidFill>
                                    <a:schemeClr val="accent6">
                                      <a:lumMod val="50000"/>
                                    </a:schemeClr>
                                  </a:solidFill>
                                  <a:latin typeface="Cambria Math" panose="02040503050406030204" pitchFamily="18" charset="0"/>
                                </a:rPr>
                                <m:t>Ω</m:t>
                              </m:r>
                            </m:e>
                            <m:sub>
                              <m:r>
                                <a:rPr lang="en-US" altLang="zh-CN" i="1" dirty="0">
                                  <a:solidFill>
                                    <a:schemeClr val="accent6">
                                      <a:lumMod val="50000"/>
                                    </a:schemeClr>
                                  </a:solidFill>
                                  <a:latin typeface="Cambria Math" panose="02040503050406030204" pitchFamily="18" charset="0"/>
                                </a:rPr>
                                <m:t>𝐸</m:t>
                              </m:r>
                            </m:sub>
                          </m:sSub>
                        </m:sub>
                        <m:sup/>
                        <m:e>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𝐹</m:t>
                              </m:r>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𝜔</m:t>
                                  </m:r>
                                </m:e>
                                <m:sub>
                                  <m:r>
                                    <a:rPr lang="en-US" altLang="zh-CN" i="1" dirty="0">
                                      <a:solidFill>
                                        <a:schemeClr val="accent6">
                                          <a:lumMod val="50000"/>
                                        </a:schemeClr>
                                      </a:solidFill>
                                      <a:latin typeface="Cambria Math" panose="02040503050406030204" pitchFamily="18" charset="0"/>
                                    </a:rPr>
                                    <m:t>𝑖</m:t>
                                  </m:r>
                                </m:sub>
                              </m:sSub>
                              <m:r>
                                <a:rPr lang="en-US" altLang="zh-CN" i="1" dirty="0">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r>
                                    <a:rPr lang="en-US" altLang="zh-CN" i="1" dirty="0">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𝜆</m:t>
                              </m:r>
                            </m:e>
                          </m:d>
                          <m:r>
                            <a:rPr lang="en-US" altLang="zh-CN" i="1" dirty="0">
                              <a:solidFill>
                                <a:schemeClr val="accent6">
                                  <a:lumMod val="50000"/>
                                </a:schemeClr>
                              </a:solidFill>
                              <a:latin typeface="Cambria Math" panose="02040503050406030204" pitchFamily="18" charset="0"/>
                            </a:rPr>
                            <m:t>𝑑</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𝜔</m:t>
                              </m:r>
                            </m:e>
                            <m:sub>
                              <m:r>
                                <a:rPr lang="en-US" altLang="zh-CN" i="1" dirty="0">
                                  <a:solidFill>
                                    <a:schemeClr val="accent6">
                                      <a:lumMod val="50000"/>
                                    </a:schemeClr>
                                  </a:solidFill>
                                  <a:latin typeface="Cambria Math" panose="02040503050406030204" pitchFamily="18" charset="0"/>
                                </a:rPr>
                                <m:t>𝑖</m:t>
                              </m:r>
                            </m:sub>
                          </m:sSub>
                        </m:e>
                      </m:nary>
                    </m:oMath>
                  </m:oMathPara>
                </a14:m>
                <a:endParaRPr lang="en-US" altLang="zh-CN" dirty="0">
                  <a:latin typeface="Cambria Math" panose="02040503050406030204" pitchFamily="18" charset="0"/>
                </a:endParaRPr>
              </a:p>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a:latin typeface="Cambria Math" panose="02040503050406030204" pitchFamily="18" charset="0"/>
                                </a:rPr>
                              </m:ctrlPr>
                            </m:fPr>
                            <m:num>
                              <m:sSubSup>
                                <m:sSubSupPr>
                                  <m:ctrlPr>
                                    <a:rPr lang="en-US" altLang="zh-CN">
                                      <a:latin typeface="Cambria Math" panose="02040503050406030204" pitchFamily="18" charset="0"/>
                                    </a:rPr>
                                  </m:ctrlPr>
                                </m:sSubSup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𝑝𝑟𝑒</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r>
                                <a:rPr lang="en-US" altLang="zh-CN" i="1">
                                  <a:latin typeface="Cambria Math" panose="02040503050406030204" pitchFamily="18" charset="0"/>
                                </a:rPr>
                                <m:t> </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𝐷</m:t>
                                  </m:r>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𝜆</m:t>
                                      </m:r>
                                    </m:e>
                                    <m:sub>
                                      <m:r>
                                        <a:rPr lang="en-US" altLang="zh-CN" i="1">
                                          <a:solidFill>
                                            <a:schemeClr val="accent6">
                                              <a:lumMod val="50000"/>
                                            </a:schemeClr>
                                          </a:solidFill>
                                          <a:latin typeface="Cambria Math" panose="02040503050406030204" pitchFamily="18" charset="0"/>
                                        </a:rPr>
                                        <m:t>𝑗</m:t>
                                      </m:r>
                                    </m:sub>
                                  </m:sSub>
                                </m:e>
                              </m:d>
                              <m:r>
                                <a:rPr lang="en-US" altLang="zh-CN" b="1" i="1">
                                  <a:solidFill>
                                    <a:schemeClr val="accent6">
                                      <a:lumMod val="50000"/>
                                    </a:schemeClr>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r>
                        <a:rPr lang="en-US" altLang="zh-CN" i="1" dirty="0">
                          <a:latin typeface="Cambria Math" panose="02040503050406030204" pitchFamily="18" charset="0"/>
                        </a:rPr>
                        <m:t>,  </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nary>
                    </m:oMath>
                  </m:oMathPara>
                </a14:m>
                <a:endParaRPr lang="en-US" altLang="zh-CN" i="1" dirty="0">
                  <a:latin typeface="Cambria Math" panose="02040503050406030204" pitchFamily="18" charset="0"/>
                </a:endParaRPr>
              </a:p>
              <a:p>
                <a:r>
                  <a:rPr lang="zh-CN" altLang="en-US" dirty="0">
                    <a:latin typeface="Cambria Math" panose="02040503050406030204" pitchFamily="18" charset="0"/>
                  </a:rPr>
                  <a:t>         注意</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oMath>
                </a14:m>
                <a:r>
                  <a:rPr lang="zh-CN" altLang="en-US" dirty="0">
                    <a:latin typeface="Cambria Math" panose="02040503050406030204" pitchFamily="18" charset="0"/>
                  </a:rPr>
                  <a:t>里还包含一个连接光源的积分</a:t>
                </a:r>
                <a14:m>
                  <m:oMath xmlns:m="http://schemas.openxmlformats.org/officeDocument/2006/math">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𝐷</m:t>
                        </m:r>
                      </m:e>
                      <m:sub>
                        <m:r>
                          <a:rPr lang="en-US" altLang="zh-CN" i="1" dirty="0">
                            <a:solidFill>
                              <a:schemeClr val="accent6">
                                <a:lumMod val="50000"/>
                              </a:schemeClr>
                            </a:solidFill>
                            <a:latin typeface="Cambria Math" panose="02040503050406030204" pitchFamily="18" charset="0"/>
                          </a:rPr>
                          <m:t>𝑖</m:t>
                        </m:r>
                      </m:sub>
                    </m:sSub>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𝜆</m:t>
                            </m:r>
                          </m:e>
                          <m:sub>
                            <m:r>
                              <a:rPr lang="en-US" altLang="zh-CN" i="1">
                                <a:solidFill>
                                  <a:schemeClr val="accent6">
                                    <a:lumMod val="50000"/>
                                  </a:schemeClr>
                                </a:solidFill>
                                <a:latin typeface="Cambria Math" panose="02040503050406030204" pitchFamily="18" charset="0"/>
                              </a:rPr>
                              <m:t>𝑗</m:t>
                            </m:r>
                          </m:sub>
                        </m:sSub>
                      </m:e>
                    </m:d>
                  </m:oMath>
                </a14:m>
                <a:r>
                  <a:rPr lang="zh-CN" altLang="en-US" dirty="0">
                    <a:latin typeface="Cambria Math" panose="02040503050406030204" pitchFamily="18" charset="0"/>
                  </a:rPr>
                  <a:t>，我们可以用</a:t>
                </a:r>
                <a:r>
                  <a:rPr lang="en-US" altLang="zh-CN" dirty="0">
                    <a:latin typeface="Cambria Math" panose="02040503050406030204" pitchFamily="18" charset="0"/>
                  </a:rPr>
                  <a:t>PT MIS</a:t>
                </a:r>
                <a:r>
                  <a:rPr lang="zh-CN" altLang="en-US" dirty="0">
                    <a:latin typeface="Cambria Math" panose="02040503050406030204" pitchFamily="18" charset="0"/>
                  </a:rPr>
                  <a:t>解决</a:t>
                </a:r>
                <a:r>
                  <a:rPr lang="zh-CN" altLang="en-US" dirty="0">
                    <a:solidFill>
                      <a:schemeClr val="accent6">
                        <a:lumMod val="50000"/>
                      </a:schemeClr>
                    </a:solidFill>
                    <a:latin typeface="Cambria Math" panose="02040503050406030204" pitchFamily="18" charset="0"/>
                  </a:rPr>
                  <a:t>它</a:t>
                </a:r>
                <a:r>
                  <a:rPr lang="zh-CN" altLang="en-US" dirty="0">
                    <a:latin typeface="Cambria Math" panose="02040503050406030204" pitchFamily="18" charset="0"/>
                  </a:rPr>
                  <a:t>：</a:t>
                </a:r>
                <a:endParaRPr lang="en-US" altLang="zh-CN"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6CE3D361-C07C-E69E-2D5A-165328DB9A72}"/>
                  </a:ext>
                </a:extLst>
              </p:cNvPr>
              <p:cNvSpPr txBox="1">
                <a:spLocks noRot="1" noChangeAspect="1" noMove="1" noResize="1" noEditPoints="1" noAdjustHandles="1" noChangeArrowheads="1" noChangeShapeType="1" noTextEdit="1"/>
              </p:cNvSpPr>
              <p:nvPr/>
            </p:nvSpPr>
            <p:spPr>
              <a:xfrm>
                <a:off x="210354" y="1373772"/>
                <a:ext cx="11771291" cy="1825693"/>
              </a:xfrm>
              <a:prstGeom prst="rect">
                <a:avLst/>
              </a:prstGeom>
              <a:blipFill>
                <a:blip r:embed="rId2"/>
                <a:stretch>
                  <a:fillRect l="-466" b="-3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48A9F2E-5582-FB77-8762-37627B10A4A7}"/>
                  </a:ext>
                </a:extLst>
              </p:cNvPr>
              <p:cNvSpPr txBox="1"/>
              <p:nvPr/>
            </p:nvSpPr>
            <p:spPr>
              <a:xfrm>
                <a:off x="632137" y="3254995"/>
                <a:ext cx="10927724" cy="2049535"/>
              </a:xfrm>
              <a:prstGeom prst="rect">
                <a:avLst/>
              </a:prstGeom>
              <a:noFill/>
              <a:ln w="19050">
                <a:solidFill>
                  <a:schemeClr val="accent6">
                    <a:lumMod val="50000"/>
                  </a:schemeClr>
                </a:solidFill>
              </a:ln>
            </p:spPr>
            <p:txBody>
              <a:bodyPr wrap="square">
                <a:spAutoFit/>
              </a:bodyPr>
              <a:lstStyle/>
              <a:p>
                <a:r>
                  <a:rPr lang="en-US" altLang="zh-CN" sz="1800" dirty="0">
                    <a:latin typeface="Cambria Math" panose="02040503050406030204" pitchFamily="18" charset="0"/>
                  </a:rPr>
                  <a:t>         </a:t>
                </a:r>
                <a:r>
                  <a:rPr lang="zh-CN" altLang="en-US" sz="1800" dirty="0">
                    <a:latin typeface="Cambria Math" panose="02040503050406030204" pitchFamily="18" charset="0"/>
                  </a:rPr>
                  <a:t>对于共享路径前缀</a:t>
                </a:r>
                <a14:m>
                  <m:oMath xmlns:m="http://schemas.openxmlformats.org/officeDocument/2006/math">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Sub>
                  </m:oMath>
                </a14:m>
                <a:r>
                  <a:rPr lang="zh-CN" altLang="en-US" sz="1800" dirty="0">
                    <a:latin typeface="Cambria Math" panose="02040503050406030204" pitchFamily="18" charset="0"/>
                  </a:rPr>
                  <a:t>，在其之上分别采样：</a:t>
                </a:r>
                <a:endParaRPr lang="en-US" altLang="zh-CN" sz="1800" i="1" dirty="0">
                  <a:latin typeface="Cambria Math" panose="02040503050406030204" pitchFamily="18" charset="0"/>
                </a:endParaRPr>
              </a:p>
              <a:p>
                <a:pPr/>
                <a14:m>
                  <m:oMathPara xmlns:m="http://schemas.openxmlformats.org/officeDocument/2006/math">
                    <m:oMath>
                      <m:r>
                        <a:rPr lang="zh-CN" altLang="en-US" sz="1800" i="1" dirty="0">
                          <a:solidFill>
                            <a:schemeClr val="tx1"/>
                          </a:solidFill>
                          <a:latin typeface="Cambria Math" panose="02040503050406030204" pitchFamily="18" charset="0"/>
                        </a:rPr>
                        <m:t>向光源采样</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dirty="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rgbClr val="F76409"/>
                              </a:solidFill>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r>
                        <a:rPr lang="zh-CN" altLang="en-US" sz="1800" i="1" dirty="0" smtClean="0">
                          <a:solidFill>
                            <a:schemeClr val="tx1"/>
                          </a:solidFill>
                          <a:latin typeface="Cambria Math" panose="02040503050406030204" pitchFamily="18" charset="0"/>
                        </a:rPr>
                        <m:t>：</m:t>
                      </m:r>
                      <m:sSubSup>
                        <m:sSubSupPr>
                          <m:ctrlPr>
                            <a:rPr lang="en-US" altLang="zh-CN" sz="1800" i="1" dirty="0">
                              <a:solidFill>
                                <a:srgbClr val="F76409"/>
                              </a:solidFill>
                              <a:latin typeface="Cambria Math" panose="02040503050406030204" pitchFamily="18" charset="0"/>
                            </a:rPr>
                          </m:ctrlPr>
                        </m:sSubSupPr>
                        <m:e>
                          <m:acc>
                            <m:accPr>
                              <m:chr m:val="̂"/>
                              <m:ctrlPr>
                                <a:rPr lang="en-US" altLang="zh-CN" sz="1800" i="1" dirty="0">
                                  <a:solidFill>
                                    <a:srgbClr val="F76409"/>
                                  </a:solidFill>
                                  <a:latin typeface="Cambria Math" panose="02040503050406030204" pitchFamily="18" charset="0"/>
                                </a:rPr>
                              </m:ctrlPr>
                            </m:accPr>
                            <m:e>
                              <m:r>
                                <a:rPr lang="en-US" altLang="zh-CN" sz="1800" i="1" dirty="0">
                                  <a:solidFill>
                                    <a:srgbClr val="F76409"/>
                                  </a:solidFill>
                                  <a:latin typeface="Cambria Math" panose="02040503050406030204" pitchFamily="18" charset="0"/>
                                </a:rPr>
                                <m:t>𝐷</m:t>
                              </m:r>
                            </m:e>
                          </m:acc>
                        </m:e>
                        <m:sub>
                          <m:r>
                            <a:rPr lang="en-US" altLang="zh-CN" sz="1800" i="1" dirty="0">
                              <a:solidFill>
                                <a:srgbClr val="F76409"/>
                              </a:solidFill>
                              <a:latin typeface="Cambria Math" panose="02040503050406030204" pitchFamily="18" charset="0"/>
                            </a:rPr>
                            <m:t>𝑖</m:t>
                          </m:r>
                          <m:r>
                            <a:rPr lang="en-US" altLang="zh-CN" sz="1800" i="1" dirty="0">
                              <a:solidFill>
                                <a:srgbClr val="F76409"/>
                              </a:solidFill>
                              <a:latin typeface="Cambria Math" panose="02040503050406030204" pitchFamily="18" charset="0"/>
                            </a:rPr>
                            <m:t>,</m:t>
                          </m:r>
                          <m:r>
                            <a:rPr lang="en-US" altLang="zh-CN" sz="1800" i="1" dirty="0">
                              <a:solidFill>
                                <a:srgbClr val="F76409"/>
                              </a:solidFill>
                              <a:latin typeface="Cambria Math" panose="02040503050406030204" pitchFamily="18" charset="0"/>
                            </a:rPr>
                            <m:t>𝐻</m:t>
                          </m:r>
                        </m:sub>
                        <m:sup>
                          <m:r>
                            <a:rPr lang="en-US" altLang="zh-CN" sz="1800" i="1" dirty="0">
                              <a:solidFill>
                                <a:srgbClr val="F76409"/>
                              </a:solidFill>
                              <a:latin typeface="Cambria Math" panose="02040503050406030204" pitchFamily="18" charset="0"/>
                            </a:rPr>
                            <m:t>𝐿</m:t>
                          </m:r>
                        </m:sup>
                      </m:sSubSup>
                      <m:d>
                        <m:dPr>
                          <m:ctrlPr>
                            <a:rPr lang="en-US" altLang="zh-CN" sz="1800" i="1" dirty="0">
                              <a:solidFill>
                                <a:srgbClr val="F76409"/>
                              </a:solidFill>
                              <a:latin typeface="Cambria Math" panose="02040503050406030204" pitchFamily="18" charset="0"/>
                            </a:rPr>
                          </m:ctrlPr>
                        </m:dPr>
                        <m:e>
                          <m:sSub>
                            <m:sSubPr>
                              <m:ctrlPr>
                                <a:rPr lang="en-US" altLang="zh-CN" sz="1800" i="1" dirty="0">
                                  <a:solidFill>
                                    <a:srgbClr val="F76409"/>
                                  </a:solidFill>
                                  <a:latin typeface="Cambria Math" panose="02040503050406030204" pitchFamily="18" charset="0"/>
                                </a:rPr>
                              </m:ctrlPr>
                            </m:sSubPr>
                            <m:e>
                              <m:r>
                                <a:rPr lang="en-US" altLang="zh-CN" sz="1800" i="1" dirty="0">
                                  <a:solidFill>
                                    <a:srgbClr val="F76409"/>
                                  </a:solidFill>
                                  <a:latin typeface="Cambria Math" panose="02040503050406030204" pitchFamily="18" charset="0"/>
                                </a:rPr>
                                <m:t>𝜆</m:t>
                              </m:r>
                            </m:e>
                            <m:sub>
                              <m:r>
                                <a:rPr lang="en-US" altLang="zh-CN" sz="1800" i="1" dirty="0">
                                  <a:solidFill>
                                    <a:srgbClr val="F76409"/>
                                  </a:solidFill>
                                  <a:latin typeface="Cambria Math" panose="02040503050406030204" pitchFamily="18" charset="0"/>
                                </a:rPr>
                                <m:t>𝑗</m:t>
                              </m:r>
                            </m:sub>
                          </m:sSub>
                        </m:e>
                      </m:d>
                      <m:r>
                        <a:rPr lang="en-US" altLang="zh-CN" sz="1800" i="1" dirty="0">
                          <a:latin typeface="Cambria Math" panose="02040503050406030204" pitchFamily="18" charset="0"/>
                        </a:rPr>
                        <m:t>=</m:t>
                      </m:r>
                      <m:f>
                        <m:fPr>
                          <m:ctrlPr>
                            <a:rPr lang="en-US" altLang="zh-CN" sz="1800" i="1" dirty="0">
                              <a:latin typeface="Cambria Math" panose="02040503050406030204" pitchFamily="18" charset="0"/>
                            </a:rPr>
                          </m:ctrlPr>
                        </m:fPr>
                        <m:num>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𝐹</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i="1">
                                      <a:latin typeface="Cambria Math" panose="02040503050406030204" pitchFamily="18" charset="0"/>
                                    </a:rPr>
                                    <m:t>𝑗</m:t>
                                  </m:r>
                                </m:sub>
                              </m:sSub>
                            </m:e>
                          </m:d>
                        </m:num>
                        <m:den>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rgbClr val="F76409"/>
                                  </a:solidFill>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den>
                      </m:f>
                      <m:r>
                        <a:rPr lang="en-US" altLang="zh-CN" sz="1800"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dirty="0">
                              <a:solidFill>
                                <a:srgbClr val="F76409"/>
                              </a:solidFill>
                              <a:latin typeface="Cambria Math" panose="02040503050406030204" pitchFamily="18" charset="0"/>
                            </a:rPr>
                            <m:t>𝐿</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ea typeface="Cambria Math" panose="02040503050406030204" pitchFamily="18" charset="0"/>
                            </a:rPr>
                            <m:t>𝐻</m:t>
                          </m:r>
                        </m:sub>
                        <m:sup>
                          <m:r>
                            <a:rPr lang="en-US" altLang="zh-CN" sz="1800" i="1" dirty="0">
                              <a:latin typeface="Cambria Math" panose="02040503050406030204" pitchFamily="18" charset="0"/>
                              <a:ea typeface="Cambria Math" panose="02040503050406030204" pitchFamily="18" charset="0"/>
                            </a:rPr>
                            <m:t>𝑃</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e>
                      </m:d>
                      <m:r>
                        <a:rPr lang="en-US" altLang="zh-CN" sz="1800" i="1" dirty="0">
                          <a:latin typeface="Cambria Math" panose="02040503050406030204" pitchFamily="18" charset="0"/>
                          <a:ea typeface="Cambria Math" panose="02040503050406030204" pitchFamily="18" charset="0"/>
                        </a:rPr>
                        <m:t>=</m:t>
                      </m:r>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ℋ</m:t>
                          </m:r>
                        </m:e>
                        <m:sub>
                          <m:r>
                            <a:rPr lang="en-US" altLang="zh-CN" sz="1800" i="1" dirty="0">
                              <a:latin typeface="Cambria Math" panose="02040503050406030204" pitchFamily="18" charset="0"/>
                              <a:ea typeface="Cambria Math" panose="02040503050406030204" pitchFamily="18" charset="0"/>
                            </a:rPr>
                            <m:t>𝑃</m:t>
                          </m:r>
                        </m:sub>
                      </m:sSub>
                      <m:d>
                        <m:dPr>
                          <m:ctrlPr>
                            <a:rPr lang="en-US" altLang="zh-CN" sz="1800" i="1" dirty="0">
                              <a:solidFill>
                                <a:srgbClr val="F76409"/>
                              </a:solidFill>
                              <a:latin typeface="Cambria Math" panose="02040503050406030204" pitchFamily="18" charset="0"/>
                            </a:rPr>
                          </m:ctrlPr>
                        </m:dPr>
                        <m:e>
                          <m:r>
                            <a:rPr lang="en-US" altLang="zh-CN" sz="1800" i="1" dirty="0">
                              <a:solidFill>
                                <a:srgbClr val="F76409"/>
                              </a:solidFill>
                              <a:latin typeface="Cambria Math" panose="02040503050406030204" pitchFamily="18" charset="0"/>
                            </a:rPr>
                            <m:t>𝐿</m:t>
                          </m:r>
                          <m:r>
                            <a:rPr lang="en-US" altLang="zh-CN" sz="1800" i="1" dirty="0">
                              <a:latin typeface="Cambria Math" panose="02040503050406030204" pitchFamily="18" charset="0"/>
                              <a:ea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rgbClr val="F76409"/>
                                  </a:solidFill>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r>
                            <a:rPr lang="en-US" altLang="zh-CN" sz="1800"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chemeClr val="accent2">
                                      <a:lumMod val="75000"/>
                                    </a:schemeClr>
                                  </a:solidFill>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e>
                      </m:d>
                    </m:oMath>
                  </m:oMathPara>
                </a14:m>
                <a:endParaRPr lang="en-US" altLang="zh-CN" sz="1800" i="1" dirty="0">
                  <a:latin typeface="Cambria Math" panose="02040503050406030204" pitchFamily="18" charset="0"/>
                </a:endParaRPr>
              </a:p>
              <a:p>
                <a:pPr/>
                <a14:m>
                  <m:oMathPara xmlns:m="http://schemas.openxmlformats.org/officeDocument/2006/math">
                    <m:oMath>
                      <m:r>
                        <a:rPr lang="zh-CN" altLang="en-US" sz="1800" i="1" dirty="0">
                          <a:latin typeface="Cambria Math" panose="02040503050406030204" pitchFamily="18" charset="0"/>
                        </a:rPr>
                        <m:t>向</m:t>
                      </m:r>
                      <m:r>
                        <m:rPr>
                          <m:sty m:val="p"/>
                        </m:rPr>
                        <a:rPr lang="en-US" altLang="zh-CN" sz="1800" i="1" dirty="0">
                          <a:latin typeface="Cambria Math" panose="02040503050406030204" pitchFamily="18" charset="0"/>
                        </a:rPr>
                        <m:t>BSDF</m:t>
                      </m:r>
                      <m:r>
                        <a:rPr lang="zh-CN" altLang="en-US" sz="1800" i="1" dirty="0">
                          <a:latin typeface="Cambria Math" panose="02040503050406030204" pitchFamily="18" charset="0"/>
                        </a:rPr>
                        <m:t>采样</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r>
                        <a:rPr lang="en-US" altLang="zh-CN" sz="1800" i="1" dirty="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chemeClr val="accent2">
                                  <a:lumMod val="75000"/>
                                </a:schemeClr>
                              </a:solidFill>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r>
                        <a:rPr lang="zh-CN" altLang="en-US" sz="1800" i="1" dirty="0">
                          <a:latin typeface="Cambria Math" panose="02040503050406030204" pitchFamily="18" charset="0"/>
                        </a:rPr>
                        <m:t>：</m:t>
                      </m:r>
                      <m:sSubSup>
                        <m:sSubSupPr>
                          <m:ctrlPr>
                            <a:rPr lang="en-US" altLang="zh-CN" sz="1800" i="1" dirty="0">
                              <a:solidFill>
                                <a:schemeClr val="accent2">
                                  <a:lumMod val="75000"/>
                                </a:schemeClr>
                              </a:solidFill>
                              <a:latin typeface="Cambria Math" panose="02040503050406030204" pitchFamily="18" charset="0"/>
                            </a:rPr>
                          </m:ctrlPr>
                        </m:sSubSupPr>
                        <m:e>
                          <m:acc>
                            <m:accPr>
                              <m:chr m:val="̂"/>
                              <m:ctrlPr>
                                <a:rPr lang="en-US" altLang="zh-CN" sz="1800" i="1" dirty="0">
                                  <a:solidFill>
                                    <a:schemeClr val="accent2">
                                      <a:lumMod val="75000"/>
                                    </a:schemeClr>
                                  </a:solidFill>
                                  <a:latin typeface="Cambria Math" panose="02040503050406030204" pitchFamily="18" charset="0"/>
                                </a:rPr>
                              </m:ctrlPr>
                            </m:accPr>
                            <m:e>
                              <m:r>
                                <a:rPr lang="en-US" altLang="zh-CN" sz="1800" i="1" dirty="0">
                                  <a:solidFill>
                                    <a:schemeClr val="accent2">
                                      <a:lumMod val="75000"/>
                                    </a:schemeClr>
                                  </a:solidFill>
                                  <a:latin typeface="Cambria Math" panose="02040503050406030204" pitchFamily="18" charset="0"/>
                                </a:rPr>
                                <m:t>𝐷</m:t>
                              </m:r>
                            </m:e>
                          </m:acc>
                        </m:e>
                        <m:sub>
                          <m:r>
                            <a:rPr lang="en-US" altLang="zh-CN" sz="1800" i="1" dirty="0">
                              <a:solidFill>
                                <a:schemeClr val="accent2">
                                  <a:lumMod val="75000"/>
                                </a:schemeClr>
                              </a:solidFill>
                              <a:latin typeface="Cambria Math" panose="02040503050406030204" pitchFamily="18" charset="0"/>
                            </a:rPr>
                            <m:t>𝑖</m:t>
                          </m:r>
                          <m:r>
                            <a:rPr lang="en-US" altLang="zh-CN" sz="1800" i="1" dirty="0">
                              <a:solidFill>
                                <a:schemeClr val="accent2">
                                  <a:lumMod val="75000"/>
                                </a:schemeClr>
                              </a:solidFill>
                              <a:latin typeface="Cambria Math" panose="02040503050406030204" pitchFamily="18" charset="0"/>
                            </a:rPr>
                            <m:t>,</m:t>
                          </m:r>
                          <m:r>
                            <a:rPr lang="en-US" altLang="zh-CN" sz="1800" i="1" dirty="0">
                              <a:solidFill>
                                <a:schemeClr val="accent2">
                                  <a:lumMod val="75000"/>
                                </a:schemeClr>
                              </a:solidFill>
                              <a:latin typeface="Cambria Math" panose="02040503050406030204" pitchFamily="18" charset="0"/>
                            </a:rPr>
                            <m:t>𝐻</m:t>
                          </m:r>
                        </m:sub>
                        <m:sup>
                          <m:r>
                            <a:rPr lang="en-US" altLang="zh-CN" sz="1800" i="1" dirty="0">
                              <a:solidFill>
                                <a:schemeClr val="accent2">
                                  <a:lumMod val="75000"/>
                                </a:schemeClr>
                              </a:solidFill>
                              <a:latin typeface="Cambria Math" panose="02040503050406030204" pitchFamily="18" charset="0"/>
                            </a:rPr>
                            <m:t>𝐵</m:t>
                          </m:r>
                        </m:sup>
                      </m:sSubSup>
                      <m:d>
                        <m:dPr>
                          <m:ctrlPr>
                            <a:rPr lang="en-US" altLang="zh-CN" sz="1800" i="1" dirty="0">
                              <a:solidFill>
                                <a:schemeClr val="accent2">
                                  <a:lumMod val="75000"/>
                                </a:schemeClr>
                              </a:solidFill>
                              <a:latin typeface="Cambria Math" panose="02040503050406030204" pitchFamily="18" charset="0"/>
                            </a:rPr>
                          </m:ctrlPr>
                        </m:dPr>
                        <m:e>
                          <m:sSub>
                            <m:sSubPr>
                              <m:ctrlPr>
                                <a:rPr lang="en-US" altLang="zh-CN" sz="1800" i="1" dirty="0">
                                  <a:solidFill>
                                    <a:schemeClr val="accent2">
                                      <a:lumMod val="75000"/>
                                    </a:schemeClr>
                                  </a:solidFill>
                                  <a:latin typeface="Cambria Math" panose="02040503050406030204" pitchFamily="18" charset="0"/>
                                </a:rPr>
                              </m:ctrlPr>
                            </m:sSubPr>
                            <m:e>
                              <m:r>
                                <a:rPr lang="en-US" altLang="zh-CN" sz="1800" i="1" dirty="0">
                                  <a:solidFill>
                                    <a:schemeClr val="accent2">
                                      <a:lumMod val="75000"/>
                                    </a:schemeClr>
                                  </a:solidFill>
                                  <a:latin typeface="Cambria Math" panose="02040503050406030204" pitchFamily="18" charset="0"/>
                                </a:rPr>
                                <m:t>𝜆</m:t>
                              </m:r>
                            </m:e>
                            <m:sub>
                              <m:r>
                                <a:rPr lang="en-US" altLang="zh-CN" sz="1800" i="1" dirty="0">
                                  <a:solidFill>
                                    <a:schemeClr val="accent2">
                                      <a:lumMod val="75000"/>
                                    </a:schemeClr>
                                  </a:solidFill>
                                  <a:latin typeface="Cambria Math" panose="02040503050406030204" pitchFamily="18" charset="0"/>
                                </a:rPr>
                                <m:t>𝑗</m:t>
                              </m:r>
                            </m:sub>
                          </m:sSub>
                        </m:e>
                      </m:d>
                      <m:r>
                        <a:rPr lang="en-US" altLang="zh-CN" sz="1800" i="1" dirty="0">
                          <a:latin typeface="Cambria Math" panose="02040503050406030204" pitchFamily="18" charset="0"/>
                        </a:rPr>
                        <m:t>=</m:t>
                      </m:r>
                      <m:f>
                        <m:fPr>
                          <m:ctrlPr>
                            <a:rPr lang="en-US" altLang="zh-CN" sz="1800" i="1" dirty="0">
                              <a:latin typeface="Cambria Math" panose="02040503050406030204" pitchFamily="18" charset="0"/>
                            </a:rPr>
                          </m:ctrlPr>
                        </m:fPr>
                        <m:num>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𝐹</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𝜔</m:t>
                                  </m:r>
                                </m:e>
                                <m:sub>
                                  <m:r>
                                    <a:rPr lang="en-US" altLang="zh-CN" sz="1800" i="1" dirty="0">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i="1">
                                      <a:latin typeface="Cambria Math" panose="02040503050406030204" pitchFamily="18" charset="0"/>
                                    </a:rPr>
                                    <m:t>𝑗</m:t>
                                  </m:r>
                                </m:sub>
                              </m:sSub>
                            </m:e>
                          </m:d>
                        </m:num>
                        <m:den>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chemeClr val="accent2">
                                      <a:lumMod val="75000"/>
                                    </a:schemeClr>
                                  </a:solidFill>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den>
                      </m:f>
                      <m:r>
                        <a:rPr lang="en-US" altLang="zh-CN" sz="1800" b="1" i="1">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dirty="0">
                              <a:solidFill>
                                <a:schemeClr val="accent2">
                                  <a:lumMod val="75000"/>
                                </a:schemeClr>
                              </a:solidFill>
                              <a:latin typeface="Cambria Math" panose="02040503050406030204" pitchFamily="18" charset="0"/>
                            </a:rPr>
                            <m:t>𝐵</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ea typeface="Cambria Math" panose="02040503050406030204" pitchFamily="18" charset="0"/>
                            </a:rPr>
                            <m:t>𝐻</m:t>
                          </m:r>
                        </m:sub>
                        <m:sup>
                          <m:r>
                            <a:rPr lang="en-US" altLang="zh-CN" sz="1800" i="1" dirty="0">
                              <a:latin typeface="Cambria Math" panose="02040503050406030204" pitchFamily="18" charset="0"/>
                              <a:ea typeface="Cambria Math" panose="02040503050406030204" pitchFamily="18" charset="0"/>
                            </a:rPr>
                            <m:t>𝑃</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e>
                      </m:d>
                      <m:r>
                        <a:rPr lang="en-US" altLang="zh-CN" sz="1800" i="1" dirty="0">
                          <a:latin typeface="Cambria Math" panose="02040503050406030204" pitchFamily="18" charset="0"/>
                          <a:ea typeface="Cambria Math" panose="02040503050406030204" pitchFamily="18" charset="0"/>
                        </a:rPr>
                        <m:t>=</m:t>
                      </m:r>
                      <m:sSub>
                        <m:sSubPr>
                          <m:ctrlPr>
                            <a:rPr lang="en-US" altLang="zh-CN" sz="1800" i="1" dirty="0">
                              <a:latin typeface="Cambria Math" panose="02040503050406030204" pitchFamily="18" charset="0"/>
                              <a:ea typeface="Cambria Math" panose="02040503050406030204" pitchFamily="18" charset="0"/>
                            </a:rPr>
                          </m:ctrlPr>
                        </m:sSubPr>
                        <m:e>
                          <m:r>
                            <a:rPr lang="en-US" altLang="zh-CN" sz="1800" i="1" dirty="0">
                              <a:latin typeface="Cambria Math" panose="02040503050406030204" pitchFamily="18" charset="0"/>
                              <a:ea typeface="Cambria Math" panose="02040503050406030204" pitchFamily="18" charset="0"/>
                            </a:rPr>
                            <m:t>ℋ</m:t>
                          </m:r>
                        </m:e>
                        <m:sub>
                          <m:r>
                            <a:rPr lang="en-US" altLang="zh-CN" sz="1800" i="1" dirty="0">
                              <a:latin typeface="Cambria Math" panose="02040503050406030204" pitchFamily="18" charset="0"/>
                              <a:ea typeface="Cambria Math" panose="02040503050406030204" pitchFamily="18" charset="0"/>
                            </a:rPr>
                            <m:t>𝑃</m:t>
                          </m:r>
                        </m:sub>
                      </m:sSub>
                      <m:d>
                        <m:dPr>
                          <m:ctrlPr>
                            <a:rPr lang="en-US" altLang="zh-CN" sz="1800" i="1" dirty="0">
                              <a:solidFill>
                                <a:schemeClr val="accent2">
                                  <a:lumMod val="75000"/>
                                </a:schemeClr>
                              </a:solidFill>
                              <a:latin typeface="Cambria Math" panose="02040503050406030204" pitchFamily="18" charset="0"/>
                            </a:rPr>
                          </m:ctrlPr>
                        </m:dPr>
                        <m:e>
                          <m:r>
                            <a:rPr lang="en-US" altLang="zh-CN" sz="1800" i="1" dirty="0">
                              <a:solidFill>
                                <a:schemeClr val="accent2">
                                  <a:lumMod val="75000"/>
                                </a:schemeClr>
                              </a:solidFill>
                              <a:latin typeface="Cambria Math" panose="02040503050406030204" pitchFamily="18" charset="0"/>
                            </a:rPr>
                            <m:t>𝐵</m:t>
                          </m:r>
                          <m:r>
                            <a:rPr lang="en-US" altLang="zh-CN" sz="1800" i="1" dirty="0">
                              <a:latin typeface="Cambria Math" panose="02040503050406030204" pitchFamily="18" charset="0"/>
                              <a:ea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rgbClr val="F76409"/>
                                  </a:solidFill>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r>
                            <a:rPr lang="en-US" altLang="zh-CN" sz="1800"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solidFill>
                                    <a:schemeClr val="accent2">
                                      <a:lumMod val="75000"/>
                                    </a:schemeClr>
                                  </a:solidFill>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e>
                      </m:d>
                    </m:oMath>
                  </m:oMathPara>
                </a14:m>
                <a:endParaRPr lang="en-US" altLang="zh-CN" sz="1800" b="1" dirty="0">
                  <a:latin typeface="Cambria Math" panose="02040503050406030204" pitchFamily="18" charset="0"/>
                </a:endParaRPr>
              </a:p>
              <a:p>
                <a:pPr/>
                <a14:m>
                  <m:oMathPara xmlns:m="http://schemas.openxmlformats.org/officeDocument/2006/math">
                    <m:oMath>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𝐷</m:t>
                              </m:r>
                            </m:e>
                          </m:acc>
                        </m:e>
                        <m:sub>
                          <m:r>
                            <a:rPr lang="en-US" altLang="zh-CN" sz="1800" i="1" dirty="0">
                              <a:latin typeface="Cambria Math" panose="02040503050406030204" pitchFamily="18" charset="0"/>
                            </a:rPr>
                            <m:t>𝑖</m:t>
                          </m:r>
                          <m:r>
                            <a:rPr lang="en-US" altLang="zh-CN" sz="1800" i="1" dirty="0" smtClean="0">
                              <a:latin typeface="Cambria Math" panose="02040503050406030204" pitchFamily="18" charset="0"/>
                            </a:rPr>
                            <m:t>,</m:t>
                          </m:r>
                          <m:r>
                            <a:rPr lang="en-US" altLang="zh-CN" sz="1800" i="1" dirty="0" smtClean="0">
                              <a:latin typeface="Cambria Math" panose="02040503050406030204" pitchFamily="18" charset="0"/>
                            </a:rPr>
                            <m:t>𝐻</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i="1">
                                  <a:latin typeface="Cambria Math" panose="02040503050406030204" pitchFamily="18" charset="0"/>
                                </a:rPr>
                                <m:t>𝑗</m:t>
                              </m:r>
                            </m:sub>
                          </m:sSub>
                        </m:e>
                      </m:d>
                      <m:r>
                        <a:rPr lang="en-US" altLang="zh-CN" sz="1800"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dirty="0">
                              <a:solidFill>
                                <a:srgbClr val="F76409"/>
                              </a:solidFill>
                              <a:latin typeface="Cambria Math" panose="02040503050406030204" pitchFamily="18" charset="0"/>
                            </a:rPr>
                            <m:t>𝐿</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ea typeface="Cambria Math" panose="02040503050406030204" pitchFamily="18" charset="0"/>
                            </a:rPr>
                            <m:t>𝐻</m:t>
                          </m:r>
                        </m:sub>
                        <m:sup>
                          <m:r>
                            <a:rPr lang="en-US" altLang="zh-CN" sz="1800" i="1" dirty="0">
                              <a:latin typeface="Cambria Math" panose="02040503050406030204" pitchFamily="18" charset="0"/>
                              <a:ea typeface="Cambria Math" panose="02040503050406030204" pitchFamily="18" charset="0"/>
                            </a:rPr>
                            <m:t>𝑃</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rgbClr val="F76409"/>
                                  </a:solidFill>
                                  <a:latin typeface="Cambria Math" panose="02040503050406030204" pitchFamily="18" charset="0"/>
                                </a:rPr>
                                <m:t>𝐿</m:t>
                              </m:r>
                            </m:sup>
                          </m:sSubSup>
                        </m:e>
                      </m:d>
                      <m:r>
                        <a:rPr lang="en-US" altLang="zh-CN" sz="1800" i="1" dirty="0">
                          <a:latin typeface="Cambria Math" panose="02040503050406030204" pitchFamily="18" charset="0"/>
                          <a:ea typeface="Cambria Math" panose="02040503050406030204" pitchFamily="18" charset="0"/>
                        </a:rPr>
                        <m:t> </m:t>
                      </m:r>
                      <m:sSubSup>
                        <m:sSubSupPr>
                          <m:ctrlPr>
                            <a:rPr lang="en-US" altLang="zh-CN" sz="1800" i="1" dirty="0">
                              <a:solidFill>
                                <a:srgbClr val="F76409"/>
                              </a:solidFill>
                              <a:latin typeface="Cambria Math" panose="02040503050406030204" pitchFamily="18" charset="0"/>
                            </a:rPr>
                          </m:ctrlPr>
                        </m:sSubSupPr>
                        <m:e>
                          <m:acc>
                            <m:accPr>
                              <m:chr m:val="̂"/>
                              <m:ctrlPr>
                                <a:rPr lang="en-US" altLang="zh-CN" sz="1800" i="1" dirty="0">
                                  <a:solidFill>
                                    <a:srgbClr val="F76409"/>
                                  </a:solidFill>
                                  <a:latin typeface="Cambria Math" panose="02040503050406030204" pitchFamily="18" charset="0"/>
                                </a:rPr>
                              </m:ctrlPr>
                            </m:accPr>
                            <m:e>
                              <m:r>
                                <a:rPr lang="en-US" altLang="zh-CN" sz="1800" i="1" dirty="0">
                                  <a:solidFill>
                                    <a:srgbClr val="F76409"/>
                                  </a:solidFill>
                                  <a:latin typeface="Cambria Math" panose="02040503050406030204" pitchFamily="18" charset="0"/>
                                </a:rPr>
                                <m:t>𝐷</m:t>
                              </m:r>
                            </m:e>
                          </m:acc>
                        </m:e>
                        <m:sub>
                          <m:r>
                            <a:rPr lang="en-US" altLang="zh-CN" sz="1800" i="1" dirty="0">
                              <a:solidFill>
                                <a:srgbClr val="F76409"/>
                              </a:solidFill>
                              <a:latin typeface="Cambria Math" panose="02040503050406030204" pitchFamily="18" charset="0"/>
                            </a:rPr>
                            <m:t>𝑖</m:t>
                          </m:r>
                          <m:r>
                            <a:rPr lang="en-US" altLang="zh-CN" sz="1800" i="1" dirty="0">
                              <a:solidFill>
                                <a:srgbClr val="F76409"/>
                              </a:solidFill>
                              <a:latin typeface="Cambria Math" panose="02040503050406030204" pitchFamily="18" charset="0"/>
                            </a:rPr>
                            <m:t>,</m:t>
                          </m:r>
                          <m:r>
                            <a:rPr lang="en-US" altLang="zh-CN" sz="1800" i="1" dirty="0">
                              <a:solidFill>
                                <a:srgbClr val="F76409"/>
                              </a:solidFill>
                              <a:latin typeface="Cambria Math" panose="02040503050406030204" pitchFamily="18" charset="0"/>
                            </a:rPr>
                            <m:t>𝐻</m:t>
                          </m:r>
                        </m:sub>
                        <m:sup>
                          <m:r>
                            <a:rPr lang="en-US" altLang="zh-CN" sz="1800" i="1" dirty="0">
                              <a:solidFill>
                                <a:srgbClr val="F76409"/>
                              </a:solidFill>
                              <a:latin typeface="Cambria Math" panose="02040503050406030204" pitchFamily="18" charset="0"/>
                            </a:rPr>
                            <m:t>𝐿</m:t>
                          </m:r>
                        </m:sup>
                      </m:sSubSup>
                      <m:d>
                        <m:dPr>
                          <m:ctrlPr>
                            <a:rPr lang="en-US" altLang="zh-CN" sz="1800" i="1" dirty="0">
                              <a:solidFill>
                                <a:srgbClr val="F76409"/>
                              </a:solidFill>
                              <a:latin typeface="Cambria Math" panose="02040503050406030204" pitchFamily="18" charset="0"/>
                            </a:rPr>
                          </m:ctrlPr>
                        </m:dPr>
                        <m:e>
                          <m:sSub>
                            <m:sSubPr>
                              <m:ctrlPr>
                                <a:rPr lang="en-US" altLang="zh-CN" sz="1800" i="1" dirty="0">
                                  <a:solidFill>
                                    <a:srgbClr val="F76409"/>
                                  </a:solidFill>
                                  <a:latin typeface="Cambria Math" panose="02040503050406030204" pitchFamily="18" charset="0"/>
                                </a:rPr>
                              </m:ctrlPr>
                            </m:sSubPr>
                            <m:e>
                              <m:r>
                                <a:rPr lang="en-US" altLang="zh-CN" sz="1800" i="1" dirty="0">
                                  <a:solidFill>
                                    <a:srgbClr val="F76409"/>
                                  </a:solidFill>
                                  <a:latin typeface="Cambria Math" panose="02040503050406030204" pitchFamily="18" charset="0"/>
                                </a:rPr>
                                <m:t>𝜆</m:t>
                              </m:r>
                            </m:e>
                            <m:sub>
                              <m:r>
                                <a:rPr lang="en-US" altLang="zh-CN" sz="1800" i="1" dirty="0">
                                  <a:solidFill>
                                    <a:srgbClr val="F76409"/>
                                  </a:solidFill>
                                  <a:latin typeface="Cambria Math" panose="02040503050406030204" pitchFamily="18" charset="0"/>
                                </a:rPr>
                                <m:t>𝑗</m:t>
                              </m:r>
                            </m:sub>
                          </m:sSub>
                        </m:e>
                      </m:d>
                      <m:r>
                        <a:rPr lang="en-US" altLang="zh-CN" sz="1800" i="1">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𝑤</m:t>
                          </m:r>
                        </m:e>
                        <m:sub>
                          <m:r>
                            <a:rPr lang="en-US" altLang="zh-CN" sz="1800" i="1" dirty="0">
                              <a:solidFill>
                                <a:schemeClr val="accent2">
                                  <a:lumMod val="75000"/>
                                </a:schemeClr>
                              </a:solidFill>
                              <a:latin typeface="Cambria Math" panose="02040503050406030204" pitchFamily="18" charset="0"/>
                            </a:rPr>
                            <m:t>𝐵</m:t>
                          </m:r>
                          <m:r>
                            <a:rPr lang="en-US" altLang="zh-CN" sz="1800" i="1" dirty="0">
                              <a:latin typeface="Cambria Math" panose="02040503050406030204" pitchFamily="18" charset="0"/>
                            </a:rPr>
                            <m:t>,</m:t>
                          </m:r>
                          <m:r>
                            <a:rPr lang="en-US" altLang="zh-CN" sz="1800" i="1" dirty="0">
                              <a:latin typeface="Cambria Math" panose="02040503050406030204" pitchFamily="18" charset="0"/>
                            </a:rPr>
                            <m:t>𝐻</m:t>
                          </m:r>
                        </m:sub>
                        <m:sup>
                          <m:r>
                            <a:rPr lang="en-US" altLang="zh-CN" sz="1800" i="1" dirty="0">
                              <a:latin typeface="Cambria Math" panose="02040503050406030204" pitchFamily="18" charset="0"/>
                            </a:rPr>
                            <m:t>𝑃</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solidFill>
                                    <a:schemeClr val="accent2">
                                      <a:lumMod val="75000"/>
                                    </a:schemeClr>
                                  </a:solidFill>
                                  <a:latin typeface="Cambria Math" panose="02040503050406030204" pitchFamily="18" charset="0"/>
                                </a:rPr>
                                <m:t>𝐵</m:t>
                              </m:r>
                            </m:sup>
                          </m:sSubSup>
                        </m:e>
                      </m:d>
                      <m:r>
                        <a:rPr lang="en-US" altLang="zh-CN" sz="1800" i="1">
                          <a:latin typeface="Cambria Math" panose="02040503050406030204" pitchFamily="18" charset="0"/>
                        </a:rPr>
                        <m:t> </m:t>
                      </m:r>
                      <m:sSubSup>
                        <m:sSubSupPr>
                          <m:ctrlPr>
                            <a:rPr lang="en-US" altLang="zh-CN" sz="1800" i="1" dirty="0">
                              <a:solidFill>
                                <a:schemeClr val="accent2">
                                  <a:lumMod val="75000"/>
                                </a:schemeClr>
                              </a:solidFill>
                              <a:latin typeface="Cambria Math" panose="02040503050406030204" pitchFamily="18" charset="0"/>
                            </a:rPr>
                          </m:ctrlPr>
                        </m:sSubSupPr>
                        <m:e>
                          <m:acc>
                            <m:accPr>
                              <m:chr m:val="̂"/>
                              <m:ctrlPr>
                                <a:rPr lang="en-US" altLang="zh-CN" sz="1800" i="1" dirty="0">
                                  <a:solidFill>
                                    <a:schemeClr val="accent2">
                                      <a:lumMod val="75000"/>
                                    </a:schemeClr>
                                  </a:solidFill>
                                  <a:latin typeface="Cambria Math" panose="02040503050406030204" pitchFamily="18" charset="0"/>
                                </a:rPr>
                              </m:ctrlPr>
                            </m:accPr>
                            <m:e>
                              <m:r>
                                <a:rPr lang="en-US" altLang="zh-CN" sz="1800" i="1" dirty="0">
                                  <a:solidFill>
                                    <a:schemeClr val="accent2">
                                      <a:lumMod val="75000"/>
                                    </a:schemeClr>
                                  </a:solidFill>
                                  <a:latin typeface="Cambria Math" panose="02040503050406030204" pitchFamily="18" charset="0"/>
                                </a:rPr>
                                <m:t>𝐷</m:t>
                              </m:r>
                            </m:e>
                          </m:acc>
                        </m:e>
                        <m:sub>
                          <m:r>
                            <a:rPr lang="en-US" altLang="zh-CN" sz="1800" i="1" dirty="0">
                              <a:solidFill>
                                <a:schemeClr val="accent2">
                                  <a:lumMod val="75000"/>
                                </a:schemeClr>
                              </a:solidFill>
                              <a:latin typeface="Cambria Math" panose="02040503050406030204" pitchFamily="18" charset="0"/>
                            </a:rPr>
                            <m:t>𝑖</m:t>
                          </m:r>
                          <m:r>
                            <a:rPr lang="en-US" altLang="zh-CN" sz="1800" i="1" dirty="0">
                              <a:solidFill>
                                <a:schemeClr val="accent2">
                                  <a:lumMod val="75000"/>
                                </a:schemeClr>
                              </a:solidFill>
                              <a:latin typeface="Cambria Math" panose="02040503050406030204" pitchFamily="18" charset="0"/>
                            </a:rPr>
                            <m:t>,</m:t>
                          </m:r>
                          <m:r>
                            <a:rPr lang="en-US" altLang="zh-CN" sz="1800" i="1" dirty="0">
                              <a:solidFill>
                                <a:schemeClr val="accent2">
                                  <a:lumMod val="75000"/>
                                </a:schemeClr>
                              </a:solidFill>
                              <a:latin typeface="Cambria Math" panose="02040503050406030204" pitchFamily="18" charset="0"/>
                            </a:rPr>
                            <m:t>𝐻</m:t>
                          </m:r>
                        </m:sub>
                        <m:sup>
                          <m:r>
                            <a:rPr lang="en-US" altLang="zh-CN" sz="1800" i="1" dirty="0">
                              <a:solidFill>
                                <a:schemeClr val="accent2">
                                  <a:lumMod val="75000"/>
                                </a:schemeClr>
                              </a:solidFill>
                              <a:latin typeface="Cambria Math" panose="02040503050406030204" pitchFamily="18" charset="0"/>
                            </a:rPr>
                            <m:t>𝐵</m:t>
                          </m:r>
                        </m:sup>
                      </m:sSubSup>
                      <m:d>
                        <m:dPr>
                          <m:ctrlPr>
                            <a:rPr lang="en-US" altLang="zh-CN" sz="1800" i="1" dirty="0">
                              <a:solidFill>
                                <a:schemeClr val="accent2">
                                  <a:lumMod val="75000"/>
                                </a:schemeClr>
                              </a:solidFill>
                              <a:latin typeface="Cambria Math" panose="02040503050406030204" pitchFamily="18" charset="0"/>
                            </a:rPr>
                          </m:ctrlPr>
                        </m:dPr>
                        <m:e>
                          <m:sSub>
                            <m:sSubPr>
                              <m:ctrlPr>
                                <a:rPr lang="en-US" altLang="zh-CN" sz="1800" i="1" dirty="0">
                                  <a:solidFill>
                                    <a:schemeClr val="accent2">
                                      <a:lumMod val="75000"/>
                                    </a:schemeClr>
                                  </a:solidFill>
                                  <a:latin typeface="Cambria Math" panose="02040503050406030204" pitchFamily="18" charset="0"/>
                                </a:rPr>
                              </m:ctrlPr>
                            </m:sSubPr>
                            <m:e>
                              <m:r>
                                <a:rPr lang="en-US" altLang="zh-CN" sz="1800" i="1" dirty="0">
                                  <a:solidFill>
                                    <a:schemeClr val="accent2">
                                      <a:lumMod val="75000"/>
                                    </a:schemeClr>
                                  </a:solidFill>
                                  <a:latin typeface="Cambria Math" panose="02040503050406030204" pitchFamily="18" charset="0"/>
                                </a:rPr>
                                <m:t>𝜆</m:t>
                              </m:r>
                            </m:e>
                            <m:sub>
                              <m:r>
                                <a:rPr lang="en-US" altLang="zh-CN" sz="1800" i="1" dirty="0">
                                  <a:solidFill>
                                    <a:schemeClr val="accent2">
                                      <a:lumMod val="75000"/>
                                    </a:schemeClr>
                                  </a:solidFill>
                                  <a:latin typeface="Cambria Math" panose="02040503050406030204" pitchFamily="18" charset="0"/>
                                </a:rPr>
                                <m:t>𝑗</m:t>
                              </m:r>
                            </m:sub>
                          </m:sSub>
                        </m:e>
                      </m:d>
                    </m:oMath>
                  </m:oMathPara>
                </a14:m>
                <a:endParaRPr lang="zh-CN" altLang="en-US" dirty="0"/>
              </a:p>
            </p:txBody>
          </p:sp>
        </mc:Choice>
        <mc:Fallback xmlns="">
          <p:sp>
            <p:nvSpPr>
              <p:cNvPr id="9" name="文本框 8">
                <a:extLst>
                  <a:ext uri="{FF2B5EF4-FFF2-40B4-BE49-F238E27FC236}">
                    <a16:creationId xmlns:a16="http://schemas.microsoft.com/office/drawing/2014/main" id="{C48A9F2E-5582-FB77-8762-37627B10A4A7}"/>
                  </a:ext>
                </a:extLst>
              </p:cNvPr>
              <p:cNvSpPr txBox="1">
                <a:spLocks noRot="1" noChangeAspect="1" noMove="1" noResize="1" noEditPoints="1" noAdjustHandles="1" noChangeArrowheads="1" noChangeShapeType="1" noTextEdit="1"/>
              </p:cNvSpPr>
              <p:nvPr/>
            </p:nvSpPr>
            <p:spPr>
              <a:xfrm>
                <a:off x="632137" y="3254995"/>
                <a:ext cx="10927724" cy="2049535"/>
              </a:xfrm>
              <a:prstGeom prst="rect">
                <a:avLst/>
              </a:prstGeom>
              <a:blipFill>
                <a:blip r:embed="rId3"/>
                <a:stretch>
                  <a:fillRect l="-446" t="-1770" b="-2065"/>
                </a:stretch>
              </a:blipFill>
              <a:ln w="19050">
                <a:solidFill>
                  <a:schemeClr val="accent6">
                    <a:lumMod val="50000"/>
                  </a:schemeClr>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F85E017-EC32-1C5F-699F-AFAB21A53FA5}"/>
                  </a:ext>
                </a:extLst>
              </p:cNvPr>
              <p:cNvSpPr txBox="1"/>
              <p:nvPr/>
            </p:nvSpPr>
            <p:spPr>
              <a:xfrm>
                <a:off x="986306" y="5304530"/>
                <a:ext cx="10219386" cy="902555"/>
              </a:xfrm>
              <a:prstGeom prst="rect">
                <a:avLst/>
              </a:prstGeom>
              <a:noFill/>
            </p:spPr>
            <p:txBody>
              <a:bodyPr wrap="square">
                <a:spAutoFit/>
              </a:bodyPr>
              <a:lstStyle/>
              <a:p>
                <a:pPr/>
                <a14:m>
                  <m:oMathPara xmlns:m="http://schemas.openxmlformats.org/officeDocument/2006/math">
                    <m:oMath>
                      <m:r>
                        <a:rPr lang="zh-CN" altLang="en-US" sz="1800" b="1" i="1" dirty="0" smtClean="0">
                          <a:latin typeface="Cambria Math" panose="02040503050406030204" pitchFamily="18" charset="0"/>
                        </a:rPr>
                        <m:t>最后得到</m:t>
                      </m:r>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Sub>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r>
                        <a:rPr lang="zh-CN" altLang="en-US" sz="1800" b="1" i="1" dirty="0">
                          <a:latin typeface="Cambria Math" panose="02040503050406030204" pitchFamily="18" charset="0"/>
                        </a:rPr>
                        <m:t>的估计：</m:t>
                      </m:r>
                      <m:sSub>
                        <m:sSubPr>
                          <m:ctrlPr>
                            <a:rPr lang="en-US" altLang="zh-CN" sz="1800" b="1" i="1" dirty="0">
                              <a:latin typeface="Cambria Math" panose="02040503050406030204" pitchFamily="18" charset="0"/>
                            </a:rPr>
                          </m:ctrlPr>
                        </m:sSubPr>
                        <m:e>
                          <m:acc>
                            <m:accPr>
                              <m:chr m:val="̂"/>
                              <m:ctrlPr>
                                <a:rPr lang="en-US" altLang="zh-CN" sz="1800" b="1" i="1" dirty="0">
                                  <a:latin typeface="Cambria Math" panose="02040503050406030204" pitchFamily="18" charset="0"/>
                                </a:rPr>
                              </m:ctrlPr>
                            </m:accPr>
                            <m:e>
                              <m:r>
                                <a:rPr lang="en-US" altLang="zh-CN" sz="1800" b="1" i="1" dirty="0">
                                  <a:latin typeface="Cambria Math" panose="02040503050406030204" pitchFamily="18" charset="0"/>
                                </a:rPr>
                                <m:t>𝑮</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𝐻</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Sub>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r>
                        <a:rPr lang="en-US" altLang="zh-CN" sz="1800" b="1" i="1" dirty="0">
                          <a:latin typeface="Cambria Math" panose="02040503050406030204" pitchFamily="18" charset="0"/>
                        </a:rPr>
                        <m:t>=</m:t>
                      </m:r>
                      <m:f>
                        <m:fPr>
                          <m:ctrlPr>
                            <a:rPr lang="en-US" altLang="zh-CN" sz="1800" i="1" dirty="0">
                              <a:latin typeface="Cambria Math" panose="02040503050406030204" pitchFamily="18" charset="0"/>
                            </a:rPr>
                          </m:ctrlPr>
                        </m:fPr>
                        <m:num>
                          <m:r>
                            <a:rPr lang="en-US" altLang="zh-CN" sz="1800" i="1" dirty="0">
                              <a:latin typeface="Cambria Math" panose="02040503050406030204" pitchFamily="18" charset="0"/>
                            </a:rPr>
                            <m:t>1</m:t>
                          </m:r>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𝑁</m:t>
                              </m:r>
                            </m:e>
                            <m:sub>
                              <m:r>
                                <a:rPr lang="en-US" altLang="zh-CN" sz="1800" i="1" dirty="0">
                                  <a:latin typeface="Cambria Math" panose="02040503050406030204" pitchFamily="18" charset="0"/>
                                </a:rPr>
                                <m:t>𝜆</m:t>
                              </m:r>
                            </m:sub>
                          </m:sSub>
                        </m:den>
                      </m:f>
                      <m:nary>
                        <m:naryPr>
                          <m:chr m:val="∑"/>
                          <m:ctrlPr>
                            <a:rPr lang="en-US" altLang="zh-CN" sz="1800" i="1" dirty="0">
                              <a:latin typeface="Cambria Math" panose="02040503050406030204" pitchFamily="18" charset="0"/>
                            </a:rPr>
                          </m:ctrlPr>
                        </m:naryPr>
                        <m:sub>
                          <m:r>
                            <m:rPr>
                              <m:brk m:alnAt="23"/>
                            </m:rPr>
                            <a:rPr lang="en-US" altLang="zh-CN" sz="1800" i="1" dirty="0">
                              <a:latin typeface="Cambria Math" panose="02040503050406030204" pitchFamily="18" charset="0"/>
                            </a:rPr>
                            <m:t>𝑗</m:t>
                          </m:r>
                          <m:r>
                            <m:rPr>
                              <m:brk m:alnAt="23"/>
                            </m:rPr>
                            <a:rPr lang="en-US" altLang="zh-CN" sz="1800" i="1" dirty="0">
                              <a:latin typeface="Cambria Math" panose="02040503050406030204" pitchFamily="18" charset="0"/>
                            </a:rPr>
                            <m:t>=</m:t>
                          </m:r>
                          <m:r>
                            <m:rPr>
                              <m:brk m:alnAt="23"/>
                            </m:rPr>
                            <a:rPr lang="en-US" altLang="zh-CN" sz="1800" i="1" dirty="0">
                              <a:latin typeface="Cambria Math" panose="02040503050406030204" pitchFamily="18" charset="0"/>
                            </a:rPr>
                            <m:t>1</m:t>
                          </m:r>
                        </m:sub>
                        <m:sup>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𝑁</m:t>
                              </m:r>
                            </m:e>
                            <m:sub>
                              <m:r>
                                <a:rPr lang="en-US" altLang="zh-CN" sz="1800" i="1" dirty="0">
                                  <a:latin typeface="Cambria Math" panose="02040503050406030204" pitchFamily="18" charset="0"/>
                                </a:rPr>
                                <m:t>𝜆</m:t>
                              </m:r>
                            </m:sub>
                          </m:sSub>
                        </m:sup>
                        <m:e>
                          <m:f>
                            <m:fPr>
                              <m:ctrlPr>
                                <a:rPr lang="en-US" altLang="zh-CN" sz="1800" i="1">
                                  <a:latin typeface="Cambria Math" panose="02040503050406030204" pitchFamily="18" charset="0"/>
                                </a:rPr>
                              </m:ctrlPr>
                            </m:fPr>
                            <m:num>
                              <m:sSubSup>
                                <m:sSubSupPr>
                                  <m:ctrlPr>
                                    <a:rPr lang="en-US" altLang="zh-CN" sz="1800">
                                      <a:latin typeface="Cambria Math" panose="02040503050406030204" pitchFamily="18" charset="0"/>
                                    </a:rPr>
                                  </m:ctrlPr>
                                </m:sSubSupPr>
                                <m:e>
                                  <m:r>
                                    <m:rPr>
                                      <m:sty m:val="p"/>
                                    </m:rPr>
                                    <a:rPr lang="en-US" altLang="zh-CN" sz="1800">
                                      <a:latin typeface="Cambria Math" panose="02040503050406030204" pitchFamily="18" charset="0"/>
                                    </a:rPr>
                                    <m:t>Φ</m:t>
                                  </m:r>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up>
                                  <m:r>
                                    <a:rPr lang="en-US" altLang="zh-CN" sz="1800" i="1">
                                      <a:latin typeface="Cambria Math" panose="02040503050406030204" pitchFamily="18" charset="0"/>
                                    </a:rPr>
                                    <m:t>𝑝𝑟𝑒</m:t>
                                  </m:r>
                                </m:sup>
                              </m:sSubSup>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acc>
                                        <m:accPr>
                                          <m:chr m:val="̅"/>
                                          <m:ctrlPr>
                                            <a:rPr lang="en-US" altLang="zh-CN" sz="1800" i="1">
                                              <a:latin typeface="Cambria Math" panose="02040503050406030204" pitchFamily="18" charset="0"/>
                                            </a:rPr>
                                          </m:ctrlPr>
                                        </m:accPr>
                                        <m:e>
                                          <m:r>
                                            <a:rPr lang="en-US" altLang="zh-CN" sz="1800" i="1">
                                              <a:latin typeface="Cambria Math" panose="02040503050406030204" pitchFamily="18" charset="0"/>
                                            </a:rPr>
                                            <m:t>𝑝</m:t>
                                          </m:r>
                                        </m:e>
                                      </m:acc>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i="1">
                                          <a:latin typeface="Cambria Math" panose="02040503050406030204" pitchFamily="18" charset="0"/>
                                        </a:rPr>
                                        <m:t>𝑗</m:t>
                                      </m:r>
                                    </m:sub>
                                  </m:sSub>
                                </m:e>
                              </m:d>
                              <m:r>
                                <a:rPr lang="en-US" altLang="zh-CN" sz="1800" i="1">
                                  <a:latin typeface="Cambria Math" panose="02040503050406030204" pitchFamily="18" charset="0"/>
                                </a:rPr>
                                <m:t> </m:t>
                              </m:r>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𝐷</m:t>
                                      </m:r>
                                    </m:e>
                                  </m:acc>
                                </m:e>
                                <m:sub>
                                  <m:r>
                                    <a:rPr lang="en-US" altLang="zh-CN" sz="1800" i="1" dirty="0">
                                      <a:solidFill>
                                        <a:schemeClr val="accent6">
                                          <a:lumMod val="50000"/>
                                        </a:schemeClr>
                                      </a:solidFill>
                                      <a:latin typeface="Cambria Math" panose="02040503050406030204" pitchFamily="18" charset="0"/>
                                    </a:rPr>
                                    <m:t>𝑖</m:t>
                                  </m:r>
                                  <m:r>
                                    <a:rPr lang="en-US" altLang="zh-CN" sz="1800" i="1" dirty="0">
                                      <a:solidFill>
                                        <a:schemeClr val="accent6">
                                          <a:lumMod val="50000"/>
                                        </a:schemeClr>
                                      </a:solidFill>
                                      <a:latin typeface="Cambria Math" panose="02040503050406030204" pitchFamily="18" charset="0"/>
                                    </a:rPr>
                                    <m:t>,</m:t>
                                  </m:r>
                                  <m:r>
                                    <a:rPr lang="en-US" altLang="zh-CN" sz="1800" i="1" dirty="0">
                                      <a:solidFill>
                                        <a:schemeClr val="accent6">
                                          <a:lumMod val="50000"/>
                                        </a:schemeClr>
                                      </a:solidFill>
                                      <a:latin typeface="Cambria Math" panose="02040503050406030204" pitchFamily="18" charset="0"/>
                                    </a:rPr>
                                    <m:t>𝐻</m:t>
                                  </m:r>
                                </m:sub>
                              </m:sSub>
                              <m:d>
                                <m:dPr>
                                  <m:ctrlPr>
                                    <a:rPr lang="en-US" altLang="zh-CN" sz="1800" i="1" dirty="0">
                                      <a:solidFill>
                                        <a:schemeClr val="accent6">
                                          <a:lumMod val="50000"/>
                                        </a:schemeClr>
                                      </a:solidFill>
                                      <a:latin typeface="Cambria Math" panose="02040503050406030204" pitchFamily="18" charset="0"/>
                                    </a:rPr>
                                  </m:ctrlPr>
                                </m:dPr>
                                <m:e>
                                  <m:sSub>
                                    <m:sSubPr>
                                      <m:ctrlPr>
                                        <a:rPr lang="en-US" altLang="zh-CN" sz="1800" i="1" dirty="0">
                                          <a:solidFill>
                                            <a:schemeClr val="accent6">
                                              <a:lumMod val="50000"/>
                                            </a:schemeClr>
                                          </a:solidFill>
                                          <a:latin typeface="Cambria Math" panose="02040503050406030204" pitchFamily="18" charset="0"/>
                                        </a:rPr>
                                      </m:ctrlPr>
                                    </m:sSubPr>
                                    <m:e>
                                      <m:acc>
                                        <m:accPr>
                                          <m:chr m:val="̅"/>
                                          <m:ctrlPr>
                                            <a:rPr lang="en-US" altLang="zh-CN" sz="1800" i="1" dirty="0">
                                              <a:solidFill>
                                                <a:schemeClr val="accent6">
                                                  <a:lumMod val="50000"/>
                                                </a:schemeClr>
                                              </a:solidFill>
                                              <a:latin typeface="Cambria Math" panose="02040503050406030204" pitchFamily="18" charset="0"/>
                                            </a:rPr>
                                          </m:ctrlPr>
                                        </m:accPr>
                                        <m:e>
                                          <m:r>
                                            <a:rPr lang="en-US" altLang="zh-CN" sz="1800" i="1" dirty="0">
                                              <a:solidFill>
                                                <a:schemeClr val="accent6">
                                                  <a:lumMod val="50000"/>
                                                </a:schemeClr>
                                              </a:solidFill>
                                              <a:latin typeface="Cambria Math" panose="02040503050406030204" pitchFamily="18" charset="0"/>
                                            </a:rPr>
                                            <m:t>𝑝</m:t>
                                          </m:r>
                                        </m:e>
                                      </m:acc>
                                    </m:e>
                                    <m:sub>
                                      <m:r>
                                        <a:rPr lang="en-US" altLang="zh-CN" sz="1800" i="1">
                                          <a:solidFill>
                                            <a:schemeClr val="accent6">
                                              <a:lumMod val="50000"/>
                                            </a:schemeClr>
                                          </a:solidFill>
                                          <a:latin typeface="Cambria Math" panose="02040503050406030204" pitchFamily="18" charset="0"/>
                                        </a:rPr>
                                        <m:t>𝑖</m:t>
                                      </m:r>
                                      <m:r>
                                        <a:rPr lang="en-US" altLang="zh-CN" sz="1800" i="1">
                                          <a:solidFill>
                                            <a:schemeClr val="accent6">
                                              <a:lumMod val="50000"/>
                                            </a:schemeClr>
                                          </a:solidFill>
                                          <a:latin typeface="Cambria Math" panose="02040503050406030204" pitchFamily="18" charset="0"/>
                                        </a:rPr>
                                        <m:t>−1</m:t>
                                      </m:r>
                                    </m:sub>
                                  </m:sSub>
                                  <m:r>
                                    <a:rPr lang="en-US" altLang="zh-CN" sz="1800" i="1">
                                      <a:solidFill>
                                        <a:schemeClr val="accent6">
                                          <a:lumMod val="50000"/>
                                        </a:schemeClr>
                                      </a:solidFill>
                                      <a:latin typeface="Cambria Math" panose="02040503050406030204" pitchFamily="18" charset="0"/>
                                    </a:rPr>
                                    <m:t>,</m:t>
                                  </m:r>
                                  <m:sSub>
                                    <m:sSubPr>
                                      <m:ctrlPr>
                                        <a:rPr lang="en-US" altLang="zh-CN" sz="1800" i="1">
                                          <a:solidFill>
                                            <a:schemeClr val="accent6">
                                              <a:lumMod val="50000"/>
                                            </a:schemeClr>
                                          </a:solidFill>
                                          <a:latin typeface="Cambria Math" panose="02040503050406030204" pitchFamily="18" charset="0"/>
                                        </a:rPr>
                                      </m:ctrlPr>
                                    </m:sSubPr>
                                    <m:e>
                                      <m:r>
                                        <a:rPr lang="en-US" altLang="zh-CN" sz="1800" i="1">
                                          <a:solidFill>
                                            <a:schemeClr val="accent6">
                                              <a:lumMod val="50000"/>
                                            </a:schemeClr>
                                          </a:solidFill>
                                          <a:latin typeface="Cambria Math" panose="02040503050406030204" pitchFamily="18" charset="0"/>
                                        </a:rPr>
                                        <m:t>𝜆</m:t>
                                      </m:r>
                                    </m:e>
                                    <m:sub>
                                      <m:r>
                                        <a:rPr lang="en-US" altLang="zh-CN" sz="1800" i="1">
                                          <a:solidFill>
                                            <a:schemeClr val="accent6">
                                              <a:lumMod val="50000"/>
                                            </a:schemeClr>
                                          </a:solidFill>
                                          <a:latin typeface="Cambria Math" panose="02040503050406030204" pitchFamily="18" charset="0"/>
                                        </a:rPr>
                                        <m:t>𝑗</m:t>
                                      </m:r>
                                    </m:sub>
                                  </m:sSub>
                                </m:e>
                              </m:d>
                              <m:r>
                                <a:rPr lang="en-US" altLang="zh-CN" sz="1800" i="1">
                                  <a:solidFill>
                                    <a:schemeClr val="accent6">
                                      <a:lumMod val="50000"/>
                                    </a:schemeClr>
                                  </a:solidFill>
                                  <a:latin typeface="Cambria Math" panose="02040503050406030204" pitchFamily="18" charset="0"/>
                                </a:rPr>
                                <m:t> </m:t>
                              </m:r>
                              <m:acc>
                                <m:accPr>
                                  <m:chr m:val="̅"/>
                                  <m:ctrlPr>
                                    <a:rPr lang="en-US" altLang="zh-CN" sz="1800" b="1" i="1">
                                      <a:latin typeface="Cambria Math" panose="02040503050406030204" pitchFamily="18" charset="0"/>
                                    </a:rPr>
                                  </m:ctrlPr>
                                </m:accPr>
                                <m:e>
                                  <m:r>
                                    <a:rPr lang="en-US" altLang="zh-CN" sz="1800" b="1" i="1">
                                      <a:latin typeface="Cambria Math" panose="02040503050406030204" pitchFamily="18" charset="0"/>
                                    </a:rPr>
                                    <m:t>𝒄</m:t>
                                  </m:r>
                                </m:e>
                              </m:acc>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𝜆</m:t>
                                      </m:r>
                                    </m:e>
                                    <m:sub>
                                      <m:r>
                                        <a:rPr lang="en-US" altLang="zh-CN" sz="1800" i="1">
                                          <a:latin typeface="Cambria Math" panose="02040503050406030204" pitchFamily="18" charset="0"/>
                                        </a:rPr>
                                        <m:t>𝑗</m:t>
                                      </m:r>
                                    </m:sub>
                                  </m:sSub>
                                </m:e>
                              </m:d>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𝑝</m:t>
                                  </m:r>
                                </m:e>
                                <m:sub>
                                  <m:r>
                                    <a:rPr lang="en-US" altLang="zh-CN" sz="1800" i="1" dirty="0">
                                      <a:latin typeface="Cambria Math" panose="02040503050406030204" pitchFamily="18" charset="0"/>
                                    </a:rPr>
                                    <m:t>𝜆</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𝜆</m:t>
                                      </m:r>
                                    </m:e>
                                    <m:sub>
                                      <m:r>
                                        <a:rPr lang="en-US" altLang="zh-CN" sz="1800" i="1" dirty="0">
                                          <a:latin typeface="Cambria Math" panose="02040503050406030204" pitchFamily="18" charset="0"/>
                                        </a:rPr>
                                        <m:t>𝑗</m:t>
                                      </m:r>
                                    </m:sub>
                                  </m:sSub>
                                </m:e>
                              </m:d>
                            </m:den>
                          </m:f>
                        </m:e>
                      </m:nary>
                    </m:oMath>
                  </m:oMathPara>
                </a14:m>
                <a:endParaRPr lang="en-US" altLang="zh-CN" sz="1800" dirty="0">
                  <a:latin typeface="Cambria Math" panose="02040503050406030204" pitchFamily="18" charset="0"/>
                </a:endParaRPr>
              </a:p>
            </p:txBody>
          </p:sp>
        </mc:Choice>
        <mc:Fallback xmlns="">
          <p:sp>
            <p:nvSpPr>
              <p:cNvPr id="11" name="文本框 10">
                <a:extLst>
                  <a:ext uri="{FF2B5EF4-FFF2-40B4-BE49-F238E27FC236}">
                    <a16:creationId xmlns:a16="http://schemas.microsoft.com/office/drawing/2014/main" id="{FF85E017-EC32-1C5F-699F-AFAB21A53FA5}"/>
                  </a:ext>
                </a:extLst>
              </p:cNvPr>
              <p:cNvSpPr txBox="1">
                <a:spLocks noRot="1" noChangeAspect="1" noMove="1" noResize="1" noEditPoints="1" noAdjustHandles="1" noChangeArrowheads="1" noChangeShapeType="1" noTextEdit="1"/>
              </p:cNvSpPr>
              <p:nvPr/>
            </p:nvSpPr>
            <p:spPr>
              <a:xfrm>
                <a:off x="986306" y="5304530"/>
                <a:ext cx="10219386" cy="90255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610706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F56E8-6749-8A1F-3A8C-F73E8497DEA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6B36891-4425-5C30-8DEF-9F42EAF83CDB}"/>
              </a:ext>
            </a:extLst>
          </p:cNvPr>
          <p:cNvSpPr>
            <a:spLocks noGrp="1"/>
          </p:cNvSpPr>
          <p:nvPr>
            <p:ph type="title" idx="1"/>
          </p:nvPr>
        </p:nvSpPr>
        <p:spPr/>
        <p:txBody>
          <a:bodyPr/>
          <a:lstStyle/>
          <a:p>
            <a:r>
              <a:rPr lang="en-US" altLang="zh-CN" dirty="0"/>
              <a:t>MIS </a:t>
            </a:r>
            <a:r>
              <a:rPr lang="zh-CN" altLang="en-US" dirty="0"/>
              <a:t>分层组合 期望</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AB982B1-0F0A-9F07-BA1C-800EC7E4A220}"/>
                  </a:ext>
                </a:extLst>
              </p:cNvPr>
              <p:cNvSpPr txBox="1"/>
              <p:nvPr/>
            </p:nvSpPr>
            <p:spPr>
              <a:xfrm>
                <a:off x="210354" y="1209504"/>
                <a:ext cx="11771291" cy="1054776"/>
              </a:xfrm>
              <a:prstGeom prst="rect">
                <a:avLst/>
              </a:prstGeom>
              <a:noFill/>
            </p:spPr>
            <p:txBody>
              <a:bodyPr wrap="square">
                <a:spAutoFit/>
              </a:bodyPr>
              <a:lstStyle/>
              <a:p>
                <a:r>
                  <a:rPr lang="en-US" altLang="zh-CN" dirty="0">
                    <a:latin typeface="Cambria Math" panose="02040503050406030204" pitchFamily="18" charset="0"/>
                  </a:rPr>
                  <a:t>         </a:t>
                </a:r>
                <a:r>
                  <a:rPr lang="zh-CN" altLang="en-US" dirty="0">
                    <a:latin typeface="Cambria Math" panose="02040503050406030204" pitchFamily="18" charset="0"/>
                  </a:rPr>
                  <a:t>最终，就可以构造出单样本</a:t>
                </a:r>
                <a:r>
                  <a:rPr lang="en-US" altLang="zh-CN" dirty="0">
                    <a:latin typeface="Cambria Math" panose="02040503050406030204" pitchFamily="18" charset="0"/>
                  </a:rPr>
                  <a:t>MIS</a:t>
                </a:r>
                <a:r>
                  <a:rPr lang="zh-CN" altLang="en-US" dirty="0">
                    <a:latin typeface="Cambria Math" panose="02040503050406030204" pitchFamily="18" charset="0"/>
                  </a:rPr>
                  <a:t>估计器：</a:t>
                </a:r>
                <a:endParaRPr lang="en-US" altLang="zh-CN" dirty="0">
                  <a:latin typeface="Cambria Math" panose="02040503050406030204" pitchFamily="18" charset="0"/>
                </a:endParaRPr>
              </a:p>
              <a:p>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𝑙𝑎𝑦𝑒𝑟</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up>
                          <m:r>
                            <a:rPr lang="en-US" altLang="zh-CN" b="0" i="1" dirty="0" smtClean="0">
                              <a:latin typeface="Cambria Math" panose="02040503050406030204" pitchFamily="18" charset="0"/>
                            </a:rPr>
                            <m:t>𝑙𝑎𝑦𝑒𝑟</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𝑮</m:t>
                                  </m:r>
                                </m:e>
                              </m:acc>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𝐻</m:t>
                              </m:r>
                            </m:sub>
                            <m:sup>
                              <m:r>
                                <a:rPr lang="en-US" altLang="zh-CN" b="0" i="1" dirty="0" smtClean="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1" i="1" dirty="0" smtClean="0">
                          <a:latin typeface="Cambria Math" panose="02040503050406030204" pitchFamily="18" charset="0"/>
                        </a:rPr>
                        <m:t>,  </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sub>
                        <m:sup>
                          <m:r>
                            <a:rPr lang="en-US" altLang="zh-CN" b="0" i="1" dirty="0" smtClean="0">
                              <a:latin typeface="Cambria Math" panose="02040503050406030204" pitchFamily="18" charset="0"/>
                            </a:rPr>
                            <m:t>𝑙𝑎𝑦𝑒𝑟</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𝑙𝑎𝑦𝑒𝑟</m:t>
                          </m:r>
                        </m:sub>
                      </m:sSub>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𝐻</m:t>
                          </m:r>
                          <m:r>
                            <a:rPr lang="en-US" altLang="zh-CN" i="1" dirty="0">
                              <a:latin typeface="Cambria Math" panose="02040503050406030204" pitchFamily="18" charset="0"/>
                              <a:ea typeface="Cambria Math" panose="02040503050406030204" pitchFamily="18" charset="0"/>
                            </a:rPr>
                            <m:t>;</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𝑐</m:t>
                              </m:r>
                            </m:e>
                            <m:sub>
                              <m:r>
                                <a:rPr lang="en-US" altLang="zh-CN" b="0" i="1" dirty="0" smtClean="0">
                                  <a:latin typeface="Cambria Math" panose="02040503050406030204" pitchFamily="18" charset="0"/>
                                  <a:ea typeface="Cambria Math" panose="02040503050406030204" pitchFamily="18" charset="0"/>
                                </a:rPr>
                                <m:t>1</m:t>
                              </m:r>
                            </m:sub>
                          </m:sSub>
                          <m:sSubSup>
                            <m:sSubSupPr>
                              <m:ctrlPr>
                                <a:rPr lang="en-US" altLang="zh-CN" i="1" dirty="0">
                                  <a:latin typeface="Cambria Math" panose="02040503050406030204" pitchFamily="18" charset="0"/>
                                  <a:ea typeface="Cambria Math" panose="02040503050406030204" pitchFamily="18" charset="0"/>
                                </a:rPr>
                              </m:ctrlPr>
                            </m:sSubSup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b="0" i="1" dirty="0" smtClean="0">
                                  <a:latin typeface="Cambria Math" panose="02040503050406030204" pitchFamily="18" charset="0"/>
                                  <a:ea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,1</m:t>
                              </m:r>
                            </m:sub>
                            <m:sup>
                              <m:r>
                                <a:rPr lang="en-US" altLang="zh-CN" b="0" i="1" dirty="0" smtClean="0">
                                  <a:latin typeface="Cambria Math" panose="02040503050406030204" pitchFamily="18" charset="0"/>
                                  <a:ea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𝑐</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sub>
                          </m:sSub>
                          <m:sSubSup>
                            <m:sSubSupPr>
                              <m:ctrlPr>
                                <a:rPr lang="en-US" altLang="zh-CN" i="1" dirty="0">
                                  <a:latin typeface="Cambria Math" panose="02040503050406030204" pitchFamily="18" charset="0"/>
                                  <a:ea typeface="Cambria Math" panose="02040503050406030204" pitchFamily="18" charset="0"/>
                                </a:rPr>
                              </m:ctrlPr>
                            </m:sSubSup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b="0" i="1" dirty="0" smtClean="0">
                                  <a:latin typeface="Cambria Math" panose="02040503050406030204" pitchFamily="18" charset="0"/>
                                  <a:ea typeface="Cambria Math" panose="02040503050406030204" pitchFamily="18" charset="0"/>
                                </a:rPr>
                                <m:t>−1</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sub>
                            <m:sup>
                              <m:r>
                                <a:rPr lang="en-US" altLang="zh-CN" b="0" i="1" dirty="0" smtClean="0">
                                  <a:latin typeface="Cambria Math" panose="02040503050406030204" pitchFamily="18" charset="0"/>
                                  <a:ea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CAB982B1-0F0A-9F07-BA1C-800EC7E4A220}"/>
                  </a:ext>
                </a:extLst>
              </p:cNvPr>
              <p:cNvSpPr txBox="1">
                <a:spLocks noRot="1" noChangeAspect="1" noMove="1" noResize="1" noEditPoints="1" noAdjustHandles="1" noChangeArrowheads="1" noChangeShapeType="1" noTextEdit="1"/>
              </p:cNvSpPr>
              <p:nvPr/>
            </p:nvSpPr>
            <p:spPr>
              <a:xfrm>
                <a:off x="210354" y="1209504"/>
                <a:ext cx="11771291" cy="1054776"/>
              </a:xfrm>
              <a:prstGeom prst="rect">
                <a:avLst/>
              </a:prstGeom>
              <a:blipFill>
                <a:blip r:embed="rId2"/>
                <a:stretch>
                  <a:fillRect l="-466" t="-34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CEF801C-0DA8-9DCC-238E-CC2621CDD6AD}"/>
                  </a:ext>
                </a:extLst>
              </p:cNvPr>
              <p:cNvSpPr txBox="1"/>
              <p:nvPr/>
            </p:nvSpPr>
            <p:spPr>
              <a:xfrm>
                <a:off x="210354" y="2617576"/>
                <a:ext cx="5819640" cy="3280835"/>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sub>
                      </m:sSub>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r>
                            <a:rPr lang="en-US" altLang="zh-CN" sz="1800" b="1" i="1" dirty="0" smtClean="0">
                              <a:latin typeface="Cambria Math" panose="02040503050406030204" pitchFamily="18" charset="0"/>
                            </a:rPr>
                            <m:t>| </m:t>
                          </m:r>
                          <m:r>
                            <a:rPr lang="en-US" altLang="zh-CN" sz="1800" b="0" i="1" dirty="0" smtClean="0">
                              <a:latin typeface="Cambria Math" panose="02040503050406030204" pitchFamily="18" charset="0"/>
                            </a:rPr>
                            <m:t>𝐻</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ℎ</m:t>
                          </m:r>
                          <m:r>
                            <a:rPr lang="en-US" altLang="zh-CN" sz="1800" b="1"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−1</m:t>
                              </m:r>
                            </m:sub>
                          </m:sSub>
                        </m:e>
                      </m:d>
                    </m:oMath>
                    <m:oMath>
                      <m:r>
                        <a:rPr lang="en-US" altLang="zh-CN" sz="1800" b="1" i="1" smtClean="0">
                          <a:latin typeface="Cambria Math" panose="02040503050406030204" pitchFamily="18" charset="0"/>
                        </a:rPr>
                        <m:t>    =</m:t>
                      </m:r>
                      <m:nary>
                        <m:naryPr>
                          <m:supHide m:val="on"/>
                          <m:ctrlPr>
                            <a:rPr lang="en-US" altLang="zh-CN" sz="1800" b="0" i="1" smtClean="0">
                              <a:latin typeface="Cambria Math" panose="02040503050406030204" pitchFamily="18" charset="0"/>
                            </a:rPr>
                          </m:ctrlPr>
                        </m:naryPr>
                        <m:sub>
                          <m:sSub>
                            <m:sSubPr>
                              <m:ctrlPr>
                                <a:rPr lang="en-US" altLang="zh-CN" sz="1800" b="0" i="0" smtClean="0">
                                  <a:latin typeface="Cambria Math" panose="02040503050406030204" pitchFamily="18" charset="0"/>
                                </a:rPr>
                              </m:ctrlPr>
                            </m:sSubPr>
                            <m:e>
                              <m:r>
                                <m:rPr>
                                  <m:sty m:val="p"/>
                                </m:rPr>
                                <a:rPr lang="en-US" altLang="zh-CN" sz="1800" b="0" i="0" smtClean="0">
                                  <a:latin typeface="Cambria Math" panose="02040503050406030204" pitchFamily="18" charset="0"/>
                                </a:rPr>
                                <m:t>Ω</m:t>
                              </m:r>
                            </m:e>
                            <m:sub>
                              <m:r>
                                <a:rPr lang="en-US" altLang="zh-CN" sz="1800" b="0" i="1" smtClean="0">
                                  <a:latin typeface="Cambria Math" panose="02040503050406030204" pitchFamily="18" charset="0"/>
                                </a:rPr>
                                <m:t>𝐸</m:t>
                              </m:r>
                            </m:sub>
                          </m:sSub>
                        </m:sub>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1">
                                  <a:latin typeface="Cambria Math" panose="02040503050406030204" pitchFamily="18" charset="0"/>
                                </a:rPr>
                                <m:t>𝛌</m:t>
                              </m:r>
                            </m:e>
                          </m:d>
                        </m:e>
                      </m:nary>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dirty="0">
                              <a:solidFill>
                                <a:srgbClr val="F76409"/>
                              </a:solidFill>
                              <a:latin typeface="Cambria Math" panose="02040503050406030204" pitchFamily="18" charset="0"/>
                            </a:rPr>
                            <m:t>𝐿</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𝐻</m:t>
                          </m:r>
                        </m:sub>
                        <m:sup>
                          <m:r>
                            <a:rPr lang="en-US" altLang="zh-CN" i="1" dirty="0">
                              <a:latin typeface="Cambria Math" panose="02040503050406030204" pitchFamily="18" charset="0"/>
                              <a:ea typeface="Cambria Math" panose="02040503050406030204" pitchFamily="18" charset="0"/>
                            </a:rPr>
                            <m:t>𝑃</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e>
                      </m:d>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latin typeface="Cambria Math" panose="02040503050406030204" pitchFamily="18" charset="0"/>
                                </a:rPr>
                                <m:t>|</m:t>
                              </m:r>
                              <m:r>
                                <a:rPr lang="en-US" altLang="zh-CN" b="1">
                                  <a:latin typeface="Cambria Math" panose="02040503050406030204" pitchFamily="18" charset="0"/>
                                </a:rPr>
                                <m:t>𝛌</m:t>
                              </m:r>
                            </m:e>
                          </m:d>
                        </m:den>
                      </m:f>
                      <m:r>
                        <a:rPr lang="en-US" altLang="zh-CN" b="0" i="1" smtClean="0">
                          <a:latin typeface="Cambria Math" panose="02040503050406030204" pitchFamily="18" charset="0"/>
                        </a:rPr>
                        <m:t>𝑑</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𝑖</m:t>
                          </m:r>
                        </m:sub>
                      </m:sSub>
                    </m:oMath>
                    <m:oMath>
                      <m:r>
                        <a:rPr lang="en-US" altLang="zh-CN" b="0" i="1" smtClean="0">
                          <a:latin typeface="Cambria Math" panose="02040503050406030204" pitchFamily="18" charset="0"/>
                        </a:rPr>
                        <m:t>        +</m:t>
                      </m:r>
                      <m:nary>
                        <m:naryPr>
                          <m:supHide m:val="on"/>
                          <m:ctrlPr>
                            <a:rPr lang="en-US" altLang="zh-CN" i="1">
                              <a:latin typeface="Cambria Math" panose="02040503050406030204" pitchFamily="18" charset="0"/>
                            </a:rPr>
                          </m:ctrlPr>
                        </m:naryPr>
                        <m:sub>
                          <m:sSub>
                            <m:sSubPr>
                              <m:ctrlPr>
                                <a:rPr lang="en-US" altLang="zh-CN">
                                  <a:latin typeface="Cambria Math" panose="02040503050406030204" pitchFamily="18" charset="0"/>
                                </a:rPr>
                              </m:ctrlPr>
                            </m:sSubPr>
                            <m:e>
                              <m:r>
                                <m:rPr>
                                  <m:sty m:val="p"/>
                                </m:rPr>
                                <a:rPr lang="en-US" altLang="zh-CN">
                                  <a:latin typeface="Cambria Math" panose="02040503050406030204" pitchFamily="18" charset="0"/>
                                </a:rPr>
                                <m:t>Ω</m:t>
                              </m:r>
                            </m:e>
                            <m:sub>
                              <m:r>
                                <a:rPr lang="en-US" altLang="zh-CN" i="1">
                                  <a:latin typeface="Cambria Math" panose="02040503050406030204" pitchFamily="18" charset="0"/>
                                </a:rPr>
                                <m:t>𝐸</m:t>
                              </m:r>
                            </m:sub>
                          </m:sSub>
                        </m:sub>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1">
                                  <a:latin typeface="Cambria Math" panose="02040503050406030204" pitchFamily="18" charset="0"/>
                                </a:rPr>
                                <m:t>𝛌</m:t>
                              </m:r>
                            </m:e>
                          </m:d>
                        </m:e>
                      </m:nary>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𝐻</m:t>
                          </m:r>
                        </m:sub>
                        <m:sup>
                          <m:r>
                            <a:rPr lang="en-US" altLang="zh-CN" i="1" dirty="0">
                              <a:latin typeface="Cambria Math" panose="02040503050406030204" pitchFamily="18" charset="0"/>
                              <a:ea typeface="Cambria Math" panose="02040503050406030204" pitchFamily="18" charset="0"/>
                            </a:rPr>
                            <m:t>𝑃</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e>
                      </m:d>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1">
                                  <a:latin typeface="Cambria Math" panose="02040503050406030204" pitchFamily="18" charset="0"/>
                                </a:rPr>
                                <m:t>𝛌</m:t>
                              </m:r>
                            </m:e>
                          </m:d>
                        </m:den>
                      </m:f>
                      <m:r>
                        <a:rPr lang="en-US" altLang="zh-CN" i="1">
                          <a:latin typeface="Cambria Math" panose="02040503050406030204" pitchFamily="18" charset="0"/>
                        </a:rPr>
                        <m:t>𝑑</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oMath>
                    <m:oMath>
                      <m:r>
                        <a:rPr lang="en-US" altLang="zh-CN" b="0" i="0" smtClean="0">
                          <a:latin typeface="Cambria Math" panose="02040503050406030204" pitchFamily="18" charset="0"/>
                        </a:rPr>
                        <m:t>    </m:t>
                      </m:r>
                      <m:r>
                        <a:rPr lang="en-US" altLang="zh-CN" b="0" i="1" smtClean="0">
                          <a:latin typeface="Cambria Math" panose="02040503050406030204" pitchFamily="18" charset="0"/>
                        </a:rPr>
                        <m:t>=</m:t>
                      </m:r>
                      <m:nary>
                        <m:naryPr>
                          <m:supHide m:val="on"/>
                          <m:ctrlPr>
                            <a:rPr lang="en-US" altLang="zh-CN" b="0" i="1" smtClean="0">
                              <a:latin typeface="Cambria Math" panose="02040503050406030204" pitchFamily="18" charset="0"/>
                            </a:rPr>
                          </m:ctrlPr>
                        </m:naryPr>
                        <m:sub>
                          <m:sSub>
                            <m:sSubPr>
                              <m:ctrlPr>
                                <a:rPr lang="en-US" altLang="zh-CN" b="0" i="0" smtClean="0">
                                  <a:latin typeface="Cambria Math" panose="02040503050406030204" pitchFamily="18" charset="0"/>
                                </a:rPr>
                              </m:ctrlPr>
                            </m:sSubPr>
                            <m:e>
                              <m:r>
                                <m:rPr>
                                  <m:sty m:val="p"/>
                                </m:rPr>
                                <a:rPr lang="en-US" altLang="zh-CN" b="0" i="0" smtClean="0">
                                  <a:latin typeface="Cambria Math" panose="02040503050406030204" pitchFamily="18" charset="0"/>
                                </a:rPr>
                                <m:t>Ω</m:t>
                              </m:r>
                            </m:e>
                            <m:sub>
                              <m:r>
                                <a:rPr lang="en-US" altLang="zh-CN" b="0" i="1" smtClean="0">
                                  <a:latin typeface="Cambria Math" panose="02040503050406030204" pitchFamily="18" charset="0"/>
                                </a:rPr>
                                <m:t>𝐸</m:t>
                              </m:r>
                            </m:sub>
                          </m:sSub>
                        </m:sub>
                        <m:sup/>
                        <m:e>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dirty="0">
                                      <a:solidFill>
                                        <a:srgbClr val="F76409"/>
                                      </a:solidFill>
                                      <a:latin typeface="Cambria Math" panose="02040503050406030204" pitchFamily="18" charset="0"/>
                                    </a:rPr>
                                    <m:t>𝐿</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𝐻</m:t>
                                  </m:r>
                                </m:sub>
                                <m:sup>
                                  <m:r>
                                    <a:rPr lang="en-US" altLang="zh-CN" i="1" dirty="0">
                                      <a:latin typeface="Cambria Math" panose="02040503050406030204" pitchFamily="18" charset="0"/>
                                      <a:ea typeface="Cambria Math" panose="02040503050406030204" pitchFamily="18" charset="0"/>
                                    </a:rPr>
                                    <m:t>𝑃</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e>
                              </m:d>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𝑤</m:t>
                                  </m:r>
                                </m:e>
                                <m:sub>
                                  <m:r>
                                    <a:rPr lang="en-US" altLang="zh-CN" i="1" dirty="0">
                                      <a:solidFill>
                                        <a:schemeClr val="accent2">
                                          <a:lumMod val="75000"/>
                                        </a:schemeClr>
                                      </a:solidFill>
                                      <a:latin typeface="Cambria Math" panose="02040503050406030204" pitchFamily="18" charset="0"/>
                                    </a:rPr>
                                    <m:t>𝐵</m:t>
                                  </m:r>
                                  <m:r>
                                    <a:rPr lang="en-US" altLang="zh-CN" i="1"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𝐻</m:t>
                                  </m:r>
                                </m:sub>
                                <m:sup>
                                  <m:r>
                                    <a:rPr lang="en-US" altLang="zh-CN" i="1" dirty="0">
                                      <a:latin typeface="Cambria Math" panose="02040503050406030204" pitchFamily="18" charset="0"/>
                                      <a:ea typeface="Cambria Math" panose="02040503050406030204" pitchFamily="18" charset="0"/>
                                    </a:rPr>
                                    <m:t>𝑃</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e>
                              </m:d>
                            </m:e>
                          </m:d>
                        </m:e>
                      </m:nary>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𝐹</m:t>
                          </m:r>
                        </m:e>
                        <m:sub>
                          <m:r>
                            <a:rPr lang="en-US" altLang="zh-CN" i="1" dirty="0">
                              <a:latin typeface="Cambria Math" panose="02040503050406030204" pitchFamily="18" charset="0"/>
                            </a:rPr>
                            <m:t>𝑖</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r>
                        <a:rPr lang="en-US" altLang="zh-CN" b="0" i="1" smtClean="0">
                          <a:latin typeface="Cambria Math" panose="02040503050406030204" pitchFamily="18" charset="0"/>
                        </a:rPr>
                        <m:t>𝑑</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𝑖</m:t>
                          </m:r>
                        </m:sub>
                      </m:sSub>
                    </m:oMath>
                    <m:oMath>
                      <m:r>
                        <a:rPr lang="en-US" altLang="zh-CN" b="0" i="0" smtClean="0">
                          <a:latin typeface="Cambria Math" panose="02040503050406030204" pitchFamily="18" charset="0"/>
                        </a:rPr>
                        <m:t>    </m:t>
                      </m:r>
                      <m:r>
                        <a:rPr lang="en-US" altLang="zh-CN" b="0" i="1" smtClean="0">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𝐷</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oMath>
                  </m:oMathPara>
                </a14:m>
                <a:endParaRPr lang="en-US" altLang="zh-CN" dirty="0"/>
              </a:p>
              <a:p>
                <a:endParaRPr lang="en-US" altLang="zh-CN" dirty="0"/>
              </a:p>
              <a:p>
                <a:pPr/>
                <a14:m>
                  <m:oMathPara xmlns:m="http://schemas.openxmlformats.org/officeDocument/2006/math">
                    <m:oMath>
                      <m:r>
                        <a:rPr lang="zh-CN" altLang="en-US" b="0" i="1" dirty="0">
                          <a:latin typeface="Cambria Math" panose="02040503050406030204" pitchFamily="18" charset="0"/>
                        </a:rPr>
                        <m:t>因此</m:t>
                      </m:r>
                      <m:r>
                        <a:rPr lang="zh-CN" altLang="en-US"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sub>
                      </m:sSub>
                      <m:d>
                        <m:dPr>
                          <m:begChr m:val="["/>
                          <m:endChr m:val="]"/>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𝑮</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ℎ</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b="1"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oMath>
                  </m:oMathPara>
                </a14:m>
                <a:br>
                  <a:rPr lang="en-US" altLang="zh-CN" b="1" dirty="0"/>
                </a:br>
                <a:endParaRPr lang="zh-CN" altLang="en-US" dirty="0"/>
              </a:p>
            </p:txBody>
          </p:sp>
        </mc:Choice>
        <mc:Fallback xmlns="">
          <p:sp>
            <p:nvSpPr>
              <p:cNvPr id="3" name="文本框 2">
                <a:extLst>
                  <a:ext uri="{FF2B5EF4-FFF2-40B4-BE49-F238E27FC236}">
                    <a16:creationId xmlns:a16="http://schemas.microsoft.com/office/drawing/2014/main" id="{DCEF801C-0DA8-9DCC-238E-CC2621CDD6AD}"/>
                  </a:ext>
                </a:extLst>
              </p:cNvPr>
              <p:cNvSpPr txBox="1">
                <a:spLocks noRot="1" noChangeAspect="1" noMove="1" noResize="1" noEditPoints="1" noAdjustHandles="1" noChangeArrowheads="1" noChangeShapeType="1" noTextEdit="1"/>
              </p:cNvSpPr>
              <p:nvPr/>
            </p:nvSpPr>
            <p:spPr>
              <a:xfrm>
                <a:off x="210354" y="2617576"/>
                <a:ext cx="5819640" cy="3280835"/>
              </a:xfrm>
              <a:prstGeom prst="rect">
                <a:avLst/>
              </a:prstGeom>
              <a:blipFill>
                <a:blip r:embed="rId3"/>
                <a:stretch>
                  <a:fillRect l="-943" t="-557" b="-38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337C2AA2-75A5-2860-2D9C-D0614F2F5D81}"/>
                  </a:ext>
                </a:extLst>
              </p:cNvPr>
              <p:cNvSpPr txBox="1"/>
              <p:nvPr/>
            </p:nvSpPr>
            <p:spPr>
              <a:xfrm>
                <a:off x="5715536" y="2331956"/>
                <a:ext cx="6476464" cy="3688895"/>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𝑙𝑎𝑦𝑒𝑟</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sz="1800" b="1" i="1" dirty="0" smtClean="0">
                              <a:latin typeface="Cambria Math" panose="02040503050406030204" pitchFamily="18" charset="0"/>
                            </a:rPr>
                            <m:t>|</m:t>
                          </m:r>
                          <m:r>
                            <a:rPr lang="en-US" altLang="zh-CN" b="1" dirty="0">
                              <a:latin typeface="Cambria Math" panose="02040503050406030204" pitchFamily="18" charset="0"/>
                            </a:rPr>
                            <m:t>𝛌</m:t>
                          </m:r>
                        </m:e>
                      </m:d>
                    </m:oMath>
                    <m:oMath>
                      <m:r>
                        <a:rPr lang="en-US" altLang="zh-CN" sz="1800" b="1" i="1" smtClean="0">
                          <a:latin typeface="Cambria Math" panose="02040503050406030204" pitchFamily="18" charset="0"/>
                        </a:rPr>
                        <m:t>    =</m:t>
                      </m:r>
                      <m:nary>
                        <m:naryPr>
                          <m:chr m:val="∑"/>
                          <m:ctrlPr>
                            <a:rPr lang="en-US" altLang="zh-CN" sz="1800" b="0" i="1" smtClean="0">
                              <a:latin typeface="Cambria Math" panose="02040503050406030204" pitchFamily="18" charset="0"/>
                            </a:rPr>
                          </m:ctrlPr>
                        </m:naryPr>
                        <m:sub>
                          <m:r>
                            <m:rPr>
                              <m:brk m:alnAt="23"/>
                            </m:rPr>
                            <a:rPr lang="en-US" altLang="zh-CN" sz="1800" b="0" i="1" smtClean="0">
                              <a:latin typeface="Cambria Math" panose="02040503050406030204" pitchFamily="18" charset="0"/>
                            </a:rPr>
                            <m:t>ℎ</m:t>
                          </m:r>
                          <m:r>
                            <m:rPr>
                              <m:brk m:alnAt="23"/>
                            </m:rPr>
                            <a:rPr lang="en-US" altLang="zh-CN" sz="1800" b="0" i="1" smtClean="0">
                              <a:latin typeface="Cambria Math" panose="02040503050406030204" pitchFamily="18" charset="0"/>
                            </a:rPr>
                            <m:t>=</m:t>
                          </m:r>
                          <m:r>
                            <m:rPr>
                              <m:brk m:alnAt="23"/>
                            </m:rPr>
                            <a:rPr lang="en-US" altLang="zh-CN" sz="1800" b="0" i="1" smtClean="0">
                              <a:latin typeface="Cambria Math" panose="02040503050406030204" pitchFamily="18" charset="0"/>
                            </a:rPr>
                            <m:t>1</m:t>
                          </m:r>
                        </m:sub>
                        <m:sup>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𝑁</m:t>
                              </m:r>
                            </m:e>
                            <m:sub>
                              <m:r>
                                <a:rPr lang="en-US" altLang="zh-CN" sz="1800" b="0" i="1" smtClean="0">
                                  <a:latin typeface="Cambria Math" panose="02040503050406030204" pitchFamily="18" charset="0"/>
                                </a:rPr>
                                <m:t>𝜆</m:t>
                              </m:r>
                            </m:sub>
                          </m:sSub>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ℎ</m:t>
                              </m:r>
                            </m:sub>
                          </m:sSub>
                        </m:e>
                      </m:nary>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sub>
                        <m:sup/>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b="0" i="1" dirty="0" smtClean="0">
                                  <a:latin typeface="Cambria Math" panose="02040503050406030204" pitchFamily="18" charset="0"/>
                                </a:rPr>
                                <m:t>ℎ</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f>
                            <m:fPr>
                              <m:ctrlPr>
                                <a:rPr lang="en-US" altLang="zh-CN" i="1" dirty="0">
                                  <a:latin typeface="Cambria Math" panose="02040503050406030204" pitchFamily="18" charset="0"/>
                                </a:rPr>
                              </m:ctrlPr>
                            </m:fPr>
                            <m:num>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ℎ</m:t>
                                  </m:r>
                                </m:sub>
                                <m:sup>
                                  <m:r>
                                    <a:rPr lang="en-US" altLang="zh-CN" b="0" i="1" dirty="0" smtClean="0">
                                      <a:latin typeface="Cambria Math" panose="02040503050406030204" pitchFamily="18" charset="0"/>
                                    </a:rPr>
                                    <m:t>𝑙</m:t>
                                  </m:r>
                                  <m:r>
                                    <a:rPr lang="en-US" altLang="zh-CN" i="1" dirty="0">
                                      <a:latin typeface="Cambria Math" panose="02040503050406030204" pitchFamily="18" charset="0"/>
                                    </a:rPr>
                                    <m:t>𝑎𝑦𝑒𝑟</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b="0" i="1" dirty="0" smtClean="0">
                                      <a:latin typeface="Cambria Math" panose="02040503050406030204" pitchFamily="18" charset="0"/>
                                    </a:rPr>
                                    <m:t>ℎ</m:t>
                                  </m:r>
                                </m:sub>
                              </m:sSub>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b="0" i="1" dirty="0" smtClean="0">
                                      <a:latin typeface="Cambria Math" panose="02040503050406030204" pitchFamily="18" charset="0"/>
                                    </a:rPr>
                                    <m:t>ℎ</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nary>
                    </m:oMath>
                    <m:oMath>
                      <m:r>
                        <a:rPr lang="en-US" altLang="zh-CN" b="0" i="1" dirty="0" smtClean="0">
                          <a:latin typeface="Cambria Math" panose="02040503050406030204" pitchFamily="18" charset="0"/>
                          <a:ea typeface="Cambria Math" panose="02040503050406030204" pitchFamily="18" charset="0"/>
                        </a:rPr>
                        <m:t>                                </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𝐸</m:t>
                      </m:r>
                      <m:d>
                        <m:dPr>
                          <m:begChr m:val="["/>
                          <m:endChr m:val="]"/>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𝑮</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smtClean="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ℎ</m:t>
                          </m:r>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0" i="1" dirty="0" smtClean="0">
                          <a:latin typeface="Cambria Math" panose="02040503050406030204" pitchFamily="18" charset="0"/>
                          <a:ea typeface="Cambria Math" panose="02040503050406030204" pitchFamily="18" charset="0"/>
                        </a:rPr>
                        <m:t> </m:t>
                      </m:r>
                      <m:r>
                        <a:rPr lang="en-US" altLang="zh-CN" b="0" i="1" dirty="0" smtClean="0">
                          <a:latin typeface="Cambria Math" panose="02040503050406030204" pitchFamily="18" charset="0"/>
                          <a:ea typeface="Cambria Math" panose="02040503050406030204" pitchFamily="18" charset="0"/>
                        </a:rPr>
                        <m:t>𝑑</m:t>
                      </m:r>
                      <m:sSub>
                        <m:sSubPr>
                          <m:ctrlPr>
                            <a:rPr lang="en-US" altLang="zh-CN" b="0" i="1" dirty="0" smtClean="0">
                              <a:latin typeface="Cambria Math" panose="02040503050406030204" pitchFamily="18" charset="0"/>
                              <a:ea typeface="Cambria Math" panose="02040503050406030204" pitchFamily="18" charset="0"/>
                            </a:rPr>
                          </m:ctrlPr>
                        </m:sSubPr>
                        <m:e>
                          <m:r>
                            <a:rPr lang="en-US" altLang="zh-CN" b="0" i="1" dirty="0" smtClean="0">
                              <a:latin typeface="Cambria Math" panose="02040503050406030204" pitchFamily="18" charset="0"/>
                              <a:ea typeface="Cambria Math" panose="02040503050406030204" pitchFamily="18" charset="0"/>
                            </a:rPr>
                            <m:t>𝜇</m:t>
                          </m:r>
                        </m:e>
                        <m:sub>
                          <m:r>
                            <a:rPr lang="en-US" altLang="zh-CN" b="0" i="1" dirty="0" smtClean="0">
                              <a:latin typeface="Cambria Math" panose="02040503050406030204" pitchFamily="18" charset="0"/>
                              <a:ea typeface="Cambria Math" panose="02040503050406030204" pitchFamily="18" charset="0"/>
                            </a:rPr>
                            <m:t>𝑖</m:t>
                          </m:r>
                          <m:r>
                            <a:rPr lang="en-US" altLang="zh-CN" b="0" i="1" dirty="0" smtClean="0">
                              <a:latin typeface="Cambria Math" panose="02040503050406030204" pitchFamily="18" charset="0"/>
                              <a:ea typeface="Cambria Math" panose="02040503050406030204" pitchFamily="18" charset="0"/>
                            </a:rPr>
                            <m:t>−1</m:t>
                          </m:r>
                        </m:sub>
                      </m:sSub>
                      <m:d>
                        <m:dPr>
                          <m:ctrlPr>
                            <a:rPr lang="en-US" altLang="zh-CN" b="0" i="1" dirty="0" smtClean="0">
                              <a:latin typeface="Cambria Math" panose="02040503050406030204" pitchFamily="18" charset="0"/>
                              <a:ea typeface="Cambria Math" panose="02040503050406030204" pitchFamily="18" charset="0"/>
                            </a:rPr>
                          </m:ctrlPr>
                        </m:dPr>
                        <m:e>
                          <m:sSub>
                            <m:sSubPr>
                              <m:ctrlPr>
                                <a:rPr lang="en-US" altLang="zh-CN" b="0" i="1" dirty="0" smtClean="0">
                                  <a:latin typeface="Cambria Math" panose="02040503050406030204" pitchFamily="18" charset="0"/>
                                  <a:ea typeface="Cambria Math" panose="02040503050406030204" pitchFamily="18" charset="0"/>
                                </a:rPr>
                              </m:ctrlPr>
                            </m:sSubPr>
                            <m:e>
                              <m:acc>
                                <m:accPr>
                                  <m:chr m:val="̅"/>
                                  <m:ctrlPr>
                                    <a:rPr lang="en-US" altLang="zh-CN" b="0" i="1" dirty="0" smtClean="0">
                                      <a:latin typeface="Cambria Math" panose="02040503050406030204" pitchFamily="18" charset="0"/>
                                      <a:ea typeface="Cambria Math" panose="02040503050406030204" pitchFamily="18" charset="0"/>
                                    </a:rPr>
                                  </m:ctrlPr>
                                </m:accPr>
                                <m:e>
                                  <m:r>
                                    <a:rPr lang="en-US" altLang="zh-CN" b="0" i="1" dirty="0" smtClean="0">
                                      <a:latin typeface="Cambria Math" panose="02040503050406030204" pitchFamily="18" charset="0"/>
                                      <a:ea typeface="Cambria Math" panose="02040503050406030204" pitchFamily="18" charset="0"/>
                                    </a:rPr>
                                    <m:t>𝑝</m:t>
                                  </m:r>
                                </m:e>
                              </m:acc>
                            </m:e>
                            <m:sub>
                              <m:r>
                                <a:rPr lang="en-US" altLang="zh-CN" b="0" i="1" dirty="0" smtClean="0">
                                  <a:latin typeface="Cambria Math" panose="02040503050406030204" pitchFamily="18" charset="0"/>
                                  <a:ea typeface="Cambria Math" panose="02040503050406030204" pitchFamily="18" charset="0"/>
                                </a:rPr>
                                <m:t>𝑖</m:t>
                              </m:r>
                              <m:r>
                                <a:rPr lang="en-US" altLang="zh-CN" b="0" i="1" dirty="0" smtClean="0">
                                  <a:latin typeface="Cambria Math" panose="02040503050406030204" pitchFamily="18" charset="0"/>
                                  <a:ea typeface="Cambria Math" panose="02040503050406030204" pitchFamily="18" charset="0"/>
                                </a:rPr>
                                <m:t>−1</m:t>
                              </m:r>
                            </m:sub>
                          </m:sSub>
                        </m:e>
                      </m:d>
                    </m:oMath>
                    <m:oMath>
                      <m:r>
                        <a:rPr lang="en-US" altLang="zh-CN" b="0" i="1" smtClean="0">
                          <a:latin typeface="Cambria Math" panose="02040503050406030204" pitchFamily="18" charset="0"/>
                          <a:ea typeface="Cambria Math" panose="02040503050406030204" pitchFamily="18" charset="0"/>
                        </a:rPr>
                        <m:t>    =</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sub>
                        <m:sup/>
                        <m:e>
                          <m:d>
                            <m:dPr>
                              <m:ctrlPr>
                                <a:rPr lang="en-US" altLang="zh-CN" i="1">
                                  <a:latin typeface="Cambria Math" panose="02040503050406030204" pitchFamily="18" charset="0"/>
                                </a:rPr>
                              </m:ctrlPr>
                            </m:dPr>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ℎ</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𝜆</m:t>
                                      </m:r>
                                    </m:sub>
                                  </m:sSub>
                                </m:sup>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ℎ</m:t>
                                      </m:r>
                                    </m:sub>
                                    <m:sup>
                                      <m:r>
                                        <a:rPr lang="en-US" altLang="zh-CN" b="0" i="1" dirty="0" smtClean="0">
                                          <a:latin typeface="Cambria Math" panose="02040503050406030204" pitchFamily="18" charset="0"/>
                                        </a:rPr>
                                        <m:t>𝑙</m:t>
                                      </m:r>
                                      <m:r>
                                        <a:rPr lang="en-US" altLang="zh-CN" i="1" dirty="0">
                                          <a:latin typeface="Cambria Math" panose="02040503050406030204" pitchFamily="18" charset="0"/>
                                        </a:rPr>
                                        <m:t>𝑎𝑦𝑒𝑟</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e>
                                  </m:d>
                                </m:e>
                              </m:nary>
                            </m:e>
                          </m:d>
                        </m:e>
                      </m:nary>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r>
                        <a:rPr lang="en-US" altLang="zh-CN" i="1" dirty="0">
                          <a:latin typeface="Cambria Math" panose="02040503050406030204" pitchFamily="18" charset="0"/>
                          <a:ea typeface="Cambria Math" panose="02040503050406030204" pitchFamily="18" charset="0"/>
                        </a:rPr>
                        <m:t>𝑑</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𝜇</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𝑝</m:t>
                                  </m:r>
                                </m:e>
                              </m:acc>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sub>
                          </m:sSub>
                        </m:e>
                      </m:d>
                    </m:oMath>
                    <m:oMath>
                      <m:r>
                        <a:rPr lang="en-US" altLang="zh-CN" b="0" i="1" smtClean="0">
                          <a:latin typeface="Cambria Math" panose="02040503050406030204" pitchFamily="18" charset="0"/>
                          <a:ea typeface="Cambria Math" panose="02040503050406030204" pitchFamily="18" charset="0"/>
                        </a:rPr>
                        <m:t>    =</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m:oMathPara>
                </a14:m>
                <a:endParaRPr lang="en-US" altLang="zh-CN" b="1" dirty="0"/>
              </a:p>
              <a:p>
                <a:endParaRPr lang="en-US" altLang="zh-CN" sz="1000" b="1" dirty="0"/>
              </a:p>
              <a:p>
                <a:pPr/>
                <a14:m>
                  <m:oMathPara xmlns:m="http://schemas.openxmlformats.org/officeDocument/2006/math">
                    <m:oMath>
                      <m:r>
                        <m:rPr>
                          <m:nor/>
                        </m:rPr>
                        <a:rPr lang="zh-CN" altLang="en-US" i="0" dirty="0"/>
                        <m:t>最终：</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𝑙𝑎𝑦𝑒𝑟</m:t>
                              </m:r>
                            </m:sup>
                          </m:sSubSup>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𝑙𝑎𝑦𝑒𝑟</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r>
                                <a:rPr lang="en-US" altLang="zh-CN" b="1" i="1" dirty="0" smtClean="0">
                                  <a:latin typeface="Cambria Math" panose="02040503050406030204" pitchFamily="18" charset="0"/>
                                </a:rPr>
                                <m:t>|</m:t>
                              </m:r>
                              <m:r>
                                <a:rPr lang="en-US" altLang="zh-CN" b="1" i="0" dirty="0" smtClean="0">
                                  <a:latin typeface="Cambria Math" panose="02040503050406030204" pitchFamily="18" charset="0"/>
                                </a:rPr>
                                <m:t>𝚲</m:t>
                              </m:r>
                            </m:e>
                          </m:d>
                        </m:e>
                      </m:d>
                    </m:oMath>
                    <m:oMath>
                      <m:r>
                        <a:rPr lang="en-US" altLang="zh-CN" b="1"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e>
                      </m:d>
                      <m:r>
                        <a:rPr lang="en-US" altLang="zh-CN"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0" i="1" dirty="0" smtClean="0">
                              <a:latin typeface="Cambria Math" panose="02040503050406030204" pitchFamily="18" charset="0"/>
                            </a:rPr>
                            <m:t>𝑖</m:t>
                          </m:r>
                        </m:sub>
                      </m:sSub>
                    </m:oMath>
                  </m:oMathPara>
                </a14:m>
                <a:endParaRPr lang="zh-CN" altLang="en-US" dirty="0"/>
              </a:p>
            </p:txBody>
          </p:sp>
        </mc:Choice>
        <mc:Fallback xmlns="">
          <p:sp>
            <p:nvSpPr>
              <p:cNvPr id="9" name="文本框 8">
                <a:extLst>
                  <a:ext uri="{FF2B5EF4-FFF2-40B4-BE49-F238E27FC236}">
                    <a16:creationId xmlns:a16="http://schemas.microsoft.com/office/drawing/2014/main" id="{337C2AA2-75A5-2860-2D9C-D0614F2F5D81}"/>
                  </a:ext>
                </a:extLst>
              </p:cNvPr>
              <p:cNvSpPr txBox="1">
                <a:spLocks noRot="1" noChangeAspect="1" noMove="1" noResize="1" noEditPoints="1" noAdjustHandles="1" noChangeArrowheads="1" noChangeShapeType="1" noTextEdit="1"/>
              </p:cNvSpPr>
              <p:nvPr/>
            </p:nvSpPr>
            <p:spPr>
              <a:xfrm>
                <a:off x="5715536" y="2331956"/>
                <a:ext cx="6476464" cy="3688895"/>
              </a:xfrm>
              <a:prstGeom prst="rect">
                <a:avLst/>
              </a:prstGeom>
              <a:blipFill>
                <a:blip r:embed="rId4"/>
                <a:stretch>
                  <a:fillRect b="-181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396EE05D-A0C6-10A1-28EB-7186E82D1E6F}"/>
              </a:ext>
            </a:extLst>
          </p:cNvPr>
          <p:cNvSpPr txBox="1"/>
          <p:nvPr/>
        </p:nvSpPr>
        <p:spPr>
          <a:xfrm>
            <a:off x="426613" y="2248244"/>
            <a:ext cx="1505218" cy="369332"/>
          </a:xfrm>
          <a:prstGeom prst="rect">
            <a:avLst/>
          </a:prstGeom>
          <a:noFill/>
        </p:spPr>
        <p:txBody>
          <a:bodyPr wrap="square">
            <a:spAutoFit/>
          </a:bodyPr>
          <a:lstStyle/>
          <a:p>
            <a:r>
              <a:rPr lang="zh-CN" altLang="en-US" sz="1800" b="1" dirty="0">
                <a:latin typeface="Cambria Math" panose="02040503050406030204" pitchFamily="18" charset="0"/>
              </a:rPr>
              <a:t>验证期望：</a:t>
            </a:r>
            <a:endParaRPr lang="en-US" altLang="zh-CN" sz="1800" b="1" dirty="0">
              <a:latin typeface="Cambria Math" panose="02040503050406030204" pitchFamily="18" charset="0"/>
            </a:endParaRPr>
          </a:p>
        </p:txBody>
      </p:sp>
      <p:sp>
        <p:nvSpPr>
          <p:cNvPr id="13" name="文本框 12">
            <a:extLst>
              <a:ext uri="{FF2B5EF4-FFF2-40B4-BE49-F238E27FC236}">
                <a16:creationId xmlns:a16="http://schemas.microsoft.com/office/drawing/2014/main" id="{F563A3F2-748D-524B-2B95-8F8A2D9EB11F}"/>
              </a:ext>
            </a:extLst>
          </p:cNvPr>
          <p:cNvSpPr txBox="1"/>
          <p:nvPr/>
        </p:nvSpPr>
        <p:spPr>
          <a:xfrm>
            <a:off x="740533" y="6027915"/>
            <a:ext cx="4759281" cy="369332"/>
          </a:xfrm>
          <a:prstGeom prst="rect">
            <a:avLst/>
          </a:prstGeom>
          <a:noFill/>
        </p:spPr>
        <p:txBody>
          <a:bodyPr wrap="square">
            <a:spAutoFit/>
          </a:bodyPr>
          <a:lstStyle/>
          <a:p>
            <a:pPr algn="ctr"/>
            <a:r>
              <a:rPr lang="en-US" altLang="zh-CN" sz="1800" b="1" dirty="0">
                <a:latin typeface="Cambria Math" panose="02040503050406030204" pitchFamily="18" charset="0"/>
              </a:rPr>
              <a:t>PT MIS</a:t>
            </a:r>
            <a:r>
              <a:rPr lang="zh-CN" altLang="en-US" sz="1800" b="1" dirty="0">
                <a:latin typeface="Cambria Math" panose="02040503050406030204" pitchFamily="18" charset="0"/>
              </a:rPr>
              <a:t>完成对末端光源积分的无偏估计。</a:t>
            </a:r>
            <a:endParaRPr lang="en-US" altLang="zh-CN" sz="1800" b="1" dirty="0">
              <a:latin typeface="Cambria Math" panose="02040503050406030204" pitchFamily="18" charset="0"/>
            </a:endParaRPr>
          </a:p>
        </p:txBody>
      </p:sp>
      <p:sp>
        <p:nvSpPr>
          <p:cNvPr id="15" name="文本框 14">
            <a:extLst>
              <a:ext uri="{FF2B5EF4-FFF2-40B4-BE49-F238E27FC236}">
                <a16:creationId xmlns:a16="http://schemas.microsoft.com/office/drawing/2014/main" id="{46F8C6E7-2534-19C9-7B83-947EB69877D7}"/>
              </a:ext>
            </a:extLst>
          </p:cNvPr>
          <p:cNvSpPr txBox="1"/>
          <p:nvPr/>
        </p:nvSpPr>
        <p:spPr>
          <a:xfrm>
            <a:off x="6277912" y="6027915"/>
            <a:ext cx="5351712" cy="369332"/>
          </a:xfrm>
          <a:prstGeom prst="rect">
            <a:avLst/>
          </a:prstGeom>
          <a:noFill/>
        </p:spPr>
        <p:txBody>
          <a:bodyPr wrap="square">
            <a:spAutoFit/>
          </a:bodyPr>
          <a:lstStyle/>
          <a:p>
            <a:pPr algn="ctr"/>
            <a:r>
              <a:rPr lang="en-US" altLang="zh-CN" b="1" dirty="0">
                <a:latin typeface="Cambria Math" panose="02040503050406030204" pitchFamily="18" charset="0"/>
              </a:rPr>
              <a:t>Spectral</a:t>
            </a:r>
            <a:r>
              <a:rPr lang="en-US" altLang="zh-CN" sz="1800" b="1" dirty="0">
                <a:latin typeface="Cambria Math" panose="02040503050406030204" pitchFamily="18" charset="0"/>
              </a:rPr>
              <a:t> MIS</a:t>
            </a:r>
            <a:r>
              <a:rPr lang="zh-CN" altLang="en-US" sz="1800" b="1" dirty="0">
                <a:latin typeface="Cambria Math" panose="02040503050406030204" pitchFamily="18" charset="0"/>
              </a:rPr>
              <a:t>完成对路径前缀积分的无偏估计。</a:t>
            </a:r>
            <a:endParaRPr lang="en-US" altLang="zh-CN" sz="1800" b="1" dirty="0">
              <a:latin typeface="Cambria Math" panose="02040503050406030204" pitchFamily="18" charset="0"/>
            </a:endParaRPr>
          </a:p>
        </p:txBody>
      </p:sp>
    </p:spTree>
    <p:extLst>
      <p:ext uri="{BB962C8B-B14F-4D97-AF65-F5344CB8AC3E}">
        <p14:creationId xmlns:p14="http://schemas.microsoft.com/office/powerpoint/2010/main" val="38395534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452C7-602B-F9BD-68A7-A036F8B8B92F}"/>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2BF30DD-E427-E2B9-F3EC-5D361D2846D7}"/>
              </a:ext>
            </a:extLst>
          </p:cNvPr>
          <p:cNvSpPr>
            <a:spLocks noGrp="1"/>
          </p:cNvSpPr>
          <p:nvPr>
            <p:ph type="title" idx="1"/>
          </p:nvPr>
        </p:nvSpPr>
        <p:spPr/>
        <p:txBody>
          <a:bodyPr/>
          <a:lstStyle/>
          <a:p>
            <a:r>
              <a:rPr lang="en-US" altLang="zh-CN" dirty="0"/>
              <a:t>MIS </a:t>
            </a:r>
            <a:r>
              <a:rPr lang="zh-CN" altLang="en-US" dirty="0"/>
              <a:t>分层组合 支持域</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979A09C-DD63-E892-93A2-E7C281851849}"/>
                  </a:ext>
                </a:extLst>
              </p:cNvPr>
              <p:cNvSpPr txBox="1"/>
              <p:nvPr/>
            </p:nvSpPr>
            <p:spPr>
              <a:xfrm>
                <a:off x="210353" y="1320738"/>
                <a:ext cx="5819640" cy="735394"/>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sub>
                      </m:sSub>
                      <m:d>
                        <m:dPr>
                          <m:begChr m:val="["/>
                          <m:endChr m:val="]"/>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𝐷</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r>
                            <a:rPr lang="en-US" altLang="zh-CN" sz="1800" b="1" i="1" dirty="0" smtClean="0">
                              <a:latin typeface="Cambria Math" panose="02040503050406030204" pitchFamily="18" charset="0"/>
                            </a:rPr>
                            <m:t>| </m:t>
                          </m:r>
                          <m:r>
                            <a:rPr lang="en-US" altLang="zh-CN" sz="1800" b="0" i="1" dirty="0" smtClean="0">
                              <a:latin typeface="Cambria Math" panose="02040503050406030204" pitchFamily="18" charset="0"/>
                            </a:rPr>
                            <m:t>𝐻</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ℎ</m:t>
                          </m:r>
                          <m:r>
                            <a:rPr lang="en-US" altLang="zh-CN" sz="1800" b="1"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acc>
                                <m:accPr>
                                  <m:chr m:val="̅"/>
                                  <m:ctrlPr>
                                    <a:rPr lang="en-US" altLang="zh-CN" sz="1800" b="0" i="1" dirty="0" smtClean="0">
                                      <a:latin typeface="Cambria Math" panose="02040503050406030204" pitchFamily="18" charset="0"/>
                                    </a:rPr>
                                  </m:ctrlPr>
                                </m:accPr>
                                <m:e>
                                  <m:r>
                                    <a:rPr lang="en-US" altLang="zh-CN" sz="1800" b="0" i="1" dirty="0" smtClean="0">
                                      <a:latin typeface="Cambria Math" panose="02040503050406030204" pitchFamily="18" charset="0"/>
                                    </a:rPr>
                                    <m:t>𝑝</m:t>
                                  </m:r>
                                </m:e>
                              </m:acc>
                            </m:e>
                            <m:sub>
                              <m:r>
                                <a:rPr lang="en-US" altLang="zh-CN" sz="1800" b="0" i="1" dirty="0" smtClean="0">
                                  <a:latin typeface="Cambria Math" panose="02040503050406030204" pitchFamily="18" charset="0"/>
                                </a:rPr>
                                <m:t>𝑖</m:t>
                              </m:r>
                              <m:r>
                                <a:rPr lang="en-US" altLang="zh-CN" sz="1800" b="0" i="1" dirty="0" smtClean="0">
                                  <a:latin typeface="Cambria Math" panose="02040503050406030204" pitchFamily="18" charset="0"/>
                                </a:rPr>
                                <m:t>−1</m:t>
                              </m:r>
                            </m:sub>
                          </m:sSub>
                        </m:e>
                      </m:d>
                      <m:r>
                        <a:rPr lang="en-US" altLang="zh-CN" b="0" i="1" smtClean="0">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𝐷</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oMath>
                  </m:oMathPara>
                </a14:m>
                <a:endParaRPr lang="en-US" altLang="zh-CN" dirty="0"/>
              </a:p>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𝜔</m:t>
                              </m:r>
                            </m:e>
                            <m:sub>
                              <m:r>
                                <a:rPr lang="en-US" altLang="zh-CN" b="0" i="1" dirty="0" smtClean="0">
                                  <a:latin typeface="Cambria Math" panose="02040503050406030204" pitchFamily="18" charset="0"/>
                                </a:rPr>
                                <m:t>𝑖</m:t>
                              </m:r>
                            </m:sub>
                          </m:sSub>
                        </m:sub>
                      </m:sSub>
                      <m:d>
                        <m:dPr>
                          <m:begChr m:val="["/>
                          <m:endChr m:val="]"/>
                          <m:ctrlPr>
                            <a:rPr lang="en-US" altLang="zh-CN" b="1" i="1" dirty="0">
                              <a:latin typeface="Cambria Math" panose="02040503050406030204" pitchFamily="18" charset="0"/>
                            </a:rPr>
                          </m:ctrlPr>
                        </m:dPr>
                        <m:e>
                          <m:sSub>
                            <m:sSubPr>
                              <m:ctrlPr>
                                <a:rPr lang="en-US" altLang="zh-CN" b="1" i="1" dirty="0">
                                  <a:latin typeface="Cambria Math" panose="02040503050406030204" pitchFamily="18" charset="0"/>
                                </a:rPr>
                              </m:ctrlPr>
                            </m:sSubPr>
                            <m:e>
                              <m:acc>
                                <m:accPr>
                                  <m:chr m:val="̂"/>
                                  <m:ctrlPr>
                                    <a:rPr lang="en-US" altLang="zh-CN" b="1" i="1" dirty="0">
                                      <a:latin typeface="Cambria Math" panose="02040503050406030204" pitchFamily="18" charset="0"/>
                                    </a:rPr>
                                  </m:ctrlPr>
                                </m:accPr>
                                <m:e>
                                  <m:r>
                                    <a:rPr lang="en-US" altLang="zh-CN" b="1" i="1" dirty="0">
                                      <a:latin typeface="Cambria Math" panose="02040503050406030204" pitchFamily="18" charset="0"/>
                                    </a:rPr>
                                    <m:t>𝑮</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ℎ</m:t>
                          </m:r>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b="1" i="1" dirty="0" smtClean="0">
                              <a:latin typeface="Cambria Math" panose="02040503050406030204" pitchFamily="18" charset="0"/>
                            </a:rPr>
                            <m:t>,</m:t>
                          </m:r>
                          <m:r>
                            <a:rPr lang="en-US" altLang="zh-CN" b="1" i="0" dirty="0" smtClean="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oMath>
                  </m:oMathPara>
                </a14:m>
                <a:br>
                  <a:rPr lang="en-US" altLang="zh-CN" b="1" dirty="0"/>
                </a:br>
                <a:endParaRPr lang="zh-CN" altLang="en-US" dirty="0"/>
              </a:p>
            </p:txBody>
          </p:sp>
        </mc:Choice>
        <mc:Fallback xmlns="">
          <p:sp>
            <p:nvSpPr>
              <p:cNvPr id="3" name="文本框 2">
                <a:extLst>
                  <a:ext uri="{FF2B5EF4-FFF2-40B4-BE49-F238E27FC236}">
                    <a16:creationId xmlns:a16="http://schemas.microsoft.com/office/drawing/2014/main" id="{1979A09C-DD63-E892-93A2-E7C281851849}"/>
                  </a:ext>
                </a:extLst>
              </p:cNvPr>
              <p:cNvSpPr txBox="1">
                <a:spLocks noRot="1" noChangeAspect="1" noMove="1" noResize="1" noEditPoints="1" noAdjustHandles="1" noChangeArrowheads="1" noChangeShapeType="1" noTextEdit="1"/>
              </p:cNvSpPr>
              <p:nvPr/>
            </p:nvSpPr>
            <p:spPr>
              <a:xfrm>
                <a:off x="210353" y="1320738"/>
                <a:ext cx="5819640" cy="735394"/>
              </a:xfrm>
              <a:prstGeom prst="rect">
                <a:avLst/>
              </a:prstGeom>
              <a:blipFill>
                <a:blip r:embed="rId2"/>
                <a:stretch>
                  <a:fillRect l="-943" t="-2500" b="-208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10832795-5CDB-B9C5-587C-227743207679}"/>
                  </a:ext>
                </a:extLst>
              </p:cNvPr>
              <p:cNvSpPr txBox="1"/>
              <p:nvPr/>
            </p:nvSpPr>
            <p:spPr>
              <a:xfrm>
                <a:off x="5715536" y="1320738"/>
                <a:ext cx="6476464" cy="1071191"/>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𝑙𝑎𝑦𝑒𝑟</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sz="1800" b="1" i="1" dirty="0" smtClean="0">
                              <a:latin typeface="Cambria Math" panose="02040503050406030204" pitchFamily="18" charset="0"/>
                            </a:rPr>
                            <m:t>|</m:t>
                          </m:r>
                          <m:r>
                            <a:rPr lang="en-US" altLang="zh-CN" b="1" dirty="0">
                              <a:latin typeface="Cambria Math" panose="02040503050406030204" pitchFamily="18" charset="0"/>
                            </a:rPr>
                            <m:t>𝛌</m:t>
                          </m:r>
                        </m:e>
                      </m:d>
                      <m:r>
                        <a:rPr lang="en-US" altLang="zh-CN" b="0" i="1" smtClean="0">
                          <a:latin typeface="Cambria Math" panose="02040503050406030204" pitchFamily="18" charset="0"/>
                          <a:ea typeface="Cambria Math" panose="02040503050406030204" pitchFamily="18" charset="0"/>
                        </a:rPr>
                        <m:t>=</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m:oMathPara>
                </a14:m>
                <a:endParaRPr lang="en-US" altLang="zh-CN" b="1" dirty="0"/>
              </a:p>
              <a:p>
                <a:endParaRPr lang="en-US" altLang="zh-CN" sz="1000" b="1" dirty="0"/>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𝑙𝑎𝑦𝑒𝑟</m:t>
                              </m:r>
                            </m:sup>
                          </m:sSubSup>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e>
                      </m:d>
                      <m:r>
                        <a:rPr lang="en-US" altLang="zh-CN"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0" i="1" dirty="0" smtClean="0">
                              <a:latin typeface="Cambria Math" panose="02040503050406030204" pitchFamily="18" charset="0"/>
                            </a:rPr>
                            <m:t>𝑖</m:t>
                          </m:r>
                        </m:sub>
                      </m:sSub>
                    </m:oMath>
                  </m:oMathPara>
                </a14:m>
                <a:endParaRPr lang="zh-CN" altLang="en-US" dirty="0"/>
              </a:p>
            </p:txBody>
          </p:sp>
        </mc:Choice>
        <mc:Fallback xmlns="">
          <p:sp>
            <p:nvSpPr>
              <p:cNvPr id="9" name="文本框 8">
                <a:extLst>
                  <a:ext uri="{FF2B5EF4-FFF2-40B4-BE49-F238E27FC236}">
                    <a16:creationId xmlns:a16="http://schemas.microsoft.com/office/drawing/2014/main" id="{10832795-5CDB-B9C5-587C-227743207679}"/>
                  </a:ext>
                </a:extLst>
              </p:cNvPr>
              <p:cNvSpPr txBox="1">
                <a:spLocks noRot="1" noChangeAspect="1" noMove="1" noResize="1" noEditPoints="1" noAdjustHandles="1" noChangeArrowheads="1" noChangeShapeType="1" noTextEdit="1"/>
              </p:cNvSpPr>
              <p:nvPr/>
            </p:nvSpPr>
            <p:spPr>
              <a:xfrm>
                <a:off x="5715536" y="1320738"/>
                <a:ext cx="6476464" cy="1071191"/>
              </a:xfrm>
              <a:prstGeom prst="rect">
                <a:avLst/>
              </a:prstGeom>
              <a:blipFill>
                <a:blip r:embed="rId3"/>
                <a:stretch>
                  <a:fillRect b="-2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E54F779-A29F-E8E9-DDBE-1B2AC5BE0033}"/>
                  </a:ext>
                </a:extLst>
              </p:cNvPr>
              <p:cNvSpPr txBox="1"/>
              <p:nvPr/>
            </p:nvSpPr>
            <p:spPr>
              <a:xfrm>
                <a:off x="144346" y="2182532"/>
                <a:ext cx="5951654" cy="4022704"/>
              </a:xfrm>
              <a:prstGeom prst="rect">
                <a:avLst/>
              </a:prstGeom>
              <a:noFill/>
            </p:spPr>
            <p:txBody>
              <a:bodyPr wrap="square">
                <a:spAutoFit/>
              </a:bodyPr>
              <a:lstStyle/>
              <a:p>
                <a:r>
                  <a:rPr lang="zh-CN" altLang="en-US" sz="1600" dirty="0">
                    <a:latin typeface="Cambria Math" panose="02040503050406030204" pitchFamily="18" charset="0"/>
                  </a:rPr>
                  <a:t>         为了满足内层估计的无偏，需要样本的概率密度能够覆盖被积函数，我们可以把被积函数展开：</a:t>
                </a:r>
                <a:endParaRPr lang="en-US" altLang="zh-CN" sz="1600" dirty="0">
                  <a:latin typeface="Cambria Math" panose="02040503050406030204" pitchFamily="18" charset="0"/>
                </a:endParaRPr>
              </a:p>
              <a:p>
                <a:pPr/>
                <a14:m>
                  <m:oMathPara xmlns:m="http://schemas.openxmlformats.org/officeDocument/2006/math">
                    <m:o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nary>
                        <m:naryPr>
                          <m:chr m:val="∑"/>
                          <m:ctrlPr>
                            <a:rPr lang="en-US" altLang="zh-CN" sz="1600" i="1" dirty="0">
                              <a:latin typeface="Cambria Math" panose="02040503050406030204" pitchFamily="18" charset="0"/>
                            </a:rPr>
                          </m:ctrlPr>
                        </m:naryPr>
                        <m:sub>
                          <m:r>
                            <m:rPr>
                              <m:brk m:alnAt="23"/>
                            </m:rPr>
                            <a:rPr lang="en-US" altLang="zh-CN" sz="1600" i="1" dirty="0">
                              <a:latin typeface="Cambria Math" panose="02040503050406030204" pitchFamily="18" charset="0"/>
                            </a:rPr>
                            <m:t>𝑗</m:t>
                          </m:r>
                          <m:r>
                            <m:rPr>
                              <m:brk m:alnAt="23"/>
                            </m:rPr>
                            <a:rPr lang="en-US" altLang="zh-CN" sz="1600" i="1" dirty="0">
                              <a:latin typeface="Cambria Math" panose="02040503050406030204" pitchFamily="18" charset="0"/>
                            </a:rPr>
                            <m:t>=</m:t>
                          </m:r>
                          <m:r>
                            <m:rPr>
                              <m:brk m:alnAt="23"/>
                            </m:rPr>
                            <a:rPr lang="en-US" altLang="zh-CN" sz="1600" i="1" dirty="0">
                              <a:latin typeface="Cambria Math" panose="02040503050406030204" pitchFamily="18" charset="0"/>
                            </a:rPr>
                            <m:t>1</m:t>
                          </m:r>
                        </m:sub>
                        <m:sup>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sup>
                        <m:e>
                          <m:f>
                            <m:fPr>
                              <m:ctrlPr>
                                <a:rPr lang="en-US" altLang="zh-CN" sz="1600" i="1">
                                  <a:latin typeface="Cambria Math" panose="02040503050406030204" pitchFamily="18" charset="0"/>
                                </a:rPr>
                              </m:ctrlPr>
                            </m:fPr>
                            <m:num>
                              <m:sSubSup>
                                <m:sSubSupPr>
                                  <m:ctrlPr>
                                    <a:rPr lang="en-US" altLang="zh-CN" sz="1600">
                                      <a:latin typeface="Cambria Math" panose="02040503050406030204" pitchFamily="18" charset="0"/>
                                    </a:rPr>
                                  </m:ctrlPr>
                                </m:sSubSupPr>
                                <m:e>
                                  <m:r>
                                    <m:rPr>
                                      <m:sty m:val="p"/>
                                    </m:rPr>
                                    <a:rPr lang="en-US" altLang="zh-CN" sz="1600">
                                      <a:latin typeface="Cambria Math" panose="02040503050406030204" pitchFamily="18" charset="0"/>
                                    </a:rPr>
                                    <m:t>Φ</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𝑝𝑟𝑒</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r>
                                <a:rPr lang="en-US" altLang="zh-CN" sz="1600" i="1">
                                  <a:latin typeface="Cambria Math" panose="02040503050406030204" pitchFamily="18" charset="0"/>
                                </a:rPr>
                                <m:t> </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𝐷</m:t>
                                  </m:r>
                                </m:e>
                                <m:sub>
                                  <m:r>
                                    <a:rPr lang="en-US" altLang="zh-CN" sz="1600" i="1" dirty="0">
                                      <a:solidFill>
                                        <a:schemeClr val="accent6">
                                          <a:lumMod val="50000"/>
                                        </a:schemeClr>
                                      </a:solidFill>
                                      <a:latin typeface="Cambria Math" panose="02040503050406030204" pitchFamily="18" charset="0"/>
                                    </a:rPr>
                                    <m:t>𝑖</m:t>
                                  </m:r>
                                </m:sub>
                              </m:sSub>
                              <m:d>
                                <m:dPr>
                                  <m:ctrlPr>
                                    <a:rPr lang="en-US" altLang="zh-CN" sz="1600" i="1" dirty="0">
                                      <a:solidFill>
                                        <a:schemeClr val="accent6">
                                          <a:lumMod val="50000"/>
                                        </a:schemeClr>
                                      </a:solidFill>
                                      <a:latin typeface="Cambria Math" panose="02040503050406030204" pitchFamily="18" charset="0"/>
                                    </a:rPr>
                                  </m:ctrlPr>
                                </m:dPr>
                                <m:e>
                                  <m:sSub>
                                    <m:sSubPr>
                                      <m:ctrlPr>
                                        <a:rPr lang="en-US" altLang="zh-CN" sz="1600" i="1" dirty="0">
                                          <a:solidFill>
                                            <a:schemeClr val="accent6">
                                              <a:lumMod val="50000"/>
                                            </a:schemeClr>
                                          </a:solidFill>
                                          <a:latin typeface="Cambria Math" panose="02040503050406030204" pitchFamily="18" charset="0"/>
                                        </a:rPr>
                                      </m:ctrlPr>
                                    </m:sSubPr>
                                    <m:e>
                                      <m:acc>
                                        <m:accPr>
                                          <m:chr m:val="̅"/>
                                          <m:ctrlPr>
                                            <a:rPr lang="en-US" altLang="zh-CN" sz="1600" i="1" dirty="0">
                                              <a:solidFill>
                                                <a:schemeClr val="accent6">
                                                  <a:lumMod val="50000"/>
                                                </a:schemeClr>
                                              </a:solidFill>
                                              <a:latin typeface="Cambria Math" panose="02040503050406030204" pitchFamily="18" charset="0"/>
                                            </a:rPr>
                                          </m:ctrlPr>
                                        </m:accPr>
                                        <m:e>
                                          <m:r>
                                            <a:rPr lang="en-US" altLang="zh-CN" sz="1600" i="1" dirty="0">
                                              <a:solidFill>
                                                <a:schemeClr val="accent6">
                                                  <a:lumMod val="50000"/>
                                                </a:schemeClr>
                                              </a:solidFill>
                                              <a:latin typeface="Cambria Math" panose="02040503050406030204" pitchFamily="18" charset="0"/>
                                            </a:rPr>
                                            <m:t>𝑝</m:t>
                                          </m:r>
                                        </m:e>
                                      </m:acc>
                                    </m:e>
                                    <m:sub>
                                      <m:r>
                                        <a:rPr lang="en-US" altLang="zh-CN" sz="1600" i="1">
                                          <a:solidFill>
                                            <a:schemeClr val="accent6">
                                              <a:lumMod val="50000"/>
                                            </a:schemeClr>
                                          </a:solidFill>
                                          <a:latin typeface="Cambria Math" panose="02040503050406030204" pitchFamily="18" charset="0"/>
                                        </a:rPr>
                                        <m:t>𝑖</m:t>
                                      </m:r>
                                      <m:r>
                                        <a:rPr lang="en-US" altLang="zh-CN" sz="1600" i="1">
                                          <a:solidFill>
                                            <a:schemeClr val="accent6">
                                              <a:lumMod val="50000"/>
                                            </a:schemeClr>
                                          </a:solidFill>
                                          <a:latin typeface="Cambria Math" panose="02040503050406030204" pitchFamily="18" charset="0"/>
                                        </a:rPr>
                                        <m:t>−1</m:t>
                                      </m:r>
                                    </m:sub>
                                  </m:sSub>
                                  <m:r>
                                    <a:rPr lang="en-US" altLang="zh-CN" sz="1600" i="1">
                                      <a:solidFill>
                                        <a:schemeClr val="accent6">
                                          <a:lumMod val="50000"/>
                                        </a:schemeClr>
                                      </a:solidFill>
                                      <a:latin typeface="Cambria Math" panose="02040503050406030204" pitchFamily="18" charset="0"/>
                                    </a:rPr>
                                    <m:t>,</m:t>
                                  </m:r>
                                  <m:sSub>
                                    <m:sSubPr>
                                      <m:ctrlPr>
                                        <a:rPr lang="en-US" altLang="zh-CN" sz="1600" i="1">
                                          <a:solidFill>
                                            <a:schemeClr val="accent6">
                                              <a:lumMod val="50000"/>
                                            </a:schemeClr>
                                          </a:solidFill>
                                          <a:latin typeface="Cambria Math" panose="02040503050406030204" pitchFamily="18" charset="0"/>
                                        </a:rPr>
                                      </m:ctrlPr>
                                    </m:sSubPr>
                                    <m:e>
                                      <m:r>
                                        <a:rPr lang="en-US" altLang="zh-CN" sz="1600" i="1">
                                          <a:solidFill>
                                            <a:schemeClr val="accent6">
                                              <a:lumMod val="50000"/>
                                            </a:schemeClr>
                                          </a:solidFill>
                                          <a:latin typeface="Cambria Math" panose="02040503050406030204" pitchFamily="18" charset="0"/>
                                        </a:rPr>
                                        <m:t>𝜆</m:t>
                                      </m:r>
                                    </m:e>
                                    <m:sub>
                                      <m:r>
                                        <a:rPr lang="en-US" altLang="zh-CN" sz="1600" i="1">
                                          <a:solidFill>
                                            <a:schemeClr val="accent6">
                                              <a:lumMod val="50000"/>
                                            </a:schemeClr>
                                          </a:solidFill>
                                          <a:latin typeface="Cambria Math" panose="02040503050406030204" pitchFamily="18" charset="0"/>
                                        </a:rPr>
                                        <m:t>𝑗</m:t>
                                      </m:r>
                                    </m:sub>
                                  </m:sSub>
                                </m:e>
                              </m:d>
                              <m:r>
                                <a:rPr lang="en-US" altLang="zh-CN" sz="1600" b="1" i="1">
                                  <a:solidFill>
                                    <a:schemeClr val="accent6">
                                      <a:lumMod val="50000"/>
                                    </a:schemeClr>
                                  </a:solidFill>
                                  <a:latin typeface="Cambria Math" panose="02040503050406030204" pitchFamily="18" charset="0"/>
                                </a:rPr>
                                <m:t> </m:t>
                              </m:r>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𝑗</m:t>
                                      </m:r>
                                    </m:sub>
                                  </m:sSub>
                                </m:e>
                              </m:d>
                            </m:den>
                          </m:f>
                        </m:e>
                      </m:nary>
                    </m:oMath>
                    <m:oMath>
                      <m:r>
                        <a:rPr lang="en-US" altLang="zh-CN" sz="1600" b="1" i="1" dirty="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nary>
                        <m:naryPr>
                          <m:chr m:val="∑"/>
                          <m:ctrlPr>
                            <a:rPr lang="en-US" altLang="zh-CN" sz="1600" i="1" dirty="0">
                              <a:latin typeface="Cambria Math" panose="02040503050406030204" pitchFamily="18" charset="0"/>
                            </a:rPr>
                          </m:ctrlPr>
                        </m:naryPr>
                        <m:sub>
                          <m:r>
                            <m:rPr>
                              <m:brk m:alnAt="23"/>
                            </m:rPr>
                            <a:rPr lang="en-US" altLang="zh-CN" sz="1600" i="1" dirty="0">
                              <a:latin typeface="Cambria Math" panose="02040503050406030204" pitchFamily="18" charset="0"/>
                            </a:rPr>
                            <m:t>𝑗</m:t>
                          </m:r>
                          <m:r>
                            <m:rPr>
                              <m:brk m:alnAt="23"/>
                            </m:rPr>
                            <a:rPr lang="en-US" altLang="zh-CN" sz="1600" i="1" dirty="0">
                              <a:latin typeface="Cambria Math" panose="02040503050406030204" pitchFamily="18" charset="0"/>
                            </a:rPr>
                            <m:t>=</m:t>
                          </m:r>
                          <m:r>
                            <m:rPr>
                              <m:brk m:alnAt="23"/>
                            </m:rPr>
                            <a:rPr lang="en-US" altLang="zh-CN" sz="1600" i="1" dirty="0">
                              <a:latin typeface="Cambria Math" panose="02040503050406030204" pitchFamily="18" charset="0"/>
                            </a:rPr>
                            <m:t>1</m:t>
                          </m:r>
                        </m:sub>
                        <m:sup>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sup>
                        <m:e>
                          <m:f>
                            <m:fPr>
                              <m:ctrlPr>
                                <a:rPr lang="en-US" altLang="zh-CN" sz="1600" i="1">
                                  <a:latin typeface="Cambria Math" panose="02040503050406030204" pitchFamily="18" charset="0"/>
                                </a:rPr>
                              </m:ctrlPr>
                            </m:fPr>
                            <m:num>
                              <m:sSubSup>
                                <m:sSubSupPr>
                                  <m:ctrlPr>
                                    <a:rPr lang="en-US" altLang="zh-CN" sz="1600">
                                      <a:latin typeface="Cambria Math" panose="02040503050406030204" pitchFamily="18" charset="0"/>
                                    </a:rPr>
                                  </m:ctrlPr>
                                </m:sSubSupPr>
                                <m:e>
                                  <m:r>
                                    <m:rPr>
                                      <m:sty m:val="p"/>
                                    </m:rPr>
                                    <a:rPr lang="en-US" altLang="zh-CN" sz="1600">
                                      <a:latin typeface="Cambria Math" panose="02040503050406030204" pitchFamily="18" charset="0"/>
                                    </a:rPr>
                                    <m:t>Φ</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𝑝𝑟𝑒</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nary>
                                <m:naryPr>
                                  <m:supHide m:val="on"/>
                                  <m:ctrlPr>
                                    <a:rPr lang="en-US" altLang="zh-CN" sz="1600" i="1" dirty="0">
                                      <a:solidFill>
                                        <a:schemeClr val="accent6">
                                          <a:lumMod val="50000"/>
                                        </a:schemeClr>
                                      </a:solidFill>
                                      <a:latin typeface="Cambria Math" panose="02040503050406030204" pitchFamily="18" charset="0"/>
                                    </a:rPr>
                                  </m:ctrlPr>
                                </m:naryPr>
                                <m:sub>
                                  <m:sSub>
                                    <m:sSubPr>
                                      <m:ctrlPr>
                                        <a:rPr lang="en-US" altLang="zh-CN" sz="1600" dirty="0">
                                          <a:solidFill>
                                            <a:schemeClr val="accent6">
                                              <a:lumMod val="50000"/>
                                            </a:schemeClr>
                                          </a:solidFill>
                                          <a:latin typeface="Cambria Math" panose="02040503050406030204" pitchFamily="18" charset="0"/>
                                        </a:rPr>
                                      </m:ctrlPr>
                                    </m:sSubPr>
                                    <m:e>
                                      <m:r>
                                        <m:rPr>
                                          <m:sty m:val="p"/>
                                        </m:rPr>
                                        <a:rPr lang="en-US" altLang="zh-CN" sz="1600" dirty="0">
                                          <a:solidFill>
                                            <a:schemeClr val="accent6">
                                              <a:lumMod val="50000"/>
                                            </a:schemeClr>
                                          </a:solidFill>
                                          <a:latin typeface="Cambria Math" panose="02040503050406030204" pitchFamily="18" charset="0"/>
                                        </a:rPr>
                                        <m:t>Ω</m:t>
                                      </m:r>
                                    </m:e>
                                    <m:sub>
                                      <m:r>
                                        <a:rPr lang="en-US" altLang="zh-CN" sz="1600" i="1" dirty="0">
                                          <a:solidFill>
                                            <a:schemeClr val="accent6">
                                              <a:lumMod val="50000"/>
                                            </a:schemeClr>
                                          </a:solidFill>
                                          <a:latin typeface="Cambria Math" panose="02040503050406030204" pitchFamily="18" charset="0"/>
                                        </a:rPr>
                                        <m:t>𝐸</m:t>
                                      </m:r>
                                    </m:sub>
                                  </m:sSub>
                                </m:sub>
                                <m:sup/>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𝐹</m:t>
                                      </m:r>
                                    </m:e>
                                    <m:sub>
                                      <m:r>
                                        <a:rPr lang="en-US" altLang="zh-CN" sz="1600" i="1" dirty="0">
                                          <a:solidFill>
                                            <a:schemeClr val="accent6">
                                              <a:lumMod val="50000"/>
                                            </a:schemeClr>
                                          </a:solidFill>
                                          <a:latin typeface="Cambria Math" panose="02040503050406030204" pitchFamily="18" charset="0"/>
                                        </a:rPr>
                                        <m:t>𝑖</m:t>
                                      </m:r>
                                    </m:sub>
                                  </m:sSub>
                                  <m:d>
                                    <m:dPr>
                                      <m:ctrlPr>
                                        <a:rPr lang="en-US" altLang="zh-CN" sz="1600" i="1" dirty="0">
                                          <a:solidFill>
                                            <a:schemeClr val="accent6">
                                              <a:lumMod val="50000"/>
                                            </a:schemeClr>
                                          </a:solidFill>
                                          <a:latin typeface="Cambria Math" panose="02040503050406030204" pitchFamily="18" charset="0"/>
                                        </a:rPr>
                                      </m:ctrlPr>
                                    </m:dPr>
                                    <m:e>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𝜔</m:t>
                                          </m:r>
                                        </m:e>
                                        <m:sub>
                                          <m:r>
                                            <a:rPr lang="en-US" altLang="zh-CN" sz="1600" i="1" dirty="0">
                                              <a:solidFill>
                                                <a:schemeClr val="accent6">
                                                  <a:lumMod val="50000"/>
                                                </a:schemeClr>
                                              </a:solidFill>
                                              <a:latin typeface="Cambria Math" panose="02040503050406030204" pitchFamily="18" charset="0"/>
                                            </a:rPr>
                                            <m:t>𝑖</m:t>
                                          </m:r>
                                        </m:sub>
                                      </m:sSub>
                                      <m:r>
                                        <a:rPr lang="en-US" altLang="zh-CN" sz="1600" i="1" dirty="0">
                                          <a:solidFill>
                                            <a:schemeClr val="accent6">
                                              <a:lumMod val="50000"/>
                                            </a:schemeClr>
                                          </a:solidFill>
                                          <a:latin typeface="Cambria Math" panose="02040503050406030204" pitchFamily="18" charset="0"/>
                                        </a:rPr>
                                        <m:t>;</m:t>
                                      </m:r>
                                      <m:sSub>
                                        <m:sSubPr>
                                          <m:ctrlPr>
                                            <a:rPr lang="en-US" altLang="zh-CN" sz="1600" i="1" dirty="0">
                                              <a:solidFill>
                                                <a:schemeClr val="accent6">
                                                  <a:lumMod val="50000"/>
                                                </a:schemeClr>
                                              </a:solidFill>
                                              <a:latin typeface="Cambria Math" panose="02040503050406030204" pitchFamily="18" charset="0"/>
                                            </a:rPr>
                                          </m:ctrlPr>
                                        </m:sSubPr>
                                        <m:e>
                                          <m:acc>
                                            <m:accPr>
                                              <m:chr m:val="̅"/>
                                              <m:ctrlPr>
                                                <a:rPr lang="en-US" altLang="zh-CN" sz="1600" i="1" dirty="0">
                                                  <a:solidFill>
                                                    <a:schemeClr val="accent6">
                                                      <a:lumMod val="50000"/>
                                                    </a:schemeClr>
                                                  </a:solidFill>
                                                  <a:latin typeface="Cambria Math" panose="02040503050406030204" pitchFamily="18" charset="0"/>
                                                </a:rPr>
                                              </m:ctrlPr>
                                            </m:accPr>
                                            <m:e>
                                              <m:r>
                                                <a:rPr lang="en-US" altLang="zh-CN" sz="1600" i="1" dirty="0">
                                                  <a:solidFill>
                                                    <a:schemeClr val="accent6">
                                                      <a:lumMod val="50000"/>
                                                    </a:schemeClr>
                                                  </a:solidFill>
                                                  <a:latin typeface="Cambria Math" panose="02040503050406030204" pitchFamily="18" charset="0"/>
                                                </a:rPr>
                                                <m:t>𝑝</m:t>
                                              </m:r>
                                            </m:e>
                                          </m:acc>
                                        </m:e>
                                        <m:sub>
                                          <m:r>
                                            <a:rPr lang="en-US" altLang="zh-CN" sz="1600" i="1" dirty="0">
                                              <a:solidFill>
                                                <a:schemeClr val="accent6">
                                                  <a:lumMod val="50000"/>
                                                </a:schemeClr>
                                              </a:solidFill>
                                              <a:latin typeface="Cambria Math" panose="02040503050406030204" pitchFamily="18" charset="0"/>
                                            </a:rPr>
                                            <m:t>𝑖</m:t>
                                          </m:r>
                                          <m:r>
                                            <a:rPr lang="en-US" altLang="zh-CN" sz="1600" i="1" dirty="0">
                                              <a:solidFill>
                                                <a:schemeClr val="accent6">
                                                  <a:lumMod val="50000"/>
                                                </a:schemeClr>
                                              </a:solidFill>
                                              <a:latin typeface="Cambria Math" panose="02040503050406030204" pitchFamily="18" charset="0"/>
                                            </a:rPr>
                                            <m:t>−1</m:t>
                                          </m:r>
                                        </m:sub>
                                      </m:sSub>
                                      <m:r>
                                        <a:rPr lang="en-US" altLang="zh-CN" sz="1600" i="1">
                                          <a:solidFill>
                                            <a:schemeClr val="accent6">
                                              <a:lumMod val="50000"/>
                                            </a:schemeClr>
                                          </a:solidFill>
                                          <a:latin typeface="Cambria Math" panose="02040503050406030204" pitchFamily="18" charset="0"/>
                                        </a:rPr>
                                        <m:t>,</m:t>
                                      </m:r>
                                      <m:r>
                                        <a:rPr lang="en-US" altLang="zh-CN" sz="1600" i="1">
                                          <a:solidFill>
                                            <a:schemeClr val="accent6">
                                              <a:lumMod val="50000"/>
                                            </a:schemeClr>
                                          </a:solidFill>
                                          <a:latin typeface="Cambria Math" panose="02040503050406030204" pitchFamily="18" charset="0"/>
                                        </a:rPr>
                                        <m:t>𝜆</m:t>
                                      </m:r>
                                    </m:e>
                                  </m:d>
                                  <m:r>
                                    <a:rPr lang="en-US" altLang="zh-CN" sz="1600" i="1" dirty="0">
                                      <a:solidFill>
                                        <a:schemeClr val="accent6">
                                          <a:lumMod val="50000"/>
                                        </a:schemeClr>
                                      </a:solidFill>
                                      <a:latin typeface="Cambria Math" panose="02040503050406030204" pitchFamily="18" charset="0"/>
                                    </a:rPr>
                                    <m:t>𝑑</m:t>
                                  </m:r>
                                  <m:sSub>
                                    <m:sSubPr>
                                      <m:ctrlPr>
                                        <a:rPr lang="en-US" altLang="zh-CN" sz="1600" i="1" dirty="0">
                                          <a:solidFill>
                                            <a:schemeClr val="accent6">
                                              <a:lumMod val="50000"/>
                                            </a:schemeClr>
                                          </a:solidFill>
                                          <a:latin typeface="Cambria Math" panose="02040503050406030204" pitchFamily="18" charset="0"/>
                                        </a:rPr>
                                      </m:ctrlPr>
                                    </m:sSubPr>
                                    <m:e>
                                      <m:r>
                                        <a:rPr lang="en-US" altLang="zh-CN" sz="1600" i="1" dirty="0">
                                          <a:solidFill>
                                            <a:schemeClr val="accent6">
                                              <a:lumMod val="50000"/>
                                            </a:schemeClr>
                                          </a:solidFill>
                                          <a:latin typeface="Cambria Math" panose="02040503050406030204" pitchFamily="18" charset="0"/>
                                        </a:rPr>
                                        <m:t>𝜔</m:t>
                                      </m:r>
                                    </m:e>
                                    <m:sub>
                                      <m:r>
                                        <a:rPr lang="en-US" altLang="zh-CN" sz="1600" i="1" dirty="0">
                                          <a:solidFill>
                                            <a:schemeClr val="accent6">
                                              <a:lumMod val="50000"/>
                                            </a:schemeClr>
                                          </a:solidFill>
                                          <a:latin typeface="Cambria Math" panose="02040503050406030204" pitchFamily="18" charset="0"/>
                                        </a:rPr>
                                        <m:t>𝑖</m:t>
                                      </m:r>
                                    </m:sub>
                                  </m:sSub>
                                </m:e>
                              </m:nary>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𝑗</m:t>
                                      </m:r>
                                    </m:sub>
                                  </m:sSub>
                                </m:e>
                              </m:d>
                            </m:den>
                          </m:f>
                        </m:e>
                      </m:nary>
                    </m:oMath>
                    <m:oMath>
                      <m:r>
                        <a:rPr lang="en-US" altLang="zh-CN" sz="1600" b="1" i="1" dirty="0" smtClean="0">
                          <a:solidFill>
                            <a:schemeClr val="tx1"/>
                          </a:solidFill>
                          <a:latin typeface="Cambria Math" panose="02040503050406030204" pitchFamily="18" charset="0"/>
                        </a:rPr>
                        <m:t>=</m:t>
                      </m:r>
                      <m:nary>
                        <m:naryPr>
                          <m:supHide m:val="on"/>
                          <m:ctrlPr>
                            <a:rPr lang="en-US" altLang="zh-CN" sz="1600" i="1" dirty="0">
                              <a:solidFill>
                                <a:schemeClr val="tx1"/>
                              </a:solidFill>
                              <a:latin typeface="Cambria Math" panose="02040503050406030204" pitchFamily="18" charset="0"/>
                            </a:rPr>
                          </m:ctrlPr>
                        </m:naryPr>
                        <m:sub>
                          <m:sSub>
                            <m:sSubPr>
                              <m:ctrlPr>
                                <a:rPr lang="en-US" altLang="zh-CN" sz="1600" dirty="0">
                                  <a:solidFill>
                                    <a:schemeClr val="tx1"/>
                                  </a:solidFill>
                                  <a:latin typeface="Cambria Math" panose="02040503050406030204" pitchFamily="18" charset="0"/>
                                </a:rPr>
                              </m:ctrlPr>
                            </m:sSubPr>
                            <m:e>
                              <m:r>
                                <m:rPr>
                                  <m:sty m:val="p"/>
                                </m:rPr>
                                <a:rPr lang="en-US" altLang="zh-CN" sz="1600" dirty="0">
                                  <a:solidFill>
                                    <a:schemeClr val="tx1"/>
                                  </a:solidFill>
                                  <a:latin typeface="Cambria Math" panose="02040503050406030204" pitchFamily="18" charset="0"/>
                                </a:rPr>
                                <m:t>Ω</m:t>
                              </m:r>
                            </m:e>
                            <m:sub>
                              <m:r>
                                <a:rPr lang="en-US" altLang="zh-CN" sz="1600" i="1" dirty="0">
                                  <a:solidFill>
                                    <a:schemeClr val="tx1"/>
                                  </a:solidFill>
                                  <a:latin typeface="Cambria Math" panose="02040503050406030204" pitchFamily="18" charset="0"/>
                                </a:rPr>
                                <m:t>𝐸</m:t>
                              </m:r>
                            </m:sub>
                          </m:sSub>
                        </m:sub>
                        <m:sup/>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𝑁</m:t>
                                  </m:r>
                                </m:e>
                                <m:sub>
                                  <m:r>
                                    <a:rPr lang="en-US" altLang="zh-CN" sz="1600" i="1" dirty="0">
                                      <a:solidFill>
                                        <a:schemeClr val="tx1"/>
                                      </a:solidFill>
                                      <a:latin typeface="Cambria Math" panose="02040503050406030204" pitchFamily="18" charset="0"/>
                                    </a:rPr>
                                    <m:t>𝜆</m:t>
                                  </m:r>
                                </m:sub>
                              </m:sSub>
                            </m:den>
                          </m:f>
                          <m:nary>
                            <m:naryPr>
                              <m:chr m:val="∑"/>
                              <m:ctrlPr>
                                <a:rPr lang="en-US" altLang="zh-CN" sz="1600" i="1" dirty="0">
                                  <a:solidFill>
                                    <a:schemeClr val="tx1"/>
                                  </a:solidFill>
                                  <a:latin typeface="Cambria Math" panose="02040503050406030204" pitchFamily="18" charset="0"/>
                                </a:rPr>
                              </m:ctrlPr>
                            </m:naryPr>
                            <m:sub>
                              <m:r>
                                <m:rPr>
                                  <m:brk m:alnAt="23"/>
                                </m:rPr>
                                <a:rPr lang="en-US" altLang="zh-CN" sz="1600" i="1" dirty="0">
                                  <a:solidFill>
                                    <a:schemeClr val="tx1"/>
                                  </a:solidFill>
                                  <a:latin typeface="Cambria Math" panose="02040503050406030204" pitchFamily="18" charset="0"/>
                                </a:rPr>
                                <m:t>𝑗</m:t>
                              </m:r>
                              <m:r>
                                <m:rPr>
                                  <m:brk m:alnAt="23"/>
                                </m:rPr>
                                <a:rPr lang="en-US" altLang="zh-CN" sz="1600" i="1" dirty="0">
                                  <a:solidFill>
                                    <a:schemeClr val="tx1"/>
                                  </a:solidFill>
                                  <a:latin typeface="Cambria Math" panose="02040503050406030204" pitchFamily="18" charset="0"/>
                                </a:rPr>
                                <m:t>=</m:t>
                              </m:r>
                              <m:r>
                                <m:rPr>
                                  <m:brk m:alnAt="23"/>
                                </m:rPr>
                                <a:rPr lang="en-US" altLang="zh-CN" sz="1600" i="1" dirty="0">
                                  <a:solidFill>
                                    <a:schemeClr val="tx1"/>
                                  </a:solidFill>
                                  <a:latin typeface="Cambria Math" panose="02040503050406030204" pitchFamily="18" charset="0"/>
                                </a:rPr>
                                <m:t>1</m:t>
                              </m:r>
                            </m:sub>
                            <m:sup>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𝑁</m:t>
                                  </m:r>
                                </m:e>
                                <m:sub>
                                  <m:r>
                                    <a:rPr lang="en-US" altLang="zh-CN" sz="1600" i="1" dirty="0">
                                      <a:solidFill>
                                        <a:schemeClr val="tx1"/>
                                      </a:solidFill>
                                      <a:latin typeface="Cambria Math" panose="02040503050406030204" pitchFamily="18" charset="0"/>
                                    </a:rPr>
                                    <m:t>𝜆</m:t>
                                  </m:r>
                                </m:sub>
                              </m:sSub>
                            </m:sup>
                            <m:e>
                              <m:f>
                                <m:fPr>
                                  <m:ctrlPr>
                                    <a:rPr lang="en-US" altLang="zh-CN" sz="1600" i="1">
                                      <a:solidFill>
                                        <a:schemeClr val="tx1"/>
                                      </a:solidFill>
                                      <a:latin typeface="Cambria Math" panose="02040503050406030204" pitchFamily="18" charset="0"/>
                                    </a:rPr>
                                  </m:ctrlPr>
                                </m:fPr>
                                <m:num>
                                  <m:sSubSup>
                                    <m:sSubSupPr>
                                      <m:ctrlPr>
                                        <a:rPr lang="en-US" altLang="zh-CN" sz="1600">
                                          <a:solidFill>
                                            <a:schemeClr val="tx1"/>
                                          </a:solidFill>
                                          <a:latin typeface="Cambria Math" panose="02040503050406030204" pitchFamily="18" charset="0"/>
                                        </a:rPr>
                                      </m:ctrlPr>
                                    </m:sSubSupPr>
                                    <m:e>
                                      <m:r>
                                        <m:rPr>
                                          <m:sty m:val="p"/>
                                        </m:rPr>
                                        <a:rPr lang="en-US" altLang="zh-CN" sz="1600">
                                          <a:solidFill>
                                            <a:schemeClr val="tx1"/>
                                          </a:solidFill>
                                          <a:latin typeface="Cambria Math" panose="02040503050406030204" pitchFamily="18" charset="0"/>
                                        </a:rPr>
                                        <m:t>Φ</m:t>
                                      </m:r>
                                    </m:e>
                                    <m:sub>
                                      <m:r>
                                        <a:rPr lang="en-US" altLang="zh-CN" sz="1600" i="1">
                                          <a:solidFill>
                                            <a:schemeClr val="tx1"/>
                                          </a:solidFill>
                                          <a:latin typeface="Cambria Math" panose="02040503050406030204" pitchFamily="18" charset="0"/>
                                        </a:rPr>
                                        <m:t>𝑖</m:t>
                                      </m:r>
                                      <m:r>
                                        <a:rPr lang="en-US" altLang="zh-CN" sz="1600" i="1">
                                          <a:solidFill>
                                            <a:schemeClr val="tx1"/>
                                          </a:solidFill>
                                          <a:latin typeface="Cambria Math" panose="02040503050406030204" pitchFamily="18" charset="0"/>
                                        </a:rPr>
                                        <m:t>−1</m:t>
                                      </m:r>
                                    </m:sub>
                                    <m:sup>
                                      <m:r>
                                        <a:rPr lang="en-US" altLang="zh-CN" sz="1600" i="1">
                                          <a:solidFill>
                                            <a:schemeClr val="tx1"/>
                                          </a:solidFill>
                                          <a:latin typeface="Cambria Math" panose="02040503050406030204" pitchFamily="18" charset="0"/>
                                        </a:rPr>
                                        <m:t>𝑝𝑟𝑒</m:t>
                                      </m:r>
                                    </m:sup>
                                  </m:sSubSup>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acc>
                                            <m:accPr>
                                              <m:chr m:val="̅"/>
                                              <m:ctrlPr>
                                                <a:rPr lang="en-US" altLang="zh-CN" sz="1600" i="1">
                                                  <a:solidFill>
                                                    <a:schemeClr val="tx1"/>
                                                  </a:solidFill>
                                                  <a:latin typeface="Cambria Math" panose="02040503050406030204" pitchFamily="18" charset="0"/>
                                                </a:rPr>
                                              </m:ctrlPr>
                                            </m:accPr>
                                            <m:e>
                                              <m:r>
                                                <a:rPr lang="en-US" altLang="zh-CN" sz="1600" i="1">
                                                  <a:solidFill>
                                                    <a:schemeClr val="tx1"/>
                                                  </a:solidFill>
                                                  <a:latin typeface="Cambria Math" panose="02040503050406030204" pitchFamily="18" charset="0"/>
                                                </a:rPr>
                                                <m:t>𝑝</m:t>
                                              </m:r>
                                            </m:e>
                                          </m:acc>
                                        </m:e>
                                        <m:sub>
                                          <m:r>
                                            <a:rPr lang="en-US" altLang="zh-CN" sz="1600" i="1">
                                              <a:solidFill>
                                                <a:schemeClr val="tx1"/>
                                              </a:solidFill>
                                              <a:latin typeface="Cambria Math" panose="02040503050406030204" pitchFamily="18" charset="0"/>
                                            </a:rPr>
                                            <m:t>𝑖</m:t>
                                          </m:r>
                                          <m:r>
                                            <a:rPr lang="en-US" altLang="zh-CN" sz="1600" i="1">
                                              <a:solidFill>
                                                <a:schemeClr val="tx1"/>
                                              </a:solidFill>
                                              <a:latin typeface="Cambria Math" panose="02040503050406030204" pitchFamily="18" charset="0"/>
                                            </a:rPr>
                                            <m:t>−1</m:t>
                                          </m:r>
                                        </m:sub>
                                      </m:sSub>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𝜆</m:t>
                                          </m:r>
                                        </m:e>
                                        <m:sub>
                                          <m:r>
                                            <a:rPr lang="en-US" altLang="zh-CN" sz="1600" i="1">
                                              <a:solidFill>
                                                <a:schemeClr val="tx1"/>
                                              </a:solidFill>
                                              <a:latin typeface="Cambria Math" panose="02040503050406030204" pitchFamily="18" charset="0"/>
                                            </a:rPr>
                                            <m:t>𝑗</m:t>
                                          </m:r>
                                        </m:sub>
                                      </m:sSub>
                                    </m:e>
                                  </m:d>
                                  <m:r>
                                    <a:rPr lang="en-US" altLang="zh-CN" sz="1600" b="0" i="1"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𝐹</m:t>
                                      </m:r>
                                    </m:e>
                                    <m:sub>
                                      <m:r>
                                        <a:rPr lang="en-US" altLang="zh-CN" sz="1600" i="1" dirty="0">
                                          <a:solidFill>
                                            <a:schemeClr val="tx1"/>
                                          </a:solidFill>
                                          <a:latin typeface="Cambria Math" panose="02040503050406030204" pitchFamily="18" charset="0"/>
                                        </a:rPr>
                                        <m:t>𝑖</m:t>
                                      </m:r>
                                    </m:sub>
                                  </m:sSub>
                                  <m:d>
                                    <m:dPr>
                                      <m:ctrlPr>
                                        <a:rPr lang="en-US" altLang="zh-CN" sz="1600" i="1" dirty="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𝑝</m:t>
                                              </m:r>
                                            </m:e>
                                          </m:acc>
                                        </m:e>
                                        <m:sub>
                                          <m:r>
                                            <a:rPr lang="en-US" altLang="zh-CN" sz="1600" i="1" dirty="0">
                                              <a:solidFill>
                                                <a:schemeClr val="tx1"/>
                                              </a:solidFill>
                                              <a:latin typeface="Cambria Math" panose="02040503050406030204" pitchFamily="18" charset="0"/>
                                            </a:rPr>
                                            <m:t>𝑖</m:t>
                                          </m:r>
                                          <m:r>
                                            <a:rPr lang="en-US" altLang="zh-CN" sz="1600" i="1" dirty="0">
                                              <a:solidFill>
                                                <a:schemeClr val="tx1"/>
                                              </a:solidFill>
                                              <a:latin typeface="Cambria Math" panose="02040503050406030204" pitchFamily="18" charset="0"/>
                                            </a:rPr>
                                            <m:t>−1</m:t>
                                          </m:r>
                                        </m:sub>
                                      </m:sSub>
                                      <m:r>
                                        <a:rPr lang="en-US" altLang="zh-CN" sz="1600" i="1">
                                          <a:solidFill>
                                            <a:schemeClr val="tx1"/>
                                          </a:solidFill>
                                          <a:latin typeface="Cambria Math" panose="02040503050406030204" pitchFamily="18" charset="0"/>
                                        </a:rPr>
                                        <m:t>,</m:t>
                                      </m:r>
                                      <m:r>
                                        <a:rPr lang="en-US" altLang="zh-CN" sz="1600" i="1">
                                          <a:solidFill>
                                            <a:schemeClr val="tx1"/>
                                          </a:solidFill>
                                          <a:latin typeface="Cambria Math" panose="02040503050406030204" pitchFamily="18" charset="0"/>
                                        </a:rPr>
                                        <m:t>𝜆</m:t>
                                      </m:r>
                                    </m:e>
                                  </m:d>
                                  <m:r>
                                    <a:rPr lang="en-US" altLang="zh-CN" sz="1600" b="1" i="1" smtClean="0">
                                      <a:solidFill>
                                        <a:schemeClr val="tx1"/>
                                      </a:solidFill>
                                      <a:latin typeface="Cambria Math" panose="02040503050406030204" pitchFamily="18" charset="0"/>
                                    </a:rPr>
                                    <m:t> </m:t>
                                  </m:r>
                                  <m:acc>
                                    <m:accPr>
                                      <m:chr m:val="̅"/>
                                      <m:ctrlPr>
                                        <a:rPr lang="en-US" altLang="zh-CN" sz="1600" b="1" i="1">
                                          <a:solidFill>
                                            <a:schemeClr val="tx1"/>
                                          </a:solidFill>
                                          <a:latin typeface="Cambria Math" panose="02040503050406030204" pitchFamily="18" charset="0"/>
                                        </a:rPr>
                                      </m:ctrlPr>
                                    </m:accPr>
                                    <m:e>
                                      <m:r>
                                        <a:rPr lang="en-US" altLang="zh-CN" sz="1600" b="1" i="1">
                                          <a:solidFill>
                                            <a:schemeClr val="tx1"/>
                                          </a:solidFill>
                                          <a:latin typeface="Cambria Math" panose="02040503050406030204" pitchFamily="18" charset="0"/>
                                        </a:rPr>
                                        <m:t>𝒄</m:t>
                                      </m:r>
                                    </m:e>
                                  </m:acc>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𝜆</m:t>
                                          </m:r>
                                        </m:e>
                                        <m:sub>
                                          <m:r>
                                            <a:rPr lang="en-US" altLang="zh-CN" sz="1600" i="1">
                                              <a:solidFill>
                                                <a:schemeClr val="tx1"/>
                                              </a:solidFill>
                                              <a:latin typeface="Cambria Math" panose="02040503050406030204" pitchFamily="18" charset="0"/>
                                            </a:rPr>
                                            <m:t>𝑗</m:t>
                                          </m:r>
                                        </m:sub>
                                      </m:sSub>
                                    </m:e>
                                  </m:d>
                                </m:num>
                                <m:den>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𝑝</m:t>
                                      </m:r>
                                    </m:e>
                                    <m:sub>
                                      <m:r>
                                        <a:rPr lang="en-US" altLang="zh-CN" sz="1600" i="1" dirty="0">
                                          <a:solidFill>
                                            <a:schemeClr val="tx1"/>
                                          </a:solidFill>
                                          <a:latin typeface="Cambria Math" panose="02040503050406030204" pitchFamily="18" charset="0"/>
                                        </a:rPr>
                                        <m:t>𝜆</m:t>
                                      </m:r>
                                    </m:sub>
                                  </m:sSub>
                                  <m:d>
                                    <m:dPr>
                                      <m:ctrlPr>
                                        <a:rPr lang="en-US" altLang="zh-CN" sz="1600" i="1" dirty="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𝜆</m:t>
                                          </m:r>
                                        </m:e>
                                        <m:sub>
                                          <m:r>
                                            <a:rPr lang="en-US" altLang="zh-CN" sz="1600" i="1" dirty="0">
                                              <a:solidFill>
                                                <a:schemeClr val="tx1"/>
                                              </a:solidFill>
                                              <a:latin typeface="Cambria Math" panose="02040503050406030204" pitchFamily="18" charset="0"/>
                                            </a:rPr>
                                            <m:t>𝑗</m:t>
                                          </m:r>
                                        </m:sub>
                                      </m:sSub>
                                    </m:e>
                                  </m:d>
                                </m:den>
                              </m:f>
                            </m:e>
                          </m:nary>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e>
                      </m:nary>
                    </m:oMath>
                  </m:oMathPara>
                </a14:m>
                <a:endParaRPr lang="en-US" altLang="zh-CN" sz="1600" i="1" dirty="0">
                  <a:solidFill>
                    <a:schemeClr val="tx1"/>
                  </a:solidFill>
                  <a:latin typeface="Cambria Math" panose="02040503050406030204" pitchFamily="18" charset="0"/>
                </a:endParaRPr>
              </a:p>
              <a:p>
                <a:pPr/>
                <a14:m>
                  <m:oMathPara xmlns:m="http://schemas.openxmlformats.org/officeDocument/2006/math">
                    <m:oMath>
                      <m:r>
                        <a:rPr lang="zh-CN" altLang="en-US" sz="1600" i="1" dirty="0">
                          <a:latin typeface="Cambria Math" panose="02040503050406030204" pitchFamily="18" charset="0"/>
                        </a:rPr>
                        <m:t>令：</m:t>
                      </m:r>
                      <m:sSub>
                        <m:sSubPr>
                          <m:ctrlPr>
                            <a:rPr lang="en-US" altLang="zh-CN" sz="1600" b="1" i="1" dirty="0" smtClean="0">
                              <a:latin typeface="Cambria Math" panose="02040503050406030204" pitchFamily="18" charset="0"/>
                            </a:rPr>
                          </m:ctrlPr>
                        </m:sSubPr>
                        <m:e>
                          <m:r>
                            <a:rPr lang="en-US" altLang="zh-CN" sz="1600" b="1" i="1" dirty="0" smtClean="0">
                              <a:latin typeface="Cambria Math" panose="02040503050406030204" pitchFamily="18" charset="0"/>
                            </a:rPr>
                            <m:t>𝑲</m:t>
                          </m:r>
                        </m:e>
                        <m:sub>
                          <m:r>
                            <a:rPr lang="en-US" altLang="zh-CN" sz="1600" b="1" i="1" dirty="0" smtClean="0">
                              <a:latin typeface="Cambria Math" panose="02040503050406030204" pitchFamily="18" charset="0"/>
                            </a:rPr>
                            <m:t>𝒊</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acc>
                                <m:accPr>
                                  <m:chr m:val="̅"/>
                                  <m:ctrlPr>
                                    <a:rPr lang="en-US" altLang="zh-CN" sz="1600" b="0" i="1" dirty="0" smtClean="0">
                                      <a:latin typeface="Cambria Math" panose="02040503050406030204" pitchFamily="18" charset="0"/>
                                    </a:rPr>
                                  </m:ctrlPr>
                                </m:accPr>
                                <m:e>
                                  <m:r>
                                    <a:rPr lang="en-US" altLang="zh-CN" sz="1600" b="0" i="1" dirty="0" smtClean="0">
                                      <a:latin typeface="Cambria Math" panose="02040503050406030204" pitchFamily="18" charset="0"/>
                                    </a:rPr>
                                    <m:t>𝑝</m:t>
                                  </m:r>
                                </m:e>
                              </m:acc>
                            </m:e>
                            <m:sub>
                              <m:r>
                                <a:rPr lang="en-US" altLang="zh-CN" sz="1600" b="0" i="1" dirty="0" smtClean="0">
                                  <a:latin typeface="Cambria Math" panose="02040503050406030204" pitchFamily="18" charset="0"/>
                                </a:rPr>
                                <m:t>𝑖</m:t>
                              </m:r>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r>
                            <a:rPr lang="en-US" altLang="zh-CN" sz="1600" b="1" i="0" dirty="0" smtClean="0">
                              <a:latin typeface="Cambria Math" panose="02040503050406030204" pitchFamily="18" charset="0"/>
                            </a:rPr>
                            <m:t>𝛌</m:t>
                          </m:r>
                        </m:e>
                      </m:d>
                      <m:r>
                        <a:rPr lang="en-US" altLang="zh-CN" sz="1600" b="0" i="1" dirty="0" smtClean="0">
                          <a:latin typeface="Cambria Math" panose="02040503050406030204" pitchFamily="18" charset="0"/>
                        </a:rPr>
                        <m:t>=</m:t>
                      </m:r>
                      <m:f>
                        <m:fPr>
                          <m:ctrlPr>
                            <a:rPr lang="en-US" altLang="zh-CN" sz="1600" i="1" dirty="0">
                              <a:latin typeface="Cambria Math" panose="02040503050406030204" pitchFamily="18" charset="0"/>
                            </a:rPr>
                          </m:ctrlPr>
                        </m:fPr>
                        <m:num>
                          <m:r>
                            <a:rPr lang="en-US" altLang="zh-CN" sz="1600" i="1" dirty="0">
                              <a:latin typeface="Cambria Math" panose="02040503050406030204" pitchFamily="18" charset="0"/>
                            </a:rPr>
                            <m:t>1</m:t>
                          </m:r>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den>
                      </m:f>
                      <m:nary>
                        <m:naryPr>
                          <m:chr m:val="∑"/>
                          <m:ctrlPr>
                            <a:rPr lang="en-US" altLang="zh-CN" sz="1600" i="1" dirty="0">
                              <a:latin typeface="Cambria Math" panose="02040503050406030204" pitchFamily="18" charset="0"/>
                            </a:rPr>
                          </m:ctrlPr>
                        </m:naryPr>
                        <m:sub>
                          <m:r>
                            <m:rPr>
                              <m:brk m:alnAt="23"/>
                            </m:rPr>
                            <a:rPr lang="en-US" altLang="zh-CN" sz="1600" i="1" dirty="0">
                              <a:latin typeface="Cambria Math" panose="02040503050406030204" pitchFamily="18" charset="0"/>
                            </a:rPr>
                            <m:t>𝑗</m:t>
                          </m:r>
                          <m:r>
                            <m:rPr>
                              <m:brk m:alnAt="23"/>
                            </m:rPr>
                            <a:rPr lang="en-US" altLang="zh-CN" sz="1600" i="1" dirty="0">
                              <a:latin typeface="Cambria Math" panose="02040503050406030204" pitchFamily="18" charset="0"/>
                            </a:rPr>
                            <m:t>=</m:t>
                          </m:r>
                          <m:r>
                            <m:rPr>
                              <m:brk m:alnAt="23"/>
                            </m:rPr>
                            <a:rPr lang="en-US" altLang="zh-CN" sz="1600" i="1" dirty="0">
                              <a:latin typeface="Cambria Math" panose="02040503050406030204" pitchFamily="18" charset="0"/>
                            </a:rPr>
                            <m:t>1</m:t>
                          </m:r>
                        </m:sub>
                        <m:sup>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𝑁</m:t>
                              </m:r>
                            </m:e>
                            <m:sub>
                              <m:r>
                                <a:rPr lang="en-US" altLang="zh-CN" sz="1600" i="1" dirty="0">
                                  <a:latin typeface="Cambria Math" panose="02040503050406030204" pitchFamily="18" charset="0"/>
                                </a:rPr>
                                <m:t>𝜆</m:t>
                              </m:r>
                            </m:sub>
                          </m:sSub>
                        </m:sup>
                        <m:e>
                          <m:f>
                            <m:fPr>
                              <m:ctrlPr>
                                <a:rPr lang="en-US" altLang="zh-CN" sz="1600" i="1">
                                  <a:latin typeface="Cambria Math" panose="02040503050406030204" pitchFamily="18" charset="0"/>
                                </a:rPr>
                              </m:ctrlPr>
                            </m:fPr>
                            <m:num>
                              <m:sSubSup>
                                <m:sSubSupPr>
                                  <m:ctrlPr>
                                    <a:rPr lang="en-US" altLang="zh-CN" sz="1600">
                                      <a:latin typeface="Cambria Math" panose="02040503050406030204" pitchFamily="18" charset="0"/>
                                    </a:rPr>
                                  </m:ctrlPr>
                                </m:sSubSupPr>
                                <m:e>
                                  <m:r>
                                    <m:rPr>
                                      <m:sty m:val="p"/>
                                    </m:rPr>
                                    <a:rPr lang="en-US" altLang="zh-CN" sz="1600">
                                      <a:latin typeface="Cambria Math" panose="02040503050406030204" pitchFamily="18" charset="0"/>
                                    </a:rPr>
                                    <m:t>Φ</m:t>
                                  </m:r>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𝑝𝑟𝑒</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𝑝</m:t>
                                          </m:r>
                                        </m:e>
                                      </m:acc>
                                    </m:e>
                                    <m:sub>
                                      <m:r>
                                        <a:rPr lang="en-US" altLang="zh-CN" sz="1600" i="1">
                                          <a:latin typeface="Cambria Math" panose="02040503050406030204" pitchFamily="18" charset="0"/>
                                        </a:rPr>
                                        <m:t>𝑖</m:t>
                                      </m:r>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𝐹</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r>
                                    <a:rPr lang="en-US" altLang="zh-CN" sz="1600" i="1">
                                      <a:latin typeface="Cambria Math" panose="02040503050406030204" pitchFamily="18" charset="0"/>
                                    </a:rPr>
                                    <m:t>,</m:t>
                                  </m:r>
                                  <m:r>
                                    <a:rPr lang="en-US" altLang="zh-CN" sz="1600" i="1">
                                      <a:latin typeface="Cambria Math" panose="02040503050406030204" pitchFamily="18" charset="0"/>
                                    </a:rPr>
                                    <m:t>𝜆</m:t>
                                  </m:r>
                                </m:e>
                              </m:d>
                              <m:acc>
                                <m:accPr>
                                  <m:chr m:val="̅"/>
                                  <m:ctrlPr>
                                    <a:rPr lang="en-US" altLang="zh-CN" sz="1600" b="1" i="1">
                                      <a:latin typeface="Cambria Math" panose="02040503050406030204" pitchFamily="18" charset="0"/>
                                    </a:rPr>
                                  </m:ctrlPr>
                                </m:accPr>
                                <m:e>
                                  <m:r>
                                    <a:rPr lang="en-US" altLang="zh-CN" sz="1600" b="1" i="1">
                                      <a:latin typeface="Cambria Math" panose="02040503050406030204" pitchFamily="18" charset="0"/>
                                    </a:rPr>
                                    <m:t>𝒄</m:t>
                                  </m:r>
                                </m:e>
                              </m:acc>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𝜆</m:t>
                                      </m:r>
                                    </m:e>
                                    <m:sub>
                                      <m:r>
                                        <a:rPr lang="en-US" altLang="zh-CN" sz="1600" i="1">
                                          <a:latin typeface="Cambria Math" panose="02040503050406030204" pitchFamily="18" charset="0"/>
                                        </a:rPr>
                                        <m:t>𝑗</m:t>
                                      </m:r>
                                    </m:sub>
                                  </m:sSub>
                                </m:e>
                              </m:d>
                            </m:num>
                            <m:den>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𝑝</m:t>
                                  </m:r>
                                </m:e>
                                <m:sub>
                                  <m:r>
                                    <a:rPr lang="en-US" altLang="zh-CN" sz="1600" i="1" dirty="0">
                                      <a:latin typeface="Cambria Math" panose="02040503050406030204" pitchFamily="18" charset="0"/>
                                    </a:rPr>
                                    <m:t>𝜆</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𝜆</m:t>
                                      </m:r>
                                    </m:e>
                                    <m:sub>
                                      <m:r>
                                        <a:rPr lang="en-US" altLang="zh-CN" sz="1600" i="1" dirty="0">
                                          <a:latin typeface="Cambria Math" panose="02040503050406030204" pitchFamily="18" charset="0"/>
                                        </a:rPr>
                                        <m:t>𝑗</m:t>
                                      </m:r>
                                    </m:sub>
                                  </m:sSub>
                                </m:e>
                              </m:d>
                            </m:den>
                          </m:f>
                        </m:e>
                      </m:nary>
                    </m:oMath>
                  </m:oMathPara>
                </a14:m>
                <a:endParaRPr lang="en-US" altLang="zh-CN" sz="1600" dirty="0">
                  <a:solidFill>
                    <a:schemeClr val="tx1"/>
                  </a:solidFill>
                  <a:latin typeface="Cambria Math" panose="02040503050406030204" pitchFamily="18" charset="0"/>
                </a:endParaRPr>
              </a:p>
              <a:p>
                <a:r>
                  <a:rPr lang="zh-CN" altLang="en-US" sz="1600" dirty="0">
                    <a:latin typeface="+mn-ea"/>
                  </a:rPr>
                  <a:t>         </a:t>
                </a:r>
                <a:r>
                  <a:rPr lang="zh-CN" altLang="en-US" sz="1600" dirty="0">
                    <a:latin typeface="Cambria Math" panose="02040503050406030204" pitchFamily="18" charset="0"/>
                  </a:rPr>
                  <a:t>对于所有外层权重</a:t>
                </a:r>
                <a14:m>
                  <m:oMath xmlns:m="http://schemas.openxmlformats.org/officeDocument/2006/math">
                    <m:sSubSup>
                      <m:sSubSupPr>
                        <m:ctrlPr>
                          <a:rPr lang="en-US" altLang="zh-CN" sz="1600" i="1" dirty="0">
                            <a:latin typeface="Cambria Math" panose="02040503050406030204" pitchFamily="18" charset="0"/>
                          </a:rPr>
                        </m:ctrlPr>
                      </m:sSubSupPr>
                      <m:e>
                        <m:r>
                          <a:rPr lang="en-US" altLang="zh-CN" sz="1600" i="1" dirty="0">
                            <a:latin typeface="Cambria Math" panose="02040503050406030204" pitchFamily="18" charset="0"/>
                          </a:rPr>
                          <m:t>𝑤</m:t>
                        </m:r>
                      </m:e>
                      <m:sub>
                        <m:r>
                          <a:rPr lang="en-US" altLang="zh-CN" sz="1600" i="1" dirty="0">
                            <a:latin typeface="Cambria Math" panose="02040503050406030204" pitchFamily="18" charset="0"/>
                          </a:rPr>
                          <m:t>𝐻</m:t>
                        </m:r>
                      </m:sub>
                      <m:sup>
                        <m:r>
                          <a:rPr lang="en-US" altLang="zh-CN" sz="1600" b="0" i="1" dirty="0" smtClean="0">
                            <a:latin typeface="Cambria Math" panose="02040503050406030204" pitchFamily="18" charset="0"/>
                          </a:rPr>
                          <m:t>𝑙</m:t>
                        </m:r>
                        <m:r>
                          <a:rPr lang="en-US" altLang="zh-CN" sz="1600" i="1" dirty="0">
                            <a:latin typeface="Cambria Math" panose="02040503050406030204" pitchFamily="18" charset="0"/>
                          </a:rPr>
                          <m:t>𝑎𝑦𝑒𝑟</m:t>
                        </m:r>
                      </m:sup>
                    </m:sSubSup>
                    <m:r>
                      <a:rPr lang="en-US" altLang="zh-CN" sz="1600" b="0" i="1" dirty="0" smtClean="0">
                        <a:latin typeface="Cambria Math" panose="02040503050406030204" pitchFamily="18" charset="0"/>
                      </a:rPr>
                      <m:t>&gt;0</m:t>
                    </m:r>
                  </m:oMath>
                </a14:m>
                <a:r>
                  <a:rPr lang="zh-CN" altLang="en-US" sz="1600" dirty="0">
                    <a:latin typeface="Cambria Math" panose="02040503050406030204" pitchFamily="18" charset="0"/>
                  </a:rPr>
                  <a:t>，</a:t>
                </a:r>
                <a:r>
                  <a:rPr lang="en-US" altLang="zh-CN" sz="1600" dirty="0">
                    <a:latin typeface="Cambria Math" panose="02040503050406030204" pitchFamily="18" charset="0"/>
                  </a:rPr>
                  <a:t>PT MIS</a:t>
                </a:r>
                <a:r>
                  <a:rPr lang="zh-CN" altLang="en-US" sz="1600" dirty="0">
                    <a:latin typeface="Cambria Math" panose="02040503050406030204" pitchFamily="18" charset="0"/>
                  </a:rPr>
                  <a:t>的采样技术要满足：</a:t>
                </a:r>
                <a:endParaRPr lang="en-US" altLang="zh-CN" sz="1600" dirty="0">
                  <a:latin typeface="Cambria Math" panose="02040503050406030204" pitchFamily="18" charset="0"/>
                </a:endParaRPr>
              </a:p>
              <a:p>
                <a:pPr/>
                <a14:m>
                  <m:oMathPara xmlns:m="http://schemas.openxmlformats.org/officeDocument/2006/math">
                    <m:o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𝑲</m:t>
                          </m:r>
                        </m:e>
                        <m:sub>
                          <m:r>
                            <a:rPr lang="en-US" altLang="zh-CN" sz="1600" b="1" i="1" dirty="0" smtClean="0">
                              <a:latin typeface="Cambria Math" panose="02040503050406030204" pitchFamily="18" charset="0"/>
                            </a:rPr>
                            <m:t>𝒊</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𝜔</m:t>
                              </m:r>
                            </m:e>
                            <m:sub>
                              <m:r>
                                <a:rPr lang="en-US" altLang="zh-CN" sz="1600" i="1" dirty="0">
                                  <a:latin typeface="Cambria Math" panose="02040503050406030204" pitchFamily="18" charset="0"/>
                                </a:rPr>
                                <m:t>𝑖</m:t>
                              </m:r>
                            </m:sub>
                          </m:sSub>
                          <m:r>
                            <a:rPr lang="en-US" altLang="zh-CN" sz="1600" i="1" dirty="0">
                              <a:latin typeface="Cambria Math" panose="02040503050406030204" pitchFamily="18" charset="0"/>
                            </a:rPr>
                            <m:t>,</m:t>
                          </m:r>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smtClean="0">
                          <a:latin typeface="Cambria Math" panose="02040503050406030204" pitchFamily="18" charset="0"/>
                        </a:rPr>
                        <m:t>≠</m:t>
                      </m:r>
                      <m:r>
                        <a:rPr lang="en-US" altLang="zh-CN" sz="1600" b="1" i="1" dirty="0" smtClean="0">
                          <a:latin typeface="Cambria Math" panose="02040503050406030204" pitchFamily="18" charset="0"/>
                        </a:rPr>
                        <m:t>𝟎</m:t>
                      </m:r>
                      <m:r>
                        <a:rPr lang="en-US" altLang="zh-CN" sz="1600" b="1" i="1" dirty="0" smtClean="0">
                          <a:latin typeface="Cambria Math" panose="02040503050406030204" pitchFamily="18" charset="0"/>
                        </a:rPr>
                        <m:t>  ⇒  </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i="1" dirty="0">
                              <a:solidFill>
                                <a:srgbClr val="F76409"/>
                              </a:solidFill>
                              <a:latin typeface="Cambria Math" panose="02040503050406030204" pitchFamily="18" charset="0"/>
                            </a:rPr>
                            <m:t>𝐿</m:t>
                          </m:r>
                          <m:r>
                            <a:rPr lang="en-US" altLang="zh-CN" sz="1600" i="1">
                              <a:latin typeface="Cambria Math" panose="02040503050406030204" pitchFamily="18" charset="0"/>
                            </a:rPr>
                            <m:t>,</m:t>
                          </m:r>
                          <m:r>
                            <a:rPr lang="en-US" altLang="zh-CN" sz="1600" b="0" i="1" smtClean="0">
                              <a:latin typeface="Cambria Math" panose="02040503050406030204" pitchFamily="18" charset="0"/>
                            </a:rPr>
                            <m:t>ℎ</m:t>
                          </m:r>
                        </m:sub>
                        <m:sup>
                          <m:r>
                            <a:rPr lang="en-US" altLang="zh-CN" sz="1600" i="1">
                              <a:latin typeface="Cambria Math" panose="02040503050406030204" pitchFamily="18" charset="0"/>
                            </a:rPr>
                            <m:t>𝜔</m:t>
                          </m:r>
                        </m:sup>
                      </m:sSubSup>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𝜔</m:t>
                              </m:r>
                            </m:e>
                            <m:sub>
                              <m:r>
                                <a:rPr lang="en-US" altLang="zh-CN" sz="1600" b="0" i="1" smtClean="0">
                                  <a:latin typeface="Cambria Math" panose="02040503050406030204" pitchFamily="18" charset="0"/>
                                </a:rPr>
                                <m:t>𝑖</m:t>
                              </m:r>
                            </m:sub>
                          </m:sSub>
                          <m:r>
                            <a:rPr lang="en-US" altLang="zh-CN" sz="1600" i="1">
                              <a:latin typeface="Cambria Math" panose="02040503050406030204" pitchFamily="18" charset="0"/>
                            </a:rPr>
                            <m:t>|</m:t>
                          </m:r>
                          <m:r>
                            <a:rPr lang="en-US" altLang="zh-CN" sz="1600" b="1">
                              <a:latin typeface="Cambria Math" panose="02040503050406030204" pitchFamily="18" charset="0"/>
                            </a:rPr>
                            <m:t>𝛌</m:t>
                          </m:r>
                        </m:e>
                      </m:d>
                      <m:r>
                        <a:rPr lang="en-US" altLang="zh-CN" sz="1600" b="1" i="1" smtClean="0">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𝑝</m:t>
                          </m:r>
                        </m:e>
                        <m:sub>
                          <m:r>
                            <a:rPr lang="en-US" altLang="zh-CN" sz="1600" i="1" dirty="0">
                              <a:solidFill>
                                <a:schemeClr val="accent2">
                                  <a:lumMod val="75000"/>
                                </a:schemeClr>
                              </a:solidFill>
                              <a:latin typeface="Cambria Math" panose="02040503050406030204" pitchFamily="18" charset="0"/>
                            </a:rPr>
                            <m:t>𝐵</m:t>
                          </m:r>
                          <m:r>
                            <a:rPr lang="en-US" altLang="zh-CN" sz="1600" i="1">
                              <a:latin typeface="Cambria Math" panose="02040503050406030204" pitchFamily="18" charset="0"/>
                            </a:rPr>
                            <m:t>,</m:t>
                          </m:r>
                          <m:r>
                            <a:rPr lang="en-US" altLang="zh-CN" sz="1600" b="0" i="1" smtClean="0">
                              <a:latin typeface="Cambria Math" panose="02040503050406030204" pitchFamily="18" charset="0"/>
                            </a:rPr>
                            <m:t>ℎ</m:t>
                          </m:r>
                        </m:sub>
                        <m:sup>
                          <m:r>
                            <a:rPr lang="en-US" altLang="zh-CN" sz="1600" i="1">
                              <a:latin typeface="Cambria Math" panose="02040503050406030204" pitchFamily="18" charset="0"/>
                            </a:rPr>
                            <m:t>𝜔</m:t>
                          </m:r>
                        </m:sup>
                      </m:sSubSup>
                      <m:d>
                        <m:dPr>
                          <m:ctrlPr>
                            <a:rPr lang="en-US" altLang="zh-CN" sz="1600" i="1">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𝜔</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m:t>
                          </m:r>
                          <m:r>
                            <a:rPr lang="en-US" altLang="zh-CN" sz="1600" b="1">
                              <a:latin typeface="Cambria Math" panose="02040503050406030204" pitchFamily="18" charset="0"/>
                            </a:rPr>
                            <m:t>𝛌</m:t>
                          </m:r>
                        </m:e>
                      </m:d>
                      <m:r>
                        <a:rPr lang="en-US" altLang="zh-CN" sz="1600" b="0" i="1" smtClean="0">
                          <a:latin typeface="Cambria Math" panose="02040503050406030204" pitchFamily="18" charset="0"/>
                        </a:rPr>
                        <m:t>&gt;0</m:t>
                      </m:r>
                    </m:oMath>
                  </m:oMathPara>
                </a14:m>
                <a:endParaRPr lang="en-US" altLang="zh-CN" sz="1600" dirty="0">
                  <a:solidFill>
                    <a:schemeClr val="tx1"/>
                  </a:solidFill>
                  <a:latin typeface="Cambria Math" panose="02040503050406030204" pitchFamily="18" charset="0"/>
                </a:endParaRPr>
              </a:p>
            </p:txBody>
          </p:sp>
        </mc:Choice>
        <mc:Fallback xmlns="">
          <p:sp>
            <p:nvSpPr>
              <p:cNvPr id="13" name="文本框 12">
                <a:extLst>
                  <a:ext uri="{FF2B5EF4-FFF2-40B4-BE49-F238E27FC236}">
                    <a16:creationId xmlns:a16="http://schemas.microsoft.com/office/drawing/2014/main" id="{5E54F779-A29F-E8E9-DDBE-1B2AC5BE0033}"/>
                  </a:ext>
                </a:extLst>
              </p:cNvPr>
              <p:cNvSpPr txBox="1">
                <a:spLocks noRot="1" noChangeAspect="1" noMove="1" noResize="1" noEditPoints="1" noAdjustHandles="1" noChangeArrowheads="1" noChangeShapeType="1" noTextEdit="1"/>
              </p:cNvSpPr>
              <p:nvPr/>
            </p:nvSpPr>
            <p:spPr>
              <a:xfrm>
                <a:off x="144346" y="2182532"/>
                <a:ext cx="5951654" cy="4022704"/>
              </a:xfrm>
              <a:prstGeom prst="rect">
                <a:avLst/>
              </a:prstGeom>
              <a:blipFill>
                <a:blip r:embed="rId4"/>
                <a:stretch>
                  <a:fillRect l="-615" t="-606" b="-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9FC09C3-42AF-82B2-0A6F-8A78596AF7C4}"/>
                  </a:ext>
                </a:extLst>
              </p:cNvPr>
              <p:cNvSpPr txBox="1"/>
              <p:nvPr/>
            </p:nvSpPr>
            <p:spPr>
              <a:xfrm>
                <a:off x="6394361" y="4578593"/>
                <a:ext cx="5237408" cy="1477328"/>
              </a:xfrm>
              <a:prstGeom prst="rect">
                <a:avLst/>
              </a:prstGeom>
              <a:ln w="19050"/>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altLang="zh-CN" sz="1800" dirty="0">
                    <a:latin typeface="Cambria Math" panose="02040503050406030204" pitchFamily="18" charset="0"/>
                  </a:rPr>
                  <a:t>         </a:t>
                </a:r>
                <a:r>
                  <a:rPr lang="zh-CN" altLang="en-US" sz="1800" dirty="0">
                    <a:latin typeface="Cambria Math" panose="02040503050406030204" pitchFamily="18" charset="0"/>
                  </a:rPr>
                  <a:t>可以看到，分层组合的估计器，对选中的</a:t>
                </a:r>
                <a:r>
                  <a:rPr lang="en-US" altLang="zh-CN" sz="1800" dirty="0">
                    <a:latin typeface="Cambria Math" panose="02040503050406030204" pitchFamily="18" charset="0"/>
                  </a:rPr>
                  <a:t>Hero</a:t>
                </a:r>
                <a:r>
                  <a:rPr lang="zh-CN" altLang="en-US" sz="1800" dirty="0">
                    <a:latin typeface="Cambria Math" panose="02040503050406030204" pitchFamily="18" charset="0"/>
                  </a:rPr>
                  <a:t>对应的采样技术的支持域有着很高的要求。需要其能够采样到所有</a:t>
                </a:r>
                <a14:m>
                  <m:oMath xmlns:m="http://schemas.openxmlformats.org/officeDocument/2006/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𝑲</m:t>
                        </m:r>
                      </m:e>
                      <m:sub>
                        <m:r>
                          <a:rPr lang="en-US" altLang="zh-CN" b="0" i="1" dirty="0">
                            <a:latin typeface="Cambria Math" panose="02040503050406030204" pitchFamily="18" charset="0"/>
                          </a:rPr>
                          <m:t>𝑖</m:t>
                        </m:r>
                      </m:sub>
                    </m:sSub>
                    <m:d>
                      <m:dPr>
                        <m:ctrlPr>
                          <a:rPr lang="en-US" altLang="zh-CN" b="0" i="1" dirty="0">
                            <a:latin typeface="Cambria Math" panose="02040503050406030204" pitchFamily="18" charset="0"/>
                          </a:rPr>
                        </m:ctrlPr>
                      </m:dPr>
                      <m:e>
                        <m:sSub>
                          <m:sSubPr>
                            <m:ctrlPr>
                              <a:rPr lang="en-US" altLang="zh-CN" b="0" i="1" dirty="0">
                                <a:latin typeface="Cambria Math" panose="02040503050406030204" pitchFamily="18" charset="0"/>
                              </a:rPr>
                            </m:ctrlPr>
                          </m:sSubPr>
                          <m:e>
                            <m:r>
                              <a:rPr lang="en-US" altLang="zh-CN" b="0" i="1" dirty="0">
                                <a:latin typeface="Cambria Math" panose="02040503050406030204" pitchFamily="18" charset="0"/>
                              </a:rPr>
                              <m:t>𝜔</m:t>
                            </m:r>
                          </m:e>
                          <m:sub>
                            <m:r>
                              <a:rPr lang="en-US" altLang="zh-CN" b="0" i="1" dirty="0">
                                <a:latin typeface="Cambria Math" panose="02040503050406030204" pitchFamily="18" charset="0"/>
                              </a:rPr>
                              <m:t>𝑖</m:t>
                            </m:r>
                          </m:sub>
                        </m:sSub>
                        <m:r>
                          <a:rPr lang="en-US" altLang="zh-CN" b="0" i="1" dirty="0">
                            <a:latin typeface="Cambria Math" panose="02040503050406030204" pitchFamily="18" charset="0"/>
                          </a:rPr>
                          <m:t>,</m:t>
                        </m:r>
                        <m:sSub>
                          <m:sSubPr>
                            <m:ctrlPr>
                              <a:rPr lang="en-US" altLang="zh-CN" b="0" i="1" dirty="0">
                                <a:latin typeface="Cambria Math" panose="02040503050406030204" pitchFamily="18" charset="0"/>
                              </a:rPr>
                            </m:ctrlPr>
                          </m:sSubPr>
                          <m:e>
                            <m:acc>
                              <m:accPr>
                                <m:chr m:val="̅"/>
                                <m:ctrlPr>
                                  <a:rPr lang="en-US" altLang="zh-CN" b="0" i="1" dirty="0">
                                    <a:latin typeface="Cambria Math" panose="02040503050406030204" pitchFamily="18" charset="0"/>
                                  </a:rPr>
                                </m:ctrlPr>
                              </m:accPr>
                              <m:e>
                                <m:r>
                                  <a:rPr lang="en-US" altLang="zh-CN" b="0" i="1" dirty="0">
                                    <a:latin typeface="Cambria Math" panose="02040503050406030204" pitchFamily="18" charset="0"/>
                                  </a:rPr>
                                  <m:t>𝑝</m:t>
                                </m:r>
                              </m:e>
                            </m:acc>
                          </m:e>
                          <m:sub>
                            <m:r>
                              <a:rPr lang="en-US" altLang="zh-CN" b="0" i="1" dirty="0">
                                <a:latin typeface="Cambria Math" panose="02040503050406030204" pitchFamily="18" charset="0"/>
                              </a:rPr>
                              <m:t>𝑖</m:t>
                            </m:r>
                            <m:r>
                              <a:rPr lang="en-US" altLang="zh-CN" b="0" i="1" dirty="0">
                                <a:latin typeface="Cambria Math" panose="02040503050406030204" pitchFamily="18" charset="0"/>
                              </a:rPr>
                              <m:t>−1</m:t>
                            </m:r>
                          </m:sub>
                        </m:sSub>
                        <m:r>
                          <a:rPr lang="en-US" altLang="zh-CN" b="0" i="1" dirty="0">
                            <a:latin typeface="Cambria Math" panose="02040503050406030204" pitchFamily="18" charset="0"/>
                          </a:rPr>
                          <m:t>,</m:t>
                        </m:r>
                        <m:r>
                          <a:rPr lang="en-US" altLang="zh-CN" b="1" i="0" dirty="0">
                            <a:latin typeface="Cambria Math" panose="02040503050406030204" pitchFamily="18" charset="0"/>
                          </a:rPr>
                          <m:t>𝛌</m:t>
                        </m:r>
                      </m:e>
                    </m:d>
                    <m:r>
                      <a:rPr lang="en-US" altLang="zh-CN" b="0" i="1" dirty="0">
                        <a:latin typeface="Cambria Math" panose="02040503050406030204" pitchFamily="18" charset="0"/>
                      </a:rPr>
                      <m:t>≠</m:t>
                    </m:r>
                    <m:r>
                      <a:rPr lang="en-US" altLang="zh-CN" b="1" i="1" dirty="0">
                        <a:latin typeface="Cambria Math" panose="02040503050406030204" pitchFamily="18" charset="0"/>
                      </a:rPr>
                      <m:t>𝟎</m:t>
                    </m:r>
                  </m:oMath>
                </a14:m>
                <a:r>
                  <a:rPr lang="zh-CN" altLang="en-US" sz="1800" dirty="0">
                    <a:latin typeface="Cambria Math" panose="02040503050406030204" pitchFamily="18" charset="0"/>
                  </a:rPr>
                  <a:t>的方向样本。也就是</a:t>
                </a:r>
                <a:r>
                  <a:rPr lang="en-US" altLang="zh-CN" sz="1800" dirty="0">
                    <a:latin typeface="Cambria Math" panose="02040503050406030204" pitchFamily="18" charset="0"/>
                  </a:rPr>
                  <a:t>Hero</a:t>
                </a:r>
                <a:r>
                  <a:rPr lang="zh-CN" altLang="en-US" sz="1800" dirty="0">
                    <a:latin typeface="Cambria Math" panose="02040503050406030204" pitchFamily="18" charset="0"/>
                  </a:rPr>
                  <a:t>的</a:t>
                </a:r>
                <a:r>
                  <a:rPr lang="en-US" altLang="zh-CN" sz="1800" dirty="0">
                    <a:latin typeface="Cambria Math" panose="02040503050406030204" pitchFamily="18" charset="0"/>
                  </a:rPr>
                  <a:t>Light/BSDF</a:t>
                </a:r>
                <a:r>
                  <a:rPr lang="zh-CN" altLang="en-US" sz="1800" dirty="0">
                    <a:latin typeface="Cambria Math" panose="02040503050406030204" pitchFamily="18" charset="0"/>
                  </a:rPr>
                  <a:t>采样技术需要共同覆盖</a:t>
                </a:r>
                <a:r>
                  <a:rPr lang="en-US" altLang="zh-CN" sz="1800" dirty="0">
                    <a:latin typeface="Cambria Math" panose="02040503050406030204" pitchFamily="18" charset="0"/>
                  </a:rPr>
                  <a:t>Packet</a:t>
                </a:r>
                <a:r>
                  <a:rPr lang="zh-CN" altLang="en-US" sz="1800" dirty="0">
                    <a:latin typeface="Cambria Math" panose="02040503050406030204" pitchFamily="18" charset="0"/>
                  </a:rPr>
                  <a:t>中所有波长可能产生的末端贡献。</a:t>
                </a:r>
                <a:endParaRPr lang="en-US" altLang="zh-CN" sz="1800" dirty="0">
                  <a:latin typeface="Cambria Math" panose="02040503050406030204" pitchFamily="18" charset="0"/>
                </a:endParaRPr>
              </a:p>
            </p:txBody>
          </p:sp>
        </mc:Choice>
        <mc:Fallback xmlns="">
          <p:sp>
            <p:nvSpPr>
              <p:cNvPr id="15" name="文本框 14">
                <a:extLst>
                  <a:ext uri="{FF2B5EF4-FFF2-40B4-BE49-F238E27FC236}">
                    <a16:creationId xmlns:a16="http://schemas.microsoft.com/office/drawing/2014/main" id="{89FC09C3-42AF-82B2-0A6F-8A78596AF7C4}"/>
                  </a:ext>
                </a:extLst>
              </p:cNvPr>
              <p:cNvSpPr txBox="1">
                <a:spLocks noRot="1" noChangeAspect="1" noMove="1" noResize="1" noEditPoints="1" noAdjustHandles="1" noChangeArrowheads="1" noChangeShapeType="1" noTextEdit="1"/>
              </p:cNvSpPr>
              <p:nvPr/>
            </p:nvSpPr>
            <p:spPr>
              <a:xfrm>
                <a:off x="6394361" y="4578593"/>
                <a:ext cx="5237408" cy="1477328"/>
              </a:xfrm>
              <a:prstGeom prst="rect">
                <a:avLst/>
              </a:prstGeom>
              <a:blipFill>
                <a:blip r:embed="rId5"/>
                <a:stretch>
                  <a:fillRect l="-928" t="-2041" r="-696" b="-4898"/>
                </a:stretch>
              </a:blipFill>
              <a:ln w="1905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2E9440C-1C98-89AF-0230-34B2AC5F8E6F}"/>
                  </a:ext>
                </a:extLst>
              </p:cNvPr>
              <p:cNvSpPr txBox="1"/>
              <p:nvPr/>
            </p:nvSpPr>
            <p:spPr>
              <a:xfrm>
                <a:off x="6037238" y="2596782"/>
                <a:ext cx="5951654" cy="1839991"/>
              </a:xfrm>
              <a:prstGeom prst="rect">
                <a:avLst/>
              </a:prstGeom>
              <a:noFill/>
            </p:spPr>
            <p:txBody>
              <a:bodyPr wrap="square">
                <a:spAutoFit/>
              </a:bodyPr>
              <a:lstStyle/>
              <a:p>
                <a:r>
                  <a:rPr lang="en-US" altLang="zh-CN" sz="1600" dirty="0">
                    <a:latin typeface="Cambria Math" panose="02040503050406030204" pitchFamily="18" charset="0"/>
                  </a:rPr>
                  <a:t>         </a:t>
                </a:r>
                <a:r>
                  <a:rPr lang="zh-CN" altLang="en-US" sz="1600" dirty="0">
                    <a:latin typeface="Cambria Math" panose="02040503050406030204" pitchFamily="18" charset="0"/>
                  </a:rPr>
                  <a:t>我们先把外层积分写出来：</a:t>
                </a:r>
                <a:endParaRPr lang="en-US" altLang="zh-CN" sz="1600" dirty="0">
                  <a:latin typeface="Cambria Math" panose="02040503050406030204" pitchFamily="18" charset="0"/>
                </a:endParaRPr>
              </a:p>
              <a:p>
                <a:pPr/>
                <a14:m>
                  <m:oMathPara xmlns:m="http://schemas.openxmlformats.org/officeDocument/2006/math">
                    <m:oMath>
                      <m:sSub>
                        <m:sSubPr>
                          <m:ctrlPr>
                            <a:rPr lang="zh-CN" altLang="en-US" sz="1600" b="1" i="1" dirty="0">
                              <a:latin typeface="Cambria Math" panose="02040503050406030204" pitchFamily="18" charset="0"/>
                            </a:rPr>
                          </m:ctrlPr>
                        </m:sSubPr>
                        <m:e>
                          <m:r>
                            <a:rPr lang="zh-CN" altLang="en-US" sz="1600" b="1" i="1" dirty="0">
                              <a:latin typeface="Cambria Math" panose="02040503050406030204" pitchFamily="18" charset="0"/>
                            </a:rPr>
                            <m:t>𝓙</m:t>
                          </m:r>
                        </m:e>
                        <m:sub>
                          <m:r>
                            <a:rPr lang="en-US" altLang="zh-CN" sz="1600" i="1" dirty="0">
                              <a:latin typeface="Cambria Math" panose="02040503050406030204" pitchFamily="18" charset="0"/>
                            </a:rPr>
                            <m:t>𝑖</m:t>
                          </m:r>
                        </m:sub>
                      </m:sSub>
                      <m:d>
                        <m:dPr>
                          <m:ctrlPr>
                            <a:rPr lang="en-US" altLang="zh-CN" sz="1600" b="1" dirty="0">
                              <a:latin typeface="Cambria Math" panose="02040503050406030204" pitchFamily="18" charset="0"/>
                            </a:rPr>
                          </m:ctrlPr>
                        </m:dPr>
                        <m:e>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m:t>
                      </m:r>
                      <m:nary>
                        <m:naryPr>
                          <m:supHide m:val="on"/>
                          <m:ctrlPr>
                            <a:rPr lang="zh-CN" altLang="en-US" sz="1600" i="1" dirty="0">
                              <a:latin typeface="Cambria Math" panose="02040503050406030204" pitchFamily="18" charset="0"/>
                            </a:rPr>
                          </m:ctrlPr>
                        </m:naryPr>
                        <m:sub>
                          <m:sSub>
                            <m:sSubPr>
                              <m:ctrlPr>
                                <a:rPr lang="zh-CN" altLang="en-US" sz="1600" i="1" dirty="0">
                                  <a:latin typeface="Cambria Math" panose="02040503050406030204" pitchFamily="18" charset="0"/>
                                </a:rPr>
                              </m:ctrlPr>
                            </m:sSubPr>
                            <m:e>
                              <m:r>
                                <a:rPr lang="zh-CN" altLang="en-US" sz="1600" i="1" dirty="0">
                                  <a:latin typeface="Cambria Math" panose="02040503050406030204" pitchFamily="18" charset="0"/>
                                </a:rPr>
                                <m:t>𝒫</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sub>
                        <m:sup/>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a:latin typeface="Cambria Math" panose="02040503050406030204" pitchFamily="18" charset="0"/>
                            </a:rPr>
                            <m:t> </m:t>
                          </m:r>
                          <m:r>
                            <a:rPr lang="en-US" altLang="zh-CN" sz="1600" i="1" dirty="0">
                              <a:latin typeface="Cambria Math" panose="02040503050406030204" pitchFamily="18" charset="0"/>
                            </a:rPr>
                            <m:t>𝑑</m:t>
                          </m:r>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𝜇</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e>
                          </m:d>
                        </m:e>
                      </m:nary>
                    </m:oMath>
                  </m:oMathPara>
                </a14:m>
                <a:endParaRPr lang="en-US" altLang="zh-CN" sz="1600" dirty="0">
                  <a:latin typeface="Cambria Math" panose="02040503050406030204" pitchFamily="18" charset="0"/>
                </a:endParaRPr>
              </a:p>
              <a:p>
                <a:r>
                  <a:rPr lang="zh-CN" altLang="en-US" sz="1600" dirty="0">
                    <a:latin typeface="Cambria Math" panose="02040503050406030204" pitchFamily="18" charset="0"/>
                  </a:rPr>
                  <a:t>         为了满足外层估计的无偏，</a:t>
                </a:r>
                <a:r>
                  <a:rPr lang="en-US" altLang="zh-CN" sz="1600" dirty="0">
                    <a:latin typeface="Cambria Math" panose="02040503050406030204" pitchFamily="18" charset="0"/>
                  </a:rPr>
                  <a:t>Spectral MIS</a:t>
                </a:r>
                <a:r>
                  <a:rPr lang="zh-CN" altLang="en-US" sz="1600" dirty="0">
                    <a:latin typeface="Cambria Math" panose="02040503050406030204" pitchFamily="18" charset="0"/>
                  </a:rPr>
                  <a:t>的采样技术要满足：</a:t>
                </a:r>
                <a:endParaRPr lang="en-US" altLang="zh-CN" sz="1600" dirty="0">
                  <a:latin typeface="Cambria Math" panose="02040503050406030204" pitchFamily="18" charset="0"/>
                </a:endParaRPr>
              </a:p>
              <a:p>
                <a:pPr/>
                <a14:m>
                  <m:oMathPara xmlns:m="http://schemas.openxmlformats.org/officeDocument/2006/math">
                    <m:oMath>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𝑮</m:t>
                          </m:r>
                        </m:e>
                        <m:sub>
                          <m:r>
                            <a:rPr lang="en-US" altLang="zh-CN" sz="1600" i="1" dirty="0">
                              <a:latin typeface="Cambria Math" panose="02040503050406030204" pitchFamily="18" charset="0"/>
                            </a:rPr>
                            <m:t>𝑖</m:t>
                          </m:r>
                        </m:sub>
                      </m:sSub>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r>
                            <a:rPr lang="en-US" altLang="zh-CN" sz="1600" b="1" i="1" dirty="0">
                              <a:latin typeface="Cambria Math" panose="02040503050406030204" pitchFamily="18" charset="0"/>
                            </a:rPr>
                            <m:t>,</m:t>
                          </m:r>
                          <m:r>
                            <a:rPr lang="en-US" altLang="zh-CN" sz="1600" b="1" dirty="0">
                              <a:latin typeface="Cambria Math" panose="02040503050406030204" pitchFamily="18" charset="0"/>
                            </a:rPr>
                            <m:t>𝛌</m:t>
                          </m:r>
                        </m:e>
                      </m:d>
                      <m:r>
                        <a:rPr lang="en-US" altLang="zh-CN" sz="1600" b="1" i="1" dirty="0" smtClean="0">
                          <a:latin typeface="Cambria Math" panose="02040503050406030204" pitchFamily="18" charset="0"/>
                        </a:rPr>
                        <m:t>≠</m:t>
                      </m:r>
                      <m:r>
                        <a:rPr lang="en-US" altLang="zh-CN" sz="1600" b="1" i="1" dirty="0" smtClean="0">
                          <a:latin typeface="Cambria Math" panose="02040503050406030204" pitchFamily="18" charset="0"/>
                        </a:rPr>
                        <m:t>𝟎</m:t>
                      </m:r>
                      <m:r>
                        <a:rPr lang="en-US" altLang="zh-CN" sz="1600" b="1" i="1" dirty="0" smtClean="0">
                          <a:latin typeface="Cambria Math" panose="02040503050406030204" pitchFamily="18" charset="0"/>
                        </a:rPr>
                        <m:t>  ⇒  </m:t>
                      </m:r>
                      <m:nary>
                        <m:naryPr>
                          <m:chr m:val="∑"/>
                          <m:ctrlPr>
                            <a:rPr lang="en-US" altLang="zh-CN" sz="1600" b="0" i="1" dirty="0" smtClean="0">
                              <a:latin typeface="Cambria Math" panose="02040503050406030204" pitchFamily="18" charset="0"/>
                            </a:rPr>
                          </m:ctrlPr>
                        </m:naryPr>
                        <m:sub>
                          <m:r>
                            <m:rPr>
                              <m:brk m:alnAt="23"/>
                            </m:rPr>
                            <a:rPr lang="en-US" altLang="zh-CN" sz="1600" b="0" i="1" dirty="0" smtClean="0">
                              <a:latin typeface="Cambria Math" panose="02040503050406030204" pitchFamily="18" charset="0"/>
                            </a:rPr>
                            <m:t>ℎ</m:t>
                          </m:r>
                          <m:r>
                            <m:rPr>
                              <m:brk m:alnAt="23"/>
                            </m:rPr>
                            <a:rPr lang="en-US" altLang="zh-CN" sz="1600" b="0" i="1" dirty="0" smtClean="0">
                              <a:latin typeface="Cambria Math" panose="02040503050406030204" pitchFamily="18" charset="0"/>
                            </a:rPr>
                            <m:t>=</m:t>
                          </m:r>
                          <m:r>
                            <m:rPr>
                              <m:brk m:alnAt="23"/>
                            </m:rPr>
                            <a:rPr lang="en-US" altLang="zh-CN" sz="1600" b="0" i="1" dirty="0" smtClean="0">
                              <a:latin typeface="Cambria Math" panose="02040503050406030204" pitchFamily="18" charset="0"/>
                            </a:rPr>
                            <m:t>1</m:t>
                          </m:r>
                        </m:sub>
                        <m:sup>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𝑁</m:t>
                              </m:r>
                            </m:e>
                            <m:sub>
                              <m:r>
                                <a:rPr lang="en-US" altLang="zh-CN" sz="1600" b="0" i="1" dirty="0" smtClean="0">
                                  <a:latin typeface="Cambria Math" panose="02040503050406030204" pitchFamily="18" charset="0"/>
                                </a:rPr>
                                <m:t>𝜆</m:t>
                              </m:r>
                            </m:sub>
                          </m:sSub>
                        </m:sup>
                        <m:e>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𝑐</m:t>
                              </m:r>
                            </m:e>
                            <m:sub>
                              <m:r>
                                <a:rPr lang="en-US" altLang="zh-CN" sz="1600" b="0" i="1" dirty="0" smtClean="0">
                                  <a:latin typeface="Cambria Math" panose="02040503050406030204" pitchFamily="18" charset="0"/>
                                </a:rPr>
                                <m:t>ℎ</m:t>
                              </m:r>
                            </m:sub>
                          </m:sSub>
                          <m:sSubSup>
                            <m:sSubSupPr>
                              <m:ctrlPr>
                                <a:rPr lang="en-US" altLang="zh-CN" sz="1600" i="1" dirty="0">
                                  <a:latin typeface="Cambria Math" panose="02040503050406030204" pitchFamily="18" charset="0"/>
                                </a:rPr>
                              </m:ctrlPr>
                            </m:sSubSupPr>
                            <m:e>
                              <m:r>
                                <a:rPr lang="en-US" altLang="zh-CN" sz="1600" i="1" dirty="0">
                                  <a:latin typeface="Cambria Math" panose="02040503050406030204" pitchFamily="18" charset="0"/>
                                </a:rPr>
                                <m:t>𝑞</m:t>
                              </m:r>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r>
                                <a:rPr lang="en-US" altLang="zh-CN" sz="1600" i="1" dirty="0">
                                  <a:latin typeface="Cambria Math" panose="02040503050406030204" pitchFamily="18" charset="0"/>
                                </a:rPr>
                                <m:t>ℎ</m:t>
                              </m:r>
                            </m:sub>
                            <m:sup>
                              <m:r>
                                <a:rPr lang="en-US" altLang="zh-CN" sz="1600" i="1" dirty="0">
                                  <a:latin typeface="Cambria Math" panose="02040503050406030204" pitchFamily="18" charset="0"/>
                                </a:rPr>
                                <m:t>𝑝𝑟𝑒</m:t>
                              </m:r>
                            </m:sup>
                          </m:sSubSup>
                          <m:d>
                            <m:dPr>
                              <m:ctrlPr>
                                <a:rPr lang="en-US" altLang="zh-CN" sz="1600" i="1" dirty="0">
                                  <a:latin typeface="Cambria Math" panose="02040503050406030204" pitchFamily="18" charset="0"/>
                                </a:rPr>
                              </m:ctrlPr>
                            </m:dPr>
                            <m:e>
                              <m:sSub>
                                <m:sSubPr>
                                  <m:ctrlPr>
                                    <a:rPr lang="en-US" altLang="zh-CN" sz="1600" i="1" dirty="0">
                                      <a:latin typeface="Cambria Math" panose="02040503050406030204" pitchFamily="18" charset="0"/>
                                    </a:rPr>
                                  </m:ctrlPr>
                                </m:sSubPr>
                                <m:e>
                                  <m:acc>
                                    <m:accPr>
                                      <m:chr m:val="̅"/>
                                      <m:ctrlPr>
                                        <a:rPr lang="en-US" altLang="zh-CN" sz="1600" i="1" dirty="0">
                                          <a:latin typeface="Cambria Math" panose="02040503050406030204" pitchFamily="18" charset="0"/>
                                        </a:rPr>
                                      </m:ctrlPr>
                                    </m:accPr>
                                    <m:e>
                                      <m:r>
                                        <a:rPr lang="en-US" altLang="zh-CN" sz="1600" i="1" dirty="0">
                                          <a:latin typeface="Cambria Math" panose="02040503050406030204" pitchFamily="18" charset="0"/>
                                        </a:rPr>
                                        <m:t>𝑝</m:t>
                                      </m:r>
                                    </m:e>
                                  </m:acc>
                                </m:e>
                                <m:sub>
                                  <m:r>
                                    <a:rPr lang="en-US" altLang="zh-CN" sz="1600" i="1" dirty="0">
                                      <a:latin typeface="Cambria Math" panose="02040503050406030204" pitchFamily="18" charset="0"/>
                                    </a:rPr>
                                    <m:t>𝑖</m:t>
                                  </m:r>
                                  <m:r>
                                    <a:rPr lang="en-US" altLang="zh-CN" sz="1600" i="1" dirty="0">
                                      <a:latin typeface="Cambria Math" panose="02040503050406030204" pitchFamily="18" charset="0"/>
                                    </a:rPr>
                                    <m:t>−1</m:t>
                                  </m:r>
                                </m:sub>
                              </m:sSub>
                              <m:r>
                                <a:rPr lang="en-US" altLang="zh-CN" sz="1600" i="1" dirty="0">
                                  <a:latin typeface="Cambria Math" panose="02040503050406030204" pitchFamily="18" charset="0"/>
                                </a:rPr>
                                <m:t>|</m:t>
                              </m:r>
                              <m:r>
                                <a:rPr lang="en-US" altLang="zh-CN" sz="1600" b="1" dirty="0">
                                  <a:latin typeface="Cambria Math" panose="02040503050406030204" pitchFamily="18" charset="0"/>
                                </a:rPr>
                                <m:t>𝛌</m:t>
                              </m:r>
                            </m:e>
                          </m:d>
                        </m:e>
                      </m:nary>
                      <m:r>
                        <a:rPr lang="en-US" altLang="zh-CN" sz="1600" b="0" i="1" smtClean="0">
                          <a:latin typeface="Cambria Math" panose="02040503050406030204" pitchFamily="18" charset="0"/>
                        </a:rPr>
                        <m:t>&gt;0</m:t>
                      </m:r>
                    </m:oMath>
                  </m:oMathPara>
                </a14:m>
                <a:endParaRPr lang="en-US" altLang="zh-CN" sz="1600" dirty="0">
                  <a:solidFill>
                    <a:schemeClr val="tx1"/>
                  </a:solidFill>
                  <a:latin typeface="Cambria Math" panose="02040503050406030204" pitchFamily="18" charset="0"/>
                </a:endParaRPr>
              </a:p>
            </p:txBody>
          </p:sp>
        </mc:Choice>
        <mc:Fallback xmlns="">
          <p:sp>
            <p:nvSpPr>
              <p:cNvPr id="12" name="文本框 11">
                <a:extLst>
                  <a:ext uri="{FF2B5EF4-FFF2-40B4-BE49-F238E27FC236}">
                    <a16:creationId xmlns:a16="http://schemas.microsoft.com/office/drawing/2014/main" id="{42E9440C-1C98-89AF-0230-34B2AC5F8E6F}"/>
                  </a:ext>
                </a:extLst>
              </p:cNvPr>
              <p:cNvSpPr txBox="1">
                <a:spLocks noRot="1" noChangeAspect="1" noMove="1" noResize="1" noEditPoints="1" noAdjustHandles="1" noChangeArrowheads="1" noChangeShapeType="1" noTextEdit="1"/>
              </p:cNvSpPr>
              <p:nvPr/>
            </p:nvSpPr>
            <p:spPr>
              <a:xfrm>
                <a:off x="6037238" y="2596782"/>
                <a:ext cx="5951654" cy="1839991"/>
              </a:xfrm>
              <a:prstGeom prst="rect">
                <a:avLst/>
              </a:prstGeom>
              <a:blipFill>
                <a:blip r:embed="rId6"/>
                <a:stretch>
                  <a:fillRect l="-512" t="-1325" r="-614"/>
                </a:stretch>
              </a:blipFill>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9924CE16-7FD1-30A9-AF72-2D4B9BBB72E2}"/>
              </a:ext>
            </a:extLst>
          </p:cNvPr>
          <p:cNvPicPr>
            <a:picLocks noChangeAspect="1"/>
          </p:cNvPicPr>
          <p:nvPr/>
        </p:nvPicPr>
        <p:blipFill>
          <a:blip r:embed="rId7"/>
          <a:stretch>
            <a:fillRect/>
          </a:stretch>
        </p:blipFill>
        <p:spPr>
          <a:xfrm>
            <a:off x="6743854" y="398566"/>
            <a:ext cx="4419827" cy="7366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47330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AB79C-C9C3-3F97-7665-93F7246CE9D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2F15F9B4-41CF-DF27-1FBA-EF442E2EFA9C}"/>
              </a:ext>
            </a:extLst>
          </p:cNvPr>
          <p:cNvSpPr>
            <a:spLocks noGrp="1"/>
          </p:cNvSpPr>
          <p:nvPr>
            <p:ph type="title" idx="1"/>
          </p:nvPr>
        </p:nvSpPr>
        <p:spPr/>
        <p:txBody>
          <a:bodyPr/>
          <a:lstStyle/>
          <a:p>
            <a:r>
              <a:rPr lang="en-US" altLang="zh-CN" dirty="0"/>
              <a:t>MIS </a:t>
            </a:r>
            <a:r>
              <a:rPr lang="zh-CN" altLang="en-US" dirty="0"/>
              <a:t>联合组合</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87C4E209-F042-910E-4EA4-2AC092C69C79}"/>
                  </a:ext>
                </a:extLst>
              </p:cNvPr>
              <p:cNvSpPr txBox="1"/>
              <p:nvPr/>
            </p:nvSpPr>
            <p:spPr>
              <a:xfrm>
                <a:off x="261869" y="1232104"/>
                <a:ext cx="11771291" cy="4795287"/>
              </a:xfrm>
              <a:prstGeom prst="rect">
                <a:avLst/>
              </a:prstGeom>
              <a:noFill/>
            </p:spPr>
            <p:txBody>
              <a:bodyPr wrap="square">
                <a:spAutoFit/>
              </a:bodyPr>
              <a:lstStyle/>
              <a:p>
                <a:r>
                  <a:rPr lang="en-US" altLang="zh-CN" dirty="0">
                    <a:latin typeface="Cambria Math" panose="02040503050406030204" pitchFamily="18" charset="0"/>
                  </a:rPr>
                  <a:t>         </a:t>
                </a:r>
                <a:r>
                  <a:rPr lang="zh-CN" altLang="en-US" b="1" dirty="0">
                    <a:latin typeface="Cambria Math" panose="02040503050406030204" pitchFamily="18" charset="0"/>
                  </a:rPr>
                  <a:t>分层组合</a:t>
                </a:r>
                <a:r>
                  <a:rPr lang="zh-CN" altLang="en-US" dirty="0">
                    <a:latin typeface="Cambria Math" panose="02040503050406030204" pitchFamily="18" charset="0"/>
                  </a:rPr>
                  <a:t>的方式将路径积分拆解为了路径前缀积分和末端连接光源的方向积分。</a:t>
                </a:r>
                <a:endParaRPr lang="en-US" altLang="zh-CN" dirty="0">
                  <a:latin typeface="Cambria Math" panose="02040503050406030204" pitchFamily="18" charset="0"/>
                </a:endParaRPr>
              </a:p>
              <a:p>
                <a:r>
                  <a:rPr lang="en-US" altLang="zh-CN" dirty="0">
                    <a:latin typeface="Cambria Math" panose="02040503050406030204" pitchFamily="18" charset="0"/>
                  </a:rPr>
                  <a:t>         </a:t>
                </a:r>
                <a:r>
                  <a:rPr lang="zh-CN" altLang="en-US" b="1" dirty="0">
                    <a:latin typeface="Cambria Math" panose="02040503050406030204" pitchFamily="18" charset="0"/>
                  </a:rPr>
                  <a:t>联合组合</a:t>
                </a:r>
                <a:r>
                  <a:rPr lang="zh-CN" altLang="en-US" dirty="0">
                    <a:latin typeface="Cambria Math" panose="02040503050406030204" pitchFamily="18" charset="0"/>
                  </a:rPr>
                  <a:t>则以完整路径积分的视角对其进行估计。同时由于允许向光源采样和向</a:t>
                </a:r>
                <a:r>
                  <a:rPr lang="en-US" altLang="zh-CN" dirty="0">
                    <a:latin typeface="Cambria Math" panose="02040503050406030204" pitchFamily="18" charset="0"/>
                  </a:rPr>
                  <a:t>BSDF</a:t>
                </a:r>
                <a:r>
                  <a:rPr lang="zh-CN" altLang="en-US" dirty="0">
                    <a:latin typeface="Cambria Math" panose="02040503050406030204" pitchFamily="18" charset="0"/>
                  </a:rPr>
                  <a:t>采样与波长有关，所以可以看作一共有</a:t>
                </a:r>
                <a14:m>
                  <m:oMath xmlns:m="http://schemas.openxmlformats.org/officeDocument/2006/math">
                    <m:r>
                      <a:rPr lang="en-US" altLang="zh-CN" b="0" i="1" dirty="0" smtClean="0">
                        <a:latin typeface="Cambria Math" panose="02040503050406030204" pitchFamily="18" charset="0"/>
                      </a:rPr>
                      <m:t>2</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𝑁</m:t>
                        </m:r>
                      </m:e>
                      <m:sub>
                        <m:r>
                          <a:rPr lang="en-US" altLang="zh-CN" b="0" i="1" dirty="0" smtClean="0">
                            <a:latin typeface="Cambria Math" panose="02040503050406030204" pitchFamily="18" charset="0"/>
                          </a:rPr>
                          <m:t>𝜆</m:t>
                        </m:r>
                      </m:sub>
                    </m:sSub>
                  </m:oMath>
                </a14:m>
                <a:r>
                  <a:rPr lang="zh-CN" altLang="en-US" dirty="0">
                    <a:latin typeface="Cambria Math" panose="02040503050406030204" pitchFamily="18" charset="0"/>
                  </a:rPr>
                  <a:t>种采样技术，联合组合的方式就是在对这</a:t>
                </a:r>
                <a14:m>
                  <m:oMath xmlns:m="http://schemas.openxmlformats.org/officeDocument/2006/math">
                    <m:r>
                      <a:rPr lang="en-US" altLang="zh-CN" i="1" dirty="0">
                        <a:latin typeface="Cambria Math" panose="02040503050406030204" pitchFamily="18" charset="0"/>
                      </a:rPr>
                      <m:t>2</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oMath>
                </a14:m>
                <a:r>
                  <a:rPr lang="zh-CN" altLang="en-US" dirty="0">
                    <a:latin typeface="Cambria Math" panose="02040503050406030204" pitchFamily="18" charset="0"/>
                  </a:rPr>
                  <a:t>种技术做</a:t>
                </a:r>
                <a:r>
                  <a:rPr lang="en-US" altLang="zh-CN" dirty="0">
                    <a:latin typeface="Cambria Math" panose="02040503050406030204" pitchFamily="18" charset="0"/>
                  </a:rPr>
                  <a:t>MIS</a:t>
                </a:r>
                <a:r>
                  <a:rPr lang="zh-CN" altLang="en-US" dirty="0">
                    <a:latin typeface="Cambria Math" panose="02040503050406030204" pitchFamily="18" charset="0"/>
                  </a:rPr>
                  <a:t>：</a:t>
                </a:r>
                <a:endParaRPr lang="en-US" altLang="zh-CN" dirty="0">
                  <a:latin typeface="Cambria Math" panose="02040503050406030204" pitchFamily="18" charset="0"/>
                </a:endParaRPr>
              </a:p>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solidFill>
                                        <a:schemeClr val="tx1"/>
                                      </a:solidFill>
                                      <a:latin typeface="Cambria Math" panose="02040503050406030204" pitchFamily="18" charset="0"/>
                                    </a:rPr>
                                  </m:ctrlPr>
                                </m:sSubPr>
                                <m:e>
                                  <m:r>
                                    <m:rPr>
                                      <m:sty m:val="p"/>
                                    </m:rPr>
                                    <a:rPr lang="en-US" altLang="zh-CN" dirty="0">
                                      <a:solidFill>
                                        <a:schemeClr val="tx1"/>
                                      </a:solidFill>
                                      <a:latin typeface="Cambria Math" panose="02040503050406030204" pitchFamily="18" charset="0"/>
                                    </a:rPr>
                                    <m:t>Φ</m:t>
                                  </m:r>
                                </m:e>
                                <m:sub>
                                  <m:r>
                                    <m:rPr>
                                      <m:sty m:val="p"/>
                                    </m:rPr>
                                    <a:rPr lang="en-US" altLang="zh-CN" dirty="0">
                                      <a:solidFill>
                                        <a:schemeClr val="tx1"/>
                                      </a:solidFill>
                                      <a:latin typeface="Cambria Math" panose="02040503050406030204" pitchFamily="18" charset="0"/>
                                    </a:rPr>
                                    <m:t>i</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i="1" dirty="0">
                  <a:latin typeface="Cambria Math" panose="02040503050406030204" pitchFamily="18" charset="0"/>
                </a:endParaRPr>
              </a:p>
              <a:p>
                <a:pPr/>
                <a14:m>
                  <m:oMathPara xmlns:m="http://schemas.openxmlformats.org/officeDocument/2006/math">
                    <m:oMath>
                      <m:r>
                        <a:rPr lang="zh-CN" altLang="en-US" b="1" i="1" dirty="0">
                          <a:latin typeface="Cambria Math" panose="02040503050406030204" pitchFamily="18" charset="0"/>
                        </a:rPr>
                        <m:t>波长估计</m:t>
                      </m:r>
                      <m:r>
                        <a:rPr lang="zh-CN" altLang="en-US" b="1" i="1" dirty="0" smtClean="0">
                          <a:latin typeface="Cambria Math" panose="02040503050406030204" pitchFamily="18" charset="0"/>
                        </a:rPr>
                        <m:t>：</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1" i="1" dirty="0">
                          <a:latin typeface="Cambria Math" panose="02040503050406030204" pitchFamily="18" charset="0"/>
                        </a:rPr>
                        <m:t>, </m:t>
                      </m:r>
                      <m:r>
                        <a:rPr lang="en-US" altLang="zh-CN" b="1" i="1" dirty="0" smtClean="0">
                          <a:latin typeface="Cambria Math" panose="02040503050406030204" pitchFamily="18" charset="0"/>
                        </a:rPr>
                        <m:t> </m:t>
                      </m:r>
                      <m:r>
                        <a:rPr lang="zh-CN" altLang="en-US" b="1" i="1" dirty="0">
                          <a:latin typeface="Cambria Math" panose="02040503050406030204" pitchFamily="18" charset="0"/>
                        </a:rPr>
                        <m:t>被积函数</m:t>
                      </m:r>
                      <m:r>
                        <a:rPr lang="zh-CN" altLang="en-US" b="1" i="1" dirty="0" smtClean="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dirty="0">
                  <a:latin typeface="Cambria Math" panose="02040503050406030204" pitchFamily="18" charset="0"/>
                </a:endParaRPr>
              </a:p>
              <a:p>
                <a:r>
                  <a:rPr lang="zh-CN" altLang="en-US" dirty="0">
                    <a:latin typeface="Cambria Math" panose="02040503050406030204" pitchFamily="18" charset="0"/>
                  </a:rPr>
                  <a:t>         为了解决</a:t>
                </a:r>
                <a14:m>
                  <m:oMath xmlns:m="http://schemas.openxmlformats.org/officeDocument/2006/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a14:m>
                <a:r>
                  <a:rPr lang="zh-CN" altLang="en-US" dirty="0">
                    <a:latin typeface="Cambria Math" panose="02040503050406030204" pitchFamily="18" charset="0"/>
                  </a:rPr>
                  <a:t>的路径积分，我们首先明确一下</a:t>
                </a:r>
                <a14:m>
                  <m:oMath xmlns:m="http://schemas.openxmlformats.org/officeDocument/2006/math">
                    <m:r>
                      <a:rPr lang="en-US" altLang="zh-CN" i="1" dirty="0">
                        <a:latin typeface="Cambria Math" panose="02040503050406030204" pitchFamily="18" charset="0"/>
                      </a:rPr>
                      <m:t>2</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oMath>
                </a14:m>
                <a:r>
                  <a:rPr lang="zh-CN" altLang="en-US" dirty="0">
                    <a:latin typeface="Cambria Math" panose="02040503050406030204" pitchFamily="18" charset="0"/>
                  </a:rPr>
                  <a:t>种路径采样技术：</a:t>
                </a:r>
                <a:endParaRPr lang="en-US" altLang="zh-CN" dirty="0">
                  <a:latin typeface="Cambria Math" panose="02040503050406030204" pitchFamily="18" charset="0"/>
                </a:endParaRPr>
              </a:p>
              <a:p>
                <a:pPr/>
                <a14:m>
                  <m:oMathPara xmlns:m="http://schemas.openxmlformats.org/officeDocument/2006/math">
                    <m:oMath>
                      <m:sSub>
                        <m:sSubPr>
                          <m:ctrlPr>
                            <a:rPr lang="en-US"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𝑡</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a:latin typeface="Cambria Math" panose="02040503050406030204" pitchFamily="18" charset="0"/>
                        </a:rPr>
                        <m:t>,  </m:t>
                      </m:r>
                      <m:r>
                        <a:rPr lang="en-US" altLang="zh-CN" i="1">
                          <a:latin typeface="Cambria Math" panose="02040503050406030204" pitchFamily="18" charset="0"/>
                        </a:rPr>
                        <m:t>ℎ</m:t>
                      </m:r>
                      <m:r>
                        <a:rPr lang="en-US" altLang="zh-CN" i="1">
                          <a:latin typeface="Cambria Math" panose="02040503050406030204" pitchFamily="18" charset="0"/>
                        </a:rPr>
                        <m:t>=1, 2,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𝜆</m:t>
                          </m:r>
                        </m:sub>
                      </m:sSub>
                      <m:r>
                        <a:rPr lang="en-US" altLang="zh-CN" i="1">
                          <a:latin typeface="Cambria Math" panose="02040503050406030204" pitchFamily="18" charset="0"/>
                        </a:rPr>
                        <m:t>,  </m:t>
                      </m:r>
                      <m:r>
                        <a:rPr lang="en-US" altLang="zh-CN" i="1">
                          <a:latin typeface="Cambria Math" panose="02040503050406030204" pitchFamily="18" charset="0"/>
                        </a:rPr>
                        <m:t>𝑡</m:t>
                      </m:r>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𝐿</m:t>
                          </m:r>
                          <m:r>
                            <a:rPr lang="en-US" altLang="zh-CN" i="1">
                              <a:latin typeface="Cambria Math" panose="02040503050406030204" pitchFamily="18" charset="0"/>
                            </a:rPr>
                            <m:t>, </m:t>
                          </m:r>
                          <m:r>
                            <a:rPr lang="en-US" altLang="zh-CN" i="1">
                              <a:latin typeface="Cambria Math" panose="02040503050406030204" pitchFamily="18" charset="0"/>
                            </a:rPr>
                            <m:t>𝐵</m:t>
                          </m:r>
                        </m:e>
                      </m:d>
                    </m:oMath>
                  </m:oMathPara>
                </a14:m>
                <a:endParaRPr lang="en-US" altLang="zh-CN" dirty="0">
                  <a:latin typeface="Cambria Math" panose="02040503050406030204" pitchFamily="18" charset="0"/>
                </a:endParaRPr>
              </a:p>
              <a:p>
                <a:pPr/>
                <a14:m>
                  <m:oMathPara xmlns:m="http://schemas.openxmlformats.org/officeDocument/2006/math">
                    <m:oMath>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𝑡</m:t>
                          </m:r>
                        </m:sub>
                      </m:sSub>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dirty="0">
                                  <a:latin typeface="Cambria Math" panose="02040503050406030204" pitchFamily="18" charset="0"/>
                                </a:rPr>
                                <m:t>𝑖</m:t>
                              </m:r>
                            </m:sub>
                          </m:sSub>
                        </m:e>
                      </m:d>
                      <m:r>
                        <a:rPr lang="en-US" altLang="zh-CN"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ℎ</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r>
                            <a:rPr lang="en-US" altLang="zh-CN" b="1" i="0" dirty="0" smtClean="0">
                              <a:latin typeface="Cambria Math" panose="02040503050406030204" pitchFamily="18" charset="0"/>
                            </a:rPr>
                            <m:t>𝛌</m:t>
                          </m:r>
                        </m:e>
                      </m:d>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ℎ</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b="1">
                              <a:latin typeface="Cambria Math" panose="02040503050406030204" pitchFamily="18" charset="0"/>
                            </a:rPr>
                            <m:t>𝛌</m:t>
                          </m:r>
                        </m:e>
                      </m:d>
                    </m:oMath>
                  </m:oMathPara>
                </a14:m>
                <a:endParaRPr lang="en-US" altLang="zh-CN" i="1" dirty="0">
                  <a:latin typeface="Cambria Math" panose="02040503050406030204" pitchFamily="18" charset="0"/>
                </a:endParaRPr>
              </a:p>
              <a:p>
                <a:r>
                  <a:rPr lang="en-US" altLang="zh-CN" dirty="0">
                    <a:latin typeface="Cambria Math" panose="02040503050406030204" pitchFamily="18" charset="0"/>
                  </a:rPr>
                  <a:t>        </a:t>
                </a:r>
                <a:r>
                  <a:rPr lang="en-US" altLang="zh-CN" b="1" dirty="0">
                    <a:latin typeface="Cambria Math" panose="02040503050406030204" pitchFamily="18" charset="0"/>
                  </a:rPr>
                  <a:t> </a:t>
                </a:r>
                <a:r>
                  <a:rPr lang="zh-CN" altLang="en-US" b="1" dirty="0">
                    <a:latin typeface="Cambria Math" panose="02040503050406030204" pitchFamily="18" charset="0"/>
                  </a:rPr>
                  <a:t>采样流程为</a:t>
                </a:r>
                <a:r>
                  <a:rPr lang="zh-CN" altLang="en-US" dirty="0">
                    <a:latin typeface="Cambria Math" panose="02040503050406030204" pitchFamily="18" charset="0"/>
                  </a:rPr>
                  <a:t>：</a:t>
                </a:r>
                <a:endParaRPr lang="en-US" altLang="zh-CN" dirty="0">
                  <a:latin typeface="Cambria Math" panose="02040503050406030204" pitchFamily="18" charset="0"/>
                </a:endParaRPr>
              </a:p>
              <a:p>
                <a:r>
                  <a:rPr lang="zh-CN" altLang="en-US" dirty="0">
                    <a:latin typeface="+mn-ea"/>
                  </a:rPr>
                  <a:t>                  </a:t>
                </a:r>
                <a:r>
                  <a:rPr lang="zh-CN" altLang="en-US" dirty="0"/>
                  <a:t>选择</a:t>
                </a:r>
                <a:r>
                  <a:rPr lang="en-US" altLang="zh-CN" dirty="0"/>
                  <a:t>Hero</a:t>
                </a:r>
                <a:r>
                  <a:rPr lang="zh-CN" altLang="en-US" dirty="0"/>
                  <a:t>：</a:t>
                </a:r>
                <a14:m>
                  <m:oMath xmlns:m="http://schemas.openxmlformats.org/officeDocument/2006/math">
                    <m:r>
                      <a:rPr lang="en-US" altLang="zh-CN" i="1" dirty="0">
                        <a:latin typeface="Cambria Math" panose="02040503050406030204" pitchFamily="18" charset="0"/>
                      </a:rPr>
                      <m:t>𝐻</m:t>
                    </m:r>
                    <m:r>
                      <a:rPr lang="en-US" altLang="zh-CN" i="1" dirty="0">
                        <a:latin typeface="Cambria Math" panose="02040503050406030204" pitchFamily="18" charset="0"/>
                      </a:rPr>
                      <m:t> ~ </m:t>
                    </m:r>
                    <m:r>
                      <a:rPr lang="en-US" altLang="zh-CN" i="1" dirty="0">
                        <a:latin typeface="Cambria Math" panose="02040503050406030204" pitchFamily="18" charset="0"/>
                      </a:rPr>
                      <m:t>𝐶𝑎𝑡𝑒𝑔𝑜𝑟𝑖𝑐𝑎𝑙</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e>
                    </m:d>
                  </m:oMath>
                </a14:m>
                <a:endParaRPr lang="en-US" altLang="zh-CN" i="1" dirty="0">
                  <a:latin typeface="Cambria Math" panose="02040503050406030204" pitchFamily="18" charset="0"/>
                </a:endParaRPr>
              </a:p>
              <a:p>
                <a:r>
                  <a:rPr lang="zh-CN" altLang="en-US" dirty="0">
                    <a:latin typeface="+mn-ea"/>
                  </a:rPr>
                  <a:t>                  </a:t>
                </a:r>
                <a:r>
                  <a:rPr lang="zh-CN" altLang="en-US" dirty="0"/>
                  <a:t>采样路径前缀：</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b="0" i="1" smtClean="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b="0" i="1" dirty="0" smtClean="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b="0" i="1" dirty="0" smtClean="0">
                            <a:latin typeface="Cambria Math" panose="02040503050406030204" pitchFamily="18" charset="0"/>
                          </a:rPr>
                          <m:t>|</m:t>
                        </m:r>
                        <m:r>
                          <a:rPr lang="en-US" altLang="zh-CN" b="1" dirty="0">
                            <a:latin typeface="Cambria Math" panose="02040503050406030204" pitchFamily="18" charset="0"/>
                          </a:rPr>
                          <m:t>𝛌</m:t>
                        </m:r>
                      </m:e>
                    </m:d>
                  </m:oMath>
                </a14:m>
                <a:endParaRPr lang="en-US" altLang="zh-CN" dirty="0">
                  <a:latin typeface="Cambria Math" panose="02040503050406030204" pitchFamily="18" charset="0"/>
                </a:endParaRPr>
              </a:p>
              <a:p>
                <a:r>
                  <a:rPr lang="en-US" altLang="zh-CN" dirty="0">
                    <a:latin typeface="Cambria Math" panose="02040503050406030204" pitchFamily="18" charset="0"/>
                  </a:rPr>
                  <a:t>                  </a:t>
                </a:r>
                <a:r>
                  <a:rPr lang="zh-CN" altLang="en-US" dirty="0">
                    <a:latin typeface="Cambria Math" panose="02040503050406030204" pitchFamily="18" charset="0"/>
                  </a:rPr>
                  <a:t>在路径前缀上采样两个方向：</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a:latin typeface="Cambria Math" panose="02040503050406030204" pitchFamily="18" charset="0"/>
                          </a:rPr>
                          <m:t>|</m:t>
                        </m:r>
                        <m:r>
                          <a:rPr lang="en-US" altLang="zh-CN" b="1">
                            <a:latin typeface="Cambria Math" panose="02040503050406030204" pitchFamily="18" charset="0"/>
                          </a:rPr>
                          <m:t>𝛌</m:t>
                        </m:r>
                      </m:e>
                    </m:d>
                    <m:r>
                      <a:rPr lang="en-US" altLang="zh-CN" b="1" i="1" smtClean="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i="1" dirty="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i="1">
                            <a:latin typeface="Cambria Math" panose="02040503050406030204" pitchFamily="18" charset="0"/>
                          </a:rPr>
                          <m:t>|</m:t>
                        </m:r>
                        <m:r>
                          <a:rPr lang="en-US" altLang="zh-CN" b="1">
                            <a:latin typeface="Cambria Math" panose="02040503050406030204" pitchFamily="18" charset="0"/>
                          </a:rPr>
                          <m:t>𝛌</m:t>
                        </m:r>
                      </m:e>
                    </m:d>
                  </m:oMath>
                </a14:m>
                <a:endParaRPr lang="en-US" altLang="zh-CN" dirty="0">
                  <a:latin typeface="Cambria Math" panose="02040503050406030204" pitchFamily="18" charset="0"/>
                </a:endParaRPr>
              </a:p>
              <a:p>
                <a:r>
                  <a:rPr lang="en-US" altLang="zh-CN" dirty="0">
                    <a:latin typeface="Cambria Math" panose="02040503050406030204" pitchFamily="18" charset="0"/>
                  </a:rPr>
                  <a:t>                  </a:t>
                </a:r>
                <a:r>
                  <a:rPr lang="zh-CN" altLang="en-US" dirty="0">
                    <a:latin typeface="Cambria Math" panose="02040503050406030204" pitchFamily="18" charset="0"/>
                  </a:rPr>
                  <a:t>得到两个采样技术对应的路径样本：</a:t>
                </a:r>
                <a14:m>
                  <m:oMath xmlns:m="http://schemas.openxmlformats.org/officeDocument/2006/math">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sub>
                      <m:sup>
                        <m:r>
                          <a:rPr lang="en-US" altLang="zh-CN" b="0" i="1" smtClean="0">
                            <a:latin typeface="Cambria Math" panose="02040503050406030204" pitchFamily="18" charset="0"/>
                          </a:rPr>
                          <m:t>𝐿</m:t>
                        </m:r>
                      </m:sup>
                    </m:sSubSup>
                    <m:r>
                      <a:rPr lang="en-US" altLang="zh-CN" b="0" i="1" smtClean="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b="0" i="1" smtClean="0">
                            <a:latin typeface="Cambria Math" panose="02040503050406030204" pitchFamily="18" charset="0"/>
                          </a:rPr>
                          <m:t>, </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𝐿</m:t>
                            </m:r>
                          </m:sup>
                        </m:sSubSup>
                      </m:e>
                    </m:d>
                    <m:r>
                      <a:rPr lang="en-US" altLang="zh-CN" b="0" i="1" smtClean="0">
                        <a:latin typeface="Cambria Math" panose="02040503050406030204" pitchFamily="18" charset="0"/>
                      </a:rPr>
                      <m:t>,  </m:t>
                    </m:r>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sub>
                      <m:sup>
                        <m:r>
                          <a:rPr lang="en-US" altLang="zh-CN" b="0" i="1" smtClean="0">
                            <a:latin typeface="Cambria Math" panose="02040503050406030204" pitchFamily="18" charset="0"/>
                          </a:rPr>
                          <m:t>𝐵</m:t>
                        </m:r>
                      </m:sup>
                    </m:sSubSup>
                    <m:r>
                      <a:rPr lang="en-US" altLang="zh-CN" b="0" i="1" smtClean="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𝐵</m:t>
                            </m:r>
                          </m:sup>
                        </m:sSubSup>
                      </m:e>
                    </m:d>
                  </m:oMath>
                </a14:m>
                <a:endParaRPr lang="en-US" altLang="zh-CN"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87C4E209-F042-910E-4EA4-2AC092C69C79}"/>
                  </a:ext>
                </a:extLst>
              </p:cNvPr>
              <p:cNvSpPr txBox="1">
                <a:spLocks noRot="1" noChangeAspect="1" noMove="1" noResize="1" noEditPoints="1" noAdjustHandles="1" noChangeArrowheads="1" noChangeShapeType="1" noTextEdit="1"/>
              </p:cNvSpPr>
              <p:nvPr/>
            </p:nvSpPr>
            <p:spPr>
              <a:xfrm>
                <a:off x="261869" y="1232104"/>
                <a:ext cx="11771291" cy="4795287"/>
              </a:xfrm>
              <a:prstGeom prst="rect">
                <a:avLst/>
              </a:prstGeom>
              <a:blipFill>
                <a:blip r:embed="rId2"/>
                <a:stretch>
                  <a:fillRect l="-466" t="-762" b="-63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1680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463DB-9958-6462-C66D-70160166176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BCEF951-CE22-5383-DFDA-E9145B469FDE}"/>
              </a:ext>
            </a:extLst>
          </p:cNvPr>
          <p:cNvSpPr>
            <a:spLocks noGrp="1"/>
          </p:cNvSpPr>
          <p:nvPr>
            <p:ph type="title" idx="1"/>
          </p:nvPr>
        </p:nvSpPr>
        <p:spPr/>
        <p:txBody>
          <a:bodyPr/>
          <a:lstStyle/>
          <a:p>
            <a:r>
              <a:rPr lang="en-US" altLang="zh-CN" dirty="0"/>
              <a:t>MIS </a:t>
            </a:r>
            <a:r>
              <a:rPr lang="zh-CN" altLang="en-US" dirty="0"/>
              <a:t>联合组合</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DF7DACC6-54C1-7C20-2F95-4024D6CFB760}"/>
                  </a:ext>
                </a:extLst>
              </p:cNvPr>
              <p:cNvSpPr txBox="1"/>
              <p:nvPr/>
            </p:nvSpPr>
            <p:spPr>
              <a:xfrm>
                <a:off x="210354" y="1373772"/>
                <a:ext cx="11771291" cy="4892814"/>
              </a:xfrm>
              <a:prstGeom prst="rect">
                <a:avLst/>
              </a:prstGeom>
              <a:noFill/>
            </p:spPr>
            <p:txBody>
              <a:bodyPr wrap="square">
                <a:spAutoFit/>
              </a:bodyPr>
              <a:lstStyle/>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nary>
                        <m:naryPr>
                          <m:supHide m:val="on"/>
                          <m:ctrlPr>
                            <a:rPr lang="en-US" altLang="zh-CN">
                              <a:latin typeface="Cambria Math" panose="02040503050406030204" pitchFamily="18" charset="0"/>
                            </a:rPr>
                          </m:ctrlPr>
                        </m:naryPr>
                        <m:sub>
                          <m:r>
                            <m:rPr>
                              <m:sty m:val="p"/>
                            </m:rPr>
                            <a:rPr lang="en-US" altLang="zh-CN">
                              <a:latin typeface="Cambria Math" panose="02040503050406030204" pitchFamily="18" charset="0"/>
                            </a:rPr>
                            <m:t>Λ</m:t>
                          </m:r>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dirty="0">
                                      <a:solidFill>
                                        <a:schemeClr val="accent2">
                                          <a:lumMod val="75000"/>
                                        </a:schemeClr>
                                      </a:solidFill>
                                      <a:latin typeface="Cambria Math" panose="02040503050406030204" pitchFamily="18" charset="0"/>
                                    </a:rPr>
                                  </m:ctrlPr>
                                </m:sSubPr>
                                <m:e>
                                  <m:r>
                                    <m:rPr>
                                      <m:sty m:val="p"/>
                                    </m:rPr>
                                    <a:rPr lang="en-US" altLang="zh-CN" dirty="0">
                                      <a:solidFill>
                                        <a:schemeClr val="accent2">
                                          <a:lumMod val="75000"/>
                                        </a:schemeClr>
                                      </a:solidFill>
                                      <a:latin typeface="Cambria Math" panose="02040503050406030204" pitchFamily="18" charset="0"/>
                                    </a:rPr>
                                    <m:t>Φ</m:t>
                                  </m:r>
                                </m:e>
                                <m:sub>
                                  <m:r>
                                    <m:rPr>
                                      <m:sty m:val="p"/>
                                    </m:rPr>
                                    <a:rPr lang="en-US" altLang="zh-CN" dirty="0">
                                      <a:solidFill>
                                        <a:schemeClr val="accent2">
                                          <a:lumMod val="75000"/>
                                        </a:schemeClr>
                                      </a:solidFill>
                                      <a:latin typeface="Cambria Math" panose="02040503050406030204" pitchFamily="18" charset="0"/>
                                    </a:rPr>
                                    <m:t>i</m:t>
                                  </m:r>
                                </m:sub>
                              </m:sSub>
                              <m:d>
                                <m:dPr>
                                  <m:ctrlPr>
                                    <a:rPr lang="en-US" altLang="zh-CN" i="1" dirty="0">
                                      <a:solidFill>
                                        <a:schemeClr val="accent2">
                                          <a:lumMod val="75000"/>
                                        </a:schemeClr>
                                      </a:solidFill>
                                      <a:latin typeface="Cambria Math" panose="02040503050406030204" pitchFamily="18" charset="0"/>
                                    </a:rPr>
                                  </m:ctrlPr>
                                </m:dPr>
                                <m:e>
                                  <m:sSub>
                                    <m:sSubPr>
                                      <m:ctrlPr>
                                        <a:rPr lang="en-US" altLang="zh-CN" i="1" dirty="0">
                                          <a:solidFill>
                                            <a:schemeClr val="accent2">
                                              <a:lumMod val="75000"/>
                                            </a:schemeClr>
                                          </a:solidFill>
                                          <a:latin typeface="Cambria Math" panose="02040503050406030204" pitchFamily="18" charset="0"/>
                                        </a:rPr>
                                      </m:ctrlPr>
                                    </m:sSubPr>
                                    <m:e>
                                      <m:acc>
                                        <m:accPr>
                                          <m:chr m:val="̅"/>
                                          <m:ctrlPr>
                                            <a:rPr lang="en-US" altLang="zh-CN" i="1" dirty="0">
                                              <a:solidFill>
                                                <a:schemeClr val="accent2">
                                                  <a:lumMod val="75000"/>
                                                </a:schemeClr>
                                              </a:solidFill>
                                              <a:latin typeface="Cambria Math" panose="02040503050406030204" pitchFamily="18" charset="0"/>
                                            </a:rPr>
                                          </m:ctrlPr>
                                        </m:accPr>
                                        <m:e>
                                          <m:r>
                                            <a:rPr lang="en-US" altLang="zh-CN" i="1" dirty="0">
                                              <a:solidFill>
                                                <a:schemeClr val="accent2">
                                                  <a:lumMod val="75000"/>
                                                </a:schemeClr>
                                              </a:solidFill>
                                              <a:latin typeface="Cambria Math" panose="02040503050406030204" pitchFamily="18" charset="0"/>
                                            </a:rPr>
                                            <m:t>𝑝</m:t>
                                          </m:r>
                                        </m:e>
                                      </m:acc>
                                    </m:e>
                                    <m:sub>
                                      <m:r>
                                        <a:rPr lang="en-US" altLang="zh-CN" i="1" dirty="0">
                                          <a:solidFill>
                                            <a:schemeClr val="accent2">
                                              <a:lumMod val="75000"/>
                                            </a:schemeClr>
                                          </a:solidFill>
                                          <a:latin typeface="Cambria Math" panose="02040503050406030204" pitchFamily="18" charset="0"/>
                                        </a:rPr>
                                        <m:t>𝑖</m:t>
                                      </m:r>
                                    </m:sub>
                                  </m:sSub>
                                  <m:r>
                                    <a:rPr lang="en-US" altLang="zh-CN" i="1" dirty="0">
                                      <a:solidFill>
                                        <a:schemeClr val="accent2">
                                          <a:lumMod val="75000"/>
                                        </a:schemeClr>
                                      </a:solidFill>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𝜆</m:t>
                                  </m:r>
                                </m:e>
                              </m:d>
                              <m:r>
                                <a:rPr lang="en-US" altLang="zh-CN" i="1" dirty="0">
                                  <a:solidFill>
                                    <a:schemeClr val="accent2">
                                      <a:lumMod val="75000"/>
                                    </a:schemeClr>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r>
                                    <a:rPr lang="en-US" altLang="zh-CN" i="1">
                                      <a:latin typeface="Cambria Math" panose="02040503050406030204" pitchFamily="18" charset="0"/>
                                    </a:rPr>
                                    <m:t>𝜆</m:t>
                                  </m:r>
                                </m:e>
                              </m:d>
                              <m:r>
                                <a:rPr lang="en-US" altLang="zh-CN" i="1">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i="1" dirty="0">
                              <a:latin typeface="Cambria Math" panose="02040503050406030204" pitchFamily="18" charset="0"/>
                            </a:rPr>
                            <m:t>𝑑</m:t>
                          </m:r>
                          <m:r>
                            <a:rPr lang="en-US" altLang="zh-CN" i="1" dirty="0">
                              <a:latin typeface="Cambria Math" panose="02040503050406030204" pitchFamily="18" charset="0"/>
                            </a:rPr>
                            <m:t>𝜆</m:t>
                          </m:r>
                        </m:e>
                      </m:nary>
                    </m:oMath>
                  </m:oMathPara>
                </a14:m>
                <a:endParaRPr lang="en-US" altLang="zh-CN" i="1" dirty="0">
                  <a:latin typeface="Cambria Math" panose="02040503050406030204" pitchFamily="18" charset="0"/>
                </a:endParaRPr>
              </a:p>
              <a:p>
                <a:pPr/>
                <a14:m>
                  <m:oMathPara xmlns:m="http://schemas.openxmlformats.org/officeDocument/2006/math">
                    <m:oMath>
                      <m:r>
                        <a:rPr lang="zh-CN" altLang="en-US" b="1" i="1" dirty="0">
                          <a:latin typeface="Cambria Math" panose="02040503050406030204" pitchFamily="18" charset="0"/>
                        </a:rPr>
                        <m:t>波长估计：</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1" i="1" dirty="0">
                          <a:latin typeface="Cambria Math" panose="02040503050406030204" pitchFamily="18" charset="0"/>
                        </a:rPr>
                        <m:t>,  </m:t>
                      </m:r>
                      <m:r>
                        <a:rPr lang="zh-CN" altLang="en-US" b="1" i="1" dirty="0">
                          <a:latin typeface="Cambria Math" panose="02040503050406030204" pitchFamily="18" charset="0"/>
                        </a:rPr>
                        <m:t>被积函数：</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i="1" dirty="0">
                  <a:latin typeface="Cambria Math" panose="02040503050406030204" pitchFamily="18" charset="0"/>
                </a:endParaRPr>
              </a:p>
              <a:p>
                <a:r>
                  <a:rPr lang="zh-CN" altLang="en-US" dirty="0">
                    <a:latin typeface="Cambria Math" panose="02040503050406030204" pitchFamily="18" charset="0"/>
                  </a:rPr>
                  <a:t>         采样得到了两个路径样本后，我们就可以构建</a:t>
                </a:r>
                <a14:m>
                  <m:oMath xmlns:m="http://schemas.openxmlformats.org/officeDocument/2006/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a14:m>
                <a:r>
                  <a:rPr lang="zh-CN" altLang="en-US" dirty="0">
                    <a:latin typeface="Cambria Math" panose="02040503050406030204" pitchFamily="18" charset="0"/>
                  </a:rPr>
                  <a:t>路径积分的</a:t>
                </a:r>
                <a:r>
                  <a:rPr lang="en-US" altLang="zh-CN" dirty="0">
                    <a:latin typeface="Cambria Math" panose="02040503050406030204" pitchFamily="18" charset="0"/>
                  </a:rPr>
                  <a:t>MIS</a:t>
                </a:r>
                <a:r>
                  <a:rPr lang="zh-CN" altLang="en-US" dirty="0">
                    <a:latin typeface="Cambria Math" panose="02040503050406030204" pitchFamily="18" charset="0"/>
                  </a:rPr>
                  <a:t>估计器：</a:t>
                </a:r>
                <a:endParaRPr lang="en-US" altLang="zh-CN" dirty="0">
                  <a:latin typeface="Cambria Math" panose="02040503050406030204" pitchFamily="18" charset="0"/>
                </a:endParaRPr>
              </a:p>
              <a:p>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𝐿</m:t>
                          </m:r>
                        </m:sub>
                        <m:sup>
                          <m:r>
                            <a:rPr lang="en-US" altLang="zh-CN" b="0" i="1" dirty="0" smtClean="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𝐿</m:t>
                              </m:r>
                            </m:sup>
                          </m:sSubSup>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1" i="1" dirty="0" smtClean="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𝐵</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sup>
                          </m:sSubSup>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oMath>
                  </m:oMathPara>
                </a14:m>
                <a:endParaRPr lang="en-US" altLang="zh-CN" b="1" dirty="0">
                  <a:latin typeface="Cambria Math" panose="02040503050406030204" pitchFamily="18" charset="0"/>
                </a:endParaRPr>
              </a:p>
              <a:p>
                <a:r>
                  <a:rPr lang="zh-CN" altLang="en-US" dirty="0">
                    <a:latin typeface="Cambria Math" panose="02040503050406030204" pitchFamily="18" charset="0"/>
                  </a:rPr>
                  <a:t>         其中：</a:t>
                </a:r>
                <a:endParaRPr lang="en-US" altLang="zh-CN"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b="0" i="1" dirty="0" smtClean="0">
                              <a:latin typeface="Cambria Math" panose="02040503050406030204" pitchFamily="18" charset="0"/>
                            </a:rPr>
                            <m:t>−1</m:t>
                          </m:r>
                          <m:r>
                            <a:rPr lang="en-US" altLang="zh-CN" i="1" dirty="0">
                              <a:latin typeface="Cambria Math" panose="02040503050406030204" pitchFamily="18" charset="0"/>
                            </a:rPr>
                            <m:t>,</m:t>
                          </m:r>
                          <m:r>
                            <a:rPr lang="en-US" altLang="zh-CN" i="1" dirty="0">
                              <a:latin typeface="Cambria Math" panose="02040503050406030204" pitchFamily="18" charset="0"/>
                            </a:rPr>
                            <m:t>𝐻</m:t>
                          </m:r>
                        </m:sub>
                        <m:sup>
                          <m:r>
                            <a:rPr lang="en-US" altLang="zh-CN" b="0" i="1" dirty="0" smtClean="0">
                              <a:latin typeface="Cambria Math" panose="02040503050406030204" pitchFamily="18" charset="0"/>
                            </a:rPr>
                            <m:t>𝑝𝑟𝑒</m:t>
                          </m:r>
                        </m:sup>
                      </m:sSubSup>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0" i="1" dirty="0" smtClean="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latin typeface="Cambria Math" panose="02040503050406030204" pitchFamily="18" charset="0"/>
                            </a:rPr>
                            <m:t>,</m:t>
                          </m:r>
                          <m:r>
                            <a:rPr lang="en-US" altLang="zh-CN" b="0" i="1" smtClean="0">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latin typeface="Cambria Math" panose="02040503050406030204" pitchFamily="18" charset="0"/>
                            </a:rPr>
                            <m:t>|</m:t>
                          </m:r>
                          <m:r>
                            <a:rPr lang="en-US" altLang="zh-CN" b="1">
                              <a:latin typeface="Cambria Math" panose="02040503050406030204" pitchFamily="18" charset="0"/>
                            </a:rPr>
                            <m:t>𝛌</m:t>
                          </m:r>
                        </m:e>
                      </m:d>
                      <m:r>
                        <a:rPr lang="en-US" altLang="zh-CN" b="1" i="1" smtClean="0">
                          <a:latin typeface="Cambria Math" panose="02040503050406030204" pitchFamily="18" charset="0"/>
                        </a:rPr>
                        <m:t>,</m:t>
                      </m:r>
                      <m:r>
                        <a:rPr lang="en-US" altLang="zh-CN" b="0" i="1"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latin typeface="Cambria Math" panose="02040503050406030204" pitchFamily="18" charset="0"/>
                            </a:rPr>
                            <m:t>|</m:t>
                          </m:r>
                          <m:r>
                            <a:rPr lang="en-US" altLang="zh-CN" b="1">
                              <a:latin typeface="Cambria Math" panose="02040503050406030204" pitchFamily="18" charset="0"/>
                            </a:rPr>
                            <m:t>𝛌</m:t>
                          </m:r>
                        </m:e>
                      </m:d>
                    </m:oMath>
                  </m:oMathPara>
                </a14:m>
                <a:endParaRPr lang="en-US" altLang="zh-CN" b="1" dirty="0">
                  <a:latin typeface="Cambria Math" panose="02040503050406030204" pitchFamily="18" charset="0"/>
                </a:endParaRPr>
              </a:p>
              <a:p>
                <a:pPr/>
                <a14:m>
                  <m:oMathPara xmlns:m="http://schemas.openxmlformats.org/officeDocument/2006/math">
                    <m:o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b="0" i="1" dirty="0" smtClean="0">
                              <a:latin typeface="Cambria Math" panose="02040503050406030204" pitchFamily="18" charset="0"/>
                            </a:rPr>
                            <m:t>,</m:t>
                          </m:r>
                          <m:r>
                            <a:rPr lang="en-US" altLang="zh-CN" i="1" dirty="0">
                              <a:solidFill>
                                <a:srgbClr val="F76409"/>
                              </a:solidFill>
                              <a:latin typeface="Cambria Math" panose="02040503050406030204" pitchFamily="18" charset="0"/>
                            </a:rPr>
                            <m:t>𝐿</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e>
                      </m:d>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b="0" i="1" dirty="0" smtClean="0">
                              <a:latin typeface="Cambria Math" panose="02040503050406030204" pitchFamily="18" charset="0"/>
                              <a:ea typeface="Cambria Math" panose="02040503050406030204" pitchFamily="18" charset="0"/>
                            </a:rPr>
                            <m:t>𝑗𝑜𝑖𝑛𝑡</m:t>
                          </m:r>
                        </m:sub>
                      </m:sSub>
                      <m:d>
                        <m:dPr>
                          <m:ctrlPr>
                            <a:rPr lang="en-US" altLang="zh-CN" b="0" i="1" dirty="0" smtClean="0">
                              <a:latin typeface="Cambria Math" panose="02040503050406030204" pitchFamily="18" charset="0"/>
                              <a:ea typeface="Cambria Math" panose="02040503050406030204" pitchFamily="18" charset="0"/>
                            </a:rPr>
                          </m:ctrlPr>
                        </m:dPr>
                        <m:e>
                          <m:d>
                            <m:dPr>
                              <m:ctrlPr>
                                <a:rPr lang="en-US" altLang="zh-CN" b="0" i="1" dirty="0" smtClean="0">
                                  <a:latin typeface="Cambria Math" panose="02040503050406030204" pitchFamily="18" charset="0"/>
                                  <a:ea typeface="Cambria Math" panose="02040503050406030204" pitchFamily="18" charset="0"/>
                                </a:rPr>
                              </m:ctrlPr>
                            </m:dPr>
                            <m:e>
                              <m:r>
                                <a:rPr lang="en-US" altLang="zh-CN" b="0" i="1" dirty="0" smtClean="0">
                                  <a:latin typeface="Cambria Math" panose="02040503050406030204" pitchFamily="18" charset="0"/>
                                  <a:ea typeface="Cambria Math" panose="02040503050406030204" pitchFamily="18" charset="0"/>
                                </a:rPr>
                                <m:t>𝐻</m:t>
                              </m:r>
                              <m:r>
                                <a:rPr lang="en-US" altLang="zh-CN" b="0" i="1" dirty="0" smtClean="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e>
                          </m:d>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1" i="1" dirty="0" smtClean="0">
                              <a:latin typeface="Cambria Math" panose="02040503050406030204" pitchFamily="18" charset="0"/>
                            </a:rPr>
                            <m:t>…</m:t>
                          </m:r>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b="0" i="1" dirty="0" smtClean="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b="1" dirty="0">
                  <a:latin typeface="Cambria Math" panose="02040503050406030204" pitchFamily="18" charset="0"/>
                </a:endParaRPr>
              </a:p>
              <a:p>
                <a:pPr/>
                <a14:m>
                  <m:oMathPara xmlns:m="http://schemas.openxmlformats.org/officeDocument/2006/math">
                    <m:o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e>
                      </m:d>
                      <m:r>
                        <a:rPr lang="en-US" altLang="zh-CN"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𝑗𝑜𝑖𝑛𝑡</m:t>
                          </m:r>
                        </m:sub>
                      </m:sSub>
                      <m:d>
                        <m:dPr>
                          <m:ctrlPr>
                            <a:rPr lang="en-US" altLang="zh-CN" i="1" dirty="0">
                              <a:latin typeface="Cambria Math" panose="02040503050406030204" pitchFamily="18" charset="0"/>
                              <a:ea typeface="Cambria Math" panose="02040503050406030204" pitchFamily="18" charset="0"/>
                            </a:rPr>
                          </m:ctrlPr>
                        </m:dPr>
                        <m:e>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𝐻</m:t>
                              </m:r>
                              <m:r>
                                <a:rPr lang="en-US" altLang="zh-CN" i="1" dirty="0">
                                  <a:latin typeface="Cambria Math" panose="02040503050406030204" pitchFamily="18" charset="0"/>
                                  <a:ea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e>
                          </m:d>
                          <m:r>
                            <a:rPr lang="en-US" altLang="zh-CN" i="1" dirty="0">
                              <a:latin typeface="Cambria Math" panose="02040503050406030204" pitchFamily="18" charset="0"/>
                              <a:ea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smtClean="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1" i="1" dirty="0" smtClean="0">
                              <a:latin typeface="Cambria Math" panose="02040503050406030204" pitchFamily="18" charset="0"/>
                            </a:rPr>
                            <m:t>…</m:t>
                          </m:r>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dirty="0">
                  <a:latin typeface="Cambria Math" panose="02040503050406030204" pitchFamily="18" charset="0"/>
                </a:endParaRPr>
              </a:p>
              <a:p>
                <a:r>
                  <a:rPr lang="en-US" altLang="zh-CN" dirty="0">
                    <a:latin typeface="Cambria Math" panose="02040503050406030204" pitchFamily="18" charset="0"/>
                  </a:rPr>
                  <a:t>         </a:t>
                </a:r>
                <a:r>
                  <a:rPr lang="zh-CN" altLang="en-US" dirty="0">
                    <a:latin typeface="Cambria Math" panose="02040503050406030204" pitchFamily="18" charset="0"/>
                  </a:rPr>
                  <a:t>且满足：</a:t>
                </a:r>
                <a:endParaRPr lang="en-US" altLang="zh-CN" dirty="0">
                  <a:latin typeface="Cambria Math" panose="02040503050406030204" pitchFamily="18" charset="0"/>
                </a:endParaRPr>
              </a:p>
              <a:p>
                <a:pPr/>
                <a14:m>
                  <m:oMathPara xmlns:m="http://schemas.openxmlformats.org/officeDocument/2006/math">
                    <m:oMath>
                      <m:nary>
                        <m:naryPr>
                          <m:chr m:val="∑"/>
                          <m:supHide m:val="on"/>
                          <m:ctrlPr>
                            <a:rPr lang="en-US" altLang="zh-CN" b="0" i="1" smtClean="0">
                              <a:latin typeface="Cambria Math" panose="02040503050406030204" pitchFamily="18" charset="0"/>
                            </a:rPr>
                          </m:ctrlPr>
                        </m:naryPr>
                        <m:sub>
                          <m:d>
                            <m:dPr>
                              <m:ctrlPr>
                                <a:rPr lang="en-US" altLang="zh-CN" b="0" i="1" smtClean="0">
                                  <a:latin typeface="Cambria Math" panose="02040503050406030204" pitchFamily="18" charset="0"/>
                                </a:rPr>
                              </m:ctrlPr>
                            </m:dPr>
                            <m:e>
                              <m:r>
                                <m:rPr>
                                  <m:brk m:alnAt="7"/>
                                </m:rPr>
                                <a:rPr lang="en-US" altLang="zh-CN" b="0" i="1" smtClean="0">
                                  <a:latin typeface="Cambria Math" panose="02040503050406030204" pitchFamily="18" charset="0"/>
                                </a:rPr>
                                <m:t>ℎ</m:t>
                              </m:r>
                              <m:r>
                                <m:rPr>
                                  <m:brk m:alnAt="7"/>
                                </m:rPr>
                                <a:rPr lang="en-US" altLang="zh-CN" b="0" i="1" smtClean="0">
                                  <a:latin typeface="Cambria Math" panose="02040503050406030204" pitchFamily="18" charset="0"/>
                                </a:rPr>
                                <m:t>,</m:t>
                              </m:r>
                              <m:r>
                                <m:rPr>
                                  <m:brk m:alnAt="7"/>
                                </m:rPr>
                                <a:rPr lang="en-US" altLang="zh-CN" b="0" i="1" smtClean="0">
                                  <a:latin typeface="Cambria Math" panose="02040503050406030204" pitchFamily="18" charset="0"/>
                                </a:rPr>
                                <m:t>𝑡</m:t>
                              </m:r>
                            </m:e>
                          </m:d>
                          <m:r>
                            <m:rPr>
                              <m:brk m:alnAt="7"/>
                            </m:rP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i="1">
                                  <a:latin typeface="Cambria Math" panose="02040503050406030204" pitchFamily="18" charset="0"/>
                                </a:rPr>
                                <m:t>ℎ</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𝑞</m:t>
                              </m:r>
                            </m:e>
                            <m:sub>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ℎ</m:t>
                              </m:r>
                              <m:r>
                                <a:rPr lang="en-US" altLang="zh-CN" i="1">
                                  <a:latin typeface="Cambria Math" panose="02040503050406030204" pitchFamily="18" charset="0"/>
                                </a:rPr>
                                <m:t>,</m:t>
                              </m:r>
                              <m:r>
                                <a:rPr lang="en-US" altLang="zh-CN" i="1">
                                  <a:latin typeface="Cambria Math" panose="02040503050406030204" pitchFamily="18" charset="0"/>
                                </a:rPr>
                                <m:t>𝑡</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&gt;</m:t>
                          </m:r>
                          <m:r>
                            <a:rPr lang="en-US" altLang="zh-CN" i="1">
                              <a:latin typeface="Cambria Math" panose="02040503050406030204" pitchFamily="18" charset="0"/>
                            </a:rPr>
                            <m:t>0</m:t>
                          </m:r>
                        </m:sub>
                        <m:sup/>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ℎ</m:t>
                              </m:r>
                              <m:r>
                                <a:rPr lang="en-US" altLang="zh-CN" i="1" dirty="0">
                                  <a:latin typeface="Cambria Math" panose="02040503050406030204" pitchFamily="18" charset="0"/>
                                </a:rPr>
                                <m:t>,</m:t>
                              </m:r>
                              <m:r>
                                <a:rPr lang="en-US" altLang="zh-CN" i="1" dirty="0">
                                  <a:latin typeface="Cambria Math" panose="02040503050406030204" pitchFamily="18" charset="0"/>
                                </a:rPr>
                                <m:t>𝑡</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r>
                        <a:rPr lang="en-US" altLang="zh-CN" b="0" i="1" smtClean="0">
                          <a:latin typeface="Cambria Math" panose="02040503050406030204" pitchFamily="18" charset="0"/>
                        </a:rPr>
                        <m:t>=1</m:t>
                      </m:r>
                    </m:oMath>
                  </m:oMathPara>
                </a14:m>
                <a:endParaRPr lang="en-US" altLang="zh-CN"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DF7DACC6-54C1-7C20-2F95-4024D6CFB760}"/>
                  </a:ext>
                </a:extLst>
              </p:cNvPr>
              <p:cNvSpPr txBox="1">
                <a:spLocks noRot="1" noChangeAspect="1" noMove="1" noResize="1" noEditPoints="1" noAdjustHandles="1" noChangeArrowheads="1" noChangeShapeType="1" noTextEdit="1"/>
              </p:cNvSpPr>
              <p:nvPr/>
            </p:nvSpPr>
            <p:spPr>
              <a:xfrm>
                <a:off x="210354" y="1373772"/>
                <a:ext cx="11771291" cy="4892814"/>
              </a:xfrm>
              <a:prstGeom prst="rect">
                <a:avLst/>
              </a:prstGeom>
              <a:blipFill>
                <a:blip r:embed="rId2"/>
                <a:stretch>
                  <a:fillRect l="-46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266723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DED42-C38E-A6CC-0143-DED7E5927CD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B5B248B-47F9-AE3E-6A33-7916388DE4DC}"/>
              </a:ext>
            </a:extLst>
          </p:cNvPr>
          <p:cNvSpPr>
            <a:spLocks noGrp="1"/>
          </p:cNvSpPr>
          <p:nvPr>
            <p:ph type="title" idx="1"/>
          </p:nvPr>
        </p:nvSpPr>
        <p:spPr/>
        <p:txBody>
          <a:bodyPr/>
          <a:lstStyle/>
          <a:p>
            <a:r>
              <a:rPr lang="en-US" altLang="zh-CN" dirty="0"/>
              <a:t>MIS </a:t>
            </a:r>
            <a:r>
              <a:rPr lang="zh-CN" altLang="en-US" dirty="0"/>
              <a:t>联合组合 期望</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2DE02A8-DA45-5F38-3E59-D1F0C026629E}"/>
                  </a:ext>
                </a:extLst>
              </p:cNvPr>
              <p:cNvSpPr txBox="1"/>
              <p:nvPr/>
            </p:nvSpPr>
            <p:spPr>
              <a:xfrm>
                <a:off x="210354" y="1214378"/>
                <a:ext cx="11771291" cy="757451"/>
              </a:xfrm>
              <a:prstGeom prst="rect">
                <a:avLst/>
              </a:prstGeom>
              <a:noFill/>
            </p:spPr>
            <p:txBody>
              <a:bodyPr wrap="square">
                <a:spAutoFit/>
              </a:bodyPr>
              <a:lstStyle/>
              <a:p>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𝐿</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𝐵</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oMath>
                  </m:oMathPara>
                </a14:m>
                <a:endParaRPr lang="en-US" altLang="zh-CN" dirty="0">
                  <a:latin typeface="Cambria Math" panose="02040503050406030204" pitchFamily="18" charset="0"/>
                </a:endParaRPr>
              </a:p>
            </p:txBody>
          </p:sp>
        </mc:Choice>
        <mc:Fallback xmlns="">
          <p:sp>
            <p:nvSpPr>
              <p:cNvPr id="7" name="文本框 6">
                <a:extLst>
                  <a:ext uri="{FF2B5EF4-FFF2-40B4-BE49-F238E27FC236}">
                    <a16:creationId xmlns:a16="http://schemas.microsoft.com/office/drawing/2014/main" id="{22DE02A8-DA45-5F38-3E59-D1F0C026629E}"/>
                  </a:ext>
                </a:extLst>
              </p:cNvPr>
              <p:cNvSpPr txBox="1">
                <a:spLocks noRot="1" noChangeAspect="1" noMove="1" noResize="1" noEditPoints="1" noAdjustHandles="1" noChangeArrowheads="1" noChangeShapeType="1" noTextEdit="1"/>
              </p:cNvSpPr>
              <p:nvPr/>
            </p:nvSpPr>
            <p:spPr>
              <a:xfrm>
                <a:off x="210354" y="1214378"/>
                <a:ext cx="11771291" cy="75745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6AED69D-2298-2F25-48DD-C76FDEEDF159}"/>
                  </a:ext>
                </a:extLst>
              </p:cNvPr>
              <p:cNvSpPr txBox="1"/>
              <p:nvPr/>
            </p:nvSpPr>
            <p:spPr>
              <a:xfrm>
                <a:off x="2543576" y="2629775"/>
                <a:ext cx="7104846" cy="3406895"/>
              </a:xfrm>
              <a:prstGeom prst="rect">
                <a:avLst/>
              </a:prstGeom>
              <a:noFill/>
            </p:spPr>
            <p:txBody>
              <a:bodyPr wrap="square">
                <a:spAutoFit/>
              </a:bodyPr>
              <a:lstStyle/>
              <a:p>
                <a:pPr/>
                <a14:m>
                  <m:oMathPara xmlns:m="http://schemas.openxmlformats.org/officeDocument/2006/math">
                    <m:o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sz="1800" b="1" i="1" dirty="0" smtClean="0">
                              <a:latin typeface="Cambria Math" panose="02040503050406030204" pitchFamily="18" charset="0"/>
                            </a:rPr>
                            <m:t>|</m:t>
                          </m:r>
                          <m:r>
                            <a:rPr lang="en-US" altLang="zh-CN" b="1" dirty="0">
                              <a:latin typeface="Cambria Math" panose="02040503050406030204" pitchFamily="18" charset="0"/>
                            </a:rPr>
                            <m:t>𝛌</m:t>
                          </m:r>
                        </m:e>
                      </m:d>
                    </m:oMath>
                    <m:oMath>
                      <m:r>
                        <a:rPr lang="en-US" altLang="zh-CN" sz="1800" b="1" i="1" smtClean="0">
                          <a:latin typeface="Cambria Math" panose="02040503050406030204" pitchFamily="18" charset="0"/>
                        </a:rPr>
                        <m:t>    =</m:t>
                      </m:r>
                      <m:nary>
                        <m:naryPr>
                          <m:chr m:val="∑"/>
                          <m:ctrlPr>
                            <a:rPr lang="en-US" altLang="zh-CN" sz="1800" b="0" i="1" smtClean="0">
                              <a:latin typeface="Cambria Math" panose="02040503050406030204" pitchFamily="18" charset="0"/>
                            </a:rPr>
                          </m:ctrlPr>
                        </m:naryPr>
                        <m:sub>
                          <m:r>
                            <m:rPr>
                              <m:brk m:alnAt="23"/>
                            </m:rPr>
                            <a:rPr lang="en-US" altLang="zh-CN" sz="1800" b="0" i="1" smtClean="0">
                              <a:latin typeface="Cambria Math" panose="02040503050406030204" pitchFamily="18" charset="0"/>
                            </a:rPr>
                            <m:t>ℎ</m:t>
                          </m:r>
                          <m:r>
                            <m:rPr>
                              <m:brk m:alnAt="23"/>
                            </m:rPr>
                            <a:rPr lang="en-US" altLang="zh-CN" sz="1800" b="0" i="1" smtClean="0">
                              <a:latin typeface="Cambria Math" panose="02040503050406030204" pitchFamily="18" charset="0"/>
                            </a:rPr>
                            <m:t>=</m:t>
                          </m:r>
                          <m:r>
                            <m:rPr>
                              <m:brk m:alnAt="23"/>
                            </m:rPr>
                            <a:rPr lang="en-US" altLang="zh-CN" sz="1800" b="0" i="1" smtClean="0">
                              <a:latin typeface="Cambria Math" panose="02040503050406030204" pitchFamily="18" charset="0"/>
                            </a:rPr>
                            <m:t>1</m:t>
                          </m:r>
                        </m:sub>
                        <m:sup>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𝑁</m:t>
                              </m:r>
                            </m:e>
                            <m:sub>
                              <m:r>
                                <a:rPr lang="en-US" altLang="zh-CN" sz="1800" b="0" i="1" smtClean="0">
                                  <a:latin typeface="Cambria Math" panose="02040503050406030204" pitchFamily="18" charset="0"/>
                                </a:rPr>
                                <m:t>𝜆</m:t>
                              </m:r>
                            </m:sub>
                          </m:sSub>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ℎ</m:t>
                              </m:r>
                            </m:sub>
                          </m:sSub>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𝑡</m:t>
                              </m:r>
                              <m:r>
                                <m:rPr>
                                  <m:brk m:alnAt="7"/>
                                </m:rP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𝐵</m:t>
                                  </m:r>
                                </m:e>
                              </m:d>
                            </m:sub>
                            <m:sup/>
                            <m:e>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b="0" i="1" dirty="0" smtClean="0">
                                          <a:latin typeface="Cambria Math" panose="02040503050406030204" pitchFamily="18" charset="0"/>
                                        </a:rPr>
                                        <m:t>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b="0" i="1" dirty="0" smtClean="0">
                                          <a:latin typeface="Cambria Math" panose="02040503050406030204" pitchFamily="18" charset="0"/>
                                        </a:rPr>
                                        <m:t>ℎ</m:t>
                                      </m:r>
                                      <m:r>
                                        <a:rPr lang="en-US" altLang="zh-CN" i="1" dirty="0">
                                          <a:latin typeface="Cambria Math" panose="02040503050406030204" pitchFamily="18" charset="0"/>
                                        </a:rPr>
                                        <m:t>,</m:t>
                                      </m:r>
                                      <m:r>
                                        <a:rPr lang="en-US" altLang="zh-CN" b="0" i="1" dirty="0" smtClean="0">
                                          <a:latin typeface="Cambria Math" panose="02040503050406030204" pitchFamily="18" charset="0"/>
                                        </a:rPr>
                                        <m:t>𝑡</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b="0" i="1" dirty="0" smtClean="0">
                                              <a:latin typeface="Cambria Math" panose="02040503050406030204" pitchFamily="18" charset="0"/>
                                            </a:rPr>
                                            <m:t>ℎ</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b="0" i="1" dirty="0" smtClean="0">
                                              <a:latin typeface="Cambria Math" panose="02040503050406030204" pitchFamily="18" charset="0"/>
                                            </a:rPr>
                                            <m:t>ℎ</m:t>
                                          </m:r>
                                          <m:r>
                                            <a:rPr lang="en-US" altLang="zh-CN" i="1" dirty="0">
                                              <a:latin typeface="Cambria Math" panose="02040503050406030204" pitchFamily="18" charset="0"/>
                                            </a:rPr>
                                            <m:t>,</m:t>
                                          </m:r>
                                          <m:r>
                                            <a:rPr lang="en-US" altLang="zh-CN" b="0" i="1" dirty="0" smtClean="0">
                                              <a:latin typeface="Cambria Math" panose="02040503050406030204" pitchFamily="18" charset="0"/>
                                            </a:rPr>
                                            <m:t>𝑡</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nary>
                              <m:r>
                                <a:rPr lang="en-US" altLang="zh-CN" b="0" i="1" dirty="0" smtClean="0">
                                  <a:latin typeface="Cambria Math" panose="02040503050406030204" pitchFamily="18" charset="0"/>
                                </a:rPr>
                                <m:t>𝑑</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𝜇</m:t>
                                  </m:r>
                                </m:e>
                                <m:sub>
                                  <m:r>
                                    <a:rPr lang="en-US" altLang="zh-CN" b="0" i="1" dirty="0" smtClean="0">
                                      <a:latin typeface="Cambria Math" panose="02040503050406030204" pitchFamily="18" charset="0"/>
                                    </a:rPr>
                                    <m:t>𝑖</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e>
                          </m:nary>
                        </m:e>
                      </m:nary>
                    </m:oMath>
                    <m:oMath>
                      <m:r>
                        <a:rPr lang="en-US" altLang="zh-CN" b="0" i="1" smtClean="0">
                          <a:latin typeface="Cambria Math" panose="02040503050406030204" pitchFamily="18" charset="0"/>
                          <a:ea typeface="Cambria Math" panose="02040503050406030204" pitchFamily="18" charset="0"/>
                        </a:rPr>
                        <m:t>    =</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d>
                            <m:dPr>
                              <m:ctrlPr>
                                <a:rPr lang="en-US" altLang="zh-CN" i="1">
                                  <a:latin typeface="Cambria Math" panose="02040503050406030204" pitchFamily="18" charset="0"/>
                                </a:rPr>
                              </m:ctrlPr>
                            </m:dPr>
                            <m:e>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ℎ</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𝜆</m:t>
                                      </m:r>
                                    </m:sub>
                                  </m:sSub>
                                </m:sup>
                                <m:e>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𝑡</m:t>
                                      </m:r>
                                      <m:r>
                                        <m:rPr>
                                          <m:brk m:alnAt="7"/>
                                        </m:rP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𝐵</m:t>
                                          </m:r>
                                        </m:e>
                                      </m:d>
                                    </m:sub>
                                    <m:sup/>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ℎ</m:t>
                                          </m:r>
                                          <m:r>
                                            <a:rPr lang="en-US" altLang="zh-CN" i="1" dirty="0">
                                              <a:latin typeface="Cambria Math" panose="02040503050406030204" pitchFamily="18" charset="0"/>
                                            </a:rPr>
                                            <m:t>,</m:t>
                                          </m:r>
                                          <m:r>
                                            <a:rPr lang="en-US" altLang="zh-CN" i="1" dirty="0">
                                              <a:latin typeface="Cambria Math" panose="02040503050406030204" pitchFamily="18" charset="0"/>
                                            </a:rPr>
                                            <m:t>𝑡</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e>
                              </m:nary>
                            </m:e>
                          </m:d>
                        </m:e>
                      </m:nary>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 </m:t>
                      </m:r>
                      <m:r>
                        <a:rPr lang="en-US" altLang="zh-CN" i="1" dirty="0">
                          <a:latin typeface="Cambria Math" panose="02040503050406030204" pitchFamily="18" charset="0"/>
                          <a:ea typeface="Cambria Math" panose="02040503050406030204" pitchFamily="18" charset="0"/>
                        </a:rPr>
                        <m:t>𝑑</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𝜇</m:t>
                          </m:r>
                        </m:e>
                        <m:sub>
                          <m:r>
                            <a:rPr lang="en-US" altLang="zh-CN" i="1" dirty="0">
                              <a:latin typeface="Cambria Math" panose="02040503050406030204" pitchFamily="18" charset="0"/>
                              <a:ea typeface="Cambria Math" panose="02040503050406030204" pitchFamily="18" charset="0"/>
                            </a:rPr>
                            <m:t>𝑖</m:t>
                          </m:r>
                        </m:sub>
                      </m:sSub>
                      <m:d>
                        <m:dPr>
                          <m:ctrlPr>
                            <a:rPr lang="en-US" altLang="zh-CN" i="1" dirty="0">
                              <a:latin typeface="Cambria Math" panose="02040503050406030204" pitchFamily="18" charset="0"/>
                              <a:ea typeface="Cambria Math" panose="02040503050406030204" pitchFamily="18" charset="0"/>
                            </a:rPr>
                          </m:ctrlPr>
                        </m:dPr>
                        <m:e>
                          <m:sSub>
                            <m:sSubPr>
                              <m:ctrlPr>
                                <a:rPr lang="en-US" altLang="zh-CN" i="1" dirty="0">
                                  <a:latin typeface="Cambria Math" panose="02040503050406030204" pitchFamily="18" charset="0"/>
                                  <a:ea typeface="Cambria Math" panose="02040503050406030204" pitchFamily="18" charset="0"/>
                                </a:rPr>
                              </m:ctrlPr>
                            </m:sSubPr>
                            <m:e>
                              <m:acc>
                                <m:accPr>
                                  <m:chr m:val="̅"/>
                                  <m:ctrlPr>
                                    <a:rPr lang="en-US" altLang="zh-CN" i="1" dirty="0">
                                      <a:latin typeface="Cambria Math" panose="02040503050406030204" pitchFamily="18" charset="0"/>
                                      <a:ea typeface="Cambria Math" panose="02040503050406030204" pitchFamily="18" charset="0"/>
                                    </a:rPr>
                                  </m:ctrlPr>
                                </m:accPr>
                                <m:e>
                                  <m:r>
                                    <a:rPr lang="en-US" altLang="zh-CN" i="1" dirty="0">
                                      <a:latin typeface="Cambria Math" panose="02040503050406030204" pitchFamily="18" charset="0"/>
                                      <a:ea typeface="Cambria Math" panose="02040503050406030204" pitchFamily="18" charset="0"/>
                                    </a:rPr>
                                    <m:t>𝑝</m:t>
                                  </m:r>
                                </m:e>
                              </m:acc>
                            </m:e>
                            <m:sub>
                              <m:r>
                                <a:rPr lang="en-US" altLang="zh-CN" i="1" dirty="0">
                                  <a:latin typeface="Cambria Math" panose="02040503050406030204" pitchFamily="18" charset="0"/>
                                  <a:ea typeface="Cambria Math" panose="02040503050406030204" pitchFamily="18" charset="0"/>
                                </a:rPr>
                                <m:t>𝑖</m:t>
                              </m:r>
                            </m:sub>
                          </m:sSub>
                        </m:e>
                      </m:d>
                    </m:oMath>
                    <m:oMath>
                      <m:r>
                        <a:rPr lang="en-US" altLang="zh-CN" b="0" i="1" smtClean="0">
                          <a:latin typeface="Cambria Math" panose="02040503050406030204" pitchFamily="18" charset="0"/>
                          <a:ea typeface="Cambria Math" panose="02040503050406030204" pitchFamily="18" charset="0"/>
                        </a:rPr>
                        <m:t>    =</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m:oMathPara>
                </a14:m>
                <a:endParaRPr lang="en-US" altLang="zh-CN" b="1" dirty="0"/>
              </a:p>
              <a:p>
                <a:endParaRPr lang="en-US" altLang="zh-CN" b="1" dirty="0"/>
              </a:p>
              <a:p>
                <a:endParaRPr lang="en-US" altLang="zh-CN" sz="1000" b="1" dirty="0"/>
              </a:p>
              <a:p>
                <a:pPr/>
                <a14:m>
                  <m:oMathPara xmlns:m="http://schemas.openxmlformats.org/officeDocument/2006/math">
                    <m:oMath>
                      <m:r>
                        <m:rPr>
                          <m:nor/>
                        </m:rPr>
                        <a:rPr lang="zh-CN" altLang="en-US" i="0" dirty="0" smtClean="0">
                          <a:latin typeface="Cambria Math" panose="02040503050406030204" pitchFamily="18" charset="0"/>
                        </a:rPr>
                        <m:t>于是</m:t>
                      </m:r>
                      <m:r>
                        <m:rPr>
                          <m:nor/>
                        </m:rPr>
                        <a:rPr lang="zh-CN" altLang="en-US" i="0" dirty="0"/>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i="0" dirty="0" smtClean="0">
                                  <a:latin typeface="Cambria Math" panose="02040503050406030204" pitchFamily="18" charset="0"/>
                                </a:rPr>
                              </m:ctrlPr>
                            </m:dPr>
                            <m:e>
                              <m:r>
                                <a:rPr lang="en-US" altLang="zh-CN" b="1" i="0" dirty="0" smtClean="0">
                                  <a:latin typeface="Cambria Math" panose="02040503050406030204" pitchFamily="18" charset="0"/>
                                </a:rPr>
                                <m:t>𝚲</m:t>
                              </m:r>
                            </m:e>
                          </m:d>
                        </m:e>
                      </m:d>
                      <m:r>
                        <a:rPr lang="en-US" altLang="zh-CN" b="1"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r>
                            <a:rPr lang="en-US" altLang="zh-CN" b="1" i="0" dirty="0" smtClean="0">
                              <a:latin typeface="Cambria Math" panose="02040503050406030204" pitchFamily="18" charset="0"/>
                            </a:rPr>
                            <m:t>𝚲</m:t>
                          </m:r>
                        </m:sub>
                      </m:sSub>
                      <m:d>
                        <m:dPr>
                          <m:begChr m:val="["/>
                          <m:endChr m:val="]"/>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r>
                                <a:rPr lang="en-US" altLang="zh-CN" b="1" i="1" dirty="0" smtClean="0">
                                  <a:latin typeface="Cambria Math" panose="02040503050406030204" pitchFamily="18" charset="0"/>
                                </a:rPr>
                                <m:t>|</m:t>
                              </m:r>
                              <m:r>
                                <a:rPr lang="en-US" altLang="zh-CN" b="1" dirty="0">
                                  <a:latin typeface="Cambria Math" panose="02040503050406030204" pitchFamily="18" charset="0"/>
                                </a:rPr>
                                <m:t>𝚲</m:t>
                              </m:r>
                            </m:e>
                          </m:d>
                        </m:e>
                      </m:d>
                      <m:r>
                        <a:rPr lang="en-US" altLang="zh-CN" b="1"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e>
                      </m:d>
                      <m:r>
                        <a:rPr lang="en-US" altLang="zh-CN"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𝑪</m:t>
                          </m:r>
                        </m:e>
                        <m:sub>
                          <m:r>
                            <a:rPr lang="en-US" altLang="zh-CN" b="0" i="1" dirty="0" smtClean="0">
                              <a:latin typeface="Cambria Math" panose="02040503050406030204" pitchFamily="18" charset="0"/>
                            </a:rPr>
                            <m:t>𝑖</m:t>
                          </m:r>
                        </m:sub>
                      </m:sSub>
                    </m:oMath>
                  </m:oMathPara>
                </a14:m>
                <a:endParaRPr lang="zh-CN" altLang="en-US" dirty="0"/>
              </a:p>
            </p:txBody>
          </p:sp>
        </mc:Choice>
        <mc:Fallback xmlns="">
          <p:sp>
            <p:nvSpPr>
              <p:cNvPr id="9" name="文本框 8">
                <a:extLst>
                  <a:ext uri="{FF2B5EF4-FFF2-40B4-BE49-F238E27FC236}">
                    <a16:creationId xmlns:a16="http://schemas.microsoft.com/office/drawing/2014/main" id="{B6AED69D-2298-2F25-48DD-C76FDEEDF159}"/>
                  </a:ext>
                </a:extLst>
              </p:cNvPr>
              <p:cNvSpPr txBox="1">
                <a:spLocks noRot="1" noChangeAspect="1" noMove="1" noResize="1" noEditPoints="1" noAdjustHandles="1" noChangeArrowheads="1" noChangeShapeType="1" noTextEdit="1"/>
              </p:cNvSpPr>
              <p:nvPr/>
            </p:nvSpPr>
            <p:spPr>
              <a:xfrm>
                <a:off x="2543576" y="2629775"/>
                <a:ext cx="7104846" cy="3406895"/>
              </a:xfrm>
              <a:prstGeom prst="rect">
                <a:avLst/>
              </a:prstGeom>
              <a:blipFill>
                <a:blip r:embed="rId3"/>
                <a:stretch>
                  <a:fillRect l="-686"/>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E92D2F4-3675-0556-B34A-66AFEC1A3DA4}"/>
              </a:ext>
            </a:extLst>
          </p:cNvPr>
          <p:cNvSpPr txBox="1"/>
          <p:nvPr/>
        </p:nvSpPr>
        <p:spPr>
          <a:xfrm>
            <a:off x="1997836" y="2155446"/>
            <a:ext cx="1505218" cy="369332"/>
          </a:xfrm>
          <a:prstGeom prst="rect">
            <a:avLst/>
          </a:prstGeom>
          <a:noFill/>
        </p:spPr>
        <p:txBody>
          <a:bodyPr wrap="square">
            <a:spAutoFit/>
          </a:bodyPr>
          <a:lstStyle/>
          <a:p>
            <a:r>
              <a:rPr lang="zh-CN" altLang="en-US" sz="1800" b="1" dirty="0">
                <a:latin typeface="Cambria Math" panose="02040503050406030204" pitchFamily="18" charset="0"/>
              </a:rPr>
              <a:t>验证期望：</a:t>
            </a:r>
            <a:endParaRPr lang="en-US" altLang="zh-CN" sz="1800" b="1" dirty="0">
              <a:latin typeface="Cambria Math" panose="02040503050406030204" pitchFamily="18" charset="0"/>
            </a:endParaRPr>
          </a:p>
        </p:txBody>
      </p:sp>
    </p:spTree>
    <p:extLst>
      <p:ext uri="{BB962C8B-B14F-4D97-AF65-F5344CB8AC3E}">
        <p14:creationId xmlns:p14="http://schemas.microsoft.com/office/powerpoint/2010/main" val="2965839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2C207-A88C-0BDF-0E17-A1431262B38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8B868740-A151-3B60-8891-9C923E1E89A0}"/>
              </a:ext>
            </a:extLst>
          </p:cNvPr>
          <p:cNvSpPr>
            <a:spLocks noGrp="1"/>
          </p:cNvSpPr>
          <p:nvPr>
            <p:ph type="title" idx="1"/>
          </p:nvPr>
        </p:nvSpPr>
        <p:spPr/>
        <p:txBody>
          <a:bodyPr/>
          <a:lstStyle/>
          <a:p>
            <a:r>
              <a:rPr lang="en-US" altLang="zh-CN" dirty="0"/>
              <a:t>MIS </a:t>
            </a:r>
            <a:r>
              <a:rPr lang="zh-CN" altLang="en-US" dirty="0"/>
              <a:t>联合组合 支持域</a:t>
            </a: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99BD1FB8-2775-1653-0041-9B5A6277121E}"/>
                  </a:ext>
                </a:extLst>
              </p:cNvPr>
              <p:cNvSpPr txBox="1"/>
              <p:nvPr/>
            </p:nvSpPr>
            <p:spPr>
              <a:xfrm>
                <a:off x="7406998" y="2642092"/>
                <a:ext cx="3881334" cy="1754326"/>
              </a:xfrm>
              <a:prstGeom prst="rect">
                <a:avLst/>
              </a:prstGeom>
              <a:ln w="19050"/>
            </p:spPr>
            <p:style>
              <a:lnRef idx="2">
                <a:schemeClr val="accent4"/>
              </a:lnRef>
              <a:fillRef idx="1">
                <a:schemeClr val="lt1"/>
              </a:fillRef>
              <a:effectRef idx="0">
                <a:schemeClr val="accent4"/>
              </a:effectRef>
              <a:fontRef idx="minor">
                <a:schemeClr val="dk1"/>
              </a:fontRef>
            </p:style>
            <p:txBody>
              <a:bodyPr wrap="square">
                <a:spAutoFit/>
              </a:bodyPr>
              <a:lstStyle/>
              <a:p>
                <a:pPr algn="just"/>
                <a:r>
                  <a:rPr lang="en-US" altLang="zh-CN" sz="1800" dirty="0">
                    <a:latin typeface="Cambria Math" panose="02040503050406030204" pitchFamily="18" charset="0"/>
                  </a:rPr>
                  <a:t>         </a:t>
                </a:r>
                <a:r>
                  <a:rPr lang="zh-CN" altLang="en-US" sz="1800" dirty="0">
                    <a:latin typeface="Cambria Math" panose="02040503050406030204" pitchFamily="18" charset="0"/>
                  </a:rPr>
                  <a:t>可以看到，</a:t>
                </a:r>
                <a:r>
                  <a:rPr lang="zh-CN" altLang="en-US" dirty="0">
                    <a:latin typeface="Cambria Math" panose="02040503050406030204" pitchFamily="18" charset="0"/>
                  </a:rPr>
                  <a:t>联合</a:t>
                </a:r>
                <a:r>
                  <a:rPr lang="zh-CN" altLang="en-US" sz="1800" dirty="0">
                    <a:latin typeface="Cambria Math" panose="02040503050406030204" pitchFamily="18" charset="0"/>
                  </a:rPr>
                  <a:t>组合的估计器，不再要求选中的</a:t>
                </a:r>
                <a:r>
                  <a:rPr lang="en-US" altLang="zh-CN" sz="1800" dirty="0">
                    <a:latin typeface="Cambria Math" panose="02040503050406030204" pitchFamily="18" charset="0"/>
                  </a:rPr>
                  <a:t>Hero</a:t>
                </a:r>
                <a:r>
                  <a:rPr lang="zh-CN" altLang="en-US" sz="1800" dirty="0">
                    <a:latin typeface="Cambria Math" panose="02040503050406030204" pitchFamily="18" charset="0"/>
                  </a:rPr>
                  <a:t>对应的采样技术组的支持域独立覆盖被积函数，只需要全部</a:t>
                </a:r>
                <a14:m>
                  <m:oMath xmlns:m="http://schemas.openxmlformats.org/officeDocument/2006/math">
                    <m:r>
                      <a:rPr lang="en-US" altLang="zh-CN" b="0" i="1"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𝜆</m:t>
                        </m:r>
                      </m:sub>
                    </m:sSub>
                  </m:oMath>
                </a14:m>
                <a:r>
                  <a:rPr lang="zh-CN" altLang="en-US" sz="1800" dirty="0">
                    <a:latin typeface="Cambria Math" panose="02040503050406030204" pitchFamily="18" charset="0"/>
                  </a:rPr>
                  <a:t>种采样技术的联合支持域</a:t>
                </a:r>
                <a:r>
                  <a:rPr lang="zh-CN" altLang="en-US" dirty="0">
                    <a:latin typeface="Cambria Math" panose="02040503050406030204" pitchFamily="18" charset="0"/>
                  </a:rPr>
                  <a:t>能够共同覆</a:t>
                </a:r>
                <a:r>
                  <a:rPr lang="zh-CN" altLang="en-US" sz="1800" dirty="0">
                    <a:latin typeface="Cambria Math" panose="02040503050406030204" pitchFamily="18" charset="0"/>
                  </a:rPr>
                  <a:t>盖被积函数，就能够保证</a:t>
                </a:r>
                <a:r>
                  <a:rPr lang="zh-CN" altLang="en-US" dirty="0">
                    <a:latin typeface="Cambria Math" panose="02040503050406030204" pitchFamily="18" charset="0"/>
                  </a:rPr>
                  <a:t>最终估计的无偏。</a:t>
                </a:r>
                <a:endParaRPr lang="en-US" altLang="zh-CN" sz="1800" dirty="0">
                  <a:latin typeface="Cambria Math" panose="02040503050406030204" pitchFamily="18" charset="0"/>
                </a:endParaRPr>
              </a:p>
            </p:txBody>
          </p:sp>
        </mc:Choice>
        <mc:Fallback xmlns="">
          <p:sp>
            <p:nvSpPr>
              <p:cNvPr id="15" name="文本框 14">
                <a:extLst>
                  <a:ext uri="{FF2B5EF4-FFF2-40B4-BE49-F238E27FC236}">
                    <a16:creationId xmlns:a16="http://schemas.microsoft.com/office/drawing/2014/main" id="{99BD1FB8-2775-1653-0041-9B5A6277121E}"/>
                  </a:ext>
                </a:extLst>
              </p:cNvPr>
              <p:cNvSpPr txBox="1">
                <a:spLocks noRot="1" noChangeAspect="1" noMove="1" noResize="1" noEditPoints="1" noAdjustHandles="1" noChangeArrowheads="1" noChangeShapeType="1" noTextEdit="1"/>
              </p:cNvSpPr>
              <p:nvPr/>
            </p:nvSpPr>
            <p:spPr>
              <a:xfrm>
                <a:off x="7406998" y="2642092"/>
                <a:ext cx="3881334" cy="1754326"/>
              </a:xfrm>
              <a:prstGeom prst="rect">
                <a:avLst/>
              </a:prstGeom>
              <a:blipFill>
                <a:blip r:embed="rId2"/>
                <a:stretch>
                  <a:fillRect l="-1094" t="-1718" r="-1094" b="-3780"/>
                </a:stretch>
              </a:blipFill>
              <a:ln w="1905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C378ED4-1691-13B3-A79C-A53093BD11B0}"/>
                  </a:ext>
                </a:extLst>
              </p:cNvPr>
              <p:cNvSpPr txBox="1"/>
              <p:nvPr/>
            </p:nvSpPr>
            <p:spPr>
              <a:xfrm>
                <a:off x="466317" y="2194451"/>
                <a:ext cx="6642820" cy="3367076"/>
              </a:xfrm>
              <a:prstGeom prst="rect">
                <a:avLst/>
              </a:prstGeom>
              <a:noFill/>
            </p:spPr>
            <p:txBody>
              <a:bodyPr wrap="square">
                <a:spAutoFit/>
              </a:bodyPr>
              <a:lstStyle/>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oMath>
                  </m:oMathPara>
                </a14:m>
                <a:endParaRPr lang="en-US" altLang="zh-CN" i="1" dirty="0">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𝐸</m:t>
                          </m:r>
                        </m:e>
                        <m:sub>
                          <m:r>
                            <a:rPr lang="en-US" altLang="zh-CN" b="1" dirty="0">
                              <a:latin typeface="Cambria Math" panose="02040503050406030204" pitchFamily="18" charset="0"/>
                            </a:rPr>
                            <m:t>𝚲</m:t>
                          </m:r>
                        </m:sub>
                      </m:sSub>
                      <m:d>
                        <m:dPr>
                          <m:begChr m:val="["/>
                          <m:endChr m:val="]"/>
                          <m:ctrlPr>
                            <a:rPr lang="zh-CN" altLang="en-US" b="1" i="1" dirty="0">
                              <a:latin typeface="Cambria Math" panose="02040503050406030204" pitchFamily="18" charset="0"/>
                            </a:rPr>
                          </m:ctrlPr>
                        </m:dPr>
                        <m:e>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𝚲</m:t>
                              </m:r>
                            </m:e>
                          </m:d>
                        </m:e>
                      </m:d>
                      <m:r>
                        <a:rPr lang="en-US" altLang="zh-CN" b="1" i="1" dirty="0">
                          <a:latin typeface="Cambria Math" panose="02040503050406030204" pitchFamily="18" charset="0"/>
                        </a:rPr>
                        <m:t>=</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𝑪</m:t>
                          </m:r>
                        </m:e>
                        <m:sub>
                          <m:r>
                            <a:rPr lang="en-US" altLang="zh-CN" i="1" dirty="0">
                              <a:latin typeface="Cambria Math" panose="02040503050406030204" pitchFamily="18" charset="0"/>
                            </a:rPr>
                            <m:t>𝑖</m:t>
                          </m:r>
                        </m:sub>
                      </m:sSub>
                    </m:oMath>
                  </m:oMathPara>
                </a14:m>
                <a:endParaRPr lang="en-US" altLang="zh-CN" dirty="0">
                  <a:latin typeface="Cambria Math" panose="02040503050406030204" pitchFamily="18" charset="0"/>
                </a:endParaRPr>
              </a:p>
              <a:p>
                <a:endParaRPr lang="en-US" altLang="zh-CN" dirty="0">
                  <a:latin typeface="Cambria Math" panose="02040503050406030204" pitchFamily="18" charset="0"/>
                </a:endParaRPr>
              </a:p>
              <a:p>
                <a:pPr>
                  <a:spcBef>
                    <a:spcPts val="800"/>
                  </a:spcBef>
                </a:pPr>
                <a:r>
                  <a:rPr lang="en-US" altLang="zh-CN" dirty="0">
                    <a:latin typeface="Cambria Math" panose="02040503050406030204" pitchFamily="18" charset="0"/>
                  </a:rPr>
                  <a:t>         </a:t>
                </a:r>
                <a:r>
                  <a:rPr lang="zh-CN" altLang="en-US" dirty="0">
                    <a:latin typeface="Cambria Math" panose="02040503050406030204" pitchFamily="18" charset="0"/>
                  </a:rPr>
                  <a:t>我们先把路径积分写出来：</a:t>
                </a:r>
                <a:endParaRPr lang="en-US" altLang="zh-CN" dirty="0">
                  <a:latin typeface="Cambria Math" panose="02040503050406030204" pitchFamily="18" charset="0"/>
                </a:endParaRPr>
              </a:p>
              <a:p>
                <a:pPr/>
                <a14:m>
                  <m:oMathPara xmlns:m="http://schemas.openxmlformats.org/officeDocument/2006/math">
                    <m:oMath>
                      <m:sSub>
                        <m:sSubPr>
                          <m:ctrlPr>
                            <a:rPr lang="zh-CN" altLang="en-US" b="1" i="1" dirty="0">
                              <a:latin typeface="Cambria Math" panose="02040503050406030204" pitchFamily="18" charset="0"/>
                            </a:rPr>
                          </m:ctrlPr>
                        </m:sSubPr>
                        <m:e>
                          <m:r>
                            <a:rPr lang="zh-CN" altLang="en-US" b="1" i="1" dirty="0">
                              <a:latin typeface="Cambria Math" panose="02040503050406030204" pitchFamily="18" charset="0"/>
                            </a:rPr>
                            <m:t>𝓙</m:t>
                          </m:r>
                        </m:e>
                        <m:sub>
                          <m:r>
                            <a:rPr lang="en-US" altLang="zh-CN" i="1" dirty="0">
                              <a:latin typeface="Cambria Math" panose="02040503050406030204" pitchFamily="18" charset="0"/>
                            </a:rPr>
                            <m:t>𝑖</m:t>
                          </m:r>
                        </m:sub>
                      </m:sSub>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nary>
                        <m:naryPr>
                          <m:supHide m:val="on"/>
                          <m:ctrlPr>
                            <a:rPr lang="zh-CN" altLang="en-US" i="1" dirty="0">
                              <a:latin typeface="Cambria Math" panose="02040503050406030204" pitchFamily="18" charset="0"/>
                            </a:rPr>
                          </m:ctrlPr>
                        </m:naryPr>
                        <m:sub>
                          <m:sSub>
                            <m:sSubPr>
                              <m:ctrlPr>
                                <a:rPr lang="zh-CN" altLang="en-US" i="1" dirty="0">
                                  <a:latin typeface="Cambria Math" panose="02040503050406030204" pitchFamily="18" charset="0"/>
                                </a:rPr>
                              </m:ctrlPr>
                            </m:sSubPr>
                            <m:e>
                              <m:r>
                                <a:rPr lang="zh-CN" altLang="en-US" i="1" dirty="0">
                                  <a:latin typeface="Cambria Math" panose="02040503050406030204" pitchFamily="18" charset="0"/>
                                </a:rPr>
                                <m:t>𝒫</m:t>
                              </m:r>
                            </m:e>
                            <m:sub>
                              <m:r>
                                <a:rPr lang="en-US" altLang="zh-CN" i="1" dirty="0">
                                  <a:latin typeface="Cambria Math" panose="02040503050406030204" pitchFamily="18" charset="0"/>
                                </a:rPr>
                                <m:t>𝑖</m:t>
                              </m:r>
                            </m:sub>
                          </m:sSub>
                        </m:sub>
                        <m:sup/>
                        <m:e>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 </m:t>
                          </m:r>
                          <m:r>
                            <a:rPr lang="en-US" altLang="zh-CN" i="1" dirty="0">
                              <a:latin typeface="Cambria Math" panose="02040503050406030204" pitchFamily="18" charset="0"/>
                            </a:rPr>
                            <m:t>𝑑</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𝜇</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e>
                          </m:d>
                        </m:e>
                      </m:nary>
                    </m:oMath>
                  </m:oMathPara>
                </a14:m>
                <a:endParaRPr lang="en-US" altLang="zh-CN" dirty="0">
                  <a:latin typeface="Cambria Math" panose="02040503050406030204" pitchFamily="18" charset="0"/>
                </a:endParaRPr>
              </a:p>
              <a:p>
                <a:pPr>
                  <a:spcBef>
                    <a:spcPts val="800"/>
                  </a:spcBef>
                </a:pPr>
                <a:r>
                  <a:rPr lang="zh-CN" altLang="en-US" dirty="0">
                    <a:latin typeface="Cambria Math" panose="02040503050406030204" pitchFamily="18" charset="0"/>
                  </a:rPr>
                  <a:t>         为了满足估计器的无偏，联合组合</a:t>
                </a:r>
                <a:r>
                  <a:rPr lang="en-US" altLang="zh-CN" dirty="0">
                    <a:latin typeface="Cambria Math" panose="02040503050406030204" pitchFamily="18" charset="0"/>
                  </a:rPr>
                  <a:t>MIS</a:t>
                </a:r>
                <a:r>
                  <a:rPr lang="zh-CN" altLang="en-US" dirty="0">
                    <a:latin typeface="Cambria Math" panose="02040503050406030204" pitchFamily="18" charset="0"/>
                  </a:rPr>
                  <a:t>的采样技术要满足：</a:t>
                </a:r>
                <a:endParaRPr lang="en-US" altLang="zh-CN" dirty="0">
                  <a:latin typeface="Cambria Math" panose="02040503050406030204" pitchFamily="18" charset="0"/>
                </a:endParaRPr>
              </a:p>
              <a:p>
                <a:pPr/>
                <a14:m>
                  <m:oMathPara xmlns:m="http://schemas.openxmlformats.org/officeDocument/2006/math">
                    <m:oMath>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𝟎</m:t>
                      </m:r>
                      <m:r>
                        <a:rPr lang="en-US" altLang="zh-CN" b="1" i="1" dirty="0" smtClean="0">
                          <a:latin typeface="Cambria Math" panose="02040503050406030204" pitchFamily="18" charset="0"/>
                        </a:rPr>
                        <m:t>  ⇒  </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ℎ</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𝜆</m:t>
                              </m:r>
                            </m:sub>
                          </m:sSub>
                        </m:sup>
                        <m:e>
                          <m:nary>
                            <m:naryPr>
                              <m:chr m:val="∑"/>
                              <m:supHide m:val="on"/>
                              <m:ctrlPr>
                                <a:rPr lang="en-US" altLang="zh-CN" i="1">
                                  <a:latin typeface="Cambria Math" panose="02040503050406030204" pitchFamily="18" charset="0"/>
                                </a:rPr>
                              </m:ctrlPr>
                            </m:naryPr>
                            <m:sub>
                              <m:r>
                                <m:rPr>
                                  <m:brk m:alnAt="7"/>
                                </m:rPr>
                                <a:rPr lang="en-US" altLang="zh-CN" i="1">
                                  <a:latin typeface="Cambria Math" panose="02040503050406030204" pitchFamily="18" charset="0"/>
                                </a:rPr>
                                <m:t>𝑡</m:t>
                              </m:r>
                              <m:r>
                                <m:rPr>
                                  <m:brk m:alnAt="7"/>
                                </m:rP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𝐵</m:t>
                                  </m:r>
                                </m:e>
                              </m:d>
                            </m:sub>
                            <m:sup/>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ℎ</m:t>
                                  </m:r>
                                </m:sub>
                              </m:sSub>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𝑞</m:t>
                                  </m:r>
                                </m:e>
                                <m:sub>
                                  <m:r>
                                    <a:rPr lang="en-US" altLang="zh-CN" b="0" i="1" dirty="0" smtClean="0">
                                      <a:latin typeface="Cambria Math" panose="02040503050406030204" pitchFamily="18" charset="0"/>
                                    </a:rPr>
                                    <m:t>𝑖</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ℎ</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sub>
                              </m:sSub>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e>
                                  <m:r>
                                    <a:rPr lang="en-US" altLang="zh-CN" b="1" i="0" dirty="0" smtClean="0">
                                      <a:latin typeface="Cambria Math" panose="02040503050406030204" pitchFamily="18" charset="0"/>
                                    </a:rPr>
                                    <m:t>𝛌</m:t>
                                  </m:r>
                                </m:e>
                              </m:d>
                            </m:e>
                          </m:nary>
                        </m:e>
                      </m:nary>
                      <m:r>
                        <a:rPr lang="en-US" altLang="zh-CN" b="0" i="1" smtClean="0">
                          <a:latin typeface="Cambria Math" panose="02040503050406030204" pitchFamily="18" charset="0"/>
                        </a:rPr>
                        <m:t>&gt;0</m:t>
                      </m:r>
                    </m:oMath>
                  </m:oMathPara>
                </a14:m>
                <a:endParaRPr lang="en-US" altLang="zh-CN" dirty="0">
                  <a:solidFill>
                    <a:schemeClr val="tx1"/>
                  </a:solidFill>
                  <a:latin typeface="Cambria Math" panose="02040503050406030204" pitchFamily="18" charset="0"/>
                </a:endParaRPr>
              </a:p>
            </p:txBody>
          </p:sp>
        </mc:Choice>
        <mc:Fallback xmlns="">
          <p:sp>
            <p:nvSpPr>
              <p:cNvPr id="12" name="文本框 11">
                <a:extLst>
                  <a:ext uri="{FF2B5EF4-FFF2-40B4-BE49-F238E27FC236}">
                    <a16:creationId xmlns:a16="http://schemas.microsoft.com/office/drawing/2014/main" id="{EC378ED4-1691-13B3-A79C-A53093BD11B0}"/>
                  </a:ext>
                </a:extLst>
              </p:cNvPr>
              <p:cNvSpPr txBox="1">
                <a:spLocks noRot="1" noChangeAspect="1" noMove="1" noResize="1" noEditPoints="1" noAdjustHandles="1" noChangeArrowheads="1" noChangeShapeType="1" noTextEdit="1"/>
              </p:cNvSpPr>
              <p:nvPr/>
            </p:nvSpPr>
            <p:spPr>
              <a:xfrm>
                <a:off x="466317" y="2194451"/>
                <a:ext cx="6642820" cy="3367076"/>
              </a:xfrm>
              <a:prstGeom prst="rect">
                <a:avLst/>
              </a:prstGeom>
              <a:blipFill>
                <a:blip r:embed="rId3"/>
                <a:stretch>
                  <a:fillRect l="-73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1FAF6F1-584B-A0F1-D04E-73BE10675133}"/>
                  </a:ext>
                </a:extLst>
              </p:cNvPr>
              <p:cNvSpPr txBox="1"/>
              <p:nvPr/>
            </p:nvSpPr>
            <p:spPr>
              <a:xfrm>
                <a:off x="210354" y="1214378"/>
                <a:ext cx="11771291" cy="757451"/>
              </a:xfrm>
              <a:prstGeom prst="rect">
                <a:avLst/>
              </a:prstGeom>
              <a:noFill/>
            </p:spPr>
            <p:txBody>
              <a:bodyPr wrap="square">
                <a:spAutoFit/>
              </a:bodyPr>
              <a:lstStyle/>
              <a:p>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𝐿</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𝐵</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f>
                        <m:fPr>
                          <m:ctrlPr>
                            <a:rPr lang="en-US" altLang="zh-CN" b="1" i="1" dirty="0">
                              <a:latin typeface="Cambria Math" panose="02040503050406030204" pitchFamily="18" charset="0"/>
                            </a:rPr>
                          </m:ctrlPr>
                        </m:fPr>
                        <m:num>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b="1" i="1" dirty="0">
                                  <a:latin typeface="Cambria Math" panose="02040503050406030204" pitchFamily="18" charset="0"/>
                                </a:rPr>
                                <m:t>,</m:t>
                              </m:r>
                              <m:r>
                                <a:rPr lang="en-US" altLang="zh-CN" b="1" dirty="0">
                                  <a:latin typeface="Cambria Math" panose="02040503050406030204" pitchFamily="18" charset="0"/>
                                </a:rPr>
                                <m:t>𝛌</m:t>
                              </m:r>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oMath>
                  </m:oMathPara>
                </a14:m>
                <a:endParaRPr lang="en-US" altLang="zh-CN" dirty="0">
                  <a:latin typeface="Cambria Math" panose="02040503050406030204" pitchFamily="18" charset="0"/>
                </a:endParaRPr>
              </a:p>
            </p:txBody>
          </p:sp>
        </mc:Choice>
        <mc:Fallback xmlns="">
          <p:sp>
            <p:nvSpPr>
              <p:cNvPr id="16" name="文本框 15">
                <a:extLst>
                  <a:ext uri="{FF2B5EF4-FFF2-40B4-BE49-F238E27FC236}">
                    <a16:creationId xmlns:a16="http://schemas.microsoft.com/office/drawing/2014/main" id="{01FAF6F1-584B-A0F1-D04E-73BE10675133}"/>
                  </a:ext>
                </a:extLst>
              </p:cNvPr>
              <p:cNvSpPr txBox="1">
                <a:spLocks noRot="1" noChangeAspect="1" noMove="1" noResize="1" noEditPoints="1" noAdjustHandles="1" noChangeArrowheads="1" noChangeShapeType="1" noTextEdit="1"/>
              </p:cNvSpPr>
              <p:nvPr/>
            </p:nvSpPr>
            <p:spPr>
              <a:xfrm>
                <a:off x="210354" y="1214378"/>
                <a:ext cx="11771291" cy="757451"/>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3438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CA61-CBFC-B409-0E52-4F805687E09B}"/>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C0105C81-2F2E-AE0A-4C0D-274A96086170}"/>
              </a:ext>
            </a:extLst>
          </p:cNvPr>
          <p:cNvSpPr>
            <a:spLocks noGrp="1"/>
          </p:cNvSpPr>
          <p:nvPr>
            <p:ph type="title" idx="1"/>
          </p:nvPr>
        </p:nvSpPr>
        <p:spPr/>
        <p:txBody>
          <a:bodyPr/>
          <a:lstStyle/>
          <a:p>
            <a:r>
              <a:rPr lang="zh-CN" altLang="en-US" dirty="0"/>
              <a:t>两种方法的对比</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715FD68-0F60-5B74-F5C1-6374B1A01BA8}"/>
                  </a:ext>
                </a:extLst>
              </p:cNvPr>
              <p:cNvSpPr txBox="1"/>
              <p:nvPr/>
            </p:nvSpPr>
            <p:spPr>
              <a:xfrm>
                <a:off x="123958" y="1466474"/>
                <a:ext cx="5594262" cy="2553391"/>
              </a:xfrm>
              <a:prstGeom prst="rect">
                <a:avLst/>
              </a:prstGeom>
              <a:noFill/>
            </p:spPr>
            <p:txBody>
              <a:bodyPr wrap="square">
                <a:spAutoFit/>
              </a:bodyPr>
              <a:lstStyle/>
              <a:p>
                <a:r>
                  <a:rPr lang="zh-CN" altLang="en-US" sz="2400" b="1" dirty="0">
                    <a:solidFill>
                      <a:schemeClr val="tx1"/>
                    </a:solidFill>
                    <a:latin typeface="Cambria Math" panose="02040503050406030204" pitchFamily="18" charset="0"/>
                  </a:rPr>
                  <a:t>分层组合：</a:t>
                </a:r>
                <a:endParaRPr lang="en-US" altLang="zh-CN" sz="2000" dirty="0">
                  <a:solidFill>
                    <a:schemeClr val="tx1"/>
                  </a:solidFill>
                </a:endParaRPr>
              </a:p>
              <a:p>
                <a:pPr algn="ctr"/>
                <a:r>
                  <a:rPr lang="zh-CN" altLang="en-US" sz="1800" b="1" dirty="0">
                    <a:solidFill>
                      <a:schemeClr val="tx1"/>
                    </a:solidFill>
                    <a:latin typeface="Cambria Math" panose="02040503050406030204" pitchFamily="18" charset="0"/>
                  </a:rPr>
                  <a:t>估计器</a:t>
                </a:r>
                <a:endParaRPr lang="en-US" altLang="zh-CN" sz="1800" b="1" dirty="0">
                  <a:solidFill>
                    <a:schemeClr val="tx1"/>
                  </a:solidFill>
                  <a:latin typeface="Cambria Math" panose="02040503050406030204" pitchFamily="18" charset="0"/>
                </a:endParaRPr>
              </a:p>
              <a:p>
                <a:pPr/>
                <a14:m>
                  <m:oMathPara xmlns:m="http://schemas.openxmlformats.org/officeDocument/2006/math">
                    <m:oMath>
                      <m:sSubSup>
                        <m:sSubSupPr>
                          <m:ctrlPr>
                            <a:rPr lang="zh-CN" altLang="en-US" sz="1800" b="1" i="1" dirty="0">
                              <a:solidFill>
                                <a:schemeClr val="tx1"/>
                              </a:solidFill>
                              <a:latin typeface="Cambria Math" panose="02040503050406030204" pitchFamily="18" charset="0"/>
                            </a:rPr>
                          </m:ctrlPr>
                        </m:sSubSupPr>
                        <m:e>
                          <m:acc>
                            <m:accPr>
                              <m:chr m:val="̂"/>
                              <m:ctrlPr>
                                <a:rPr lang="zh-CN" altLang="en-US" sz="1800" b="1" i="1" dirty="0">
                                  <a:solidFill>
                                    <a:schemeClr val="tx1"/>
                                  </a:solidFill>
                                  <a:latin typeface="Cambria Math" panose="02040503050406030204" pitchFamily="18" charset="0"/>
                                </a:rPr>
                              </m:ctrlPr>
                            </m:accPr>
                            <m:e>
                              <m:r>
                                <a:rPr lang="zh-CN" altLang="en-US" sz="1800" b="1" i="1" dirty="0">
                                  <a:solidFill>
                                    <a:schemeClr val="tx1"/>
                                  </a:solidFill>
                                  <a:latin typeface="Cambria Math" panose="02040503050406030204" pitchFamily="18" charset="0"/>
                                </a:rPr>
                                <m:t>𝓙</m:t>
                              </m:r>
                            </m:e>
                          </m:acc>
                        </m:e>
                        <m:sub>
                          <m:r>
                            <a:rPr lang="en-US" altLang="zh-CN" sz="1800" i="1" dirty="0">
                              <a:solidFill>
                                <a:schemeClr val="tx1"/>
                              </a:solidFill>
                              <a:latin typeface="Cambria Math" panose="02040503050406030204" pitchFamily="18" charset="0"/>
                            </a:rPr>
                            <m:t>𝑖</m:t>
                          </m:r>
                        </m:sub>
                        <m:sup>
                          <m:r>
                            <a:rPr lang="en-US" altLang="zh-CN" sz="1800" b="0" i="1" dirty="0" smtClean="0">
                              <a:solidFill>
                                <a:schemeClr val="tx1"/>
                              </a:solidFill>
                              <a:latin typeface="Cambria Math" panose="02040503050406030204" pitchFamily="18" charset="0"/>
                            </a:rPr>
                            <m:t>𝑙𝑎𝑦𝑒𝑟</m:t>
                          </m:r>
                        </m:sup>
                      </m:sSubSup>
                      <m:d>
                        <m:dPr>
                          <m:ctrlPr>
                            <a:rPr lang="en-US" altLang="zh-CN" sz="1800" b="1" dirty="0">
                              <a:solidFill>
                                <a:schemeClr val="tx1"/>
                              </a:solidFill>
                              <a:latin typeface="Cambria Math" panose="02040503050406030204" pitchFamily="18" charset="0"/>
                            </a:rPr>
                          </m:ctrlPr>
                        </m:dPr>
                        <m:e>
                          <m:r>
                            <a:rPr lang="en-US" altLang="zh-CN" sz="1800" b="1" dirty="0">
                              <a:solidFill>
                                <a:schemeClr val="tx1"/>
                              </a:solidFill>
                              <a:latin typeface="Cambria Math" panose="02040503050406030204" pitchFamily="18" charset="0"/>
                            </a:rPr>
                            <m:t>𝛌</m:t>
                          </m:r>
                        </m:e>
                      </m:d>
                      <m:r>
                        <a:rPr lang="en-US" altLang="zh-CN" sz="1800" b="1" i="1" dirty="0">
                          <a:solidFill>
                            <a:schemeClr val="tx1"/>
                          </a:solidFill>
                          <a:latin typeface="Cambria Math" panose="02040503050406030204" pitchFamily="18" charset="0"/>
                        </a:rPr>
                        <m:t>=</m:t>
                      </m:r>
                      <m:sSubSup>
                        <m:sSubSupPr>
                          <m:ctrlPr>
                            <a:rPr lang="en-US" altLang="zh-CN" sz="1800" i="1" dirty="0">
                              <a:solidFill>
                                <a:schemeClr val="tx1"/>
                              </a:solidFill>
                              <a:latin typeface="Cambria Math" panose="02040503050406030204" pitchFamily="18" charset="0"/>
                            </a:rPr>
                          </m:ctrlPr>
                        </m:sSubSupPr>
                        <m:e>
                          <m:r>
                            <a:rPr lang="en-US" altLang="zh-CN" sz="1800" i="1" dirty="0">
                              <a:solidFill>
                                <a:schemeClr val="tx1"/>
                              </a:solidFill>
                              <a:latin typeface="Cambria Math" panose="02040503050406030204" pitchFamily="18" charset="0"/>
                            </a:rPr>
                            <m:t>𝑤</m:t>
                          </m:r>
                        </m:e>
                        <m:sub>
                          <m:r>
                            <a:rPr lang="en-US" altLang="zh-CN" sz="1800" i="1" dirty="0">
                              <a:solidFill>
                                <a:schemeClr val="tx1"/>
                              </a:solidFill>
                              <a:latin typeface="Cambria Math" panose="02040503050406030204" pitchFamily="18" charset="0"/>
                            </a:rPr>
                            <m:t>𝐻</m:t>
                          </m:r>
                        </m:sub>
                        <m:sup>
                          <m:r>
                            <a:rPr lang="en-US" altLang="zh-CN" sz="1800" b="0" i="1" dirty="0" smtClean="0">
                              <a:solidFill>
                                <a:schemeClr val="tx1"/>
                              </a:solidFill>
                              <a:latin typeface="Cambria Math" panose="02040503050406030204" pitchFamily="18" charset="0"/>
                            </a:rPr>
                            <m:t>𝑙𝑎𝑦𝑒𝑟</m:t>
                          </m:r>
                        </m:sup>
                      </m:sSubSup>
                      <m:d>
                        <m:dPr>
                          <m:ctrlPr>
                            <a:rPr lang="en-US" altLang="zh-CN" sz="1800" i="1" dirty="0">
                              <a:solidFill>
                                <a:schemeClr val="tx1"/>
                              </a:solidFill>
                              <a:latin typeface="Cambria Math" panose="02040503050406030204" pitchFamily="18" charset="0"/>
                            </a:rPr>
                          </m:ctrlPr>
                        </m:dPr>
                        <m:e>
                          <m:sSub>
                            <m:sSubPr>
                              <m:ctrlPr>
                                <a:rPr lang="en-US" altLang="zh-CN" sz="1800" i="1" dirty="0">
                                  <a:solidFill>
                                    <a:schemeClr val="tx1"/>
                                  </a:solidFill>
                                  <a:latin typeface="Cambria Math" panose="02040503050406030204" pitchFamily="18" charset="0"/>
                                </a:rPr>
                              </m:ctrlPr>
                            </m:sSubPr>
                            <m:e>
                              <m:acc>
                                <m:accPr>
                                  <m:chr m:val="̅"/>
                                  <m:ctrlPr>
                                    <a:rPr lang="en-US" altLang="zh-CN" sz="1800" i="1" dirty="0">
                                      <a:solidFill>
                                        <a:schemeClr val="tx1"/>
                                      </a:solidFill>
                                      <a:latin typeface="Cambria Math" panose="02040503050406030204" pitchFamily="18" charset="0"/>
                                    </a:rPr>
                                  </m:ctrlPr>
                                </m:accPr>
                                <m:e>
                                  <m:r>
                                    <a:rPr lang="en-US" altLang="zh-CN" sz="1800" i="1" dirty="0">
                                      <a:solidFill>
                                        <a:schemeClr val="tx1"/>
                                      </a:solidFill>
                                      <a:latin typeface="Cambria Math" panose="02040503050406030204" pitchFamily="18" charset="0"/>
                                    </a:rPr>
                                    <m:t>𝑝</m:t>
                                  </m:r>
                                </m:e>
                              </m:acc>
                            </m:e>
                            <m:sub>
                              <m:r>
                                <a:rPr lang="en-US" altLang="zh-CN" sz="1800" i="1" dirty="0">
                                  <a:solidFill>
                                    <a:schemeClr val="tx1"/>
                                  </a:solidFill>
                                  <a:latin typeface="Cambria Math" panose="02040503050406030204" pitchFamily="18" charset="0"/>
                                </a:rPr>
                                <m:t>𝑖</m:t>
                              </m:r>
                              <m:r>
                                <a:rPr lang="en-US" altLang="zh-CN" sz="1800" b="0" i="1" dirty="0" smtClean="0">
                                  <a:solidFill>
                                    <a:schemeClr val="tx1"/>
                                  </a:solidFill>
                                  <a:latin typeface="Cambria Math" panose="02040503050406030204" pitchFamily="18" charset="0"/>
                                </a:rPr>
                                <m:t>−1</m:t>
                              </m:r>
                            </m:sub>
                          </m:sSub>
                        </m:e>
                      </m:d>
                      <m:f>
                        <m:fPr>
                          <m:ctrlPr>
                            <a:rPr lang="en-US" altLang="zh-CN" sz="1800" b="1" i="1" dirty="0">
                              <a:solidFill>
                                <a:schemeClr val="tx1"/>
                              </a:solidFill>
                              <a:latin typeface="Cambria Math" panose="02040503050406030204" pitchFamily="18" charset="0"/>
                            </a:rPr>
                          </m:ctrlPr>
                        </m:fPr>
                        <m:num>
                          <m:sSub>
                            <m:sSubPr>
                              <m:ctrlPr>
                                <a:rPr lang="en-US" altLang="zh-CN" sz="1800" b="1" i="1" dirty="0">
                                  <a:solidFill>
                                    <a:schemeClr val="tx1"/>
                                  </a:solidFill>
                                  <a:latin typeface="Cambria Math" panose="02040503050406030204" pitchFamily="18" charset="0"/>
                                </a:rPr>
                              </m:ctrlPr>
                            </m:sSubPr>
                            <m:e>
                              <m:acc>
                                <m:accPr>
                                  <m:chr m:val="̂"/>
                                  <m:ctrlPr>
                                    <a:rPr lang="en-US" altLang="zh-CN" sz="1800" b="1" i="1" dirty="0">
                                      <a:solidFill>
                                        <a:schemeClr val="tx1"/>
                                      </a:solidFill>
                                      <a:latin typeface="Cambria Math" panose="02040503050406030204" pitchFamily="18" charset="0"/>
                                    </a:rPr>
                                  </m:ctrlPr>
                                </m:accPr>
                                <m:e>
                                  <m:r>
                                    <a:rPr lang="en-US" altLang="zh-CN" sz="1800" b="1" i="1" dirty="0">
                                      <a:solidFill>
                                        <a:schemeClr val="tx1"/>
                                      </a:solidFill>
                                      <a:latin typeface="Cambria Math" panose="02040503050406030204" pitchFamily="18" charset="0"/>
                                    </a:rPr>
                                    <m:t>𝑮</m:t>
                                  </m:r>
                                </m:e>
                              </m:acc>
                            </m:e>
                            <m:sub>
                              <m:r>
                                <a:rPr lang="en-US" altLang="zh-CN" sz="1800" i="1" dirty="0">
                                  <a:solidFill>
                                    <a:schemeClr val="tx1"/>
                                  </a:solidFill>
                                  <a:latin typeface="Cambria Math" panose="02040503050406030204" pitchFamily="18" charset="0"/>
                                </a:rPr>
                                <m:t>𝑖</m:t>
                              </m:r>
                              <m:r>
                                <a:rPr lang="en-US" altLang="zh-CN" sz="1800" b="0" i="1" dirty="0" smtClean="0">
                                  <a:solidFill>
                                    <a:schemeClr val="tx1"/>
                                  </a:solidFill>
                                  <a:latin typeface="Cambria Math" panose="02040503050406030204" pitchFamily="18" charset="0"/>
                                </a:rPr>
                                <m:t>,</m:t>
                              </m:r>
                              <m:r>
                                <a:rPr lang="en-US" altLang="zh-CN" sz="1800" b="0" i="1" dirty="0" smtClean="0">
                                  <a:solidFill>
                                    <a:schemeClr val="tx1"/>
                                  </a:solidFill>
                                  <a:latin typeface="Cambria Math" panose="02040503050406030204" pitchFamily="18" charset="0"/>
                                </a:rPr>
                                <m:t>𝐻</m:t>
                              </m:r>
                            </m:sub>
                          </m:sSub>
                          <m:d>
                            <m:dPr>
                              <m:ctrlPr>
                                <a:rPr lang="en-US" altLang="zh-CN" sz="1800" i="1" dirty="0">
                                  <a:solidFill>
                                    <a:schemeClr val="tx1"/>
                                  </a:solidFill>
                                  <a:latin typeface="Cambria Math" panose="02040503050406030204" pitchFamily="18" charset="0"/>
                                </a:rPr>
                              </m:ctrlPr>
                            </m:dPr>
                            <m:e>
                              <m:sSub>
                                <m:sSubPr>
                                  <m:ctrlPr>
                                    <a:rPr lang="en-US" altLang="zh-CN" sz="1800" i="1" dirty="0">
                                      <a:solidFill>
                                        <a:schemeClr val="tx1"/>
                                      </a:solidFill>
                                      <a:latin typeface="Cambria Math" panose="02040503050406030204" pitchFamily="18" charset="0"/>
                                    </a:rPr>
                                  </m:ctrlPr>
                                </m:sSubPr>
                                <m:e>
                                  <m:acc>
                                    <m:accPr>
                                      <m:chr m:val="̅"/>
                                      <m:ctrlPr>
                                        <a:rPr lang="en-US" altLang="zh-CN" sz="1800" i="1" dirty="0">
                                          <a:solidFill>
                                            <a:schemeClr val="tx1"/>
                                          </a:solidFill>
                                          <a:latin typeface="Cambria Math" panose="02040503050406030204" pitchFamily="18" charset="0"/>
                                        </a:rPr>
                                      </m:ctrlPr>
                                    </m:accPr>
                                    <m:e>
                                      <m:r>
                                        <a:rPr lang="en-US" altLang="zh-CN" sz="1800" i="1" dirty="0">
                                          <a:solidFill>
                                            <a:schemeClr val="tx1"/>
                                          </a:solidFill>
                                          <a:latin typeface="Cambria Math" panose="02040503050406030204" pitchFamily="18" charset="0"/>
                                        </a:rPr>
                                        <m:t>𝑝</m:t>
                                      </m:r>
                                    </m:e>
                                  </m:acc>
                                </m:e>
                                <m:sub>
                                  <m:r>
                                    <a:rPr lang="en-US" altLang="zh-CN" sz="1800" i="1" dirty="0">
                                      <a:solidFill>
                                        <a:schemeClr val="tx1"/>
                                      </a:solidFill>
                                      <a:latin typeface="Cambria Math" panose="02040503050406030204" pitchFamily="18" charset="0"/>
                                    </a:rPr>
                                    <m:t>𝑖</m:t>
                                  </m:r>
                                  <m:r>
                                    <a:rPr lang="en-US" altLang="zh-CN" sz="1800" b="0" i="1" dirty="0" smtClean="0">
                                      <a:solidFill>
                                        <a:schemeClr val="tx1"/>
                                      </a:solidFill>
                                      <a:latin typeface="Cambria Math" panose="02040503050406030204" pitchFamily="18" charset="0"/>
                                    </a:rPr>
                                    <m:t>−1</m:t>
                                  </m:r>
                                </m:sub>
                              </m:sSub>
                              <m:r>
                                <a:rPr lang="en-US" altLang="zh-CN" sz="1800" b="1" i="1" dirty="0">
                                  <a:solidFill>
                                    <a:schemeClr val="tx1"/>
                                  </a:solidFill>
                                  <a:latin typeface="Cambria Math" panose="02040503050406030204" pitchFamily="18" charset="0"/>
                                </a:rPr>
                                <m:t>,</m:t>
                              </m:r>
                              <m:r>
                                <a:rPr lang="en-US" altLang="zh-CN" sz="1800" b="1" dirty="0">
                                  <a:solidFill>
                                    <a:schemeClr val="tx1"/>
                                  </a:solidFill>
                                  <a:latin typeface="Cambria Math" panose="02040503050406030204" pitchFamily="18" charset="0"/>
                                </a:rPr>
                                <m:t>𝛌</m:t>
                              </m:r>
                            </m:e>
                          </m:d>
                        </m:num>
                        <m:den>
                          <m:sSub>
                            <m:sSubPr>
                              <m:ctrlPr>
                                <a:rPr lang="en-US" altLang="zh-CN" sz="1800" i="1" dirty="0">
                                  <a:solidFill>
                                    <a:schemeClr val="tx1"/>
                                  </a:solidFill>
                                  <a:latin typeface="Cambria Math" panose="02040503050406030204" pitchFamily="18" charset="0"/>
                                </a:rPr>
                              </m:ctrlPr>
                            </m:sSubPr>
                            <m:e>
                              <m:r>
                                <a:rPr lang="en-US" altLang="zh-CN" sz="1800" i="1" dirty="0">
                                  <a:solidFill>
                                    <a:schemeClr val="tx1"/>
                                  </a:solidFill>
                                  <a:latin typeface="Cambria Math" panose="02040503050406030204" pitchFamily="18" charset="0"/>
                                </a:rPr>
                                <m:t>𝑐</m:t>
                              </m:r>
                            </m:e>
                            <m:sub>
                              <m:r>
                                <a:rPr lang="en-US" altLang="zh-CN" sz="1800" i="1" dirty="0">
                                  <a:solidFill>
                                    <a:schemeClr val="tx1"/>
                                  </a:solidFill>
                                  <a:latin typeface="Cambria Math" panose="02040503050406030204" pitchFamily="18" charset="0"/>
                                </a:rPr>
                                <m:t>𝐻</m:t>
                              </m:r>
                            </m:sub>
                          </m:sSub>
                          <m:sSubSup>
                            <m:sSubSupPr>
                              <m:ctrlPr>
                                <a:rPr lang="en-US" altLang="zh-CN" sz="1800" i="1" dirty="0">
                                  <a:solidFill>
                                    <a:schemeClr val="tx1"/>
                                  </a:solidFill>
                                  <a:latin typeface="Cambria Math" panose="02040503050406030204" pitchFamily="18" charset="0"/>
                                </a:rPr>
                              </m:ctrlPr>
                            </m:sSubSupPr>
                            <m:e>
                              <m:r>
                                <a:rPr lang="en-US" altLang="zh-CN" sz="1800" i="1" dirty="0">
                                  <a:solidFill>
                                    <a:schemeClr val="tx1"/>
                                  </a:solidFill>
                                  <a:latin typeface="Cambria Math" panose="02040503050406030204" pitchFamily="18" charset="0"/>
                                </a:rPr>
                                <m:t>𝑞</m:t>
                              </m:r>
                            </m:e>
                            <m:sub>
                              <m:r>
                                <a:rPr lang="en-US" altLang="zh-CN" sz="1800" i="1" dirty="0">
                                  <a:solidFill>
                                    <a:schemeClr val="tx1"/>
                                  </a:solidFill>
                                  <a:latin typeface="Cambria Math" panose="02040503050406030204" pitchFamily="18" charset="0"/>
                                </a:rPr>
                                <m:t>𝑖</m:t>
                              </m:r>
                              <m:r>
                                <a:rPr lang="en-US" altLang="zh-CN" sz="1800" b="0" i="1" dirty="0" smtClean="0">
                                  <a:solidFill>
                                    <a:schemeClr val="tx1"/>
                                  </a:solidFill>
                                  <a:latin typeface="Cambria Math" panose="02040503050406030204" pitchFamily="18" charset="0"/>
                                </a:rPr>
                                <m:t>−1</m:t>
                              </m:r>
                              <m:r>
                                <a:rPr lang="en-US" altLang="zh-CN" sz="1800" i="1" dirty="0">
                                  <a:solidFill>
                                    <a:schemeClr val="tx1"/>
                                  </a:solidFill>
                                  <a:latin typeface="Cambria Math" panose="02040503050406030204" pitchFamily="18" charset="0"/>
                                </a:rPr>
                                <m:t>,</m:t>
                              </m:r>
                              <m:r>
                                <a:rPr lang="en-US" altLang="zh-CN" sz="1800" i="1" dirty="0">
                                  <a:solidFill>
                                    <a:schemeClr val="tx1"/>
                                  </a:solidFill>
                                  <a:latin typeface="Cambria Math" panose="02040503050406030204" pitchFamily="18" charset="0"/>
                                </a:rPr>
                                <m:t>𝐻</m:t>
                              </m:r>
                            </m:sub>
                            <m:sup>
                              <m:r>
                                <a:rPr lang="en-US" altLang="zh-CN" sz="1800" b="0" i="1" dirty="0" smtClean="0">
                                  <a:solidFill>
                                    <a:schemeClr val="tx1"/>
                                  </a:solidFill>
                                  <a:latin typeface="Cambria Math" panose="02040503050406030204" pitchFamily="18" charset="0"/>
                                </a:rPr>
                                <m:t>𝑝𝑟𝑒</m:t>
                              </m:r>
                            </m:sup>
                          </m:sSubSup>
                          <m:d>
                            <m:dPr>
                              <m:ctrlPr>
                                <a:rPr lang="en-US" altLang="zh-CN" sz="1800" i="1" dirty="0">
                                  <a:solidFill>
                                    <a:schemeClr val="tx1"/>
                                  </a:solidFill>
                                  <a:latin typeface="Cambria Math" panose="02040503050406030204" pitchFamily="18" charset="0"/>
                                </a:rPr>
                              </m:ctrlPr>
                            </m:dPr>
                            <m:e>
                              <m:sSub>
                                <m:sSubPr>
                                  <m:ctrlPr>
                                    <a:rPr lang="en-US" altLang="zh-CN" sz="1800" i="1" dirty="0">
                                      <a:solidFill>
                                        <a:schemeClr val="tx1"/>
                                      </a:solidFill>
                                      <a:latin typeface="Cambria Math" panose="02040503050406030204" pitchFamily="18" charset="0"/>
                                    </a:rPr>
                                  </m:ctrlPr>
                                </m:sSubPr>
                                <m:e>
                                  <m:acc>
                                    <m:accPr>
                                      <m:chr m:val="̅"/>
                                      <m:ctrlPr>
                                        <a:rPr lang="en-US" altLang="zh-CN" sz="1800" i="1" dirty="0">
                                          <a:solidFill>
                                            <a:schemeClr val="tx1"/>
                                          </a:solidFill>
                                          <a:latin typeface="Cambria Math" panose="02040503050406030204" pitchFamily="18" charset="0"/>
                                        </a:rPr>
                                      </m:ctrlPr>
                                    </m:accPr>
                                    <m:e>
                                      <m:r>
                                        <a:rPr lang="en-US" altLang="zh-CN" sz="1800" i="1" dirty="0">
                                          <a:solidFill>
                                            <a:schemeClr val="tx1"/>
                                          </a:solidFill>
                                          <a:latin typeface="Cambria Math" panose="02040503050406030204" pitchFamily="18" charset="0"/>
                                        </a:rPr>
                                        <m:t>𝑝</m:t>
                                      </m:r>
                                    </m:e>
                                  </m:acc>
                                </m:e>
                                <m:sub>
                                  <m:r>
                                    <a:rPr lang="en-US" altLang="zh-CN" sz="1800" i="1" dirty="0">
                                      <a:solidFill>
                                        <a:schemeClr val="tx1"/>
                                      </a:solidFill>
                                      <a:latin typeface="Cambria Math" panose="02040503050406030204" pitchFamily="18" charset="0"/>
                                    </a:rPr>
                                    <m:t>𝑖</m:t>
                                  </m:r>
                                  <m:r>
                                    <a:rPr lang="en-US" altLang="zh-CN" sz="1800" b="0" i="1" dirty="0" smtClean="0">
                                      <a:solidFill>
                                        <a:schemeClr val="tx1"/>
                                      </a:solidFill>
                                      <a:latin typeface="Cambria Math" panose="02040503050406030204" pitchFamily="18" charset="0"/>
                                    </a:rPr>
                                    <m:t>−1</m:t>
                                  </m:r>
                                </m:sub>
                              </m:sSub>
                              <m:r>
                                <a:rPr lang="en-US" altLang="zh-CN" sz="1800" i="1" dirty="0">
                                  <a:solidFill>
                                    <a:schemeClr val="tx1"/>
                                  </a:solidFill>
                                  <a:latin typeface="Cambria Math" panose="02040503050406030204" pitchFamily="18" charset="0"/>
                                </a:rPr>
                                <m:t>|</m:t>
                              </m:r>
                              <m:r>
                                <a:rPr lang="en-US" altLang="zh-CN" sz="1800" b="1" dirty="0">
                                  <a:solidFill>
                                    <a:schemeClr val="tx1"/>
                                  </a:solidFill>
                                  <a:latin typeface="Cambria Math" panose="02040503050406030204" pitchFamily="18" charset="0"/>
                                </a:rPr>
                                <m:t>𝛌</m:t>
                              </m:r>
                            </m:e>
                          </m:d>
                        </m:den>
                      </m:f>
                    </m:oMath>
                  </m:oMathPara>
                </a14:m>
                <a:endParaRPr lang="en-US" altLang="zh-CN" sz="1800" b="1" dirty="0">
                  <a:solidFill>
                    <a:schemeClr val="tx1"/>
                  </a:solidFill>
                </a:endParaRPr>
              </a:p>
              <a:p>
                <a:pPr/>
                <a14:m>
                  <m:oMathPara xmlns:m="http://schemas.openxmlformats.org/officeDocument/2006/math">
                    <m:oMath>
                      <m:sSub>
                        <m:sSubPr>
                          <m:ctrlPr>
                            <a:rPr lang="en-US" altLang="zh-CN" b="1" i="1" dirty="0">
                              <a:solidFill>
                                <a:schemeClr val="tx1"/>
                              </a:solidFill>
                              <a:latin typeface="Cambria Math" panose="02040503050406030204" pitchFamily="18" charset="0"/>
                            </a:rPr>
                          </m:ctrlPr>
                        </m:sSubPr>
                        <m:e>
                          <m:acc>
                            <m:accPr>
                              <m:chr m:val="̂"/>
                              <m:ctrlPr>
                                <a:rPr lang="en-US" altLang="zh-CN" b="1" i="1" dirty="0">
                                  <a:solidFill>
                                    <a:schemeClr val="tx1"/>
                                  </a:solidFill>
                                  <a:latin typeface="Cambria Math" panose="02040503050406030204" pitchFamily="18" charset="0"/>
                                </a:rPr>
                              </m:ctrlPr>
                            </m:accPr>
                            <m:e>
                              <m:r>
                                <a:rPr lang="en-US" altLang="zh-CN" b="1" i="1" dirty="0">
                                  <a:solidFill>
                                    <a:schemeClr val="tx1"/>
                                  </a:solidFill>
                                  <a:latin typeface="Cambria Math" panose="02040503050406030204" pitchFamily="18" charset="0"/>
                                </a:rPr>
                                <m:t>𝑮</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𝐻</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b="1" i="1" dirty="0">
                              <a:solidFill>
                                <a:schemeClr val="tx1"/>
                              </a:solidFill>
                              <a:latin typeface="Cambria Math" panose="02040503050406030204" pitchFamily="18" charset="0"/>
                            </a:rPr>
                            <m:t>,</m:t>
                          </m:r>
                          <m:r>
                            <a:rPr lang="en-US" altLang="zh-CN" b="1" dirty="0">
                              <a:solidFill>
                                <a:schemeClr val="tx1"/>
                              </a:solidFill>
                              <a:latin typeface="Cambria Math" panose="02040503050406030204" pitchFamily="18" charset="0"/>
                            </a:rPr>
                            <m:t>𝛌</m:t>
                          </m:r>
                        </m:e>
                      </m:d>
                      <m:r>
                        <a:rPr lang="en-US" altLang="zh-CN" b="1" i="1" dirty="0">
                          <a:solidFill>
                            <a:schemeClr val="tx1"/>
                          </a:solidFill>
                          <a:latin typeface="Cambria Math" panose="02040503050406030204" pitchFamily="18" charset="0"/>
                        </a:rPr>
                        <m:t>=</m:t>
                      </m:r>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1</m:t>
                          </m:r>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𝑁</m:t>
                              </m:r>
                            </m:e>
                            <m:sub>
                              <m:r>
                                <a:rPr lang="en-US" altLang="zh-CN" i="1" dirty="0">
                                  <a:solidFill>
                                    <a:schemeClr val="tx1"/>
                                  </a:solidFill>
                                  <a:latin typeface="Cambria Math" panose="02040503050406030204" pitchFamily="18" charset="0"/>
                                </a:rPr>
                                <m:t>𝜆</m:t>
                              </m:r>
                            </m:sub>
                          </m:sSub>
                        </m:den>
                      </m:f>
                      <m:nary>
                        <m:naryPr>
                          <m:chr m:val="∑"/>
                          <m:ctrlPr>
                            <a:rPr lang="en-US" altLang="zh-CN" i="1" dirty="0">
                              <a:solidFill>
                                <a:schemeClr val="tx1"/>
                              </a:solidFill>
                              <a:latin typeface="Cambria Math" panose="02040503050406030204" pitchFamily="18" charset="0"/>
                            </a:rPr>
                          </m:ctrlPr>
                        </m:naryPr>
                        <m:sub>
                          <m:r>
                            <m:rPr>
                              <m:brk m:alnAt="23"/>
                            </m:rPr>
                            <a:rPr lang="en-US" altLang="zh-CN" i="1" dirty="0">
                              <a:solidFill>
                                <a:schemeClr val="tx1"/>
                              </a:solidFill>
                              <a:latin typeface="Cambria Math" panose="02040503050406030204" pitchFamily="18" charset="0"/>
                            </a:rPr>
                            <m:t>𝑗</m:t>
                          </m:r>
                          <m:r>
                            <m:rPr>
                              <m:brk m:alnAt="23"/>
                            </m:rPr>
                            <a:rPr lang="en-US" altLang="zh-CN" i="1" dirty="0">
                              <a:solidFill>
                                <a:schemeClr val="tx1"/>
                              </a:solidFill>
                              <a:latin typeface="Cambria Math" panose="02040503050406030204" pitchFamily="18" charset="0"/>
                            </a:rPr>
                            <m:t>=</m:t>
                          </m:r>
                          <m:r>
                            <m:rPr>
                              <m:brk m:alnAt="23"/>
                            </m:rPr>
                            <a:rPr lang="en-US" altLang="zh-CN" i="1" dirty="0">
                              <a:solidFill>
                                <a:schemeClr val="tx1"/>
                              </a:solidFill>
                              <a:latin typeface="Cambria Math" panose="02040503050406030204" pitchFamily="18" charset="0"/>
                            </a:rPr>
                            <m:t>1</m:t>
                          </m:r>
                        </m:sub>
                        <m:sup>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𝑁</m:t>
                              </m:r>
                            </m:e>
                            <m:sub>
                              <m:r>
                                <a:rPr lang="en-US" altLang="zh-CN" i="1" dirty="0">
                                  <a:solidFill>
                                    <a:schemeClr val="tx1"/>
                                  </a:solidFill>
                                  <a:latin typeface="Cambria Math" panose="02040503050406030204" pitchFamily="18" charset="0"/>
                                </a:rPr>
                                <m:t>𝜆</m:t>
                              </m:r>
                            </m:sub>
                          </m:sSub>
                        </m:sup>
                        <m:e>
                          <m:f>
                            <m:fPr>
                              <m:ctrlPr>
                                <a:rPr lang="en-US" altLang="zh-CN" i="1">
                                  <a:solidFill>
                                    <a:schemeClr val="tx1"/>
                                  </a:solidFill>
                                  <a:latin typeface="Cambria Math" panose="02040503050406030204" pitchFamily="18" charset="0"/>
                                </a:rPr>
                              </m:ctrlPr>
                            </m:fPr>
                            <m:num>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r>
                                <a:rPr lang="en-US" altLang="zh-CN" b="0" i="1" smtClean="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𝐷</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𝐻</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r>
                                <a:rPr lang="en-US" altLang="zh-CN" b="0" i="1" smtClean="0">
                                  <a:solidFill>
                                    <a:schemeClr val="tx1"/>
                                  </a:solidFill>
                                  <a:latin typeface="Cambria Math" panose="02040503050406030204" pitchFamily="18" charset="0"/>
                                </a:rPr>
                                <m:t> </m:t>
                              </m:r>
                              <m:acc>
                                <m:accPr>
                                  <m:chr m:val="̅"/>
                                  <m:ctrlPr>
                                    <a:rPr lang="en-US" altLang="zh-CN" b="1"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𝒄</m:t>
                                  </m:r>
                                </m:e>
                              </m:acc>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𝜆</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den>
                          </m:f>
                        </m:e>
                      </m:nary>
                    </m:oMath>
                  </m:oMathPara>
                </a14:m>
                <a:endParaRPr lang="en-US" altLang="zh-CN" dirty="0">
                  <a:solidFill>
                    <a:schemeClr val="tx1"/>
                  </a:solidFill>
                </a:endParaRPr>
              </a:p>
              <a:p>
                <a:pPr/>
                <a14:m>
                  <m:oMathPara xmlns:m="http://schemas.openxmlformats.org/officeDocument/2006/math">
                    <m:oMath>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𝐷</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𝐻</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r>
                        <a:rPr lang="en-US" altLang="zh-CN" i="1">
                          <a:solidFill>
                            <a:schemeClr val="tx1"/>
                          </a:solidFill>
                          <a:latin typeface="Cambria Math" panose="02040503050406030204" pitchFamily="18" charset="0"/>
                        </a:rPr>
                        <m:t>=</m:t>
                      </m:r>
                      <m:sSubSup>
                        <m:sSubSupPr>
                          <m:ctrlPr>
                            <a:rPr lang="en-US" altLang="zh-CN" i="1">
                              <a:solidFill>
                                <a:schemeClr val="tx1"/>
                              </a:solidFill>
                              <a:latin typeface="Cambria Math" panose="02040503050406030204" pitchFamily="18" charset="0"/>
                            </a:rPr>
                          </m:ctrlPr>
                        </m:sSubSupPr>
                        <m:e>
                          <m:r>
                            <a:rPr lang="en-US" altLang="zh-CN" i="1">
                              <a:solidFill>
                                <a:schemeClr val="tx1"/>
                              </a:solidFill>
                              <a:latin typeface="Cambria Math" panose="02040503050406030204" pitchFamily="18" charset="0"/>
                            </a:rPr>
                            <m:t>𝑤</m:t>
                          </m:r>
                        </m:e>
                        <m:sub>
                          <m:r>
                            <a:rPr lang="en-US" altLang="zh-CN" i="1" dirty="0">
                              <a:solidFill>
                                <a:schemeClr val="tx1"/>
                              </a:solidFill>
                              <a:latin typeface="Cambria Math" panose="02040503050406030204" pitchFamily="18" charset="0"/>
                            </a:rPr>
                            <m:t>𝐿</m:t>
                          </m:r>
                          <m:r>
                            <a:rPr lang="en-US" altLang="zh-CN" i="1" dirty="0">
                              <a:solidFill>
                                <a:schemeClr val="tx1"/>
                              </a:solidFill>
                              <a:latin typeface="Cambria Math" panose="02040503050406030204" pitchFamily="18" charset="0"/>
                              <a:ea typeface="Cambria Math" panose="02040503050406030204" pitchFamily="18" charset="0"/>
                            </a:rPr>
                            <m:t>,</m:t>
                          </m:r>
                          <m:r>
                            <a:rPr lang="en-US" altLang="zh-CN" i="1" dirty="0">
                              <a:solidFill>
                                <a:schemeClr val="tx1"/>
                              </a:solidFill>
                              <a:latin typeface="Cambria Math" panose="02040503050406030204" pitchFamily="18" charset="0"/>
                              <a:ea typeface="Cambria Math" panose="02040503050406030204" pitchFamily="18" charset="0"/>
                            </a:rPr>
                            <m:t>𝐻</m:t>
                          </m:r>
                        </m:sub>
                        <m:sup>
                          <m:r>
                            <a:rPr lang="en-US" altLang="zh-CN" i="1" dirty="0">
                              <a:solidFill>
                                <a:schemeClr val="tx1"/>
                              </a:solidFill>
                              <a:latin typeface="Cambria Math" panose="02040503050406030204" pitchFamily="18" charset="0"/>
                              <a:ea typeface="Cambria Math" panose="02040503050406030204" pitchFamily="18" charset="0"/>
                            </a:rPr>
                            <m:t>𝑃</m:t>
                          </m:r>
                        </m:sup>
                      </m:sSubSup>
                      <m:d>
                        <m:dPr>
                          <m:ctrlPr>
                            <a:rPr lang="en-US" altLang="zh-CN" i="1">
                              <a:solidFill>
                                <a:schemeClr val="tx1"/>
                              </a:solidFill>
                              <a:latin typeface="Cambria Math" panose="02040503050406030204" pitchFamily="18" charset="0"/>
                            </a:rPr>
                          </m:ctrlPr>
                        </m:dPr>
                        <m:e>
                          <m:sSubSup>
                            <m:sSubSupPr>
                              <m:ctrlPr>
                                <a:rPr lang="en-US" altLang="zh-CN" i="1">
                                  <a:solidFill>
                                    <a:schemeClr val="tx1"/>
                                  </a:solidFill>
                                  <a:latin typeface="Cambria Math" panose="02040503050406030204" pitchFamily="18" charset="0"/>
                                </a:rPr>
                              </m:ctrlPr>
                            </m:sSubSup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up>
                              <m:r>
                                <a:rPr lang="en-US" altLang="zh-CN" i="1" dirty="0">
                                  <a:solidFill>
                                    <a:schemeClr val="tx1"/>
                                  </a:solidFill>
                                  <a:latin typeface="Cambria Math" panose="02040503050406030204" pitchFamily="18" charset="0"/>
                                </a:rPr>
                                <m:t>𝐿</m:t>
                              </m:r>
                            </m:sup>
                          </m:sSubSup>
                        </m:e>
                      </m:d>
                      <m:r>
                        <a:rPr lang="en-US" altLang="zh-CN" i="1" dirty="0">
                          <a:solidFill>
                            <a:schemeClr val="tx1"/>
                          </a:solidFill>
                          <a:latin typeface="Cambria Math" panose="02040503050406030204" pitchFamily="18" charset="0"/>
                          <a:ea typeface="Cambria Math" panose="02040503050406030204" pitchFamily="18" charset="0"/>
                        </a:rPr>
                        <m:t> </m:t>
                      </m:r>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𝐷</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𝐻</m:t>
                          </m:r>
                        </m:sub>
                        <m:sup>
                          <m:r>
                            <a:rPr lang="en-US" altLang="zh-CN" i="1" dirty="0">
                              <a:solidFill>
                                <a:schemeClr val="tx1"/>
                              </a:solidFill>
                              <a:latin typeface="Cambria Math" panose="02040503050406030204" pitchFamily="18" charset="0"/>
                            </a:rPr>
                            <m:t>𝐿</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r>
                        <a:rPr lang="en-US" altLang="zh-CN" i="1">
                          <a:solidFill>
                            <a:schemeClr val="tx1"/>
                          </a:solidFill>
                          <a:latin typeface="Cambria Math" panose="02040503050406030204" pitchFamily="18" charset="0"/>
                        </a:rPr>
                        <m:t>+</m:t>
                      </m:r>
                      <m:sSubSup>
                        <m:sSubSupPr>
                          <m:ctrlPr>
                            <a:rPr lang="en-US" altLang="zh-CN" i="1">
                              <a:solidFill>
                                <a:schemeClr val="tx1"/>
                              </a:solidFill>
                              <a:latin typeface="Cambria Math" panose="02040503050406030204" pitchFamily="18" charset="0"/>
                            </a:rPr>
                          </m:ctrlPr>
                        </m:sSubSupPr>
                        <m:e>
                          <m:r>
                            <a:rPr lang="en-US" altLang="zh-CN" i="1">
                              <a:solidFill>
                                <a:schemeClr val="tx1"/>
                              </a:solidFill>
                              <a:latin typeface="Cambria Math" panose="02040503050406030204" pitchFamily="18" charset="0"/>
                            </a:rPr>
                            <m:t>𝑤</m:t>
                          </m:r>
                        </m:e>
                        <m:sub>
                          <m:r>
                            <a:rPr lang="en-US" altLang="zh-CN" i="1" dirty="0">
                              <a:solidFill>
                                <a:schemeClr val="tx1"/>
                              </a:solidFill>
                              <a:latin typeface="Cambria Math" panose="02040503050406030204" pitchFamily="18" charset="0"/>
                            </a:rPr>
                            <m:t>𝐵</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𝐻</m:t>
                          </m:r>
                        </m:sub>
                        <m:sup>
                          <m:r>
                            <a:rPr lang="en-US" altLang="zh-CN" i="1" dirty="0">
                              <a:solidFill>
                                <a:schemeClr val="tx1"/>
                              </a:solidFill>
                              <a:latin typeface="Cambria Math" panose="02040503050406030204" pitchFamily="18" charset="0"/>
                            </a:rPr>
                            <m:t>𝑃</m:t>
                          </m:r>
                        </m:sup>
                      </m:sSubSup>
                      <m:d>
                        <m:dPr>
                          <m:ctrlPr>
                            <a:rPr lang="en-US" altLang="zh-CN" i="1">
                              <a:solidFill>
                                <a:schemeClr val="tx1"/>
                              </a:solidFill>
                              <a:latin typeface="Cambria Math" panose="02040503050406030204" pitchFamily="18" charset="0"/>
                            </a:rPr>
                          </m:ctrlPr>
                        </m:dPr>
                        <m:e>
                          <m:sSubSup>
                            <m:sSubSupPr>
                              <m:ctrlPr>
                                <a:rPr lang="en-US" altLang="zh-CN" i="1">
                                  <a:solidFill>
                                    <a:schemeClr val="tx1"/>
                                  </a:solidFill>
                                  <a:latin typeface="Cambria Math" panose="02040503050406030204" pitchFamily="18" charset="0"/>
                                </a:rPr>
                              </m:ctrlPr>
                            </m:sSubSup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up>
                              <m:r>
                                <a:rPr lang="en-US" altLang="zh-CN" i="1" dirty="0">
                                  <a:solidFill>
                                    <a:schemeClr val="tx1"/>
                                  </a:solidFill>
                                  <a:latin typeface="Cambria Math" panose="02040503050406030204" pitchFamily="18" charset="0"/>
                                </a:rPr>
                                <m:t>𝐵</m:t>
                              </m:r>
                            </m:sup>
                          </m:sSubSup>
                        </m:e>
                      </m:d>
                      <m:r>
                        <a:rPr lang="en-US" altLang="zh-CN" i="1">
                          <a:solidFill>
                            <a:schemeClr val="tx1"/>
                          </a:solidFill>
                          <a:latin typeface="Cambria Math" panose="02040503050406030204" pitchFamily="18" charset="0"/>
                        </a:rPr>
                        <m:t> </m:t>
                      </m:r>
                      <m:sSubSup>
                        <m:sSubSupPr>
                          <m:ctrlPr>
                            <a:rPr lang="en-US" altLang="zh-CN" i="1" dirty="0">
                              <a:solidFill>
                                <a:schemeClr val="tx1"/>
                              </a:solidFill>
                              <a:latin typeface="Cambria Math" panose="02040503050406030204" pitchFamily="18" charset="0"/>
                            </a:rPr>
                          </m:ctrlPr>
                        </m:sSubSup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𝐷</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𝐻</m:t>
                          </m:r>
                        </m:sub>
                        <m:sup>
                          <m:r>
                            <a:rPr lang="en-US" altLang="zh-CN" i="1" dirty="0">
                              <a:solidFill>
                                <a:schemeClr val="tx1"/>
                              </a:solidFill>
                              <a:latin typeface="Cambria Math" panose="02040503050406030204" pitchFamily="18" charset="0"/>
                            </a:rPr>
                            <m:t>𝐵</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oMath>
                  </m:oMathPara>
                </a14:m>
                <a:endParaRPr lang="en-US" altLang="zh-CN" dirty="0">
                  <a:solidFill>
                    <a:schemeClr val="tx1"/>
                  </a:solidFill>
                </a:endParaRPr>
              </a:p>
            </p:txBody>
          </p:sp>
        </mc:Choice>
        <mc:Fallback xmlns="">
          <p:sp>
            <p:nvSpPr>
              <p:cNvPr id="3" name="文本框 2">
                <a:extLst>
                  <a:ext uri="{FF2B5EF4-FFF2-40B4-BE49-F238E27FC236}">
                    <a16:creationId xmlns:a16="http://schemas.microsoft.com/office/drawing/2014/main" id="{8715FD68-0F60-5B74-F5C1-6374B1A01BA8}"/>
                  </a:ext>
                </a:extLst>
              </p:cNvPr>
              <p:cNvSpPr txBox="1">
                <a:spLocks noRot="1" noChangeAspect="1" noMove="1" noResize="1" noEditPoints="1" noAdjustHandles="1" noChangeArrowheads="1" noChangeShapeType="1" noTextEdit="1"/>
              </p:cNvSpPr>
              <p:nvPr/>
            </p:nvSpPr>
            <p:spPr>
              <a:xfrm>
                <a:off x="123958" y="1466474"/>
                <a:ext cx="5594262" cy="2553391"/>
              </a:xfrm>
              <a:prstGeom prst="rect">
                <a:avLst/>
              </a:prstGeom>
              <a:blipFill>
                <a:blip r:embed="rId2"/>
                <a:stretch>
                  <a:fillRect l="-1634" t="-2153" r="-2070" b="-21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F289478-557D-4087-C6A2-4E9FCB885135}"/>
                  </a:ext>
                </a:extLst>
              </p:cNvPr>
              <p:cNvSpPr txBox="1"/>
              <p:nvPr/>
            </p:nvSpPr>
            <p:spPr>
              <a:xfrm>
                <a:off x="6143223" y="1466474"/>
                <a:ext cx="5924819" cy="1747273"/>
              </a:xfrm>
              <a:prstGeom prst="rect">
                <a:avLst/>
              </a:prstGeom>
              <a:noFill/>
            </p:spPr>
            <p:txBody>
              <a:bodyPr wrap="square">
                <a:spAutoFit/>
              </a:bodyPr>
              <a:lstStyle/>
              <a:p>
                <a:r>
                  <a:rPr lang="zh-CN" altLang="en-US" sz="2400" b="1" dirty="0">
                    <a:latin typeface="Cambria Math" panose="02040503050406030204" pitchFamily="18" charset="0"/>
                  </a:rPr>
                  <a:t>联合组合：</a:t>
                </a:r>
                <a:endParaRPr lang="en-US" altLang="zh-CN" sz="2000" b="1" dirty="0">
                  <a:latin typeface="Cambria Math" panose="02040503050406030204" pitchFamily="18" charset="0"/>
                </a:endParaRPr>
              </a:p>
              <a:p>
                <a:pPr algn="ctr"/>
                <a:r>
                  <a:rPr lang="zh-CN" altLang="en-US" sz="1800" b="1" dirty="0">
                    <a:latin typeface="Cambria Math" panose="02040503050406030204" pitchFamily="18" charset="0"/>
                  </a:rPr>
                  <a:t>估计器</a:t>
                </a:r>
                <a:endParaRPr lang="en-US" altLang="zh-CN" sz="1800" b="1" dirty="0">
                  <a:latin typeface="Cambria Math" panose="02040503050406030204" pitchFamily="18" charset="0"/>
                </a:endParaRPr>
              </a:p>
              <a:p>
                <a:pPr>
                  <a:spcBef>
                    <a:spcPts val="400"/>
                  </a:spcBef>
                </a:pPr>
                <a14:m>
                  <m:oMathPara xmlns:m="http://schemas.openxmlformats.org/officeDocument/2006/math">
                    <m:oMath>
                      <m:sSubSup>
                        <m:sSubSupPr>
                          <m:ctrlPr>
                            <a:rPr lang="zh-CN" altLang="en-US" sz="1800" b="1" i="1" dirty="0">
                              <a:latin typeface="Cambria Math" panose="02040503050406030204" pitchFamily="18" charset="0"/>
                            </a:rPr>
                          </m:ctrlPr>
                        </m:sSubSupPr>
                        <m:e>
                          <m:acc>
                            <m:accPr>
                              <m:chr m:val="̂"/>
                              <m:ctrlPr>
                                <a:rPr lang="zh-CN" altLang="en-US" sz="1800" b="1" i="1" dirty="0">
                                  <a:latin typeface="Cambria Math" panose="02040503050406030204" pitchFamily="18" charset="0"/>
                                </a:rPr>
                              </m:ctrlPr>
                            </m:accPr>
                            <m:e>
                              <m:r>
                                <a:rPr lang="zh-CN" altLang="en-US" sz="1800" b="1" i="1" dirty="0">
                                  <a:latin typeface="Cambria Math" panose="02040503050406030204" pitchFamily="18" charset="0"/>
                                </a:rPr>
                                <m:t>𝓙</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𝑗𝑜𝑖𝑛𝑡</m:t>
                          </m:r>
                        </m:sup>
                      </m:sSubSup>
                      <m:d>
                        <m:dPr>
                          <m:ctrlPr>
                            <a:rPr lang="en-US" altLang="zh-CN" sz="1800" b="1" dirty="0">
                              <a:latin typeface="Cambria Math" panose="02040503050406030204" pitchFamily="18" charset="0"/>
                            </a:rPr>
                          </m:ctrlPr>
                        </m:dPr>
                        <m:e>
                          <m:r>
                            <a:rPr lang="en-US" altLang="zh-CN" sz="1800" b="1" dirty="0">
                              <a:latin typeface="Cambria Math" panose="02040503050406030204" pitchFamily="18" charset="0"/>
                            </a:rPr>
                            <m:t>𝛌</m:t>
                          </m:r>
                        </m:e>
                      </m:d>
                      <m:r>
                        <a:rPr lang="en-US" altLang="zh-CN" sz="1800" b="1" i="1" dirty="0">
                          <a:latin typeface="Cambria Math" panose="02040503050406030204" pitchFamily="18" charset="0"/>
                        </a:rPr>
                        <m:t>=</m:t>
                      </m:r>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𝑤</m:t>
                          </m:r>
                        </m:e>
                        <m:sub>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𝐿</m:t>
                          </m:r>
                        </m:sub>
                        <m:sup>
                          <m:r>
                            <a:rPr lang="en-US" altLang="zh-CN" sz="1800" i="1" dirty="0">
                              <a:latin typeface="Cambria Math" panose="02040503050406030204" pitchFamily="18" charset="0"/>
                            </a:rPr>
                            <m:t>𝑗𝑜𝑖𝑛𝑡</m:t>
                          </m:r>
                        </m:sup>
                      </m:sSubSup>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𝐿</m:t>
                              </m:r>
                            </m:sup>
                          </m:sSubSup>
                        </m:e>
                      </m:d>
                      <m:f>
                        <m:fPr>
                          <m:ctrlPr>
                            <a:rPr lang="en-US" altLang="zh-CN" sz="1800" b="1" i="1" dirty="0">
                              <a:latin typeface="Cambria Math" panose="02040503050406030204" pitchFamily="18" charset="0"/>
                            </a:rPr>
                          </m:ctrlPr>
                        </m:fPr>
                        <m:num>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𝐿</m:t>
                                  </m:r>
                                </m:sup>
                              </m:sSubSup>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𝐻</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𝐿</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𝐿</m:t>
                                  </m:r>
                                </m:sup>
                              </m:sSubSup>
                              <m:r>
                                <a:rPr lang="en-US" altLang="zh-CN" sz="1800" i="1" dirty="0">
                                  <a:latin typeface="Cambria Math" panose="02040503050406030204" pitchFamily="18" charset="0"/>
                                </a:rPr>
                                <m:t>|</m:t>
                              </m:r>
                              <m:r>
                                <a:rPr lang="en-US" altLang="zh-CN" sz="1800" b="1" dirty="0">
                                  <a:latin typeface="Cambria Math" panose="02040503050406030204" pitchFamily="18" charset="0"/>
                                </a:rPr>
                                <m:t>𝛌</m:t>
                              </m:r>
                            </m:e>
                          </m:d>
                        </m:den>
                      </m:f>
                      <m:r>
                        <a:rPr lang="en-US" altLang="zh-CN" sz="1800" b="1" i="1" dirty="0">
                          <a:latin typeface="Cambria Math" panose="02040503050406030204" pitchFamily="18" charset="0"/>
                        </a:rPr>
                        <m:t>+</m:t>
                      </m:r>
                      <m:r>
                        <a:rPr lang="en-US" altLang="zh-CN" sz="1800" b="1" i="1" dirty="0" smtClean="0">
                          <a:latin typeface="Cambria Math" panose="02040503050406030204" pitchFamily="18" charset="0"/>
                        </a:rPr>
                        <m:t> </m:t>
                      </m:r>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𝑤</m:t>
                          </m:r>
                        </m:e>
                        <m:sub>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𝐵</m:t>
                          </m:r>
                        </m:sub>
                        <m:sup>
                          <m:r>
                            <a:rPr lang="en-US" altLang="zh-CN" sz="1800" i="1" dirty="0">
                              <a:latin typeface="Cambria Math" panose="02040503050406030204" pitchFamily="18" charset="0"/>
                            </a:rPr>
                            <m:t>𝑗𝑜𝑖𝑛𝑡</m:t>
                          </m:r>
                        </m:sup>
                      </m:sSubSup>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𝐵</m:t>
                              </m:r>
                            </m:sup>
                          </m:sSubSup>
                        </m:e>
                      </m:d>
                      <m:f>
                        <m:fPr>
                          <m:ctrlPr>
                            <a:rPr lang="en-US" altLang="zh-CN" sz="1800" b="1" i="1" dirty="0">
                              <a:latin typeface="Cambria Math" panose="02040503050406030204" pitchFamily="18" charset="0"/>
                            </a:rPr>
                          </m:ctrlPr>
                        </m:fPr>
                        <m:num>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𝐵</m:t>
                                  </m:r>
                                </m:sup>
                              </m:sSubSup>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𝐻</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𝐵</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𝐵</m:t>
                                  </m:r>
                                </m:sup>
                              </m:sSubSup>
                              <m:r>
                                <a:rPr lang="en-US" altLang="zh-CN" sz="1800" i="1" dirty="0">
                                  <a:latin typeface="Cambria Math" panose="02040503050406030204" pitchFamily="18" charset="0"/>
                                </a:rPr>
                                <m:t>|</m:t>
                              </m:r>
                              <m:r>
                                <a:rPr lang="en-US" altLang="zh-CN" sz="1800" b="1" dirty="0">
                                  <a:latin typeface="Cambria Math" panose="02040503050406030204" pitchFamily="18" charset="0"/>
                                </a:rPr>
                                <m:t>𝛌</m:t>
                              </m:r>
                            </m:e>
                          </m:d>
                        </m:den>
                      </m:f>
                    </m:oMath>
                  </m:oMathPara>
                </a14:m>
                <a:endParaRPr lang="en-US" altLang="zh-CN" sz="1800" b="1" dirty="0"/>
              </a:p>
            </p:txBody>
          </p:sp>
        </mc:Choice>
        <mc:Fallback xmlns="">
          <p:sp>
            <p:nvSpPr>
              <p:cNvPr id="13" name="文本框 12">
                <a:extLst>
                  <a:ext uri="{FF2B5EF4-FFF2-40B4-BE49-F238E27FC236}">
                    <a16:creationId xmlns:a16="http://schemas.microsoft.com/office/drawing/2014/main" id="{6F289478-557D-4087-C6A2-4E9FCB885135}"/>
                  </a:ext>
                </a:extLst>
              </p:cNvPr>
              <p:cNvSpPr txBox="1">
                <a:spLocks noRot="1" noChangeAspect="1" noMove="1" noResize="1" noEditPoints="1" noAdjustHandles="1" noChangeArrowheads="1" noChangeShapeType="1" noTextEdit="1"/>
              </p:cNvSpPr>
              <p:nvPr/>
            </p:nvSpPr>
            <p:spPr>
              <a:xfrm>
                <a:off x="6143223" y="1466474"/>
                <a:ext cx="5924819" cy="1747273"/>
              </a:xfrm>
              <a:prstGeom prst="rect">
                <a:avLst/>
              </a:prstGeom>
              <a:blipFill>
                <a:blip r:embed="rId3"/>
                <a:stretch>
                  <a:fillRect l="-1646" t="-3147" r="-4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8BA95D68-3FDB-BABB-45FB-D6015EB41232}"/>
                  </a:ext>
                </a:extLst>
              </p:cNvPr>
              <p:cNvSpPr txBox="1"/>
              <p:nvPr/>
            </p:nvSpPr>
            <p:spPr>
              <a:xfrm>
                <a:off x="6785290" y="4417348"/>
                <a:ext cx="5021150" cy="1230145"/>
              </a:xfrm>
              <a:prstGeom prst="rect">
                <a:avLst/>
              </a:prstGeom>
              <a:noFill/>
            </p:spPr>
            <p:txBody>
              <a:bodyPr wrap="square">
                <a:spAutoFit/>
              </a:bodyPr>
              <a:lstStyle/>
              <a:p>
                <a:pPr algn="ctr">
                  <a:spcAft>
                    <a:spcPts val="400"/>
                  </a:spcAft>
                </a:pPr>
                <a:r>
                  <a:rPr lang="zh-CN" altLang="en-US" sz="1800" b="1" dirty="0">
                    <a:latin typeface="Cambria Math" panose="02040503050406030204" pitchFamily="18" charset="0"/>
                  </a:rPr>
                  <a:t>支持域要求</a:t>
                </a:r>
                <a:endParaRPr lang="en-US" altLang="zh-CN" sz="1800" b="1" dirty="0"/>
              </a:p>
              <a:p>
                <a:pPr/>
                <a14:m>
                  <m:oMathPara xmlns:m="http://schemas.openxmlformats.org/officeDocument/2006/math">
                    <m:oMath>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Sub>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r>
                        <a:rPr lang="en-US" altLang="zh-CN" sz="1800" b="1" i="1" dirty="0">
                          <a:latin typeface="Cambria Math" panose="02040503050406030204" pitchFamily="18" charset="0"/>
                        </a:rPr>
                        <m:t>≠</m:t>
                      </m:r>
                      <m:r>
                        <a:rPr lang="en-US" altLang="zh-CN" sz="1800" b="1" i="1" dirty="0">
                          <a:latin typeface="Cambria Math" panose="02040503050406030204" pitchFamily="18" charset="0"/>
                        </a:rPr>
                        <m:t>𝟎</m:t>
                      </m:r>
                      <m:r>
                        <a:rPr lang="en-US" altLang="zh-CN" sz="1800" b="1" i="1" dirty="0">
                          <a:latin typeface="Cambria Math" panose="02040503050406030204" pitchFamily="18" charset="0"/>
                        </a:rPr>
                        <m:t>  ⇒  </m:t>
                      </m:r>
                      <m:nary>
                        <m:naryPr>
                          <m:chr m:val="∑"/>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ℎ</m:t>
                          </m:r>
                          <m:r>
                            <m:rPr>
                              <m:brk m:alnAt="23"/>
                            </m:rPr>
                            <a:rPr lang="en-US" altLang="zh-CN" sz="1800" i="1">
                              <a:latin typeface="Cambria Math" panose="02040503050406030204" pitchFamily="18" charset="0"/>
                            </a:rPr>
                            <m:t>=</m:t>
                          </m:r>
                          <m:r>
                            <m:rPr>
                              <m:brk m:alnAt="23"/>
                            </m:rPr>
                            <a:rPr lang="en-US" altLang="zh-CN" sz="1800" i="1">
                              <a:latin typeface="Cambria Math" panose="02040503050406030204" pitchFamily="18" charset="0"/>
                            </a:rPr>
                            <m:t>1</m:t>
                          </m:r>
                        </m:sub>
                        <m:sup>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𝑁</m:t>
                              </m:r>
                            </m:e>
                            <m:sub>
                              <m:r>
                                <a:rPr lang="en-US" altLang="zh-CN" sz="1800" i="1">
                                  <a:latin typeface="Cambria Math" panose="02040503050406030204" pitchFamily="18" charset="0"/>
                                </a:rPr>
                                <m:t>𝜆</m:t>
                              </m:r>
                            </m:sub>
                          </m:sSub>
                        </m:sup>
                        <m:e>
                          <m:nary>
                            <m:naryPr>
                              <m:chr m:val="∑"/>
                              <m:supHide m:val="on"/>
                              <m:ctrlPr>
                                <a:rPr lang="en-US" altLang="zh-CN" sz="1800" i="1">
                                  <a:latin typeface="Cambria Math" panose="02040503050406030204" pitchFamily="18" charset="0"/>
                                </a:rPr>
                              </m:ctrlPr>
                            </m:naryPr>
                            <m:sub>
                              <m:r>
                                <m:rPr>
                                  <m:brk m:alnAt="7"/>
                                </m:rPr>
                                <a:rPr lang="en-US" altLang="zh-CN" sz="1800" i="1">
                                  <a:latin typeface="Cambria Math" panose="02040503050406030204" pitchFamily="18" charset="0"/>
                                </a:rPr>
                                <m:t>𝑡</m:t>
                              </m:r>
                              <m:r>
                                <m:rPr>
                                  <m:brk m:alnAt="7"/>
                                </m:rPr>
                                <a:rPr lang="en-US" altLang="zh-CN" sz="1800" i="1">
                                  <a:latin typeface="Cambria Math" panose="02040503050406030204" pitchFamily="18" charset="0"/>
                                </a:rPr>
                                <m:t>=</m:t>
                              </m:r>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𝐵</m:t>
                                  </m:r>
                                </m:e>
                              </m:d>
                            </m:sub>
                            <m:sup/>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ℎ</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ℎ</m:t>
                                  </m:r>
                                  <m:r>
                                    <a:rPr lang="en-US" altLang="zh-CN" sz="1800" i="1" dirty="0">
                                      <a:latin typeface="Cambria Math" panose="02040503050406030204" pitchFamily="18" charset="0"/>
                                    </a:rPr>
                                    <m:t>,</m:t>
                                  </m:r>
                                  <m:r>
                                    <a:rPr lang="en-US" altLang="zh-CN" sz="1800" i="1" dirty="0">
                                      <a:latin typeface="Cambria Math" panose="02040503050406030204" pitchFamily="18" charset="0"/>
                                    </a:rPr>
                                    <m:t>𝑡</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Sub>
                                </m:e>
                                <m:e>
                                  <m:r>
                                    <a:rPr lang="en-US" altLang="zh-CN" sz="1800" b="1" dirty="0">
                                      <a:latin typeface="Cambria Math" panose="02040503050406030204" pitchFamily="18" charset="0"/>
                                    </a:rPr>
                                    <m:t>𝛌</m:t>
                                  </m:r>
                                </m:e>
                              </m:d>
                            </m:e>
                          </m:nary>
                        </m:e>
                      </m:nary>
                      <m:r>
                        <a:rPr lang="en-US" altLang="zh-CN" sz="1800" i="1">
                          <a:latin typeface="Cambria Math" panose="02040503050406030204" pitchFamily="18" charset="0"/>
                        </a:rPr>
                        <m:t>&gt;0</m:t>
                      </m:r>
                    </m:oMath>
                  </m:oMathPara>
                </a14:m>
                <a:endParaRPr lang="zh-CN" altLang="en-US" sz="1800" dirty="0"/>
              </a:p>
            </p:txBody>
          </p:sp>
        </mc:Choice>
        <mc:Fallback xmlns="">
          <p:sp>
            <p:nvSpPr>
              <p:cNvPr id="17" name="文本框 16">
                <a:extLst>
                  <a:ext uri="{FF2B5EF4-FFF2-40B4-BE49-F238E27FC236}">
                    <a16:creationId xmlns:a16="http://schemas.microsoft.com/office/drawing/2014/main" id="{8BA95D68-3FDB-BABB-45FB-D6015EB41232}"/>
                  </a:ext>
                </a:extLst>
              </p:cNvPr>
              <p:cNvSpPr txBox="1">
                <a:spLocks noRot="1" noChangeAspect="1" noMove="1" noResize="1" noEditPoints="1" noAdjustHandles="1" noChangeArrowheads="1" noChangeShapeType="1" noTextEdit="1"/>
              </p:cNvSpPr>
              <p:nvPr/>
            </p:nvSpPr>
            <p:spPr>
              <a:xfrm>
                <a:off x="6785290" y="4417348"/>
                <a:ext cx="5021150" cy="1230145"/>
              </a:xfrm>
              <a:prstGeom prst="rect">
                <a:avLst/>
              </a:prstGeom>
              <a:blipFill>
                <a:blip r:embed="rId4"/>
                <a:stretch>
                  <a:fillRect t="-29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D8A1C21-1987-750A-B60A-8BFB61CC81CD}"/>
                  </a:ext>
                </a:extLst>
              </p:cNvPr>
              <p:cNvSpPr txBox="1"/>
              <p:nvPr/>
            </p:nvSpPr>
            <p:spPr>
              <a:xfrm>
                <a:off x="-126374" y="4417348"/>
                <a:ext cx="6094926" cy="1545167"/>
              </a:xfrm>
              <a:prstGeom prst="rect">
                <a:avLst/>
              </a:prstGeom>
              <a:noFill/>
            </p:spPr>
            <p:txBody>
              <a:bodyPr wrap="square">
                <a:spAutoFit/>
              </a:bodyPr>
              <a:lstStyle/>
              <a:p>
                <a:pPr algn="ctr">
                  <a:spcAft>
                    <a:spcPts val="800"/>
                  </a:spcAft>
                </a:pPr>
                <a:r>
                  <a:rPr lang="zh-CN" altLang="en-US" sz="1800" b="1" dirty="0">
                    <a:solidFill>
                      <a:schemeClr val="tx1"/>
                    </a:solidFill>
                    <a:latin typeface="Cambria Math" panose="02040503050406030204" pitchFamily="18" charset="0"/>
                  </a:rPr>
                  <a:t>支持域要求</a:t>
                </a:r>
                <a:endParaRPr lang="en-US" altLang="zh-CN" sz="1800" b="1" dirty="0">
                  <a:solidFill>
                    <a:schemeClr val="tx1"/>
                  </a:solidFill>
                  <a:latin typeface="Cambria Math" panose="02040503050406030204" pitchFamily="18" charset="0"/>
                </a:endParaRPr>
              </a:p>
              <a:p>
                <a:pPr/>
                <a14:m>
                  <m:oMathPara xmlns:m="http://schemas.openxmlformats.org/officeDocument/2006/math">
                    <m:oMath>
                      <m:sSub>
                        <m:sSubPr>
                          <m:ctrlPr>
                            <a:rPr lang="en-US" altLang="zh-CN" sz="1800" b="1" i="1" dirty="0">
                              <a:solidFill>
                                <a:schemeClr val="tx1"/>
                              </a:solidFill>
                              <a:latin typeface="Cambria Math" panose="02040503050406030204" pitchFamily="18" charset="0"/>
                            </a:rPr>
                          </m:ctrlPr>
                        </m:sSubPr>
                        <m:e>
                          <m:r>
                            <a:rPr lang="en-US" altLang="zh-CN" sz="1800" b="1" i="1" dirty="0">
                              <a:solidFill>
                                <a:schemeClr val="tx1"/>
                              </a:solidFill>
                              <a:latin typeface="Cambria Math" panose="02040503050406030204" pitchFamily="18" charset="0"/>
                            </a:rPr>
                            <m:t>𝑲</m:t>
                          </m:r>
                        </m:e>
                        <m:sub>
                          <m:r>
                            <a:rPr lang="en-US" altLang="zh-CN" sz="1800" b="1" i="1" dirty="0">
                              <a:solidFill>
                                <a:schemeClr val="tx1"/>
                              </a:solidFill>
                              <a:latin typeface="Cambria Math" panose="02040503050406030204" pitchFamily="18" charset="0"/>
                            </a:rPr>
                            <m:t>𝒊</m:t>
                          </m:r>
                        </m:sub>
                      </m:sSub>
                      <m:d>
                        <m:dPr>
                          <m:ctrlPr>
                            <a:rPr lang="en-US" altLang="zh-CN" sz="1800" i="1" dirty="0">
                              <a:solidFill>
                                <a:schemeClr val="tx1"/>
                              </a:solidFill>
                              <a:latin typeface="Cambria Math" panose="02040503050406030204" pitchFamily="18" charset="0"/>
                            </a:rPr>
                          </m:ctrlPr>
                        </m:dPr>
                        <m:e>
                          <m:sSub>
                            <m:sSubPr>
                              <m:ctrlPr>
                                <a:rPr lang="en-US" altLang="zh-CN" sz="1800" i="1" dirty="0">
                                  <a:solidFill>
                                    <a:schemeClr val="tx1"/>
                                  </a:solidFill>
                                  <a:latin typeface="Cambria Math" panose="02040503050406030204" pitchFamily="18" charset="0"/>
                                </a:rPr>
                              </m:ctrlPr>
                            </m:sSubPr>
                            <m:e>
                              <m:r>
                                <a:rPr lang="en-US" altLang="zh-CN" sz="1800" i="1" dirty="0">
                                  <a:solidFill>
                                    <a:schemeClr val="tx1"/>
                                  </a:solidFill>
                                  <a:latin typeface="Cambria Math" panose="02040503050406030204" pitchFamily="18" charset="0"/>
                                </a:rPr>
                                <m:t>𝜔</m:t>
                              </m:r>
                            </m:e>
                            <m:sub>
                              <m:r>
                                <a:rPr lang="en-US" altLang="zh-CN" sz="1800" i="1" dirty="0">
                                  <a:solidFill>
                                    <a:schemeClr val="tx1"/>
                                  </a:solidFill>
                                  <a:latin typeface="Cambria Math" panose="02040503050406030204" pitchFamily="18" charset="0"/>
                                </a:rPr>
                                <m:t>𝑖</m:t>
                              </m:r>
                            </m:sub>
                          </m:sSub>
                          <m:r>
                            <a:rPr lang="en-US" altLang="zh-CN" sz="1800" i="1" dirty="0">
                              <a:solidFill>
                                <a:schemeClr val="tx1"/>
                              </a:solidFill>
                              <a:latin typeface="Cambria Math" panose="02040503050406030204" pitchFamily="18" charset="0"/>
                            </a:rPr>
                            <m:t>,</m:t>
                          </m:r>
                          <m:sSub>
                            <m:sSubPr>
                              <m:ctrlPr>
                                <a:rPr lang="en-US" altLang="zh-CN" sz="1800" i="1" dirty="0">
                                  <a:solidFill>
                                    <a:schemeClr val="tx1"/>
                                  </a:solidFill>
                                  <a:latin typeface="Cambria Math" panose="02040503050406030204" pitchFamily="18" charset="0"/>
                                </a:rPr>
                              </m:ctrlPr>
                            </m:sSubPr>
                            <m:e>
                              <m:acc>
                                <m:accPr>
                                  <m:chr m:val="̅"/>
                                  <m:ctrlPr>
                                    <a:rPr lang="en-US" altLang="zh-CN" sz="1800" i="1" dirty="0">
                                      <a:solidFill>
                                        <a:schemeClr val="tx1"/>
                                      </a:solidFill>
                                      <a:latin typeface="Cambria Math" panose="02040503050406030204" pitchFamily="18" charset="0"/>
                                    </a:rPr>
                                  </m:ctrlPr>
                                </m:accPr>
                                <m:e>
                                  <m:r>
                                    <a:rPr lang="en-US" altLang="zh-CN" sz="1800" i="1" dirty="0">
                                      <a:solidFill>
                                        <a:schemeClr val="tx1"/>
                                      </a:solidFill>
                                      <a:latin typeface="Cambria Math" panose="02040503050406030204" pitchFamily="18" charset="0"/>
                                    </a:rPr>
                                    <m:t>𝑝</m:t>
                                  </m:r>
                                </m:e>
                              </m:acc>
                            </m:e>
                            <m:sub>
                              <m:r>
                                <a:rPr lang="en-US" altLang="zh-CN" sz="1800" i="1" dirty="0">
                                  <a:solidFill>
                                    <a:schemeClr val="tx1"/>
                                  </a:solidFill>
                                  <a:latin typeface="Cambria Math" panose="02040503050406030204" pitchFamily="18" charset="0"/>
                                </a:rPr>
                                <m:t>𝑖</m:t>
                              </m:r>
                              <m:r>
                                <a:rPr lang="en-US" altLang="zh-CN" sz="1800" i="1" dirty="0">
                                  <a:solidFill>
                                    <a:schemeClr val="tx1"/>
                                  </a:solidFill>
                                  <a:latin typeface="Cambria Math" panose="02040503050406030204" pitchFamily="18" charset="0"/>
                                </a:rPr>
                                <m:t>−1</m:t>
                              </m:r>
                            </m:sub>
                          </m:sSub>
                          <m:r>
                            <a:rPr lang="en-US" altLang="zh-CN" sz="1800" i="1" dirty="0">
                              <a:solidFill>
                                <a:schemeClr val="tx1"/>
                              </a:solidFill>
                              <a:latin typeface="Cambria Math" panose="02040503050406030204" pitchFamily="18" charset="0"/>
                            </a:rPr>
                            <m:t>,</m:t>
                          </m:r>
                          <m:r>
                            <a:rPr lang="en-US" altLang="zh-CN" sz="1800" b="1" dirty="0">
                              <a:solidFill>
                                <a:schemeClr val="tx1"/>
                              </a:solidFill>
                              <a:latin typeface="Cambria Math" panose="02040503050406030204" pitchFamily="18" charset="0"/>
                            </a:rPr>
                            <m:t>𝛌</m:t>
                          </m:r>
                        </m:e>
                      </m:d>
                      <m:r>
                        <a:rPr lang="en-US" altLang="zh-CN" sz="1800" b="1" i="1" dirty="0">
                          <a:solidFill>
                            <a:schemeClr val="tx1"/>
                          </a:solidFill>
                          <a:latin typeface="Cambria Math" panose="02040503050406030204" pitchFamily="18" charset="0"/>
                        </a:rPr>
                        <m:t>≠</m:t>
                      </m:r>
                      <m:r>
                        <a:rPr lang="en-US" altLang="zh-CN" sz="1800" b="1" i="1" dirty="0">
                          <a:solidFill>
                            <a:schemeClr val="tx1"/>
                          </a:solidFill>
                          <a:latin typeface="Cambria Math" panose="02040503050406030204" pitchFamily="18" charset="0"/>
                        </a:rPr>
                        <m:t>𝟎</m:t>
                      </m:r>
                      <m:r>
                        <a:rPr lang="en-US" altLang="zh-CN" sz="1800" b="1" i="1" dirty="0">
                          <a:solidFill>
                            <a:schemeClr val="tx1"/>
                          </a:solidFill>
                          <a:latin typeface="Cambria Math" panose="02040503050406030204" pitchFamily="18" charset="0"/>
                        </a:rPr>
                        <m:t>  ⇒  </m:t>
                      </m:r>
                      <m:sSubSup>
                        <m:sSubSupPr>
                          <m:ctrlPr>
                            <a:rPr lang="en-US" altLang="zh-CN" sz="1800" i="1">
                              <a:solidFill>
                                <a:schemeClr val="tx1"/>
                              </a:solidFill>
                              <a:latin typeface="Cambria Math" panose="02040503050406030204" pitchFamily="18" charset="0"/>
                            </a:rPr>
                          </m:ctrlPr>
                        </m:sSubSupPr>
                        <m:e>
                          <m:r>
                            <a:rPr lang="en-US" altLang="zh-CN" sz="1800" i="1">
                              <a:solidFill>
                                <a:schemeClr val="tx1"/>
                              </a:solidFill>
                              <a:latin typeface="Cambria Math" panose="02040503050406030204" pitchFamily="18" charset="0"/>
                            </a:rPr>
                            <m:t>𝑝</m:t>
                          </m:r>
                        </m:e>
                        <m:sub>
                          <m:r>
                            <a:rPr lang="en-US" altLang="zh-CN" sz="1800" i="1" dirty="0">
                              <a:solidFill>
                                <a:schemeClr val="tx1"/>
                              </a:solidFill>
                              <a:latin typeface="Cambria Math" panose="02040503050406030204" pitchFamily="18" charset="0"/>
                            </a:rPr>
                            <m:t>𝐿</m:t>
                          </m:r>
                          <m:r>
                            <a:rPr lang="en-US" altLang="zh-CN" sz="1800" i="1">
                              <a:solidFill>
                                <a:schemeClr val="tx1"/>
                              </a:solidFill>
                              <a:latin typeface="Cambria Math" panose="02040503050406030204" pitchFamily="18" charset="0"/>
                            </a:rPr>
                            <m:t>,</m:t>
                          </m:r>
                          <m:r>
                            <a:rPr lang="en-US" altLang="zh-CN" sz="1800" b="0" i="1" smtClean="0">
                              <a:solidFill>
                                <a:schemeClr val="tx1"/>
                              </a:solidFill>
                              <a:latin typeface="Cambria Math" panose="02040503050406030204" pitchFamily="18" charset="0"/>
                            </a:rPr>
                            <m:t>ℎ</m:t>
                          </m:r>
                        </m:sub>
                        <m:sup>
                          <m:r>
                            <a:rPr lang="en-US" altLang="zh-CN" sz="1800" i="1">
                              <a:solidFill>
                                <a:schemeClr val="tx1"/>
                              </a:solidFill>
                              <a:latin typeface="Cambria Math" panose="02040503050406030204" pitchFamily="18" charset="0"/>
                            </a:rPr>
                            <m:t>𝜔</m:t>
                          </m:r>
                        </m:sup>
                      </m:sSubSup>
                      <m:d>
                        <m:dPr>
                          <m:ctrlPr>
                            <a:rPr lang="en-US" altLang="zh-CN" sz="1800" i="1">
                              <a:solidFill>
                                <a:schemeClr val="tx1"/>
                              </a:solidFill>
                              <a:latin typeface="Cambria Math" panose="02040503050406030204" pitchFamily="18" charset="0"/>
                            </a:rPr>
                          </m:ctrlPr>
                        </m:dPr>
                        <m:e>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𝜔</m:t>
                              </m:r>
                            </m:e>
                            <m:sub>
                              <m:r>
                                <a:rPr lang="en-US" altLang="zh-CN" sz="1800" i="1">
                                  <a:solidFill>
                                    <a:schemeClr val="tx1"/>
                                  </a:solidFill>
                                  <a:latin typeface="Cambria Math" panose="02040503050406030204" pitchFamily="18" charset="0"/>
                                </a:rPr>
                                <m:t>𝑖</m:t>
                              </m:r>
                            </m:sub>
                          </m:sSub>
                          <m:r>
                            <a:rPr lang="en-US" altLang="zh-CN" sz="1800" i="1">
                              <a:solidFill>
                                <a:schemeClr val="tx1"/>
                              </a:solidFill>
                              <a:latin typeface="Cambria Math" panose="02040503050406030204" pitchFamily="18" charset="0"/>
                            </a:rPr>
                            <m:t>|</m:t>
                          </m:r>
                          <m:r>
                            <a:rPr lang="en-US" altLang="zh-CN" sz="1800" b="1">
                              <a:solidFill>
                                <a:schemeClr val="tx1"/>
                              </a:solidFill>
                              <a:latin typeface="Cambria Math" panose="02040503050406030204" pitchFamily="18" charset="0"/>
                            </a:rPr>
                            <m:t>𝛌</m:t>
                          </m:r>
                        </m:e>
                      </m:d>
                      <m:r>
                        <a:rPr lang="en-US" altLang="zh-CN" sz="1800" b="1" i="1">
                          <a:solidFill>
                            <a:schemeClr val="tx1"/>
                          </a:solidFill>
                          <a:latin typeface="Cambria Math" panose="02040503050406030204" pitchFamily="18" charset="0"/>
                        </a:rPr>
                        <m:t>+</m:t>
                      </m:r>
                      <m:sSubSup>
                        <m:sSubSupPr>
                          <m:ctrlPr>
                            <a:rPr lang="en-US" altLang="zh-CN" sz="1800" i="1">
                              <a:solidFill>
                                <a:schemeClr val="tx1"/>
                              </a:solidFill>
                              <a:latin typeface="Cambria Math" panose="02040503050406030204" pitchFamily="18" charset="0"/>
                            </a:rPr>
                          </m:ctrlPr>
                        </m:sSubSupPr>
                        <m:e>
                          <m:r>
                            <a:rPr lang="en-US" altLang="zh-CN" sz="1800" i="1">
                              <a:solidFill>
                                <a:schemeClr val="tx1"/>
                              </a:solidFill>
                              <a:latin typeface="Cambria Math" panose="02040503050406030204" pitchFamily="18" charset="0"/>
                            </a:rPr>
                            <m:t>𝑝</m:t>
                          </m:r>
                        </m:e>
                        <m:sub>
                          <m:r>
                            <a:rPr lang="en-US" altLang="zh-CN" sz="1800" i="1" dirty="0">
                              <a:solidFill>
                                <a:schemeClr val="tx1"/>
                              </a:solidFill>
                              <a:latin typeface="Cambria Math" panose="02040503050406030204" pitchFamily="18" charset="0"/>
                            </a:rPr>
                            <m:t>𝐵</m:t>
                          </m:r>
                          <m:r>
                            <a:rPr lang="en-US" altLang="zh-CN" sz="1800" i="1">
                              <a:solidFill>
                                <a:schemeClr val="tx1"/>
                              </a:solidFill>
                              <a:latin typeface="Cambria Math" panose="02040503050406030204" pitchFamily="18" charset="0"/>
                            </a:rPr>
                            <m:t>,</m:t>
                          </m:r>
                          <m:r>
                            <a:rPr lang="en-US" altLang="zh-CN" sz="1800" b="0" i="1" smtClean="0">
                              <a:solidFill>
                                <a:schemeClr val="tx1"/>
                              </a:solidFill>
                              <a:latin typeface="Cambria Math" panose="02040503050406030204" pitchFamily="18" charset="0"/>
                            </a:rPr>
                            <m:t>ℎ</m:t>
                          </m:r>
                        </m:sub>
                        <m:sup>
                          <m:r>
                            <a:rPr lang="en-US" altLang="zh-CN" sz="1800" i="1">
                              <a:solidFill>
                                <a:schemeClr val="tx1"/>
                              </a:solidFill>
                              <a:latin typeface="Cambria Math" panose="02040503050406030204" pitchFamily="18" charset="0"/>
                            </a:rPr>
                            <m:t>𝜔</m:t>
                          </m:r>
                        </m:sup>
                      </m:sSubSup>
                      <m:d>
                        <m:dPr>
                          <m:ctrlPr>
                            <a:rPr lang="en-US" altLang="zh-CN" sz="1800" i="1">
                              <a:solidFill>
                                <a:schemeClr val="tx1"/>
                              </a:solidFill>
                              <a:latin typeface="Cambria Math" panose="02040503050406030204" pitchFamily="18" charset="0"/>
                            </a:rPr>
                          </m:ctrlPr>
                        </m:dPr>
                        <m:e>
                          <m:sSub>
                            <m:sSubPr>
                              <m:ctrlPr>
                                <a:rPr lang="en-US" altLang="zh-CN" sz="1800" i="1">
                                  <a:solidFill>
                                    <a:schemeClr val="tx1"/>
                                  </a:solidFill>
                                  <a:latin typeface="Cambria Math" panose="02040503050406030204" pitchFamily="18" charset="0"/>
                                </a:rPr>
                              </m:ctrlPr>
                            </m:sSubPr>
                            <m:e>
                              <m:r>
                                <a:rPr lang="en-US" altLang="zh-CN" sz="1800" i="1">
                                  <a:solidFill>
                                    <a:schemeClr val="tx1"/>
                                  </a:solidFill>
                                  <a:latin typeface="Cambria Math" panose="02040503050406030204" pitchFamily="18" charset="0"/>
                                </a:rPr>
                                <m:t>𝜔</m:t>
                              </m:r>
                            </m:e>
                            <m:sub>
                              <m:r>
                                <a:rPr lang="en-US" altLang="zh-CN" sz="1800" i="1">
                                  <a:solidFill>
                                    <a:schemeClr val="tx1"/>
                                  </a:solidFill>
                                  <a:latin typeface="Cambria Math" panose="02040503050406030204" pitchFamily="18" charset="0"/>
                                </a:rPr>
                                <m:t>𝑖</m:t>
                              </m:r>
                            </m:sub>
                          </m:sSub>
                          <m:r>
                            <a:rPr lang="en-US" altLang="zh-CN" sz="1800" i="1">
                              <a:solidFill>
                                <a:schemeClr val="tx1"/>
                              </a:solidFill>
                              <a:latin typeface="Cambria Math" panose="02040503050406030204" pitchFamily="18" charset="0"/>
                            </a:rPr>
                            <m:t>|</m:t>
                          </m:r>
                          <m:r>
                            <a:rPr lang="en-US" altLang="zh-CN" sz="1800" b="1">
                              <a:solidFill>
                                <a:schemeClr val="tx1"/>
                              </a:solidFill>
                              <a:latin typeface="Cambria Math" panose="02040503050406030204" pitchFamily="18" charset="0"/>
                            </a:rPr>
                            <m:t>𝛌</m:t>
                          </m:r>
                        </m:e>
                      </m:d>
                      <m:r>
                        <a:rPr lang="en-US" altLang="zh-CN" sz="1800" i="1">
                          <a:solidFill>
                            <a:schemeClr val="tx1"/>
                          </a:solidFill>
                          <a:latin typeface="Cambria Math" panose="02040503050406030204" pitchFamily="18" charset="0"/>
                        </a:rPr>
                        <m:t>&gt;0</m:t>
                      </m:r>
                    </m:oMath>
                  </m:oMathPara>
                </a14:m>
                <a:endParaRPr lang="en-US" altLang="zh-CN" sz="1800" dirty="0">
                  <a:solidFill>
                    <a:schemeClr val="tx1"/>
                  </a:solidFill>
                </a:endParaRPr>
              </a:p>
              <a:p>
                <a:pPr/>
                <a14:m>
                  <m:oMathPara xmlns:m="http://schemas.openxmlformats.org/officeDocument/2006/math">
                    <m:oMath>
                      <m:sSub>
                        <m:sSubPr>
                          <m:ctrlPr>
                            <a:rPr lang="en-US" altLang="zh-CN" sz="1800" b="1" i="1" dirty="0">
                              <a:solidFill>
                                <a:schemeClr val="tx1"/>
                              </a:solidFill>
                              <a:latin typeface="Cambria Math" panose="02040503050406030204" pitchFamily="18" charset="0"/>
                            </a:rPr>
                          </m:ctrlPr>
                        </m:sSubPr>
                        <m:e>
                          <m:r>
                            <a:rPr lang="en-US" altLang="zh-CN" sz="1800" b="1" i="1" dirty="0">
                              <a:solidFill>
                                <a:schemeClr val="tx1"/>
                              </a:solidFill>
                              <a:latin typeface="Cambria Math" panose="02040503050406030204" pitchFamily="18" charset="0"/>
                            </a:rPr>
                            <m:t>𝑮</m:t>
                          </m:r>
                        </m:e>
                        <m:sub>
                          <m:r>
                            <a:rPr lang="en-US" altLang="zh-CN" sz="1800" i="1" dirty="0">
                              <a:solidFill>
                                <a:schemeClr val="tx1"/>
                              </a:solidFill>
                              <a:latin typeface="Cambria Math" panose="02040503050406030204" pitchFamily="18" charset="0"/>
                            </a:rPr>
                            <m:t>𝑖</m:t>
                          </m:r>
                        </m:sub>
                      </m:sSub>
                      <m:d>
                        <m:dPr>
                          <m:ctrlPr>
                            <a:rPr lang="en-US" altLang="zh-CN" sz="1800" i="1" dirty="0">
                              <a:solidFill>
                                <a:schemeClr val="tx1"/>
                              </a:solidFill>
                              <a:latin typeface="Cambria Math" panose="02040503050406030204" pitchFamily="18" charset="0"/>
                            </a:rPr>
                          </m:ctrlPr>
                        </m:dPr>
                        <m:e>
                          <m:sSub>
                            <m:sSubPr>
                              <m:ctrlPr>
                                <a:rPr lang="en-US" altLang="zh-CN" sz="1800" i="1" dirty="0">
                                  <a:solidFill>
                                    <a:schemeClr val="tx1"/>
                                  </a:solidFill>
                                  <a:latin typeface="Cambria Math" panose="02040503050406030204" pitchFamily="18" charset="0"/>
                                </a:rPr>
                              </m:ctrlPr>
                            </m:sSubPr>
                            <m:e>
                              <m:acc>
                                <m:accPr>
                                  <m:chr m:val="̅"/>
                                  <m:ctrlPr>
                                    <a:rPr lang="en-US" altLang="zh-CN" sz="1800" i="1" dirty="0">
                                      <a:solidFill>
                                        <a:schemeClr val="tx1"/>
                                      </a:solidFill>
                                      <a:latin typeface="Cambria Math" panose="02040503050406030204" pitchFamily="18" charset="0"/>
                                    </a:rPr>
                                  </m:ctrlPr>
                                </m:accPr>
                                <m:e>
                                  <m:r>
                                    <a:rPr lang="en-US" altLang="zh-CN" sz="1800" i="1" dirty="0">
                                      <a:solidFill>
                                        <a:schemeClr val="tx1"/>
                                      </a:solidFill>
                                      <a:latin typeface="Cambria Math" panose="02040503050406030204" pitchFamily="18" charset="0"/>
                                    </a:rPr>
                                    <m:t>𝑝</m:t>
                                  </m:r>
                                </m:e>
                              </m:acc>
                            </m:e>
                            <m:sub>
                              <m:r>
                                <a:rPr lang="en-US" altLang="zh-CN" sz="1800" i="1" dirty="0">
                                  <a:solidFill>
                                    <a:schemeClr val="tx1"/>
                                  </a:solidFill>
                                  <a:latin typeface="Cambria Math" panose="02040503050406030204" pitchFamily="18" charset="0"/>
                                </a:rPr>
                                <m:t>𝑖</m:t>
                              </m:r>
                              <m:r>
                                <a:rPr lang="en-US" altLang="zh-CN" sz="1800" i="1" dirty="0">
                                  <a:solidFill>
                                    <a:schemeClr val="tx1"/>
                                  </a:solidFill>
                                  <a:latin typeface="Cambria Math" panose="02040503050406030204" pitchFamily="18" charset="0"/>
                                </a:rPr>
                                <m:t>−1</m:t>
                              </m:r>
                            </m:sub>
                          </m:sSub>
                          <m:r>
                            <a:rPr lang="en-US" altLang="zh-CN" sz="1800" b="1" i="1" dirty="0">
                              <a:solidFill>
                                <a:schemeClr val="tx1"/>
                              </a:solidFill>
                              <a:latin typeface="Cambria Math" panose="02040503050406030204" pitchFamily="18" charset="0"/>
                            </a:rPr>
                            <m:t>,</m:t>
                          </m:r>
                          <m:r>
                            <a:rPr lang="en-US" altLang="zh-CN" sz="1800" b="1" dirty="0">
                              <a:solidFill>
                                <a:schemeClr val="tx1"/>
                              </a:solidFill>
                              <a:latin typeface="Cambria Math" panose="02040503050406030204" pitchFamily="18" charset="0"/>
                            </a:rPr>
                            <m:t>𝛌</m:t>
                          </m:r>
                        </m:e>
                      </m:d>
                      <m:r>
                        <a:rPr lang="en-US" altLang="zh-CN" sz="1800" b="1" i="1" dirty="0">
                          <a:solidFill>
                            <a:schemeClr val="tx1"/>
                          </a:solidFill>
                          <a:latin typeface="Cambria Math" panose="02040503050406030204" pitchFamily="18" charset="0"/>
                        </a:rPr>
                        <m:t>≠</m:t>
                      </m:r>
                      <m:r>
                        <a:rPr lang="en-US" altLang="zh-CN" sz="1800" b="1" i="1" dirty="0">
                          <a:solidFill>
                            <a:schemeClr val="tx1"/>
                          </a:solidFill>
                          <a:latin typeface="Cambria Math" panose="02040503050406030204" pitchFamily="18" charset="0"/>
                        </a:rPr>
                        <m:t>𝟎</m:t>
                      </m:r>
                      <m:r>
                        <a:rPr lang="en-US" altLang="zh-CN" sz="1800" b="1" i="1" dirty="0">
                          <a:solidFill>
                            <a:schemeClr val="tx1"/>
                          </a:solidFill>
                          <a:latin typeface="Cambria Math" panose="02040503050406030204" pitchFamily="18" charset="0"/>
                        </a:rPr>
                        <m:t>  ⇒  </m:t>
                      </m:r>
                      <m:nary>
                        <m:naryPr>
                          <m:chr m:val="∑"/>
                          <m:ctrlPr>
                            <a:rPr lang="en-US" altLang="zh-CN" sz="1800" i="1" dirty="0">
                              <a:solidFill>
                                <a:schemeClr val="tx1"/>
                              </a:solidFill>
                              <a:latin typeface="Cambria Math" panose="02040503050406030204" pitchFamily="18" charset="0"/>
                            </a:rPr>
                          </m:ctrlPr>
                        </m:naryPr>
                        <m:sub>
                          <m:r>
                            <m:rPr>
                              <m:brk m:alnAt="23"/>
                            </m:rPr>
                            <a:rPr lang="en-US" altLang="zh-CN" sz="1800" i="1" dirty="0">
                              <a:solidFill>
                                <a:schemeClr val="tx1"/>
                              </a:solidFill>
                              <a:latin typeface="Cambria Math" panose="02040503050406030204" pitchFamily="18" charset="0"/>
                            </a:rPr>
                            <m:t>ℎ</m:t>
                          </m:r>
                          <m:r>
                            <m:rPr>
                              <m:brk m:alnAt="23"/>
                            </m:rPr>
                            <a:rPr lang="en-US" altLang="zh-CN" sz="1800" i="1" dirty="0">
                              <a:solidFill>
                                <a:schemeClr val="tx1"/>
                              </a:solidFill>
                              <a:latin typeface="Cambria Math" panose="02040503050406030204" pitchFamily="18" charset="0"/>
                            </a:rPr>
                            <m:t>=</m:t>
                          </m:r>
                          <m:r>
                            <m:rPr>
                              <m:brk m:alnAt="23"/>
                            </m:rPr>
                            <a:rPr lang="en-US" altLang="zh-CN" sz="1800" i="1" dirty="0">
                              <a:solidFill>
                                <a:schemeClr val="tx1"/>
                              </a:solidFill>
                              <a:latin typeface="Cambria Math" panose="02040503050406030204" pitchFamily="18" charset="0"/>
                            </a:rPr>
                            <m:t>1</m:t>
                          </m:r>
                        </m:sub>
                        <m:sup>
                          <m:sSub>
                            <m:sSubPr>
                              <m:ctrlPr>
                                <a:rPr lang="en-US" altLang="zh-CN" sz="1800" i="1" dirty="0">
                                  <a:solidFill>
                                    <a:schemeClr val="tx1"/>
                                  </a:solidFill>
                                  <a:latin typeface="Cambria Math" panose="02040503050406030204" pitchFamily="18" charset="0"/>
                                </a:rPr>
                              </m:ctrlPr>
                            </m:sSubPr>
                            <m:e>
                              <m:r>
                                <a:rPr lang="en-US" altLang="zh-CN" sz="1800" i="1" dirty="0">
                                  <a:solidFill>
                                    <a:schemeClr val="tx1"/>
                                  </a:solidFill>
                                  <a:latin typeface="Cambria Math" panose="02040503050406030204" pitchFamily="18" charset="0"/>
                                </a:rPr>
                                <m:t>𝑁</m:t>
                              </m:r>
                            </m:e>
                            <m:sub>
                              <m:r>
                                <a:rPr lang="en-US" altLang="zh-CN" sz="1800" i="1" dirty="0">
                                  <a:solidFill>
                                    <a:schemeClr val="tx1"/>
                                  </a:solidFill>
                                  <a:latin typeface="Cambria Math" panose="02040503050406030204" pitchFamily="18" charset="0"/>
                                </a:rPr>
                                <m:t>𝜆</m:t>
                              </m:r>
                            </m:sub>
                          </m:sSub>
                        </m:sup>
                        <m:e>
                          <m:sSub>
                            <m:sSubPr>
                              <m:ctrlPr>
                                <a:rPr lang="en-US" altLang="zh-CN" sz="1800" i="1" dirty="0">
                                  <a:solidFill>
                                    <a:schemeClr val="tx1"/>
                                  </a:solidFill>
                                  <a:latin typeface="Cambria Math" panose="02040503050406030204" pitchFamily="18" charset="0"/>
                                </a:rPr>
                              </m:ctrlPr>
                            </m:sSubPr>
                            <m:e>
                              <m:r>
                                <a:rPr lang="en-US" altLang="zh-CN" sz="1800" i="1" dirty="0">
                                  <a:solidFill>
                                    <a:schemeClr val="tx1"/>
                                  </a:solidFill>
                                  <a:latin typeface="Cambria Math" panose="02040503050406030204" pitchFamily="18" charset="0"/>
                                </a:rPr>
                                <m:t>𝑐</m:t>
                              </m:r>
                            </m:e>
                            <m:sub>
                              <m:r>
                                <a:rPr lang="en-US" altLang="zh-CN" sz="1800" i="1" dirty="0">
                                  <a:solidFill>
                                    <a:schemeClr val="tx1"/>
                                  </a:solidFill>
                                  <a:latin typeface="Cambria Math" panose="02040503050406030204" pitchFamily="18" charset="0"/>
                                </a:rPr>
                                <m:t>ℎ</m:t>
                              </m:r>
                            </m:sub>
                          </m:sSub>
                          <m:sSubSup>
                            <m:sSubSupPr>
                              <m:ctrlPr>
                                <a:rPr lang="en-US" altLang="zh-CN" sz="1800" i="1" dirty="0">
                                  <a:solidFill>
                                    <a:schemeClr val="tx1"/>
                                  </a:solidFill>
                                  <a:latin typeface="Cambria Math" panose="02040503050406030204" pitchFamily="18" charset="0"/>
                                </a:rPr>
                              </m:ctrlPr>
                            </m:sSubSupPr>
                            <m:e>
                              <m:r>
                                <a:rPr lang="en-US" altLang="zh-CN" sz="1800" i="1" dirty="0">
                                  <a:solidFill>
                                    <a:schemeClr val="tx1"/>
                                  </a:solidFill>
                                  <a:latin typeface="Cambria Math" panose="02040503050406030204" pitchFamily="18" charset="0"/>
                                </a:rPr>
                                <m:t>𝑞</m:t>
                              </m:r>
                            </m:e>
                            <m:sub>
                              <m:r>
                                <a:rPr lang="en-US" altLang="zh-CN" sz="1800" i="1" dirty="0">
                                  <a:solidFill>
                                    <a:schemeClr val="tx1"/>
                                  </a:solidFill>
                                  <a:latin typeface="Cambria Math" panose="02040503050406030204" pitchFamily="18" charset="0"/>
                                </a:rPr>
                                <m:t>𝑖</m:t>
                              </m:r>
                              <m:r>
                                <a:rPr lang="en-US" altLang="zh-CN" sz="1800" i="1" dirty="0">
                                  <a:solidFill>
                                    <a:schemeClr val="tx1"/>
                                  </a:solidFill>
                                  <a:latin typeface="Cambria Math" panose="02040503050406030204" pitchFamily="18" charset="0"/>
                                </a:rPr>
                                <m:t>−1,</m:t>
                              </m:r>
                              <m:r>
                                <a:rPr lang="en-US" altLang="zh-CN" sz="1800" i="1" dirty="0">
                                  <a:solidFill>
                                    <a:schemeClr val="tx1"/>
                                  </a:solidFill>
                                  <a:latin typeface="Cambria Math" panose="02040503050406030204" pitchFamily="18" charset="0"/>
                                </a:rPr>
                                <m:t>ℎ</m:t>
                              </m:r>
                            </m:sub>
                            <m:sup>
                              <m:r>
                                <a:rPr lang="en-US" altLang="zh-CN" sz="1800" i="1" dirty="0">
                                  <a:solidFill>
                                    <a:schemeClr val="tx1"/>
                                  </a:solidFill>
                                  <a:latin typeface="Cambria Math" panose="02040503050406030204" pitchFamily="18" charset="0"/>
                                </a:rPr>
                                <m:t>𝑝𝑟𝑒</m:t>
                              </m:r>
                            </m:sup>
                          </m:sSubSup>
                          <m:d>
                            <m:dPr>
                              <m:ctrlPr>
                                <a:rPr lang="en-US" altLang="zh-CN" sz="1800" i="1" dirty="0">
                                  <a:solidFill>
                                    <a:schemeClr val="tx1"/>
                                  </a:solidFill>
                                  <a:latin typeface="Cambria Math" panose="02040503050406030204" pitchFamily="18" charset="0"/>
                                </a:rPr>
                              </m:ctrlPr>
                            </m:dPr>
                            <m:e>
                              <m:sSub>
                                <m:sSubPr>
                                  <m:ctrlPr>
                                    <a:rPr lang="en-US" altLang="zh-CN" sz="1800" i="1" dirty="0">
                                      <a:solidFill>
                                        <a:schemeClr val="tx1"/>
                                      </a:solidFill>
                                      <a:latin typeface="Cambria Math" panose="02040503050406030204" pitchFamily="18" charset="0"/>
                                    </a:rPr>
                                  </m:ctrlPr>
                                </m:sSubPr>
                                <m:e>
                                  <m:acc>
                                    <m:accPr>
                                      <m:chr m:val="̅"/>
                                      <m:ctrlPr>
                                        <a:rPr lang="en-US" altLang="zh-CN" sz="1800" i="1" dirty="0">
                                          <a:solidFill>
                                            <a:schemeClr val="tx1"/>
                                          </a:solidFill>
                                          <a:latin typeface="Cambria Math" panose="02040503050406030204" pitchFamily="18" charset="0"/>
                                        </a:rPr>
                                      </m:ctrlPr>
                                    </m:accPr>
                                    <m:e>
                                      <m:r>
                                        <a:rPr lang="en-US" altLang="zh-CN" sz="1800" i="1" dirty="0">
                                          <a:solidFill>
                                            <a:schemeClr val="tx1"/>
                                          </a:solidFill>
                                          <a:latin typeface="Cambria Math" panose="02040503050406030204" pitchFamily="18" charset="0"/>
                                        </a:rPr>
                                        <m:t>𝑝</m:t>
                                      </m:r>
                                    </m:e>
                                  </m:acc>
                                </m:e>
                                <m:sub>
                                  <m:r>
                                    <a:rPr lang="en-US" altLang="zh-CN" sz="1800" i="1" dirty="0">
                                      <a:solidFill>
                                        <a:schemeClr val="tx1"/>
                                      </a:solidFill>
                                      <a:latin typeface="Cambria Math" panose="02040503050406030204" pitchFamily="18" charset="0"/>
                                    </a:rPr>
                                    <m:t>𝑖</m:t>
                                  </m:r>
                                  <m:r>
                                    <a:rPr lang="en-US" altLang="zh-CN" sz="1800" i="1" dirty="0">
                                      <a:solidFill>
                                        <a:schemeClr val="tx1"/>
                                      </a:solidFill>
                                      <a:latin typeface="Cambria Math" panose="02040503050406030204" pitchFamily="18" charset="0"/>
                                    </a:rPr>
                                    <m:t>−1</m:t>
                                  </m:r>
                                </m:sub>
                              </m:sSub>
                              <m:r>
                                <a:rPr lang="en-US" altLang="zh-CN" sz="1800" i="1" dirty="0">
                                  <a:solidFill>
                                    <a:schemeClr val="tx1"/>
                                  </a:solidFill>
                                  <a:latin typeface="Cambria Math" panose="02040503050406030204" pitchFamily="18" charset="0"/>
                                </a:rPr>
                                <m:t>|</m:t>
                              </m:r>
                              <m:r>
                                <a:rPr lang="en-US" altLang="zh-CN" sz="1800" b="1" dirty="0">
                                  <a:solidFill>
                                    <a:schemeClr val="tx1"/>
                                  </a:solidFill>
                                  <a:latin typeface="Cambria Math" panose="02040503050406030204" pitchFamily="18" charset="0"/>
                                </a:rPr>
                                <m:t>𝛌</m:t>
                              </m:r>
                            </m:e>
                          </m:d>
                        </m:e>
                      </m:nary>
                      <m:r>
                        <a:rPr lang="en-US" altLang="zh-CN" sz="1800" i="1">
                          <a:solidFill>
                            <a:schemeClr val="tx1"/>
                          </a:solidFill>
                          <a:latin typeface="Cambria Math" panose="02040503050406030204" pitchFamily="18" charset="0"/>
                        </a:rPr>
                        <m:t>&gt;0</m:t>
                      </m:r>
                    </m:oMath>
                  </m:oMathPara>
                </a14:m>
                <a:endParaRPr lang="en-US" altLang="zh-CN" sz="1800" dirty="0">
                  <a:solidFill>
                    <a:schemeClr val="tx1"/>
                  </a:solidFill>
                </a:endParaRPr>
              </a:p>
            </p:txBody>
          </p:sp>
        </mc:Choice>
        <mc:Fallback xmlns="">
          <p:sp>
            <p:nvSpPr>
              <p:cNvPr id="19" name="文本框 18">
                <a:extLst>
                  <a:ext uri="{FF2B5EF4-FFF2-40B4-BE49-F238E27FC236}">
                    <a16:creationId xmlns:a16="http://schemas.microsoft.com/office/drawing/2014/main" id="{AD8A1C21-1987-750A-B60A-8BFB61CC81CD}"/>
                  </a:ext>
                </a:extLst>
              </p:cNvPr>
              <p:cNvSpPr txBox="1">
                <a:spLocks noRot="1" noChangeAspect="1" noMove="1" noResize="1" noEditPoints="1" noAdjustHandles="1" noChangeArrowheads="1" noChangeShapeType="1" noTextEdit="1"/>
              </p:cNvSpPr>
              <p:nvPr/>
            </p:nvSpPr>
            <p:spPr>
              <a:xfrm>
                <a:off x="-126374" y="4417348"/>
                <a:ext cx="6094926" cy="1545167"/>
              </a:xfrm>
              <a:prstGeom prst="rect">
                <a:avLst/>
              </a:prstGeom>
              <a:blipFill>
                <a:blip r:embed="rId5"/>
                <a:stretch>
                  <a:fillRect t="-27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214925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F9ABB-92F2-2ADC-5CAF-8ABF123628B7}"/>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7EC64591-C651-7BED-BA8C-7A8CE3C11EA0}"/>
              </a:ext>
            </a:extLst>
          </p:cNvPr>
          <p:cNvSpPr>
            <a:spLocks noGrp="1"/>
          </p:cNvSpPr>
          <p:nvPr>
            <p:ph type="title" idx="1"/>
          </p:nvPr>
        </p:nvSpPr>
        <p:spPr/>
        <p:txBody>
          <a:bodyPr/>
          <a:lstStyle/>
          <a:p>
            <a:r>
              <a:rPr lang="zh-CN" altLang="en-US" dirty="0"/>
              <a:t>光谱路径追踪  </a:t>
            </a:r>
            <a:r>
              <a:rPr lang="en-US" altLang="zh-CN" dirty="0"/>
              <a:t>——  </a:t>
            </a:r>
            <a:r>
              <a:rPr lang="zh-CN" altLang="en-US" dirty="0"/>
              <a:t>代码实现</a:t>
            </a:r>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DC1A8149-5650-F1E7-E3FF-EC165103CB07}"/>
                  </a:ext>
                </a:extLst>
              </p:cNvPr>
              <p:cNvSpPr txBox="1"/>
              <p:nvPr/>
            </p:nvSpPr>
            <p:spPr>
              <a:xfrm>
                <a:off x="541163" y="1169310"/>
                <a:ext cx="11109674" cy="5003549"/>
              </a:xfrm>
              <a:prstGeom prst="rect">
                <a:avLst/>
              </a:prstGeom>
              <a:noFill/>
            </p:spPr>
            <p:txBody>
              <a:bodyPr wrap="square">
                <a:spAutoFit/>
              </a:bodyPr>
              <a:lstStyle/>
              <a:p>
                <a:pPr>
                  <a:spcBef>
                    <a:spcPts val="400"/>
                  </a:spcBef>
                </a:pPr>
                <a14:m>
                  <m:oMathPara xmlns:m="http://schemas.openxmlformats.org/officeDocument/2006/math">
                    <m:oMath>
                      <m:sSubSup>
                        <m:sSubSupPr>
                          <m:ctrlPr>
                            <a:rPr lang="zh-CN" altLang="en-US" sz="1800" b="1" i="1" dirty="0">
                              <a:latin typeface="Cambria Math" panose="02040503050406030204" pitchFamily="18" charset="0"/>
                            </a:rPr>
                          </m:ctrlPr>
                        </m:sSubSupPr>
                        <m:e>
                          <m:acc>
                            <m:accPr>
                              <m:chr m:val="̂"/>
                              <m:ctrlPr>
                                <a:rPr lang="zh-CN" altLang="en-US" sz="1800" b="1" i="1" dirty="0">
                                  <a:latin typeface="Cambria Math" panose="02040503050406030204" pitchFamily="18" charset="0"/>
                                </a:rPr>
                              </m:ctrlPr>
                            </m:accPr>
                            <m:e>
                              <m:r>
                                <a:rPr lang="zh-CN" altLang="en-US" sz="1800" b="1" i="1" dirty="0">
                                  <a:latin typeface="Cambria Math" panose="02040503050406030204" pitchFamily="18" charset="0"/>
                                </a:rPr>
                                <m:t>𝓙</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𝑗𝑜𝑖𝑛𝑡</m:t>
                          </m:r>
                        </m:sup>
                      </m:sSubSup>
                      <m:d>
                        <m:dPr>
                          <m:ctrlPr>
                            <a:rPr lang="en-US" altLang="zh-CN" sz="1800" b="1" dirty="0">
                              <a:latin typeface="Cambria Math" panose="02040503050406030204" pitchFamily="18" charset="0"/>
                            </a:rPr>
                          </m:ctrlPr>
                        </m:dPr>
                        <m:e>
                          <m:r>
                            <a:rPr lang="en-US" altLang="zh-CN" sz="1800" b="1" dirty="0">
                              <a:latin typeface="Cambria Math" panose="02040503050406030204" pitchFamily="18" charset="0"/>
                            </a:rPr>
                            <m:t>𝛌</m:t>
                          </m:r>
                        </m:e>
                      </m:d>
                      <m:r>
                        <a:rPr lang="en-US" altLang="zh-CN" sz="1800" b="1" i="1" dirty="0">
                          <a:latin typeface="Cambria Math" panose="02040503050406030204" pitchFamily="18" charset="0"/>
                        </a:rPr>
                        <m:t>=</m:t>
                      </m:r>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𝑤</m:t>
                          </m:r>
                        </m:e>
                        <m:sub>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𝐿</m:t>
                          </m:r>
                        </m:sub>
                        <m:sup>
                          <m:r>
                            <a:rPr lang="en-US" altLang="zh-CN" sz="1800" i="1" dirty="0">
                              <a:latin typeface="Cambria Math" panose="02040503050406030204" pitchFamily="18" charset="0"/>
                            </a:rPr>
                            <m:t>𝑗𝑜𝑖𝑛𝑡</m:t>
                          </m:r>
                        </m:sup>
                      </m:sSubSup>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𝐿</m:t>
                              </m:r>
                            </m:sup>
                          </m:sSubSup>
                        </m:e>
                      </m:d>
                      <m:f>
                        <m:fPr>
                          <m:ctrlPr>
                            <a:rPr lang="en-US" altLang="zh-CN" sz="1800" b="1" i="1" dirty="0">
                              <a:latin typeface="Cambria Math" panose="02040503050406030204" pitchFamily="18" charset="0"/>
                            </a:rPr>
                          </m:ctrlPr>
                        </m:fPr>
                        <m:num>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𝐿</m:t>
                                  </m:r>
                                </m:sup>
                              </m:sSubSup>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𝐻</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𝐿</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𝐿</m:t>
                                  </m:r>
                                </m:sup>
                              </m:sSubSup>
                              <m:r>
                                <a:rPr lang="en-US" altLang="zh-CN" sz="1800" i="1" dirty="0">
                                  <a:latin typeface="Cambria Math" panose="02040503050406030204" pitchFamily="18" charset="0"/>
                                </a:rPr>
                                <m:t>|</m:t>
                              </m:r>
                              <m:r>
                                <a:rPr lang="en-US" altLang="zh-CN" sz="1800" b="1" dirty="0">
                                  <a:latin typeface="Cambria Math" panose="02040503050406030204" pitchFamily="18" charset="0"/>
                                </a:rPr>
                                <m:t>𝛌</m:t>
                              </m:r>
                            </m:e>
                          </m:d>
                        </m:den>
                      </m:f>
                      <m:r>
                        <a:rPr lang="en-US" altLang="zh-CN" sz="1800" b="1" i="1" dirty="0">
                          <a:latin typeface="Cambria Math" panose="02040503050406030204" pitchFamily="18" charset="0"/>
                        </a:rPr>
                        <m:t>+</m:t>
                      </m:r>
                      <m:r>
                        <a:rPr lang="en-US" altLang="zh-CN" sz="1800" b="1" i="1" dirty="0" smtClean="0">
                          <a:latin typeface="Cambria Math" panose="02040503050406030204" pitchFamily="18" charset="0"/>
                        </a:rPr>
                        <m:t> </m:t>
                      </m:r>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𝑤</m:t>
                          </m:r>
                        </m:e>
                        <m:sub>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𝐵</m:t>
                          </m:r>
                        </m:sub>
                        <m:sup>
                          <m:r>
                            <a:rPr lang="en-US" altLang="zh-CN" sz="1800" i="1" dirty="0">
                              <a:latin typeface="Cambria Math" panose="02040503050406030204" pitchFamily="18" charset="0"/>
                            </a:rPr>
                            <m:t>𝑗𝑜𝑖𝑛𝑡</m:t>
                          </m:r>
                        </m:sup>
                      </m:sSubSup>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𝐵</m:t>
                              </m:r>
                            </m:sup>
                          </m:sSubSup>
                        </m:e>
                      </m:d>
                      <m:f>
                        <m:fPr>
                          <m:ctrlPr>
                            <a:rPr lang="en-US" altLang="zh-CN" sz="1800" b="1" i="1" dirty="0">
                              <a:latin typeface="Cambria Math" panose="02040503050406030204" pitchFamily="18" charset="0"/>
                            </a:rPr>
                          </m:ctrlPr>
                        </m:fPr>
                        <m:num>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𝐵</m:t>
                                  </m:r>
                                </m:sup>
                              </m:sSubSup>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num>
                        <m:den>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𝐻</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𝐻</m:t>
                              </m:r>
                              <m:r>
                                <a:rPr lang="en-US" altLang="zh-CN" sz="1800" i="1" dirty="0">
                                  <a:latin typeface="Cambria Math" panose="02040503050406030204" pitchFamily="18" charset="0"/>
                                </a:rPr>
                                <m:t>,</m:t>
                              </m:r>
                              <m:r>
                                <a:rPr lang="en-US" altLang="zh-CN" sz="1800" i="1" dirty="0">
                                  <a:latin typeface="Cambria Math" panose="02040503050406030204" pitchFamily="18" charset="0"/>
                                </a:rPr>
                                <m:t>𝐵</m:t>
                              </m:r>
                            </m:sub>
                          </m:sSub>
                          <m:d>
                            <m:dPr>
                              <m:ctrlPr>
                                <a:rPr lang="en-US" altLang="zh-CN" sz="1800" i="1" dirty="0">
                                  <a:latin typeface="Cambria Math" panose="02040503050406030204" pitchFamily="18" charset="0"/>
                                </a:rPr>
                              </m:ctrlPr>
                            </m:dPr>
                            <m:e>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up>
                                  <m:r>
                                    <a:rPr lang="en-US" altLang="zh-CN" sz="1800" i="1" dirty="0">
                                      <a:latin typeface="Cambria Math" panose="02040503050406030204" pitchFamily="18" charset="0"/>
                                    </a:rPr>
                                    <m:t>𝐵</m:t>
                                  </m:r>
                                </m:sup>
                              </m:sSubSup>
                              <m:r>
                                <a:rPr lang="en-US" altLang="zh-CN" sz="1800" i="1" dirty="0">
                                  <a:latin typeface="Cambria Math" panose="02040503050406030204" pitchFamily="18" charset="0"/>
                                </a:rPr>
                                <m:t>|</m:t>
                              </m:r>
                              <m:r>
                                <a:rPr lang="en-US" altLang="zh-CN" sz="1800" b="1" dirty="0">
                                  <a:latin typeface="Cambria Math" panose="02040503050406030204" pitchFamily="18" charset="0"/>
                                </a:rPr>
                                <m:t>𝛌</m:t>
                              </m:r>
                            </m:e>
                          </m:d>
                        </m:den>
                      </m:f>
                      <m:r>
                        <a:rPr lang="en-US" altLang="zh-CN" sz="1800" b="1" i="1" dirty="0" smtClean="0">
                          <a:latin typeface="Cambria Math" panose="02040503050406030204" pitchFamily="18" charset="0"/>
                        </a:rPr>
                        <m:t>,  </m:t>
                      </m:r>
                      <m:sSub>
                        <m:sSubPr>
                          <m:ctrlPr>
                            <a:rPr lang="en-US" altLang="zh-CN" b="1" i="1" dirty="0">
                              <a:latin typeface="Cambria Math" panose="02040503050406030204" pitchFamily="18" charset="0"/>
                            </a:rPr>
                          </m:ctrlPr>
                        </m:sSubPr>
                        <m:e>
                          <m:r>
                            <a:rPr lang="en-US" altLang="zh-CN" b="1" i="1" dirty="0">
                              <a:latin typeface="Cambria Math" panose="02040503050406030204" pitchFamily="18" charset="0"/>
                            </a:rPr>
                            <m:t>𝑮</m:t>
                          </m:r>
                        </m:e>
                        <m:sub>
                          <m:r>
                            <a:rPr lang="en-US" altLang="zh-CN" i="1" dirty="0">
                              <a:latin typeface="Cambria Math" panose="02040503050406030204" pitchFamily="18" charset="0"/>
                            </a:rPr>
                            <m:t>𝑖</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r>
                                <a:rPr lang="en-US" altLang="zh-CN" i="1" dirty="0">
                                  <a:solidFill>
                                    <a:srgbClr val="FF0000"/>
                                  </a:solidFill>
                                  <a:latin typeface="Cambria Math" panose="02040503050406030204" pitchFamily="18" charset="0"/>
                                </a:rPr>
                                <m:t> </m:t>
                              </m:r>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𝒄</m:t>
                                  </m:r>
                                </m:e>
                              </m:acc>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𝜆</m:t>
                                      </m:r>
                                    </m:e>
                                    <m:sub>
                                      <m:r>
                                        <a:rPr lang="en-US" altLang="zh-CN" i="1">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𝑝</m:t>
                                  </m:r>
                                </m:e>
                                <m:sub>
                                  <m:r>
                                    <a:rPr lang="en-US" altLang="zh-CN" i="1" dirty="0">
                                      <a:latin typeface="Cambria Math" panose="02040503050406030204" pitchFamily="18" charset="0"/>
                                    </a:rPr>
                                    <m:t>𝜆</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den>
                          </m:f>
                        </m:e>
                      </m:nary>
                    </m:oMath>
                  </m:oMathPara>
                </a14:m>
                <a:endParaRPr lang="en-US" altLang="zh-CN" dirty="0"/>
              </a:p>
              <a:p>
                <a:pPr>
                  <a:spcBef>
                    <a:spcPts val="400"/>
                  </a:spcBef>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d>
                            <m:dPr>
                              <m:begChr m:val="["/>
                              <m:endChr m:val="]"/>
                              <m:ctrlPr>
                                <a:rPr lang="en-US" altLang="zh-CN" i="1" dirty="0" smtClean="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 </m:t>
                                  </m:r>
                                  <m:acc>
                                    <m:accPr>
                                      <m:chr m:val="̅"/>
                                      <m:ctrlPr>
                                        <a:rPr lang="en-US" altLang="zh-CN" b="1"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𝒄</m:t>
                                      </m:r>
                                    </m:e>
                                  </m:acc>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𝜆</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den>
                              </m:f>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𝐿</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e>
                                  </m:d>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r>
                                    <a:rPr lang="en-US" altLang="zh-CN" b="1" i="1" dirty="0">
                                      <a:latin typeface="Cambria Math" panose="02040503050406030204" pitchFamily="18" charset="0"/>
                                    </a:rPr>
                                    <m:t>+ </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𝐵</m:t>
                                      </m:r>
                                    </m:sub>
                                    <m:sup>
                                      <m:r>
                                        <a:rPr lang="en-US" altLang="zh-CN" i="1" dirty="0">
                                          <a:latin typeface="Cambria Math" panose="02040503050406030204" pitchFamily="18" charset="0"/>
                                        </a:rPr>
                                        <m:t>𝑗𝑜𝑖𝑛𝑡</m:t>
                                      </m:r>
                                    </m:sup>
                                  </m:sSubSup>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e>
                                  </m:d>
                                  <m:f>
                                    <m:fPr>
                                      <m:ctrlPr>
                                        <a:rPr lang="en-US" altLang="zh-CN" i="1" dirty="0">
                                          <a:latin typeface="Cambria Math" panose="02040503050406030204" pitchFamily="18" charset="0"/>
                                        </a:rPr>
                                      </m:ctrlPr>
                                    </m:fPr>
                                    <m:num>
                                      <m:sSub>
                                        <m:sSubPr>
                                          <m:ctrlPr>
                                            <a:rPr lang="en-US" altLang="zh-CN" dirty="0">
                                              <a:latin typeface="Cambria Math" panose="02040503050406030204" pitchFamily="18" charset="0"/>
                                            </a:rPr>
                                          </m:ctrlPr>
                                        </m:sSubPr>
                                        <m:e>
                                          <m:r>
                                            <m:rPr>
                                              <m:sty m:val="p"/>
                                            </m:rPr>
                                            <a:rPr lang="en-US" altLang="zh-CN" dirty="0">
                                              <a:latin typeface="Cambria Math" panose="02040503050406030204" pitchFamily="18" charset="0"/>
                                            </a:rPr>
                                            <m:t>Φ</m:t>
                                          </m:r>
                                        </m:e>
                                        <m:sub>
                                          <m:r>
                                            <m:rPr>
                                              <m:sty m:val="p"/>
                                            </m:rPr>
                                            <a:rPr lang="en-US" altLang="zh-CN" dirty="0">
                                              <a:latin typeface="Cambria Math" panose="02040503050406030204" pitchFamily="18" charset="0"/>
                                            </a:rPr>
                                            <m:t>i</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b="0" i="1" dirty="0" smtClean="0">
                                                  <a:latin typeface="Cambria Math" panose="02040503050406030204" pitchFamily="18" charset="0"/>
                                                </a:rPr>
                                                <m:t>𝐵</m:t>
                                              </m:r>
                                            </m:sup>
                                          </m:sSubSup>
                                          <m:r>
                                            <a:rPr lang="en-US" altLang="zh-CN"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𝜆</m:t>
                                              </m:r>
                                            </m:e>
                                            <m:sub>
                                              <m:r>
                                                <a:rPr lang="en-US" altLang="zh-CN" i="1" dirty="0">
                                                  <a:latin typeface="Cambria Math" panose="02040503050406030204" pitchFamily="18" charset="0"/>
                                                </a:rPr>
                                                <m:t>𝑗</m:t>
                                              </m:r>
                                            </m:sub>
                                          </m:sSub>
                                        </m:e>
                                      </m:d>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r>
                                            <a:rPr lang="en-US" altLang="zh-CN" i="1" dirty="0">
                                              <a:latin typeface="Cambria Math" panose="02040503050406030204" pitchFamily="18" charset="0"/>
                                            </a:rPr>
                                            <m:t>𝐻</m:t>
                                          </m:r>
                                        </m:sub>
                                      </m:s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den>
                                  </m:f>
                                </m:e>
                              </m:d>
                            </m:e>
                          </m:d>
                        </m:e>
                      </m:nary>
                    </m:oMath>
                  </m:oMathPara>
                </a14:m>
                <a:endParaRPr lang="en-US" altLang="zh-CN" dirty="0"/>
              </a:p>
              <a:p>
                <a:pPr/>
                <a:r>
                  <a:rPr lang="zh-CN" altLang="en-US" dirty="0"/>
                  <a:t>其中：</a:t>
                </a:r>
                <a:endParaRPr lang="en-US" altLang="zh-CN" dirty="0"/>
              </a:p>
              <a:p>
                <a:pPr/>
                <a14:m>
                  <m:oMathPara xmlns:m="http://schemas.openxmlformats.org/officeDocument/2006/math">
                    <m:oMath>
                      <m:sSubSup>
                        <m:sSubSupPr>
                          <m:ctrlPr>
                            <a:rPr lang="en-US" altLang="zh-CN">
                              <a:latin typeface="Cambria Math" panose="02040503050406030204" pitchFamily="18" charset="0"/>
                            </a:rPr>
                          </m:ctrlPr>
                        </m:sSubSupPr>
                        <m:e>
                          <m:r>
                            <m:rPr>
                              <m:sty m:val="p"/>
                            </m:rPr>
                            <a:rPr lang="en-US" altLang="zh-CN">
                              <a:latin typeface="Cambria Math" panose="02040503050406030204" pitchFamily="18" charset="0"/>
                            </a:rPr>
                            <m:t>Φ</m:t>
                          </m:r>
                        </m:e>
                        <m:sub>
                          <m:r>
                            <a:rPr lang="en-US" altLang="zh-CN" i="1">
                              <a:latin typeface="Cambria Math" panose="02040503050406030204" pitchFamily="18" charset="0"/>
                            </a:rPr>
                            <m:t>𝑖</m:t>
                          </m:r>
                          <m:r>
                            <a:rPr lang="en-US" altLang="zh-CN" i="1">
                              <a:latin typeface="Cambria Math" panose="02040503050406030204" pitchFamily="18" charset="0"/>
                            </a:rPr>
                            <m:t>−1</m:t>
                          </m:r>
                        </m:sub>
                        <m:sup>
                          <m:r>
                            <a:rPr lang="en-US" altLang="zh-CN" i="1">
                              <a:latin typeface="Cambria Math" panose="02040503050406030204" pitchFamily="18" charset="0"/>
                            </a:rPr>
                            <m:t>𝑝𝑟𝑒</m:t>
                          </m:r>
                        </m:sup>
                      </m:sSubSup>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𝑝</m:t>
                                  </m:r>
                                </m:e>
                              </m:acc>
                            </m:e>
                            <m:sub>
                              <m:r>
                                <a:rPr lang="en-US" altLang="zh-CN" i="1">
                                  <a:latin typeface="Cambria Math" panose="02040503050406030204" pitchFamily="18" charset="0"/>
                                </a:rPr>
                                <m:t>𝑖</m:t>
                              </m:r>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i="1" dirty="0">
                              <a:latin typeface="Cambria Math" panose="02040503050406030204" pitchFamily="18" charset="0"/>
                            </a:rPr>
                            <m:t>𝜆</m:t>
                          </m:r>
                        </m:e>
                      </m:d>
                      <m:r>
                        <a:rPr lang="en-US" altLang="zh-CN"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𝑘</m:t>
                          </m:r>
                          <m:r>
                            <m:rPr>
                              <m:brk m:alnAt="23"/>
                            </m:rPr>
                            <a:rPr lang="en-US" altLang="zh-CN" i="1">
                              <a:latin typeface="Cambria Math" panose="02040503050406030204" pitchFamily="18" charset="0"/>
                            </a:rPr>
                            <m:t>=</m:t>
                          </m:r>
                          <m:r>
                            <m:rPr>
                              <m:brk m:alnAt="23"/>
                            </m:rPr>
                            <a:rPr lang="en-US" altLang="zh-CN" i="1">
                              <a:latin typeface="Cambria Math" panose="02040503050406030204" pitchFamily="18" charset="0"/>
                            </a:rPr>
                            <m:t>1</m:t>
                          </m:r>
                        </m:sub>
                        <m:sup>
                          <m:r>
                            <a:rPr lang="en-US" altLang="zh-CN" i="1">
                              <a:latin typeface="Cambria Math" panose="02040503050406030204" pitchFamily="18" charset="0"/>
                            </a:rPr>
                            <m:t>𝑖</m:t>
                          </m:r>
                          <m:r>
                            <a:rPr lang="en-US" altLang="zh-CN" i="1">
                              <a:latin typeface="Cambria Math" panose="02040503050406030204" pitchFamily="18" charset="0"/>
                            </a:rPr>
                            <m:t>−2</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𝑓</m:t>
                              </m:r>
                            </m:e>
                            <m:sub>
                              <m:r>
                                <a:rPr lang="en-US" altLang="zh-CN" i="1">
                                  <a:latin typeface="Cambria Math" panose="02040503050406030204" pitchFamily="18" charset="0"/>
                                </a:rPr>
                                <m:t>𝑘</m:t>
                              </m:r>
                            </m:sub>
                          </m:sSub>
                          <m:d>
                            <m:dPr>
                              <m:ctrlPr>
                                <a:rPr lang="en-US" altLang="zh-CN" i="1" dirty="0">
                                  <a:latin typeface="Cambria Math" panose="02040503050406030204" pitchFamily="18" charset="0"/>
                                </a:rPr>
                              </m:ctrlPr>
                            </m:dPr>
                            <m:e>
                              <m:r>
                                <a:rPr lang="en-US" altLang="zh-CN" i="1" dirty="0">
                                  <a:latin typeface="Cambria Math" panose="02040503050406030204" pitchFamily="18" charset="0"/>
                                </a:rPr>
                                <m:t>𝜆</m:t>
                              </m:r>
                            </m:e>
                          </m:d>
                          <m:d>
                            <m:dPr>
                              <m:begChr m:val="|"/>
                              <m:endChr m:val="|"/>
                              <m:ctrlPr>
                                <a:rPr lang="en-US" altLang="zh-CN" i="1">
                                  <a:latin typeface="Cambria Math" panose="02040503050406030204" pitchFamily="18" charset="0"/>
                                </a:rPr>
                              </m:ctrlPr>
                            </m:dPr>
                            <m:e>
                              <m:func>
                                <m:funcPr>
                                  <m:ctrlPr>
                                    <a:rPr lang="en-US" altLang="zh-CN">
                                      <a:latin typeface="Cambria Math" panose="02040503050406030204" pitchFamily="18" charset="0"/>
                                    </a:rPr>
                                  </m:ctrlPr>
                                </m:funcPr>
                                <m:fName>
                                  <m:r>
                                    <m:rPr>
                                      <m:sty m:val="p"/>
                                    </m:rPr>
                                    <a:rPr lang="en-US" altLang="zh-CN">
                                      <a:latin typeface="Cambria Math" panose="02040503050406030204" pitchFamily="18" charset="0"/>
                                    </a:rPr>
                                    <m:t>cos</m:t>
                                  </m:r>
                                </m:fName>
                                <m:e>
                                  <m:sSub>
                                    <m:sSubPr>
                                      <m:ctrlPr>
                                        <a:rPr lang="en-US" altLang="zh-CN" i="1">
                                          <a:latin typeface="Cambria Math" panose="02040503050406030204" pitchFamily="18" charset="0"/>
                                        </a:rPr>
                                      </m:ctrlPr>
                                    </m:sSubPr>
                                    <m:e>
                                      <m:r>
                                        <a:rPr lang="en-US" altLang="zh-CN" i="1">
                                          <a:latin typeface="Cambria Math" panose="02040503050406030204" pitchFamily="18" charset="0"/>
                                        </a:rPr>
                                        <m:t>𝜃</m:t>
                                      </m:r>
                                    </m:e>
                                    <m:sub>
                                      <m:r>
                                        <a:rPr lang="en-US" altLang="zh-CN" i="1">
                                          <a:latin typeface="Cambria Math" panose="02040503050406030204" pitchFamily="18" charset="0"/>
                                        </a:rPr>
                                        <m:t>𝑘</m:t>
                                      </m:r>
                                      <m:r>
                                        <a:rPr lang="en-US" altLang="zh-CN" i="1">
                                          <a:latin typeface="Cambria Math" panose="02040503050406030204" pitchFamily="18" charset="0"/>
                                        </a:rPr>
                                        <m:t>+1</m:t>
                                      </m:r>
                                    </m:sub>
                                  </m:sSub>
                                </m:e>
                              </m:func>
                            </m:e>
                          </m:d>
                        </m:e>
                      </m:nary>
                      <m:r>
                        <a:rPr lang="en-US" altLang="zh-CN" i="1">
                          <a:latin typeface="Cambria Math" panose="02040503050406030204" pitchFamily="18" charset="0"/>
                        </a:rPr>
                        <m:t>,</m:t>
                      </m:r>
                      <m:r>
                        <a:rPr lang="en-US" altLang="zh-CN" i="1">
                          <a:latin typeface="Cambria Math" panose="02040503050406030204" pitchFamily="18" charset="0"/>
                        </a:rPr>
                        <m:t>  </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𝜆</m:t>
                          </m:r>
                        </m:e>
                      </m:d>
                      <m:r>
                        <a:rPr lang="en-US" altLang="zh-CN" i="1" dirty="0">
                          <a:latin typeface="Cambria Math" panose="02040503050406030204" pitchFamily="18" charset="0"/>
                        </a:rPr>
                        <m:t>=</m:t>
                      </m:r>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𝑘</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r>
                            <a:rPr lang="en-US" altLang="zh-CN" i="1" dirty="0">
                              <a:latin typeface="Cambria Math" panose="02040503050406030204" pitchFamily="18" charset="0"/>
                            </a:rPr>
                            <m:t>𝑖</m:t>
                          </m:r>
                          <m:r>
                            <a:rPr lang="en-US" altLang="zh-CN" i="1" dirty="0">
                              <a:latin typeface="Cambria Math" panose="02040503050406030204" pitchFamily="18" charset="0"/>
                            </a:rPr>
                            <m:t>−2</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𝜔</m:t>
                                  </m:r>
                                </m:e>
                                <m:sub>
                                  <m:r>
                                    <a:rPr lang="en-US" altLang="zh-CN" i="1" dirty="0">
                                      <a:latin typeface="Cambria Math" panose="02040503050406030204" pitchFamily="18" charset="0"/>
                                    </a:rPr>
                                    <m:t>𝑘</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a:latin typeface="Cambria Math" panose="02040503050406030204" pitchFamily="18" charset="0"/>
                                </a:rPr>
                                <m:t>𝛌</m:t>
                              </m:r>
                            </m:e>
                          </m:d>
                        </m:e>
                      </m:nary>
                    </m:oMath>
                  </m:oMathPara>
                </a14:m>
                <a:br>
                  <a:rPr lang="en-US" altLang="zh-CN" dirty="0"/>
                </a:br>
                <a:endParaRPr lang="en-US" altLang="zh-CN" i="1" dirty="0">
                  <a:solidFill>
                    <a:schemeClr val="tx1"/>
                  </a:solidFill>
                  <a:latin typeface="Cambria Math" panose="02040503050406030204" pitchFamily="18" charset="0"/>
                </a:endParaRPr>
              </a:p>
              <a:p>
                <a:pPr/>
                <a14:m>
                  <m:oMathPara xmlns:m="http://schemas.openxmlformats.org/officeDocument/2006/math">
                    <m:oMath>
                      <m:sSub>
                        <m:sSubPr>
                          <m:ctrlPr>
                            <a:rPr lang="en-US" altLang="zh-CN">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a:solidFill>
                            <a:schemeClr val="tx1"/>
                          </a:solidFill>
                          <a:latin typeface="Cambria Math" panose="02040503050406030204" pitchFamily="18" charset="0"/>
                        </a:rPr>
                        <m:t>=</m:t>
                      </m:r>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 </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𝐹</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b="0" i="1" dirty="0" smtClean="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𝐹</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𝑓</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d>
                        <m:dPr>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𝜆</m:t>
                          </m:r>
                        </m:e>
                      </m:d>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𝑉</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 </m:t>
                      </m:r>
                      <m:d>
                        <m:dPr>
                          <m:begChr m:val="|"/>
                          <m:endChr m:val="|"/>
                          <m:ctrlPr>
                            <a:rPr lang="en-US" altLang="zh-CN" i="1" dirty="0">
                              <a:solidFill>
                                <a:schemeClr val="tx1"/>
                              </a:solidFill>
                              <a:latin typeface="Cambria Math" panose="02040503050406030204" pitchFamily="18" charset="0"/>
                            </a:rPr>
                          </m:ctrlPr>
                        </m:dPr>
                        <m:e>
                          <m:func>
                            <m:funcPr>
                              <m:ctrlPr>
                                <a:rPr lang="en-US" altLang="zh-CN" dirty="0">
                                  <a:solidFill>
                                    <a:schemeClr val="tx1"/>
                                  </a:solidFill>
                                  <a:latin typeface="Cambria Math" panose="02040503050406030204" pitchFamily="18" charset="0"/>
                                </a:rPr>
                              </m:ctrlPr>
                            </m:funcPr>
                            <m:fName>
                              <m:r>
                                <m:rPr>
                                  <m:sty m:val="p"/>
                                </m:rPr>
                                <a:rPr lang="en-US" altLang="zh-CN" dirty="0">
                                  <a:solidFill>
                                    <a:schemeClr val="tx1"/>
                                  </a:solidFill>
                                  <a:latin typeface="Cambria Math" panose="02040503050406030204" pitchFamily="18" charset="0"/>
                                </a:rPr>
                                <m:t>cos</m:t>
                              </m:r>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i="1" dirty="0">
                                      <a:solidFill>
                                        <a:schemeClr val="tx1"/>
                                      </a:solidFill>
                                      <a:latin typeface="Cambria Math" panose="02040503050406030204" pitchFamily="18" charset="0"/>
                                    </a:rPr>
                                    <m:t>𝑖</m:t>
                                  </m:r>
                                </m:sub>
                              </m:sSub>
                            </m:e>
                          </m:func>
                        </m:e>
                      </m:d>
                      <m:r>
                        <a:rPr lang="en-US" altLang="zh-CN" i="1" dirty="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𝐿</m:t>
                          </m:r>
                        </m:e>
                        <m:sub>
                          <m:r>
                            <a:rPr lang="en-US" altLang="zh-CN" i="1" dirty="0">
                              <a:solidFill>
                                <a:schemeClr val="tx1"/>
                              </a:solidFill>
                              <a:latin typeface="Cambria Math" panose="02040503050406030204" pitchFamily="18" charset="0"/>
                            </a:rPr>
                            <m:t>𝑒</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oMath>
                  </m:oMathPara>
                </a14:m>
                <a:endParaRPr lang="en-US" altLang="zh-CN" i="1" dirty="0">
                  <a:solidFill>
                    <a:srgbClr val="FF0000"/>
                  </a:solidFill>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latin typeface="Cambria Math" panose="02040503050406030204" pitchFamily="18" charset="0"/>
                            </a:rPr>
                            <m:t>|</m:t>
                          </m:r>
                          <m:r>
                            <a:rPr lang="en-US" altLang="zh-CN" b="1">
                              <a:latin typeface="Cambria Math" panose="02040503050406030204" pitchFamily="18" charset="0"/>
                            </a:rPr>
                            <m:t>𝛌</m:t>
                          </m:r>
                        </m:e>
                      </m:d>
                      <m:r>
                        <a:rPr lang="en-US" altLang="zh-CN" b="1" i="1">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latin typeface="Cambria Math" panose="02040503050406030204" pitchFamily="18" charset="0"/>
                            </a:rPr>
                            <m:t>|</m:t>
                          </m:r>
                          <m:r>
                            <a:rPr lang="en-US" altLang="zh-CN" b="1">
                              <a:latin typeface="Cambria Math" panose="02040503050406030204" pitchFamily="18" charset="0"/>
                            </a:rPr>
                            <m:t>𝛌</m:t>
                          </m:r>
                        </m:e>
                      </m:d>
                    </m:oMath>
                  </m:oMathPara>
                </a14:m>
                <a:endParaRPr lang="en-US" altLang="zh-CN" i="1" dirty="0">
                  <a:latin typeface="Cambria Math" panose="02040503050406030204" pitchFamily="18" charset="0"/>
                </a:endParaRPr>
              </a:p>
              <a:p>
                <a:pPr>
                  <a:spcBef>
                    <a:spcPts val="400"/>
                  </a:spcBef>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d>
                            <m:dPr>
                              <m:begChr m:val="["/>
                              <m:endChr m:val="]"/>
                              <m:ctrlPr>
                                <a:rPr lang="en-US" altLang="zh-CN" i="1" dirty="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 </m:t>
                                  </m:r>
                                  <m:acc>
                                    <m:accPr>
                                      <m:chr m:val="̅"/>
                                      <m:ctrlPr>
                                        <a:rPr lang="en-US" altLang="zh-CN" b="1"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𝒄</m:t>
                                      </m:r>
                                    </m:e>
                                  </m:acc>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𝜆</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den>
                              </m:f>
                              <m:f>
                                <m:fPr>
                                  <m:ctrlPr>
                                    <a:rPr lang="en-US" altLang="zh-CN" b="0" i="1" dirty="0" smtClean="0">
                                      <a:solidFill>
                                        <a:schemeClr val="accent6">
                                          <a:lumMod val="50000"/>
                                        </a:schemeClr>
                                      </a:solidFill>
                                      <a:latin typeface="Cambria Math" panose="02040503050406030204" pitchFamily="18" charset="0"/>
                                    </a:rPr>
                                  </m:ctrlPr>
                                </m:fPr>
                                <m:num>
                                  <m:sSubSup>
                                    <m:sSubSupPr>
                                      <m:ctrlPr>
                                        <a:rPr lang="en-US" altLang="zh-CN" b="0" i="0" dirty="0" smtClean="0">
                                          <a:solidFill>
                                            <a:schemeClr val="accent6">
                                              <a:lumMod val="50000"/>
                                            </a:schemeClr>
                                          </a:solidFill>
                                          <a:latin typeface="Cambria Math" panose="02040503050406030204" pitchFamily="18" charset="0"/>
                                        </a:rPr>
                                      </m:ctrlPr>
                                    </m:sSubSupPr>
                                    <m:e>
                                      <m:r>
                                        <m:rPr>
                                          <m:sty m:val="p"/>
                                        </m:rPr>
                                        <a:rPr lang="en-US" altLang="zh-CN" b="0" i="0" dirty="0" smtClean="0">
                                          <a:solidFill>
                                            <a:schemeClr val="accent6">
                                              <a:lumMod val="50000"/>
                                            </a:schemeClr>
                                          </a:solidFill>
                                          <a:latin typeface="Cambria Math" panose="02040503050406030204" pitchFamily="18" charset="0"/>
                                        </a:rPr>
                                        <m:t>Φ</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b="0" i="1" dirty="0" smtClean="0">
                                          <a:solidFill>
                                            <a:schemeClr val="accent6">
                                              <a:lumMod val="50000"/>
                                            </a:schemeClr>
                                          </a:solidFill>
                                          <a:latin typeface="Cambria Math" panose="02040503050406030204" pitchFamily="18" charset="0"/>
                                        </a:rPr>
                                      </m:ctrlPr>
                                    </m:dPr>
                                    <m:e>
                                      <m:sSub>
                                        <m:sSubPr>
                                          <m:ctrlPr>
                                            <a:rPr lang="en-US" altLang="zh-CN" b="0" i="1" dirty="0" smtClean="0">
                                              <a:solidFill>
                                                <a:schemeClr val="accent6">
                                                  <a:lumMod val="50000"/>
                                                </a:schemeClr>
                                              </a:solidFill>
                                              <a:latin typeface="Cambria Math" panose="02040503050406030204" pitchFamily="18" charset="0"/>
                                            </a:rPr>
                                          </m:ctrlPr>
                                        </m:sSubPr>
                                        <m:e>
                                          <m:acc>
                                            <m:accPr>
                                              <m:chr m:val="̅"/>
                                              <m:ctrlPr>
                                                <a:rPr lang="en-US" altLang="zh-CN" b="0" i="1" dirty="0" smtClean="0">
                                                  <a:solidFill>
                                                    <a:schemeClr val="accent6">
                                                      <a:lumMod val="50000"/>
                                                    </a:schemeClr>
                                                  </a:solidFill>
                                                  <a:latin typeface="Cambria Math" panose="02040503050406030204" pitchFamily="18" charset="0"/>
                                                </a:rPr>
                                              </m:ctrlPr>
                                            </m:accPr>
                                            <m:e>
                                              <m:r>
                                                <a:rPr lang="en-US" altLang="zh-CN" b="0" i="1" dirty="0" smtClean="0">
                                                  <a:solidFill>
                                                    <a:schemeClr val="accent6">
                                                      <a:lumMod val="50000"/>
                                                    </a:schemeClr>
                                                  </a:solidFill>
                                                  <a:latin typeface="Cambria Math" panose="02040503050406030204" pitchFamily="18" charset="0"/>
                                                </a:rPr>
                                                <m:t>𝑝</m:t>
                                              </m:r>
                                            </m:e>
                                          </m:acc>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sSub>
                                        <m:sSubPr>
                                          <m:ctrlPr>
                                            <a:rPr lang="en-US" altLang="zh-CN" b="0" i="1" dirty="0" smtClean="0">
                                              <a:solidFill>
                                                <a:schemeClr val="accent6">
                                                  <a:lumMod val="50000"/>
                                                </a:schemeClr>
                                              </a:solidFill>
                                              <a:latin typeface="Cambria Math" panose="02040503050406030204" pitchFamily="18" charset="0"/>
                                            </a:rPr>
                                          </m:ctrlPr>
                                        </m:sSubPr>
                                        <m:e>
                                          <m:r>
                                            <a:rPr lang="en-US" altLang="zh-CN" b="0" i="1" dirty="0" smtClean="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𝑐</m:t>
                                      </m:r>
                                    </m:e>
                                    <m:sub>
                                      <m:r>
                                        <a:rPr lang="en-US" altLang="zh-CN" i="1" dirty="0">
                                          <a:solidFill>
                                            <a:schemeClr val="accent6">
                                              <a:lumMod val="50000"/>
                                            </a:schemeClr>
                                          </a:solidFill>
                                          <a:latin typeface="Cambria Math" panose="02040503050406030204" pitchFamily="18" charset="0"/>
                                        </a:rPr>
                                        <m:t>𝐻</m:t>
                                      </m:r>
                                    </m:sub>
                                  </m:sSub>
                                  <m:sSubSup>
                                    <m:sSubSupPr>
                                      <m:ctrlPr>
                                        <a:rPr lang="en-US" altLang="zh-CN" b="0" i="1" dirty="0" smtClean="0">
                                          <a:solidFill>
                                            <a:schemeClr val="accent6">
                                              <a:lumMod val="50000"/>
                                            </a:schemeClr>
                                          </a:solidFill>
                                          <a:latin typeface="Cambria Math" panose="02040503050406030204" pitchFamily="18" charset="0"/>
                                        </a:rPr>
                                      </m:ctrlPr>
                                    </m:sSubSupPr>
                                    <m:e>
                                      <m:r>
                                        <a:rPr lang="en-US" altLang="zh-CN" b="0" i="1" dirty="0" smtClean="0">
                                          <a:solidFill>
                                            <a:schemeClr val="accent6">
                                              <a:lumMod val="50000"/>
                                            </a:schemeClr>
                                          </a:solidFill>
                                          <a:latin typeface="Cambria Math" panose="02040503050406030204" pitchFamily="18" charset="0"/>
                                        </a:rPr>
                                        <m:t>𝑞</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r>
                                        <a:rPr lang="en-US" altLang="zh-CN" b="0" i="1" dirty="0" smtClean="0">
                                          <a:solidFill>
                                            <a:schemeClr val="accent6">
                                              <a:lumMod val="50000"/>
                                            </a:schemeClr>
                                          </a:solidFill>
                                          <a:latin typeface="Cambria Math" panose="02040503050406030204" pitchFamily="18" charset="0"/>
                                        </a:rPr>
                                        <m:t>𝐻</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r>
                                            <a:rPr lang="en-US" altLang="zh-CN" i="1" dirty="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r>
                                        <a:rPr lang="en-US" altLang="zh-CN" b="1" i="0" dirty="0" smtClean="0">
                                          <a:solidFill>
                                            <a:schemeClr val="accent6">
                                              <a:lumMod val="50000"/>
                                            </a:schemeClr>
                                          </a:solidFill>
                                          <a:latin typeface="Cambria Math" panose="02040503050406030204" pitchFamily="18" charset="0"/>
                                        </a:rPr>
                                        <m:t>𝛌</m:t>
                                      </m:r>
                                    </m:e>
                                  </m:d>
                                </m:den>
                              </m:f>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rgbClr val="F76409"/>
                                          </a:solidFill>
                                          <a:latin typeface="Cambria Math" panose="02040503050406030204" pitchFamily="18" charset="0"/>
                                        </a:rPr>
                                        <m:t>𝐿</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r>
                                    <a:rPr lang="en-US" altLang="zh-CN" b="1" i="1" dirty="0">
                                      <a:solidFill>
                                        <a:schemeClr val="accent6">
                                          <a:lumMod val="50000"/>
                                        </a:schemeClr>
                                      </a:solidFill>
                                      <a:latin typeface="Cambria Math" panose="02040503050406030204" pitchFamily="18" charset="0"/>
                                    </a:rPr>
                                    <m:t>+ </m:t>
                                  </m:r>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i="1" dirty="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e>
                              </m:d>
                            </m:e>
                          </m:d>
                        </m:e>
                      </m:nary>
                    </m:oMath>
                  </m:oMathPara>
                </a14:m>
                <a:endParaRPr lang="en-US" altLang="zh-CN" dirty="0"/>
              </a:p>
              <a:p>
                <a:pPr>
                  <a:spcBef>
                    <a:spcPts val="400"/>
                  </a:spcBef>
                </a:pPr>
                <a14:m>
                  <m:oMathPara xmlns:m="http://schemas.openxmlformats.org/officeDocument/2006/math">
                    <m:o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b="0" i="1" dirty="0" smtClean="0">
                              <a:latin typeface="Cambria Math" panose="02040503050406030204" pitchFamily="18" charset="0"/>
                            </a:rPr>
                            <m:t>𝑇</m:t>
                          </m:r>
                        </m:sub>
                        <m:sup>
                          <m:r>
                            <a:rPr lang="en-US" altLang="zh-CN" i="1" dirty="0">
                              <a:latin typeface="Cambria Math" panose="02040503050406030204" pitchFamily="18" charset="0"/>
                            </a:rPr>
                            <m:t>𝑗𝑜𝑖𝑛𝑡</m:t>
                          </m:r>
                        </m:sup>
                      </m:sSubSup>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𝑗𝑜𝑖𝑛𝑡</m:t>
                          </m:r>
                        </m:sub>
                      </m:sSub>
                      <m:d>
                        <m:dPr>
                          <m:ctrlPr>
                            <a:rPr lang="en-US" altLang="zh-CN" i="1" dirty="0">
                              <a:latin typeface="Cambria Math" panose="02040503050406030204" pitchFamily="18" charset="0"/>
                              <a:ea typeface="Cambria Math" panose="02040503050406030204" pitchFamily="18" charset="0"/>
                            </a:rPr>
                          </m:ctrlPr>
                        </m:dPr>
                        <m:e>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𝐻</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𝑇</m:t>
                              </m:r>
                            </m:e>
                          </m:d>
                          <m:r>
                            <a:rPr lang="en-US" altLang="zh-CN" i="1" dirty="0">
                              <a:latin typeface="Cambria Math" panose="02040503050406030204" pitchFamily="18" charset="0"/>
                              <a:ea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1" i="1" dirty="0" smtClean="0">
                              <a:latin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dirty="0"/>
              </a:p>
              <a:p>
                <a:pPr algn="ctr">
                  <a:spcBef>
                    <a:spcPts val="400"/>
                  </a:spcBef>
                </a:pPr>
                <a14:m>
                  <m:oMath xmlns:m="http://schemas.openxmlformats.org/officeDocument/2006/math">
                    <m:sSubSup>
                      <m:sSubSupPr>
                        <m:ctrlPr>
                          <a:rPr lang="zh-CN" altLang="en-US" sz="1600" b="1" i="1" dirty="0">
                            <a:latin typeface="Cambria Math" panose="02040503050406030204" pitchFamily="18" charset="0"/>
                          </a:rPr>
                        </m:ctrlPr>
                      </m:sSubSupPr>
                      <m:e>
                        <m:acc>
                          <m:accPr>
                            <m:chr m:val="̂"/>
                            <m:ctrlPr>
                              <a:rPr lang="zh-CN" altLang="en-US" sz="1600" b="1" i="1" dirty="0">
                                <a:latin typeface="Cambria Math" panose="02040503050406030204" pitchFamily="18" charset="0"/>
                              </a:rPr>
                            </m:ctrlPr>
                          </m:accPr>
                          <m:e>
                            <m:r>
                              <a:rPr lang="zh-CN" altLang="en-US" sz="1600" b="1" i="1" dirty="0">
                                <a:latin typeface="Cambria Math" panose="02040503050406030204" pitchFamily="18" charset="0"/>
                              </a:rPr>
                              <m:t>𝓙</m:t>
                            </m:r>
                          </m:e>
                        </m:acc>
                      </m:e>
                      <m:sub>
                        <m:r>
                          <a:rPr lang="en-US" altLang="zh-CN" sz="1600" i="1" dirty="0">
                            <a:latin typeface="Cambria Math" panose="02040503050406030204" pitchFamily="18" charset="0"/>
                          </a:rPr>
                          <m:t>𝑖</m:t>
                        </m:r>
                      </m:sub>
                      <m:sup>
                        <m:r>
                          <a:rPr lang="en-US" altLang="zh-CN" sz="1600" i="1" dirty="0">
                            <a:latin typeface="Cambria Math" panose="02040503050406030204" pitchFamily="18" charset="0"/>
                          </a:rPr>
                          <m:t>𝑗𝑜𝑖𝑛𝑡</m:t>
                        </m:r>
                      </m:sup>
                    </m:sSubSup>
                    <m:d>
                      <m:dPr>
                        <m:ctrlPr>
                          <a:rPr lang="en-US" altLang="zh-CN" sz="1600" b="1" dirty="0">
                            <a:latin typeface="Cambria Math" panose="02040503050406030204" pitchFamily="18" charset="0"/>
                          </a:rPr>
                        </m:ctrlPr>
                      </m:dPr>
                      <m:e>
                        <m:r>
                          <a:rPr lang="en-US" altLang="zh-CN" sz="1600" b="1" dirty="0">
                            <a:latin typeface="Cambria Math" panose="02040503050406030204" pitchFamily="18" charset="0"/>
                          </a:rPr>
                          <m:t>𝛌</m:t>
                        </m:r>
                      </m:e>
                    </m:d>
                  </m:oMath>
                </a14:m>
                <a:r>
                  <a:rPr lang="zh-CN" altLang="en-US" sz="1600" dirty="0"/>
                  <a:t>中的分母是采样路径的实际概率密度，而计算权重则需要路径样本对于其他分布的反事实概率密度。</a:t>
                </a:r>
                <a:endParaRPr lang="en-US" altLang="zh-CN" sz="1600" dirty="0"/>
              </a:p>
            </p:txBody>
          </p:sp>
        </mc:Choice>
        <mc:Fallback>
          <p:sp>
            <p:nvSpPr>
              <p:cNvPr id="13" name="文本框 12">
                <a:extLst>
                  <a:ext uri="{FF2B5EF4-FFF2-40B4-BE49-F238E27FC236}">
                    <a16:creationId xmlns:a16="http://schemas.microsoft.com/office/drawing/2014/main" id="{DC1A8149-5650-F1E7-E3FF-EC165103CB07}"/>
                  </a:ext>
                </a:extLst>
              </p:cNvPr>
              <p:cNvSpPr txBox="1">
                <a:spLocks noRot="1" noChangeAspect="1" noMove="1" noResize="1" noEditPoints="1" noAdjustHandles="1" noChangeArrowheads="1" noChangeShapeType="1" noTextEdit="1"/>
              </p:cNvSpPr>
              <p:nvPr/>
            </p:nvSpPr>
            <p:spPr>
              <a:xfrm>
                <a:off x="541163" y="1169310"/>
                <a:ext cx="11109674" cy="5003549"/>
              </a:xfrm>
              <a:prstGeom prst="rect">
                <a:avLst/>
              </a:prstGeom>
              <a:blipFill>
                <a:blip r:embed="rId2"/>
                <a:stretch>
                  <a:fillRect l="-494" b="-2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183895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A098C-C07D-2AA9-0EF3-7D752ED70DA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标题 4">
                <a:extLst>
                  <a:ext uri="{FF2B5EF4-FFF2-40B4-BE49-F238E27FC236}">
                    <a16:creationId xmlns:a16="http://schemas.microsoft.com/office/drawing/2014/main" id="{3CE74605-B40C-B2D0-1F39-34B002287D70}"/>
                  </a:ext>
                </a:extLst>
              </p:cNvPr>
              <p:cNvSpPr>
                <a:spLocks noGrp="1"/>
              </p:cNvSpPr>
              <p:nvPr>
                <p:ph type="title" idx="1"/>
              </p:nvPr>
            </p:nvSpPr>
            <p:spPr/>
            <p:txBody>
              <a:bodyPr/>
              <a:lstStyle/>
              <a:p>
                <a:r>
                  <a:rPr lang="zh-CN" altLang="en-US" dirty="0"/>
                  <a:t>光谱路径追踪  </a:t>
                </a:r>
                <a:r>
                  <a:rPr lang="en-US" altLang="zh-CN" dirty="0"/>
                  <a:t>——  </a:t>
                </a:r>
                <a:r>
                  <a:rPr lang="zh-CN" altLang="en-US" dirty="0"/>
                  <a:t>应对</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𝑰</m:t>
                        </m:r>
                      </m:e>
                      <m:sub>
                        <m:r>
                          <a:rPr lang="en-US" altLang="zh-CN" b="1" i="0" dirty="0" smtClean="0">
                            <a:latin typeface="Cambria Math" panose="02040503050406030204" pitchFamily="18" charset="0"/>
                          </a:rPr>
                          <m:t>𝟏</m:t>
                        </m:r>
                      </m:sub>
                    </m:sSub>
                  </m:oMath>
                </a14:m>
                <a:endParaRPr lang="zh-CN" altLang="en-US" dirty="0"/>
              </a:p>
            </p:txBody>
          </p:sp>
        </mc:Choice>
        <mc:Fallback xmlns="">
          <p:sp>
            <p:nvSpPr>
              <p:cNvPr id="5" name="标题 4">
                <a:extLst>
                  <a:ext uri="{FF2B5EF4-FFF2-40B4-BE49-F238E27FC236}">
                    <a16:creationId xmlns:a16="http://schemas.microsoft.com/office/drawing/2014/main" id="{3CE74605-B40C-B2D0-1F39-34B002287D70}"/>
                  </a:ext>
                </a:extLst>
              </p:cNvPr>
              <p:cNvSpPr>
                <a:spLocks noGrp="1" noRot="1" noChangeAspect="1" noMove="1" noResize="1" noEditPoints="1" noAdjustHandles="1" noChangeArrowheads="1" noChangeShapeType="1" noTextEdit="1"/>
              </p:cNvSpPr>
              <p:nvPr>
                <p:ph type="title" idx="1"/>
              </p:nvPr>
            </p:nvSpPr>
            <p:spPr>
              <a:blipFill>
                <a:blip r:embed="rId2"/>
                <a:stretch>
                  <a:fillRect l="-2540" b="-381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C83CCDE-0456-6DD0-D368-A3A8DE793D74}"/>
                  </a:ext>
                </a:extLst>
              </p:cNvPr>
              <p:cNvSpPr txBox="1"/>
              <p:nvPr/>
            </p:nvSpPr>
            <p:spPr>
              <a:xfrm>
                <a:off x="541163" y="1398087"/>
                <a:ext cx="11109674" cy="902555"/>
              </a:xfrm>
              <a:prstGeom prst="rect">
                <a:avLst/>
              </a:prstGeom>
              <a:noFill/>
            </p:spPr>
            <p:txBody>
              <a:bodyPr wrap="square">
                <a:spAutoFit/>
              </a:bodyPr>
              <a:lstStyle/>
              <a:p>
                <a:pPr>
                  <a:spcBef>
                    <a:spcPts val="400"/>
                  </a:spcBef>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d>
                            <m:dPr>
                              <m:begChr m:val="["/>
                              <m:endChr m:val="]"/>
                              <m:ctrlPr>
                                <a:rPr lang="en-US" altLang="zh-CN" i="1" dirty="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 </m:t>
                                  </m:r>
                                  <m:acc>
                                    <m:accPr>
                                      <m:chr m:val="̅"/>
                                      <m:ctrlPr>
                                        <a:rPr lang="en-US" altLang="zh-CN" b="1"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𝒄</m:t>
                                      </m:r>
                                    </m:e>
                                  </m:acc>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𝜆</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den>
                              </m:f>
                              <m:f>
                                <m:fPr>
                                  <m:ctrlPr>
                                    <a:rPr lang="en-US" altLang="zh-CN" b="0" i="1" dirty="0" smtClean="0">
                                      <a:solidFill>
                                        <a:schemeClr val="accent6">
                                          <a:lumMod val="50000"/>
                                        </a:schemeClr>
                                      </a:solidFill>
                                      <a:latin typeface="Cambria Math" panose="02040503050406030204" pitchFamily="18" charset="0"/>
                                    </a:rPr>
                                  </m:ctrlPr>
                                </m:fPr>
                                <m:num>
                                  <m:sSubSup>
                                    <m:sSubSupPr>
                                      <m:ctrlPr>
                                        <a:rPr lang="en-US" altLang="zh-CN" b="0" i="0" dirty="0" smtClean="0">
                                          <a:solidFill>
                                            <a:schemeClr val="accent6">
                                              <a:lumMod val="50000"/>
                                            </a:schemeClr>
                                          </a:solidFill>
                                          <a:latin typeface="Cambria Math" panose="02040503050406030204" pitchFamily="18" charset="0"/>
                                        </a:rPr>
                                      </m:ctrlPr>
                                    </m:sSubSupPr>
                                    <m:e>
                                      <m:r>
                                        <m:rPr>
                                          <m:sty m:val="p"/>
                                        </m:rPr>
                                        <a:rPr lang="en-US" altLang="zh-CN" b="0" i="0" dirty="0" smtClean="0">
                                          <a:solidFill>
                                            <a:schemeClr val="accent6">
                                              <a:lumMod val="50000"/>
                                            </a:schemeClr>
                                          </a:solidFill>
                                          <a:latin typeface="Cambria Math" panose="02040503050406030204" pitchFamily="18" charset="0"/>
                                        </a:rPr>
                                        <m:t>Φ</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b="0" i="1" dirty="0" smtClean="0">
                                          <a:solidFill>
                                            <a:schemeClr val="accent6">
                                              <a:lumMod val="50000"/>
                                            </a:schemeClr>
                                          </a:solidFill>
                                          <a:latin typeface="Cambria Math" panose="02040503050406030204" pitchFamily="18" charset="0"/>
                                        </a:rPr>
                                      </m:ctrlPr>
                                    </m:dPr>
                                    <m:e>
                                      <m:sSub>
                                        <m:sSubPr>
                                          <m:ctrlPr>
                                            <a:rPr lang="en-US" altLang="zh-CN" b="0" i="1" dirty="0" smtClean="0">
                                              <a:solidFill>
                                                <a:schemeClr val="accent6">
                                                  <a:lumMod val="50000"/>
                                                </a:schemeClr>
                                              </a:solidFill>
                                              <a:latin typeface="Cambria Math" panose="02040503050406030204" pitchFamily="18" charset="0"/>
                                            </a:rPr>
                                          </m:ctrlPr>
                                        </m:sSubPr>
                                        <m:e>
                                          <m:acc>
                                            <m:accPr>
                                              <m:chr m:val="̅"/>
                                              <m:ctrlPr>
                                                <a:rPr lang="en-US" altLang="zh-CN" b="0" i="1" dirty="0" smtClean="0">
                                                  <a:solidFill>
                                                    <a:schemeClr val="accent6">
                                                      <a:lumMod val="50000"/>
                                                    </a:schemeClr>
                                                  </a:solidFill>
                                                  <a:latin typeface="Cambria Math" panose="02040503050406030204" pitchFamily="18" charset="0"/>
                                                </a:rPr>
                                              </m:ctrlPr>
                                            </m:accPr>
                                            <m:e>
                                              <m:r>
                                                <a:rPr lang="en-US" altLang="zh-CN" b="0" i="1" dirty="0" smtClean="0">
                                                  <a:solidFill>
                                                    <a:schemeClr val="accent6">
                                                      <a:lumMod val="50000"/>
                                                    </a:schemeClr>
                                                  </a:solidFill>
                                                  <a:latin typeface="Cambria Math" panose="02040503050406030204" pitchFamily="18" charset="0"/>
                                                </a:rPr>
                                                <m:t>𝑝</m:t>
                                              </m:r>
                                            </m:e>
                                          </m:acc>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sSub>
                                        <m:sSubPr>
                                          <m:ctrlPr>
                                            <a:rPr lang="en-US" altLang="zh-CN" b="0" i="1" dirty="0" smtClean="0">
                                              <a:solidFill>
                                                <a:schemeClr val="accent6">
                                                  <a:lumMod val="50000"/>
                                                </a:schemeClr>
                                              </a:solidFill>
                                              <a:latin typeface="Cambria Math" panose="02040503050406030204" pitchFamily="18" charset="0"/>
                                            </a:rPr>
                                          </m:ctrlPr>
                                        </m:sSubPr>
                                        <m:e>
                                          <m:r>
                                            <a:rPr lang="en-US" altLang="zh-CN" b="0" i="1" dirty="0" smtClean="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𝑐</m:t>
                                      </m:r>
                                    </m:e>
                                    <m:sub>
                                      <m:r>
                                        <a:rPr lang="en-US" altLang="zh-CN" i="1" dirty="0">
                                          <a:solidFill>
                                            <a:schemeClr val="accent6">
                                              <a:lumMod val="50000"/>
                                            </a:schemeClr>
                                          </a:solidFill>
                                          <a:latin typeface="Cambria Math" panose="02040503050406030204" pitchFamily="18" charset="0"/>
                                        </a:rPr>
                                        <m:t>𝐻</m:t>
                                      </m:r>
                                    </m:sub>
                                  </m:sSub>
                                  <m:sSubSup>
                                    <m:sSubSupPr>
                                      <m:ctrlPr>
                                        <a:rPr lang="en-US" altLang="zh-CN" b="0" i="1" dirty="0" smtClean="0">
                                          <a:solidFill>
                                            <a:schemeClr val="accent6">
                                              <a:lumMod val="50000"/>
                                            </a:schemeClr>
                                          </a:solidFill>
                                          <a:latin typeface="Cambria Math" panose="02040503050406030204" pitchFamily="18" charset="0"/>
                                        </a:rPr>
                                      </m:ctrlPr>
                                    </m:sSubSupPr>
                                    <m:e>
                                      <m:r>
                                        <a:rPr lang="en-US" altLang="zh-CN" b="0" i="1" dirty="0" smtClean="0">
                                          <a:solidFill>
                                            <a:schemeClr val="accent6">
                                              <a:lumMod val="50000"/>
                                            </a:schemeClr>
                                          </a:solidFill>
                                          <a:latin typeface="Cambria Math" panose="02040503050406030204" pitchFamily="18" charset="0"/>
                                        </a:rPr>
                                        <m:t>𝑞</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r>
                                        <a:rPr lang="en-US" altLang="zh-CN" b="0" i="1" dirty="0" smtClean="0">
                                          <a:solidFill>
                                            <a:schemeClr val="accent6">
                                              <a:lumMod val="50000"/>
                                            </a:schemeClr>
                                          </a:solidFill>
                                          <a:latin typeface="Cambria Math" panose="02040503050406030204" pitchFamily="18" charset="0"/>
                                        </a:rPr>
                                        <m:t>𝐻</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r>
                                            <a:rPr lang="en-US" altLang="zh-CN" i="1" dirty="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r>
                                        <a:rPr lang="en-US" altLang="zh-CN" b="1" i="0" dirty="0" smtClean="0">
                                          <a:solidFill>
                                            <a:schemeClr val="accent6">
                                              <a:lumMod val="50000"/>
                                            </a:schemeClr>
                                          </a:solidFill>
                                          <a:latin typeface="Cambria Math" panose="02040503050406030204" pitchFamily="18" charset="0"/>
                                        </a:rPr>
                                        <m:t>𝛌</m:t>
                                      </m:r>
                                    </m:e>
                                  </m:d>
                                </m:den>
                              </m:f>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rgbClr val="F76409"/>
                                          </a:solidFill>
                                          <a:latin typeface="Cambria Math" panose="02040503050406030204" pitchFamily="18" charset="0"/>
                                        </a:rPr>
                                        <m:t>𝐿</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r>
                                    <a:rPr lang="en-US" altLang="zh-CN" b="1" i="1" dirty="0">
                                      <a:solidFill>
                                        <a:schemeClr val="accent6">
                                          <a:lumMod val="50000"/>
                                        </a:schemeClr>
                                      </a:solidFill>
                                      <a:latin typeface="Cambria Math" panose="02040503050406030204" pitchFamily="18" charset="0"/>
                                    </a:rPr>
                                    <m:t>+ </m:t>
                                  </m:r>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i="1" dirty="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e>
                              </m:d>
                            </m:e>
                          </m:d>
                        </m:e>
                      </m:nary>
                    </m:oMath>
                  </m:oMathPara>
                </a14:m>
                <a:endParaRPr lang="en-US" altLang="zh-CN" dirty="0"/>
              </a:p>
            </p:txBody>
          </p:sp>
        </mc:Choice>
        <mc:Fallback xmlns="">
          <p:sp>
            <p:nvSpPr>
              <p:cNvPr id="13" name="文本框 12">
                <a:extLst>
                  <a:ext uri="{FF2B5EF4-FFF2-40B4-BE49-F238E27FC236}">
                    <a16:creationId xmlns:a16="http://schemas.microsoft.com/office/drawing/2014/main" id="{6C83CCDE-0456-6DD0-D368-A3A8DE793D74}"/>
                  </a:ext>
                </a:extLst>
              </p:cNvPr>
              <p:cNvSpPr txBox="1">
                <a:spLocks noRot="1" noChangeAspect="1" noMove="1" noResize="1" noEditPoints="1" noAdjustHandles="1" noChangeArrowheads="1" noChangeShapeType="1" noTextEdit="1"/>
              </p:cNvSpPr>
              <p:nvPr/>
            </p:nvSpPr>
            <p:spPr>
              <a:xfrm>
                <a:off x="541163" y="1398087"/>
                <a:ext cx="11109674" cy="902555"/>
              </a:xfrm>
              <a:prstGeom prst="rect">
                <a:avLst/>
              </a:prstGeom>
              <a:blipFill>
                <a:blip r:embed="rId3"/>
                <a:stretch>
                  <a:fillRect/>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4AB5A80B-B7C1-937D-AB3E-3B3661AF2633}"/>
              </a:ext>
            </a:extLst>
          </p:cNvPr>
          <p:cNvPicPr>
            <a:picLocks noChangeAspect="1"/>
          </p:cNvPicPr>
          <p:nvPr/>
        </p:nvPicPr>
        <p:blipFill>
          <a:blip r:embed="rId4"/>
          <a:stretch>
            <a:fillRect/>
          </a:stretch>
        </p:blipFill>
        <p:spPr>
          <a:xfrm>
            <a:off x="6443165" y="2674472"/>
            <a:ext cx="5146689" cy="20224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1E046B2-787C-7D87-7AEE-495FEF538889}"/>
                  </a:ext>
                </a:extLst>
              </p:cNvPr>
              <p:cNvSpPr txBox="1"/>
              <p:nvPr/>
            </p:nvSpPr>
            <p:spPr>
              <a:xfrm>
                <a:off x="602146" y="2618729"/>
                <a:ext cx="5478350" cy="2133918"/>
              </a:xfrm>
              <a:prstGeom prst="rect">
                <a:avLst/>
              </a:prstGeom>
              <a:noFill/>
            </p:spPr>
            <p:txBody>
              <a:bodyPr wrap="square">
                <a:spAutoFit/>
              </a:bodyPr>
              <a:lstStyle/>
              <a:p>
                <a:pPr>
                  <a:spcBef>
                    <a:spcPts val="800"/>
                  </a:spcBef>
                </a:pPr>
                <a:r>
                  <a:rPr lang="en-US" altLang="zh-CN" sz="1800" dirty="0"/>
                  <a:t>         </a:t>
                </a:r>
                <a:r>
                  <a:rPr lang="zh-CN" altLang="en-US" sz="1800" dirty="0"/>
                  <a:t>由于我们目前得到的估计器是估计</a:t>
                </a:r>
                <a14:m>
                  <m:oMath xmlns:m="http://schemas.openxmlformats.org/officeDocument/2006/math">
                    <m:r>
                      <a:rPr lang="en-US" altLang="zh-CN" sz="1800" i="1" dirty="0">
                        <a:latin typeface="Cambria Math" panose="02040503050406030204" pitchFamily="18" charset="0"/>
                      </a:rPr>
                      <m:t>𝑖</m:t>
                    </m:r>
                    <m:r>
                      <a:rPr lang="en-US" altLang="zh-CN" sz="1800" b="0" i="1" dirty="0" smtClean="0">
                        <a:latin typeface="Cambria Math" panose="02040503050406030204" pitchFamily="18" charset="0"/>
                      </a:rPr>
                      <m:t>≥2</m:t>
                    </m:r>
                  </m:oMath>
                </a14:m>
                <a:r>
                  <a:rPr lang="zh-CN" altLang="en-US" sz="1800" dirty="0"/>
                  <a:t>时的</a:t>
                </a:r>
                <a14:m>
                  <m:oMath xmlns:m="http://schemas.openxmlformats.org/officeDocument/2006/math">
                    <m:sSub>
                      <m:sSubPr>
                        <m:ctrlPr>
                          <a:rPr lang="en-US" altLang="zh-CN" sz="1800" b="1" i="1" dirty="0" smtClean="0">
                            <a:latin typeface="Cambria Math" panose="02040503050406030204" pitchFamily="18" charset="0"/>
                          </a:rPr>
                        </m:ctrlPr>
                      </m:sSubPr>
                      <m:e>
                        <m:r>
                          <a:rPr lang="en-US" altLang="zh-CN" sz="1800" b="1" i="1" dirty="0" smtClean="0">
                            <a:latin typeface="Cambria Math" panose="02040503050406030204" pitchFamily="18" charset="0"/>
                          </a:rPr>
                          <m:t>𝑪</m:t>
                        </m:r>
                      </m:e>
                      <m:sub>
                        <m:r>
                          <a:rPr lang="en-US" altLang="zh-CN" sz="1800" b="1" i="1" dirty="0" smtClean="0">
                            <a:latin typeface="Cambria Math" panose="02040503050406030204" pitchFamily="18" charset="0"/>
                          </a:rPr>
                          <m:t>𝒊</m:t>
                        </m:r>
                      </m:sub>
                    </m:sSub>
                  </m:oMath>
                </a14:m>
                <a:r>
                  <a:rPr lang="zh-CN" altLang="en-US" sz="1800" dirty="0"/>
                  <a:t>，而</a:t>
                </a:r>
                <a14:m>
                  <m:oMath xmlns:m="http://schemas.openxmlformats.org/officeDocument/2006/math">
                    <m:r>
                      <a:rPr lang="en-US" altLang="zh-CN" sz="1800" i="1" dirty="0">
                        <a:latin typeface="Cambria Math" panose="02040503050406030204" pitchFamily="18" charset="0"/>
                      </a:rPr>
                      <m:t>𝑖</m:t>
                    </m:r>
                    <m:r>
                      <a:rPr lang="en-US" altLang="zh-CN" sz="1800" b="0" i="1" dirty="0" smtClean="0">
                        <a:latin typeface="Cambria Math" panose="02040503050406030204" pitchFamily="18" charset="0"/>
                      </a:rPr>
                      <m:t>=1</m:t>
                    </m:r>
                  </m:oMath>
                </a14:m>
                <a:r>
                  <a:rPr lang="zh-CN" altLang="en-US" sz="1800" dirty="0"/>
                  <a:t>时则需要特殊处理。</a:t>
                </a:r>
                <a:endParaRPr lang="en-US" altLang="zh-CN" sz="1800" dirty="0"/>
              </a:p>
              <a:p>
                <a:pPr>
                  <a:spcBef>
                    <a:spcPts val="800"/>
                  </a:spcBef>
                </a:pPr>
                <a:br>
                  <a:rPr lang="en-US" altLang="zh-CN" sz="1800" dirty="0"/>
                </a:br>
                <a:r>
                  <a:rPr lang="en-US" altLang="zh-CN" sz="1800" dirty="0"/>
                  <a:t>         </a:t>
                </a:r>
                <a:r>
                  <a:rPr lang="zh-CN" altLang="en-US" sz="1800" dirty="0"/>
                  <a:t>因为路径追踪的初始光线一般是由摄像机发出的固定光线，所以这里并不涉及到路径采样，也不需要使用估计器进行估计。只需</a:t>
                </a:r>
                <a:r>
                  <a:rPr lang="zh-CN" altLang="en-US" dirty="0"/>
                  <a:t>要当初始命中光源时，直接累计对应的光照贡献</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𝐼</m:t>
                        </m:r>
                      </m:e>
                      <m:sub>
                        <m:r>
                          <a:rPr lang="en-US" altLang="zh-CN" b="0" i="1" dirty="0" smtClean="0">
                            <a:latin typeface="Cambria Math" panose="02040503050406030204" pitchFamily="18" charset="0"/>
                          </a:rPr>
                          <m:t>1</m:t>
                        </m:r>
                      </m:sub>
                    </m:sSub>
                    <m:r>
                      <a:rPr lang="en-US" altLang="zh-CN" b="0" i="1" dirty="0" smtClean="0">
                        <a:latin typeface="Cambria Math" panose="02040503050406030204" pitchFamily="18" charset="0"/>
                      </a:rPr>
                      <m:t>=</m:t>
                    </m:r>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𝐿</m:t>
                        </m:r>
                      </m:e>
                      <m:sub>
                        <m:r>
                          <a:rPr lang="en-US" altLang="zh-CN" b="0" i="1" dirty="0" smtClean="0">
                            <a:latin typeface="Cambria Math" panose="02040503050406030204" pitchFamily="18" charset="0"/>
                          </a:rPr>
                          <m:t>𝑒</m:t>
                        </m:r>
                      </m:sub>
                    </m:sSub>
                    <m:d>
                      <m:dPr>
                        <m:ctrlPr>
                          <a:rPr lang="en-US" altLang="zh-CN" b="1" i="1" dirty="0" smtClean="0">
                            <a:latin typeface="Cambria Math" panose="02040503050406030204" pitchFamily="18" charset="0"/>
                          </a:rPr>
                        </m:ctrlPr>
                      </m:dPr>
                      <m:e>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smtClean="0">
                                <a:latin typeface="Cambria Math" panose="02040503050406030204" pitchFamily="18" charset="0"/>
                              </a:rPr>
                              <m:t>𝟏</m:t>
                            </m:r>
                          </m:sub>
                        </m:sSub>
                        <m:r>
                          <a:rPr lang="en-US" altLang="zh-CN" b="1" i="1" dirty="0" smtClean="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smtClean="0">
                                <a:latin typeface="Cambria Math" panose="02040503050406030204" pitchFamily="18" charset="0"/>
                              </a:rPr>
                              <m:t>𝟎</m:t>
                            </m:r>
                          </m:sub>
                        </m:sSub>
                      </m:e>
                    </m:d>
                  </m:oMath>
                </a14:m>
                <a:r>
                  <a:rPr lang="zh-CN" altLang="en-US" sz="1800" dirty="0"/>
                  <a:t>即可。</a:t>
                </a:r>
                <a:endParaRPr lang="en-US" altLang="zh-CN" sz="1800" dirty="0"/>
              </a:p>
            </p:txBody>
          </p:sp>
        </mc:Choice>
        <mc:Fallback xmlns="">
          <p:sp>
            <p:nvSpPr>
              <p:cNvPr id="6" name="文本框 5">
                <a:extLst>
                  <a:ext uri="{FF2B5EF4-FFF2-40B4-BE49-F238E27FC236}">
                    <a16:creationId xmlns:a16="http://schemas.microsoft.com/office/drawing/2014/main" id="{61E046B2-787C-7D87-7AEE-495FEF538889}"/>
                  </a:ext>
                </a:extLst>
              </p:cNvPr>
              <p:cNvSpPr txBox="1">
                <a:spLocks noRot="1" noChangeAspect="1" noMove="1" noResize="1" noEditPoints="1" noAdjustHandles="1" noChangeArrowheads="1" noChangeShapeType="1" noTextEdit="1"/>
              </p:cNvSpPr>
              <p:nvPr/>
            </p:nvSpPr>
            <p:spPr>
              <a:xfrm>
                <a:off x="602146" y="2618729"/>
                <a:ext cx="5478350" cy="2133918"/>
              </a:xfrm>
              <a:prstGeom prst="rect">
                <a:avLst/>
              </a:prstGeom>
              <a:blipFill>
                <a:blip r:embed="rId5"/>
                <a:stretch>
                  <a:fillRect l="-1002" t="-1714" r="-557" b="-3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96F3514-E19A-7B10-B186-AEE662175E81}"/>
                  </a:ext>
                </a:extLst>
              </p:cNvPr>
              <p:cNvSpPr txBox="1"/>
              <p:nvPr/>
            </p:nvSpPr>
            <p:spPr>
              <a:xfrm>
                <a:off x="961623" y="5126477"/>
                <a:ext cx="10268754" cy="338554"/>
              </a:xfrm>
              <a:prstGeom prst="rect">
                <a:avLst/>
              </a:prstGeom>
              <a:noFill/>
              <a:ln w="19050">
                <a:solidFill>
                  <a:srgbClr val="FF0000"/>
                </a:solidFill>
              </a:ln>
            </p:spPr>
            <p:txBody>
              <a:bodyPr wrap="square">
                <a:spAutoFit/>
              </a:bodyPr>
              <a:lstStyle/>
              <a:p>
                <a:pPr algn="ctr"/>
                <a:r>
                  <a:rPr lang="zh-CN" altLang="en-US" sz="1600" dirty="0">
                    <a:latin typeface="Noto Sans SC" panose="020B0200000000000000" pitchFamily="34" charset="-122"/>
                    <a:ea typeface="Noto Sans SC" panose="020B0200000000000000" pitchFamily="34" charset="-122"/>
                  </a:rPr>
                  <a:t>最终光照</a:t>
                </a:r>
                <a14:m>
                  <m:oMath xmlns:m="http://schemas.openxmlformats.org/officeDocument/2006/math">
                    <m:r>
                      <a:rPr lang="en-US" altLang="zh-CN" sz="1600" i="1" dirty="0" smtClean="0">
                        <a:latin typeface="Cambria Math" panose="02040503050406030204" pitchFamily="18" charset="0"/>
                      </a:rPr>
                      <m:t>𝐿</m:t>
                    </m:r>
                    <m:d>
                      <m:dPr>
                        <m:ctrlPr>
                          <a:rPr lang="en-US" altLang="zh-CN" sz="1600" b="1" i="1" dirty="0">
                            <a:latin typeface="Cambria Math" panose="02040503050406030204" pitchFamily="18" charset="0"/>
                          </a:rPr>
                        </m:ctrlPr>
                      </m:dPr>
                      <m:e>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𝟏</m:t>
                            </m:r>
                          </m:sub>
                        </m:sSub>
                        <m:r>
                          <a:rPr lang="en-US" altLang="zh-CN" sz="1600" b="1" i="1" dirty="0">
                            <a:latin typeface="Cambria Math" panose="02040503050406030204" pitchFamily="18" charset="0"/>
                          </a:rPr>
                          <m:t>→</m:t>
                        </m:r>
                        <m:sSub>
                          <m:sSubPr>
                            <m:ctrlPr>
                              <a:rPr lang="en-US" altLang="zh-CN" sz="1600" b="1" i="1" dirty="0">
                                <a:latin typeface="Cambria Math" panose="02040503050406030204" pitchFamily="18" charset="0"/>
                              </a:rPr>
                            </m:ctrlPr>
                          </m:sSubPr>
                          <m:e>
                            <m:r>
                              <a:rPr lang="en-US" altLang="zh-CN" sz="1600" b="1" i="1" dirty="0">
                                <a:latin typeface="Cambria Math" panose="02040503050406030204" pitchFamily="18" charset="0"/>
                              </a:rPr>
                              <m:t>𝒑</m:t>
                            </m:r>
                          </m:e>
                          <m:sub>
                            <m:r>
                              <a:rPr lang="en-US" altLang="zh-CN" sz="1600" b="1" i="1" dirty="0">
                                <a:latin typeface="Cambria Math" panose="02040503050406030204" pitchFamily="18" charset="0"/>
                              </a:rPr>
                              <m:t>𝟎</m:t>
                            </m:r>
                          </m:sub>
                        </m:sSub>
                      </m:e>
                    </m:d>
                  </m:oMath>
                </a14:m>
                <a:r>
                  <a:rPr lang="zh-CN" altLang="en-US" sz="1600" dirty="0">
                    <a:latin typeface="Noto Sans SC" panose="020B0200000000000000" pitchFamily="34" charset="-122"/>
                    <a:ea typeface="Noto Sans SC" panose="020B0200000000000000" pitchFamily="34" charset="-122"/>
                  </a:rPr>
                  <a:t>  </a:t>
                </a:r>
                <a:r>
                  <a:rPr lang="en-US" altLang="zh-CN" sz="1600" dirty="0">
                    <a:latin typeface="Noto Sans SC" panose="020B0200000000000000" pitchFamily="34" charset="-122"/>
                    <a:ea typeface="Noto Sans SC" panose="020B0200000000000000" pitchFamily="34" charset="-122"/>
                  </a:rPr>
                  <a:t>=  </a:t>
                </a:r>
                <a:r>
                  <a:rPr lang="zh-CN" altLang="en-US" sz="1600" dirty="0">
                    <a:latin typeface="Noto Sans SC" panose="020B0200000000000000" pitchFamily="34" charset="-122"/>
                    <a:ea typeface="Noto Sans SC" panose="020B0200000000000000" pitchFamily="34" charset="-122"/>
                  </a:rPr>
                  <a:t>直接看见的自发光</a:t>
                </a:r>
                <a14:m>
                  <m:oMath xmlns:m="http://schemas.openxmlformats.org/officeDocument/2006/math">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𝐼</m:t>
                        </m:r>
                      </m:e>
                      <m:sub>
                        <m:r>
                          <a:rPr lang="en-US" altLang="zh-CN" sz="1600" b="0" i="1" dirty="0" smtClean="0">
                            <a:latin typeface="Cambria Math" panose="02040503050406030204" pitchFamily="18" charset="0"/>
                          </a:rPr>
                          <m:t>1</m:t>
                        </m:r>
                      </m:sub>
                    </m:sSub>
                  </m:oMath>
                </a14:m>
                <a:r>
                  <a:rPr lang="en-US" altLang="zh-CN" sz="1600" dirty="0">
                    <a:latin typeface="Noto Sans SC" panose="020B0200000000000000" pitchFamily="34" charset="-122"/>
                    <a:ea typeface="Noto Sans SC" panose="020B0200000000000000" pitchFamily="34" charset="-122"/>
                  </a:rPr>
                  <a:t>  +  </a:t>
                </a:r>
                <a:r>
                  <a:rPr lang="zh-CN" altLang="en-US" sz="1600" dirty="0">
                    <a:latin typeface="Noto Sans SC" panose="020B0200000000000000" pitchFamily="34" charset="-122"/>
                    <a:ea typeface="Noto Sans SC" panose="020B0200000000000000" pitchFamily="34" charset="-122"/>
                  </a:rPr>
                  <a:t>直接光照</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2</m:t>
                        </m:r>
                      </m:sub>
                    </m:sSub>
                  </m:oMath>
                </a14:m>
                <a:r>
                  <a:rPr lang="en-US" altLang="zh-CN" sz="1600" dirty="0">
                    <a:latin typeface="Noto Sans SC" panose="020B0200000000000000" pitchFamily="34" charset="-122"/>
                    <a:ea typeface="Noto Sans SC" panose="020B0200000000000000" pitchFamily="34" charset="-122"/>
                  </a:rPr>
                  <a:t>+  2</a:t>
                </a:r>
                <a:r>
                  <a:rPr lang="zh-CN" altLang="en-US" sz="1600" dirty="0">
                    <a:latin typeface="Noto Sans SC" panose="020B0200000000000000" pitchFamily="34" charset="-122"/>
                    <a:ea typeface="Noto Sans SC" panose="020B0200000000000000" pitchFamily="34" charset="-122"/>
                  </a:rPr>
                  <a:t>次散射间接光照</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3</m:t>
                        </m:r>
                      </m:sub>
                    </m:sSub>
                  </m:oMath>
                </a14:m>
                <a:r>
                  <a:rPr lang="en-US" altLang="zh-CN" sz="1600" dirty="0">
                    <a:latin typeface="Noto Sans SC" panose="020B0200000000000000" pitchFamily="34" charset="-122"/>
                    <a:ea typeface="Noto Sans SC" panose="020B0200000000000000" pitchFamily="34" charset="-122"/>
                  </a:rPr>
                  <a:t>+ 3</a:t>
                </a:r>
                <a:r>
                  <a:rPr lang="zh-CN" altLang="en-US" sz="1600" dirty="0">
                    <a:latin typeface="Noto Sans SC" panose="020B0200000000000000" pitchFamily="34" charset="-122"/>
                    <a:ea typeface="Noto Sans SC" panose="020B0200000000000000" pitchFamily="34" charset="-122"/>
                  </a:rPr>
                  <a:t>次散射间接光照</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4</m:t>
                        </m:r>
                      </m:sub>
                    </m:sSub>
                  </m:oMath>
                </a14:m>
                <a:r>
                  <a:rPr lang="en-US" altLang="zh-CN" sz="1600" dirty="0">
                    <a:latin typeface="Noto Sans SC" panose="020B0200000000000000" pitchFamily="34" charset="-122"/>
                    <a:ea typeface="Noto Sans SC" panose="020B0200000000000000" pitchFamily="34" charset="-122"/>
                  </a:rPr>
                  <a:t>  +  </a:t>
                </a:r>
                <a14:m>
                  <m:oMath xmlns:m="http://schemas.openxmlformats.org/officeDocument/2006/math">
                    <m:sSub>
                      <m:sSubPr>
                        <m:ctrlPr>
                          <a:rPr lang="en-US" altLang="zh-CN" sz="1600" i="1" dirty="0">
                            <a:latin typeface="Cambria Math" panose="02040503050406030204" pitchFamily="18" charset="0"/>
                          </a:rPr>
                        </m:ctrlPr>
                      </m:sSubPr>
                      <m:e>
                        <m:r>
                          <a:rPr lang="en-US" altLang="zh-CN" sz="1600" i="1" dirty="0">
                            <a:latin typeface="Cambria Math" panose="02040503050406030204" pitchFamily="18" charset="0"/>
                          </a:rPr>
                          <m:t>𝐼</m:t>
                        </m:r>
                      </m:e>
                      <m:sub>
                        <m:r>
                          <a:rPr lang="en-US" altLang="zh-CN" sz="1600" b="0" i="1" dirty="0" smtClean="0">
                            <a:latin typeface="Cambria Math" panose="02040503050406030204" pitchFamily="18" charset="0"/>
                          </a:rPr>
                          <m:t>5</m:t>
                        </m:r>
                      </m:sub>
                    </m:sSub>
                  </m:oMath>
                </a14:m>
                <a:r>
                  <a:rPr lang="en-US" altLang="zh-CN" sz="1600" dirty="0">
                    <a:latin typeface="Noto Sans SC" panose="020B0200000000000000" pitchFamily="34" charset="-122"/>
                    <a:ea typeface="Noto Sans SC" panose="020B0200000000000000" pitchFamily="34" charset="-122"/>
                  </a:rPr>
                  <a:t>……</a:t>
                </a:r>
              </a:p>
            </p:txBody>
          </p:sp>
        </mc:Choice>
        <mc:Fallback xmlns="">
          <p:sp>
            <p:nvSpPr>
              <p:cNvPr id="8" name="文本框 7">
                <a:extLst>
                  <a:ext uri="{FF2B5EF4-FFF2-40B4-BE49-F238E27FC236}">
                    <a16:creationId xmlns:a16="http://schemas.microsoft.com/office/drawing/2014/main" id="{D96F3514-E19A-7B10-B186-AEE662175E81}"/>
                  </a:ext>
                </a:extLst>
              </p:cNvPr>
              <p:cNvSpPr txBox="1">
                <a:spLocks noRot="1" noChangeAspect="1" noMove="1" noResize="1" noEditPoints="1" noAdjustHandles="1" noChangeArrowheads="1" noChangeShapeType="1" noTextEdit="1"/>
              </p:cNvSpPr>
              <p:nvPr/>
            </p:nvSpPr>
            <p:spPr>
              <a:xfrm>
                <a:off x="961623" y="5126477"/>
                <a:ext cx="10268754" cy="338554"/>
              </a:xfrm>
              <a:prstGeom prst="rect">
                <a:avLst/>
              </a:prstGeom>
              <a:blipFill>
                <a:blip r:embed="rId6"/>
                <a:stretch>
                  <a:fillRect t="-3448" b="-18966"/>
                </a:stretch>
              </a:blipFill>
              <a:ln w="19050">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1762466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C8969-DC11-A3D8-A3DE-C62E34FD1A9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C1EE23E-CEE9-E5E9-A463-20BD23694301}"/>
              </a:ext>
            </a:extLst>
          </p:cNvPr>
          <p:cNvSpPr>
            <a:spLocks noGrp="1"/>
          </p:cNvSpPr>
          <p:nvPr>
            <p:ph type="title" idx="1"/>
          </p:nvPr>
        </p:nvSpPr>
        <p:spPr/>
        <p:txBody>
          <a:bodyPr/>
          <a:lstStyle/>
          <a:p>
            <a:r>
              <a:rPr lang="zh-CN" altLang="en-US" dirty="0"/>
              <a:t>光谱路径追踪  </a:t>
            </a:r>
            <a:r>
              <a:rPr lang="en-US" altLang="zh-CN" dirty="0"/>
              <a:t>——  </a:t>
            </a:r>
            <a:r>
              <a:rPr lang="zh-CN" altLang="en-US" dirty="0"/>
              <a:t>应对</a:t>
            </a:r>
            <a:r>
              <a:rPr lang="en-US" altLang="zh-CN" dirty="0"/>
              <a:t>Delta</a:t>
            </a:r>
            <a:r>
              <a:rPr lang="zh-CN" altLang="en-US" dirty="0"/>
              <a:t>分布</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31F485D-16EE-64E7-8A61-9FEFDB49B631}"/>
                  </a:ext>
                </a:extLst>
              </p:cNvPr>
              <p:cNvSpPr txBox="1"/>
              <p:nvPr/>
            </p:nvSpPr>
            <p:spPr>
              <a:xfrm>
                <a:off x="541163" y="1169310"/>
                <a:ext cx="11109674" cy="2749535"/>
              </a:xfrm>
              <a:prstGeom prst="rect">
                <a:avLst/>
              </a:prstGeom>
              <a:noFill/>
            </p:spPr>
            <p:txBody>
              <a:bodyPr wrap="square">
                <a:spAutoFit/>
              </a:bodyPr>
              <a:lstStyle/>
              <a:p>
                <a:pPr>
                  <a:spcBef>
                    <a:spcPts val="400"/>
                  </a:spcBef>
                </a:pPr>
                <a14:m>
                  <m:oMathPara xmlns:m="http://schemas.openxmlformats.org/officeDocument/2006/math">
                    <m:oMath>
                      <m:sSub>
                        <m:sSubPr>
                          <m:ctrlPr>
                            <a:rPr lang="en-US" altLang="zh-CN">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a:solidFill>
                            <a:schemeClr val="tx1"/>
                          </a:solidFill>
                          <a:latin typeface="Cambria Math" panose="02040503050406030204" pitchFamily="18" charset="0"/>
                        </a:rPr>
                        <m:t>=</m:t>
                      </m:r>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 </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𝐹</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b="0" i="1" dirty="0" smtClean="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𝐹</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𝑓</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d>
                        <m:dPr>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𝜆</m:t>
                          </m:r>
                        </m:e>
                      </m:d>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𝑉</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 </m:t>
                      </m:r>
                      <m:d>
                        <m:dPr>
                          <m:begChr m:val="|"/>
                          <m:endChr m:val="|"/>
                          <m:ctrlPr>
                            <a:rPr lang="en-US" altLang="zh-CN" i="1" dirty="0">
                              <a:solidFill>
                                <a:schemeClr val="tx1"/>
                              </a:solidFill>
                              <a:latin typeface="Cambria Math" panose="02040503050406030204" pitchFamily="18" charset="0"/>
                            </a:rPr>
                          </m:ctrlPr>
                        </m:dPr>
                        <m:e>
                          <m:func>
                            <m:funcPr>
                              <m:ctrlPr>
                                <a:rPr lang="en-US" altLang="zh-CN" dirty="0">
                                  <a:solidFill>
                                    <a:schemeClr val="tx1"/>
                                  </a:solidFill>
                                  <a:latin typeface="Cambria Math" panose="02040503050406030204" pitchFamily="18" charset="0"/>
                                </a:rPr>
                              </m:ctrlPr>
                            </m:funcPr>
                            <m:fName>
                              <m:r>
                                <m:rPr>
                                  <m:sty m:val="p"/>
                                </m:rPr>
                                <a:rPr lang="en-US" altLang="zh-CN" dirty="0">
                                  <a:solidFill>
                                    <a:schemeClr val="tx1"/>
                                  </a:solidFill>
                                  <a:latin typeface="Cambria Math" panose="02040503050406030204" pitchFamily="18" charset="0"/>
                                </a:rPr>
                                <m:t>cos</m:t>
                              </m:r>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i="1" dirty="0">
                                      <a:solidFill>
                                        <a:schemeClr val="tx1"/>
                                      </a:solidFill>
                                      <a:latin typeface="Cambria Math" panose="02040503050406030204" pitchFamily="18" charset="0"/>
                                    </a:rPr>
                                    <m:t>𝑖</m:t>
                                  </m:r>
                                </m:sub>
                              </m:sSub>
                            </m:e>
                          </m:func>
                        </m:e>
                      </m:d>
                      <m:r>
                        <a:rPr lang="en-US" altLang="zh-CN" i="1" dirty="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𝐿</m:t>
                          </m:r>
                        </m:e>
                        <m:sub>
                          <m:r>
                            <a:rPr lang="en-US" altLang="zh-CN" i="1" dirty="0">
                              <a:solidFill>
                                <a:schemeClr val="tx1"/>
                              </a:solidFill>
                              <a:latin typeface="Cambria Math" panose="02040503050406030204" pitchFamily="18" charset="0"/>
                            </a:rPr>
                            <m:t>𝑒</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oMath>
                  </m:oMathPara>
                </a14:m>
                <a:endParaRPr lang="en-US" altLang="zh-CN" b="1" dirty="0">
                  <a:solidFill>
                    <a:schemeClr val="tx1"/>
                  </a:solidFill>
                </a:endParaRPr>
              </a:p>
              <a:p>
                <a:pPr/>
                <a14:m>
                  <m:oMathPara xmlns:m="http://schemas.openxmlformats.org/officeDocument/2006/math">
                    <m:oMath>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a:solidFill>
                            <a:schemeClr val="tx1"/>
                          </a:solidFill>
                          <a:latin typeface="Cambria Math" panose="02040503050406030204" pitchFamily="18" charset="0"/>
                        </a:rPr>
                        <m:t>=</m:t>
                      </m:r>
                      <m:nary>
                        <m:naryPr>
                          <m:chr m:val="∏"/>
                          <m:ctrlPr>
                            <a:rPr lang="en-US" altLang="zh-CN" i="1">
                              <a:solidFill>
                                <a:schemeClr val="tx1"/>
                              </a:solidFill>
                              <a:latin typeface="Cambria Math" panose="02040503050406030204" pitchFamily="18" charset="0"/>
                            </a:rPr>
                          </m:ctrlPr>
                        </m:naryPr>
                        <m:sub>
                          <m:r>
                            <m:rPr>
                              <m:brk m:alnAt="23"/>
                            </m:rPr>
                            <a:rPr lang="en-US" altLang="zh-CN" i="1">
                              <a:solidFill>
                                <a:schemeClr val="tx1"/>
                              </a:solidFill>
                              <a:latin typeface="Cambria Math" panose="02040503050406030204" pitchFamily="18" charset="0"/>
                            </a:rPr>
                            <m:t>𝑘</m:t>
                          </m:r>
                          <m:r>
                            <m:rPr>
                              <m:brk m:alnAt="23"/>
                            </m:rPr>
                            <a:rPr lang="en-US" altLang="zh-CN" i="1">
                              <a:solidFill>
                                <a:schemeClr val="tx1"/>
                              </a:solidFill>
                              <a:latin typeface="Cambria Math" panose="02040503050406030204" pitchFamily="18" charset="0"/>
                            </a:rPr>
                            <m:t>=</m:t>
                          </m:r>
                          <m:r>
                            <m:rPr>
                              <m:brk m:alnAt="23"/>
                            </m:rP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−2</m:t>
                          </m:r>
                        </m:sup>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𝑓</m:t>
                              </m:r>
                            </m:e>
                            <m:sub>
                              <m:r>
                                <a:rPr lang="en-US" altLang="zh-CN" i="1">
                                  <a:solidFill>
                                    <a:schemeClr val="tx1"/>
                                  </a:solidFill>
                                  <a:latin typeface="Cambria Math" panose="02040503050406030204" pitchFamily="18" charset="0"/>
                                </a:rPr>
                                <m:t>𝑘</m:t>
                              </m:r>
                            </m:sub>
                          </m:sSub>
                          <m:d>
                            <m:dPr>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𝜆</m:t>
                              </m:r>
                            </m:e>
                          </m:d>
                          <m:d>
                            <m:dPr>
                              <m:begChr m:val="|"/>
                              <m:endChr m:val="|"/>
                              <m:ctrlPr>
                                <a:rPr lang="en-US" altLang="zh-CN" i="1">
                                  <a:solidFill>
                                    <a:schemeClr val="tx1"/>
                                  </a:solidFill>
                                  <a:latin typeface="Cambria Math" panose="02040503050406030204" pitchFamily="18" charset="0"/>
                                </a:rPr>
                              </m:ctrlPr>
                            </m:dPr>
                            <m:e>
                              <m:func>
                                <m:funcPr>
                                  <m:ctrlPr>
                                    <a:rPr lang="en-US" altLang="zh-CN">
                                      <a:solidFill>
                                        <a:schemeClr val="tx1"/>
                                      </a:solidFill>
                                      <a:latin typeface="Cambria Math" panose="02040503050406030204" pitchFamily="18" charset="0"/>
                                    </a:rPr>
                                  </m:ctrlPr>
                                </m:funcPr>
                                <m:fName>
                                  <m:r>
                                    <m:rPr>
                                      <m:sty m:val="p"/>
                                    </m:rPr>
                                    <a:rPr lang="en-US" altLang="zh-CN">
                                      <a:solidFill>
                                        <a:schemeClr val="tx1"/>
                                      </a:solidFill>
                                      <a:latin typeface="Cambria Math" panose="02040503050406030204" pitchFamily="18" charset="0"/>
                                    </a:rPr>
                                    <m:t>cos</m:t>
                                  </m:r>
                                </m:fName>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𝜃</m:t>
                                      </m:r>
                                    </m:e>
                                    <m:sub>
                                      <m:r>
                                        <a:rPr lang="en-US" altLang="zh-CN" i="1">
                                          <a:solidFill>
                                            <a:schemeClr val="tx1"/>
                                          </a:solidFill>
                                          <a:latin typeface="Cambria Math" panose="02040503050406030204" pitchFamily="18" charset="0"/>
                                        </a:rPr>
                                        <m:t>𝑘</m:t>
                                      </m:r>
                                      <m:r>
                                        <a:rPr lang="en-US" altLang="zh-CN" i="1">
                                          <a:solidFill>
                                            <a:schemeClr val="tx1"/>
                                          </a:solidFill>
                                          <a:latin typeface="Cambria Math" panose="02040503050406030204" pitchFamily="18" charset="0"/>
                                        </a:rPr>
                                        <m:t>+1</m:t>
                                      </m:r>
                                    </m:sub>
                                  </m:sSub>
                                </m:e>
                              </m:func>
                            </m:e>
                          </m:d>
                        </m:e>
                      </m:nary>
                      <m:r>
                        <a:rPr lang="en-US" altLang="zh-CN" i="1">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  </m:t>
                      </m:r>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up>
                          <m:r>
                            <a:rPr lang="en-US" altLang="zh-CN" i="1" dirty="0">
                              <a:solidFill>
                                <a:schemeClr val="tx1"/>
                              </a:solidFill>
                              <a:latin typeface="Cambria Math" panose="02040503050406030204" pitchFamily="18" charset="0"/>
                            </a:rPr>
                            <m:t>𝑝𝑟𝑒</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m:t>
                      </m:r>
                      <m:nary>
                        <m:naryPr>
                          <m:chr m:val="∏"/>
                          <m:ctrlPr>
                            <a:rPr lang="en-US" altLang="zh-CN" i="1" dirty="0">
                              <a:solidFill>
                                <a:schemeClr val="tx1"/>
                              </a:solidFill>
                              <a:latin typeface="Cambria Math" panose="02040503050406030204" pitchFamily="18" charset="0"/>
                            </a:rPr>
                          </m:ctrlPr>
                        </m:naryPr>
                        <m:sub>
                          <m:r>
                            <m:rPr>
                              <m:brk m:alnAt="23"/>
                            </m:rPr>
                            <a:rPr lang="en-US" altLang="zh-CN" i="1" dirty="0">
                              <a:solidFill>
                                <a:schemeClr val="tx1"/>
                              </a:solidFill>
                              <a:latin typeface="Cambria Math" panose="02040503050406030204" pitchFamily="18" charset="0"/>
                            </a:rPr>
                            <m:t>𝑘</m:t>
                          </m:r>
                          <m:r>
                            <m:rPr>
                              <m:brk m:alnAt="23"/>
                            </m:rPr>
                            <a:rPr lang="en-US" altLang="zh-CN" i="1" dirty="0">
                              <a:solidFill>
                                <a:schemeClr val="tx1"/>
                              </a:solidFill>
                              <a:latin typeface="Cambria Math" panose="02040503050406030204" pitchFamily="18" charset="0"/>
                            </a:rPr>
                            <m:t>=</m:t>
                          </m:r>
                          <m:r>
                            <m:rPr>
                              <m:brk m:alnAt="23"/>
                            </m:rPr>
                            <a:rPr lang="en-US" altLang="zh-CN" i="1" dirty="0">
                              <a:solidFill>
                                <a:schemeClr val="tx1"/>
                              </a:solidFill>
                              <a:latin typeface="Cambria Math" panose="02040503050406030204" pitchFamily="18" charset="0"/>
                            </a:rPr>
                            <m:t>1</m:t>
                          </m:r>
                        </m:sub>
                        <m:sup>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−2</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𝑘</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b="1">
                                  <a:latin typeface="Cambria Math" panose="02040503050406030204" pitchFamily="18" charset="0"/>
                                </a:rPr>
                                <m:t>𝛌</m:t>
                              </m:r>
                            </m:e>
                          </m:d>
                        </m:e>
                      </m:nary>
                    </m:oMath>
                  </m:oMathPara>
                </a14:m>
                <a:endParaRPr lang="en-US" altLang="zh-CN" i="1" dirty="0">
                  <a:solidFill>
                    <a:srgbClr val="FF0000"/>
                  </a:solidFill>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latin typeface="Cambria Math" panose="02040503050406030204" pitchFamily="18" charset="0"/>
                            </a:rPr>
                            <m:t>|</m:t>
                          </m:r>
                          <m:r>
                            <a:rPr lang="en-US" altLang="zh-CN" b="1">
                              <a:latin typeface="Cambria Math" panose="02040503050406030204" pitchFamily="18" charset="0"/>
                            </a:rPr>
                            <m:t>𝛌</m:t>
                          </m:r>
                        </m:e>
                      </m:d>
                      <m:r>
                        <a:rPr lang="en-US" altLang="zh-CN" b="1" i="1">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latin typeface="Cambria Math" panose="02040503050406030204" pitchFamily="18" charset="0"/>
                            </a:rPr>
                            <m:t>|</m:t>
                          </m:r>
                          <m:r>
                            <a:rPr lang="en-US" altLang="zh-CN" b="1">
                              <a:latin typeface="Cambria Math" panose="02040503050406030204" pitchFamily="18" charset="0"/>
                            </a:rPr>
                            <m:t>𝛌</m:t>
                          </m:r>
                        </m:e>
                      </m:d>
                    </m:oMath>
                  </m:oMathPara>
                </a14:m>
                <a:endParaRPr lang="en-US" altLang="zh-CN" i="1" dirty="0">
                  <a:latin typeface="Cambria Math" panose="02040503050406030204" pitchFamily="18" charset="0"/>
                </a:endParaRPr>
              </a:p>
              <a:p>
                <a:pPr>
                  <a:spcBef>
                    <a:spcPts val="400"/>
                  </a:spcBef>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d>
                            <m:dPr>
                              <m:begChr m:val="["/>
                              <m:endChr m:val="]"/>
                              <m:ctrlPr>
                                <a:rPr lang="en-US" altLang="zh-CN" i="1" dirty="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 </m:t>
                                  </m:r>
                                  <m:acc>
                                    <m:accPr>
                                      <m:chr m:val="̅"/>
                                      <m:ctrlPr>
                                        <a:rPr lang="en-US" altLang="zh-CN" b="1"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𝒄</m:t>
                                      </m:r>
                                    </m:e>
                                  </m:acc>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𝜆</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den>
                              </m:f>
                              <m:f>
                                <m:fPr>
                                  <m:ctrlPr>
                                    <a:rPr lang="en-US" altLang="zh-CN" b="0" i="1" dirty="0" smtClean="0">
                                      <a:solidFill>
                                        <a:schemeClr val="accent6">
                                          <a:lumMod val="50000"/>
                                        </a:schemeClr>
                                      </a:solidFill>
                                      <a:latin typeface="Cambria Math" panose="02040503050406030204" pitchFamily="18" charset="0"/>
                                    </a:rPr>
                                  </m:ctrlPr>
                                </m:fPr>
                                <m:num>
                                  <m:sSubSup>
                                    <m:sSubSupPr>
                                      <m:ctrlPr>
                                        <a:rPr lang="en-US" altLang="zh-CN" b="0" i="0" dirty="0" smtClean="0">
                                          <a:solidFill>
                                            <a:schemeClr val="accent6">
                                              <a:lumMod val="50000"/>
                                            </a:schemeClr>
                                          </a:solidFill>
                                          <a:latin typeface="Cambria Math" panose="02040503050406030204" pitchFamily="18" charset="0"/>
                                        </a:rPr>
                                      </m:ctrlPr>
                                    </m:sSubSupPr>
                                    <m:e>
                                      <m:r>
                                        <m:rPr>
                                          <m:sty m:val="p"/>
                                        </m:rPr>
                                        <a:rPr lang="en-US" altLang="zh-CN" b="0" i="0" dirty="0" smtClean="0">
                                          <a:solidFill>
                                            <a:schemeClr val="accent6">
                                              <a:lumMod val="50000"/>
                                            </a:schemeClr>
                                          </a:solidFill>
                                          <a:latin typeface="Cambria Math" panose="02040503050406030204" pitchFamily="18" charset="0"/>
                                        </a:rPr>
                                        <m:t>Φ</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b="0" i="1" dirty="0" smtClean="0">
                                          <a:solidFill>
                                            <a:schemeClr val="accent6">
                                              <a:lumMod val="50000"/>
                                            </a:schemeClr>
                                          </a:solidFill>
                                          <a:latin typeface="Cambria Math" panose="02040503050406030204" pitchFamily="18" charset="0"/>
                                        </a:rPr>
                                      </m:ctrlPr>
                                    </m:dPr>
                                    <m:e>
                                      <m:sSub>
                                        <m:sSubPr>
                                          <m:ctrlPr>
                                            <a:rPr lang="en-US" altLang="zh-CN" b="0" i="1" dirty="0" smtClean="0">
                                              <a:solidFill>
                                                <a:schemeClr val="accent6">
                                                  <a:lumMod val="50000"/>
                                                </a:schemeClr>
                                              </a:solidFill>
                                              <a:latin typeface="Cambria Math" panose="02040503050406030204" pitchFamily="18" charset="0"/>
                                            </a:rPr>
                                          </m:ctrlPr>
                                        </m:sSubPr>
                                        <m:e>
                                          <m:acc>
                                            <m:accPr>
                                              <m:chr m:val="̅"/>
                                              <m:ctrlPr>
                                                <a:rPr lang="en-US" altLang="zh-CN" b="0" i="1" dirty="0" smtClean="0">
                                                  <a:solidFill>
                                                    <a:schemeClr val="accent6">
                                                      <a:lumMod val="50000"/>
                                                    </a:schemeClr>
                                                  </a:solidFill>
                                                  <a:latin typeface="Cambria Math" panose="02040503050406030204" pitchFamily="18" charset="0"/>
                                                </a:rPr>
                                              </m:ctrlPr>
                                            </m:accPr>
                                            <m:e>
                                              <m:r>
                                                <a:rPr lang="en-US" altLang="zh-CN" b="0" i="1" dirty="0" smtClean="0">
                                                  <a:solidFill>
                                                    <a:schemeClr val="accent6">
                                                      <a:lumMod val="50000"/>
                                                    </a:schemeClr>
                                                  </a:solidFill>
                                                  <a:latin typeface="Cambria Math" panose="02040503050406030204" pitchFamily="18" charset="0"/>
                                                </a:rPr>
                                                <m:t>𝑝</m:t>
                                              </m:r>
                                            </m:e>
                                          </m:acc>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sSub>
                                        <m:sSubPr>
                                          <m:ctrlPr>
                                            <a:rPr lang="en-US" altLang="zh-CN" b="0" i="1" dirty="0" smtClean="0">
                                              <a:solidFill>
                                                <a:schemeClr val="accent6">
                                                  <a:lumMod val="50000"/>
                                                </a:schemeClr>
                                              </a:solidFill>
                                              <a:latin typeface="Cambria Math" panose="02040503050406030204" pitchFamily="18" charset="0"/>
                                            </a:rPr>
                                          </m:ctrlPr>
                                        </m:sSubPr>
                                        <m:e>
                                          <m:r>
                                            <a:rPr lang="en-US" altLang="zh-CN" b="0" i="1" dirty="0" smtClean="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𝑐</m:t>
                                      </m:r>
                                    </m:e>
                                    <m:sub>
                                      <m:r>
                                        <a:rPr lang="en-US" altLang="zh-CN" i="1" dirty="0">
                                          <a:solidFill>
                                            <a:schemeClr val="accent6">
                                              <a:lumMod val="50000"/>
                                            </a:schemeClr>
                                          </a:solidFill>
                                          <a:latin typeface="Cambria Math" panose="02040503050406030204" pitchFamily="18" charset="0"/>
                                        </a:rPr>
                                        <m:t>𝐻</m:t>
                                      </m:r>
                                    </m:sub>
                                  </m:sSub>
                                  <m:sSubSup>
                                    <m:sSubSupPr>
                                      <m:ctrlPr>
                                        <a:rPr lang="en-US" altLang="zh-CN" b="0" i="1" dirty="0" smtClean="0">
                                          <a:solidFill>
                                            <a:schemeClr val="accent6">
                                              <a:lumMod val="50000"/>
                                            </a:schemeClr>
                                          </a:solidFill>
                                          <a:latin typeface="Cambria Math" panose="02040503050406030204" pitchFamily="18" charset="0"/>
                                        </a:rPr>
                                      </m:ctrlPr>
                                    </m:sSubSupPr>
                                    <m:e>
                                      <m:r>
                                        <a:rPr lang="en-US" altLang="zh-CN" b="0" i="1" dirty="0" smtClean="0">
                                          <a:solidFill>
                                            <a:schemeClr val="accent6">
                                              <a:lumMod val="50000"/>
                                            </a:schemeClr>
                                          </a:solidFill>
                                          <a:latin typeface="Cambria Math" panose="02040503050406030204" pitchFamily="18" charset="0"/>
                                        </a:rPr>
                                        <m:t>𝑞</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r>
                                        <a:rPr lang="en-US" altLang="zh-CN" b="0" i="1" dirty="0" smtClean="0">
                                          <a:solidFill>
                                            <a:schemeClr val="accent6">
                                              <a:lumMod val="50000"/>
                                            </a:schemeClr>
                                          </a:solidFill>
                                          <a:latin typeface="Cambria Math" panose="02040503050406030204" pitchFamily="18" charset="0"/>
                                        </a:rPr>
                                        <m:t>𝐻</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r>
                                            <a:rPr lang="en-US" altLang="zh-CN" i="1" dirty="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r>
                                        <a:rPr lang="en-US" altLang="zh-CN" b="1" i="0" dirty="0" smtClean="0">
                                          <a:solidFill>
                                            <a:schemeClr val="accent6">
                                              <a:lumMod val="50000"/>
                                            </a:schemeClr>
                                          </a:solidFill>
                                          <a:latin typeface="Cambria Math" panose="02040503050406030204" pitchFamily="18" charset="0"/>
                                        </a:rPr>
                                        <m:t>𝛌</m:t>
                                      </m:r>
                                    </m:e>
                                  </m:d>
                                </m:den>
                              </m:f>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rgbClr val="F76409"/>
                                          </a:solidFill>
                                          <a:latin typeface="Cambria Math" panose="02040503050406030204" pitchFamily="18" charset="0"/>
                                        </a:rPr>
                                        <m:t>𝐿</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r>
                                    <a:rPr lang="en-US" altLang="zh-CN" b="1" i="1" dirty="0">
                                      <a:solidFill>
                                        <a:schemeClr val="accent6">
                                          <a:lumMod val="50000"/>
                                        </a:schemeClr>
                                      </a:solidFill>
                                      <a:latin typeface="Cambria Math" panose="02040503050406030204" pitchFamily="18" charset="0"/>
                                    </a:rPr>
                                    <m:t>+ </m:t>
                                  </m:r>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i="1" dirty="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e>
                              </m:d>
                            </m:e>
                          </m:d>
                        </m:e>
                      </m:nary>
                    </m:oMath>
                  </m:oMathPara>
                </a14:m>
                <a:endParaRPr lang="en-US" altLang="zh-CN" dirty="0"/>
              </a:p>
              <a:p>
                <a:pPr>
                  <a:spcBef>
                    <a:spcPts val="400"/>
                  </a:spcBef>
                </a:pPr>
                <a14:m>
                  <m:oMathPara xmlns:m="http://schemas.openxmlformats.org/officeDocument/2006/math">
                    <m:o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b="0" i="1" dirty="0" smtClean="0">
                              <a:latin typeface="Cambria Math" panose="02040503050406030204" pitchFamily="18" charset="0"/>
                            </a:rPr>
                            <m:t>𝑇</m:t>
                          </m:r>
                        </m:sub>
                        <m:sup>
                          <m:r>
                            <a:rPr lang="en-US" altLang="zh-CN" i="1" dirty="0">
                              <a:latin typeface="Cambria Math" panose="02040503050406030204" pitchFamily="18" charset="0"/>
                            </a:rPr>
                            <m:t>𝑗𝑜𝑖𝑛𝑡</m:t>
                          </m:r>
                        </m:sup>
                      </m:sSubSup>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𝑗𝑜𝑖𝑛𝑡</m:t>
                          </m:r>
                        </m:sub>
                      </m:sSub>
                      <m:d>
                        <m:dPr>
                          <m:ctrlPr>
                            <a:rPr lang="en-US" altLang="zh-CN" i="1" dirty="0">
                              <a:latin typeface="Cambria Math" panose="02040503050406030204" pitchFamily="18" charset="0"/>
                              <a:ea typeface="Cambria Math" panose="02040503050406030204" pitchFamily="18" charset="0"/>
                            </a:rPr>
                          </m:ctrlPr>
                        </m:dPr>
                        <m:e>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𝐻</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𝑇</m:t>
                              </m:r>
                            </m:e>
                          </m:d>
                          <m:r>
                            <a:rPr lang="en-US" altLang="zh-CN" i="1" dirty="0">
                              <a:latin typeface="Cambria Math" panose="02040503050406030204" pitchFamily="18" charset="0"/>
                              <a:ea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1" i="1" dirty="0" smtClean="0">
                              <a:latin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dirty="0"/>
              </a:p>
            </p:txBody>
          </p:sp>
        </mc:Choice>
        <mc:Fallback xmlns="">
          <p:sp>
            <p:nvSpPr>
              <p:cNvPr id="13" name="文本框 12">
                <a:extLst>
                  <a:ext uri="{FF2B5EF4-FFF2-40B4-BE49-F238E27FC236}">
                    <a16:creationId xmlns:a16="http://schemas.microsoft.com/office/drawing/2014/main" id="{331F485D-16EE-64E7-8A61-9FEFDB49B631}"/>
                  </a:ext>
                </a:extLst>
              </p:cNvPr>
              <p:cNvSpPr txBox="1">
                <a:spLocks noRot="1" noChangeAspect="1" noMove="1" noResize="1" noEditPoints="1" noAdjustHandles="1" noChangeArrowheads="1" noChangeShapeType="1" noTextEdit="1"/>
              </p:cNvSpPr>
              <p:nvPr/>
            </p:nvSpPr>
            <p:spPr>
              <a:xfrm>
                <a:off x="541163" y="1169310"/>
                <a:ext cx="11109674" cy="2749535"/>
              </a:xfrm>
              <a:prstGeom prst="rect">
                <a:avLst/>
              </a:prstGeom>
              <a:blipFill>
                <a:blip r:embed="rId2"/>
                <a:stretch>
                  <a:fillRect t="-8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E7CDB966-B33F-345B-8BA8-0C0B18994169}"/>
                  </a:ext>
                </a:extLst>
              </p:cNvPr>
              <p:cNvSpPr txBox="1"/>
              <p:nvPr/>
            </p:nvSpPr>
            <p:spPr>
              <a:xfrm>
                <a:off x="792051" y="4111289"/>
                <a:ext cx="10607898" cy="1784591"/>
              </a:xfrm>
              <a:prstGeom prst="rect">
                <a:avLst/>
              </a:prstGeom>
              <a:noFill/>
            </p:spPr>
            <p:txBody>
              <a:bodyPr wrap="square">
                <a:spAutoFit/>
              </a:bodyPr>
              <a:lstStyle/>
              <a:p>
                <a:pPr>
                  <a:spcBef>
                    <a:spcPts val="800"/>
                  </a:spcBef>
                </a:pPr>
                <a:r>
                  <a:rPr lang="en-US" altLang="zh-CN" sz="1800" dirty="0"/>
                  <a:t>         Delta</a:t>
                </a:r>
                <a:r>
                  <a:rPr lang="zh-CN" altLang="en-US" sz="1800" dirty="0"/>
                  <a:t>分布同样是一种需要特殊处理的情况。假如光线路径为</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oMath>
                </a14:m>
                <a:r>
                  <a:rPr lang="zh-CN" altLang="en-US" sz="1800" dirty="0"/>
                  <a:t>，在</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𝒑</m:t>
                        </m:r>
                      </m:e>
                      <m:sub>
                        <m:r>
                          <a:rPr lang="en-US" altLang="zh-CN" b="1" i="1" dirty="0" smtClean="0">
                            <a:latin typeface="Cambria Math" panose="02040503050406030204" pitchFamily="18" charset="0"/>
                          </a:rPr>
                          <m:t>𝒊</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sub>
                    </m:sSub>
                  </m:oMath>
                </a14:m>
                <a:r>
                  <a:rPr lang="zh-CN" altLang="en-US" sz="1800" dirty="0"/>
                  <a:t>点发生了</a:t>
                </a:r>
                <a:r>
                  <a:rPr lang="en-US" altLang="zh-CN" sz="1800" dirty="0"/>
                  <a:t>Delta</a:t>
                </a:r>
                <a:r>
                  <a:rPr lang="zh-CN" altLang="en-US" sz="1800" dirty="0"/>
                  <a:t>的反射或折射，那么在路径前缀</a:t>
                </a:r>
                <a14:m>
                  <m:oMath xmlns:m="http://schemas.openxmlformats.org/officeDocument/2006/math">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oMath>
                </a14:m>
                <a:r>
                  <a:rPr lang="zh-CN" altLang="en-US" sz="1800" dirty="0"/>
                  <a:t>上继续执行</a:t>
                </a:r>
                <a:r>
                  <a:rPr lang="en-US" altLang="zh-CN" sz="1800" dirty="0"/>
                  <a:t>MIS</a:t>
                </a:r>
                <a:r>
                  <a:rPr lang="zh-CN" altLang="en-US" sz="1800" dirty="0"/>
                  <a:t>（向光源采样</a:t>
                </a:r>
                <a:r>
                  <a:rPr lang="en-US" altLang="zh-CN" dirty="0"/>
                  <a:t> + </a:t>
                </a:r>
                <a:r>
                  <a:rPr lang="zh-CN" altLang="en-US" sz="1800" dirty="0"/>
                  <a:t>向</a:t>
                </a:r>
                <a:r>
                  <a:rPr lang="en-US" altLang="zh-CN" sz="1800" dirty="0"/>
                  <a:t>BSDF</a:t>
                </a:r>
                <a:r>
                  <a:rPr lang="zh-CN" altLang="en-US" sz="1800" dirty="0"/>
                  <a:t>采样）就变得没有意义了。因为向光源采样的所有样本都不可能正好落在反射或折射的方向上。因此对于这种情况，我们就可以跳过向光源采样</a:t>
                </a:r>
                <a14:m>
                  <m:oMath xmlns:m="http://schemas.openxmlformats.org/officeDocument/2006/math">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oMath>
                </a14:m>
                <a:r>
                  <a:rPr lang="zh-CN" altLang="en-US" sz="1800" dirty="0"/>
                  <a:t>以及后续计算。同时在计算向</a:t>
                </a:r>
                <a:r>
                  <a:rPr lang="en-US" altLang="zh-CN" sz="1800" dirty="0"/>
                  <a:t>BSDF</a:t>
                </a:r>
                <a:r>
                  <a:rPr lang="zh-CN" altLang="en-US" sz="1800" dirty="0"/>
                  <a:t>采样的权重时，需要路径样本</a:t>
                </a:r>
                <a14:m>
                  <m:oMath xmlns:m="http://schemas.openxmlformats.org/officeDocument/2006/math">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oMath>
                </a14:m>
                <a:r>
                  <a:rPr lang="zh-CN" altLang="en-US" sz="1800" dirty="0"/>
                  <a:t>对于其他分布的反事实概率密度。因为路径样本</a:t>
                </a:r>
                <a14:m>
                  <m:oMath xmlns:m="http://schemas.openxmlformats.org/officeDocument/2006/math">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oMath>
                </a14:m>
                <a:r>
                  <a:rPr lang="zh-CN" altLang="en-US" sz="1800" dirty="0"/>
                  <a:t>是采样</a:t>
                </a:r>
                <a:r>
                  <a:rPr lang="en-US" altLang="zh-CN" sz="1800" dirty="0"/>
                  <a:t>BSDF Delta</a:t>
                </a:r>
                <a:r>
                  <a:rPr lang="zh-CN" altLang="en-US" sz="1800" dirty="0"/>
                  <a:t>分布得到的，所以所有的向光源采样技术都不可能采样到这个样本，于是对于所有向光源采样的</a:t>
                </a:r>
                <a:r>
                  <a:rPr lang="zh-CN" altLang="en-US" dirty="0"/>
                  <a:t>分布</a:t>
                </a:r>
                <a:r>
                  <a:rPr lang="zh-CN" altLang="en-US" sz="1800" dirty="0"/>
                  <a:t>，反事实概率密度为</a:t>
                </a:r>
                <a:r>
                  <a:rPr lang="en-US" altLang="zh-CN" sz="1800" dirty="0"/>
                  <a:t>0</a:t>
                </a:r>
                <a:r>
                  <a:rPr lang="zh-CN" altLang="en-US" dirty="0"/>
                  <a:t>：</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ℎ</m:t>
                    </m:r>
                    <m:r>
                      <a:rPr lang="en-US" altLang="zh-CN" b="0" i="1" dirty="0" smtClean="0">
                        <a:latin typeface="Cambria Math" panose="02040503050406030204" pitchFamily="18" charset="0"/>
                        <a:ea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ℎ</m:t>
                        </m:r>
                        <m:r>
                          <a:rPr lang="en-US" altLang="zh-CN" i="1" dirty="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r>
                      <a:rPr lang="en-US" altLang="zh-CN" b="0" i="1" dirty="0" smtClean="0">
                        <a:latin typeface="Cambria Math" panose="02040503050406030204" pitchFamily="18" charset="0"/>
                      </a:rPr>
                      <m:t>0</m:t>
                    </m:r>
                  </m:oMath>
                </a14:m>
                <a:r>
                  <a:rPr lang="zh-CN" altLang="en-US" sz="1800" dirty="0"/>
                  <a:t>。</a:t>
                </a:r>
                <a:endParaRPr lang="en-US" altLang="zh-CN" sz="1800" dirty="0"/>
              </a:p>
            </p:txBody>
          </p:sp>
        </mc:Choice>
        <mc:Fallback>
          <p:sp>
            <p:nvSpPr>
              <p:cNvPr id="6" name="文本框 5">
                <a:extLst>
                  <a:ext uri="{FF2B5EF4-FFF2-40B4-BE49-F238E27FC236}">
                    <a16:creationId xmlns:a16="http://schemas.microsoft.com/office/drawing/2014/main" id="{E7CDB966-B33F-345B-8BA8-0C0B18994169}"/>
                  </a:ext>
                </a:extLst>
              </p:cNvPr>
              <p:cNvSpPr txBox="1">
                <a:spLocks noRot="1" noChangeAspect="1" noMove="1" noResize="1" noEditPoints="1" noAdjustHandles="1" noChangeArrowheads="1" noChangeShapeType="1" noTextEdit="1"/>
              </p:cNvSpPr>
              <p:nvPr/>
            </p:nvSpPr>
            <p:spPr>
              <a:xfrm>
                <a:off x="792051" y="4111289"/>
                <a:ext cx="10607898" cy="1784591"/>
              </a:xfrm>
              <a:prstGeom prst="rect">
                <a:avLst/>
              </a:prstGeom>
              <a:blipFill>
                <a:blip r:embed="rId3"/>
                <a:stretch>
                  <a:fillRect l="-517" t="-1706" r="-172" b="-443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435597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FCDD7-0975-E209-FFD3-7DE246276872}"/>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45725347-02A9-3D9E-DCCC-5EB57635DFAB}"/>
              </a:ext>
            </a:extLst>
          </p:cNvPr>
          <p:cNvSpPr>
            <a:spLocks noGrp="1"/>
          </p:cNvSpPr>
          <p:nvPr>
            <p:ph type="title" idx="1"/>
          </p:nvPr>
        </p:nvSpPr>
        <p:spPr/>
        <p:txBody>
          <a:bodyPr/>
          <a:lstStyle/>
          <a:p>
            <a:r>
              <a:rPr lang="zh-CN" altLang="en-US" dirty="0"/>
              <a:t>光谱路径追踪  </a:t>
            </a:r>
            <a:r>
              <a:rPr lang="en-US" altLang="zh-CN" dirty="0"/>
              <a:t>——  </a:t>
            </a:r>
            <a:r>
              <a:rPr lang="zh-CN" altLang="en-US" dirty="0"/>
              <a:t>汇总</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541FA7B8-6433-2209-4B72-070A28FEDE37}"/>
                  </a:ext>
                </a:extLst>
              </p:cNvPr>
              <p:cNvSpPr txBox="1"/>
              <p:nvPr/>
            </p:nvSpPr>
            <p:spPr>
              <a:xfrm>
                <a:off x="541163" y="1169310"/>
                <a:ext cx="11109674" cy="2749535"/>
              </a:xfrm>
              <a:prstGeom prst="rect">
                <a:avLst/>
              </a:prstGeom>
              <a:noFill/>
            </p:spPr>
            <p:txBody>
              <a:bodyPr wrap="square">
                <a:spAutoFit/>
              </a:bodyPr>
              <a:lstStyle/>
              <a:p>
                <a:pPr>
                  <a:spcBef>
                    <a:spcPts val="400"/>
                  </a:spcBef>
                </a:pPr>
                <a14:m>
                  <m:oMathPara xmlns:m="http://schemas.openxmlformats.org/officeDocument/2006/math">
                    <m:oMath>
                      <m:sSub>
                        <m:sSubPr>
                          <m:ctrlPr>
                            <a:rPr lang="en-US" altLang="zh-CN">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a:solidFill>
                            <a:schemeClr val="tx1"/>
                          </a:solidFill>
                          <a:latin typeface="Cambria Math" panose="02040503050406030204" pitchFamily="18" charset="0"/>
                        </a:rPr>
                        <m:t>=</m:t>
                      </m:r>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 </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𝐹</m:t>
                          </m:r>
                        </m:e>
                        <m:sub>
                          <m:r>
                            <a:rPr lang="en-US" altLang="zh-CN" i="1">
                              <a:solidFill>
                                <a:schemeClr val="tx1"/>
                              </a:solidFill>
                              <a:latin typeface="Cambria Math" panose="02040503050406030204" pitchFamily="18" charset="0"/>
                            </a:rPr>
                            <m:t>𝑖</m:t>
                          </m:r>
                        </m:sub>
                      </m:sSub>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𝜔</m:t>
                              </m:r>
                            </m:e>
                            <m:sub>
                              <m:r>
                                <a:rPr lang="en-US" altLang="zh-CN" i="1">
                                  <a:solidFill>
                                    <a:schemeClr val="tx1"/>
                                  </a:solidFill>
                                  <a:latin typeface="Cambria Math" panose="02040503050406030204" pitchFamily="18" charset="0"/>
                                </a:rPr>
                                <m:t>𝑖</m:t>
                              </m:r>
                            </m:sub>
                          </m:sSub>
                          <m:r>
                            <a:rPr lang="en-US" altLang="zh-CN" i="1">
                              <a:solidFill>
                                <a:schemeClr val="tx1"/>
                              </a:solidFill>
                              <a:latin typeface="Cambria Math" panose="02040503050406030204" pitchFamily="18" charset="0"/>
                            </a:rPr>
                            <m:t>;</m:t>
                          </m:r>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b="0" i="1" dirty="0" smtClean="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𝐹</m:t>
                          </m:r>
                        </m:e>
                        <m:sub>
                          <m:r>
                            <a:rPr lang="en-US" altLang="zh-CN" i="1" dirty="0">
                              <a:solidFill>
                                <a:schemeClr val="tx1"/>
                              </a:solidFill>
                              <a:latin typeface="Cambria Math" panose="02040503050406030204" pitchFamily="18" charset="0"/>
                            </a:rPr>
                            <m:t>𝑖</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𝑓</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d>
                        <m:dPr>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𝜆</m:t>
                          </m:r>
                        </m:e>
                      </m:d>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𝑉</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 </m:t>
                      </m:r>
                      <m:d>
                        <m:dPr>
                          <m:begChr m:val="|"/>
                          <m:endChr m:val="|"/>
                          <m:ctrlPr>
                            <a:rPr lang="en-US" altLang="zh-CN" i="1" dirty="0">
                              <a:solidFill>
                                <a:schemeClr val="tx1"/>
                              </a:solidFill>
                              <a:latin typeface="Cambria Math" panose="02040503050406030204" pitchFamily="18" charset="0"/>
                            </a:rPr>
                          </m:ctrlPr>
                        </m:dPr>
                        <m:e>
                          <m:func>
                            <m:funcPr>
                              <m:ctrlPr>
                                <a:rPr lang="en-US" altLang="zh-CN" dirty="0">
                                  <a:solidFill>
                                    <a:schemeClr val="tx1"/>
                                  </a:solidFill>
                                  <a:latin typeface="Cambria Math" panose="02040503050406030204" pitchFamily="18" charset="0"/>
                                </a:rPr>
                              </m:ctrlPr>
                            </m:funcPr>
                            <m:fName>
                              <m:r>
                                <m:rPr>
                                  <m:sty m:val="p"/>
                                </m:rPr>
                                <a:rPr lang="en-US" altLang="zh-CN" dirty="0">
                                  <a:solidFill>
                                    <a:schemeClr val="tx1"/>
                                  </a:solidFill>
                                  <a:latin typeface="Cambria Math" panose="02040503050406030204" pitchFamily="18" charset="0"/>
                                </a:rPr>
                                <m:t>cos</m:t>
                              </m:r>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i="1" dirty="0">
                                      <a:solidFill>
                                        <a:schemeClr val="tx1"/>
                                      </a:solidFill>
                                      <a:latin typeface="Cambria Math" panose="02040503050406030204" pitchFamily="18" charset="0"/>
                                    </a:rPr>
                                    <m:t>𝑖</m:t>
                                  </m:r>
                                </m:sub>
                              </m:sSub>
                            </m:e>
                          </m:func>
                        </m:e>
                      </m:d>
                      <m:r>
                        <a:rPr lang="en-US" altLang="zh-CN" i="1" dirty="0">
                          <a:solidFill>
                            <a:schemeClr val="tx1"/>
                          </a:solidFill>
                          <a:latin typeface="Cambria Math" panose="02040503050406030204" pitchFamily="18" charset="0"/>
                        </a:rPr>
                        <m:t> </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𝐿</m:t>
                          </m:r>
                        </m:e>
                        <m:sub>
                          <m:r>
                            <a:rPr lang="en-US" altLang="zh-CN" i="1" dirty="0">
                              <a:solidFill>
                                <a:schemeClr val="tx1"/>
                              </a:solidFill>
                              <a:latin typeface="Cambria Math" panose="02040503050406030204" pitchFamily="18" charset="0"/>
                            </a:rPr>
                            <m:t>𝑒</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𝑖</m:t>
                              </m:r>
                            </m:sub>
                          </m:sSub>
                          <m:r>
                            <a:rPr lang="en-US" altLang="zh-CN" i="1" dirty="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oMath>
                  </m:oMathPara>
                </a14:m>
                <a:endParaRPr lang="en-US" altLang="zh-CN" b="1" dirty="0">
                  <a:solidFill>
                    <a:schemeClr val="tx1"/>
                  </a:solidFill>
                </a:endParaRPr>
              </a:p>
              <a:p>
                <a:pPr/>
                <a14:m>
                  <m:oMathPara xmlns:m="http://schemas.openxmlformats.org/officeDocument/2006/math">
                    <m:oMath>
                      <m:sSubSup>
                        <m:sSubSupPr>
                          <m:ctrlPr>
                            <a:rPr lang="en-US" altLang="zh-CN">
                              <a:solidFill>
                                <a:schemeClr val="tx1"/>
                              </a:solidFill>
                              <a:latin typeface="Cambria Math" panose="02040503050406030204" pitchFamily="18" charset="0"/>
                            </a:rPr>
                          </m:ctrlPr>
                        </m:sSubSupPr>
                        <m:e>
                          <m:r>
                            <m:rPr>
                              <m:sty m:val="p"/>
                            </m:rPr>
                            <a:rPr lang="en-US" altLang="zh-CN">
                              <a:solidFill>
                                <a:schemeClr val="tx1"/>
                              </a:solidFill>
                              <a:latin typeface="Cambria Math" panose="02040503050406030204" pitchFamily="18" charset="0"/>
                            </a:rPr>
                            <m:t>Φ</m:t>
                          </m:r>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𝑝𝑟𝑒</m:t>
                          </m:r>
                        </m:sup>
                      </m:sSubSup>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𝑝</m:t>
                                  </m:r>
                                </m:e>
                              </m:acc>
                            </m:e>
                            <m:sub>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a:solidFill>
                            <a:schemeClr val="tx1"/>
                          </a:solidFill>
                          <a:latin typeface="Cambria Math" panose="02040503050406030204" pitchFamily="18" charset="0"/>
                        </a:rPr>
                        <m:t>=</m:t>
                      </m:r>
                      <m:nary>
                        <m:naryPr>
                          <m:chr m:val="∏"/>
                          <m:ctrlPr>
                            <a:rPr lang="en-US" altLang="zh-CN" i="1">
                              <a:solidFill>
                                <a:schemeClr val="tx1"/>
                              </a:solidFill>
                              <a:latin typeface="Cambria Math" panose="02040503050406030204" pitchFamily="18" charset="0"/>
                            </a:rPr>
                          </m:ctrlPr>
                        </m:naryPr>
                        <m:sub>
                          <m:r>
                            <m:rPr>
                              <m:brk m:alnAt="23"/>
                            </m:rPr>
                            <a:rPr lang="en-US" altLang="zh-CN" i="1">
                              <a:solidFill>
                                <a:schemeClr val="tx1"/>
                              </a:solidFill>
                              <a:latin typeface="Cambria Math" panose="02040503050406030204" pitchFamily="18" charset="0"/>
                            </a:rPr>
                            <m:t>𝑘</m:t>
                          </m:r>
                          <m:r>
                            <m:rPr>
                              <m:brk m:alnAt="23"/>
                            </m:rPr>
                            <a:rPr lang="en-US" altLang="zh-CN" i="1">
                              <a:solidFill>
                                <a:schemeClr val="tx1"/>
                              </a:solidFill>
                              <a:latin typeface="Cambria Math" panose="02040503050406030204" pitchFamily="18" charset="0"/>
                            </a:rPr>
                            <m:t>=</m:t>
                          </m:r>
                          <m:r>
                            <m:rPr>
                              <m:brk m:alnAt="23"/>
                            </m:rPr>
                            <a:rPr lang="en-US" altLang="zh-CN" i="1">
                              <a:solidFill>
                                <a:schemeClr val="tx1"/>
                              </a:solidFill>
                              <a:latin typeface="Cambria Math" panose="02040503050406030204" pitchFamily="18" charset="0"/>
                            </a:rPr>
                            <m:t>1</m:t>
                          </m:r>
                        </m:sub>
                        <m:sup>
                          <m:r>
                            <a:rPr lang="en-US" altLang="zh-CN" i="1">
                              <a:solidFill>
                                <a:schemeClr val="tx1"/>
                              </a:solidFill>
                              <a:latin typeface="Cambria Math" panose="02040503050406030204" pitchFamily="18" charset="0"/>
                            </a:rPr>
                            <m:t>𝑖</m:t>
                          </m:r>
                          <m:r>
                            <a:rPr lang="en-US" altLang="zh-CN" i="1">
                              <a:solidFill>
                                <a:schemeClr val="tx1"/>
                              </a:solidFill>
                              <a:latin typeface="Cambria Math" panose="02040503050406030204" pitchFamily="18" charset="0"/>
                            </a:rPr>
                            <m:t>−2</m:t>
                          </m:r>
                        </m:sup>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𝑓</m:t>
                              </m:r>
                            </m:e>
                            <m:sub>
                              <m:r>
                                <a:rPr lang="en-US" altLang="zh-CN" i="1">
                                  <a:solidFill>
                                    <a:schemeClr val="tx1"/>
                                  </a:solidFill>
                                  <a:latin typeface="Cambria Math" panose="02040503050406030204" pitchFamily="18" charset="0"/>
                                </a:rPr>
                                <m:t>𝑘</m:t>
                              </m:r>
                            </m:sub>
                          </m:sSub>
                          <m:d>
                            <m:dPr>
                              <m:ctrlPr>
                                <a:rPr lang="en-US" altLang="zh-CN" i="1" dirty="0">
                                  <a:solidFill>
                                    <a:schemeClr val="tx1"/>
                                  </a:solidFill>
                                  <a:latin typeface="Cambria Math" panose="02040503050406030204" pitchFamily="18" charset="0"/>
                                </a:rPr>
                              </m:ctrlPr>
                            </m:dPr>
                            <m:e>
                              <m:r>
                                <a:rPr lang="en-US" altLang="zh-CN" i="1" dirty="0">
                                  <a:solidFill>
                                    <a:schemeClr val="tx1"/>
                                  </a:solidFill>
                                  <a:latin typeface="Cambria Math" panose="02040503050406030204" pitchFamily="18" charset="0"/>
                                </a:rPr>
                                <m:t>𝜆</m:t>
                              </m:r>
                            </m:e>
                          </m:d>
                          <m:d>
                            <m:dPr>
                              <m:begChr m:val="|"/>
                              <m:endChr m:val="|"/>
                              <m:ctrlPr>
                                <a:rPr lang="en-US" altLang="zh-CN" i="1">
                                  <a:solidFill>
                                    <a:schemeClr val="tx1"/>
                                  </a:solidFill>
                                  <a:latin typeface="Cambria Math" panose="02040503050406030204" pitchFamily="18" charset="0"/>
                                </a:rPr>
                              </m:ctrlPr>
                            </m:dPr>
                            <m:e>
                              <m:func>
                                <m:funcPr>
                                  <m:ctrlPr>
                                    <a:rPr lang="en-US" altLang="zh-CN">
                                      <a:solidFill>
                                        <a:schemeClr val="tx1"/>
                                      </a:solidFill>
                                      <a:latin typeface="Cambria Math" panose="02040503050406030204" pitchFamily="18" charset="0"/>
                                    </a:rPr>
                                  </m:ctrlPr>
                                </m:funcPr>
                                <m:fName>
                                  <m:r>
                                    <m:rPr>
                                      <m:sty m:val="p"/>
                                    </m:rPr>
                                    <a:rPr lang="en-US" altLang="zh-CN">
                                      <a:solidFill>
                                        <a:schemeClr val="tx1"/>
                                      </a:solidFill>
                                      <a:latin typeface="Cambria Math" panose="02040503050406030204" pitchFamily="18" charset="0"/>
                                    </a:rPr>
                                    <m:t>cos</m:t>
                                  </m:r>
                                </m:fName>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𝜃</m:t>
                                      </m:r>
                                    </m:e>
                                    <m:sub>
                                      <m:r>
                                        <a:rPr lang="en-US" altLang="zh-CN" i="1">
                                          <a:solidFill>
                                            <a:schemeClr val="tx1"/>
                                          </a:solidFill>
                                          <a:latin typeface="Cambria Math" panose="02040503050406030204" pitchFamily="18" charset="0"/>
                                        </a:rPr>
                                        <m:t>𝑘</m:t>
                                      </m:r>
                                      <m:r>
                                        <a:rPr lang="en-US" altLang="zh-CN" i="1">
                                          <a:solidFill>
                                            <a:schemeClr val="tx1"/>
                                          </a:solidFill>
                                          <a:latin typeface="Cambria Math" panose="02040503050406030204" pitchFamily="18" charset="0"/>
                                        </a:rPr>
                                        <m:t>+1</m:t>
                                      </m:r>
                                    </m:sub>
                                  </m:sSub>
                                </m:e>
                              </m:func>
                            </m:e>
                          </m:d>
                        </m:e>
                      </m:nary>
                      <m:r>
                        <a:rPr lang="en-US" altLang="zh-CN" i="1">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  </m:t>
                      </m:r>
                      <m:sSubSup>
                        <m:sSubSupPr>
                          <m:ctrlPr>
                            <a:rPr lang="en-US" altLang="zh-CN" i="1" dirty="0">
                              <a:solidFill>
                                <a:schemeClr val="tx1"/>
                              </a:solidFill>
                              <a:latin typeface="Cambria Math" panose="02040503050406030204" pitchFamily="18" charset="0"/>
                            </a:rPr>
                          </m:ctrlPr>
                        </m:sSubSupPr>
                        <m:e>
                          <m:r>
                            <a:rPr lang="en-US" altLang="zh-CN" i="1" dirty="0">
                              <a:solidFill>
                                <a:schemeClr val="tx1"/>
                              </a:solidFill>
                              <a:latin typeface="Cambria Math" panose="02040503050406030204" pitchFamily="18" charset="0"/>
                            </a:rPr>
                            <m:t>𝑞</m:t>
                          </m:r>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up>
                          <m:r>
                            <a:rPr lang="en-US" altLang="zh-CN" i="1" dirty="0">
                              <a:solidFill>
                                <a:schemeClr val="tx1"/>
                              </a:solidFill>
                              <a:latin typeface="Cambria Math" panose="02040503050406030204" pitchFamily="18" charset="0"/>
                            </a:rPr>
                            <m:t>𝑝𝑟𝑒</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acc>
                                <m:accPr>
                                  <m:chr m:val="̅"/>
                                  <m:ctrlPr>
                                    <a:rPr lang="en-US" altLang="zh-CN" i="1" dirty="0">
                                      <a:solidFill>
                                        <a:schemeClr val="tx1"/>
                                      </a:solidFill>
                                      <a:latin typeface="Cambria Math" panose="02040503050406030204" pitchFamily="18" charset="0"/>
                                    </a:rPr>
                                  </m:ctrlPr>
                                </m:accPr>
                                <m:e>
                                  <m:r>
                                    <a:rPr lang="en-US" altLang="zh-CN" i="1" dirty="0">
                                      <a:solidFill>
                                        <a:schemeClr val="tx1"/>
                                      </a:solidFill>
                                      <a:latin typeface="Cambria Math" panose="02040503050406030204" pitchFamily="18" charset="0"/>
                                    </a:rPr>
                                    <m:t>𝑝</m:t>
                                  </m:r>
                                </m:e>
                              </m:acc>
                            </m:e>
                            <m:sub>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𝜆</m:t>
                          </m:r>
                        </m:e>
                      </m:d>
                      <m:r>
                        <a:rPr lang="en-US" altLang="zh-CN" i="1" dirty="0">
                          <a:solidFill>
                            <a:schemeClr val="tx1"/>
                          </a:solidFill>
                          <a:latin typeface="Cambria Math" panose="02040503050406030204" pitchFamily="18" charset="0"/>
                        </a:rPr>
                        <m:t>=</m:t>
                      </m:r>
                      <m:nary>
                        <m:naryPr>
                          <m:chr m:val="∏"/>
                          <m:ctrlPr>
                            <a:rPr lang="en-US" altLang="zh-CN" i="1" dirty="0">
                              <a:solidFill>
                                <a:schemeClr val="tx1"/>
                              </a:solidFill>
                              <a:latin typeface="Cambria Math" panose="02040503050406030204" pitchFamily="18" charset="0"/>
                            </a:rPr>
                          </m:ctrlPr>
                        </m:naryPr>
                        <m:sub>
                          <m:r>
                            <m:rPr>
                              <m:brk m:alnAt="23"/>
                            </m:rPr>
                            <a:rPr lang="en-US" altLang="zh-CN" i="1" dirty="0">
                              <a:solidFill>
                                <a:schemeClr val="tx1"/>
                              </a:solidFill>
                              <a:latin typeface="Cambria Math" panose="02040503050406030204" pitchFamily="18" charset="0"/>
                            </a:rPr>
                            <m:t>𝑘</m:t>
                          </m:r>
                          <m:r>
                            <m:rPr>
                              <m:brk m:alnAt="23"/>
                            </m:rPr>
                            <a:rPr lang="en-US" altLang="zh-CN" i="1" dirty="0">
                              <a:solidFill>
                                <a:schemeClr val="tx1"/>
                              </a:solidFill>
                              <a:latin typeface="Cambria Math" panose="02040503050406030204" pitchFamily="18" charset="0"/>
                            </a:rPr>
                            <m:t>=</m:t>
                          </m:r>
                          <m:r>
                            <m:rPr>
                              <m:brk m:alnAt="23"/>
                            </m:rPr>
                            <a:rPr lang="en-US" altLang="zh-CN" i="1" dirty="0">
                              <a:solidFill>
                                <a:schemeClr val="tx1"/>
                              </a:solidFill>
                              <a:latin typeface="Cambria Math" panose="02040503050406030204" pitchFamily="18" charset="0"/>
                            </a:rPr>
                            <m:t>1</m:t>
                          </m:r>
                        </m:sub>
                        <m:sup>
                          <m:r>
                            <a:rPr lang="en-US" altLang="zh-CN" i="1" dirty="0">
                              <a:solidFill>
                                <a:schemeClr val="tx1"/>
                              </a:solidFill>
                              <a:latin typeface="Cambria Math" panose="02040503050406030204" pitchFamily="18" charset="0"/>
                            </a:rPr>
                            <m:t>𝑖</m:t>
                          </m:r>
                          <m:r>
                            <a:rPr lang="en-US" altLang="zh-CN" i="1" dirty="0">
                              <a:solidFill>
                                <a:schemeClr val="tx1"/>
                              </a:solidFill>
                              <a:latin typeface="Cambria Math" panose="02040503050406030204" pitchFamily="18" charset="0"/>
                            </a:rPr>
                            <m:t>−2</m:t>
                          </m:r>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𝑘</m:t>
                                  </m:r>
                                  <m:r>
                                    <a:rPr lang="en-US" altLang="zh-CN" i="1" dirty="0">
                                      <a:solidFill>
                                        <a:schemeClr val="tx1"/>
                                      </a:solidFill>
                                      <a:latin typeface="Cambria Math" panose="02040503050406030204" pitchFamily="18" charset="0"/>
                                    </a:rPr>
                                    <m:t>+1</m:t>
                                  </m:r>
                                </m:sub>
                              </m:sSub>
                              <m:r>
                                <a:rPr lang="en-US" altLang="zh-CN" i="1" dirty="0">
                                  <a:solidFill>
                                    <a:schemeClr val="tx1"/>
                                  </a:solidFill>
                                  <a:latin typeface="Cambria Math" panose="02040503050406030204" pitchFamily="18" charset="0"/>
                                </a:rPr>
                                <m:t>|</m:t>
                              </m:r>
                              <m:r>
                                <a:rPr lang="en-US" altLang="zh-CN" b="1">
                                  <a:latin typeface="Cambria Math" panose="02040503050406030204" pitchFamily="18" charset="0"/>
                                </a:rPr>
                                <m:t>𝛌</m:t>
                              </m:r>
                            </m:e>
                          </m:d>
                        </m:e>
                      </m:nary>
                    </m:oMath>
                  </m:oMathPara>
                </a14:m>
                <a:endParaRPr lang="en-US" altLang="zh-CN" i="1" dirty="0">
                  <a:solidFill>
                    <a:srgbClr val="FF0000"/>
                  </a:solidFill>
                  <a:latin typeface="Cambria Math" panose="02040503050406030204" pitchFamily="18" charset="0"/>
                </a:endParaRPr>
              </a:p>
              <a:p>
                <a:pPr/>
                <a14:m>
                  <m:oMathPara xmlns:m="http://schemas.openxmlformats.org/officeDocument/2006/math">
                    <m:o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latin typeface="Cambria Math" panose="02040503050406030204" pitchFamily="18" charset="0"/>
                            </a:rPr>
                            <m:t>|</m:t>
                          </m:r>
                          <m:r>
                            <a:rPr lang="en-US" altLang="zh-CN" b="1">
                              <a:latin typeface="Cambria Math" panose="02040503050406030204" pitchFamily="18" charset="0"/>
                            </a:rPr>
                            <m:t>𝛌</m:t>
                          </m:r>
                        </m:e>
                      </m:d>
                      <m:r>
                        <a:rPr lang="en-US" altLang="zh-CN" b="1" i="1">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m:t>
                          </m:r>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Sup>
                            <m:sSubSupPr>
                              <m:ctrlPr>
                                <a:rPr lang="en-US" altLang="zh-CN" i="1" dirty="0">
                                  <a:latin typeface="Cambria Math" panose="02040503050406030204" pitchFamily="18" charset="0"/>
                                </a:rPr>
                              </m:ctrlPr>
                            </m:sSubSup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𝑞</m:t>
                          </m:r>
                        </m:e>
                        <m:sub>
                          <m:r>
                            <a:rPr lang="en-US" altLang="zh-CN" i="1" dirty="0">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𝐻</m:t>
                          </m:r>
                        </m:sub>
                        <m:sup>
                          <m:r>
                            <a:rPr lang="en-US" altLang="zh-CN" i="1" dirty="0">
                              <a:latin typeface="Cambria Math" panose="02040503050406030204" pitchFamily="18" charset="0"/>
                            </a:rPr>
                            <m:t>𝑝𝑟𝑒</m:t>
                          </m:r>
                        </m:sup>
                      </m:sSubSup>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i="1" dirty="0">
                          <a:latin typeface="Cambria Math" panose="02040503050406030204" pitchFamily="18" charset="0"/>
                        </a:rPr>
                        <m:t> </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latin typeface="Cambria Math" panose="02040503050406030204" pitchFamily="18" charset="0"/>
                            </a:rPr>
                            <m:t>,</m:t>
                          </m:r>
                          <m:r>
                            <a:rPr lang="en-US" altLang="zh-CN" i="1">
                              <a:latin typeface="Cambria Math" panose="02040503050406030204" pitchFamily="18" charset="0"/>
                            </a:rPr>
                            <m:t>𝐻</m:t>
                          </m:r>
                        </m:sub>
                        <m:sup>
                          <m:r>
                            <a:rPr lang="en-US" altLang="zh-CN" i="1">
                              <a:latin typeface="Cambria Math" panose="02040503050406030204" pitchFamily="18" charset="0"/>
                            </a:rPr>
                            <m:t>𝜔</m:t>
                          </m:r>
                        </m:sup>
                      </m:sSubSup>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𝜔</m:t>
                              </m:r>
                            </m:e>
                            <m:sub>
                              <m:r>
                                <a:rPr lang="en-US" altLang="zh-CN" i="1">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latin typeface="Cambria Math" panose="02040503050406030204" pitchFamily="18" charset="0"/>
                            </a:rPr>
                            <m:t>|</m:t>
                          </m:r>
                          <m:r>
                            <a:rPr lang="en-US" altLang="zh-CN" b="1">
                              <a:latin typeface="Cambria Math" panose="02040503050406030204" pitchFamily="18" charset="0"/>
                            </a:rPr>
                            <m:t>𝛌</m:t>
                          </m:r>
                        </m:e>
                      </m:d>
                    </m:oMath>
                  </m:oMathPara>
                </a14:m>
                <a:endParaRPr lang="en-US" altLang="zh-CN" i="1" dirty="0">
                  <a:latin typeface="Cambria Math" panose="02040503050406030204" pitchFamily="18" charset="0"/>
                </a:endParaRPr>
              </a:p>
              <a:p>
                <a:pPr>
                  <a:spcBef>
                    <a:spcPts val="400"/>
                  </a:spcBef>
                </a:pPr>
                <a14:m>
                  <m:oMathPara xmlns:m="http://schemas.openxmlformats.org/officeDocument/2006/math">
                    <m:oMath>
                      <m:sSubSup>
                        <m:sSubSupPr>
                          <m:ctrlPr>
                            <a:rPr lang="zh-CN" altLang="en-US" b="1" i="1" dirty="0">
                              <a:latin typeface="Cambria Math" panose="02040503050406030204" pitchFamily="18" charset="0"/>
                            </a:rPr>
                          </m:ctrlPr>
                        </m:sSubSupPr>
                        <m:e>
                          <m:acc>
                            <m:accPr>
                              <m:chr m:val="̂"/>
                              <m:ctrlPr>
                                <a:rPr lang="zh-CN" altLang="en-US" b="1" i="1" dirty="0">
                                  <a:latin typeface="Cambria Math" panose="02040503050406030204" pitchFamily="18" charset="0"/>
                                </a:rPr>
                              </m:ctrlPr>
                            </m:accPr>
                            <m:e>
                              <m:r>
                                <a:rPr lang="zh-CN" altLang="en-US" b="1" i="1" dirty="0">
                                  <a:latin typeface="Cambria Math" panose="02040503050406030204" pitchFamily="18" charset="0"/>
                                </a:rPr>
                                <m:t>𝓙</m:t>
                              </m:r>
                            </m:e>
                          </m:acc>
                        </m:e>
                        <m:sub>
                          <m:r>
                            <a:rPr lang="en-US" altLang="zh-CN" i="1" dirty="0">
                              <a:latin typeface="Cambria Math" panose="02040503050406030204" pitchFamily="18" charset="0"/>
                            </a:rPr>
                            <m:t>𝑖</m:t>
                          </m:r>
                        </m:sub>
                        <m:sup>
                          <m:r>
                            <a:rPr lang="en-US" altLang="zh-CN" i="1" dirty="0">
                              <a:latin typeface="Cambria Math" panose="02040503050406030204" pitchFamily="18" charset="0"/>
                            </a:rPr>
                            <m:t>𝑗𝑜𝑖𝑛𝑡</m:t>
                          </m:r>
                        </m:sup>
                      </m:sSubSup>
                      <m:d>
                        <m:dPr>
                          <m:ctrlPr>
                            <a:rPr lang="en-US" altLang="zh-CN" b="1" dirty="0">
                              <a:latin typeface="Cambria Math" panose="02040503050406030204" pitchFamily="18" charset="0"/>
                            </a:rPr>
                          </m:ctrlPr>
                        </m:dPr>
                        <m:e>
                          <m:r>
                            <a:rPr lang="en-US" altLang="zh-CN" b="1" dirty="0">
                              <a:latin typeface="Cambria Math" panose="02040503050406030204" pitchFamily="18" charset="0"/>
                            </a:rPr>
                            <m:t>𝛌</m:t>
                          </m:r>
                        </m:e>
                      </m:d>
                      <m:r>
                        <a:rPr lang="en-US" altLang="zh-CN" b="1" i="1" dirty="0" smtClean="0">
                          <a:latin typeface="Cambria Math" panose="02040503050406030204" pitchFamily="18" charset="0"/>
                        </a:rPr>
                        <m:t>=</m:t>
                      </m:r>
                      <m:f>
                        <m:fPr>
                          <m:ctrlPr>
                            <a:rPr lang="en-US" altLang="zh-CN" i="1" dirty="0">
                              <a:latin typeface="Cambria Math" panose="02040503050406030204" pitchFamily="18" charset="0"/>
                            </a:rPr>
                          </m:ctrlPr>
                        </m:fPr>
                        <m:num>
                          <m:r>
                            <a:rPr lang="en-US" altLang="zh-CN" i="1" dirty="0">
                              <a:latin typeface="Cambria Math" panose="02040503050406030204" pitchFamily="18" charset="0"/>
                            </a:rPr>
                            <m:t>1</m:t>
                          </m:r>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den>
                      </m:f>
                      <m:nary>
                        <m:naryPr>
                          <m:chr m:val="∑"/>
                          <m:ctrlPr>
                            <a:rPr lang="en-US" altLang="zh-CN" i="1" dirty="0">
                              <a:latin typeface="Cambria Math" panose="02040503050406030204" pitchFamily="18" charset="0"/>
                            </a:rPr>
                          </m:ctrlPr>
                        </m:naryPr>
                        <m:sub>
                          <m:r>
                            <m:rPr>
                              <m:brk m:alnAt="23"/>
                            </m:rPr>
                            <a:rPr lang="en-US" altLang="zh-CN" i="1" dirty="0">
                              <a:latin typeface="Cambria Math" panose="02040503050406030204" pitchFamily="18" charset="0"/>
                            </a:rPr>
                            <m:t>𝑗</m:t>
                          </m:r>
                          <m:r>
                            <m:rPr>
                              <m:brk m:alnAt="23"/>
                            </m:rPr>
                            <a:rPr lang="en-US" altLang="zh-CN" i="1" dirty="0">
                              <a:latin typeface="Cambria Math" panose="02040503050406030204" pitchFamily="18" charset="0"/>
                            </a:rPr>
                            <m:t>=</m:t>
                          </m:r>
                          <m:r>
                            <m:rPr>
                              <m:brk m:alnAt="23"/>
                            </m:rPr>
                            <a:rPr lang="en-US" altLang="zh-CN" i="1" dirty="0">
                              <a:latin typeface="Cambria Math" panose="02040503050406030204" pitchFamily="18" charset="0"/>
                            </a:rPr>
                            <m:t>1</m:t>
                          </m:r>
                        </m:sub>
                        <m:sup>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p>
                        <m:e>
                          <m:d>
                            <m:dPr>
                              <m:begChr m:val="["/>
                              <m:endChr m:val="]"/>
                              <m:ctrlPr>
                                <a:rPr lang="en-US" altLang="zh-CN" i="1" dirty="0">
                                  <a:solidFill>
                                    <a:schemeClr val="tx1"/>
                                  </a:solidFill>
                                  <a:latin typeface="Cambria Math" panose="02040503050406030204" pitchFamily="18" charset="0"/>
                                </a:rPr>
                              </m:ctrlPr>
                            </m:dPr>
                            <m:e>
                              <m:f>
                                <m:fPr>
                                  <m:ctrlPr>
                                    <a:rPr lang="en-US" altLang="zh-CN" i="1" dirty="0">
                                      <a:solidFill>
                                        <a:schemeClr val="tx1"/>
                                      </a:solidFill>
                                      <a:latin typeface="Cambria Math" panose="02040503050406030204" pitchFamily="18" charset="0"/>
                                    </a:rPr>
                                  </m:ctrlPr>
                                </m:fPr>
                                <m:num>
                                  <m:r>
                                    <a:rPr lang="en-US" altLang="zh-CN" i="1" dirty="0">
                                      <a:solidFill>
                                        <a:schemeClr val="tx1"/>
                                      </a:solidFill>
                                      <a:latin typeface="Cambria Math" panose="02040503050406030204" pitchFamily="18" charset="0"/>
                                    </a:rPr>
                                    <m:t> </m:t>
                                  </m:r>
                                  <m:acc>
                                    <m:accPr>
                                      <m:chr m:val="̅"/>
                                      <m:ctrlPr>
                                        <a:rPr lang="en-US" altLang="zh-CN" b="1" i="1">
                                          <a:solidFill>
                                            <a:schemeClr val="tx1"/>
                                          </a:solidFill>
                                          <a:latin typeface="Cambria Math" panose="02040503050406030204" pitchFamily="18" charset="0"/>
                                        </a:rPr>
                                      </m:ctrlPr>
                                    </m:accPr>
                                    <m:e>
                                      <m:r>
                                        <a:rPr lang="en-US" altLang="zh-CN" b="1" i="1">
                                          <a:solidFill>
                                            <a:schemeClr val="tx1"/>
                                          </a:solidFill>
                                          <a:latin typeface="Cambria Math" panose="02040503050406030204" pitchFamily="18" charset="0"/>
                                        </a:rPr>
                                        <m:t>𝒄</m:t>
                                      </m:r>
                                    </m:e>
                                  </m:acc>
                                  <m:d>
                                    <m:dPr>
                                      <m:ctrlPr>
                                        <a:rPr lang="en-US" altLang="zh-CN" i="1">
                                          <a:solidFill>
                                            <a:schemeClr val="tx1"/>
                                          </a:solidFill>
                                          <a:latin typeface="Cambria Math" panose="02040503050406030204" pitchFamily="18" charset="0"/>
                                        </a:rPr>
                                      </m:ctrlPr>
                                    </m:dPr>
                                    <m:e>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𝜆</m:t>
                                          </m:r>
                                        </m:e>
                                        <m:sub>
                                          <m:r>
                                            <a:rPr lang="en-US" altLang="zh-CN" i="1">
                                              <a:solidFill>
                                                <a:schemeClr val="tx1"/>
                                              </a:solidFill>
                                              <a:latin typeface="Cambria Math" panose="02040503050406030204" pitchFamily="18" charset="0"/>
                                            </a:rPr>
                                            <m:t>𝑗</m:t>
                                          </m:r>
                                        </m:sub>
                                      </m:sSub>
                                    </m:e>
                                  </m:d>
                                </m:num>
                                <m:den>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𝑝</m:t>
                                      </m:r>
                                    </m:e>
                                    <m:sub>
                                      <m:r>
                                        <a:rPr lang="en-US" altLang="zh-CN" i="1" dirty="0">
                                          <a:solidFill>
                                            <a:schemeClr val="tx1"/>
                                          </a:solidFill>
                                          <a:latin typeface="Cambria Math" panose="02040503050406030204" pitchFamily="18" charset="0"/>
                                        </a:rPr>
                                        <m:t>𝜆</m:t>
                                      </m:r>
                                    </m:sub>
                                  </m:sSub>
                                  <m:d>
                                    <m:dPr>
                                      <m:ctrlPr>
                                        <a:rPr lang="en-US" altLang="zh-CN" i="1" dirty="0">
                                          <a:solidFill>
                                            <a:schemeClr val="tx1"/>
                                          </a:solidFill>
                                          <a:latin typeface="Cambria Math" panose="02040503050406030204" pitchFamily="18" charset="0"/>
                                        </a:rPr>
                                      </m:ctrlPr>
                                    </m:dPr>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𝜆</m:t>
                                          </m:r>
                                        </m:e>
                                        <m:sub>
                                          <m:r>
                                            <a:rPr lang="en-US" altLang="zh-CN" i="1" dirty="0">
                                              <a:solidFill>
                                                <a:schemeClr val="tx1"/>
                                              </a:solidFill>
                                              <a:latin typeface="Cambria Math" panose="02040503050406030204" pitchFamily="18" charset="0"/>
                                            </a:rPr>
                                            <m:t>𝑗</m:t>
                                          </m:r>
                                        </m:sub>
                                      </m:sSub>
                                    </m:e>
                                  </m:d>
                                </m:den>
                              </m:f>
                              <m:f>
                                <m:fPr>
                                  <m:ctrlPr>
                                    <a:rPr lang="en-US" altLang="zh-CN" b="0" i="1" dirty="0" smtClean="0">
                                      <a:solidFill>
                                        <a:schemeClr val="accent6">
                                          <a:lumMod val="50000"/>
                                        </a:schemeClr>
                                      </a:solidFill>
                                      <a:latin typeface="Cambria Math" panose="02040503050406030204" pitchFamily="18" charset="0"/>
                                    </a:rPr>
                                  </m:ctrlPr>
                                </m:fPr>
                                <m:num>
                                  <m:sSubSup>
                                    <m:sSubSupPr>
                                      <m:ctrlPr>
                                        <a:rPr lang="en-US" altLang="zh-CN" b="0" i="0" dirty="0" smtClean="0">
                                          <a:solidFill>
                                            <a:schemeClr val="accent6">
                                              <a:lumMod val="50000"/>
                                            </a:schemeClr>
                                          </a:solidFill>
                                          <a:latin typeface="Cambria Math" panose="02040503050406030204" pitchFamily="18" charset="0"/>
                                        </a:rPr>
                                      </m:ctrlPr>
                                    </m:sSubSupPr>
                                    <m:e>
                                      <m:r>
                                        <m:rPr>
                                          <m:sty m:val="p"/>
                                        </m:rPr>
                                        <a:rPr lang="en-US" altLang="zh-CN" b="0" i="0" dirty="0" smtClean="0">
                                          <a:solidFill>
                                            <a:schemeClr val="accent6">
                                              <a:lumMod val="50000"/>
                                            </a:schemeClr>
                                          </a:solidFill>
                                          <a:latin typeface="Cambria Math" panose="02040503050406030204" pitchFamily="18" charset="0"/>
                                        </a:rPr>
                                        <m:t>Φ</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b="0" i="1" dirty="0" smtClean="0">
                                          <a:solidFill>
                                            <a:schemeClr val="accent6">
                                              <a:lumMod val="50000"/>
                                            </a:schemeClr>
                                          </a:solidFill>
                                          <a:latin typeface="Cambria Math" panose="02040503050406030204" pitchFamily="18" charset="0"/>
                                        </a:rPr>
                                      </m:ctrlPr>
                                    </m:dPr>
                                    <m:e>
                                      <m:sSub>
                                        <m:sSubPr>
                                          <m:ctrlPr>
                                            <a:rPr lang="en-US" altLang="zh-CN" b="0" i="1" dirty="0" smtClean="0">
                                              <a:solidFill>
                                                <a:schemeClr val="accent6">
                                                  <a:lumMod val="50000"/>
                                                </a:schemeClr>
                                              </a:solidFill>
                                              <a:latin typeface="Cambria Math" panose="02040503050406030204" pitchFamily="18" charset="0"/>
                                            </a:rPr>
                                          </m:ctrlPr>
                                        </m:sSubPr>
                                        <m:e>
                                          <m:acc>
                                            <m:accPr>
                                              <m:chr m:val="̅"/>
                                              <m:ctrlPr>
                                                <a:rPr lang="en-US" altLang="zh-CN" b="0" i="1" dirty="0" smtClean="0">
                                                  <a:solidFill>
                                                    <a:schemeClr val="accent6">
                                                      <a:lumMod val="50000"/>
                                                    </a:schemeClr>
                                                  </a:solidFill>
                                                  <a:latin typeface="Cambria Math" panose="02040503050406030204" pitchFamily="18" charset="0"/>
                                                </a:rPr>
                                              </m:ctrlPr>
                                            </m:accPr>
                                            <m:e>
                                              <m:r>
                                                <a:rPr lang="en-US" altLang="zh-CN" b="0" i="1" dirty="0" smtClean="0">
                                                  <a:solidFill>
                                                    <a:schemeClr val="accent6">
                                                      <a:lumMod val="50000"/>
                                                    </a:schemeClr>
                                                  </a:solidFill>
                                                  <a:latin typeface="Cambria Math" panose="02040503050406030204" pitchFamily="18" charset="0"/>
                                                </a:rPr>
                                                <m:t>𝑝</m:t>
                                              </m:r>
                                            </m:e>
                                          </m:acc>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sSub>
                                        <m:sSubPr>
                                          <m:ctrlPr>
                                            <a:rPr lang="en-US" altLang="zh-CN" b="0" i="1" dirty="0" smtClean="0">
                                              <a:solidFill>
                                                <a:schemeClr val="accent6">
                                                  <a:lumMod val="50000"/>
                                                </a:schemeClr>
                                              </a:solidFill>
                                              <a:latin typeface="Cambria Math" panose="02040503050406030204" pitchFamily="18" charset="0"/>
                                            </a:rPr>
                                          </m:ctrlPr>
                                        </m:sSubPr>
                                        <m:e>
                                          <m:r>
                                            <a:rPr lang="en-US" altLang="zh-CN" b="0" i="1" dirty="0" smtClean="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𝑐</m:t>
                                      </m:r>
                                    </m:e>
                                    <m:sub>
                                      <m:r>
                                        <a:rPr lang="en-US" altLang="zh-CN" i="1" dirty="0">
                                          <a:solidFill>
                                            <a:schemeClr val="accent6">
                                              <a:lumMod val="50000"/>
                                            </a:schemeClr>
                                          </a:solidFill>
                                          <a:latin typeface="Cambria Math" panose="02040503050406030204" pitchFamily="18" charset="0"/>
                                        </a:rPr>
                                        <m:t>𝐻</m:t>
                                      </m:r>
                                    </m:sub>
                                  </m:sSub>
                                  <m:sSubSup>
                                    <m:sSubSupPr>
                                      <m:ctrlPr>
                                        <a:rPr lang="en-US" altLang="zh-CN" b="0" i="1" dirty="0" smtClean="0">
                                          <a:solidFill>
                                            <a:schemeClr val="accent6">
                                              <a:lumMod val="50000"/>
                                            </a:schemeClr>
                                          </a:solidFill>
                                          <a:latin typeface="Cambria Math" panose="02040503050406030204" pitchFamily="18" charset="0"/>
                                        </a:rPr>
                                      </m:ctrlPr>
                                    </m:sSubSupPr>
                                    <m:e>
                                      <m:r>
                                        <a:rPr lang="en-US" altLang="zh-CN" b="0" i="1" dirty="0" smtClean="0">
                                          <a:solidFill>
                                            <a:schemeClr val="accent6">
                                              <a:lumMod val="50000"/>
                                            </a:schemeClr>
                                          </a:solidFill>
                                          <a:latin typeface="Cambria Math" panose="02040503050406030204" pitchFamily="18" charset="0"/>
                                        </a:rPr>
                                        <m:t>𝑞</m:t>
                                      </m:r>
                                    </m:e>
                                    <m:sub>
                                      <m:r>
                                        <a:rPr lang="en-US" altLang="zh-CN" b="0" i="1" dirty="0" smtClean="0">
                                          <a:solidFill>
                                            <a:schemeClr val="accent6">
                                              <a:lumMod val="50000"/>
                                            </a:schemeClr>
                                          </a:solidFill>
                                          <a:latin typeface="Cambria Math" panose="02040503050406030204" pitchFamily="18" charset="0"/>
                                        </a:rPr>
                                        <m:t>𝑖</m:t>
                                      </m:r>
                                      <m:r>
                                        <a:rPr lang="en-US" altLang="zh-CN" b="0" i="1" dirty="0" smtClean="0">
                                          <a:solidFill>
                                            <a:schemeClr val="accent6">
                                              <a:lumMod val="50000"/>
                                            </a:schemeClr>
                                          </a:solidFill>
                                          <a:latin typeface="Cambria Math" panose="02040503050406030204" pitchFamily="18" charset="0"/>
                                        </a:rPr>
                                        <m:t>−1,</m:t>
                                      </m:r>
                                      <m:r>
                                        <a:rPr lang="en-US" altLang="zh-CN" b="0" i="1" dirty="0" smtClean="0">
                                          <a:solidFill>
                                            <a:schemeClr val="accent6">
                                              <a:lumMod val="50000"/>
                                            </a:schemeClr>
                                          </a:solidFill>
                                          <a:latin typeface="Cambria Math" panose="02040503050406030204" pitchFamily="18" charset="0"/>
                                        </a:rPr>
                                        <m:t>𝐻</m:t>
                                      </m:r>
                                    </m:sub>
                                    <m:sup>
                                      <m:r>
                                        <a:rPr lang="en-US" altLang="zh-CN" b="0" i="1" dirty="0" smtClean="0">
                                          <a:solidFill>
                                            <a:schemeClr val="accent6">
                                              <a:lumMod val="50000"/>
                                            </a:schemeClr>
                                          </a:solidFill>
                                          <a:latin typeface="Cambria Math" panose="02040503050406030204" pitchFamily="18" charset="0"/>
                                        </a:rPr>
                                        <m:t>𝑝𝑟𝑒</m:t>
                                      </m:r>
                                    </m:sup>
                                  </m:sSubSup>
                                  <m:d>
                                    <m:dPr>
                                      <m:ctrlPr>
                                        <a:rPr lang="en-US" altLang="zh-CN" i="1" dirty="0">
                                          <a:solidFill>
                                            <a:schemeClr val="accent6">
                                              <a:lumMod val="50000"/>
                                            </a:schemeClr>
                                          </a:solidFill>
                                          <a:latin typeface="Cambria Math" panose="02040503050406030204" pitchFamily="18" charset="0"/>
                                        </a:rPr>
                                      </m:ctrlPr>
                                    </m:dPr>
                                    <m:e>
                                      <m:sSub>
                                        <m:sSubPr>
                                          <m:ctrlPr>
                                            <a:rPr lang="en-US" altLang="zh-CN" i="1" dirty="0">
                                              <a:solidFill>
                                                <a:schemeClr val="accent6">
                                                  <a:lumMod val="50000"/>
                                                </a:schemeClr>
                                              </a:solidFill>
                                              <a:latin typeface="Cambria Math" panose="02040503050406030204" pitchFamily="18" charset="0"/>
                                            </a:rPr>
                                          </m:ctrlPr>
                                        </m:sSub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r>
                                            <a:rPr lang="en-US" altLang="zh-CN" i="1" dirty="0">
                                              <a:solidFill>
                                                <a:schemeClr val="accent6">
                                                  <a:lumMod val="50000"/>
                                                </a:schemeClr>
                                              </a:solidFill>
                                              <a:latin typeface="Cambria Math" panose="02040503050406030204" pitchFamily="18" charset="0"/>
                                            </a:rPr>
                                            <m:t>−1</m:t>
                                          </m:r>
                                        </m:sub>
                                      </m:sSub>
                                      <m:r>
                                        <a:rPr lang="en-US" altLang="zh-CN" b="0" i="1" dirty="0" smtClean="0">
                                          <a:solidFill>
                                            <a:schemeClr val="accent6">
                                              <a:lumMod val="50000"/>
                                            </a:schemeClr>
                                          </a:solidFill>
                                          <a:latin typeface="Cambria Math" panose="02040503050406030204" pitchFamily="18" charset="0"/>
                                        </a:rPr>
                                        <m:t>|</m:t>
                                      </m:r>
                                      <m:r>
                                        <a:rPr lang="en-US" altLang="zh-CN" b="1" i="0" dirty="0" smtClean="0">
                                          <a:solidFill>
                                            <a:schemeClr val="accent6">
                                              <a:lumMod val="50000"/>
                                            </a:schemeClr>
                                          </a:solidFill>
                                          <a:latin typeface="Cambria Math" panose="02040503050406030204" pitchFamily="18" charset="0"/>
                                        </a:rPr>
                                        <m:t>𝛌</m:t>
                                      </m:r>
                                    </m:e>
                                  </m:d>
                                </m:den>
                              </m:f>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rgbClr val="F76409"/>
                                          </a:solidFill>
                                          <a:latin typeface="Cambria Math" panose="02040503050406030204" pitchFamily="18" charset="0"/>
                                        </a:rPr>
                                        <m:t>𝐿</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b="0" i="1" dirty="0" smtClean="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rgbClr val="F76409"/>
                                              </a:solidFill>
                                              <a:latin typeface="Cambria Math" panose="02040503050406030204" pitchFamily="18" charset="0"/>
                                            </a:rPr>
                                            <m:t>𝐿</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rgbClr val="F76409"/>
                                                  </a:solidFill>
                                                  <a:latin typeface="Cambria Math" panose="02040503050406030204" pitchFamily="18" charset="0"/>
                                                </a:rPr>
                                                <m:t>𝐿</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r>
                                    <a:rPr lang="en-US" altLang="zh-CN" b="1" i="1" dirty="0">
                                      <a:solidFill>
                                        <a:schemeClr val="accent6">
                                          <a:lumMod val="50000"/>
                                        </a:schemeClr>
                                      </a:solidFill>
                                      <a:latin typeface="Cambria Math" panose="02040503050406030204" pitchFamily="18" charset="0"/>
                                    </a:rPr>
                                    <m:t>+ </m:t>
                                  </m:r>
                                  <m:sSubSup>
                                    <m:sSubSupPr>
                                      <m:ctrlPr>
                                        <a:rPr lang="en-US" altLang="zh-CN" i="1" dirty="0">
                                          <a:solidFill>
                                            <a:schemeClr val="accent6">
                                              <a:lumMod val="50000"/>
                                            </a:schemeClr>
                                          </a:solidFill>
                                          <a:latin typeface="Cambria Math" panose="02040503050406030204" pitchFamily="18" charset="0"/>
                                        </a:rPr>
                                      </m:ctrlPr>
                                    </m:sSubSupPr>
                                    <m:e>
                                      <m:r>
                                        <a:rPr lang="en-US" altLang="zh-CN" i="1" dirty="0">
                                          <a:solidFill>
                                            <a:schemeClr val="accent6">
                                              <a:lumMod val="50000"/>
                                            </a:schemeClr>
                                          </a:solidFill>
                                          <a:latin typeface="Cambria Math" panose="02040503050406030204" pitchFamily="18" charset="0"/>
                                        </a:rPr>
                                        <m:t>𝑤</m:t>
                                      </m:r>
                                    </m:e>
                                    <m:sub>
                                      <m:r>
                                        <a:rPr lang="en-US" altLang="zh-CN" i="1" dirty="0">
                                          <a:solidFill>
                                            <a:schemeClr val="accent6">
                                              <a:lumMod val="50000"/>
                                            </a:schemeClr>
                                          </a:solidFill>
                                          <a:latin typeface="Cambria Math" panose="02040503050406030204" pitchFamily="18" charset="0"/>
                                        </a:rPr>
                                        <m:t>𝐻</m:t>
                                      </m:r>
                                      <m:r>
                                        <a:rPr lang="en-US" altLang="zh-CN" i="1" dirty="0">
                                          <a:solidFill>
                                            <a:schemeClr val="accent6">
                                              <a:lumMod val="50000"/>
                                            </a:schemeClr>
                                          </a:solidFill>
                                          <a:latin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up>
                                      <m:r>
                                        <a:rPr lang="en-US" altLang="zh-CN" i="1" dirty="0">
                                          <a:solidFill>
                                            <a:schemeClr val="accent6">
                                              <a:lumMod val="50000"/>
                                            </a:schemeClr>
                                          </a:solidFill>
                                          <a:latin typeface="Cambria Math" panose="02040503050406030204" pitchFamily="18" charset="0"/>
                                        </a:rPr>
                                        <m:t>𝑗𝑜𝑖𝑛𝑡</m:t>
                                      </m:r>
                                    </m:sup>
                                  </m:sSubSup>
                                  <m:d>
                                    <m:dPr>
                                      <m:ctrlPr>
                                        <a:rPr lang="en-US" altLang="zh-CN" i="1" dirty="0">
                                          <a:solidFill>
                                            <a:schemeClr val="accent6">
                                              <a:lumMod val="50000"/>
                                            </a:schemeClr>
                                          </a:solidFill>
                                          <a:latin typeface="Cambria Math" panose="02040503050406030204" pitchFamily="18" charset="0"/>
                                        </a:rPr>
                                      </m:ctrlPr>
                                    </m:dPr>
                                    <m:e>
                                      <m:sSubSup>
                                        <m:sSubSupPr>
                                          <m:ctrlPr>
                                            <a:rPr lang="en-US" altLang="zh-CN" i="1" dirty="0">
                                              <a:solidFill>
                                                <a:schemeClr val="accent6">
                                                  <a:lumMod val="50000"/>
                                                </a:schemeClr>
                                              </a:solidFill>
                                              <a:latin typeface="Cambria Math" panose="02040503050406030204" pitchFamily="18" charset="0"/>
                                            </a:rPr>
                                          </m:ctrlPr>
                                        </m:sSubSupPr>
                                        <m:e>
                                          <m:acc>
                                            <m:accPr>
                                              <m:chr m:val="̅"/>
                                              <m:ctrlPr>
                                                <a:rPr lang="en-US" altLang="zh-CN" i="1" dirty="0">
                                                  <a:solidFill>
                                                    <a:schemeClr val="accent6">
                                                      <a:lumMod val="50000"/>
                                                    </a:schemeClr>
                                                  </a:solidFill>
                                                  <a:latin typeface="Cambria Math" panose="02040503050406030204" pitchFamily="18" charset="0"/>
                                                </a:rPr>
                                              </m:ctrlPr>
                                            </m:accPr>
                                            <m:e>
                                              <m:r>
                                                <a:rPr lang="en-US" altLang="zh-CN" i="1" dirty="0">
                                                  <a:solidFill>
                                                    <a:schemeClr val="accent6">
                                                      <a:lumMod val="50000"/>
                                                    </a:schemeClr>
                                                  </a:solidFill>
                                                  <a:latin typeface="Cambria Math" panose="02040503050406030204" pitchFamily="18" charset="0"/>
                                                </a:rPr>
                                                <m:t>𝑝</m:t>
                                              </m:r>
                                            </m:e>
                                          </m:acc>
                                        </m:e>
                                        <m:sub>
                                          <m:r>
                                            <a:rPr lang="en-US" altLang="zh-CN" i="1" dirty="0">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e>
                                  </m:d>
                                  <m:f>
                                    <m:fPr>
                                      <m:ctrlPr>
                                        <a:rPr lang="en-US" altLang="zh-CN" i="1">
                                          <a:solidFill>
                                            <a:schemeClr val="accent6">
                                              <a:lumMod val="50000"/>
                                            </a:schemeClr>
                                          </a:solidFill>
                                          <a:latin typeface="Cambria Math" panose="02040503050406030204" pitchFamily="18" charset="0"/>
                                        </a:rPr>
                                      </m:ctrlPr>
                                    </m:fPr>
                                    <m:num>
                                      <m:sSub>
                                        <m:sSubPr>
                                          <m:ctrlPr>
                                            <a:rPr lang="en-US" altLang="zh-CN" i="1">
                                              <a:solidFill>
                                                <a:schemeClr val="accent6">
                                                  <a:lumMod val="50000"/>
                                                </a:schemeClr>
                                              </a:solidFill>
                                              <a:latin typeface="Cambria Math" panose="02040503050406030204" pitchFamily="18" charset="0"/>
                                            </a:rPr>
                                          </m:ctrlPr>
                                        </m:sSubPr>
                                        <m:e>
                                          <m:r>
                                            <a:rPr lang="en-US" altLang="zh-CN" i="1">
                                              <a:solidFill>
                                                <a:schemeClr val="accent6">
                                                  <a:lumMod val="50000"/>
                                                </a:schemeClr>
                                              </a:solidFill>
                                              <a:latin typeface="Cambria Math" panose="02040503050406030204" pitchFamily="18" charset="0"/>
                                            </a:rPr>
                                            <m:t>𝐹</m:t>
                                          </m:r>
                                        </m:e>
                                        <m:sub>
                                          <m:r>
                                            <a:rPr lang="en-US" altLang="zh-CN" i="1">
                                              <a:solidFill>
                                                <a:schemeClr val="accent6">
                                                  <a:lumMod val="50000"/>
                                                </a:schemeClr>
                                              </a:solidFill>
                                              <a:latin typeface="Cambria Math" panose="02040503050406030204" pitchFamily="18" charset="0"/>
                                            </a:rPr>
                                            <m:t>𝑖</m:t>
                                          </m:r>
                                        </m:sub>
                                      </m:sSub>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sSub>
                                            <m:sSubPr>
                                              <m:ctrlPr>
                                                <a:rPr lang="en-US" altLang="zh-CN" i="1">
                                                  <a:solidFill>
                                                    <a:schemeClr val="accent6">
                                                      <a:lumMod val="50000"/>
                                                    </a:schemeClr>
                                                  </a:solidFill>
                                                  <a:latin typeface="Cambria Math" panose="02040503050406030204" pitchFamily="18" charset="0"/>
                                                </a:rPr>
                                              </m:ctrlPr>
                                            </m:sSubPr>
                                            <m:e>
                                              <m:acc>
                                                <m:accPr>
                                                  <m:chr m:val="̅"/>
                                                  <m:ctrlPr>
                                                    <a:rPr lang="en-US" altLang="zh-CN" i="1">
                                                      <a:solidFill>
                                                        <a:schemeClr val="accent6">
                                                          <a:lumMod val="50000"/>
                                                        </a:schemeClr>
                                                      </a:solidFill>
                                                      <a:latin typeface="Cambria Math" panose="02040503050406030204" pitchFamily="18" charset="0"/>
                                                    </a:rPr>
                                                  </m:ctrlPr>
                                                </m:accPr>
                                                <m:e>
                                                  <m:r>
                                                    <a:rPr lang="en-US" altLang="zh-CN" i="1">
                                                      <a:solidFill>
                                                        <a:schemeClr val="accent6">
                                                          <a:lumMod val="50000"/>
                                                        </a:schemeClr>
                                                      </a:solidFill>
                                                      <a:latin typeface="Cambria Math" panose="02040503050406030204" pitchFamily="18" charset="0"/>
                                                    </a:rPr>
                                                    <m:t>𝑝</m:t>
                                                  </m:r>
                                                </m:e>
                                              </m:acc>
                                            </m:e>
                                            <m:sub>
                                              <m:r>
                                                <a:rPr lang="en-US" altLang="zh-CN" i="1">
                                                  <a:solidFill>
                                                    <a:schemeClr val="accent6">
                                                      <a:lumMod val="50000"/>
                                                    </a:schemeClr>
                                                  </a:solidFill>
                                                  <a:latin typeface="Cambria Math" panose="02040503050406030204" pitchFamily="18" charset="0"/>
                                                </a:rPr>
                                                <m:t>𝑖</m:t>
                                              </m:r>
                                              <m:r>
                                                <a:rPr lang="en-US" altLang="zh-CN" i="1">
                                                  <a:solidFill>
                                                    <a:schemeClr val="accent6">
                                                      <a:lumMod val="50000"/>
                                                    </a:schemeClr>
                                                  </a:solidFill>
                                                  <a:latin typeface="Cambria Math" panose="02040503050406030204" pitchFamily="18" charset="0"/>
                                                </a:rPr>
                                                <m:t>−1</m:t>
                                              </m:r>
                                            </m:sub>
                                          </m:sSub>
                                          <m:r>
                                            <a:rPr lang="en-US" altLang="zh-CN" i="1">
                                              <a:solidFill>
                                                <a:schemeClr val="accent6">
                                                  <a:lumMod val="50000"/>
                                                </a:schemeClr>
                                              </a:solidFill>
                                              <a:latin typeface="Cambria Math" panose="02040503050406030204" pitchFamily="18" charset="0"/>
                                            </a:rPr>
                                            <m:t>,</m:t>
                                          </m:r>
                                          <m:sSub>
                                            <m:sSubPr>
                                              <m:ctrlPr>
                                                <a:rPr lang="en-US" altLang="zh-CN" i="1" dirty="0">
                                                  <a:solidFill>
                                                    <a:schemeClr val="accent6">
                                                      <a:lumMod val="50000"/>
                                                    </a:schemeClr>
                                                  </a:solidFill>
                                                  <a:latin typeface="Cambria Math" panose="02040503050406030204" pitchFamily="18" charset="0"/>
                                                </a:rPr>
                                              </m:ctrlPr>
                                            </m:sSubPr>
                                            <m:e>
                                              <m:r>
                                                <a:rPr lang="en-US" altLang="zh-CN" i="1" dirty="0">
                                                  <a:solidFill>
                                                    <a:schemeClr val="accent6">
                                                      <a:lumMod val="50000"/>
                                                    </a:schemeClr>
                                                  </a:solidFill>
                                                  <a:latin typeface="Cambria Math" panose="02040503050406030204" pitchFamily="18" charset="0"/>
                                                </a:rPr>
                                                <m:t>𝜆</m:t>
                                              </m:r>
                                            </m:e>
                                            <m:sub>
                                              <m:r>
                                                <a:rPr lang="en-US" altLang="zh-CN" i="1" dirty="0">
                                                  <a:solidFill>
                                                    <a:schemeClr val="accent6">
                                                      <a:lumMod val="50000"/>
                                                    </a:schemeClr>
                                                  </a:solidFill>
                                                  <a:latin typeface="Cambria Math" panose="02040503050406030204" pitchFamily="18" charset="0"/>
                                                </a:rPr>
                                                <m:t>𝑗</m:t>
                                              </m:r>
                                            </m:sub>
                                          </m:sSub>
                                        </m:e>
                                      </m:d>
                                    </m:num>
                                    <m:den>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𝑝</m:t>
                                          </m:r>
                                        </m:e>
                                        <m:sub>
                                          <m:r>
                                            <a:rPr lang="en-US" altLang="zh-CN" i="1" dirty="0">
                                              <a:solidFill>
                                                <a:schemeClr val="accent2">
                                                  <a:lumMod val="75000"/>
                                                </a:schemeClr>
                                              </a:solidFill>
                                              <a:latin typeface="Cambria Math" panose="02040503050406030204" pitchFamily="18" charset="0"/>
                                            </a:rPr>
                                            <m:t>𝐵</m:t>
                                          </m:r>
                                          <m:r>
                                            <a:rPr lang="en-US" altLang="zh-CN" i="1">
                                              <a:solidFill>
                                                <a:schemeClr val="accent6">
                                                  <a:lumMod val="50000"/>
                                                </a:schemeClr>
                                              </a:solidFill>
                                              <a:latin typeface="Cambria Math" panose="02040503050406030204" pitchFamily="18" charset="0"/>
                                            </a:rPr>
                                            <m:t>,</m:t>
                                          </m:r>
                                          <m:r>
                                            <a:rPr lang="en-US" altLang="zh-CN" i="1">
                                              <a:solidFill>
                                                <a:schemeClr val="accent6">
                                                  <a:lumMod val="50000"/>
                                                </a:schemeClr>
                                              </a:solidFill>
                                              <a:latin typeface="Cambria Math" panose="02040503050406030204" pitchFamily="18" charset="0"/>
                                            </a:rPr>
                                            <m:t>𝐻</m:t>
                                          </m:r>
                                        </m:sub>
                                        <m:sup>
                                          <m:r>
                                            <a:rPr lang="en-US" altLang="zh-CN" i="1">
                                              <a:solidFill>
                                                <a:schemeClr val="accent6">
                                                  <a:lumMod val="50000"/>
                                                </a:schemeClr>
                                              </a:solidFill>
                                              <a:latin typeface="Cambria Math" panose="02040503050406030204" pitchFamily="18" charset="0"/>
                                            </a:rPr>
                                            <m:t>𝜔</m:t>
                                          </m:r>
                                        </m:sup>
                                      </m:sSubSup>
                                      <m:d>
                                        <m:dPr>
                                          <m:ctrlPr>
                                            <a:rPr lang="en-US" altLang="zh-CN" i="1">
                                              <a:solidFill>
                                                <a:schemeClr val="accent6">
                                                  <a:lumMod val="50000"/>
                                                </a:schemeClr>
                                              </a:solidFill>
                                              <a:latin typeface="Cambria Math" panose="02040503050406030204" pitchFamily="18" charset="0"/>
                                            </a:rPr>
                                          </m:ctrlPr>
                                        </m:dPr>
                                        <m:e>
                                          <m:sSubSup>
                                            <m:sSubSupPr>
                                              <m:ctrlPr>
                                                <a:rPr lang="en-US" altLang="zh-CN" i="1">
                                                  <a:solidFill>
                                                    <a:schemeClr val="accent6">
                                                      <a:lumMod val="50000"/>
                                                    </a:schemeClr>
                                                  </a:solidFill>
                                                  <a:latin typeface="Cambria Math" panose="02040503050406030204" pitchFamily="18" charset="0"/>
                                                </a:rPr>
                                              </m:ctrlPr>
                                            </m:sSubSupPr>
                                            <m:e>
                                              <m:r>
                                                <a:rPr lang="en-US" altLang="zh-CN" i="1">
                                                  <a:solidFill>
                                                    <a:schemeClr val="accent6">
                                                      <a:lumMod val="50000"/>
                                                    </a:schemeClr>
                                                  </a:solidFill>
                                                  <a:latin typeface="Cambria Math" panose="02040503050406030204" pitchFamily="18" charset="0"/>
                                                </a:rPr>
                                                <m:t>𝜔</m:t>
                                              </m:r>
                                            </m:e>
                                            <m:sub>
                                              <m:r>
                                                <a:rPr lang="en-US" altLang="zh-CN" i="1">
                                                  <a:solidFill>
                                                    <a:schemeClr val="accent6">
                                                      <a:lumMod val="50000"/>
                                                    </a:schemeClr>
                                                  </a:solidFill>
                                                  <a:latin typeface="Cambria Math" panose="02040503050406030204" pitchFamily="18" charset="0"/>
                                                </a:rPr>
                                                <m:t>𝑖</m:t>
                                              </m:r>
                                            </m:sub>
                                            <m:sup>
                                              <m:r>
                                                <a:rPr lang="en-US" altLang="zh-CN" i="1" dirty="0">
                                                  <a:solidFill>
                                                    <a:schemeClr val="accent2">
                                                      <a:lumMod val="75000"/>
                                                    </a:schemeClr>
                                                  </a:solidFill>
                                                  <a:latin typeface="Cambria Math" panose="02040503050406030204" pitchFamily="18" charset="0"/>
                                                </a:rPr>
                                                <m:t>𝐵</m:t>
                                              </m:r>
                                            </m:sup>
                                          </m:sSubSup>
                                          <m:r>
                                            <a:rPr lang="en-US" altLang="zh-CN" i="1">
                                              <a:solidFill>
                                                <a:schemeClr val="accent6">
                                                  <a:lumMod val="50000"/>
                                                </a:schemeClr>
                                              </a:solidFill>
                                              <a:latin typeface="Cambria Math" panose="02040503050406030204" pitchFamily="18" charset="0"/>
                                            </a:rPr>
                                            <m:t>|</m:t>
                                          </m:r>
                                          <m:r>
                                            <a:rPr lang="en-US" altLang="zh-CN" b="1">
                                              <a:solidFill>
                                                <a:schemeClr val="accent6">
                                                  <a:lumMod val="50000"/>
                                                </a:schemeClr>
                                              </a:solidFill>
                                              <a:latin typeface="Cambria Math" panose="02040503050406030204" pitchFamily="18" charset="0"/>
                                            </a:rPr>
                                            <m:t>𝛌</m:t>
                                          </m:r>
                                        </m:e>
                                      </m:d>
                                    </m:den>
                                  </m:f>
                                </m:e>
                              </m:d>
                            </m:e>
                          </m:d>
                        </m:e>
                      </m:nary>
                    </m:oMath>
                  </m:oMathPara>
                </a14:m>
                <a:endParaRPr lang="en-US" altLang="zh-CN" dirty="0"/>
              </a:p>
              <a:p>
                <a:pPr>
                  <a:spcBef>
                    <a:spcPts val="400"/>
                  </a:spcBef>
                </a:pPr>
                <a14:m>
                  <m:oMathPara xmlns:m="http://schemas.openxmlformats.org/officeDocument/2006/math">
                    <m:oMath>
                      <m:sSubSup>
                        <m:sSubSupPr>
                          <m:ctrlPr>
                            <a:rPr lang="en-US" altLang="zh-CN" i="1" dirty="0">
                              <a:latin typeface="Cambria Math" panose="02040503050406030204" pitchFamily="18" charset="0"/>
                            </a:rPr>
                          </m:ctrlPr>
                        </m:sSubSupPr>
                        <m:e>
                          <m:r>
                            <a:rPr lang="en-US" altLang="zh-CN" i="1" dirty="0">
                              <a:latin typeface="Cambria Math" panose="02040503050406030204" pitchFamily="18" charset="0"/>
                            </a:rPr>
                            <m:t>𝑤</m:t>
                          </m:r>
                        </m:e>
                        <m:sub>
                          <m:r>
                            <a:rPr lang="en-US" altLang="zh-CN" i="1" dirty="0">
                              <a:latin typeface="Cambria Math" panose="02040503050406030204" pitchFamily="18" charset="0"/>
                            </a:rPr>
                            <m:t>𝐻</m:t>
                          </m:r>
                          <m:r>
                            <a:rPr lang="en-US" altLang="zh-CN" i="1" dirty="0">
                              <a:latin typeface="Cambria Math" panose="02040503050406030204" pitchFamily="18" charset="0"/>
                            </a:rPr>
                            <m:t>,</m:t>
                          </m:r>
                          <m:r>
                            <a:rPr lang="en-US" altLang="zh-CN" b="0" i="1" dirty="0" smtClean="0">
                              <a:latin typeface="Cambria Math" panose="02040503050406030204" pitchFamily="18" charset="0"/>
                            </a:rPr>
                            <m:t>𝑇</m:t>
                          </m:r>
                        </m:sub>
                        <m:sup>
                          <m:r>
                            <a:rPr lang="en-US" altLang="zh-CN" i="1" dirty="0">
                              <a:latin typeface="Cambria Math" panose="02040503050406030204" pitchFamily="18" charset="0"/>
                            </a:rPr>
                            <m:t>𝑗𝑜𝑖𝑛𝑡</m:t>
                          </m:r>
                        </m:sup>
                      </m:sSubSup>
                      <m:d>
                        <m:dPr>
                          <m:ctrlPr>
                            <a:rPr lang="en-US" altLang="zh-CN" b="0" i="1" dirty="0" smtClean="0">
                              <a:latin typeface="Cambria Math" panose="02040503050406030204" pitchFamily="18" charset="0"/>
                            </a:rPr>
                          </m:ctrlPr>
                        </m:dPr>
                        <m:e>
                          <m:sSub>
                            <m:sSubPr>
                              <m:ctrlPr>
                                <a:rPr lang="en-US" altLang="zh-CN" b="0" i="1" dirty="0" smtClean="0">
                                  <a:latin typeface="Cambria Math" panose="02040503050406030204" pitchFamily="18" charset="0"/>
                                </a:rPr>
                              </m:ctrlPr>
                            </m:sSubPr>
                            <m:e>
                              <m:acc>
                                <m:accPr>
                                  <m:chr m:val="̅"/>
                                  <m:ctrlPr>
                                    <a:rPr lang="en-US" altLang="zh-CN" b="0" i="1" dirty="0" smtClean="0">
                                      <a:latin typeface="Cambria Math" panose="02040503050406030204" pitchFamily="18" charset="0"/>
                                    </a:rPr>
                                  </m:ctrlPr>
                                </m:accPr>
                                <m:e>
                                  <m:r>
                                    <a:rPr lang="en-US" altLang="zh-CN" b="0" i="1" dirty="0" smtClean="0">
                                      <a:latin typeface="Cambria Math" panose="02040503050406030204" pitchFamily="18" charset="0"/>
                                    </a:rPr>
                                    <m:t>𝑝</m:t>
                                  </m:r>
                                </m:e>
                              </m:acc>
                            </m:e>
                            <m:sub>
                              <m:r>
                                <a:rPr lang="en-US" altLang="zh-CN" b="0" i="1" dirty="0" smtClean="0">
                                  <a:latin typeface="Cambria Math" panose="02040503050406030204" pitchFamily="18" charset="0"/>
                                </a:rPr>
                                <m:t>𝑖</m:t>
                              </m:r>
                            </m:sub>
                          </m:sSub>
                        </m:e>
                      </m:d>
                      <m:r>
                        <a:rPr lang="en-US" altLang="zh-CN" i="1" dirty="0">
                          <a:latin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ℋ</m:t>
                          </m:r>
                        </m:e>
                        <m:sub>
                          <m:r>
                            <a:rPr lang="en-US" altLang="zh-CN" i="1" dirty="0">
                              <a:latin typeface="Cambria Math" panose="02040503050406030204" pitchFamily="18" charset="0"/>
                              <a:ea typeface="Cambria Math" panose="02040503050406030204" pitchFamily="18" charset="0"/>
                            </a:rPr>
                            <m:t>𝑗𝑜𝑖𝑛𝑡</m:t>
                          </m:r>
                        </m:sub>
                      </m:sSub>
                      <m:d>
                        <m:dPr>
                          <m:ctrlPr>
                            <a:rPr lang="en-US" altLang="zh-CN" i="1" dirty="0">
                              <a:latin typeface="Cambria Math" panose="02040503050406030204" pitchFamily="18" charset="0"/>
                              <a:ea typeface="Cambria Math" panose="02040503050406030204" pitchFamily="18" charset="0"/>
                            </a:rPr>
                          </m:ctrlPr>
                        </m:dPr>
                        <m:e>
                          <m:d>
                            <m:dPr>
                              <m:ctrlPr>
                                <a:rPr lang="en-US" altLang="zh-CN" i="1" dirty="0">
                                  <a:latin typeface="Cambria Math" panose="02040503050406030204" pitchFamily="18" charset="0"/>
                                  <a:ea typeface="Cambria Math" panose="02040503050406030204" pitchFamily="18" charset="0"/>
                                </a:rPr>
                              </m:ctrlPr>
                            </m:dPr>
                            <m:e>
                              <m:r>
                                <a:rPr lang="en-US" altLang="zh-CN" i="1" dirty="0">
                                  <a:latin typeface="Cambria Math" panose="02040503050406030204" pitchFamily="18" charset="0"/>
                                  <a:ea typeface="Cambria Math" panose="02040503050406030204" pitchFamily="18" charset="0"/>
                                </a:rPr>
                                <m:t>𝐻</m:t>
                              </m:r>
                              <m:r>
                                <a:rPr lang="en-US" altLang="zh-CN" i="1" dirty="0">
                                  <a:latin typeface="Cambria Math" panose="02040503050406030204" pitchFamily="18" charset="0"/>
                                  <a:ea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𝑇</m:t>
                              </m:r>
                            </m:e>
                          </m:d>
                          <m:r>
                            <a:rPr lang="en-US" altLang="zh-CN" i="1" dirty="0">
                              <a:latin typeface="Cambria Math" panose="02040503050406030204" pitchFamily="18" charset="0"/>
                              <a:ea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1" i="1" dirty="0" smtClean="0">
                              <a:latin typeface="Cambria Math" panose="02040503050406030204" pitchFamily="18" charset="0"/>
                            </a:rPr>
                            <m:t> </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𝑐</m:t>
                              </m:r>
                            </m:e>
                            <m:sub>
                              <m:r>
                                <a:rPr lang="en-US" altLang="zh-CN" i="1" dirty="0">
                                  <a:latin typeface="Cambria Math" panose="02040503050406030204" pitchFamily="18" charset="0"/>
                                  <a:ea typeface="Cambria Math" panose="02040503050406030204" pitchFamily="18" charset="0"/>
                                </a:rPr>
                                <m:t>1</m:t>
                              </m:r>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,1,</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r>
                            <a:rPr lang="en-US" altLang="zh-CN" b="1" i="1" dirty="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rgbClr val="F76409"/>
                                  </a:solidFill>
                                  <a:latin typeface="Cambria Math" panose="02040503050406030204" pitchFamily="18" charset="0"/>
                                </a:rPr>
                                <m:t>𝐿</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b="1" dirty="0">
                                  <a:latin typeface="Cambria Math" panose="02040503050406030204" pitchFamily="18" charset="0"/>
                                </a:rPr>
                                <m:t>𝛌</m:t>
                              </m:r>
                            </m:e>
                          </m:d>
                          <m:r>
                            <a:rPr lang="en-US" altLang="zh-CN" b="1" i="1" dirty="0">
                              <a:latin typeface="Cambria Math" panose="02040503050406030204" pitchFamily="18" charset="0"/>
                            </a:rPr>
                            <m:t>,</m:t>
                          </m:r>
                          <m:r>
                            <a:rPr lang="en-US" altLang="zh-CN" b="0" i="1" dirty="0" smtClean="0">
                              <a:latin typeface="Cambria Math" panose="02040503050406030204" pitchFamily="18" charset="0"/>
                            </a:rPr>
                            <m:t> </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𝑐</m:t>
                              </m:r>
                            </m:e>
                            <m:sub>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𝑁</m:t>
                                  </m:r>
                                </m:e>
                                <m:sub>
                                  <m:r>
                                    <a:rPr lang="en-US" altLang="zh-CN" i="1" dirty="0">
                                      <a:latin typeface="Cambria Math" panose="02040503050406030204" pitchFamily="18" charset="0"/>
                                    </a:rPr>
                                    <m:t>𝜆</m:t>
                                  </m:r>
                                </m:sub>
                              </m:sSub>
                            </m:sub>
                          </m:sSub>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𝑞</m:t>
                              </m:r>
                            </m:e>
                            <m:sub>
                              <m:r>
                                <a:rPr lang="en-US" altLang="zh-CN" i="1" dirty="0">
                                  <a:latin typeface="Cambria Math" panose="02040503050406030204" pitchFamily="18" charset="0"/>
                                  <a:ea typeface="Cambria Math" panose="02040503050406030204" pitchFamily="18" charset="0"/>
                                </a:rPr>
                                <m:t>𝑖</m:t>
                              </m:r>
                              <m:r>
                                <a:rPr lang="en-US" altLang="zh-CN" i="1" dirty="0">
                                  <a:latin typeface="Cambria Math" panose="02040503050406030204" pitchFamily="18" charset="0"/>
                                  <a:ea typeface="Cambria Math" panose="02040503050406030204" pitchFamily="18" charset="0"/>
                                </a:rPr>
                                <m:t>,</m:t>
                              </m:r>
                              <m:sSub>
                                <m:sSubPr>
                                  <m:ctrlPr>
                                    <a:rPr lang="en-US" altLang="zh-CN" i="1" dirty="0">
                                      <a:latin typeface="Cambria Math" panose="02040503050406030204" pitchFamily="18" charset="0"/>
                                      <a:ea typeface="Cambria Math" panose="02040503050406030204" pitchFamily="18" charset="0"/>
                                    </a:rPr>
                                  </m:ctrlPr>
                                </m:sSubPr>
                                <m:e>
                                  <m:r>
                                    <a:rPr lang="en-US" altLang="zh-CN" i="1" dirty="0">
                                      <a:latin typeface="Cambria Math" panose="02040503050406030204" pitchFamily="18" charset="0"/>
                                      <a:ea typeface="Cambria Math" panose="02040503050406030204" pitchFamily="18" charset="0"/>
                                    </a:rPr>
                                    <m:t>𝑁</m:t>
                                  </m:r>
                                </m:e>
                                <m:sub>
                                  <m:r>
                                    <a:rPr lang="en-US" altLang="zh-CN" i="1" dirty="0">
                                      <a:latin typeface="Cambria Math" panose="02040503050406030204" pitchFamily="18" charset="0"/>
                                      <a:ea typeface="Cambria Math" panose="02040503050406030204" pitchFamily="18" charset="0"/>
                                    </a:rPr>
                                    <m:t>𝜆</m:t>
                                  </m:r>
                                </m:sub>
                              </m:sSub>
                              <m:r>
                                <a:rPr lang="en-US" altLang="zh-CN" i="1" dirty="0">
                                  <a:latin typeface="Cambria Math" panose="02040503050406030204" pitchFamily="18" charset="0"/>
                                  <a:ea typeface="Cambria Math" panose="02040503050406030204" pitchFamily="18" charset="0"/>
                                </a:rPr>
                                <m:t>,</m:t>
                              </m:r>
                              <m:r>
                                <a:rPr lang="en-US" altLang="zh-CN" i="1" dirty="0">
                                  <a:solidFill>
                                    <a:schemeClr val="accent2">
                                      <a:lumMod val="75000"/>
                                    </a:schemeClr>
                                  </a:solidFill>
                                  <a:latin typeface="Cambria Math" panose="02040503050406030204" pitchFamily="18" charset="0"/>
                                </a:rPr>
                                <m:t>𝐵</m:t>
                              </m:r>
                            </m:sub>
                          </m:sSub>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acc>
                                    <m:accPr>
                                      <m:chr m:val="̅"/>
                                      <m:ctrlPr>
                                        <a:rPr lang="en-US" altLang="zh-CN" i="1" dirty="0">
                                          <a:latin typeface="Cambria Math" panose="02040503050406030204" pitchFamily="18" charset="0"/>
                                        </a:rPr>
                                      </m:ctrlPr>
                                    </m:accPr>
                                    <m:e>
                                      <m:r>
                                        <a:rPr lang="en-US" altLang="zh-CN" i="1" dirty="0">
                                          <a:latin typeface="Cambria Math" panose="02040503050406030204" pitchFamily="18" charset="0"/>
                                        </a:rPr>
                                        <m:t>𝑝</m:t>
                                      </m:r>
                                    </m:e>
                                  </m:acc>
                                </m:e>
                                <m:sub>
                                  <m:r>
                                    <a:rPr lang="en-US" altLang="zh-CN" i="1" dirty="0">
                                      <a:latin typeface="Cambria Math" panose="02040503050406030204" pitchFamily="18" charset="0"/>
                                    </a:rPr>
                                    <m:t>𝑖</m:t>
                                  </m:r>
                                </m:sub>
                              </m:sSub>
                              <m:r>
                                <a:rPr lang="en-US" altLang="zh-CN" i="1" dirty="0">
                                  <a:latin typeface="Cambria Math" panose="02040503050406030204" pitchFamily="18" charset="0"/>
                                </a:rPr>
                                <m:t>|</m:t>
                              </m:r>
                              <m:r>
                                <a:rPr lang="en-US" altLang="zh-CN" b="1" dirty="0">
                                  <a:latin typeface="Cambria Math" panose="02040503050406030204" pitchFamily="18" charset="0"/>
                                </a:rPr>
                                <m:t>𝛌</m:t>
                              </m:r>
                            </m:e>
                          </m:d>
                        </m:e>
                      </m:d>
                    </m:oMath>
                  </m:oMathPara>
                </a14:m>
                <a:endParaRPr lang="en-US" altLang="zh-CN" dirty="0"/>
              </a:p>
            </p:txBody>
          </p:sp>
        </mc:Choice>
        <mc:Fallback xmlns="">
          <p:sp>
            <p:nvSpPr>
              <p:cNvPr id="13" name="文本框 12">
                <a:extLst>
                  <a:ext uri="{FF2B5EF4-FFF2-40B4-BE49-F238E27FC236}">
                    <a16:creationId xmlns:a16="http://schemas.microsoft.com/office/drawing/2014/main" id="{541FA7B8-6433-2209-4B72-070A28FEDE37}"/>
                  </a:ext>
                </a:extLst>
              </p:cNvPr>
              <p:cNvSpPr txBox="1">
                <a:spLocks noRot="1" noChangeAspect="1" noMove="1" noResize="1" noEditPoints="1" noAdjustHandles="1" noChangeArrowheads="1" noChangeShapeType="1" noTextEdit="1"/>
              </p:cNvSpPr>
              <p:nvPr/>
            </p:nvSpPr>
            <p:spPr>
              <a:xfrm>
                <a:off x="541163" y="1169310"/>
                <a:ext cx="11109674" cy="2749535"/>
              </a:xfrm>
              <a:prstGeom prst="rect">
                <a:avLst/>
              </a:prstGeom>
              <a:blipFill>
                <a:blip r:embed="rId2"/>
                <a:stretch>
                  <a:fillRect t="-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4288103-5664-DA4C-F4ED-0BD1582C9157}"/>
                  </a:ext>
                </a:extLst>
              </p:cNvPr>
              <p:cNvSpPr txBox="1"/>
              <p:nvPr/>
            </p:nvSpPr>
            <p:spPr>
              <a:xfrm>
                <a:off x="238510" y="4168668"/>
                <a:ext cx="7145225" cy="1652825"/>
              </a:xfrm>
              <a:prstGeom prst="rect">
                <a:avLst/>
              </a:prstGeom>
              <a:noFill/>
            </p:spPr>
            <p:txBody>
              <a:bodyPr wrap="square">
                <a:spAutoFit/>
              </a:bodyPr>
              <a:lstStyle/>
              <a:p>
                <a:pPr algn="ctr"/>
                <a:r>
                  <a:rPr lang="en-US" altLang="zh-CN" sz="1800" b="1" dirty="0">
                    <a:latin typeface="Cambria Math" panose="02040503050406030204" pitchFamily="18" charset="0"/>
                  </a:rPr>
                  <a:t> </a:t>
                </a:r>
                <a:r>
                  <a:rPr lang="zh-CN" altLang="en-US" sz="1800" b="1" dirty="0">
                    <a:latin typeface="Cambria Math" panose="02040503050406030204" pitchFamily="18" charset="0"/>
                  </a:rPr>
                  <a:t>采样流程</a:t>
                </a:r>
                <a:endParaRPr lang="en-US" altLang="zh-CN" sz="1800" dirty="0">
                  <a:latin typeface="Cambria Math" panose="02040503050406030204" pitchFamily="18" charset="0"/>
                </a:endParaRPr>
              </a:p>
              <a:p>
                <a:r>
                  <a:rPr lang="zh-CN" altLang="en-US" sz="1800" dirty="0"/>
                  <a:t>选择</a:t>
                </a:r>
                <a:r>
                  <a:rPr lang="en-US" altLang="zh-CN" sz="1800" dirty="0"/>
                  <a:t>Hero</a:t>
                </a:r>
                <a:r>
                  <a:rPr lang="zh-CN" altLang="en-US" sz="1800" dirty="0"/>
                  <a:t>：</a:t>
                </a:r>
                <a14:m>
                  <m:oMath xmlns:m="http://schemas.openxmlformats.org/officeDocument/2006/math">
                    <m:r>
                      <a:rPr lang="en-US" altLang="zh-CN" sz="1800" i="1" dirty="0">
                        <a:latin typeface="Cambria Math" panose="02040503050406030204" pitchFamily="18" charset="0"/>
                      </a:rPr>
                      <m:t>𝐻</m:t>
                    </m:r>
                    <m:r>
                      <a:rPr lang="en-US" altLang="zh-CN" sz="1800" i="1" dirty="0">
                        <a:latin typeface="Cambria Math" panose="02040503050406030204" pitchFamily="18" charset="0"/>
                      </a:rPr>
                      <m:t> ~ </m:t>
                    </m:r>
                    <m:r>
                      <a:rPr lang="en-US" altLang="zh-CN" sz="1800" i="1" dirty="0">
                        <a:latin typeface="Cambria Math" panose="02040503050406030204" pitchFamily="18" charset="0"/>
                      </a:rPr>
                      <m:t>𝐶𝑎𝑡𝑒𝑔𝑜𝑟𝑖𝑐𝑎𝑙</m:t>
                    </m:r>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1</m:t>
                            </m:r>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2</m:t>
                            </m:r>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𝑁</m:t>
                                </m:r>
                              </m:e>
                              <m:sub>
                                <m:r>
                                  <a:rPr lang="en-US" altLang="zh-CN" sz="1800" i="1" dirty="0">
                                    <a:latin typeface="Cambria Math" panose="02040503050406030204" pitchFamily="18" charset="0"/>
                                  </a:rPr>
                                  <m:t>𝜆</m:t>
                                </m:r>
                              </m:sub>
                            </m:sSub>
                          </m:sub>
                        </m:sSub>
                      </m:e>
                    </m:d>
                  </m:oMath>
                </a14:m>
                <a:endParaRPr lang="en-US" altLang="zh-CN" sz="1800" i="1" dirty="0">
                  <a:latin typeface="Cambria Math" panose="02040503050406030204" pitchFamily="18" charset="0"/>
                </a:endParaRPr>
              </a:p>
              <a:p>
                <a:r>
                  <a:rPr lang="zh-CN" altLang="en-US" sz="1800" dirty="0"/>
                  <a:t>采样路径前缀：</a:t>
                </a:r>
                <a14:m>
                  <m:oMath xmlns:m="http://schemas.openxmlformats.org/officeDocument/2006/math">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b="0" i="1" smtClean="0">
                        <a:latin typeface="Cambria Math" panose="02040503050406030204" pitchFamily="18" charset="0"/>
                      </a:rPr>
                      <m:t>~</m:t>
                    </m:r>
                    <m:sSubSup>
                      <m:sSubSupPr>
                        <m:ctrlPr>
                          <a:rPr lang="en-US" altLang="zh-CN" sz="1800" i="1" dirty="0">
                            <a:latin typeface="Cambria Math" panose="02040503050406030204" pitchFamily="18" charset="0"/>
                          </a:rPr>
                        </m:ctrlPr>
                      </m:sSubSup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r>
                          <a:rPr lang="en-US" altLang="zh-CN" sz="1800" b="0" i="1" dirty="0" smtClean="0">
                            <a:latin typeface="Cambria Math" panose="02040503050406030204" pitchFamily="18" charset="0"/>
                          </a:rPr>
                          <m:t>𝐻</m:t>
                        </m:r>
                      </m:sub>
                      <m:sup>
                        <m:r>
                          <a:rPr lang="en-US" altLang="zh-CN" sz="1800" i="1" dirty="0">
                            <a:latin typeface="Cambria Math" panose="02040503050406030204" pitchFamily="18" charset="0"/>
                          </a:rPr>
                          <m:t>𝑝𝑟𝑒</m:t>
                        </m:r>
                      </m:sup>
                    </m:sSubSup>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−1</m:t>
                            </m:r>
                          </m:sub>
                        </m:sSub>
                        <m:r>
                          <a:rPr lang="en-US" altLang="zh-CN" sz="1800" b="0" i="1" dirty="0" smtClean="0">
                            <a:latin typeface="Cambria Math" panose="02040503050406030204" pitchFamily="18" charset="0"/>
                          </a:rPr>
                          <m:t>|</m:t>
                        </m:r>
                        <m:r>
                          <a:rPr lang="en-US" altLang="zh-CN" sz="1800" b="1" dirty="0">
                            <a:latin typeface="Cambria Math" panose="02040503050406030204" pitchFamily="18" charset="0"/>
                          </a:rPr>
                          <m:t>𝛌</m:t>
                        </m:r>
                      </m:e>
                    </m:d>
                  </m:oMath>
                </a14:m>
                <a:endParaRPr lang="en-US" altLang="zh-CN" sz="1800" dirty="0">
                  <a:latin typeface="Cambria Math" panose="02040503050406030204" pitchFamily="18" charset="0"/>
                </a:endParaRPr>
              </a:p>
              <a:p>
                <a:r>
                  <a:rPr lang="zh-CN" altLang="en-US" sz="1800" dirty="0">
                    <a:latin typeface="Cambria Math" panose="02040503050406030204" pitchFamily="18" charset="0"/>
                  </a:rPr>
                  <a:t>在路径前缀上采样两个方向：</a:t>
                </a:r>
                <a14:m>
                  <m:oMath xmlns:m="http://schemas.openxmlformats.org/officeDocument/2006/math">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latin typeface="Cambria Math" panose="02040503050406030204" pitchFamily="18" charset="0"/>
                          </a:rPr>
                          <m:t>𝐿</m:t>
                        </m:r>
                      </m:sup>
                    </m:sSubSup>
                    <m:r>
                      <a:rPr lang="en-US" altLang="zh-CN" sz="1800" i="1" dirty="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latin typeface="Cambria Math" panose="02040503050406030204" pitchFamily="18" charset="0"/>
                              </a:rPr>
                              <m:t>𝐿</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r>
                      <a:rPr lang="en-US" altLang="zh-CN" sz="1800" b="1" i="1" smtClean="0">
                        <a:latin typeface="Cambria Math" panose="02040503050406030204" pitchFamily="18" charset="0"/>
                      </a:rPr>
                      <m:t>,  </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latin typeface="Cambria Math" panose="02040503050406030204" pitchFamily="18" charset="0"/>
                          </a:rPr>
                          <m:t>𝐵</m:t>
                        </m:r>
                      </m:sup>
                    </m:sSubSup>
                    <m:r>
                      <a:rPr lang="en-US" altLang="zh-CN" sz="1800" i="1" dirty="0">
                        <a:latin typeface="Cambria Math" panose="02040503050406030204" pitchFamily="18" charset="0"/>
                      </a:rPr>
                      <m:t>~</m:t>
                    </m:r>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𝑝</m:t>
                        </m:r>
                      </m:e>
                      <m:sub>
                        <m:r>
                          <a:rPr lang="en-US" altLang="zh-CN" sz="1800" i="1" dirty="0">
                            <a:latin typeface="Cambria Math" panose="02040503050406030204" pitchFamily="18" charset="0"/>
                          </a:rPr>
                          <m:t>𝐵</m:t>
                        </m:r>
                        <m:r>
                          <a:rPr lang="en-US" altLang="zh-CN" sz="1800" i="1">
                            <a:latin typeface="Cambria Math" panose="02040503050406030204" pitchFamily="18" charset="0"/>
                          </a:rPr>
                          <m:t>,</m:t>
                        </m:r>
                        <m:r>
                          <a:rPr lang="en-US" altLang="zh-CN" sz="1800" i="1">
                            <a:latin typeface="Cambria Math" panose="02040503050406030204" pitchFamily="18" charset="0"/>
                          </a:rPr>
                          <m:t>𝐻</m:t>
                        </m:r>
                      </m:sub>
                      <m:sup>
                        <m:r>
                          <a:rPr lang="en-US" altLang="zh-CN" sz="1800" i="1">
                            <a:latin typeface="Cambria Math" panose="02040503050406030204" pitchFamily="18" charset="0"/>
                          </a:rPr>
                          <m:t>𝜔</m:t>
                        </m:r>
                      </m:sup>
                    </m:sSubSup>
                    <m:d>
                      <m:dPr>
                        <m:ctrlPr>
                          <a:rPr lang="en-US" altLang="zh-CN" sz="1800" i="1">
                            <a:latin typeface="Cambria Math" panose="02040503050406030204" pitchFamily="18" charset="0"/>
                          </a:rPr>
                        </m:ctrlPr>
                      </m:dPr>
                      <m:e>
                        <m:sSubSup>
                          <m:sSubSupPr>
                            <m:ctrlPr>
                              <a:rPr lang="en-US" altLang="zh-CN" sz="1800" i="1">
                                <a:latin typeface="Cambria Math" panose="02040503050406030204" pitchFamily="18" charset="0"/>
                              </a:rPr>
                            </m:ctrlPr>
                          </m:sSubSupPr>
                          <m:e>
                            <m:r>
                              <a:rPr lang="en-US" altLang="zh-CN" sz="1800" i="1">
                                <a:latin typeface="Cambria Math" panose="02040503050406030204" pitchFamily="18" charset="0"/>
                              </a:rPr>
                              <m:t>𝜔</m:t>
                            </m:r>
                          </m:e>
                          <m:sub>
                            <m:r>
                              <a:rPr lang="en-US" altLang="zh-CN" sz="1800" i="1">
                                <a:latin typeface="Cambria Math" panose="02040503050406030204" pitchFamily="18" charset="0"/>
                              </a:rPr>
                              <m:t>𝑖</m:t>
                            </m:r>
                          </m:sub>
                          <m:sup>
                            <m:r>
                              <a:rPr lang="en-US" altLang="zh-CN" sz="1800" i="1" dirty="0">
                                <a:latin typeface="Cambria Math" panose="02040503050406030204" pitchFamily="18" charset="0"/>
                              </a:rPr>
                              <m:t>𝐵</m:t>
                            </m:r>
                          </m:sup>
                        </m:sSubSup>
                        <m:r>
                          <a:rPr lang="en-US" altLang="zh-CN" sz="1800" i="1">
                            <a:latin typeface="Cambria Math" panose="02040503050406030204" pitchFamily="18" charset="0"/>
                          </a:rPr>
                          <m:t>|</m:t>
                        </m:r>
                        <m:r>
                          <a:rPr lang="en-US" altLang="zh-CN" sz="1800" b="1">
                            <a:latin typeface="Cambria Math" panose="02040503050406030204" pitchFamily="18" charset="0"/>
                          </a:rPr>
                          <m:t>𝛌</m:t>
                        </m:r>
                      </m:e>
                    </m:d>
                  </m:oMath>
                </a14:m>
                <a:endParaRPr lang="en-US" altLang="zh-CN" sz="1800" dirty="0">
                  <a:latin typeface="Cambria Math" panose="02040503050406030204" pitchFamily="18" charset="0"/>
                </a:endParaRPr>
              </a:p>
              <a:p>
                <a:r>
                  <a:rPr lang="zh-CN" altLang="en-US" sz="1800" dirty="0">
                    <a:latin typeface="Cambria Math" panose="02040503050406030204" pitchFamily="18" charset="0"/>
                  </a:rPr>
                  <a:t>得到两个采样技术对应的路径样本：</a:t>
                </a:r>
                <a14:m>
                  <m:oMath xmlns:m="http://schemas.openxmlformats.org/officeDocument/2006/math">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a:latin typeface="Cambria Math" panose="02040503050406030204" pitchFamily="18" charset="0"/>
                          </a:rPr>
                          <m:t>𝑖</m:t>
                        </m:r>
                      </m:sub>
                      <m:sup>
                        <m:r>
                          <a:rPr lang="en-US" altLang="zh-CN" sz="1800" b="0" i="1" smtClean="0">
                            <a:latin typeface="Cambria Math" panose="02040503050406030204" pitchFamily="18" charset="0"/>
                          </a:rPr>
                          <m:t>𝐿</m:t>
                        </m:r>
                      </m:sup>
                    </m:sSubSup>
                    <m:r>
                      <a:rPr lang="en-US" altLang="zh-CN" sz="1800" b="0" i="1" smtClean="0">
                        <a:latin typeface="Cambria Math" panose="02040503050406030204" pitchFamily="18" charset="0"/>
                      </a:rPr>
                      <m:t>=</m:t>
                    </m:r>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b="0" i="1" smtClean="0">
                            <a:latin typeface="Cambria Math" panose="02040503050406030204" pitchFamily="18" charset="0"/>
                          </a:rPr>
                          <m:t>, </m:t>
                        </m:r>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𝜔</m:t>
                            </m:r>
                          </m:e>
                          <m:sub>
                            <m:r>
                              <a:rPr lang="en-US" altLang="zh-CN" sz="1800" b="0" i="1" smtClean="0">
                                <a:latin typeface="Cambria Math" panose="02040503050406030204" pitchFamily="18" charset="0"/>
                              </a:rPr>
                              <m:t>𝑖</m:t>
                            </m:r>
                          </m:sub>
                          <m:sup>
                            <m:r>
                              <a:rPr lang="en-US" altLang="zh-CN" sz="1800" b="0" i="1" smtClean="0">
                                <a:latin typeface="Cambria Math" panose="02040503050406030204" pitchFamily="18" charset="0"/>
                              </a:rPr>
                              <m:t>𝐿</m:t>
                            </m:r>
                          </m:sup>
                        </m:sSubSup>
                      </m:e>
                    </m:d>
                    <m:r>
                      <a:rPr lang="en-US" altLang="zh-CN" sz="1800" b="0" i="1" smtClean="0">
                        <a:latin typeface="Cambria Math" panose="02040503050406030204" pitchFamily="18" charset="0"/>
                      </a:rPr>
                      <m:t>,  </m:t>
                    </m:r>
                    <m:sSubSup>
                      <m:sSubSupPr>
                        <m:ctrlPr>
                          <a:rPr lang="en-US" altLang="zh-CN" sz="1800" i="1" dirty="0">
                            <a:latin typeface="Cambria Math" panose="02040503050406030204" pitchFamily="18" charset="0"/>
                          </a:rPr>
                        </m:ctrlPr>
                      </m:sSubSup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a:latin typeface="Cambria Math" panose="02040503050406030204" pitchFamily="18" charset="0"/>
                          </a:rPr>
                          <m:t>𝑖</m:t>
                        </m:r>
                      </m:sub>
                      <m:sup>
                        <m:r>
                          <a:rPr lang="en-US" altLang="zh-CN" sz="1800" b="0" i="1" smtClean="0">
                            <a:latin typeface="Cambria Math" panose="02040503050406030204" pitchFamily="18" charset="0"/>
                          </a:rPr>
                          <m:t>𝐵</m:t>
                        </m:r>
                      </m:sup>
                    </m:sSubSup>
                    <m:r>
                      <a:rPr lang="en-US" altLang="zh-CN" sz="1800" b="0" i="1" smtClean="0">
                        <a:latin typeface="Cambria Math" panose="02040503050406030204" pitchFamily="18" charset="0"/>
                      </a:rPr>
                      <m:t>=</m:t>
                    </m:r>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a:latin typeface="Cambria Math" panose="02040503050406030204" pitchFamily="18" charset="0"/>
                              </a:rPr>
                              <m:t>𝑖</m:t>
                            </m:r>
                            <m:r>
                              <a:rPr lang="en-US" altLang="zh-CN" sz="1800" i="1">
                                <a:latin typeface="Cambria Math" panose="02040503050406030204" pitchFamily="18" charset="0"/>
                              </a:rPr>
                              <m:t>−1</m:t>
                            </m:r>
                          </m:sub>
                        </m:sSub>
                        <m:r>
                          <a:rPr lang="en-US" altLang="zh-CN" sz="1800" b="0" i="1" smtClean="0">
                            <a:latin typeface="Cambria Math" panose="02040503050406030204" pitchFamily="18" charset="0"/>
                          </a:rPr>
                          <m:t>,</m:t>
                        </m:r>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𝜔</m:t>
                            </m:r>
                          </m:e>
                          <m:sub>
                            <m:r>
                              <a:rPr lang="en-US" altLang="zh-CN" sz="1800" b="0" i="1" smtClean="0">
                                <a:latin typeface="Cambria Math" panose="02040503050406030204" pitchFamily="18" charset="0"/>
                              </a:rPr>
                              <m:t>𝑖</m:t>
                            </m:r>
                          </m:sub>
                          <m:sup>
                            <m:r>
                              <a:rPr lang="en-US" altLang="zh-CN" sz="1800" b="0" i="1" smtClean="0">
                                <a:latin typeface="Cambria Math" panose="02040503050406030204" pitchFamily="18" charset="0"/>
                              </a:rPr>
                              <m:t>𝐵</m:t>
                            </m:r>
                          </m:sup>
                        </m:sSubSup>
                      </m:e>
                    </m:d>
                  </m:oMath>
                </a14:m>
                <a:endParaRPr lang="zh-CN" altLang="en-US" dirty="0"/>
              </a:p>
            </p:txBody>
          </p:sp>
        </mc:Choice>
        <mc:Fallback xmlns="">
          <p:sp>
            <p:nvSpPr>
              <p:cNvPr id="3" name="文本框 2">
                <a:extLst>
                  <a:ext uri="{FF2B5EF4-FFF2-40B4-BE49-F238E27FC236}">
                    <a16:creationId xmlns:a16="http://schemas.microsoft.com/office/drawing/2014/main" id="{74288103-5664-DA4C-F4ED-0BD1582C9157}"/>
                  </a:ext>
                </a:extLst>
              </p:cNvPr>
              <p:cNvSpPr txBox="1">
                <a:spLocks noRot="1" noChangeAspect="1" noMove="1" noResize="1" noEditPoints="1" noAdjustHandles="1" noChangeArrowheads="1" noChangeShapeType="1" noTextEdit="1"/>
              </p:cNvSpPr>
              <p:nvPr/>
            </p:nvSpPr>
            <p:spPr>
              <a:xfrm>
                <a:off x="238510" y="4168668"/>
                <a:ext cx="7145225" cy="1652825"/>
              </a:xfrm>
              <a:prstGeom prst="rect">
                <a:avLst/>
              </a:prstGeom>
              <a:blipFill>
                <a:blip r:embed="rId3"/>
                <a:stretch>
                  <a:fillRect l="-683" t="-2583" r="-939" b="-40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12D863F-DABE-F763-EE57-E25623BC9BF0}"/>
                  </a:ext>
                </a:extLst>
              </p:cNvPr>
              <p:cNvSpPr txBox="1"/>
              <p:nvPr/>
            </p:nvSpPr>
            <p:spPr>
              <a:xfrm>
                <a:off x="7312901" y="4168668"/>
                <a:ext cx="5021150" cy="1496885"/>
              </a:xfrm>
              <a:prstGeom prst="rect">
                <a:avLst/>
              </a:prstGeom>
              <a:noFill/>
            </p:spPr>
            <p:txBody>
              <a:bodyPr wrap="square">
                <a:spAutoFit/>
              </a:bodyPr>
              <a:lstStyle/>
              <a:p>
                <a:pPr algn="ctr">
                  <a:spcAft>
                    <a:spcPts val="400"/>
                  </a:spcAft>
                </a:pPr>
                <a:r>
                  <a:rPr lang="zh-CN" altLang="en-US" sz="1800" b="1" dirty="0">
                    <a:latin typeface="Cambria Math" panose="02040503050406030204" pitchFamily="18" charset="0"/>
                  </a:rPr>
                  <a:t>支持域要求</a:t>
                </a:r>
                <a:endParaRPr lang="en-US" altLang="zh-CN" sz="1800" b="1" dirty="0">
                  <a:latin typeface="Cambria Math" panose="02040503050406030204" pitchFamily="18" charset="0"/>
                </a:endParaRPr>
              </a:p>
              <a:p>
                <a:pPr algn="ctr">
                  <a:spcAft>
                    <a:spcPts val="400"/>
                  </a:spcAft>
                </a:pPr>
                <a:endParaRPr lang="en-US" altLang="zh-CN" sz="1100" b="1" dirty="0"/>
              </a:p>
              <a:p>
                <a:pPr/>
                <a14:m>
                  <m:oMathPara xmlns:m="http://schemas.openxmlformats.org/officeDocument/2006/math">
                    <m:oMath>
                      <m:sSub>
                        <m:sSubPr>
                          <m:ctrlPr>
                            <a:rPr lang="en-US" altLang="zh-CN" sz="1800" b="1" i="1" dirty="0">
                              <a:latin typeface="Cambria Math" panose="02040503050406030204" pitchFamily="18" charset="0"/>
                            </a:rPr>
                          </m:ctrlPr>
                        </m:sSubPr>
                        <m:e>
                          <m:r>
                            <a:rPr lang="en-US" altLang="zh-CN" sz="1800" b="1" i="1" dirty="0">
                              <a:latin typeface="Cambria Math" panose="02040503050406030204" pitchFamily="18" charset="0"/>
                            </a:rPr>
                            <m:t>𝑮</m:t>
                          </m:r>
                        </m:e>
                        <m:sub>
                          <m:r>
                            <a:rPr lang="en-US" altLang="zh-CN" sz="1800" i="1" dirty="0">
                              <a:latin typeface="Cambria Math" panose="02040503050406030204" pitchFamily="18" charset="0"/>
                            </a:rPr>
                            <m:t>𝑖</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Sub>
                          <m:r>
                            <a:rPr lang="en-US" altLang="zh-CN" sz="1800" b="1" i="1" dirty="0">
                              <a:latin typeface="Cambria Math" panose="02040503050406030204" pitchFamily="18" charset="0"/>
                            </a:rPr>
                            <m:t>,</m:t>
                          </m:r>
                          <m:r>
                            <a:rPr lang="en-US" altLang="zh-CN" sz="1800" b="1" dirty="0">
                              <a:latin typeface="Cambria Math" panose="02040503050406030204" pitchFamily="18" charset="0"/>
                            </a:rPr>
                            <m:t>𝛌</m:t>
                          </m:r>
                        </m:e>
                      </m:d>
                      <m:r>
                        <a:rPr lang="en-US" altLang="zh-CN" sz="1800" b="1" i="1" dirty="0">
                          <a:latin typeface="Cambria Math" panose="02040503050406030204" pitchFamily="18" charset="0"/>
                        </a:rPr>
                        <m:t>≠</m:t>
                      </m:r>
                      <m:r>
                        <a:rPr lang="en-US" altLang="zh-CN" sz="1800" b="1" i="1" dirty="0">
                          <a:latin typeface="Cambria Math" panose="02040503050406030204" pitchFamily="18" charset="0"/>
                        </a:rPr>
                        <m:t>𝟎</m:t>
                      </m:r>
                      <m:r>
                        <a:rPr lang="en-US" altLang="zh-CN" sz="1800" b="1" i="1" dirty="0">
                          <a:latin typeface="Cambria Math" panose="02040503050406030204" pitchFamily="18" charset="0"/>
                        </a:rPr>
                        <m:t>  ⇒  </m:t>
                      </m:r>
                      <m:nary>
                        <m:naryPr>
                          <m:chr m:val="∑"/>
                          <m:ctrlPr>
                            <a:rPr lang="en-US" altLang="zh-CN" sz="1800" i="1">
                              <a:latin typeface="Cambria Math" panose="02040503050406030204" pitchFamily="18" charset="0"/>
                            </a:rPr>
                          </m:ctrlPr>
                        </m:naryPr>
                        <m:sub>
                          <m:r>
                            <m:rPr>
                              <m:brk m:alnAt="23"/>
                            </m:rPr>
                            <a:rPr lang="en-US" altLang="zh-CN" sz="1800" i="1">
                              <a:latin typeface="Cambria Math" panose="02040503050406030204" pitchFamily="18" charset="0"/>
                            </a:rPr>
                            <m:t>ℎ</m:t>
                          </m:r>
                          <m:r>
                            <m:rPr>
                              <m:brk m:alnAt="23"/>
                            </m:rPr>
                            <a:rPr lang="en-US" altLang="zh-CN" sz="1800" i="1">
                              <a:latin typeface="Cambria Math" panose="02040503050406030204" pitchFamily="18" charset="0"/>
                            </a:rPr>
                            <m:t>=</m:t>
                          </m:r>
                          <m:r>
                            <m:rPr>
                              <m:brk m:alnAt="23"/>
                            </m:rPr>
                            <a:rPr lang="en-US" altLang="zh-CN" sz="1800" i="1">
                              <a:latin typeface="Cambria Math" panose="02040503050406030204" pitchFamily="18" charset="0"/>
                            </a:rPr>
                            <m:t>1</m:t>
                          </m:r>
                        </m:sub>
                        <m:sup>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𝑁</m:t>
                              </m:r>
                            </m:e>
                            <m:sub>
                              <m:r>
                                <a:rPr lang="en-US" altLang="zh-CN" sz="1800" i="1">
                                  <a:latin typeface="Cambria Math" panose="02040503050406030204" pitchFamily="18" charset="0"/>
                                </a:rPr>
                                <m:t>𝜆</m:t>
                              </m:r>
                            </m:sub>
                          </m:sSub>
                        </m:sup>
                        <m:e>
                          <m:nary>
                            <m:naryPr>
                              <m:chr m:val="∑"/>
                              <m:supHide m:val="on"/>
                              <m:ctrlPr>
                                <a:rPr lang="en-US" altLang="zh-CN" sz="1800" i="1">
                                  <a:latin typeface="Cambria Math" panose="02040503050406030204" pitchFamily="18" charset="0"/>
                                </a:rPr>
                              </m:ctrlPr>
                            </m:naryPr>
                            <m:sub>
                              <m:r>
                                <m:rPr>
                                  <m:brk m:alnAt="7"/>
                                </m:rPr>
                                <a:rPr lang="en-US" altLang="zh-CN" sz="1800" i="1">
                                  <a:latin typeface="Cambria Math" panose="02040503050406030204" pitchFamily="18" charset="0"/>
                                </a:rPr>
                                <m:t>𝑡</m:t>
                              </m:r>
                              <m:r>
                                <m:rPr>
                                  <m:brk m:alnAt="7"/>
                                </m:rPr>
                                <a:rPr lang="en-US" altLang="zh-CN" sz="1800" i="1">
                                  <a:latin typeface="Cambria Math" panose="02040503050406030204" pitchFamily="18" charset="0"/>
                                </a:rPr>
                                <m:t>=</m:t>
                              </m:r>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𝐿</m:t>
                                  </m:r>
                                  <m:r>
                                    <a:rPr lang="en-US" altLang="zh-CN" sz="1800" i="1">
                                      <a:latin typeface="Cambria Math" panose="02040503050406030204" pitchFamily="18" charset="0"/>
                                    </a:rPr>
                                    <m:t>,</m:t>
                                  </m:r>
                                  <m:r>
                                    <a:rPr lang="en-US" altLang="zh-CN" sz="1800" i="1">
                                      <a:latin typeface="Cambria Math" panose="02040503050406030204" pitchFamily="18" charset="0"/>
                                    </a:rPr>
                                    <m:t>𝐵</m:t>
                                  </m:r>
                                </m:e>
                              </m:d>
                            </m:sub>
                            <m:sup/>
                            <m:e>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𝑐</m:t>
                                  </m:r>
                                </m:e>
                                <m:sub>
                                  <m:r>
                                    <a:rPr lang="en-US" altLang="zh-CN" sz="1800" i="1" dirty="0">
                                      <a:latin typeface="Cambria Math" panose="02040503050406030204" pitchFamily="18" charset="0"/>
                                    </a:rPr>
                                    <m:t>ℎ</m:t>
                                  </m:r>
                                </m:sub>
                              </m:sSub>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𝑞</m:t>
                                  </m:r>
                                </m:e>
                                <m:sub>
                                  <m:r>
                                    <a:rPr lang="en-US" altLang="zh-CN" sz="1800" i="1" dirty="0">
                                      <a:latin typeface="Cambria Math" panose="02040503050406030204" pitchFamily="18" charset="0"/>
                                    </a:rPr>
                                    <m:t>𝑖</m:t>
                                  </m:r>
                                  <m:r>
                                    <a:rPr lang="en-US" altLang="zh-CN" sz="1800" i="1" dirty="0">
                                      <a:latin typeface="Cambria Math" panose="02040503050406030204" pitchFamily="18" charset="0"/>
                                    </a:rPr>
                                    <m:t>,</m:t>
                                  </m:r>
                                  <m:r>
                                    <a:rPr lang="en-US" altLang="zh-CN" sz="1800" i="1" dirty="0">
                                      <a:latin typeface="Cambria Math" panose="02040503050406030204" pitchFamily="18" charset="0"/>
                                    </a:rPr>
                                    <m:t>ℎ</m:t>
                                  </m:r>
                                  <m:r>
                                    <a:rPr lang="en-US" altLang="zh-CN" sz="1800" i="1" dirty="0">
                                      <a:latin typeface="Cambria Math" panose="02040503050406030204" pitchFamily="18" charset="0"/>
                                    </a:rPr>
                                    <m:t>,</m:t>
                                  </m:r>
                                  <m:r>
                                    <a:rPr lang="en-US" altLang="zh-CN" sz="1800" i="1" dirty="0">
                                      <a:latin typeface="Cambria Math" panose="02040503050406030204" pitchFamily="18" charset="0"/>
                                    </a:rPr>
                                    <m:t>𝑡</m:t>
                                  </m:r>
                                </m:sub>
                              </m:sSub>
                              <m:d>
                                <m:dPr>
                                  <m:ctrlPr>
                                    <a:rPr lang="en-US" altLang="zh-CN" sz="1800" i="1" dirty="0">
                                      <a:latin typeface="Cambria Math" panose="02040503050406030204" pitchFamily="18" charset="0"/>
                                    </a:rPr>
                                  </m:ctrlPr>
                                </m:dPr>
                                <m:e>
                                  <m:sSub>
                                    <m:sSubPr>
                                      <m:ctrlPr>
                                        <a:rPr lang="en-US" altLang="zh-CN" sz="1800" i="1" dirty="0">
                                          <a:latin typeface="Cambria Math" panose="02040503050406030204" pitchFamily="18" charset="0"/>
                                        </a:rPr>
                                      </m:ctrlPr>
                                    </m:sSubPr>
                                    <m:e>
                                      <m:acc>
                                        <m:accPr>
                                          <m:chr m:val="̅"/>
                                          <m:ctrlPr>
                                            <a:rPr lang="en-US" altLang="zh-CN" sz="1800" i="1" dirty="0">
                                              <a:latin typeface="Cambria Math" panose="02040503050406030204" pitchFamily="18" charset="0"/>
                                            </a:rPr>
                                          </m:ctrlPr>
                                        </m:accPr>
                                        <m:e>
                                          <m:r>
                                            <a:rPr lang="en-US" altLang="zh-CN" sz="1800" i="1" dirty="0">
                                              <a:latin typeface="Cambria Math" panose="02040503050406030204" pitchFamily="18" charset="0"/>
                                            </a:rPr>
                                            <m:t>𝑝</m:t>
                                          </m:r>
                                        </m:e>
                                      </m:acc>
                                    </m:e>
                                    <m:sub>
                                      <m:r>
                                        <a:rPr lang="en-US" altLang="zh-CN" sz="1800" i="1" dirty="0">
                                          <a:latin typeface="Cambria Math" panose="02040503050406030204" pitchFamily="18" charset="0"/>
                                        </a:rPr>
                                        <m:t>𝑖</m:t>
                                      </m:r>
                                    </m:sub>
                                  </m:sSub>
                                </m:e>
                                <m:e>
                                  <m:r>
                                    <a:rPr lang="en-US" altLang="zh-CN" sz="1800" b="1" dirty="0">
                                      <a:latin typeface="Cambria Math" panose="02040503050406030204" pitchFamily="18" charset="0"/>
                                    </a:rPr>
                                    <m:t>𝛌</m:t>
                                  </m:r>
                                </m:e>
                              </m:d>
                            </m:e>
                          </m:nary>
                        </m:e>
                      </m:nary>
                      <m:r>
                        <a:rPr lang="en-US" altLang="zh-CN" sz="1800" i="1">
                          <a:latin typeface="Cambria Math" panose="02040503050406030204" pitchFamily="18" charset="0"/>
                        </a:rPr>
                        <m:t>&gt;0</m:t>
                      </m:r>
                    </m:oMath>
                  </m:oMathPara>
                </a14:m>
                <a:endParaRPr lang="zh-CN" altLang="en-US" sz="1800" dirty="0"/>
              </a:p>
            </p:txBody>
          </p:sp>
        </mc:Choice>
        <mc:Fallback xmlns="">
          <p:sp>
            <p:nvSpPr>
              <p:cNvPr id="7" name="文本框 6">
                <a:extLst>
                  <a:ext uri="{FF2B5EF4-FFF2-40B4-BE49-F238E27FC236}">
                    <a16:creationId xmlns:a16="http://schemas.microsoft.com/office/drawing/2014/main" id="{A12D863F-DABE-F763-EE57-E25623BC9BF0}"/>
                  </a:ext>
                </a:extLst>
              </p:cNvPr>
              <p:cNvSpPr txBox="1">
                <a:spLocks noRot="1" noChangeAspect="1" noMove="1" noResize="1" noEditPoints="1" noAdjustHandles="1" noChangeArrowheads="1" noChangeShapeType="1" noTextEdit="1"/>
              </p:cNvSpPr>
              <p:nvPr/>
            </p:nvSpPr>
            <p:spPr>
              <a:xfrm>
                <a:off x="7312901" y="4168668"/>
                <a:ext cx="5021150" cy="1496885"/>
              </a:xfrm>
              <a:prstGeom prst="rect">
                <a:avLst/>
              </a:prstGeom>
              <a:blipFill>
                <a:blip r:embed="rId4"/>
                <a:stretch>
                  <a:fillRect t="-28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921684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RkMDIwMzk2MDA3NTJlMDQ4NWFlNWE0Y2ViMGY0MTM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9.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1*i*4"/>
  <p:tag name="KSO_WM_UNIT_LAYERLEVEL" val="1"/>
  <p:tag name="KSO_WM_TAG_VERSION" val="3.0"/>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8"/>
  <p:tag name="KSO_WM_UNIT_ID" val="_1*i*8"/>
  <p:tag name="KSO_WM_UNIT_LAYERLEVEL" val="1"/>
  <p:tag name="KSO_WM_TAG_VERSION" val="3.0"/>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9"/>
  <p:tag name="KSO_WM_UNIT_ID" val="_1*i*9"/>
  <p:tag name="KSO_WM_UNIT_LAYERLEVEL" val="1"/>
  <p:tag name="KSO_WM_TAG_VERSION" val="3.0"/>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0"/>
  <p:tag name="KSO_WM_UNIT_ID" val="_1*i*10"/>
  <p:tag name="KSO_WM_UNIT_LAYERLEVEL" val="1"/>
  <p:tag name="KSO_WM_TAG_VERSION" val="3.0"/>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34.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43.xml><?xml version="1.0" encoding="utf-8"?>
<p:tagLst xmlns:a="http://schemas.openxmlformats.org/drawingml/2006/main" xmlns:r="http://schemas.openxmlformats.org/officeDocument/2006/relationships"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4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TYPE" val="i"/>
  <p:tag name="KSO_WM_UNIT_INDEX" val="1"/>
  <p:tag name="KSO_WM_UNIT_CONTENT_GROUP_TYPE" val="titlestyle"/>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TYPE" val="i"/>
  <p:tag name="KSO_WM_UNIT_INDEX" val="1"/>
  <p:tag name="KSO_WM_UNIT_CONTENT_GROUP_TYPE" val="titlestyle"/>
</p:tagLst>
</file>

<file path=ppt/tags/tag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TYPE" val="i"/>
  <p:tag name="KSO_WM_UNIT_INDEX" val="1"/>
  <p:tag name="KSO_WM_UNIT_CONTENT_GROUP_TYPE" val="titlestyle"/>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UNIT_TYPE" val="i"/>
  <p:tag name="KSO_WM_UNIT_INDEX"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UNIT_TYPE" val="i"/>
  <p:tag name="KSO_WM_UNIT_INDEX"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8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8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00.xml><?xml version="1.0" encoding="utf-8"?>
<p:tagLst xmlns:a="http://schemas.openxmlformats.org/drawingml/2006/main" xmlns:r="http://schemas.openxmlformats.org/officeDocument/2006/relationships" xmlns:p="http://schemas.openxmlformats.org/presentationml/2006/main">
  <p:tag name="KSO_WM_SLIDE_ID" val="custom2023031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314"/>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173.7&quot;,&quot;top&quot;:&quot;78.5&quot;,&quot;width&quot;:&quot;702.55&quot;,&quot;height&quot;:&quot;350.15&quot;}"/>
</p:tagLst>
</file>

<file path=ppt/tags/tag1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1*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单击添加文档标题"/>
</p:tagLst>
</file>

<file path=ppt/tags/tag102.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1*f*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汇报人：WPS"/>
</p:tagLst>
</file>

<file path=ppt/theme/theme1.xml><?xml version="1.0" encoding="utf-8"?>
<a:theme xmlns:a="http://schemas.openxmlformats.org/drawingml/2006/main" name="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3">
      <a:majorFont>
        <a:latin typeface="Arial"/>
        <a:ea typeface="Noto Sans SC Black"/>
        <a:cs typeface=""/>
      </a:majorFont>
      <a:minorFont>
        <a:latin typeface="Arial"/>
        <a:ea typeface="Noto Sans S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20395</TotalTime>
  <Words>11960</Words>
  <Application>Microsoft Office PowerPoint</Application>
  <PresentationFormat>宽屏</PresentationFormat>
  <Paragraphs>849</Paragraphs>
  <Slides>63</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63</vt:i4>
      </vt:variant>
    </vt:vector>
  </HeadingPairs>
  <TitlesOfParts>
    <vt:vector size="70" baseType="lpstr">
      <vt:lpstr>Noto Sans SC</vt:lpstr>
      <vt:lpstr>Noto Sans SC Black</vt:lpstr>
      <vt:lpstr>Arial</vt:lpstr>
      <vt:lpstr>Calibri</vt:lpstr>
      <vt:lpstr>Cambria Math</vt:lpstr>
      <vt:lpstr>Wingdings</vt:lpstr>
      <vt:lpstr>Office 主题</vt:lpstr>
      <vt:lpstr>CPU软渲染 路径追踪渲染器</vt:lpstr>
      <vt:lpstr>色彩科学</vt:lpstr>
      <vt:lpstr>色彩科学</vt:lpstr>
      <vt:lpstr>光谱如何参与渲染</vt:lpstr>
      <vt:lpstr>光谱如何参与渲染</vt:lpstr>
      <vt:lpstr>光谱如何参与渲染</vt:lpstr>
      <vt:lpstr>波长采样</vt:lpstr>
      <vt:lpstr>波长采样</vt:lpstr>
      <vt:lpstr>波长采样</vt:lpstr>
      <vt:lpstr>光谱数据从哪来？</vt:lpstr>
      <vt:lpstr>光谱数据从哪来？</vt:lpstr>
      <vt:lpstr>光谱数据从哪来？</vt:lpstr>
      <vt:lpstr>读取CSV文件</vt:lpstr>
      <vt:lpstr>拓展内容：Spectral MIS</vt:lpstr>
      <vt:lpstr>粗糙折射</vt:lpstr>
      <vt:lpstr>两种渲染方程</vt:lpstr>
      <vt:lpstr>路径积分</vt:lpstr>
      <vt:lpstr>路径积分    向光源采样</vt:lpstr>
      <vt:lpstr>路径积分  ——  化简</vt:lpstr>
      <vt:lpstr>路径积分  ——  路径空间</vt:lpstr>
      <vt:lpstr>路径积分  ——  蒙特卡洛估计</vt:lpstr>
      <vt:lpstr>路径积分  ——  蒙特卡洛估计 一般形式</vt:lpstr>
      <vt:lpstr>路径积分  ——  两种采样方式</vt:lpstr>
      <vt:lpstr>回顾多重重要性采样</vt:lpstr>
      <vt:lpstr>回顾多重重要性采样权重</vt:lpstr>
      <vt:lpstr>路径积分  ——  多重重要性采样</vt:lpstr>
      <vt:lpstr>路径积分  ——  测度的改变</vt:lpstr>
      <vt:lpstr>路径积分  ——  测度的改变</vt:lpstr>
      <vt:lpstr>路径积分  ——  多重重要性采样</vt:lpstr>
      <vt:lpstr>路径追踪流程</vt:lpstr>
      <vt:lpstr>路径追踪流程  ——  复用BSDF样本</vt:lpstr>
      <vt:lpstr>路径追踪流程  ——  区分两个BSDF样本</vt:lpstr>
      <vt:lpstr>路径追踪流程</vt:lpstr>
      <vt:lpstr>路径追踪</vt:lpstr>
      <vt:lpstr>路径追踪</vt:lpstr>
      <vt:lpstr>路径追踪</vt:lpstr>
      <vt:lpstr>光谱路径追踪</vt:lpstr>
      <vt:lpstr>路径追踪  ——  光谱形式</vt:lpstr>
      <vt:lpstr>路径追踪  ——  光谱形式</vt:lpstr>
      <vt:lpstr>光谱路径追踪  ——  两层估计</vt:lpstr>
      <vt:lpstr>光谱路径追踪  ——  多样本MIS</vt:lpstr>
      <vt:lpstr>光谱路径追踪  ——  单样本MIS</vt:lpstr>
      <vt:lpstr>光谱路径追踪  ——  单样本MIS</vt:lpstr>
      <vt:lpstr>光谱路径追踪  ——  反事实概率密度</vt:lpstr>
      <vt:lpstr>光谱路径追踪  ——  支持域</vt:lpstr>
      <vt:lpstr>光谱路径追踪  ——  支持域部分分离</vt:lpstr>
      <vt:lpstr>光谱路径追踪  ——  支持域完全分离</vt:lpstr>
      <vt:lpstr>光谱路径追踪  ——  Hero的隐式选择</vt:lpstr>
      <vt:lpstr>光谱路径追踪  ——  小结</vt:lpstr>
      <vt:lpstr>Spectral MIS + PT MIS</vt:lpstr>
      <vt:lpstr>MIS 分层组合</vt:lpstr>
      <vt:lpstr>MIS 分层组合</vt:lpstr>
      <vt:lpstr>MIS 分层组合 期望</vt:lpstr>
      <vt:lpstr>MIS 分层组合 支持域</vt:lpstr>
      <vt:lpstr>MIS 联合组合</vt:lpstr>
      <vt:lpstr>MIS 联合组合</vt:lpstr>
      <vt:lpstr>MIS 联合组合 期望</vt:lpstr>
      <vt:lpstr>MIS 联合组合 支持域</vt:lpstr>
      <vt:lpstr>两种方法的对比</vt:lpstr>
      <vt:lpstr>光谱路径追踪  ——  代码实现</vt:lpstr>
      <vt:lpstr>光谱路径追踪  ——  应对I_1</vt:lpstr>
      <vt:lpstr>光谱路径追踪  ——  应对Delta分布</vt:lpstr>
      <vt:lpstr>光谱路径追踪  ——  汇总</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骞深 姚</cp:lastModifiedBy>
  <cp:revision>668</cp:revision>
  <dcterms:created xsi:type="dcterms:W3CDTF">2023-08-09T12:44:00Z</dcterms:created>
  <dcterms:modified xsi:type="dcterms:W3CDTF">2026-08-03T12:15:56Z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2052-12.1.0.17147</vt:lpwstr>
  </property>
</Properties>
</file>