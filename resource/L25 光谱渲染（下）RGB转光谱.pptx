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7" r:id="rId2"/>
    <p:sldId id="429" r:id="rId3"/>
    <p:sldId id="431" r:id="rId4"/>
    <p:sldId id="434" r:id="rId5"/>
    <p:sldId id="544" r:id="rId6"/>
    <p:sldId id="545" r:id="rId7"/>
    <p:sldId id="546" r:id="rId8"/>
    <p:sldId id="547" r:id="rId9"/>
    <p:sldId id="548" r:id="rId10"/>
    <p:sldId id="549" r:id="rId11"/>
    <p:sldId id="550" r:id="rId12"/>
    <p:sldId id="551" r:id="rId13"/>
    <p:sldId id="552" r:id="rId14"/>
    <p:sldId id="554" r:id="rId15"/>
    <p:sldId id="565" r:id="rId16"/>
    <p:sldId id="566" r:id="rId17"/>
    <p:sldId id="568" r:id="rId18"/>
    <p:sldId id="567" r:id="rId19"/>
    <p:sldId id="569" r:id="rId20"/>
    <p:sldId id="570" r:id="rId21"/>
    <p:sldId id="571" r:id="rId22"/>
    <p:sldId id="572" r:id="rId23"/>
    <p:sldId id="589" r:id="rId24"/>
    <p:sldId id="590" r:id="rId25"/>
    <p:sldId id="575" r:id="rId26"/>
    <p:sldId id="576" r:id="rId27"/>
    <p:sldId id="577" r:id="rId28"/>
    <p:sldId id="579" r:id="rId29"/>
    <p:sldId id="578" r:id="rId30"/>
    <p:sldId id="582" r:id="rId31"/>
    <p:sldId id="580" r:id="rId32"/>
    <p:sldId id="581" r:id="rId33"/>
    <p:sldId id="584" r:id="rId34"/>
    <p:sldId id="585" r:id="rId35"/>
    <p:sldId id="586" r:id="rId36"/>
    <p:sldId id="587" r:id="rId37"/>
    <p:sldId id="588" r:id="rId38"/>
    <p:sldId id="583" r:id="rId39"/>
    <p:sldId id="596" r:id="rId40"/>
    <p:sldId id="591" r:id="rId41"/>
    <p:sldId id="592" r:id="rId42"/>
    <p:sldId id="593" r:id="rId43"/>
    <p:sldId id="594" r:id="rId44"/>
    <p:sldId id="595" r:id="rId45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6409"/>
    <a:srgbClr val="7C0216"/>
    <a:srgbClr val="008000"/>
    <a:srgbClr val="620212"/>
    <a:srgbClr val="163980"/>
    <a:srgbClr val="392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22" autoAdjust="0"/>
    <p:restoredTop sz="94660"/>
  </p:normalViewPr>
  <p:slideViewPr>
    <p:cSldViewPr snapToGrid="0">
      <p:cViewPr varScale="1">
        <p:scale>
          <a:sx n="99" d="100"/>
          <a:sy n="99" d="100"/>
        </p:scale>
        <p:origin x="44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1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6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8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9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0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1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3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 err="1">
                <a:sym typeface="+mn-ea"/>
              </a:rPr>
              <a:t>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1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1" name="任意多边形 10"/>
          <p:cNvSpPr/>
          <p:nvPr userDrawn="1">
            <p:custDataLst>
              <p:tags r:id="rId5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" panose="020B0200000000000000" pitchFamily="34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1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2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3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4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5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6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7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8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9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0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1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2026/8/18</a:t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Noto Sans SC Black" panose="020B0200000000000000" pitchFamily="34" charset="-122"/>
          <a:ea typeface="Noto Sans SC Black" panose="020B0200000000000000" pitchFamily="34" charset="-122"/>
          <a:cs typeface="Noto Sans SC" panose="020B0200000000000000" pitchFamily="3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Noto Sans SC" panose="020B0200000000000000" pitchFamily="34" charset="-122"/>
          <a:ea typeface="Noto Sans SC" panose="020B0200000000000000" pitchFamily="34" charset="-122"/>
          <a:cs typeface="Noto Sans SC" panose="020B0200000000000000" pitchFamily="3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Noto Sans SC" panose="020B0200000000000000" pitchFamily="34" charset="-122"/>
          <a:ea typeface="Noto Sans SC" panose="020B0200000000000000" pitchFamily="34" charset="-122"/>
          <a:cs typeface="Noto Sans SC" panose="020B0200000000000000" pitchFamily="3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Noto Sans SC" panose="020B0200000000000000" pitchFamily="34" charset="-122"/>
          <a:ea typeface="Noto Sans SC" panose="020B0200000000000000" pitchFamily="34" charset="-122"/>
          <a:cs typeface="Noto Sans SC" panose="020B0200000000000000" pitchFamily="3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Noto Sans SC" panose="020B0200000000000000" pitchFamily="34" charset="-122"/>
          <a:ea typeface="Noto Sans SC" panose="020B0200000000000000" pitchFamily="34" charset="-122"/>
          <a:cs typeface="Noto Sans SC" panose="020B0200000000000000" pitchFamily="3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Noto Sans SC" panose="020B0200000000000000" pitchFamily="34" charset="-122"/>
          <a:ea typeface="Noto Sans SC" panose="020B0200000000000000" pitchFamily="34" charset="-122"/>
          <a:cs typeface="Noto Sans SC" panose="020B02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2273300" y="1108075"/>
            <a:ext cx="8413750" cy="2502535"/>
          </a:xfrm>
        </p:spPr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dirty="0"/>
              <a:t>软渲染</a:t>
            </a:r>
            <a:br>
              <a:rPr dirty="0"/>
            </a:br>
            <a:r>
              <a:rPr dirty="0"/>
              <a:t>路径追踪渲染器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326525" y="4275976"/>
            <a:ext cx="8536294" cy="656600"/>
          </a:xfrm>
        </p:spPr>
        <p:txBody>
          <a:bodyPr>
            <a:normAutofit/>
          </a:bodyPr>
          <a:lstStyle/>
          <a:p>
            <a:r>
              <a:rPr lang="zh-CN" altLang="en-US" dirty="0"/>
              <a:t>光谱渲染（下）</a:t>
            </a:r>
            <a:r>
              <a:rPr lang="en-US" altLang="zh-CN" dirty="0"/>
              <a:t>RGB</a:t>
            </a:r>
            <a:r>
              <a:rPr lang="zh-CN" altLang="en-US" dirty="0"/>
              <a:t>转光谱</a:t>
            </a:r>
            <a:r>
              <a:rPr lang="en-US" altLang="zh-CN" dirty="0"/>
              <a:t> </a:t>
            </a:r>
            <a:r>
              <a:rPr lang="zh-CN" altLang="en-US" dirty="0"/>
              <a:t>               </a:t>
            </a:r>
            <a:r>
              <a:rPr lang="en-US" altLang="zh-CN" dirty="0"/>
              <a:t>B</a:t>
            </a:r>
            <a:r>
              <a:rPr lang="zh-CN" altLang="en-US" dirty="0"/>
              <a:t>站：</a:t>
            </a:r>
            <a:r>
              <a:rPr lang="en-US" altLang="zh-CN" dirty="0"/>
              <a:t>HeaoYe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9935-B5F6-BDCE-0291-9B694158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327861E-52DF-01E1-9F99-83BB50F4D08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为什么要</a:t>
            </a:r>
            <a:r>
              <a:rPr lang="en-US" altLang="zh-CN" dirty="0"/>
              <a:t>RGB</a:t>
            </a:r>
            <a:r>
              <a:rPr lang="zh-CN" altLang="en-US" dirty="0"/>
              <a:t>转光谱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6D01BD-CE01-8A6B-A303-3BE3ACB53154}"/>
              </a:ext>
            </a:extLst>
          </p:cNvPr>
          <p:cNvSpPr txBox="1"/>
          <p:nvPr/>
        </p:nvSpPr>
        <p:spPr>
          <a:xfrm>
            <a:off x="425004" y="1650375"/>
            <a:ext cx="609814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大多数的材质的表面都是由贴图定义的，在描述表面颜色的时候用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也更加的直观。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对于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渲染而言，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颜色能够很好的融入渲染的流程当中，但是对于光谱渲染来说，实际参与渲染的是光谱，而不是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的颜色。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于是，我们需要一种方法将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转换为光谱。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但是，这个转换的方法并不是唯一的，也就是一个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可能会对应着无穷多个光谱。就比如同色异谱现象，不同的反射光谱在同一个光源下可能会呈现出同一颜色。</a:t>
            </a:r>
            <a:endParaRPr lang="en-US" altLang="zh-CN" sz="20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DDF9DBE-B0EA-4C1A-EBE7-430056470850}"/>
                  </a:ext>
                </a:extLst>
              </p:cNvPr>
              <p:cNvSpPr txBox="1"/>
              <p:nvPr/>
            </p:nvSpPr>
            <p:spPr>
              <a:xfrm>
                <a:off x="7080982" y="1339328"/>
                <a:ext cx="4319251" cy="2357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DDF9DBE-B0EA-4C1A-EBE7-430056470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982" y="1339328"/>
                <a:ext cx="4319251" cy="2357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0C41CBC7-05E3-D3F2-8151-84D83455BC73}"/>
              </a:ext>
            </a:extLst>
          </p:cNvPr>
          <p:cNvSpPr txBox="1"/>
          <p:nvPr/>
        </p:nvSpPr>
        <p:spPr>
          <a:xfrm>
            <a:off x="7053595" y="3956417"/>
            <a:ext cx="43740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光谱转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是一个信息压缩的过程，将一整条光谱的信息压缩为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三个分量。所以单从</a:t>
            </a:r>
            <a:r>
              <a:rPr lang="en-US" altLang="zh-CN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20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自然不能还原出唯一对应的光谱。因此我们的目标是重建出新的光谱，而不是复原出原来的光谱。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183B-E6D2-AF73-FDC2-EF13F138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8A4DBA5-A316-AA7B-44EE-616CBBCED1C6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RGB</a:t>
            </a:r>
            <a:r>
              <a:rPr lang="zh-CN" altLang="en-US" dirty="0"/>
              <a:t>转光谱的约束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A4962C-10ED-64C1-0BB7-DCBA24846C04}"/>
              </a:ext>
            </a:extLst>
          </p:cNvPr>
          <p:cNvSpPr txBox="1"/>
          <p:nvPr/>
        </p:nvSpPr>
        <p:spPr>
          <a:xfrm>
            <a:off x="488437" y="1296127"/>
            <a:ext cx="57681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虽然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转光谱并没有一个唯一的解，而且为了同色异谱之类的渲染效果，可能反而需要将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转换为各不相同的光谱。因此，我们需要对“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转光谱”这个命题添加一些约束。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首先，我们目前将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转光谱的需求是源自于渲染的资产。原先的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渲染，可以轻松的用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颜色描述物体的表面，但是光谱渲染却不行。目前我们使用如下的方式作为临时的替代。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347B68-0FAF-527F-C99B-9A344EBF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27" y="4039622"/>
            <a:ext cx="5531134" cy="240042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D4BE218-872F-A7F7-3649-08F8003B5D98}"/>
              </a:ext>
            </a:extLst>
          </p:cNvPr>
          <p:cNvSpPr txBox="1"/>
          <p:nvPr/>
        </p:nvSpPr>
        <p:spPr>
          <a:xfrm>
            <a:off x="6516710" y="1296127"/>
            <a:ext cx="52744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</a:t>
            </a:r>
            <a:r>
              <a:rPr lang="zh-CN" altLang="en-US" sz="18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所以，第一个约束就是，</a:t>
            </a:r>
            <a:r>
              <a:rPr lang="en-US" altLang="zh-CN" sz="18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sz="18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转换出的光谱应当是一个反射光谱，也就是各个波长对应的数值范围都是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0 – 1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sz="18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 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其次，原先用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描述颜色，只需要三个参数，但是大多数光谱的描述都需要更多的存储。对于贴图材质而言，如果每个像素的颜色存储空间从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3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个分量变为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10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个甚至更多，显然是不能接受的。因此第二个约束就是，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转换到的光谱应当可以用尽量少的参数去表示。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sz="18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 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最后，还需要考虑性能，一个是</a:t>
            </a:r>
            <a:r>
              <a:rPr lang="en-US" altLang="zh-CN" dirty="0">
                <a:latin typeface="Noto Sans SC" panose="020B0200000000000000" pitchFamily="34" charset="-122"/>
                <a:ea typeface="Noto Sans SC" panose="020B0200000000000000" pitchFamily="34" charset="-122"/>
              </a:rPr>
              <a:t>RGB</a:t>
            </a:r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转换到光谱的性能，另一个是计算光谱的波长对应的数值的性能。我们希望转换得到光谱的过程应当尽可能的简单，并且得到波长对应值的方法尽可能简便。</a:t>
            </a:r>
            <a:endParaRPr lang="en-US" altLang="zh-CN" sz="1800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360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DDA2-71A8-B45C-B013-F096CD09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13322F9-450E-F79C-FCA5-D814B677D19A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反射光谱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5EF2108-D0F4-0F9C-C700-58FDC8C97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134" y="1026523"/>
            <a:ext cx="8537601" cy="48049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DAB648C-98C1-82BA-FD50-C710818A30AA}"/>
              </a:ext>
            </a:extLst>
          </p:cNvPr>
          <p:cNvSpPr txBox="1"/>
          <p:nvPr/>
        </p:nvSpPr>
        <p:spPr>
          <a:xfrm>
            <a:off x="404725" y="1609079"/>
            <a:ext cx="24286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         我们可以观察一下这些不同颜色的反射光谱的形状：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单峰：蓝色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平缓的单峰：青色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单谷：紫色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单调：橘色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just"/>
            <a:r>
              <a:rPr lang="zh-CN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平线：灰色</a:t>
            </a:r>
            <a:endParaRPr lang="en-US" altLang="zh-CN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58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9393-D61E-280A-2088-AF0B534D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17A08E0-94D3-91ED-EE70-49343A3C1AA8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反射光谱的表示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C8F39D7-E412-5CEF-4F72-1E0A93F3BF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08" y="3122529"/>
            <a:ext cx="6092667" cy="34289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492731C-9922-A692-9777-A01EE755C777}"/>
                  </a:ext>
                </a:extLst>
              </p:cNvPr>
              <p:cNvSpPr txBox="1"/>
              <p:nvPr/>
            </p:nvSpPr>
            <p:spPr>
              <a:xfrm>
                <a:off x="512529" y="1214964"/>
                <a:ext cx="11072018" cy="1772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通过观察一些常见的颜色的反射光谱，综合前面提到的约束：数值范围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0-1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、存储少、求值快，我们可以得到如下的光谱表示方式：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𝑢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𝑢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𝜆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𝑢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0, 1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Noto Sans SC" panose="020B0200000000000000" pitchFamily="34" charset="-122"/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首先表示该光谱只需要三个参数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；其次，其中的二次式可以表示出峰、谷、斜线等等曲线结构；最后，</a:t>
                </a:r>
                <a:r>
                  <a:rPr lang="en-US" altLang="zh-CN" dirty="0">
                    <a:ea typeface="Noto Sans SC" panose="020B0200000000000000" pitchFamily="34" charset="-122"/>
                  </a:rPr>
                  <a:t>Sigmoid</a:t>
                </a:r>
                <a:r>
                  <a:rPr lang="zh-CN" altLang="en-US" dirty="0">
                    <a:ea typeface="Noto Sans SC" panose="020B0200000000000000" pitchFamily="34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Noto Sans SC" panose="020B0200000000000000" pitchFamily="34" charset="-122"/>
                      </a:rPr>
                      <m:t>𝑠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保证了最终的数值范围是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0 – 1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。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492731C-9922-A692-9777-A01EE755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29" y="1214964"/>
                <a:ext cx="11072018" cy="1772601"/>
              </a:xfrm>
              <a:prstGeom prst="rect">
                <a:avLst/>
              </a:prstGeom>
              <a:blipFill>
                <a:blip r:embed="rId3"/>
                <a:stretch>
                  <a:fillRect l="-441" t="-1718" r="-496" b="-4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6BFAAD5-6409-F026-EA72-735798BD6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37" y="3122529"/>
            <a:ext cx="4571929" cy="34289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5890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4FDF-CE54-05A7-8565-BFE70EFF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38DD96C-4BF7-9F28-10CF-D9BAC43CEF96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怎么得到反射光谱？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C052486-E8F8-288B-2B31-F70E81EE87CD}"/>
                  </a:ext>
                </a:extLst>
              </p:cNvPr>
              <p:cNvSpPr txBox="1"/>
              <p:nvPr/>
            </p:nvSpPr>
            <p:spPr>
              <a:xfrm>
                <a:off x="512529" y="1214964"/>
                <a:ext cx="11072018" cy="4465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/>
                <a:endParaRPr lang="en-US" altLang="zh-CN" dirty="0">
                  <a:latin typeface="+mn-ea"/>
                </a:endParaRPr>
              </a:p>
              <a:p>
                <a:pPr algn="just"/>
                <a:r>
                  <a:rPr lang="en-US" altLang="zh-CN" b="0" dirty="0">
                    <a:latin typeface="+mn-ea"/>
                  </a:rPr>
                  <a:t>         </a:t>
                </a:r>
                <a:r>
                  <a:rPr lang="zh-CN" altLang="en-US" b="0" dirty="0">
                    <a:latin typeface="+mn-ea"/>
                  </a:rPr>
                  <a:t>这种表示方式满足了所有的约束，所以我们接下来的任务就是想办法将</a:t>
                </a:r>
                <a:r>
                  <a:rPr lang="zh-CN" altLang="en-US" dirty="0">
                    <a:latin typeface="+mn-ea"/>
                  </a:rPr>
                  <a:t>线性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𝑅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𝐺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n-ea"/>
                  </a:rPr>
                  <a:t>转换为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dirty="0">
                    <a:latin typeface="+mn-ea"/>
                  </a:rPr>
                  <a:t>。</a:t>
                </a:r>
                <a:endParaRPr lang="en-US" altLang="zh-CN" b="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这个转换过程可能并没有解析解，但是我们可以从数值优化的角度来看这个问题：</a:t>
                </a:r>
                <a:endParaRPr lang="en-US" altLang="zh-CN" b="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b="0" dirty="0">
                    <a:latin typeface="+mn-ea"/>
                  </a:rPr>
                  <a:t>         </a:t>
                </a:r>
                <a:r>
                  <a:rPr lang="zh-CN" altLang="en-US" b="0" dirty="0">
                    <a:latin typeface="+mn-ea"/>
                  </a:rPr>
                  <a:t>首先要知道，反射光谱本身没有颜色，他必须被一定的光源照亮，而后它反射出的光线才会有颜色，我们就令一个标准的照明光源的光谱为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Noto Sans SC" panose="020B0200000000000000" pitchFamily="34" charset="-122"/>
                      </a:rPr>
                      <m:t>𝐼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𝜆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+mn-ea"/>
                  </a:rPr>
                  <a:t>，于是就可以计算得到颜色：</a:t>
                </a:r>
                <a:endParaRPr lang="en-US" altLang="zh-CN" b="0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eqAr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̅"/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eqAr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𝑙𝑖𝑛𝑒𝑎𝑟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𝑋𝑌𝑍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𝑅𝐺𝐵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其中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为匹配函数，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𝑋𝑌𝑍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𝑅𝐺𝐵</m:t>
                        </m:r>
                      </m:sub>
                    </m:sSub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为某个色彩空间从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XYZ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到线性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RGB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转换矩阵，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是归一化系数，为了使常数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的反射光谱对应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Y = 1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。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于是，从数值优化的角度来看，为了得到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𝑅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𝐺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对应的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，我们的任务就变成了从一个初始的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Noto Sans SC" panose="020B0200000000000000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Noto Sans SC" panose="020B0200000000000000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参数，不断进行优化，尽量减少重建的反射光谱对应的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RGB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颜色与原始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RGB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颜色的差距。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C052486-E8F8-288B-2B31-F70E81EE8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29" y="1214964"/>
                <a:ext cx="11072018" cy="4465261"/>
              </a:xfrm>
              <a:prstGeom prst="rect">
                <a:avLst/>
              </a:prstGeom>
              <a:blipFill>
                <a:blip r:embed="rId2"/>
                <a:stretch>
                  <a:fillRect l="-441" r="-496" b="-1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17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7C1F5-F1F4-AA2B-A75F-AF88B4864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F363522-E8A8-4957-59F9-22FD4B9DDDEE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数值优化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3FD04CF-D14C-6706-9916-CD9778013230}"/>
                  </a:ext>
                </a:extLst>
              </p:cNvPr>
              <p:cNvSpPr txBox="1"/>
              <p:nvPr/>
            </p:nvSpPr>
            <p:spPr>
              <a:xfrm>
                <a:off x="512529" y="1214964"/>
                <a:ext cx="11072018" cy="3940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Noto Sans SC" panose="020B0200000000000000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Noto Sans SC" panose="020B0200000000000000" pitchFamily="34" charset="-122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  <a:ea typeface="Noto Sans SC" panose="020B0200000000000000" pitchFamily="34" charset="-122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（"/>
                          <m:endChr m:val="）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eqAr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𝑋𝑌𝑍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𝑅𝐺𝐵</m:t>
                          </m:r>
                        </m:sub>
                      </m:sSub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b="1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为目标颜色，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为被优化的参数，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为该参数下所计算出的</a:t>
                </a: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RGB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颜色。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于是，优化目标为：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也就是说，我们希望让目标色彩与重建颜色在色彩空间中的欧式距离最小。</a:t>
                </a:r>
                <a:endParaRPr lang="en-US" altLang="zh-CN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         </a:t>
                </a:r>
                <a:r>
                  <a:rPr lang="zh-CN" altLang="en-US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但是，这种方案其实并不是很好，因为人眼对色彩差异的感知并不是线性的，甚至对不同亮度的白色的感知都不是线性的。为了更好的量化目标色彩与重建颜色对于视觉感知的差异，我们可以将二者的色差作为优化目标，也就是常说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i="1" dirty="0">
                    <a:latin typeface="Noto Sans SC" panose="020B0200000000000000" pitchFamily="34" charset="-122"/>
                    <a:ea typeface="Noto Sans SC" panose="020B0200000000000000" pitchFamily="34" charset="-122"/>
                  </a:rPr>
                  <a:t>。</a:t>
                </a:r>
                <a:endParaRPr lang="en-US" altLang="zh-CN" i="1" dirty="0">
                  <a:latin typeface="Noto Sans SC" panose="020B0200000000000000" pitchFamily="34" charset="-122"/>
                  <a:ea typeface="Noto Sans SC" panose="020B0200000000000000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3FD04CF-D14C-6706-9916-CD9778013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29" y="1214964"/>
                <a:ext cx="11072018" cy="3940118"/>
              </a:xfrm>
              <a:prstGeom prst="rect">
                <a:avLst/>
              </a:prstGeom>
              <a:blipFill>
                <a:blip r:embed="rId2"/>
                <a:stretch>
                  <a:fillRect l="-441" b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56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165C6-4B8D-DA97-CA1D-3A487775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6A0CC31-B0A9-1F1F-7223-1C281D37F299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zh-CN" dirty="0"/>
              <a:t>CIELAB</a:t>
            </a:r>
            <a:r>
              <a:rPr lang="zh-CN" altLang="en-US" dirty="0"/>
              <a:t>色彩空间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3215645-3CEE-8516-062D-16FD051CE54D}"/>
                  </a:ext>
                </a:extLst>
              </p:cNvPr>
              <p:cNvSpPr txBox="1"/>
              <p:nvPr/>
            </p:nvSpPr>
            <p:spPr>
              <a:xfrm>
                <a:off x="559991" y="1363434"/>
                <a:ext cx="11072018" cy="4131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i="1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因为一般的色彩空间对于人眼的色彩感知来说并不是均匀的，于是</a:t>
                </a:r>
                <a:r>
                  <a:rPr lang="en-US" altLang="zh-CN" dirty="0">
                    <a:latin typeface="+mn-ea"/>
                  </a:rPr>
                  <a:t>CIE</a:t>
                </a:r>
                <a:r>
                  <a:rPr lang="zh-CN" altLang="en-US" dirty="0">
                    <a:latin typeface="+mn-ea"/>
                  </a:rPr>
                  <a:t>在</a:t>
                </a:r>
                <a:r>
                  <a:rPr lang="en-US" altLang="zh-CN" dirty="0">
                    <a:latin typeface="+mn-ea"/>
                  </a:rPr>
                  <a:t>1976</a:t>
                </a:r>
                <a:r>
                  <a:rPr lang="zh-CN" altLang="en-US" dirty="0">
                    <a:latin typeface="+mn-ea"/>
                  </a:rPr>
                  <a:t>年定义了</a:t>
                </a:r>
                <a:r>
                  <a:rPr lang="en-US" altLang="zh-CN" dirty="0">
                    <a:latin typeface="+mn-ea"/>
                  </a:rPr>
                  <a:t>CIELAB</a:t>
                </a:r>
                <a:r>
                  <a:rPr lang="zh-CN" altLang="en-US" dirty="0">
                    <a:latin typeface="+mn-ea"/>
                  </a:rPr>
                  <a:t>色彩空间，这个色彩空间中颜色的分布对于人眼感知更加的均匀，而这个色彩空间中两个颜色的欧式距离，就是我们常说的色差：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CIE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76 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29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+mn-ea"/>
                </a:endParaRPr>
              </a:p>
              <a:p>
                <a:pPr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=116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−16,  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=500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=200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76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𝐿𝑎𝑏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𝑿𝒀𝒁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𝐿𝑎𝑏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𝑿𝒀𝒁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20000"/>
                  </a:lnSpc>
                  <a:spcBef>
                    <a:spcPts val="800"/>
                  </a:spcBef>
                </a:pPr>
                <a:r>
                  <a:rPr lang="en-US" altLang="zh-CN" i="1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为参考白的</a:t>
                </a:r>
                <a:r>
                  <a:rPr lang="en-US" altLang="zh-CN" dirty="0">
                    <a:latin typeface="+mn-ea"/>
                  </a:rPr>
                  <a:t>XYZ</a:t>
                </a:r>
                <a:r>
                  <a:rPr lang="zh-CN" altLang="en-US" dirty="0">
                    <a:latin typeface="+mn-ea"/>
                  </a:rPr>
                  <a:t>坐标，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可以看作非线性压缩函数，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大致可以解释为明度分量、绿红分量、蓝黄分量。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3215645-3CEE-8516-062D-16FD051CE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91" y="1363434"/>
                <a:ext cx="11072018" cy="4131131"/>
              </a:xfrm>
              <a:prstGeom prst="rect">
                <a:avLst/>
              </a:prstGeom>
              <a:blipFill>
                <a:blip r:embed="rId2"/>
                <a:stretch>
                  <a:fillRect l="-496" t="-886" r="-441" b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46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BE1C-A2D3-2E2B-576E-FDB4A66C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592B6BE-F1CF-4119-259A-DA64DEA7C54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数值优化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53B521F-D943-D0D5-CD71-C40F374F07D9}"/>
                  </a:ext>
                </a:extLst>
              </p:cNvPr>
              <p:cNvSpPr txBox="1"/>
              <p:nvPr/>
            </p:nvSpPr>
            <p:spPr>
              <a:xfrm>
                <a:off x="512529" y="1214964"/>
                <a:ext cx="11072018" cy="4787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令：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𝑋𝑌𝑍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𝑅𝐺𝐵</m:t>
                          </m:r>
                        </m:sub>
                      </m:sSub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             </a:t>
                </a:r>
                <a:r>
                  <a:rPr lang="zh-CN" altLang="en-US" dirty="0">
                    <a:latin typeface="+mn-ea"/>
                  </a:rPr>
                  <a:t>由于</a:t>
                </a:r>
                <a:r>
                  <a:rPr lang="en-US" altLang="zh-CN" dirty="0">
                    <a:latin typeface="+mn-ea"/>
                  </a:rPr>
                  <a:t>CIELAB</a:t>
                </a:r>
                <a:r>
                  <a:rPr lang="zh-CN" altLang="en-US" dirty="0">
                    <a:latin typeface="+mn-ea"/>
                  </a:rPr>
                  <a:t>是由</a:t>
                </a:r>
                <a:r>
                  <a:rPr lang="en-US" altLang="zh-CN" dirty="0">
                    <a:latin typeface="+mn-ea"/>
                  </a:rPr>
                  <a:t>XYZ</a:t>
                </a:r>
                <a:r>
                  <a:rPr lang="zh-CN" altLang="en-US" dirty="0">
                    <a:latin typeface="+mn-ea"/>
                  </a:rPr>
                  <a:t>计算得到的，于是：</a:t>
                </a:r>
                <a:endParaRPr lang="en-US" altLang="zh-CN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𝑅𝐺𝐵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𝑋𝑌𝑍</m:t>
                          </m:r>
                        </m:sub>
                      </m:sSub>
                      <m:d>
                        <m:dPr>
                          <m:begChr m:val="（"/>
                          <m:endChr m:val="）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eqAr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𝑿𝒀𝒁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转换到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CIELAB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76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𝑿𝒀𝒁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计算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色差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76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𝑿𝒀𝒁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b="1" dirty="0">
                    <a:latin typeface="+mn-ea"/>
                  </a:rPr>
                  <a:t>                     </a:t>
                </a:r>
                <a:r>
                  <a:rPr lang="zh-CN" altLang="en-US" dirty="0">
                    <a:latin typeface="+mn-ea"/>
                  </a:rPr>
                  <a:t>优化目标变为：</a:t>
                </a:r>
                <a:endParaRPr lang="en-US" altLang="zh-CN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76</m:t>
                              </m:r>
                            </m:sub>
                          </m:sSub>
                        </m:e>
                      </m:fun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𝐿𝑎𝑏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𝐿𝑎𝑏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𝐿𝑎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𝐿𝑎𝑏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令：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func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latin typeface="+mn-ea"/>
                  </a:rPr>
                  <a:t>怎么做数值优化？</a:t>
                </a:r>
                <a:endParaRPr lang="en-US" altLang="zh-CN" b="1" dirty="0">
                  <a:latin typeface="+mn-ea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53B521F-D943-D0D5-CD71-C40F374F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29" y="1214964"/>
                <a:ext cx="11072018" cy="4787401"/>
              </a:xfrm>
              <a:prstGeom prst="rect">
                <a:avLst/>
              </a:prstGeom>
              <a:blipFill>
                <a:blip r:embed="rId2"/>
                <a:stretch>
                  <a:fillRect l="-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11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F54C-BF92-B2D1-C66D-DF20813B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F1DB7D4-CAAF-1EC3-1382-7F4B3A3C68A0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Newton–Raphson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943A3AA-D7B1-CE97-1750-1AB3909B0D7C}"/>
                  </a:ext>
                </a:extLst>
              </p:cNvPr>
              <p:cNvSpPr txBox="1"/>
              <p:nvPr/>
            </p:nvSpPr>
            <p:spPr>
              <a:xfrm>
                <a:off x="480332" y="1491860"/>
                <a:ext cx="5615667" cy="4061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先来看一元的情况，假如目标是解如下的方程：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但是我们并不知道零点在哪，于是可以猜测一个零点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附近做一阶</a:t>
                </a:r>
                <a:r>
                  <a:rPr lang="en-US" altLang="zh-CN" dirty="0">
                    <a:latin typeface="+mn-ea"/>
                  </a:rPr>
                  <a:t>Taylor</a:t>
                </a:r>
                <a:r>
                  <a:rPr lang="zh-CN" altLang="en-US" dirty="0">
                    <a:latin typeface="+mn-ea"/>
                  </a:rPr>
                  <a:t>展开：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zh-CN" dirty="0"/>
                  <a:t>Newton</a:t>
                </a:r>
                <a:r>
                  <a:rPr lang="en-US" altLang="zh-CN" dirty="0"/>
                  <a:t>-Raphson</a:t>
                </a:r>
                <a:r>
                  <a:rPr lang="zh-CN" altLang="en-US" dirty="0"/>
                  <a:t>法的想法非常简单，既然真实的函数不好求解，那么就先把当前位置附近的函数近似为一条直线，并找到这条直线的零点：</a:t>
                </a:r>
                <a:endParaRPr lang="en-US" altLang="zh-CN" dirty="0"/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然后更新，得到下一个点：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943A3AA-D7B1-CE97-1750-1AB3909B0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32" y="1491860"/>
                <a:ext cx="5615667" cy="4061753"/>
              </a:xfrm>
              <a:prstGeom prst="rect">
                <a:avLst/>
              </a:prstGeom>
              <a:blipFill>
                <a:blip r:embed="rId2"/>
                <a:stretch>
                  <a:fillRect l="-977" t="-901" r="-7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7B6BE3EF-BDD9-3D43-6658-0BC8593E83DB}"/>
              </a:ext>
            </a:extLst>
          </p:cNvPr>
          <p:cNvGrpSpPr/>
          <p:nvPr/>
        </p:nvGrpSpPr>
        <p:grpSpPr>
          <a:xfrm>
            <a:off x="6286735" y="1608875"/>
            <a:ext cx="5279155" cy="3322749"/>
            <a:chOff x="6265571" y="1712890"/>
            <a:chExt cx="5279155" cy="332274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721AD73-2344-02CF-79A0-C1CA31592AF6}"/>
                </a:ext>
              </a:extLst>
            </p:cNvPr>
            <p:cNvCxnSpPr/>
            <p:nvPr/>
          </p:nvCxnSpPr>
          <p:spPr>
            <a:xfrm>
              <a:off x="6265571" y="4604197"/>
              <a:ext cx="475230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10ACE712-FE69-FEA5-DDD8-FA7BAEC18021}"/>
                </a:ext>
              </a:extLst>
            </p:cNvPr>
            <p:cNvCxnSpPr/>
            <p:nvPr/>
          </p:nvCxnSpPr>
          <p:spPr>
            <a:xfrm flipV="1">
              <a:off x="6703454" y="1938270"/>
              <a:ext cx="0" cy="30973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4AC70B1-7419-8463-2997-C1E24F4781F0}"/>
                </a:ext>
              </a:extLst>
            </p:cNvPr>
            <p:cNvSpPr/>
            <p:nvPr/>
          </p:nvSpPr>
          <p:spPr>
            <a:xfrm>
              <a:off x="6703454" y="1764405"/>
              <a:ext cx="4456091" cy="3078298"/>
            </a:xfrm>
            <a:custGeom>
              <a:avLst/>
              <a:gdLst>
                <a:gd name="csX0" fmla="*/ 0 w 4456091"/>
                <a:gd name="csY0" fmla="*/ 3058733 h 3078298"/>
                <a:gd name="csX1" fmla="*/ 862885 w 4456091"/>
                <a:gd name="csY1" fmla="*/ 3045854 h 3078298"/>
                <a:gd name="csX2" fmla="*/ 2021983 w 4456091"/>
                <a:gd name="csY2" fmla="*/ 2756079 h 3078298"/>
                <a:gd name="csX3" fmla="*/ 3110248 w 4456091"/>
                <a:gd name="csY3" fmla="*/ 2073499 h 3078298"/>
                <a:gd name="csX4" fmla="*/ 4179195 w 4456091"/>
                <a:gd name="csY4" fmla="*/ 766293 h 3078298"/>
                <a:gd name="csX5" fmla="*/ 4456091 w 4456091"/>
                <a:gd name="csY5" fmla="*/ 0 h 307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56091" h="3078298">
                  <a:moveTo>
                    <a:pt x="0" y="3058733"/>
                  </a:moveTo>
                  <a:cubicBezTo>
                    <a:pt x="262944" y="3077514"/>
                    <a:pt x="525888" y="3096296"/>
                    <a:pt x="862885" y="3045854"/>
                  </a:cubicBezTo>
                  <a:cubicBezTo>
                    <a:pt x="1199882" y="2995412"/>
                    <a:pt x="1647422" y="2918138"/>
                    <a:pt x="2021983" y="2756079"/>
                  </a:cubicBezTo>
                  <a:cubicBezTo>
                    <a:pt x="2396544" y="2594020"/>
                    <a:pt x="2750713" y="2405130"/>
                    <a:pt x="3110248" y="2073499"/>
                  </a:cubicBezTo>
                  <a:cubicBezTo>
                    <a:pt x="3469783" y="1741868"/>
                    <a:pt x="3954888" y="1111876"/>
                    <a:pt x="4179195" y="766293"/>
                  </a:cubicBezTo>
                  <a:cubicBezTo>
                    <a:pt x="4403502" y="420710"/>
                    <a:pt x="4404576" y="202842"/>
                    <a:pt x="4456091" y="0"/>
                  </a:cubicBezTo>
                </a:path>
              </a:pathLst>
            </a:custGeom>
            <a:ln w="28575">
              <a:solidFill>
                <a:srgbClr val="FF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00C1411-E2B1-8165-C045-E297B053D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60959" y="1712890"/>
              <a:ext cx="2183767" cy="2891307"/>
            </a:xfrm>
            <a:prstGeom prst="line">
              <a:avLst/>
            </a:prstGeom>
            <a:ln w="19050">
              <a:solidFill>
                <a:srgbClr val="FFC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A4C877E-FD05-5CC4-0BA3-5FEDC777D052}"/>
                </a:ext>
              </a:extLst>
            </p:cNvPr>
            <p:cNvCxnSpPr>
              <a:cxnSpLocks/>
            </p:cNvCxnSpPr>
            <p:nvPr/>
          </p:nvCxnSpPr>
          <p:spPr>
            <a:xfrm>
              <a:off x="9389028" y="4146997"/>
              <a:ext cx="0" cy="426075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5A2AAC2-3602-9EB7-59F3-3E43BD059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5176" y="3321172"/>
              <a:ext cx="2078217" cy="1283025"/>
            </a:xfrm>
            <a:prstGeom prst="line">
              <a:avLst/>
            </a:prstGeom>
            <a:ln w="1905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8111959-3FE2-E99D-1256-8B2F70405E14}"/>
                </a:ext>
              </a:extLst>
            </p:cNvPr>
            <p:cNvSpPr/>
            <p:nvPr/>
          </p:nvSpPr>
          <p:spPr>
            <a:xfrm>
              <a:off x="10657268" y="2745507"/>
              <a:ext cx="96591" cy="965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F847F85-E538-E6F9-B91E-BFA5EDD37127}"/>
                </a:ext>
              </a:extLst>
            </p:cNvPr>
            <p:cNvSpPr/>
            <p:nvPr/>
          </p:nvSpPr>
          <p:spPr>
            <a:xfrm>
              <a:off x="8713798" y="4555902"/>
              <a:ext cx="96591" cy="965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DBED412-F903-2678-5E7B-A89F23BE3393}"/>
                </a:ext>
              </a:extLst>
            </p:cNvPr>
            <p:cNvSpPr/>
            <p:nvPr/>
          </p:nvSpPr>
          <p:spPr>
            <a:xfrm>
              <a:off x="9340732" y="4142866"/>
              <a:ext cx="96591" cy="965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BE747E2-F23F-4A90-7419-02B54BD4566D}"/>
                    </a:ext>
                  </a:extLst>
                </p:cNvPr>
                <p:cNvSpPr txBox="1"/>
                <p:nvPr/>
              </p:nvSpPr>
              <p:spPr>
                <a:xfrm>
                  <a:off x="10248363" y="2494994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FBE747E2-F23F-4A90-7419-02B54BD45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8363" y="2494994"/>
                  <a:ext cx="457200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r="-1866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03D55CF-5DC9-F5F3-1F03-73A57EB31483}"/>
                    </a:ext>
                  </a:extLst>
                </p:cNvPr>
                <p:cNvSpPr txBox="1"/>
                <p:nvPr/>
              </p:nvSpPr>
              <p:spPr>
                <a:xfrm>
                  <a:off x="9112132" y="3641148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03D55CF-5DC9-F5F3-1F03-73A57EB31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2132" y="3641148"/>
                  <a:ext cx="457200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213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2978B1F-A717-A906-76F9-ED3E689C9C02}"/>
                    </a:ext>
                  </a:extLst>
                </p:cNvPr>
                <p:cNvSpPr txBox="1"/>
                <p:nvPr/>
              </p:nvSpPr>
              <p:spPr>
                <a:xfrm>
                  <a:off x="8583507" y="4635251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2978B1F-A717-A906-76F9-ED3E689C9C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3507" y="4635251"/>
                  <a:ext cx="45720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20000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84906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69B0-E79F-4DCF-4185-5B974E95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25F3BF6-A2DF-DA4D-8103-720A642DF24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多元参数的情况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E5DB5DE-9490-A5B5-D048-83B0B90A9010}"/>
                  </a:ext>
                </a:extLst>
              </p:cNvPr>
              <p:cNvSpPr txBox="1"/>
              <p:nvPr/>
            </p:nvSpPr>
            <p:spPr>
              <a:xfrm>
                <a:off x="247650" y="1150081"/>
                <a:ext cx="5518150" cy="4785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再来看一下多元的情况，比如先前定义的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e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e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E5DB5DE-9490-A5B5-D048-83B0B90A9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150081"/>
                <a:ext cx="5518150" cy="4785028"/>
              </a:xfrm>
              <a:prstGeom prst="rect">
                <a:avLst/>
              </a:prstGeom>
              <a:blipFill>
                <a:blip r:embed="rId2"/>
                <a:stretch>
                  <a:fillRect l="-994" r="-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296BE4A-05A9-75C3-96EA-ECF0BB1E2726}"/>
                  </a:ext>
                </a:extLst>
              </p:cNvPr>
              <p:cNvSpPr txBox="1"/>
              <p:nvPr/>
            </p:nvSpPr>
            <p:spPr>
              <a:xfrm>
                <a:off x="6140450" y="1840912"/>
                <a:ext cx="5518150" cy="3001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Cambria Math" panose="02040503050406030204" pitchFamily="18" charset="0"/>
                  </a:rPr>
                  <a:t>        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我们的数值优化目标仍然是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，于是，同样首先猜测一个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，并在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附近做一阶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Taylor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展开：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8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1" i="0" dirty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sz="1800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sz="1800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求解这个线性近似：</a:t>
                </a:r>
                <a:endParaRPr lang="en-US" altLang="zh-CN" sz="18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zh-CN" altLang="en-US" dirty="0">
                    <a:latin typeface="+mn-ea"/>
                  </a:rPr>
                  <a:t>是可逆方阵：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296BE4A-05A9-75C3-96EA-ECF0BB1E2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450" y="1840912"/>
                <a:ext cx="5518150" cy="3001912"/>
              </a:xfrm>
              <a:prstGeom prst="rect">
                <a:avLst/>
              </a:prstGeom>
              <a:blipFill>
                <a:blip r:embed="rId3"/>
                <a:stretch>
                  <a:fillRect l="-883" t="-1423" r="-883" b="-2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93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68CE-67E8-7E74-3E93-DA9C08A02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8193FA-D92D-28DF-D7DC-E7FBD049CE7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一元与多元牛顿法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A326A09-5378-2249-5AF9-67C728599A24}"/>
                  </a:ext>
                </a:extLst>
              </p:cNvPr>
              <p:cNvSpPr txBox="1"/>
              <p:nvPr/>
            </p:nvSpPr>
            <p:spPr>
              <a:xfrm>
                <a:off x="177802" y="1555162"/>
                <a:ext cx="5676899" cy="3703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b="1" i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b="1" i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sz="1800" b="1" i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可以看到，多元的情况与一元略有不同。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在一元时，局部的展开是一条切线，这条切线一般可以找到与</a:t>
                </a:r>
                <a:r>
                  <a:rPr lang="en-US" altLang="zh-CN" dirty="0">
                    <a:latin typeface="+mn-ea"/>
                  </a:rPr>
                  <a:t>x</a:t>
                </a:r>
                <a:r>
                  <a:rPr lang="zh-CN" altLang="en-US" dirty="0">
                    <a:latin typeface="+mn-ea"/>
                  </a:rPr>
                  <a:t>轴的交点，也就是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n-ea"/>
                  </a:rPr>
                  <a:t>一般有唯一解。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A326A09-5378-2249-5AF9-67C72859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2" y="1555162"/>
                <a:ext cx="5676899" cy="3703514"/>
              </a:xfrm>
              <a:prstGeom prst="rect">
                <a:avLst/>
              </a:prstGeom>
              <a:blipFill>
                <a:blip r:embed="rId2"/>
                <a:stretch>
                  <a:fillRect l="-859" t="-822" r="-859" b="-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C9736F-D7FB-CC84-8E4A-3C9A4F238034}"/>
                  </a:ext>
                </a:extLst>
              </p:cNvPr>
              <p:cNvSpPr txBox="1"/>
              <p:nvPr/>
            </p:nvSpPr>
            <p:spPr>
              <a:xfrm>
                <a:off x="6000750" y="1663112"/>
                <a:ext cx="5676900" cy="3385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而对于多元的情况，局部的展开是一个线性变换，展开后的方程：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但是这个方程并不是总能被稳定、唯一地精确求解。就比如</a:t>
                </a:r>
                <a:r>
                  <a:rPr lang="en-US" altLang="zh-CN" dirty="0">
                    <a:latin typeface="+mn-ea"/>
                  </a:rPr>
                  <a:t>J</a:t>
                </a:r>
                <a:r>
                  <a:rPr lang="zh-CN" altLang="en-US" dirty="0">
                    <a:latin typeface="+mn-ea"/>
                  </a:rPr>
                  <a:t>不是方阵的情况。</a:t>
                </a:r>
                <a:endParaRPr lang="en-US" altLang="zh-CN" dirty="0">
                  <a:latin typeface="+mn-ea"/>
                </a:endParaRPr>
              </a:p>
              <a:p>
                <a:endParaRPr lang="en-US" altLang="zh-CN" sz="1800" dirty="0">
                  <a:latin typeface="+mn-ea"/>
                </a:endParaRPr>
              </a:p>
              <a:p>
                <a:r>
                  <a:rPr lang="en-US" altLang="zh-CN" sz="1800" dirty="0">
                    <a:latin typeface="+mn-ea"/>
                  </a:rPr>
                  <a:t>          </a:t>
                </a:r>
                <a:r>
                  <a:rPr lang="zh-CN" altLang="en-US" sz="1800" dirty="0">
                    <a:latin typeface="+mn-ea"/>
                  </a:rPr>
                  <a:t>如果无法精确的让局部线性化的</a:t>
                </a:r>
                <a14:m>
                  <m:oMath xmlns:m="http://schemas.openxmlformats.org/officeDocument/2006/math">
                    <m:r>
                      <a:rPr lang="en-US" altLang="zh-CN" sz="1800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18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b="0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800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8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，那么能不能让它</a:t>
                </a:r>
                <a:r>
                  <a:rPr lang="zh-CN" altLang="en-US" dirty="0">
                    <a:latin typeface="+mn-ea"/>
                  </a:rPr>
                  <a:t>尽可能小</a:t>
                </a:r>
                <a:r>
                  <a:rPr lang="zh-CN" altLang="en-US" sz="1800" dirty="0">
                    <a:latin typeface="+mn-ea"/>
                  </a:rPr>
                  <a:t>？</a:t>
                </a:r>
                <a:endParaRPr lang="en-US" altLang="zh-CN" sz="18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C9736F-D7FB-CC84-8E4A-3C9A4F238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0" y="1663112"/>
                <a:ext cx="5676900" cy="3385992"/>
              </a:xfrm>
              <a:prstGeom prst="rect">
                <a:avLst/>
              </a:prstGeom>
              <a:blipFill>
                <a:blip r:embed="rId3"/>
                <a:stretch>
                  <a:fillRect l="-858" t="-1081" r="-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88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BC45-232B-F010-F0BE-FB38DEDC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C64174B-5950-999F-7F70-2DF45146AC9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Linear </a:t>
            </a:r>
            <a:r>
              <a:rPr lang="zh-CN" altLang="zh-CN" dirty="0"/>
              <a:t>Least</a:t>
            </a:r>
            <a:r>
              <a:rPr lang="en-US" altLang="zh-CN" dirty="0"/>
              <a:t>-</a:t>
            </a:r>
            <a:r>
              <a:rPr lang="zh-CN" altLang="zh-CN" dirty="0"/>
              <a:t>Squares </a:t>
            </a:r>
            <a:r>
              <a:rPr lang="en-US" altLang="zh-CN" dirty="0"/>
              <a:t>S</a:t>
            </a:r>
            <a:r>
              <a:rPr lang="zh-CN" altLang="zh-CN" dirty="0"/>
              <a:t>ubproblem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AC8EE0-8800-523E-EE41-A2040255CD2E}"/>
                  </a:ext>
                </a:extLst>
              </p:cNvPr>
              <p:cNvSpPr txBox="1"/>
              <p:nvPr/>
            </p:nvSpPr>
            <p:spPr>
              <a:xfrm>
                <a:off x="275332" y="1580562"/>
                <a:ext cx="4122803" cy="3931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600" b="0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0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endParaRPr lang="en-US" altLang="zh-CN" sz="1600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  <m:oMath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e>
                                  <m:sub>
                                    <m:r>
                                      <a:rPr lang="en-US" altLang="zh-CN" sz="16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20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0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BAC8EE0-8800-523E-EE41-A2040255C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32" y="1580562"/>
                <a:ext cx="4122803" cy="3931910"/>
              </a:xfrm>
              <a:prstGeom prst="rect">
                <a:avLst/>
              </a:prstGeom>
              <a:blipFill>
                <a:blip r:embed="rId2"/>
                <a:stretch>
                  <a:fillRect l="-740" t="-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C64B385-EAD5-C567-52B5-E4C992989516}"/>
                  </a:ext>
                </a:extLst>
              </p:cNvPr>
              <p:cNvSpPr txBox="1"/>
              <p:nvPr/>
            </p:nvSpPr>
            <p:spPr>
              <a:xfrm>
                <a:off x="4584879" y="1356618"/>
                <a:ext cx="7222319" cy="5140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</a:pPr>
                <a:r>
                  <a:rPr lang="zh-CN" altLang="en-US" sz="1600" dirty="0"/>
                  <a:t>         为了使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d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dirty="0"/>
                  <a:t>最小，我们希望让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>
                  <a:spcBef>
                    <a:spcPts val="800"/>
                  </a:spcBef>
                </a:pPr>
                <a:r>
                  <a:rPr lang="zh-CN" altLang="en-US" sz="1600" dirty="0"/>
                  <a:t>         假如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dirty="0"/>
                  <a:t>线性无关，即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altLang="zh-CN" sz="1600" b="0" i="0" dirty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sz="1600" dirty="0"/>
                  <a:t>，那么这三列可以张成整个三维空间，于是我们肯定能够解出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/>
                  <a:t>         </a:t>
                </a:r>
                <a:r>
                  <a:rPr lang="zh-CN" altLang="en-US" sz="1600" dirty="0"/>
                  <a:t>但是我们现在想象一种特殊情况，假如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dirty="0"/>
                  <a:t>，那么不管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取什么值，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只能张成三维空间中的一个平面。若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不在这个平面上，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便永远不能等于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，不过呢我们可以让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之间的距离尽可能的小，而这个距离其实就是前面定义的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US" altLang="zh-CN" sz="16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/>
                  <a:t>         </a:t>
                </a:r>
                <a:r>
                  <a:rPr lang="zh-CN" altLang="en-US" sz="1600" dirty="0"/>
                  <a:t>现在想象一下这个情形，三维空间中有一个过零点的平面，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向量从零点指向平面上一个点，同时平面外有一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。为了使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/>
                  <a:t>最小，那么自然的，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/>
                  <a:t>就应当垂直于这个平面，也就等价于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/>
                  <a:t>垂直于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dirty="0"/>
                  <a:t>：</a:t>
                </a:r>
                <a:endParaRPr lang="en-US" altLang="zh-CN" sz="16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  <m: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16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1600" b="1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sz="1600" b="1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/>
                  <a:t>         </a:t>
                </a:r>
                <a:r>
                  <a:rPr lang="zh-CN" altLang="en-US" sz="1600" dirty="0"/>
                  <a:t>以上可以总结为：我们要寻找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到这个平面的“最近点”，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/>
                  <a:t>就是这个“最近点”，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dirty="0"/>
                  <a:t>是最近距离，寻找方法为将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1600" dirty="0"/>
                  <a:t>向这个平面正交投影。“这个平面”指的是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dirty="0"/>
                  <a:t>张成的所有向量的集合，也叫做列空间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𝐶𝑜𝑙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</m:oMath>
                </a14:m>
                <a:r>
                  <a:rPr lang="zh-CN" altLang="en-US" sz="1600" dirty="0"/>
                  <a:t>。</a:t>
                </a:r>
                <a:endParaRPr lang="en-US" altLang="zh-CN" sz="16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C64B385-EAD5-C567-52B5-E4C992989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879" y="1356618"/>
                <a:ext cx="7222319" cy="5140831"/>
              </a:xfrm>
              <a:prstGeom prst="rect">
                <a:avLst/>
              </a:prstGeom>
              <a:blipFill>
                <a:blip r:embed="rId3"/>
                <a:stretch>
                  <a:fillRect l="-422" t="-356" b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62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B34B-6702-E7EB-6A0E-CE6D25B4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FBC8CE4-0DFD-CA56-FC91-673071CAD29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代数视角的最值问题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0BB794-27C8-DF27-D8A5-B16BECAF3F1F}"/>
                  </a:ext>
                </a:extLst>
              </p:cNvPr>
              <p:cNvSpPr txBox="1"/>
              <p:nvPr/>
            </p:nvSpPr>
            <p:spPr>
              <a:xfrm>
                <a:off x="236244" y="1367859"/>
                <a:ext cx="5726673" cy="443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             =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             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             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我们的目标是求函数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的</a:t>
                </a:r>
                <a:r>
                  <a:rPr lang="zh-CN" altLang="en-US" b="1" dirty="0">
                    <a:latin typeface="+mn-ea"/>
                  </a:rPr>
                  <a:t>最小值</a:t>
                </a:r>
                <a:r>
                  <a:rPr lang="zh-CN" altLang="en-US" dirty="0">
                    <a:latin typeface="+mn-ea"/>
                  </a:rPr>
                  <a:t>，注意这个函数的自变量是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，而不是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对于简单的一维连续的情况，为了寻找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的最小值，可以先找到驻点，即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latin typeface="+mn-ea"/>
                  </a:rPr>
                  <a:t>的点。其中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+mn-ea"/>
                  </a:rPr>
                  <a:t>的点为极小值点。</a:t>
                </a:r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不过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+mn-ea"/>
                  </a:rPr>
                  <a:t>仅仅是极小值点的充分不必要条件，严谨的极小值点的定义为：</a:t>
                </a:r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&gt;0,  ∀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⇒   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0BB794-27C8-DF27-D8A5-B16BECAF3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44" y="1367859"/>
                <a:ext cx="5726673" cy="4432432"/>
              </a:xfrm>
              <a:prstGeom prst="rect">
                <a:avLst/>
              </a:prstGeom>
              <a:blipFill>
                <a:blip r:embed="rId2"/>
                <a:stretch>
                  <a:fillRect l="-958" t="-550" r="-106" b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D015C4-C2CE-B8DD-CDA1-C83522D7A178}"/>
                  </a:ext>
                </a:extLst>
              </p:cNvPr>
              <p:cNvSpPr txBox="1"/>
              <p:nvPr/>
            </p:nvSpPr>
            <p:spPr>
              <a:xfrm>
                <a:off x="5962917" y="1367859"/>
                <a:ext cx="5795494" cy="3774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这种参数是多维的情况，他的梯度就相当于一维的导数：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梯度计算公式：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于是：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𝐽𝑎𝑐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b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dirty="0">
                                      <a:latin typeface="Cambria Math" panose="02040503050406030204" pitchFamily="18" charset="0"/>
                                    </a:rPr>
                                    <m:t>𝚫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zh-CN" altLang="en-US" dirty="0">
                    <a:latin typeface="+mn-ea"/>
                  </a:rPr>
                  <a:t>是一个对称矩阵，即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：</a:t>
                </a:r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b="1" i="1" dirty="0">
                  <a:latin typeface="+mn-ea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D015C4-C2CE-B8DD-CDA1-C83522D7A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917" y="1367859"/>
                <a:ext cx="5795494" cy="3774816"/>
              </a:xfrm>
              <a:prstGeom prst="rect">
                <a:avLst/>
              </a:prstGeom>
              <a:blipFill>
                <a:blip r:embed="rId3"/>
                <a:stretch>
                  <a:fillRect l="-841" t="-806" b="-1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76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F3D4-095F-1578-BFC5-636B414D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972828-590E-6619-98A4-9460A65BD003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代数视角的最值问题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934E237-ABE1-A73B-23E9-C89B7C842AA2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4349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假设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>
                    <a:latin typeface="+mn-ea"/>
                  </a:rPr>
                  <a:t>的一个驻点，于是：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：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下一步，在驻点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偏移任意的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dirty="0">
                    <a:latin typeface="+mn-ea"/>
                  </a:rPr>
                  <a:t>，目标函数变为：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solidFill>
                            <a:srgbClr val="F76409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b="1" i="1" dirty="0">
                              <a:solidFill>
                                <a:srgbClr val="F7640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b="1" i="1" dirty="0">
                                  <a:solidFill>
                                    <a:srgbClr val="F7640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solidFill>
                                    <a:srgbClr val="F76409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dirty="0">
                                  <a:solidFill>
                                    <a:srgbClr val="F76409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b="1" i="1" dirty="0">
                              <a:solidFill>
                                <a:srgbClr val="F76409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i="1" dirty="0">
                          <a:solidFill>
                            <a:srgbClr val="F76409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solidFill>
                            <a:srgbClr val="F76409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b="1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solidFill>
                              <a:srgbClr val="F7640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b="1" i="1" dirty="0">
                                <a:solidFill>
                                  <a:srgbClr val="F7640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solidFill>
                                  <a:srgbClr val="F76409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b="1" i="1" dirty="0">
                                <a:solidFill>
                                  <a:srgbClr val="F76409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b="1" i="1" dirty="0">
                            <a:solidFill>
                              <a:srgbClr val="F76409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b="0" i="1" dirty="0">
                        <a:solidFill>
                          <a:srgbClr val="F76409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1" i="1" dirty="0">
                        <a:solidFill>
                          <a:srgbClr val="F76409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b="1" i="1" dirty="0" smtClean="0">
                        <a:solidFill>
                          <a:srgbClr val="F7640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solidFill>
                              <a:srgbClr val="F7640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dirty="0" smtClean="0">
                                <a:solidFill>
                                  <a:srgbClr val="F7640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dirty="0" smtClean="0">
                                    <a:solidFill>
                                      <a:srgbClr val="F7640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76409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b="0" i="1" dirty="0" smtClean="0">
                                    <a:solidFill>
                                      <a:srgbClr val="F76409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b="1" i="1" dirty="0">
                                    <a:solidFill>
                                      <a:srgbClr val="F7640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dirty="0">
                                    <a:solidFill>
                                      <a:srgbClr val="F76409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b="1" i="1" dirty="0">
                                    <a:solidFill>
                                      <a:srgbClr val="F76409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dirty="0" smtClean="0">
                            <a:solidFill>
                              <a:srgbClr val="F76409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b="1" i="1" dirty="0" smtClean="0">
                        <a:solidFill>
                          <a:srgbClr val="F76409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b="1" i="1" dirty="0" smtClean="0">
                        <a:solidFill>
                          <a:srgbClr val="F76409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zh-CN" b="1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zh-CN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zh-CN" b="1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  <m:sup>
                        <m:r>
                          <a:rPr lang="en-US" altLang="zh-CN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，于是：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b="1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0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，因此这个驻点一定是函数的最小值点：</a:t>
                </a:r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              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934E237-ABE1-A73B-23E9-C89B7C842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4349139"/>
              </a:xfrm>
              <a:prstGeom prst="rect">
                <a:avLst/>
              </a:prstGeom>
              <a:blipFill>
                <a:blip r:embed="rId2"/>
                <a:stretch>
                  <a:fillRect l="-420" t="-561" b="-1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209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B213-4BE8-DBD0-D8CC-DD832CC8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9BB0A4A-A7ED-3D1E-CFDE-3FEC3510FFDA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zh-CN" dirty="0"/>
              <a:t>Gauss–Newton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069215-9A18-FC55-14FE-FD0886FDC517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4595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:r>
                  <a:rPr lang="zh-CN" altLang="en-US" dirty="0">
                    <a:latin typeface="Cambria Math" panose="02040503050406030204" pitchFamily="18" charset="0"/>
                  </a:rPr>
                  <a:t>          让我们回到最开始的任务：</a:t>
                </a:r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zh-CN" altLang="en-US" dirty="0">
                    <a:latin typeface="Cambria Math" panose="02040503050406030204" pitchFamily="18" charset="0"/>
                  </a:rPr>
                  <a:t>         因为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是个复杂的非线性函数，很难直接找到最小值以及对应的参数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，于是先猜测了一个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，并在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处对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进行一阶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Taylor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展开：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b="1" i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下一步，我们试图解：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,    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但一般情况下</a:t>
                </a:r>
                <a:r>
                  <a:rPr lang="en-US" altLang="zh-CN" dirty="0">
                    <a:latin typeface="+mn-ea"/>
                  </a:rPr>
                  <a:t>J</a:t>
                </a:r>
                <a:r>
                  <a:rPr lang="zh-CN" altLang="en-US" dirty="0">
                    <a:latin typeface="+mn-ea"/>
                  </a:rPr>
                  <a:t>不一定可逆，上式不一定存在精确解，于是得到了线性最小二乘子问题：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这个子问题就很好解了：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这个数值优化方法就是</a:t>
                </a:r>
                <a:r>
                  <a:rPr lang="en-US" altLang="zh-CN" dirty="0">
                    <a:latin typeface="+mn-ea"/>
                  </a:rPr>
                  <a:t>Gauss-Newton</a:t>
                </a:r>
                <a:r>
                  <a:rPr lang="zh-CN" altLang="en-US" dirty="0">
                    <a:latin typeface="+mn-ea"/>
                  </a:rPr>
                  <a:t>法：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8069215-9A18-FC55-14FE-FD0886FDC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4595425"/>
              </a:xfrm>
              <a:prstGeom prst="rect">
                <a:avLst/>
              </a:prstGeom>
              <a:blipFill>
                <a:blip r:embed="rId2"/>
                <a:stretch>
                  <a:fillRect l="-420" t="-796" r="-473" b="-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71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C4C6-C198-C493-7A76-61D18FD8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0D528B6-6314-E596-E21F-A3E94BCBB91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zh-CN" dirty="0"/>
              <a:t>Gauss–Newton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8AD26F4-F957-0B83-3881-65854397C20E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4972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b="1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但是还有一些问题，目前我们得到的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，只是由一阶</a:t>
                </a:r>
                <a:r>
                  <a:rPr lang="en-US" altLang="zh-CN" dirty="0">
                    <a:latin typeface="+mn-ea"/>
                  </a:rPr>
                  <a:t>Taylor</a:t>
                </a:r>
                <a:r>
                  <a:rPr lang="zh-CN" altLang="en-US" dirty="0">
                    <a:latin typeface="+mn-ea"/>
                  </a:rPr>
                  <a:t>近似构造出的线性最小二乘子问题的最优解。但是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+mn-ea"/>
                  </a:rPr>
                  <a:t>局部的近似</a:t>
                </a:r>
                <a:r>
                  <a:rPr lang="zh-CN" altLang="en-US" dirty="0">
                    <a:latin typeface="+mn-ea"/>
                  </a:rPr>
                  <a:t>，仅在当前点附近比较准确，假如计算得到的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很大，那么它可能并不能很好的反应原非线性函数的变化。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假如我们给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规定一个半径为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latin typeface="+mn-ea"/>
                  </a:rPr>
                  <a:t>的信赖域</a:t>
                </a:r>
                <a:r>
                  <a:rPr lang="en-US" altLang="zh-CN" dirty="0">
                    <a:latin typeface="+mn-ea"/>
                  </a:rPr>
                  <a:t>(trust region)</a:t>
                </a:r>
                <a:r>
                  <a:rPr lang="zh-CN" altLang="en-US" dirty="0">
                    <a:latin typeface="+mn-ea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>
                    <a:latin typeface="+mn-ea"/>
                  </a:rPr>
                  <a:t>，于是问题就变成了有约束的极值问题：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.   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8AD26F4-F957-0B83-3881-65854397C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4972580"/>
              </a:xfrm>
              <a:prstGeom prst="rect">
                <a:avLst/>
              </a:prstGeom>
              <a:blipFill>
                <a:blip r:embed="rId2"/>
                <a:stretch>
                  <a:fillRect l="-420" r="-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642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C73B-45AE-D3F5-D005-4495F047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DC5FE71-0150-5648-FBAD-42DEB776D79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拉格朗日函数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CA2BCC9-6BAC-B184-36E9-CF8C6F035C90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4968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我们先来看看简单的等式约束下的驻点：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为了求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的驻点，并不能和原来一样求出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+mn-ea"/>
                  </a:rPr>
                  <a:t>。因为约束条件的存在，只能沿着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latin typeface="+mn-ea"/>
                  </a:rPr>
                  <a:t>所定义的曲面移动。在这个约束曲面上，任意的切方向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dirty="0">
                    <a:latin typeface="+mn-ea"/>
                  </a:rPr>
                  <a:t>满足（假设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+mn-ea"/>
                  </a:rPr>
                  <a:t>）：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b="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为约束下的驻点，那么沿着所有允许的方向，一阶的变化必须为</a:t>
                </a:r>
                <a:r>
                  <a:rPr lang="en-US" altLang="zh-CN" dirty="0">
                    <a:latin typeface="+mn-ea"/>
                  </a:rPr>
                  <a:t>0</a:t>
                </a:r>
                <a:r>
                  <a:rPr lang="zh-CN" altLang="en-US" dirty="0">
                    <a:latin typeface="+mn-ea"/>
                  </a:rPr>
                  <a:t>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于是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垂直于约束曲面在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处的所有切方向，即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为约束曲面在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处的法向量。同时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本来就是约束曲面的法向量，所以两者必须共线：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CA2BCC9-6BAC-B184-36E9-CF8C6F03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4968733"/>
              </a:xfrm>
              <a:prstGeom prst="rect">
                <a:avLst/>
              </a:prstGeom>
              <a:blipFill>
                <a:blip r:embed="rId2"/>
                <a:stretch>
                  <a:fillRect l="-420" r="-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176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51B9-C2FC-0E87-C51B-6595C14C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14D3915-9476-620E-0971-B600459E0E8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拉格朗日函数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C9BC711-2ED6-C7AB-99A6-D3282DA9B50D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4809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我们先来看看简单的等式约束下的驻点：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满足上式的点，自然就是约束条件下的驻点。于是我们可以构造出拉格朗日函数：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拉格朗日函数中的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+mn-ea"/>
                  </a:rPr>
                  <a:t>就是拉格朗日乘子，求约束条件下的驻点就等价于求拉格朗日函数的驻点：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⟺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C9BC711-2ED6-C7AB-99A6-D3282DA9B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4809522"/>
              </a:xfrm>
              <a:prstGeom prst="rect">
                <a:avLst/>
              </a:prstGeom>
              <a:blipFill>
                <a:blip r:embed="rId2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908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91BB-A18E-E710-8F13-BDCFE13F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E39EA71-2569-7ACA-1DCE-A14794DB927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KKT</a:t>
            </a:r>
            <a:r>
              <a:rPr lang="zh-CN" altLang="en-US" dirty="0"/>
              <a:t>条件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C4564AD-0022-DF96-23D3-53D289582B22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4971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再来看一下不等式约束下的极小值点，我们可以构造出同样的拉格朗日函数：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b="1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接下来要分情况讨论了，首先是驻点位于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，此时驻点距离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的约束边界还有一定余量，相当于约束并没有实际起作用，那么它就应该和无约束驻点一样：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于是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退化为  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另一种情况是驻点位于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，此时驻点位于约束边界上，完全有可能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+mn-ea"/>
                  </a:rPr>
                  <a:t>，并且此时的梯度方向应当垂直于约束边界，即：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。再来看一下这两个梯度的方向，假如有一方向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dirty="0">
                    <a:latin typeface="+mn-ea"/>
                  </a:rPr>
                  <a:t>，于是两个函数在该方向的一阶变化为：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。因为我们最终要求的是极小值点，所以如果方向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en-US" dirty="0">
                    <a:latin typeface="+mn-ea"/>
                  </a:rPr>
                  <a:t>向着约束边界内，那么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，也就是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向约束边界内移动会变大。同理，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，再根据等式关系可得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，于是最终得到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+mn-ea"/>
                  </a:rPr>
                  <a:t>。对于约束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zh-CN" altLang="en-US" dirty="0">
                    <a:latin typeface="+mn-ea"/>
                  </a:rPr>
                  <a:t>，在约束边界处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>
                    <a:latin typeface="+mn-ea"/>
                  </a:rPr>
                  <a:t>指向不可行域，而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>
                    <a:latin typeface="+mn-ea"/>
                  </a:rPr>
                  <a:t>与其相反，指向约束边界内可行域。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C4564AD-0022-DF96-23D3-53D289582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4971104"/>
              </a:xfrm>
              <a:prstGeom prst="rect">
                <a:avLst/>
              </a:prstGeom>
              <a:blipFill>
                <a:blip r:embed="rId2"/>
                <a:stretch>
                  <a:fillRect l="-420" r="-473" b="-1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472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82B2-3073-7F59-FD8B-CEE13E95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784DDA-A9DC-B41A-4071-1BADB78FAB0A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KKT</a:t>
            </a:r>
            <a:r>
              <a:rPr lang="zh-CN" altLang="en-US" dirty="0"/>
              <a:t>条件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6488646-1F8D-0AFF-7D14-395A8B1E9268}"/>
                  </a:ext>
                </a:extLst>
              </p:cNvPr>
              <p:cNvSpPr txBox="1"/>
              <p:nvPr/>
            </p:nvSpPr>
            <p:spPr>
              <a:xfrm>
                <a:off x="293060" y="1176593"/>
                <a:ext cx="11605879" cy="5027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再来看一下不等式约束下的极小值点，我们可以构造出同样的拉格朗日函数：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sz="1600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1600" dirty="0"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还有最后一种情况，也就是驻点刚好位于约束边界上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，但是约束边界并没有起到约束作用：</a:t>
                </a:r>
                <a:endParaRPr lang="en-US" altLang="zh-CN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此时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最终就得到了</a:t>
                </a:r>
                <a:r>
                  <a:rPr lang="en-US" altLang="zh-CN" sz="1600" dirty="0">
                    <a:latin typeface="+mn-ea"/>
                  </a:rPr>
                  <a:t>KKT</a:t>
                </a:r>
                <a:r>
                  <a:rPr lang="zh-CN" altLang="en-US" sz="1600" dirty="0">
                    <a:latin typeface="+mn-ea"/>
                  </a:rPr>
                  <a:t>的四个条件：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≤0,    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   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一、平稳性</a:t>
                </a:r>
                <a:r>
                  <a:rPr lang="en-US" altLang="zh-CN" sz="1600" dirty="0">
                    <a:latin typeface="+mn-ea"/>
                  </a:rPr>
                  <a:t>(Stationarity)</a:t>
                </a:r>
                <a:r>
                  <a:rPr lang="zh-CN" altLang="en-US" sz="1600" dirty="0">
                    <a:latin typeface="+mn-ea"/>
                  </a:rPr>
                  <a:t>：约束下驻点必须满足的条件；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二、原始可行性</a:t>
                </a:r>
                <a:r>
                  <a:rPr lang="en-US" altLang="zh-CN" sz="1600" dirty="0">
                    <a:latin typeface="+mn-ea"/>
                  </a:rPr>
                  <a:t>(Primal feasibility)</a:t>
                </a:r>
                <a:r>
                  <a:rPr lang="zh-CN" altLang="en-US" sz="1600" dirty="0">
                    <a:latin typeface="+mn-ea"/>
                  </a:rPr>
                  <a:t>：即必须满足原始的约束条件；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三、对偶可行性</a:t>
                </a:r>
                <a:r>
                  <a:rPr lang="en-US" altLang="zh-CN" sz="1600" dirty="0">
                    <a:latin typeface="+mn-ea"/>
                  </a:rPr>
                  <a:t>(Dual Feasibility)</a:t>
                </a:r>
                <a:r>
                  <a:rPr lang="zh-CN" altLang="en-US" sz="1600" dirty="0">
                    <a:latin typeface="+mn-ea"/>
                  </a:rPr>
                  <a:t>：是根据求极小值以及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这两个条件推出的，因为不等式具有方向性。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四、互补松弛</a:t>
                </a:r>
                <a:r>
                  <a:rPr lang="en-US" altLang="zh-CN" sz="1600" dirty="0">
                    <a:latin typeface="+mn-ea"/>
                  </a:rPr>
                  <a:t>(Complementary Slackness)</a:t>
                </a:r>
                <a:r>
                  <a:rPr lang="zh-CN" altLang="en-US" sz="1600" dirty="0">
                    <a:latin typeface="+mn-ea"/>
                  </a:rPr>
                  <a:t>：因为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，但是当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一定为</a:t>
                </a:r>
                <a:r>
                  <a:rPr lang="en-US" altLang="zh-CN" sz="1600" dirty="0">
                    <a:latin typeface="+mn-ea"/>
                  </a:rPr>
                  <a:t>0</a:t>
                </a:r>
                <a:r>
                  <a:rPr lang="zh-CN" altLang="en-US" sz="1600" dirty="0">
                    <a:latin typeface="+mn-ea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一定为</a:t>
                </a:r>
                <a:r>
                  <a:rPr lang="en-US" altLang="zh-CN" sz="1600" dirty="0">
                    <a:latin typeface="+mn-ea"/>
                  </a:rPr>
                  <a:t>0</a:t>
                </a:r>
                <a:r>
                  <a:rPr lang="zh-CN" altLang="en-US" sz="1600" dirty="0">
                    <a:latin typeface="+mn-ea"/>
                  </a:rPr>
                  <a:t>，所以称作互补松弛。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6488646-1F8D-0AFF-7D14-395A8B1E9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0" y="1176593"/>
                <a:ext cx="11605879" cy="5027979"/>
              </a:xfrm>
              <a:prstGeom prst="rect">
                <a:avLst/>
              </a:prstGeom>
              <a:blipFill>
                <a:blip r:embed="rId2"/>
                <a:stretch>
                  <a:fillRect l="-263" r="-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43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1EA5-AEB0-18E5-88C8-B4E71E02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786EADC-D97B-9307-1948-335968F2C66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构造拉格朗日函数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94D15A-8F69-719C-88DC-42128D009772}"/>
                  </a:ext>
                </a:extLst>
              </p:cNvPr>
              <p:cNvSpPr txBox="1"/>
              <p:nvPr/>
            </p:nvSpPr>
            <p:spPr>
              <a:xfrm>
                <a:off x="244700" y="1080000"/>
                <a:ext cx="11947300" cy="4295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回到我们实际的问题上：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d>
                                  <m:dPr>
                                    <m:ctrlPr>
                                      <a:rPr lang="en-US" altLang="zh-CN" sz="16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US" altLang="zh-CN" sz="16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 dirty="0"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 dirty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altLang="zh-CN" sz="1600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func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1600" dirty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600" dirty="0">
                        <a:latin typeface="Cambria Math" panose="02040503050406030204" pitchFamily="18" charset="0"/>
                      </a:rPr>
                      <m:t>.    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Cambria Math" panose="02040503050406030204" pitchFamily="18" charset="0"/>
                  </a:rPr>
                  <a:t>         可以构造拉格朗日函数：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≤0,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不过有一点值得注意的是，目前的约束条件为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的长度不能超过一定的范围，也就是我们认为不同参数的“尺度”是相同的，每个参数变化一个单位，都被认为是相同大小的变化。但这并不一定合理，不同参数每单位变化对</a:t>
                </a:r>
                <a14:m>
                  <m:oMath xmlns:m="http://schemas.openxmlformats.org/officeDocument/2006/math"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的影响可能相差很大，因此不同参数相同数值并不一定代表相同尺度的模型变化。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具体来说，设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为雅可比矩阵的第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列。在线性模型中，仅改变第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个参数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时：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0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>
                    <a:latin typeface="Cambria Math" panose="02040503050406030204" pitchFamily="18" charset="0"/>
                  </a:rPr>
                  <a:t>。因此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Cambria Math" panose="02040503050406030204" pitchFamily="18" charset="0"/>
                  </a:rPr>
                  <a:t>可以用来描述参数的局部尺度，我们根据此定义参数缩放矩阵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sub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sub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sub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1600" dirty="0">
                    <a:latin typeface="Cambria Math" panose="02040503050406030204" pitchFamily="18" charset="0"/>
                  </a:rPr>
                  <a:t>，并在缩放过后的参数空间限制步长：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 b="0" i="1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sz="1600" b="0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altLang="zh-CN" sz="1600" b="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其中，由于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sub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sub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  <m:sub>
                                <m:r>
                                  <a:rPr lang="en-US" altLang="zh-CN" sz="16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，于是：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，且：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CN" sz="1600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94D15A-8F69-719C-88DC-42128D009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00" y="1080000"/>
                <a:ext cx="11947300" cy="4295278"/>
              </a:xfrm>
              <a:prstGeom prst="rect">
                <a:avLst/>
              </a:prstGeom>
              <a:blipFill>
                <a:blip r:embed="rId2"/>
                <a:stretch>
                  <a:fillRect l="-255" r="-306" b="-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947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3785-83E1-63B8-6D4D-1BF5D7BD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5DE9ACF-DFBC-2E15-E070-BD7457885A28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信赖域中的最小值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1DE8B2-D620-C6EB-4C5A-C3249E025BE1}"/>
                  </a:ext>
                </a:extLst>
              </p:cNvPr>
              <p:cNvSpPr txBox="1"/>
              <p:nvPr/>
            </p:nvSpPr>
            <p:spPr>
              <a:xfrm>
                <a:off x="70834" y="1080000"/>
                <a:ext cx="12121166" cy="4462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Cambria Math" panose="02040503050406030204" pitchFamily="18" charset="0"/>
                  </a:rPr>
                  <a:t>         拉格朗日函数：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假设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+mn-ea"/>
                  </a:rPr>
                  <a:t>满足</a:t>
                </a:r>
                <a:r>
                  <a:rPr lang="en-US" altLang="zh-CN" sz="1600" dirty="0">
                    <a:latin typeface="+mn-ea"/>
                  </a:rPr>
                  <a:t>KKT</a:t>
                </a:r>
                <a:r>
                  <a:rPr lang="zh-CN" altLang="en-US" sz="1600" dirty="0">
                    <a:latin typeface="+mn-ea"/>
                  </a:rPr>
                  <a:t>条件：</a:t>
                </a:r>
                <a:r>
                  <a:rPr lang="en-US" altLang="zh-CN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   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≤0,      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     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  <m:oMath>
                      <m:r>
                        <a:rPr lang="en-US" altLang="zh-CN" sz="1600" b="1" i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p>
                                    <m:sSup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  <m:oMath>
                      <m:r>
                        <a:rPr lang="en-US" altLang="zh-CN" sz="1600" b="1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</m:oMath>
                    <m:oMath>
                      <m:r>
                        <a:rPr lang="en-US" altLang="zh-CN" sz="1600" b="1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altLang="zh-CN" sz="16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sz="16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sz="16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由平稳性可得：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CN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⇒      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   </m:t>
                    </m:r>
                    <m:sSup>
                      <m:sSupPr>
                        <m:ctrlPr>
                          <a:rPr lang="en-US" altLang="zh-CN" sz="1600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sz="1600" b="1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𝑱</m:t>
                    </m:r>
                    <m:r>
                      <a:rPr lang="en-US" altLang="zh-CN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600" b="0" i="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sz="1600" b="1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16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zh-CN" sz="1600" dirty="0">
                  <a:solidFill>
                    <a:schemeClr val="accent2">
                      <a:lumMod val="75000"/>
                    </a:schemeClr>
                  </a:solidFill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b="1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由对偶可行性可得：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，所以：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+mn-ea"/>
                  </a:rPr>
                  <a:t>是固定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的全局最小值点。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F1DE8B2-D620-C6EB-4C5A-C3249E025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4" y="1080000"/>
                <a:ext cx="12121166" cy="4462568"/>
              </a:xfrm>
              <a:prstGeom prst="rect">
                <a:avLst/>
              </a:prstGeom>
              <a:blipFill>
                <a:blip r:embed="rId2"/>
                <a:stretch>
                  <a:fillRect l="-302" r="-352" b="-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863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31A8-0B9F-9CAC-620B-853FFA09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07E18E1-ECE9-E700-EDC6-BB6CF0F4AF11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信赖域中的最小值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9A6EC0-AC8A-FF4A-2229-AC2050DCD5F6}"/>
                  </a:ext>
                </a:extLst>
              </p:cNvPr>
              <p:cNvSpPr txBox="1"/>
              <p:nvPr/>
            </p:nvSpPr>
            <p:spPr>
              <a:xfrm>
                <a:off x="70834" y="1080000"/>
                <a:ext cx="12121166" cy="4750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Cambria Math" panose="02040503050406030204" pitchFamily="18" charset="0"/>
                  </a:rPr>
                  <a:t>         拉格朗日函数：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假设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+mn-ea"/>
                  </a:rPr>
                  <a:t>满足</a:t>
                </a:r>
                <a:r>
                  <a:rPr lang="en-US" altLang="zh-CN" sz="1600" dirty="0">
                    <a:latin typeface="+mn-ea"/>
                  </a:rPr>
                  <a:t>KKT</a:t>
                </a:r>
                <a:r>
                  <a:rPr lang="zh-CN" altLang="en-US" sz="1600" dirty="0">
                    <a:latin typeface="+mn-ea"/>
                  </a:rPr>
                  <a:t>条件：</a:t>
                </a:r>
                <a:r>
                  <a:rPr lang="en-US" altLang="zh-CN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   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≤0,      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     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1600" dirty="0"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600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600" i="0" dirty="0">
                          <a:latin typeface="+mn-ea"/>
                        </a:rPr>
                        <m:t>是固定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1600" i="0" dirty="0">
                          <a:latin typeface="+mn-ea"/>
                        </a:rPr>
                        <m:t>时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zh-CN" altLang="en-US" sz="1600" i="0" dirty="0">
                          <a:latin typeface="+mn-ea"/>
                        </a:rPr>
                        <m:t>的全局最小值点</m:t>
                      </m:r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接下来，对于任意信赖域内的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，所以：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，因此：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6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下一步，由于互补松弛：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16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因为刚才已经证明了，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是固定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的全局最小值：</a:t>
                </a:r>
                <a:r>
                  <a:rPr lang="en-US" altLang="zh-CN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600" b="1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1600" b="1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sz="1600" b="0" i="1" dirty="0" smtClean="0">
                        <a:solidFill>
                          <a:srgbClr val="F7640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sz="1600" b="1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altLang="zh-CN" sz="1600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，于是我们把这些式子连起来：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1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6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 smtClean="0">
                          <a:solidFill>
                            <a:srgbClr val="F7640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6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1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b="1" i="1" dirty="0">
                          <a:latin typeface="Cambria Math" panose="02040503050406030204" pitchFamily="18" charset="0"/>
                        </a:rPr>
                        <m:t>即：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最终可以得到，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+mn-ea"/>
                  </a:rPr>
                  <a:t>是信赖域约束下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的全局最小值点。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endParaRPr lang="en-US" altLang="zh-CN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E9A6EC0-AC8A-FF4A-2229-AC2050DCD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4" y="1080000"/>
                <a:ext cx="12121166" cy="4750083"/>
              </a:xfrm>
              <a:prstGeom prst="rect">
                <a:avLst/>
              </a:prstGeom>
              <a:blipFill>
                <a:blip r:embed="rId2"/>
                <a:stretch>
                  <a:fillRect l="-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583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0D44-13A5-B72A-C6E6-D8A6B1B6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A19476E-E1E4-3570-D235-DC6CAD5D6708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Levenberg-Marquardt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6D734B1-8A65-4452-C941-6BDE9D5E6FFD}"/>
                  </a:ext>
                </a:extLst>
              </p:cNvPr>
              <p:cNvSpPr txBox="1"/>
              <p:nvPr/>
            </p:nvSpPr>
            <p:spPr>
              <a:xfrm>
                <a:off x="244700" y="1080000"/>
                <a:ext cx="11654240" cy="5280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.   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≤0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b="1" dirty="0">
                    <a:latin typeface="+mn-ea"/>
                    <a:ea typeface="Cambria Math" panose="02040503050406030204" pitchFamily="18" charset="0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下面将</a:t>
                </a:r>
                <a:r>
                  <a:rPr lang="en-US" altLang="zh-CN" dirty="0">
                    <a:latin typeface="+mn-ea"/>
                  </a:rPr>
                  <a:t>KKT</a:t>
                </a:r>
                <a:r>
                  <a:rPr lang="zh-CN" altLang="en-US" dirty="0">
                    <a:latin typeface="+mn-ea"/>
                  </a:rPr>
                  <a:t>条件的平稳性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+mn-ea"/>
                  </a:rPr>
                  <a:t>给展开：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  <a:ea typeface="Cambria Math" panose="02040503050406030204" pitchFamily="18" charset="0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得到这个公式就是</a:t>
                </a:r>
                <a:r>
                  <a:rPr lang="en-US" altLang="zh-CN" dirty="0">
                    <a:latin typeface="+mn-ea"/>
                  </a:rPr>
                  <a:t>Levenberg-Marquardt</a:t>
                </a:r>
                <a:r>
                  <a:rPr lang="zh-CN" altLang="en-US" dirty="0">
                    <a:latin typeface="+mn-ea"/>
                  </a:rPr>
                  <a:t>法：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当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latin typeface="+mn-ea"/>
                  </a:rPr>
                  <a:t>时，该式子就退化为了</a:t>
                </a:r>
                <a:r>
                  <a:rPr lang="en-US" altLang="zh-CN" dirty="0">
                    <a:latin typeface="+mn-ea"/>
                  </a:rPr>
                  <a:t>Gauss-Newton</a:t>
                </a:r>
                <a:r>
                  <a:rPr lang="zh-CN" altLang="en-US" dirty="0">
                    <a:latin typeface="+mn-ea"/>
                  </a:rPr>
                  <a:t>法：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这是显然的，因为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latin typeface="+mn-ea"/>
                  </a:rPr>
                  <a:t>相当于拉格朗日函数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退化为无约束条件的原始函数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不过</a:t>
                </a:r>
                <a:r>
                  <a:rPr lang="en-US" altLang="zh-CN" dirty="0">
                    <a:latin typeface="+mn-ea"/>
                  </a:rPr>
                  <a:t>LM</a:t>
                </a:r>
                <a:r>
                  <a:rPr lang="zh-CN" altLang="en-US" dirty="0">
                    <a:latin typeface="+mn-ea"/>
                  </a:rPr>
                  <a:t>法目前还有个问题，如何保证平稳性展开后，根据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+mn-ea"/>
                  </a:rPr>
                  <a:t>解得的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满足其他所有</a:t>
                </a:r>
                <a:r>
                  <a:rPr lang="en-US" altLang="zh-CN" dirty="0">
                    <a:latin typeface="+mn-ea"/>
                  </a:rPr>
                  <a:t>KKT</a:t>
                </a:r>
                <a:r>
                  <a:rPr lang="zh-CN" altLang="en-US" dirty="0">
                    <a:latin typeface="+mn-ea"/>
                  </a:rPr>
                  <a:t>条件？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6D734B1-8A65-4452-C941-6BDE9D5E6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00" y="1080000"/>
                <a:ext cx="11654240" cy="5280420"/>
              </a:xfrm>
              <a:prstGeom prst="rect">
                <a:avLst/>
              </a:prstGeom>
              <a:blipFill>
                <a:blip r:embed="rId2"/>
                <a:stretch>
                  <a:fillRect l="-418" b="-9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887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E1676-500D-EA95-5F3C-FB452481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345AFD9-69C9-6962-DAC4-D194EFE42D3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μ</a:t>
            </a:r>
            <a:r>
              <a:rPr lang="zh-CN" altLang="en-US" dirty="0"/>
              <a:t>与信赖域半径</a:t>
            </a:r>
            <a:r>
              <a:rPr lang="en-US" altLang="zh-CN" dirty="0"/>
              <a:t>δ</a:t>
            </a:r>
            <a:r>
              <a:rPr lang="zh-CN" altLang="en-US" dirty="0"/>
              <a:t>的隐式关系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8295A9-E31A-A779-2E43-45A92DF60639}"/>
                  </a:ext>
                </a:extLst>
              </p:cNvPr>
              <p:cNvSpPr txBox="1"/>
              <p:nvPr/>
            </p:nvSpPr>
            <p:spPr>
              <a:xfrm>
                <a:off x="268880" y="1247425"/>
                <a:ext cx="11654240" cy="51324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600" i="0" dirty="0" smtClean="0">
                          <a:latin typeface="+mn-ea"/>
                        </a:rPr>
                        <m:t>Levenberg−Marquardt</m:t>
                      </m:r>
                      <m:r>
                        <m:rPr>
                          <m:nor/>
                        </m:rPr>
                        <a:rPr lang="zh-CN" altLang="en-US" sz="1600" i="0" dirty="0" smtClean="0">
                          <a:latin typeface="+mn-ea"/>
                        </a:rPr>
                        <m:t>法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：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nor/>
                        </m:rPr>
                        <a:rPr lang="zh-CN" altLang="en-US" sz="1600" i="0" dirty="0">
                          <a:latin typeface="+mn-ea"/>
                        </a:rPr>
                        <m:t>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altLang="zh-CN" sz="1600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首先证明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是正定的（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  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）：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16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&gt;0,  </m:t>
                      </m:r>
                      <m:sSup>
                        <m:sSup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sz="1600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下面证明正定矩阵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是可逆的：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假设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不可逆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sz="1600" b="1" i="1" dirty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600" b="1" i="1" dirty="0" smtClean="0">
                          <a:latin typeface="Cambria Math" panose="02040503050406030204" pitchFamily="18" charset="0"/>
                        </a:rPr>
                        <m:t>那么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与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&gt;0矛盾，所</m:t>
                      </m:r>
                      <m:r>
                        <a:rPr lang="zh-CN" altLang="en-US" sz="1600" b="1" i="1" dirty="0" smtClean="0">
                          <a:latin typeface="+mn-ea"/>
                        </a:rPr>
                        <m:t>以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1600" b="1" i="1" dirty="0">
                          <a:latin typeface="Cambria Math" panose="02040503050406030204" pitchFamily="18" charset="0"/>
                        </a:rPr>
                        <m:t>可逆</m:t>
                      </m:r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因此，给定任意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，必定能计算出唯一的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得到了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，可以用它来反向定义出信赖域半径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d>
                          <m:d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这样的话，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肯定满足</a:t>
                </a:r>
                <a:r>
                  <a:rPr lang="en-US" altLang="zh-CN" sz="1600" dirty="0">
                    <a:latin typeface="+mn-ea"/>
                  </a:rPr>
                  <a:t>KKT</a:t>
                </a:r>
                <a:r>
                  <a:rPr lang="zh-CN" altLang="en-US" sz="1600" dirty="0">
                    <a:latin typeface="+mn-ea"/>
                  </a:rPr>
                  <a:t>条件：首先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是解平稳性方程得到的，肯定满足条件；其次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是用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反向定义的，因此肯定满足原始可行性；然后我们选的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，也满足对偶可行性；最后，由于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d>
                          <m:d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所以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正好落在了信赖区域的边界上，即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，满足互补松弛。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可以看到，最终任意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计算得到的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，肯定满足</a:t>
                </a:r>
                <a:r>
                  <a:rPr lang="en-US" altLang="zh-CN" sz="1600" dirty="0">
                    <a:latin typeface="+mn-ea"/>
                  </a:rPr>
                  <a:t>KKT</a:t>
                </a:r>
                <a:r>
                  <a:rPr lang="zh-CN" altLang="en-US" sz="1600" dirty="0">
                    <a:latin typeface="+mn-ea"/>
                  </a:rPr>
                  <a:t>条件，于是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肯定是信赖区域内的最小值。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58295A9-E31A-A779-2E43-45A92DF60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80" y="1247425"/>
                <a:ext cx="11654240" cy="5132431"/>
              </a:xfrm>
              <a:prstGeom prst="rect">
                <a:avLst/>
              </a:prstGeom>
              <a:blipFill>
                <a:blip r:embed="rId2"/>
                <a:stretch>
                  <a:fillRect l="-262" r="-314" b="-5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024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BB7D-A58D-DE93-D812-FE51C7B7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4B67897-2AD6-063F-D00F-4B66CF35CC06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μ</a:t>
            </a:r>
            <a:r>
              <a:rPr lang="zh-CN" altLang="en-US" dirty="0"/>
              <a:t>与信赖域半径</a:t>
            </a:r>
            <a:r>
              <a:rPr lang="en-US" altLang="zh-CN" dirty="0"/>
              <a:t>δ</a:t>
            </a:r>
            <a:r>
              <a:rPr lang="zh-CN" altLang="en-US" dirty="0"/>
              <a:t>的隐式关系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16B776-82A1-CDF3-8D4D-325C0B3B9813}"/>
                  </a:ext>
                </a:extLst>
              </p:cNvPr>
              <p:cNvSpPr txBox="1"/>
              <p:nvPr/>
            </p:nvSpPr>
            <p:spPr>
              <a:xfrm>
                <a:off x="160985" y="1247425"/>
                <a:ext cx="11945155" cy="4725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再来看一下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的关系，我们将拉格朗日函数写出来：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≤0,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下面，取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，并令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lim>
                        </m:limLow>
                      </m:fName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600" b="1" dirty="0">
                    <a:latin typeface="Cambria Math" panose="02040503050406030204" pitchFamily="18" charset="0"/>
                  </a:rPr>
                  <a:t>。</a:t>
                </a:r>
                <a:endParaRPr lang="en-US" altLang="zh-CN" sz="1600" b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b="1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为固定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的最小值点、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为固定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的最小值点：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两式相加，并展开、整理：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16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可以看到，增大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一般会导致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1" i="1" dirty="0">
                            <a:latin typeface="Cambria Math" panose="02040503050406030204" pitchFamily="18" charset="0"/>
                          </a:rPr>
                          <m:t>𝜽</m:t>
                        </m:r>
                        <m:d>
                          <m:d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变小，与之对应的隐式信赖域半径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也会变小。因此</a:t>
                </a:r>
                <a:r>
                  <a:rPr lang="en-US" altLang="zh-CN" sz="1600" dirty="0">
                    <a:latin typeface="+mn-ea"/>
                  </a:rPr>
                  <a:t>LM</a:t>
                </a:r>
                <a:r>
                  <a:rPr lang="zh-CN" altLang="en-US" sz="1600" dirty="0">
                    <a:latin typeface="+mn-ea"/>
                  </a:rPr>
                  <a:t>法可以通过参数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控制信赖域半径，也可以说成通过参数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控制数值优化的步长。因为增大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会导致步长变小，因此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也被称为“阻尼”。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316B776-82A1-CDF3-8D4D-325C0B3B9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85" y="1247425"/>
                <a:ext cx="11945155" cy="4725653"/>
              </a:xfrm>
              <a:prstGeom prst="rect">
                <a:avLst/>
              </a:prstGeom>
              <a:blipFill>
                <a:blip r:embed="rId2"/>
                <a:stretch>
                  <a:fillRect l="-255" r="-255" b="-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42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A674-9DF2-A90F-8D10-6DC305DB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704E078-3CD7-0651-F7BC-842145BA0DF3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局部模型可信度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270A5E-85EB-8225-F924-79499216D4AA}"/>
                  </a:ext>
                </a:extLst>
              </p:cNvPr>
              <p:cNvSpPr txBox="1"/>
              <p:nvPr/>
            </p:nvSpPr>
            <p:spPr>
              <a:xfrm>
                <a:off x="268880" y="1125076"/>
                <a:ext cx="11654240" cy="5173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  <m:d>
                            <m:d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600" b="1" i="1" dirty="0"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16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sz="16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sz="16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sz="16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func>
                        <m:func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d>
                                    <m:d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 dirty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altLang="zh-CN" sz="16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我们最开始引入</a:t>
                </a:r>
                <a:r>
                  <a:rPr lang="en-US" altLang="zh-CN" sz="1600" dirty="0">
                    <a:latin typeface="+mn-ea"/>
                  </a:rPr>
                  <a:t>LM</a:t>
                </a:r>
                <a:r>
                  <a:rPr lang="zh-CN" altLang="en-US" sz="1600" dirty="0">
                    <a:latin typeface="+mn-ea"/>
                  </a:rPr>
                  <a:t>法的原因，是为了防止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超出局部一阶</a:t>
                </a:r>
                <a:r>
                  <a:rPr lang="en-US" altLang="zh-CN" sz="1600" dirty="0">
                    <a:latin typeface="+mn-ea"/>
                  </a:rPr>
                  <a:t>Taylor</a:t>
                </a:r>
                <a:r>
                  <a:rPr lang="zh-CN" altLang="en-US" sz="1600" dirty="0">
                    <a:latin typeface="+mn-ea"/>
                  </a:rPr>
                  <a:t>展开近似的信赖域。但是这个信赖域应该有多大呢？</a:t>
                </a:r>
                <a:endParaRPr lang="en-US" altLang="zh-CN" sz="1600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假如局部模型能够很好的预测原函数，那么就可以让它的信赖域大一些，反之，则让信赖域小一些。</a:t>
                </a:r>
                <a:endParaRPr lang="en-US" altLang="zh-CN" sz="1600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600" i="0" dirty="0">
                          <a:latin typeface="+mn-ea"/>
                        </a:rPr>
                        <m:t>Levenberg−Marquardt</m:t>
                      </m:r>
                      <m:r>
                        <m:rPr>
                          <m:nor/>
                        </m:rPr>
                        <a:rPr lang="zh-CN" altLang="en-US" sz="1600" i="0" dirty="0">
                          <a:latin typeface="+mn-ea"/>
                        </a:rPr>
                        <m:t>法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：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sz="1600" b="1" dirty="0">
                  <a:ea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zh-CN" altLang="en-US" sz="1600" dirty="0">
                    <a:latin typeface="+mn-ea"/>
                  </a:rPr>
                  <a:t>         </a:t>
                </a:r>
                <a:r>
                  <a:rPr lang="zh-CN" altLang="en-US" sz="1600" b="1" dirty="0">
                    <a:latin typeface="+mn-ea"/>
                  </a:rPr>
                  <a:t>预测下降量：</a:t>
                </a:r>
                <a:r>
                  <a:rPr lang="en-US" altLang="zh-CN" sz="1600" dirty="0">
                    <a:latin typeface="+mn-ea"/>
                  </a:rPr>
                  <a:t>LM</a:t>
                </a:r>
                <a:r>
                  <a:rPr lang="zh-CN" altLang="en-US" sz="1600" dirty="0">
                    <a:latin typeface="+mn-ea"/>
                  </a:rPr>
                  <a:t>法计算得到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zh-CN" altLang="en-US" sz="1600" b="1" i="1" dirty="0">
                        <a:latin typeface="Cambria Math" panose="02040503050406030204" pitchFamily="18" charset="0"/>
                      </a:rPr>
                      <m:t>后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，可以用局部模型预测一下这一步能够使优化目标下降多少：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dirty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1600" b="1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>
                    <a:latin typeface="Cambria Math" panose="02040503050406030204" pitchFamily="18" charset="0"/>
                  </a:rPr>
                  <a:t>         </a:t>
                </a:r>
                <a:r>
                  <a:rPr lang="zh-CN" altLang="en-US" sz="1600" b="1" dirty="0">
                    <a:latin typeface="Cambria Math" panose="02040503050406030204" pitchFamily="18" charset="0"/>
                  </a:rPr>
                  <a:t>实际下降</a:t>
                </a:r>
                <a:r>
                  <a:rPr lang="en-US" altLang="zh-CN" sz="1600" b="1" dirty="0">
                    <a:latin typeface="Cambria Math" panose="02040503050406030204" pitchFamily="18" charset="0"/>
                  </a:rPr>
                  <a:t>/</a:t>
                </a:r>
                <a:r>
                  <a:rPr lang="zh-CN" altLang="en-US" sz="1600" b="1" dirty="0">
                    <a:latin typeface="Cambria Math" panose="02040503050406030204" pitchFamily="18" charset="0"/>
                  </a:rPr>
                  <a:t>上升量：</a:t>
                </a:r>
                <a:r>
                  <a:rPr lang="zh-CN" altLang="en-US" sz="1600" dirty="0">
                    <a:latin typeface="Cambria Math" panose="02040503050406030204" pitchFamily="18" charset="0"/>
                  </a:rPr>
                  <a:t>此外，也可以用原目标函数计算这一步实际使目标下降</a:t>
                </a:r>
                <a:r>
                  <a:rPr lang="en-US" altLang="zh-CN" sz="1600" dirty="0">
                    <a:latin typeface="Cambria Math" panose="02040503050406030204" pitchFamily="18" charset="0"/>
                  </a:rPr>
                  <a:t>/</a:t>
                </a:r>
                <a:r>
                  <a:rPr lang="zh-CN" altLang="en-US" sz="1600" dirty="0">
                    <a:latin typeface="Cambria Math" panose="02040503050406030204" pitchFamily="18" charset="0"/>
                  </a:rPr>
                  <a:t>上升了多少：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actual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sz="16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接下来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nor/>
                        </m:rPr>
                        <a:rPr lang="zh-CN" altLang="en-US" sz="1600" i="0" dirty="0">
                          <a:latin typeface="Cambria Math" panose="02040503050406030204" pitchFamily="18" charset="0"/>
                        </a:rPr>
                        <m:t>可以定义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actual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b="0" dirty="0">
                    <a:latin typeface="+mn-ea"/>
                  </a:rPr>
                  <a:t>         </a:t>
                </a:r>
                <a:r>
                  <a:rPr lang="zh-CN" altLang="en-US" sz="1600" b="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zh-CN" altLang="en-US" sz="1600" b="0" dirty="0">
                    <a:latin typeface="+mn-ea"/>
                  </a:rPr>
                  <a:t>，实际下降量和</a:t>
                </a:r>
                <a:r>
                  <a:rPr lang="zh-CN" altLang="en-US" sz="1600" dirty="0">
                    <a:latin typeface="+mn-ea"/>
                  </a:rPr>
                  <a:t>局部模型的预测非常接近，说明当前步长范围内局部模型可信。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，实际目标确实下降，但下降量小于局部模型的预测，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越接近</a:t>
                </a:r>
                <a:r>
                  <a:rPr lang="en-US" altLang="zh-CN" sz="1600" dirty="0">
                    <a:latin typeface="+mn-ea"/>
                  </a:rPr>
                  <a:t>0</a:t>
                </a:r>
                <a:r>
                  <a:rPr lang="zh-CN" altLang="en-US" sz="1600" dirty="0">
                    <a:latin typeface="+mn-ea"/>
                  </a:rPr>
                  <a:t>说明当前步长范围内局部可信度越低。</a:t>
                </a:r>
                <a:endParaRPr lang="en-US" altLang="zh-CN" sz="1600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1600" dirty="0">
                    <a:latin typeface="Cambria Math" panose="02040503050406030204" pitchFamily="18" charset="0"/>
                  </a:rPr>
                  <a:t>，</a:t>
                </a:r>
                <a:r>
                  <a:rPr lang="zh-CN" altLang="en-US" sz="1600" dirty="0">
                    <a:latin typeface="+mn-ea"/>
                  </a:rPr>
                  <a:t>实际下降量甚至超过了局部模型的预测，虽然局部模型低估了下降效果，但是对于数值优化而言是成功的步长。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，实际目标没有下降甚至反而上升了，局部模型的预测已经失效，说明当前步长超出了模型能够可靠描述的范围。</a:t>
                </a:r>
                <a:endParaRPr lang="en-US" altLang="zh-CN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270A5E-85EB-8225-F924-79499216D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80" y="1125076"/>
                <a:ext cx="11654240" cy="5173917"/>
              </a:xfrm>
              <a:prstGeom prst="rect">
                <a:avLst/>
              </a:prstGeom>
              <a:blipFill>
                <a:blip r:embed="rId2"/>
                <a:stretch>
                  <a:fillRect l="-262" t="-354" b="-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338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3F1E8-2BFA-8A4C-7212-4440788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DD393E1-0211-C6B4-81D6-E0D05DA13612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数值优化流程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F161737-4DD0-E724-9AD0-1D6762CD353B}"/>
                  </a:ext>
                </a:extLst>
              </p:cNvPr>
              <p:cNvSpPr txBox="1"/>
              <p:nvPr/>
            </p:nvSpPr>
            <p:spPr>
              <a:xfrm>
                <a:off x="259724" y="1080000"/>
                <a:ext cx="11672552" cy="4859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800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800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800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sz="18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sz="1800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800" b="1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b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/>
                  <a:t>首先给定初值：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zh-CN" altLang="en-US" dirty="0"/>
                  <a:t>，然后定义辅助变量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dirty="0"/>
                  <a:t>，用于辅助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的更新。</a:t>
                </a:r>
                <a:endParaRPr lang="en-US" altLang="zh-CN" dirty="0"/>
              </a:p>
              <a:p>
                <a:pPr>
                  <a:spcBef>
                    <a:spcPts val="800"/>
                  </a:spcBef>
                </a:pPr>
                <a:r>
                  <a:rPr lang="zh-CN" altLang="en-US" dirty="0"/>
                  <a:t>下面开始迭代优化：</a:t>
                </a:r>
                <a:endParaRPr lang="en-US" altLang="zh-CN" dirty="0"/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/>
                  <a:t>①在当前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/>
                  <a:t>处构造局部模型：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b="0" i="1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en-US" altLang="zh-CN" b="1" dirty="0"/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/>
                  <a:t>②用</a:t>
                </a:r>
                <a:r>
                  <a:rPr lang="en-US" altLang="zh-CN" dirty="0">
                    <a:latin typeface="+mn-ea"/>
                  </a:rPr>
                  <a:t>Levenberg-Marquardt</a:t>
                </a:r>
                <a:r>
                  <a:rPr lang="zh-CN" altLang="en-US" dirty="0">
                    <a:latin typeface="+mn-ea"/>
                  </a:rPr>
                  <a:t>法求出候选步：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/>
                  <a:t>③比较预测下降量与实际下降量：</a:t>
                </a:r>
                <a:endParaRPr lang="en-US" altLang="zh-CN" dirty="0"/>
              </a:p>
              <a:p>
                <a:pPr>
                  <a:lnSpc>
                    <a:spcPct val="8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actual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actual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>
                    <a:latin typeface="+mn-ea"/>
                  </a:rPr>
                  <a:t>         ④决策是否接受候选步以及如何调整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+mn-ea"/>
                  </a:rPr>
                  <a:t>：</a:t>
                </a:r>
                <a:endParaRPr lang="en-US" altLang="zh-CN" dirty="0">
                  <a:latin typeface="+mn-ea"/>
                </a:endParaRPr>
              </a:p>
              <a:p>
                <a:pPr>
                  <a:lnSpc>
                    <a:spcPts val="34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&gt;0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候选步对结果有提成，接受候选步，根据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调整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⇒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altLang="zh-CN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 1−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 b="1" dirty="0"/>
              </a:p>
              <a:p>
                <a:pPr>
                  <a:lnSpc>
                    <a:spcPts val="34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≤0  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 候选步对于结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果没有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提升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拒绝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候选步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换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更大的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重试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⇒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⑤终止条件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已经足够小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−8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 或者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达到限制最大值，即信赖域极小  或者  达到最大迭代次数。</a:t>
                </a:r>
                <a:endParaRPr lang="en-US" altLang="zh-CN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F161737-4DD0-E724-9AD0-1D6762CD3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24" y="1080000"/>
                <a:ext cx="11672552" cy="4859407"/>
              </a:xfrm>
              <a:prstGeom prst="rect">
                <a:avLst/>
              </a:prstGeom>
              <a:blipFill>
                <a:blip r:embed="rId2"/>
                <a:stretch>
                  <a:fillRect l="-470" t="-627" b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822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66180-07DE-6FBD-1E16-7F17F10B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CCB4F7A-B30D-1AE9-6C7B-C1786A9C6BDB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Cholesky</a:t>
            </a:r>
            <a:r>
              <a:rPr lang="zh-CN" altLang="en-US" dirty="0"/>
              <a:t>法解线性方程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7BC95C-FB08-D0CD-A6E8-EAF531AE8B58}"/>
                  </a:ext>
                </a:extLst>
              </p:cNvPr>
              <p:cNvSpPr txBox="1"/>
              <p:nvPr/>
            </p:nvSpPr>
            <p:spPr>
              <a:xfrm>
                <a:off x="289777" y="994462"/>
                <a:ext cx="11612446" cy="579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altLang="zh-CN" sz="1600" i="0" dirty="0" smtClean="0">
                          <a:latin typeface="+mn-ea"/>
                        </a:rPr>
                        <m:t>Levenberg−Marquardt</m:t>
                      </m:r>
                      <m:r>
                        <m:rPr>
                          <m:nor/>
                        </m:rPr>
                        <a:rPr lang="zh-CN" altLang="en-US" sz="1600" i="0" dirty="0" smtClean="0">
                          <a:latin typeface="+mn-ea"/>
                        </a:rPr>
                        <m:t>法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：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m:rPr>
                          <m:nor/>
                        </m:rPr>
                        <a:rPr lang="zh-CN" altLang="en-US" sz="1600" i="0" dirty="0" smtClean="0">
                          <a:latin typeface="+mn-ea"/>
                        </a:rPr>
                        <m:t>令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altLang="zh-CN" sz="1600" b="1" dirty="0">
                  <a:latin typeface="+mn-ea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先前我们证明了矩阵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是正定的，即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，且显然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是对称的。于是，一个对称正定矩阵一定可以唯一分解为：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下三角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矩阵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且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于是原方程可以拆解为：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⇒  </m:t>
                    </m:r>
                    <m:sSup>
                      <m:sSup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 dirty="0">
                    <a:latin typeface="+mn-ea"/>
                  </a:rPr>
                  <a:t>。</a:t>
                </a:r>
                <a:endParaRPr lang="en-US" altLang="zh-CN" sz="1600" b="1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先计算出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  <m:sup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  <m:sup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</m:e>
                      </m:ra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⇒  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⇒  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⇒  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⇒  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altLang="zh-CN" sz="1600" b="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再来解方程：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⇒  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CN" sz="160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m:rPr>
                          <m:sty m:val="p"/>
                        </m:rP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7BC95C-FB08-D0CD-A6E8-EAF531AE8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77" y="994462"/>
                <a:ext cx="11612446" cy="5798510"/>
              </a:xfrm>
              <a:prstGeom prst="rect">
                <a:avLst/>
              </a:prstGeom>
              <a:blipFill>
                <a:blip r:embed="rId2"/>
                <a:stretch>
                  <a:fillRect l="-3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073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C418-E47D-EB1F-D0A4-487B5B681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B720F6E7-35E7-1289-9E26-7DCCDFC4F337}"/>
                  </a:ext>
                </a:extLst>
              </p:cNvPr>
              <p:cNvSpPr>
                <a:spLocks noGrp="1"/>
              </p:cNvSpPr>
              <p:nvPr>
                <p:ph type="title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回顾优化目标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zh-CN" altLang="en-US" dirty="0"/>
                  <a:t>计算过程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B720F6E7-35E7-1289-9E26-7DCCDFC4F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1"/>
              </p:nvPr>
            </p:nvSpPr>
            <p:spPr>
              <a:blipFill>
                <a:blip r:embed="rId2"/>
                <a:stretch>
                  <a:fillRect l="-2540" b="-38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E499E0-562A-E931-0D35-39CF5788A862}"/>
                  </a:ext>
                </a:extLst>
              </p:cNvPr>
              <p:cNvSpPr txBox="1"/>
              <p:nvPr/>
            </p:nvSpPr>
            <p:spPr>
              <a:xfrm>
                <a:off x="512529" y="1080000"/>
                <a:ext cx="11072018" cy="5012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参数化光谱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目标颜色：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被优化参数：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𝑅𝐺𝐵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𝑋𝑌𝑍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𝑿𝒀𝒁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borderBox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               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𝛿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29</m:t>
                                          </m:r>
                                        </m:den>
                                      </m:f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, 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eqAr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29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+mn-ea"/>
                                </a:rPr>
                                <m:t>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=116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−16,  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=500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=200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𝐿𝑎𝑏</m:t>
                              </m:r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𝑿𝒀𝒁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eqAr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76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𝐿𝑎𝑏</m:t>
                                  </m:r>
                                  <m:d>
                                    <m:d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𝑿𝒀𝒁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𝐿𝑎𝑏</m:t>
                                  </m:r>
                                  <m:d>
                                    <m:d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𝑿𝒀𝒁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borderBox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转换到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CIELAB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76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𝑿𝒀𝒁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计算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色差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：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76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𝑿𝒀𝒁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（"/>
                              <m:endChr m:val="）"/>
                              <m:ctrlPr>
                                <a:rPr lang="en-US" altLang="zh-CN" b="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b="0" i="1" dirty="0">
                                      <a:latin typeface="Cambria Math" panose="02040503050406030204" pitchFamily="18" charset="0"/>
                                    </a:rPr>
                                    <m:t>76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E499E0-562A-E931-0D35-39CF5788A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29" y="1080000"/>
                <a:ext cx="11072018" cy="5012206"/>
              </a:xfrm>
              <a:prstGeom prst="rect">
                <a:avLst/>
              </a:prstGeom>
              <a:blipFill>
                <a:blip r:embed="rId3"/>
                <a:stretch>
                  <a:fillRect b="-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955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1CA65-2E60-599C-6579-4BF43238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BF04096-CCD6-F4BF-DA06-364589B50CF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Jacobian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505DF8A-EBD1-7B98-BB5A-32F0F1415613}"/>
                  </a:ext>
                </a:extLst>
              </p:cNvPr>
              <p:cNvSpPr txBox="1"/>
              <p:nvPr/>
            </p:nvSpPr>
            <p:spPr>
              <a:xfrm>
                <a:off x="245465" y="1080000"/>
                <a:ext cx="11701070" cy="5251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i="1" dirty="0" smtClean="0">
                          <a:latin typeface="Cambria Math" panose="02040503050406030204" pitchFamily="18" charset="0"/>
                        </a:rPr>
                        <m:t>链式法则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sz="1600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pPr algn="just">
                  <a:lnSpc>
                    <a:spcPct val="110000"/>
                  </a:lnSpc>
                </a:pPr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参数化光谱：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b="1" i="1" dirty="0">
                          <a:latin typeface="Cambria Math" panose="02040503050406030204" pitchFamily="18" charset="0"/>
                        </a:rPr>
                        <m:t>目标颜色：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被优化参数：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600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b="1" i="1" dirty="0">
                          <a:latin typeface="Cambria Math" panose="02040503050406030204" pitchFamily="18" charset="0"/>
                        </a:rPr>
                        <m:t>令：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𝑅𝐺𝐵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𝑋𝑌𝑍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𝑿𝒀𝒁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sz="1600" i="1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borderBox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p>
                                          <m:f>
                                            <m:f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                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𝛿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29</m:t>
                                          </m:r>
                                        </m:den>
                                      </m:f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,  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eqAr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29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sz="1600" i="0" dirty="0">
                                  <a:latin typeface="+mn-ea"/>
                                </a:rPr>
                                <m:t>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=116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−16,  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=500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=200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𝐿𝑎𝑏</m:t>
                              </m:r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</a:rPr>
                                    <m:t>𝑿𝒀𝒁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eqAr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76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𝐿𝑎𝑏</m:t>
                                  </m:r>
                                  <m:d>
                                    <m:d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</a:rPr>
                                            <m:t>𝑿𝒀𝒁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𝐿𝑎𝑏</m:t>
                                  </m:r>
                                  <m:d>
                                    <m:d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</a:rPr>
                                            <m:t>𝑿𝒀𝒁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6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6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6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6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16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60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1600" i="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borderBox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转换到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</a:rPr>
                        <m:t>CIELAB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 76：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𝑿𝒀𝒁</m:t>
                              </m:r>
                            </m:e>
                            <m:sub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  <m:d>
                            <m:d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600" b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sz="1600" b="1" i="1" dirty="0">
                          <a:latin typeface="Cambria Math" panose="02040503050406030204" pitchFamily="18" charset="0"/>
                        </a:rPr>
                        <m:t>计算色差：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e>
                        <m:sub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76</m:t>
                          </m:r>
                        </m:sub>
                      </m:sSub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𝑿𝒀𝒁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zh-CN" altLang="en-US" sz="1600" i="1" dirty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altLang="zh-CN" sz="1600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1600" dirty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（"/>
                              <m:endChr m:val="）"/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76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600" b="1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dirty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dirty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sz="1600" dirty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505DF8A-EBD1-7B98-BB5A-32F0F1415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65" y="1080000"/>
                <a:ext cx="11701070" cy="5251694"/>
              </a:xfrm>
              <a:prstGeom prst="rect">
                <a:avLst/>
              </a:prstGeom>
              <a:blipFill>
                <a:blip r:embed="rId2"/>
                <a:stretch>
                  <a:fillRect l="-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501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0CE9-BF03-4858-DFE3-083E1543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68C8C60-2090-4047-7774-7363EF92C826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Jacobian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D36A87C-F7F5-F1D2-D4C6-7C4A64048C4E}"/>
                  </a:ext>
                </a:extLst>
              </p:cNvPr>
              <p:cNvSpPr txBox="1"/>
              <p:nvPr/>
            </p:nvSpPr>
            <p:spPr>
              <a:xfrm>
                <a:off x="245465" y="1183031"/>
                <a:ext cx="11701070" cy="4197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链式法则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algn="just">
                  <a:lnSpc>
                    <a:spcPct val="110000"/>
                  </a:lnSpc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参数化光谱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sup>
                          </m:sSup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sup>
                          </m:sSup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D36A87C-F7F5-F1D2-D4C6-7C4A64048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65" y="1183031"/>
                <a:ext cx="11701070" cy="4197624"/>
              </a:xfrm>
              <a:prstGeom prst="rect">
                <a:avLst/>
              </a:prstGeo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018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8C9EF-3DAF-11A1-719B-4D7E3D17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32F9AED-47D3-EC84-3C0A-CDC0FA57682C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Jacobian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48CE4F2-B026-E714-AE50-9E738612D02F}"/>
                  </a:ext>
                </a:extLst>
              </p:cNvPr>
              <p:cNvSpPr txBox="1"/>
              <p:nvPr/>
            </p:nvSpPr>
            <p:spPr>
              <a:xfrm>
                <a:off x="245465" y="1183031"/>
                <a:ext cx="11701070" cy="4858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链式法则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eqArr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̅"/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dirty="0">
                    <a:latin typeface="+mn-ea"/>
                  </a:rPr>
                  <a:t>         其中，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+mn-ea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无关，于是：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den>
                          </m:f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i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solidFill>
                                              <a:schemeClr val="accent2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  <m:oMath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dirty="0">
                    <a:latin typeface="+mn-ea"/>
                  </a:rPr>
                  <a:t>         写成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的黎曼和：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=360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830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𝑘𝐼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=360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830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48CE4F2-B026-E714-AE50-9E738612D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65" y="1183031"/>
                <a:ext cx="11701070" cy="4858638"/>
              </a:xfrm>
              <a:prstGeom prst="rect">
                <a:avLst/>
              </a:prstGeo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741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C981-EEFE-EFB3-BBE8-7CDC83D9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1B490D2-7188-D60A-F544-03D45283C49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Jacobian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BB8A4F-DBB4-F65E-41E5-E769B1C24CD2}"/>
                  </a:ext>
                </a:extLst>
              </p:cNvPr>
              <p:cNvSpPr txBox="1"/>
              <p:nvPr/>
            </p:nvSpPr>
            <p:spPr>
              <a:xfrm>
                <a:off x="245465" y="1183031"/>
                <a:ext cx="11701070" cy="2571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链式法则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        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29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=116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−16,  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=500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=200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9BB8A4F-DBB4-F65E-41E5-E769B1C24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65" y="1183031"/>
                <a:ext cx="11701070" cy="2571601"/>
              </a:xfrm>
              <a:prstGeom prst="rect">
                <a:avLst/>
              </a:prstGeom>
              <a:blipFill>
                <a:blip r:embed="rId2"/>
                <a:stretch>
                  <a:fillRect l="-417" b="-1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655232-FDAD-CBE1-D387-41172CA4BE5A}"/>
                  </a:ext>
                </a:extLst>
              </p:cNvPr>
              <p:cNvSpPr txBox="1"/>
              <p:nvPr/>
            </p:nvSpPr>
            <p:spPr>
              <a:xfrm>
                <a:off x="294910" y="3849924"/>
                <a:ext cx="5480940" cy="1985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116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6655232-FDAD-CBE1-D387-41172CA4B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10" y="3849924"/>
                <a:ext cx="5480940" cy="1985928"/>
              </a:xfrm>
              <a:prstGeom prst="rect">
                <a:avLst/>
              </a:prstGeom>
              <a:blipFill>
                <a:blip r:embed="rId3"/>
                <a:stretch>
                  <a:fillRect r="-1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686560-4508-B9A3-7609-92EE8F5684C0}"/>
                  </a:ext>
                </a:extLst>
              </p:cNvPr>
              <p:cNvSpPr txBox="1"/>
              <p:nvPr/>
            </p:nvSpPr>
            <p:spPr>
              <a:xfrm>
                <a:off x="6096000" y="3891185"/>
                <a:ext cx="5690332" cy="1903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18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8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sz="180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18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r>
                        <a:rPr lang="en-US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116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686560-4508-B9A3-7609-92EE8F568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91185"/>
                <a:ext cx="5690332" cy="19034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577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8D5E-EFAD-E763-7F43-954E92FE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45868C8-E87E-150A-0E01-A0985D658C5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Jacobian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EED109B-7A96-9F23-1C95-44AD54C119D9}"/>
                  </a:ext>
                </a:extLst>
              </p:cNvPr>
              <p:cNvSpPr txBox="1"/>
              <p:nvPr/>
            </p:nvSpPr>
            <p:spPr>
              <a:xfrm>
                <a:off x="245465" y="1183031"/>
                <a:ext cx="11701070" cy="3821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链式法则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𝐿𝑎𝑏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e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  <m:e>
                              <m:sSubSup>
                                <m:sSub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EED109B-7A96-9F23-1C95-44AD54C11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65" y="1183031"/>
                <a:ext cx="11701070" cy="3821239"/>
              </a:xfrm>
              <a:prstGeom prst="rect">
                <a:avLst/>
              </a:prstGeo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354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4815-9824-7EE5-77BC-72F0C6654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F6E9817-8D41-7934-A42B-34E6740A569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Jacobian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B546AD4-7B54-AECE-746D-46C5AA67EA41}"/>
                  </a:ext>
                </a:extLst>
              </p:cNvPr>
              <p:cNvSpPr txBox="1"/>
              <p:nvPr/>
            </p:nvSpPr>
            <p:spPr>
              <a:xfrm>
                <a:off x="245465" y="1183031"/>
                <a:ext cx="11701070" cy="4937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链式法则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en-US" altLang="zh-CN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1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altLang="zh-CN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b="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𝐿𝑎𝑏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den>
                      </m:f>
                      <m:f>
                        <m:fPr>
                          <m:ctrlP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𝑿𝒀𝒁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116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=360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830</m:t>
                              </m:r>
                            </m:sup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𝑘𝐼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mr>
                                    <m:m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mr>
                                    <m:m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</m:e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</m:acc>
                                      </m:e>
                                    </m:mr>
                                  </m:m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algn="just"/>
                <a:r>
                  <a:rPr lang="zh-CN" altLang="en-US" dirty="0"/>
                  <a:t>         其中：</a:t>
                </a:r>
                <a:endParaRPr lang="en-US" altLang="zh-CN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sup>
                          </m:sSup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=360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830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B546AD4-7B54-AECE-746D-46C5AA67E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65" y="1183031"/>
                <a:ext cx="11701070" cy="4937762"/>
              </a:xfrm>
              <a:prstGeom prst="rect">
                <a:avLst/>
              </a:prstGeo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919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B3F4E-DE53-B135-F35C-ACCFEF4D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FB509B-7E7F-65A0-29D7-718D9662B915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Look Up Table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1FF14C-A21B-C641-743E-EC5B6EA5874F}"/>
                  </a:ext>
                </a:extLst>
              </p:cNvPr>
              <p:cNvSpPr txBox="1"/>
              <p:nvPr/>
            </p:nvSpPr>
            <p:spPr>
              <a:xfrm>
                <a:off x="781318" y="1292501"/>
                <a:ext cx="10629364" cy="3572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现在我们已经可以通过数值优化的方法得到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对应的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，但显然不可能在渲染时为每个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都重新优化一次。因此，我们可以提前计算一系列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节点对应的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，将它们保存为</a:t>
                </a:r>
                <a:r>
                  <a:rPr lang="en-US" altLang="zh-CN" dirty="0">
                    <a:latin typeface="+mn-ea"/>
                  </a:rPr>
                  <a:t>Look Up Table</a:t>
                </a:r>
                <a:r>
                  <a:rPr lang="zh-CN" altLang="en-US" dirty="0">
                    <a:latin typeface="+mn-ea"/>
                  </a:rPr>
                  <a:t>，运行时再通过查表和插值快速得到结果。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LUT</a:t>
                </a:r>
                <a:r>
                  <a:rPr lang="zh-CN" altLang="en-US" dirty="0">
                    <a:latin typeface="+mn-ea"/>
                  </a:rPr>
                  <a:t>可以理解为一个三维的表格，假如分辨率为</a:t>
                </a:r>
                <a:r>
                  <a:rPr lang="en-US" altLang="zh-CN" dirty="0">
                    <a:latin typeface="+mn-ea"/>
                  </a:rPr>
                  <a:t>N</a:t>
                </a:r>
                <a:r>
                  <a:rPr lang="zh-CN" altLang="en-US" dirty="0">
                    <a:latin typeface="+mn-ea"/>
                  </a:rPr>
                  <a:t>，那么他就有着</a:t>
                </a:r>
                <a:r>
                  <a:rPr lang="en-US" altLang="zh-CN" dirty="0">
                    <a:latin typeface="+mn-ea"/>
                  </a:rPr>
                  <a:t>N*N*N</a:t>
                </a:r>
                <a:r>
                  <a:rPr lang="zh-CN" altLang="en-US" dirty="0">
                    <a:latin typeface="+mn-ea"/>
                  </a:rPr>
                  <a:t>个节点，每个节点都存储着一个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。比如</a:t>
                </a:r>
                <a:r>
                  <a:rPr lang="en-US" altLang="zh-CN" dirty="0">
                    <a:latin typeface="+mn-ea"/>
                  </a:rPr>
                  <a:t>RGB=(0, 0, 0)</a:t>
                </a:r>
                <a:r>
                  <a:rPr lang="zh-CN" altLang="en-US" dirty="0">
                    <a:latin typeface="+mn-ea"/>
                  </a:rPr>
                  <a:t>对应着</a:t>
                </a:r>
                <a:r>
                  <a:rPr lang="en-US" altLang="zh-CN" dirty="0">
                    <a:latin typeface="+mn-ea"/>
                  </a:rPr>
                  <a:t>(0, 0, 0)</a:t>
                </a:r>
                <a:r>
                  <a:rPr lang="zh-CN" altLang="en-US" dirty="0">
                    <a:latin typeface="+mn-ea"/>
                  </a:rPr>
                  <a:t>节点，</a:t>
                </a:r>
                <a:r>
                  <a:rPr lang="en-US" altLang="zh-CN" dirty="0">
                    <a:latin typeface="+mn-ea"/>
                  </a:rPr>
                  <a:t>RGB=(1, 1, 1)</a:t>
                </a:r>
                <a:r>
                  <a:rPr lang="zh-CN" altLang="en-US" dirty="0">
                    <a:latin typeface="+mn-ea"/>
                  </a:rPr>
                  <a:t>对应着</a:t>
                </a:r>
                <a:r>
                  <a:rPr lang="en-US" altLang="zh-CN" dirty="0">
                    <a:latin typeface="+mn-ea"/>
                  </a:rPr>
                  <a:t>(N-1, N-1, N-1)</a:t>
                </a:r>
                <a:r>
                  <a:rPr lang="zh-CN" altLang="en-US" dirty="0">
                    <a:latin typeface="+mn-ea"/>
                  </a:rPr>
                  <a:t>节点。对于一个给定的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，我们可以在</a:t>
                </a:r>
                <a:r>
                  <a:rPr lang="en-US" altLang="zh-CN" dirty="0">
                    <a:latin typeface="+mn-ea"/>
                  </a:rPr>
                  <a:t>LUT</a:t>
                </a:r>
                <a:r>
                  <a:rPr lang="zh-CN" altLang="en-US" dirty="0">
                    <a:latin typeface="+mn-ea"/>
                  </a:rPr>
                  <a:t>中找到与其最近的周围</a:t>
                </a:r>
                <a:r>
                  <a:rPr lang="en-US" altLang="zh-CN" dirty="0">
                    <a:latin typeface="+mn-ea"/>
                  </a:rPr>
                  <a:t>8</a:t>
                </a:r>
                <a:r>
                  <a:rPr lang="zh-CN" altLang="en-US" dirty="0">
                    <a:latin typeface="+mn-ea"/>
                  </a:rPr>
                  <a:t>个节点，再根据该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到这八个节点的距离，对每个节点的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进行插值，就可以快速查找到该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所对应的参数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F1FF14C-A21B-C641-743E-EC5B6EA5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18" y="1292501"/>
                <a:ext cx="10629364" cy="3572709"/>
              </a:xfrm>
              <a:prstGeom prst="rect">
                <a:avLst/>
              </a:prstGeom>
              <a:blipFill>
                <a:blip r:embed="rId2"/>
                <a:stretch>
                  <a:fillRect l="-459" r="-516" b="-1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876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FCC19-7DF9-69B1-35C4-40DD1965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112E572-C609-DA18-2CFA-E3392B50BB77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生成</a:t>
            </a:r>
            <a:r>
              <a:rPr lang="en-US" altLang="zh-CN" dirty="0"/>
              <a:t>Look Up Table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C398BF0-A1E2-879E-645F-4F50A0A8F705}"/>
                  </a:ext>
                </a:extLst>
              </p:cNvPr>
              <p:cNvSpPr txBox="1"/>
              <p:nvPr/>
            </p:nvSpPr>
            <p:spPr>
              <a:xfrm>
                <a:off x="289777" y="1292501"/>
                <a:ext cx="11612446" cy="3768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生成</a:t>
                </a:r>
                <a:r>
                  <a:rPr lang="en-US" altLang="zh-CN" dirty="0">
                    <a:latin typeface="+mn-ea"/>
                  </a:rPr>
                  <a:t>LUT</a:t>
                </a:r>
                <a:r>
                  <a:rPr lang="zh-CN" altLang="en-US" dirty="0">
                    <a:latin typeface="+mn-ea"/>
                  </a:rPr>
                  <a:t>时，我们需要指定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与</a:t>
                </a:r>
                <a:r>
                  <a:rPr lang="en-US" altLang="zh-CN" dirty="0">
                    <a:latin typeface="+mn-ea"/>
                  </a:rPr>
                  <a:t>LUT</a:t>
                </a:r>
                <a:r>
                  <a:rPr lang="zh-CN" altLang="en-US" dirty="0">
                    <a:latin typeface="+mn-ea"/>
                  </a:rPr>
                  <a:t>节点的对应方式，也叫做</a:t>
                </a:r>
                <a:r>
                  <a:rPr lang="en-US" altLang="zh-CN" b="1" dirty="0">
                    <a:latin typeface="+mn-ea"/>
                  </a:rPr>
                  <a:t>RGB</a:t>
                </a:r>
                <a:r>
                  <a:rPr lang="zh-CN" altLang="en-US" b="1" dirty="0">
                    <a:latin typeface="+mn-ea"/>
                  </a:rPr>
                  <a:t>立方体的参数化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endParaRPr lang="en-US" altLang="zh-CN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直接用</a:t>
                </a:r>
                <a:r>
                  <a:rPr lang="en-US" altLang="zh-CN" dirty="0">
                    <a:latin typeface="+mn-ea"/>
                  </a:rPr>
                  <a:t>(R, G, B)</a:t>
                </a:r>
                <a:r>
                  <a:rPr lang="zh-CN" altLang="en-US" dirty="0">
                    <a:latin typeface="+mn-ea"/>
                  </a:rPr>
                  <a:t>取做</a:t>
                </a:r>
                <a:r>
                  <a:rPr lang="en-US" altLang="zh-CN" dirty="0">
                    <a:latin typeface="+mn-ea"/>
                  </a:rPr>
                  <a:t>LUT</a:t>
                </a:r>
                <a:r>
                  <a:rPr lang="zh-CN" altLang="en-US" dirty="0">
                    <a:latin typeface="+mn-ea"/>
                  </a:rPr>
                  <a:t>一种简单的选择，但是接下来将介绍一种更合适的参数化的方法：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首先取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最大值分量所在的槽位：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argmax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再将整个颜色除以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ea"/>
                  </a:rPr>
                  <a:t>，这样颜色最大的分量就会变为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，其它两个分量也都落在</a:t>
                </a:r>
                <a:r>
                  <a:rPr lang="en-US" altLang="zh-CN" dirty="0">
                    <a:latin typeface="+mn-ea"/>
                  </a:rPr>
                  <a:t>0-1</a:t>
                </a:r>
                <a:r>
                  <a:rPr lang="zh-CN" altLang="en-US" dirty="0">
                    <a:latin typeface="+mn-ea"/>
                  </a:rPr>
                  <a:t>的范围内，于是定义：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最终，每个非零的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都可以表示为：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，其中：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C398BF0-A1E2-879E-645F-4F50A0A8F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77" y="1292501"/>
                <a:ext cx="11612446" cy="3768724"/>
              </a:xfrm>
              <a:prstGeom prst="rect">
                <a:avLst/>
              </a:prstGeom>
              <a:blipFill>
                <a:blip r:embed="rId2"/>
                <a:stretch>
                  <a:fillRect l="-473" b="-1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264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4D65-145F-1C34-1D77-7359FF9E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21E169A-A7AB-E64C-1729-FED00E4E283E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RGB</a:t>
            </a:r>
            <a:r>
              <a:rPr lang="zh-CN" altLang="en-US" dirty="0"/>
              <a:t>参数化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3054702-ABE6-1696-4B5F-81D081C8B533}"/>
                  </a:ext>
                </a:extLst>
              </p:cNvPr>
              <p:cNvSpPr txBox="1"/>
              <p:nvPr/>
            </p:nvSpPr>
            <p:spPr>
              <a:xfrm>
                <a:off x="289777" y="1292501"/>
                <a:ext cx="11612446" cy="4756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b="1" dirty="0">
                    <a:latin typeface="+mn-ea"/>
                  </a:rPr>
                  <a:t>RGB</a:t>
                </a:r>
                <a:r>
                  <a:rPr lang="zh-CN" altLang="en-US" b="1" dirty="0">
                    <a:latin typeface="+mn-ea"/>
                  </a:rPr>
                  <a:t>立方体参数化：</a:t>
                </a:r>
                <a:endParaRPr lang="en-US" altLang="zh-CN" b="1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argmax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 </a:t>
                </a:r>
                <a:r>
                  <a:rPr lang="zh-CN" altLang="en-US" dirty="0">
                    <a:latin typeface="+mn-ea"/>
                  </a:rPr>
                  <a:t>举个例子，假如</a:t>
                </a:r>
                <a:r>
                  <a:rPr lang="en-US" altLang="zh-CN" dirty="0">
                    <a:latin typeface="+mn-ea"/>
                  </a:rPr>
                  <a:t>G &gt; R &gt; B</a:t>
                </a:r>
                <a:r>
                  <a:rPr lang="zh-CN" altLang="en-US" dirty="0">
                    <a:latin typeface="+mn-ea"/>
                  </a:rPr>
                  <a:t>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argmax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=1,  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 1,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可以看到，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ea"/>
                  </a:rPr>
                  <a:t>可以看作是颜色向量的缩放项，而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+mn-ea"/>
                  </a:rPr>
                  <a:t>则类似于“色度”。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可以大致</a:t>
                </a:r>
                <a:r>
                  <a:rPr lang="zh-CN" altLang="en-US" b="0" dirty="0">
                    <a:latin typeface="+mn-ea"/>
                  </a:rPr>
                  <a:t>理解为：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共同标志着颜色的归一化后的方向，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ea"/>
                  </a:rPr>
                  <a:t>描述沿该方向的尺度（亮度）。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这种参数化的方式非常有利于数值优化，我们可以沿着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ea"/>
                  </a:rPr>
                  <a:t>的方向，优化完一个颜色后，将得到的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参数作为邻近的下一个亮度的颜色的初始参数，并继续优化。这样可以极大的提高数值优化的稳定性和效率。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3054702-ABE6-1696-4B5F-81D081C8B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77" y="1292501"/>
                <a:ext cx="11612446" cy="4756943"/>
              </a:xfrm>
              <a:prstGeom prst="rect">
                <a:avLst/>
              </a:prstGeom>
              <a:blipFill>
                <a:blip r:embed="rId2"/>
                <a:stretch>
                  <a:fillRect l="-473" r="-473" b="-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557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D5F5-9618-4077-C001-B91A9B78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B466EB-1EC0-FDB0-BEE8-D3E2B3CFA24A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Alpha Nodes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FDA0FD-DD1C-64DC-721C-232BC43FDF5C}"/>
                  </a:ext>
                </a:extLst>
              </p:cNvPr>
              <p:cNvSpPr txBox="1"/>
              <p:nvPr/>
            </p:nvSpPr>
            <p:spPr>
              <a:xfrm>
                <a:off x="902002" y="1275944"/>
                <a:ext cx="9999963" cy="1290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不过这种参数化的方法也有一点问题。当颜色趋近于亮色或暗色时，此时的反射光谱的某些波段将趋近于</a:t>
                </a:r>
                <a:r>
                  <a:rPr lang="en-US" altLang="zh-CN" dirty="0">
                    <a:latin typeface="+mn-ea"/>
                  </a:rPr>
                  <a:t>1</a:t>
                </a:r>
                <a:r>
                  <a:rPr lang="zh-CN" altLang="en-US" dirty="0">
                    <a:latin typeface="+mn-ea"/>
                  </a:rPr>
                  <a:t>或者</a:t>
                </a:r>
                <a:r>
                  <a:rPr lang="en-US" altLang="zh-CN" dirty="0">
                    <a:latin typeface="+mn-ea"/>
                  </a:rPr>
                  <a:t>0</a:t>
                </a:r>
                <a:r>
                  <a:rPr lang="zh-CN" altLang="en-US" dirty="0">
                    <a:latin typeface="+mn-ea"/>
                  </a:rPr>
                  <a:t>，由于我们使用了</a:t>
                </a:r>
                <a:r>
                  <a:rPr lang="en-US" altLang="zh-CN" dirty="0">
                    <a:latin typeface="+mn-ea"/>
                  </a:rPr>
                  <a:t>sigmoid</a:t>
                </a:r>
                <a:r>
                  <a:rPr lang="zh-CN" altLang="en-US" dirty="0">
                    <a:latin typeface="+mn-ea"/>
                  </a:rPr>
                  <a:t>函数将光谱数值限制在了</a:t>
                </a:r>
                <a:r>
                  <a:rPr lang="en-US" altLang="zh-CN" dirty="0">
                    <a:latin typeface="+mn-ea"/>
                  </a:rPr>
                  <a:t>0-1</a:t>
                </a:r>
                <a:r>
                  <a:rPr lang="zh-CN" altLang="en-US" dirty="0">
                    <a:latin typeface="+mn-ea"/>
                  </a:rPr>
                  <a:t>的范围内，因此根据</a:t>
                </a:r>
                <a:r>
                  <a:rPr lang="en-US" altLang="zh-CN" dirty="0">
                    <a:latin typeface="+mn-ea"/>
                  </a:rPr>
                  <a:t>sigmoid</a:t>
                </a:r>
                <a:r>
                  <a:rPr lang="zh-CN" altLang="en-US" dirty="0">
                    <a:latin typeface="+mn-ea"/>
                  </a:rPr>
                  <a:t>函数的特点，为了进一步的改变输出，此时的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>
                    <a:latin typeface="+mn-ea"/>
                  </a:rPr>
                  <a:t>参数就需要越来越大的变化。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7FDA0FD-DD1C-64DC-721C-232BC43FD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02" y="1275944"/>
                <a:ext cx="9999963" cy="1290033"/>
              </a:xfrm>
              <a:prstGeom prst="rect">
                <a:avLst/>
              </a:prstGeom>
              <a:blipFill>
                <a:blip r:embed="rId2"/>
                <a:stretch>
                  <a:fillRect l="-549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79C8ECB-0FF7-619C-B5EF-9C4AD9E36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706" y="2813437"/>
            <a:ext cx="4571929" cy="34289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1CAB068-0668-2CA7-1A5F-D904020B60B5}"/>
                  </a:ext>
                </a:extLst>
              </p:cNvPr>
              <p:cNvSpPr txBox="1"/>
              <p:nvPr/>
            </p:nvSpPr>
            <p:spPr>
              <a:xfrm>
                <a:off x="764647" y="2929346"/>
                <a:ext cx="5331353" cy="3075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>
                    <a:latin typeface="+mn-ea"/>
                  </a:rPr>
                  <a:t>         </a:t>
                </a:r>
                <a:r>
                  <a:rPr lang="zh-CN" altLang="en-US" sz="1800" dirty="0">
                    <a:latin typeface="+mn-ea"/>
                  </a:rPr>
                  <a:t>沿着固定颜色方向改变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时，目标</a:t>
                </a:r>
                <a:r>
                  <a:rPr lang="en-US" altLang="zh-CN" sz="1800" dirty="0">
                    <a:latin typeface="+mn-ea"/>
                  </a:rPr>
                  <a:t>RGB</a:t>
                </a:r>
                <a:r>
                  <a:rPr lang="zh-CN" altLang="en-US" sz="1800" dirty="0">
                    <a:latin typeface="+mn-ea"/>
                  </a:rPr>
                  <a:t>随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线性变化，但对应的最优</a:t>
                </a:r>
                <a:r>
                  <a:rPr lang="zh-CN" altLang="en-US" dirty="0">
                    <a:latin typeface="+mn-ea"/>
                  </a:rPr>
                  <a:t>得到的</a:t>
                </a:r>
                <a:r>
                  <a:rPr lang="zh-CN" altLang="en-US" sz="1800" dirty="0">
                    <a:latin typeface="+mn-ea"/>
                  </a:rPr>
                  <a:t>参数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并不是线性的，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在两端通常变化得更快。因此，如果仍然均匀采样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，</a:t>
                </a:r>
                <a:r>
                  <a:rPr lang="en-US" altLang="zh-CN" sz="1800" dirty="0">
                    <a:latin typeface="+mn-ea"/>
                  </a:rPr>
                  <a:t>LUT</a:t>
                </a:r>
                <a:r>
                  <a:rPr lang="zh-CN" altLang="en-US" sz="1800" dirty="0">
                    <a:latin typeface="+mn-ea"/>
                  </a:rPr>
                  <a:t>的插值误差会更多地集中在两端。我们希望在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1800" dirty="0">
                    <a:latin typeface="+mn-ea"/>
                  </a:rPr>
                  <a:t>附近布置更多的节点，一种简单地方式就是连续运用两次</a:t>
                </a:r>
                <a:r>
                  <a:rPr lang="en-US" altLang="zh-CN" sz="1800" dirty="0">
                    <a:latin typeface="+mn-ea"/>
                  </a:rPr>
                  <a:t>smooth</a:t>
                </a:r>
                <a:r>
                  <a:rPr lang="zh-CN" altLang="en-US" sz="1800" dirty="0">
                    <a:latin typeface="+mn-ea"/>
                  </a:rPr>
                  <a:t>函数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𝑠𝑚𝑜𝑜𝑡ℎ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3−2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/>
                  <a:t>对于分辨率为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LUT</a:t>
                </a:r>
                <a:r>
                  <a:rPr lang="zh-CN" altLang="en-US" dirty="0"/>
                  <a:t>而言，第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个查找节点对应的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不是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zh-CN" altLang="en-US" dirty="0"/>
                  <a:t>，而是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𝑠𝑚𝑜𝑜𝑡ℎ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𝑠𝑚𝑜𝑜𝑡ℎ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1CAB068-0668-2CA7-1A5F-D904020B6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47" y="2929346"/>
                <a:ext cx="5331353" cy="3075137"/>
              </a:xfrm>
              <a:prstGeom prst="rect">
                <a:avLst/>
              </a:prstGeom>
              <a:blipFill>
                <a:blip r:embed="rId4"/>
                <a:stretch>
                  <a:fillRect l="-914" t="-1190" r="-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7074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7BED0-800F-A6F8-D4CD-29614199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EFF9A82-4D05-E9F0-5167-C629E379A44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沿</a:t>
            </a:r>
            <a:r>
              <a:rPr lang="en-US" altLang="zh-CN" dirty="0"/>
              <a:t>alpha</a:t>
            </a:r>
            <a:r>
              <a:rPr lang="zh-CN" altLang="en-US" dirty="0"/>
              <a:t>方向连续求解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3CD5BA-1311-0BFD-EABB-CB9354A779A0}"/>
                  </a:ext>
                </a:extLst>
              </p:cNvPr>
              <p:cNvSpPr txBox="1"/>
              <p:nvPr/>
            </p:nvSpPr>
            <p:spPr>
              <a:xfrm>
                <a:off x="902002" y="1275944"/>
                <a:ext cx="9999963" cy="391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对于固定的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，所有不同的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ea"/>
                  </a:rPr>
                  <a:t>都位于</a:t>
                </a:r>
                <a:r>
                  <a:rPr lang="en-US" altLang="zh-CN" dirty="0">
                    <a:latin typeface="+mn-ea"/>
                  </a:rPr>
                  <a:t>RGB</a:t>
                </a:r>
                <a:r>
                  <a:rPr lang="zh-CN" altLang="en-US" dirty="0">
                    <a:latin typeface="+mn-ea"/>
                  </a:rPr>
                  <a:t>空间中的同一条射线上，相邻节点对应的目标颜色非常接近。因此，没有必要每个节点都从相同的初始参数重新优化。例如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地情况：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,1,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𝑠𝑚𝑜𝑜𝑡ℎ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𝑠𝑚𝑜𝑜𝑡ℎ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，可以优化得到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，对应颜色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+mn-ea"/>
                  </a:rPr>
                  <a:t>。</a:t>
                </a:r>
                <a:r>
                  <a:rPr lang="zh-CN" altLang="en-US" dirty="0">
                    <a:latin typeface="+mn-ea"/>
                  </a:rPr>
                  <a:t>接下来用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作为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颜色优化时的初始参数。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不过起点需要特殊注意，因为亮暗两端会进入</a:t>
                </a:r>
                <a:r>
                  <a:rPr lang="en-US" altLang="zh-CN" dirty="0">
                    <a:latin typeface="+mn-ea"/>
                  </a:rPr>
                  <a:t>sigmoid</a:t>
                </a:r>
                <a:r>
                  <a:rPr lang="zh-CN" altLang="en-US" dirty="0">
                    <a:latin typeface="+mn-ea"/>
                  </a:rPr>
                  <a:t>的饱和区，此时数值优化并不是很稳定，因此一般会从中间的某个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开始优化，再分别向亮端和暗端连续求解。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在代码实现中，可以简单的令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/5</m:t>
                    </m:r>
                  </m:oMath>
                </a14:m>
                <a:r>
                  <a:rPr lang="zh-CN" altLang="en-US" dirty="0">
                    <a:latin typeface="+mn-ea"/>
                  </a:rPr>
                  <a:t> 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3CD5BA-1311-0BFD-EABB-CB9354A77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02" y="1275944"/>
                <a:ext cx="9999963" cy="3918189"/>
              </a:xfrm>
              <a:prstGeom prst="rect">
                <a:avLst/>
              </a:prstGeom>
              <a:blipFill>
                <a:blip r:embed="rId2"/>
                <a:stretch>
                  <a:fillRect l="-549" r="-488" b="-1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513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C4E9-AC24-49EA-1351-2F6DF8F79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5E6CC9B-4E5C-71CD-D11B-BE26F1CA9E5D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zh-CN" altLang="en-US" dirty="0"/>
              <a:t>并行生成</a:t>
            </a:r>
            <a:r>
              <a:rPr lang="en-US" altLang="zh-CN" dirty="0"/>
              <a:t>LUT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D8894A4-4636-018F-83C8-DF7BAF0955FF}"/>
                  </a:ext>
                </a:extLst>
              </p:cNvPr>
              <p:cNvSpPr txBox="1"/>
              <p:nvPr/>
            </p:nvSpPr>
            <p:spPr>
              <a:xfrm>
                <a:off x="902002" y="1275944"/>
                <a:ext cx="9999963" cy="2223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zh-CN" altLang="en-US" dirty="0">
                    <a:latin typeface="+mn-ea"/>
                  </a:rPr>
                  <a:t>         因为我们的优化方法是在固定的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上，沿着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ea"/>
                  </a:rPr>
                  <a:t>连续求解。它们彼此互不干扰，因此每一个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都可以看作是可并行的子任务，其中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={1, 2,…,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dirty="0">
                    <a:latin typeface="+mn-ea"/>
                  </a:rPr>
                  <a:t>         </a:t>
                </a:r>
                <a:r>
                  <a:rPr lang="zh-CN" altLang="en-US" dirty="0">
                    <a:latin typeface="+mn-ea"/>
                  </a:rPr>
                  <a:t>再来看看内存布局，我们使用一个巨大的数组来存储整个</a:t>
                </a:r>
                <a:r>
                  <a:rPr lang="en-US" altLang="zh-CN" dirty="0">
                    <a:latin typeface="+mn-ea"/>
                  </a:rPr>
                  <a:t>LUT</a:t>
                </a:r>
                <a:r>
                  <a:rPr lang="zh-CN" altLang="en-US" dirty="0">
                    <a:latin typeface="+mn-ea"/>
                  </a:rPr>
                  <a:t>，同时用</a:t>
                </a:r>
                <a:r>
                  <a:rPr lang="en-US" altLang="zh-CN" dirty="0" err="1">
                    <a:latin typeface="+mn-ea"/>
                  </a:rPr>
                  <a:t>alpha_nodes</a:t>
                </a:r>
                <a:r>
                  <a:rPr lang="zh-CN" altLang="en-US" dirty="0">
                    <a:latin typeface="+mn-ea"/>
                  </a:rPr>
                  <a:t>来存储非线性的</a:t>
                </a:r>
                <a:r>
                  <a:rPr lang="en-US" altLang="zh-CN" dirty="0">
                    <a:latin typeface="+mn-ea"/>
                  </a:rPr>
                  <a:t>alpha</a:t>
                </a:r>
                <a:r>
                  <a:rPr lang="zh-CN" altLang="en-US" dirty="0">
                    <a:latin typeface="+mn-ea"/>
                  </a:rPr>
                  <a:t>映射。其中</a:t>
                </a:r>
                <a:r>
                  <a:rPr lang="en-US" altLang="zh-CN" dirty="0">
                    <a:latin typeface="+mn-ea"/>
                  </a:rPr>
                  <a:t>Alpha Resolution</a:t>
                </a:r>
                <a:r>
                  <a:rPr lang="zh-CN" altLang="en-US" dirty="0">
                    <a:latin typeface="+mn-ea"/>
                  </a:rPr>
                  <a:t>位于末尾，这是为了防止并行的任务单元连续写入的时候跨越较大的</a:t>
                </a:r>
                <a:r>
                  <a:rPr lang="en-US" altLang="zh-CN" dirty="0">
                    <a:latin typeface="+mn-ea"/>
                  </a:rPr>
                  <a:t>stride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D8894A4-4636-018F-83C8-DF7BAF095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02" y="1275944"/>
                <a:ext cx="9999963" cy="2223622"/>
              </a:xfrm>
              <a:prstGeom prst="rect">
                <a:avLst/>
              </a:prstGeom>
              <a:blipFill>
                <a:blip r:embed="rId2"/>
                <a:stretch>
                  <a:fillRect l="-549" r="-488" b="-3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11EDA8BF-3A0A-EED0-551E-1BF4D6D85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406" y="3499566"/>
            <a:ext cx="5272008" cy="5564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444A6B-921A-3DBE-1C83-0167457AD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590" y="4285937"/>
            <a:ext cx="3525640" cy="6284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DD35F0E-4622-02BE-AA1E-7F7C77D77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267" y="5144308"/>
            <a:ext cx="8327698" cy="5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998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E7F5-7EFE-4C08-C849-B45C1F5F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229924-AB2D-AB12-A38B-DAC3A978FDE4}"/>
              </a:ext>
            </a:extLst>
          </p:cNvPr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 lang="en-US" altLang="zh-CN" dirty="0"/>
              <a:t>LUT</a:t>
            </a:r>
            <a:r>
              <a:rPr lang="zh-CN" altLang="en-US" dirty="0"/>
              <a:t>的查询与三线性插值</a:t>
            </a:r>
            <a:endParaRPr lang="zh-CN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D24655A-ECE6-A993-1BC1-AF6E4A4F4618}"/>
                  </a:ext>
                </a:extLst>
              </p:cNvPr>
              <p:cNvSpPr txBox="1"/>
              <p:nvPr/>
            </p:nvSpPr>
            <p:spPr>
              <a:xfrm>
                <a:off x="786112" y="1140717"/>
                <a:ext cx="10386332" cy="5482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我们的</a:t>
                </a:r>
                <a:r>
                  <a:rPr lang="en-US" altLang="zh-CN" sz="1600" dirty="0">
                    <a:latin typeface="+mn-ea"/>
                  </a:rPr>
                  <a:t>LUT</a:t>
                </a:r>
                <a:r>
                  <a:rPr lang="zh-CN" altLang="en-US" sz="1600" dirty="0">
                    <a:latin typeface="+mn-ea"/>
                  </a:rPr>
                  <a:t>对于给定的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来说，是一个三维的结构</a:t>
                </a:r>
                <a:r>
                  <a:rPr lang="en-US" altLang="zh-CN" sz="1600" dirty="0">
                    <a:latin typeface="+mn-ea"/>
                  </a:rPr>
                  <a:t>Table</a:t>
                </a:r>
                <a:r>
                  <a:rPr lang="zh-CN" altLang="en-US" sz="1600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三个参数。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在查询的时候，对于给定的线性</a:t>
                </a:r>
                <a:r>
                  <a:rPr lang="en-US" altLang="zh-CN" sz="1600" dirty="0">
                    <a:latin typeface="+mn-ea"/>
                  </a:rPr>
                  <a:t>RGB</a:t>
                </a:r>
                <a:r>
                  <a:rPr lang="zh-CN" altLang="en-US" sz="1600" dirty="0">
                    <a:latin typeface="+mn-ea"/>
                  </a:rPr>
                  <a:t>值，我们首先需要计算出它的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𝑎𝑟𝑔𝑚𝑎𝑥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有了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之后，就可以很轻松的计算得到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对于一维线性插值而言，只需要找到左右两个节点的值就可以进行插值了：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𝐿𝑒𝑟𝑝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𝑙𝑒𝑓𝑡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𝑟𝑖𝑔ℎ𝑡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+mn-ea"/>
                  </a:rPr>
                  <a:t>。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对于二维线性插值而言，则复杂一些，需要找到相邻的四个节点才行：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𝐿𝑒𝑟𝑝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𝐿𝑒𝑟𝑝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𝑙𝑒𝑓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𝑏𝑜𝑡𝑡𝑜𝑚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𝑟𝑖𝑔ℎ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𝑏𝑜𝑡𝑡𝑜𝑚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𝐿𝑒𝑟𝑝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𝑙𝑒𝑓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𝑢𝑝𝑝𝑒𝑟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𝑟𝑖𝑔ℎ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𝑢𝑝𝑝𝑒𝑟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b="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altLang="zh-CN" sz="1600" dirty="0">
                    <a:latin typeface="+mn-ea"/>
                  </a:rPr>
                  <a:t>         </a:t>
                </a:r>
                <a:r>
                  <a:rPr lang="zh-CN" altLang="en-US" sz="1600" dirty="0">
                    <a:latin typeface="+mn-ea"/>
                  </a:rPr>
                  <a:t>对于三维线性插值而言，就更复杂了一些，需要找到相邻的八个节点才行：</a:t>
                </a:r>
                <a:endParaRPr lang="en-US" altLang="zh-CN" sz="1600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𝐿𝑒𝑟𝑝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(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m:t>
                      </m:r>
                    </m:oMath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𝐿𝑒𝑟𝑝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𝐿𝑒𝑟𝑝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𝑙𝑒𝑓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𝑏𝑜𝑡𝑡𝑜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𝑓𝑟𝑜𝑛𝑡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𝑟𝑖𝑔ℎ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𝑏𝑜𝑡𝑡𝑜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𝑓𝑟𝑜𝑛𝑡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𝐿𝑒𝑟𝑝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𝑙𝑒𝑓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𝑢𝑝𝑝𝑒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𝑓𝑟𝑜𝑛𝑡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𝑟𝑖𝑔ℎ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𝑢𝑝𝑝𝑒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𝑓𝑟𝑜𝑛𝑡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  <m:oMath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𝐿𝑒𝑟𝑝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𝐿𝑒𝑟𝑝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𝑙𝑒𝑓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𝑏𝑜𝑡𝑡𝑜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𝑏𝑎𝑐𝑘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𝑟𝑖𝑔ℎ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𝑏𝑜𝑡𝑡𝑜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𝑏𝑎𝑐𝑘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𝐿𝑒𝑟𝑝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𝑙𝑒𝑓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𝑢𝑝𝑝𝑒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𝑏𝑎𝑐𝑘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𝑟𝑖𝑔ℎ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𝑢𝑝𝑝𝑒</m:t>
                                  </m:r>
                                  <m:sSub>
                                    <m:sSubPr>
                                      <m:ctrlP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dirty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𝑏𝑎𝑐𝑘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  <m:oMath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)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m:t>
                      </m:r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D24655A-ECE6-A993-1BC1-AF6E4A4F4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12" y="1140717"/>
                <a:ext cx="10386332" cy="5482911"/>
              </a:xfrm>
              <a:prstGeom prst="rect">
                <a:avLst/>
              </a:prstGeom>
              <a:blipFill>
                <a:blip r:embed="rId2"/>
                <a:stretch>
                  <a:fillRect l="-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2470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RkMDIwMzk2MDA3NTJlMDQ4NWFlNWE0Y2ViMGY0M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汇报人：WPS"/>
</p:tagLst>
</file>

<file path=ppt/theme/theme1.xml><?xml version="1.0" encoding="utf-8"?>
<a:theme xmlns:a="http://schemas.openxmlformats.org/drawingml/2006/main" name="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3">
      <a:majorFont>
        <a:latin typeface="Arial"/>
        <a:ea typeface="Noto Sans SC Black"/>
        <a:cs typeface=""/>
      </a:majorFont>
      <a:minorFont>
        <a:latin typeface="Arial"/>
        <a:ea typeface="Noto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23548</TotalTime>
  <Words>10221</Words>
  <Application>Microsoft Office PowerPoint</Application>
  <PresentationFormat>宽屏</PresentationFormat>
  <Paragraphs>417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Noto Sans SC</vt:lpstr>
      <vt:lpstr>Noto Sans SC Black</vt:lpstr>
      <vt:lpstr>Arial</vt:lpstr>
      <vt:lpstr>Calibri</vt:lpstr>
      <vt:lpstr>Cambria Math</vt:lpstr>
      <vt:lpstr>Wingdings</vt:lpstr>
      <vt:lpstr>Office 主题</vt:lpstr>
      <vt:lpstr>CPU软渲染 路径追踪渲染器</vt:lpstr>
      <vt:lpstr>为什么要RGB转光谱</vt:lpstr>
      <vt:lpstr>RGB转光谱的约束</vt:lpstr>
      <vt:lpstr>反射光谱</vt:lpstr>
      <vt:lpstr>反射光谱的表示</vt:lpstr>
      <vt:lpstr>怎么得到反射光谱？</vt:lpstr>
      <vt:lpstr>数值优化</vt:lpstr>
      <vt:lpstr>CIELAB色彩空间</vt:lpstr>
      <vt:lpstr>数值优化</vt:lpstr>
      <vt:lpstr>Newton–Raphson</vt:lpstr>
      <vt:lpstr>多元参数的情况</vt:lpstr>
      <vt:lpstr>一元与多元牛顿法</vt:lpstr>
      <vt:lpstr>Linear Least-Squares Subproblem</vt:lpstr>
      <vt:lpstr>代数视角的最值问题</vt:lpstr>
      <vt:lpstr>代数视角的最值问题</vt:lpstr>
      <vt:lpstr>Gauss–Newton</vt:lpstr>
      <vt:lpstr>Gauss–Newton</vt:lpstr>
      <vt:lpstr>拉格朗日函数</vt:lpstr>
      <vt:lpstr>拉格朗日函数</vt:lpstr>
      <vt:lpstr>KKT条件</vt:lpstr>
      <vt:lpstr>KKT条件</vt:lpstr>
      <vt:lpstr>构造拉格朗日函数</vt:lpstr>
      <vt:lpstr>信赖域中的最小值</vt:lpstr>
      <vt:lpstr>信赖域中的最小值</vt:lpstr>
      <vt:lpstr>Levenberg-Marquardt</vt:lpstr>
      <vt:lpstr>μ与信赖域半径δ的隐式关系</vt:lpstr>
      <vt:lpstr>μ与信赖域半径δ的隐式关系</vt:lpstr>
      <vt:lpstr>局部模型可信度</vt:lpstr>
      <vt:lpstr>数值优化流程</vt:lpstr>
      <vt:lpstr>Cholesky法解线性方程</vt:lpstr>
      <vt:lpstr>回顾优化目标Φ(θ)计算过程</vt:lpstr>
      <vt:lpstr>计算Jacobian</vt:lpstr>
      <vt:lpstr>计算Jacobian</vt:lpstr>
      <vt:lpstr>计算Jacobian</vt:lpstr>
      <vt:lpstr>计算Jacobian</vt:lpstr>
      <vt:lpstr>计算Jacobian</vt:lpstr>
      <vt:lpstr>计算Jacobian</vt:lpstr>
      <vt:lpstr>Look Up Table</vt:lpstr>
      <vt:lpstr>生成Look Up Table</vt:lpstr>
      <vt:lpstr>RGB参数化</vt:lpstr>
      <vt:lpstr>Alpha Nodes</vt:lpstr>
      <vt:lpstr>沿alpha方向连续求解</vt:lpstr>
      <vt:lpstr>并行生成LUT</vt:lpstr>
      <vt:lpstr>LUT的查询与三线性插值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骞深 姚</cp:lastModifiedBy>
  <cp:revision>691</cp:revision>
  <dcterms:created xsi:type="dcterms:W3CDTF">2023-08-09T12:44:00Z</dcterms:created>
  <dcterms:modified xsi:type="dcterms:W3CDTF">2026-08-18T00:20:48Z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